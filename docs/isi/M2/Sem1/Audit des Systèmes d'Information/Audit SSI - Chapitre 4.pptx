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Nuni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regular.fntdata"/><Relationship Id="rId14" Type="http://schemas.openxmlformats.org/officeDocument/2006/relationships/slide" Target="slides/slide9.xml"/><Relationship Id="rId17" Type="http://schemas.openxmlformats.org/officeDocument/2006/relationships/font" Target="fonts/Nunito-italic.fntdata"/><Relationship Id="rId16" Type="http://schemas.openxmlformats.org/officeDocument/2006/relationships/font" Target="fonts/Nuni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Nuni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27998cd91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727998cd91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27998cd91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727998cd91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727998cd91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727998cd91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727998cd91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727998cd91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727998cd91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727998cd91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727998cd91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727998cd91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727998cd91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727998cd91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727998cd91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727998cd91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21818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Audit SSI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238750" y="3169175"/>
            <a:ext cx="66066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815">
                <a:latin typeface="Nunito"/>
                <a:ea typeface="Nunito"/>
                <a:cs typeface="Nunito"/>
                <a:sym typeface="Nunito"/>
              </a:rPr>
              <a:t>Chapitre 4 : Normes, référentiels et bonnes pratiques d’audit SSI </a:t>
            </a:r>
            <a:endParaRPr b="1" sz="386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357625"/>
            <a:ext cx="2532900" cy="6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Introduction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628225" y="825825"/>
            <a:ext cx="7217100" cy="37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Dans un environnement numérique où les cybermenaces évoluent rapidement, </a:t>
            </a:r>
            <a:r>
              <a:rPr b="1"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l’alignement sur des normes reconnues et des référentiels structurants</a:t>
            </a:r>
            <a:r>
              <a:rPr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est un impératif pour assurer la crédibilité, l’efficacité et la conformité des audits SSI. Ce chapitre constitue un </a:t>
            </a:r>
            <a:r>
              <a:rPr b="1"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socle fondamental</a:t>
            </a:r>
            <a:r>
              <a:rPr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pour comprendre les cadres normatifs et méthodologiques qui orientent toute mission d’audit en cybersécurité.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Il est important de noter que </a:t>
            </a:r>
            <a:r>
              <a:rPr b="1"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les étudiants [vous] approfondir</a:t>
            </a:r>
            <a:r>
              <a:rPr b="1"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ont</a:t>
            </a:r>
            <a:r>
              <a:rPr b="1"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plusieurs de ces normes à travers leurs projets individuels</a:t>
            </a:r>
            <a:r>
              <a:rPr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appliquant les principes, contrôles et exigences de ces standards à des cas concrets (sauvegarde, gestion des accès, configuration, gouvernance, etc.). 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 chapitre se veut donc </a:t>
            </a:r>
            <a:r>
              <a:rPr b="1"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introductif, structurant, et indispensable</a:t>
            </a:r>
            <a:r>
              <a:rPr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pour aborder ces travaux avec rigueur.</a:t>
            </a:r>
            <a:endParaRPr sz="1700"/>
          </a:p>
        </p:txBody>
      </p:sp>
      <p:pic>
        <p:nvPicPr>
          <p:cNvPr id="136" name="Google Shape;136;p14" title="Capture d’écran 2025-08-01 à 09.58.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4850" y="1869574"/>
            <a:ext cx="1600375" cy="1496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>
            <p:ph type="title"/>
          </p:nvPr>
        </p:nvSpPr>
        <p:spPr>
          <a:xfrm>
            <a:off x="819150" y="357625"/>
            <a:ext cx="7582800" cy="6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Présentation des normes ISO/IEC essentielles</a:t>
            </a:r>
            <a:endParaRPr/>
          </a:p>
        </p:txBody>
      </p:sp>
      <p:sp>
        <p:nvSpPr>
          <p:cNvPr id="142" name="Google Shape;142;p15"/>
          <p:cNvSpPr txBox="1"/>
          <p:nvPr>
            <p:ph idx="1" type="body"/>
          </p:nvPr>
        </p:nvSpPr>
        <p:spPr>
          <a:xfrm>
            <a:off x="628225" y="975925"/>
            <a:ext cx="6220800" cy="37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ISO/IEC 27001 : </a:t>
            </a:r>
            <a:r>
              <a:rPr b="1" i="1"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Norme de référence pour le SMSI</a:t>
            </a:r>
            <a:endParaRPr b="1" i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Cadre méthodologique pour établir, mettre en œuvre, maintenir et améliorer un </a:t>
            </a:r>
            <a:r>
              <a:rPr b="1"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Système de Management de la Sécurité de l’Information</a:t>
            </a:r>
            <a: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Permet l’obtention d’une </a:t>
            </a:r>
            <a:r>
              <a:rPr b="1"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certification ISO</a:t>
            </a:r>
            <a: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Contient des </a:t>
            </a:r>
            <a:r>
              <a:rPr b="1"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exigences organisationnelles</a:t>
            </a:r>
            <a: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(politique, responsabilités, audit, actions correctives…).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ISO/IEC 27002 : </a:t>
            </a:r>
            <a:r>
              <a:rPr b="1" i="1"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Mesures de sécurité</a:t>
            </a:r>
            <a:endParaRPr b="1" i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Complément de la 27001 : elle </a:t>
            </a:r>
            <a:r>
              <a:rPr b="1"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décrit les bonnes pratiques de sécurité à mettre en œuvre</a:t>
            </a:r>
            <a: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Contient plus de </a:t>
            </a:r>
            <a:r>
              <a:rPr b="1"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90 mesures classées en 4 thèmes</a:t>
            </a:r>
            <a: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organisationnelles, humaines, physiques et technologiques.</a:t>
            </a:r>
            <a:b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Utilisée comme base pour </a:t>
            </a:r>
            <a:r>
              <a:rPr b="1"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auditer les contrôles techniques</a:t>
            </a:r>
            <a: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et les pratiques de sécurité.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15" title="Capture d’écran 2025-08-01 à 10.16.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8200" y="1488775"/>
            <a:ext cx="1918201" cy="71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5" title="Capture d’écran 2025-08-01 à 10.22.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09150" y="2988925"/>
            <a:ext cx="1576300" cy="142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 txBox="1"/>
          <p:nvPr>
            <p:ph type="title"/>
          </p:nvPr>
        </p:nvSpPr>
        <p:spPr>
          <a:xfrm>
            <a:off x="819150" y="357625"/>
            <a:ext cx="7582800" cy="6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Présentation des normes ISO/IEC essentielles</a:t>
            </a:r>
            <a:endParaRPr/>
          </a:p>
        </p:txBody>
      </p:sp>
      <p:sp>
        <p:nvSpPr>
          <p:cNvPr id="150" name="Google Shape;150;p16"/>
          <p:cNvSpPr txBox="1"/>
          <p:nvPr>
            <p:ph idx="1" type="body"/>
          </p:nvPr>
        </p:nvSpPr>
        <p:spPr>
          <a:xfrm>
            <a:off x="628225" y="975925"/>
            <a:ext cx="6220800" cy="37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ISO/IEC 27005 : </a:t>
            </a:r>
            <a:r>
              <a:rPr b="1" i="1"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Gestion des risques</a:t>
            </a:r>
            <a:endParaRPr b="1" i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Norme dédiée à l’analyse et au traitement des </a:t>
            </a:r>
            <a:r>
              <a:rPr b="1"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risques liés à la sécurité de l’information</a:t>
            </a:r>
            <a: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Appuie les processus d’identification des actifs, menaces, vulnérabilités, impacts.</a:t>
            </a:r>
            <a:b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Sert de base pour </a:t>
            </a:r>
            <a:r>
              <a:rPr b="1"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cartographier les risques SSI et justifier les mesures de sécurité</a:t>
            </a:r>
            <a: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ISO/IEC 27007 : </a:t>
            </a:r>
            <a:r>
              <a:rPr b="1" i="1"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Ligne directrice pour l’audit SSI</a:t>
            </a:r>
            <a:endParaRPr b="1" i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Norme spécifique à la </a:t>
            </a:r>
            <a:r>
              <a:rPr b="1"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conduite des audits des SMSI</a:t>
            </a:r>
            <a: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Décrit les étapes clés d’un audit, les compétences attendues de l’auditeur, et les </a:t>
            </a:r>
            <a:r>
              <a:rPr b="1"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bonnes pratiques pour rédiger les constats et rapports</a:t>
            </a:r>
            <a: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16" title="Capture d’écran 2025-08-01 à 10.28.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5050" y="1500050"/>
            <a:ext cx="1993900" cy="7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 title="Capture d’écran 2025-08-01 à 10.29.1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08075" y="2807000"/>
            <a:ext cx="1422350" cy="1433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title"/>
          </p:nvPr>
        </p:nvSpPr>
        <p:spPr>
          <a:xfrm>
            <a:off x="538575" y="357625"/>
            <a:ext cx="8177400" cy="10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Cycle PDCA : Piloter et auditer la sécurité dans une logique d’amélioration continue</a:t>
            </a:r>
            <a:endParaRPr/>
          </a:p>
        </p:txBody>
      </p:sp>
      <p:sp>
        <p:nvSpPr>
          <p:cNvPr id="158" name="Google Shape;158;p17"/>
          <p:cNvSpPr txBox="1"/>
          <p:nvPr>
            <p:ph idx="1" type="body"/>
          </p:nvPr>
        </p:nvSpPr>
        <p:spPr>
          <a:xfrm>
            <a:off x="538575" y="1523475"/>
            <a:ext cx="7441500" cy="31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 modèle </a:t>
            </a:r>
            <a:r>
              <a:rPr b="1" lang="f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PDCA (Plan-Do-Check-Act)</a:t>
            </a:r>
            <a:r>
              <a:rPr lang="f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est un fil conducteur dans les normes ISO :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f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</a:t>
            </a:r>
            <a:r>
              <a:rPr lang="f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Identifier les risques, définir les politiques et les contrôles.</a:t>
            </a:r>
            <a:br>
              <a:rPr lang="f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f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</a:t>
            </a:r>
            <a:r>
              <a:rPr lang="f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Implémenter les mesures définies.</a:t>
            </a:r>
            <a:br>
              <a:rPr lang="f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f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Check</a:t>
            </a:r>
            <a:r>
              <a:rPr lang="f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Contrôler, auditer, mesurer les résultats.</a:t>
            </a:r>
            <a:br>
              <a:rPr lang="f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f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</a:t>
            </a:r>
            <a:r>
              <a:rPr lang="f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Corriger, améliorer, adapter les processus.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L’audit s’inscrit dans la </a:t>
            </a:r>
            <a:r>
              <a:rPr b="1" lang="f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phase "Check"</a:t>
            </a:r>
            <a:r>
              <a:rPr lang="f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mais ses constats doivent alimenter les phases suivantes, dans une logique </a:t>
            </a:r>
            <a:r>
              <a:rPr b="1" lang="f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d’amélioration continue de la sécurité</a:t>
            </a:r>
            <a:r>
              <a:rPr lang="f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17" title="Capture d’écran 2025-08-01 à 10.32.5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246" y="2019700"/>
            <a:ext cx="2264000" cy="169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538575" y="357625"/>
            <a:ext cx="8177400" cy="73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Référentiels et bonnes pratiques complémentaires</a:t>
            </a:r>
            <a:endParaRPr/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377000" y="897650"/>
            <a:ext cx="6418200" cy="38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COBIT (Control Objectives for Information and Related Technologies)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Cadre de gouvernance SI reconnu à l’international.</a:t>
            </a:r>
            <a:b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Permet d’auditer les processus IT en lien avec les </a:t>
            </a: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objectifs de contrôle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(planification, acquisition, livraison, surveillance).</a:t>
            </a:r>
            <a:b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Version COBIT 2019 introduit des </a:t>
            </a: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facteurs de conception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et une gouvernance orientée valeur.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ITIL (Information Technology Infrastructure Library)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Référentiel de gestion des services IT (ITSM).</a:t>
            </a:r>
            <a:b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Audit possible sur des processus critiques : </a:t>
            </a: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gestion des incidents, des changements, des configurations, des niveaux de service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etc.</a:t>
            </a:r>
            <a:b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Complète les audits techniques en orientant l’analyse vers </a:t>
            </a: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qualité de service et les responsabilités opérationnelles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p18" title="Capture d’écran 2025-08-01 à 10.35.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6350" y="1095026"/>
            <a:ext cx="2458301" cy="127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title="Capture d’écran 2025-08-01 à 10.36.0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83600" y="3394826"/>
            <a:ext cx="2021049" cy="91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/>
          <p:nvPr>
            <p:ph type="title"/>
          </p:nvPr>
        </p:nvSpPr>
        <p:spPr>
          <a:xfrm>
            <a:off x="538575" y="357625"/>
            <a:ext cx="8177400" cy="73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Référentiels et bonnes pratiques complémentaires</a:t>
            </a:r>
            <a:endParaRPr/>
          </a:p>
        </p:txBody>
      </p:sp>
      <p:sp>
        <p:nvSpPr>
          <p:cNvPr id="173" name="Google Shape;173;p19"/>
          <p:cNvSpPr txBox="1"/>
          <p:nvPr>
            <p:ph idx="1" type="body"/>
          </p:nvPr>
        </p:nvSpPr>
        <p:spPr>
          <a:xfrm>
            <a:off x="403925" y="1023325"/>
            <a:ext cx="7315800" cy="38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NIST SP800-53 / NIST CSF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Recommandations du NIST (États-Unis) sur la gestion des risques cybersécurité.</a:t>
            </a:r>
            <a:b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Organisé en familles de contrôles (accès, audit, communications, continuité, etc.).</a:t>
            </a:r>
            <a:b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Utilisé comme </a:t>
            </a:r>
            <a:r>
              <a:rPr b="1"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cadre d’analyse complémentaire</a:t>
            </a:r>
            <a: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notamment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pour les audits dans les secteurs réglementés (finance, santé...).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valeur.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p19" title="Capture d’écran 2025-08-01 à 10.39.3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0125" y="2326850"/>
            <a:ext cx="2340100" cy="2332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 txBox="1"/>
          <p:nvPr>
            <p:ph type="title"/>
          </p:nvPr>
        </p:nvSpPr>
        <p:spPr>
          <a:xfrm>
            <a:off x="538575" y="357625"/>
            <a:ext cx="8177400" cy="73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2100"/>
              <a:t>Pourquoi ce chapitre est indispensable à toute mission d’audit SSI</a:t>
            </a:r>
            <a:endParaRPr sz="2100"/>
          </a:p>
        </p:txBody>
      </p:sp>
      <p:sp>
        <p:nvSpPr>
          <p:cNvPr id="180" name="Google Shape;180;p20"/>
          <p:cNvSpPr txBox="1"/>
          <p:nvPr>
            <p:ph idx="1" type="body"/>
          </p:nvPr>
        </p:nvSpPr>
        <p:spPr>
          <a:xfrm>
            <a:off x="564000" y="1095025"/>
            <a:ext cx="8016000" cy="3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Il donne </a:t>
            </a:r>
            <a:r>
              <a:rPr b="1"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 langage commun et les repères méthodologiques</a:t>
            </a:r>
            <a: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toute mission d’audit.</a:t>
            </a:r>
            <a:b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Il permet d’</a:t>
            </a:r>
            <a:r>
              <a:rPr b="1"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objectiver les constats d’audit</a:t>
            </a:r>
            <a: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grâce à des critères reconnus internationalement.</a:t>
            </a:r>
            <a:b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Il est indispensable pour </a:t>
            </a:r>
            <a:r>
              <a:rPr b="1"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structurer les grilles d’audit</a:t>
            </a:r>
            <a: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formaliser les constats et </a:t>
            </a:r>
            <a:r>
              <a:rPr b="1"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formuler des recommandations alignées avec les standards</a:t>
            </a:r>
            <a: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Il renforce la </a:t>
            </a:r>
            <a:r>
              <a:rPr b="1"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crédibilité</a:t>
            </a:r>
            <a: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des auditeurs face aux parties prenantes (Direction Générale, DSI, RSSI, régulateurs...).</a:t>
            </a:r>
            <a:b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Enfin, il </a:t>
            </a:r>
            <a:r>
              <a:rPr b="1"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prépare à la certification</a:t>
            </a:r>
            <a: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(ISO 27001, audits externes) et au pilotage d’un SMSI.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 txBox="1"/>
          <p:nvPr>
            <p:ph type="title"/>
          </p:nvPr>
        </p:nvSpPr>
        <p:spPr>
          <a:xfrm>
            <a:off x="538575" y="357625"/>
            <a:ext cx="8177400" cy="73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2100"/>
              <a:t>Pourquoi ce chapitre est indispensable à toute mission d’audit SSI</a:t>
            </a:r>
            <a:endParaRPr sz="2100"/>
          </a:p>
        </p:txBody>
      </p:sp>
      <p:sp>
        <p:nvSpPr>
          <p:cNvPr id="186" name="Google Shape;186;p21"/>
          <p:cNvSpPr txBox="1"/>
          <p:nvPr>
            <p:ph idx="1" type="body"/>
          </p:nvPr>
        </p:nvSpPr>
        <p:spPr>
          <a:xfrm>
            <a:off x="564000" y="1095025"/>
            <a:ext cx="8016000" cy="3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Il donne </a:t>
            </a:r>
            <a:r>
              <a:rPr b="1"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 langage commun et les repères méthodologiques</a:t>
            </a:r>
            <a: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toute mission d’audit.</a:t>
            </a:r>
            <a:b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Il permet d’</a:t>
            </a:r>
            <a:r>
              <a:rPr b="1"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objectiver les constats d’audit</a:t>
            </a:r>
            <a: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grâce à des critères reconnus internationalement.</a:t>
            </a:r>
            <a:b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Il est indispensable pour </a:t>
            </a:r>
            <a:r>
              <a:rPr b="1"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structurer les grilles d’audit</a:t>
            </a:r>
            <a: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formaliser les constats et </a:t>
            </a:r>
            <a:r>
              <a:rPr b="1"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formuler des recommandations alignées avec les standards</a:t>
            </a:r>
            <a: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Il renforce la </a:t>
            </a:r>
            <a:r>
              <a:rPr b="1"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crédibilité</a:t>
            </a:r>
            <a: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des auditeurs face aux parties prenantes (Direction Générale, DSI, RSSI, régulateurs...).</a:t>
            </a:r>
            <a:b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Enfin, il </a:t>
            </a:r>
            <a:r>
              <a:rPr b="1"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prépare à la certification</a:t>
            </a:r>
            <a:r>
              <a:rPr lang="f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(ISO 27001, audits externes) et au pilotage d’un SMSI.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