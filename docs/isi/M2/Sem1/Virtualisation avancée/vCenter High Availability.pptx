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38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88" r:id="rId15"/>
    <p:sldId id="389" r:id="rId16"/>
    <p:sldId id="39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830AF5-EBD1-4DED-9849-4F1D4F5EFEE5}" v="42" dt="2026-02-23T16:33:07.262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58102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98348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557930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760722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35342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12961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909134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90426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67578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75228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02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420686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0854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165706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310238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08377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fr-S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073D7-330B-4A20-B0A3-AEBE9275C43B}" type="datetimeFigureOut">
              <a:rPr lang="fr-SN" smtClean="0"/>
              <a:t>23/02/2026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7D8F61B-BC3E-4166-808D-1AD07F4F05BF}" type="slidenum">
              <a:rPr lang="fr-SN" smtClean="0"/>
              <a:t>‹N°›</a:t>
            </a:fld>
            <a:endParaRPr lang="fr-SN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A421B88-7205-2036-5E19-461B605D12C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069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S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92291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E83CAC-3114-0D35-FA5E-DADC7D81C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VCENTER HIGH AVAILABILITY</a:t>
            </a:r>
            <a:endParaRPr lang="fr-SN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723C96-7712-AEA0-030E-F99BD01E1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fr-FR" dirty="0"/>
            </a:b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423657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FB2ADA-E07A-66BF-0BAB-46EC528F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SN" b="1" dirty="0"/>
              <a:t>Objectifs d'apprentissage</a:t>
            </a:r>
            <a:br>
              <a:rPr lang="fr-SN" b="1" dirty="0"/>
            </a:br>
            <a:br>
              <a:rPr lang="fr-SN" b="1" dirty="0"/>
            </a:br>
            <a:br>
              <a:rPr lang="fr-SN" dirty="0"/>
            </a:br>
            <a:endParaRPr lang="fr-S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1E1508-30BC-4150-5F3F-CA37175B6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Reconnaître l’importance de </a:t>
            </a:r>
            <a:r>
              <a:rPr lang="fr-FR" b="1" dirty="0"/>
              <a:t>vCenter High </a:t>
            </a:r>
            <a:r>
              <a:rPr lang="fr-FR" b="1" dirty="0" err="1"/>
              <a:t>Availability</a:t>
            </a:r>
            <a:endParaRPr lang="fr-FR" dirty="0"/>
          </a:p>
          <a:p>
            <a:r>
              <a:rPr lang="fr-FR" dirty="0"/>
              <a:t>Expliquer le fonctionnement de </a:t>
            </a:r>
            <a:r>
              <a:rPr lang="fr-FR" b="1" dirty="0"/>
              <a:t>vCenter High </a:t>
            </a:r>
            <a:r>
              <a:rPr lang="fr-FR" b="1" dirty="0" err="1"/>
              <a:t>Availability</a:t>
            </a:r>
            <a:endParaRPr lang="fr-FR" dirty="0"/>
          </a:p>
          <a:p>
            <a:r>
              <a:rPr lang="fr-FR" dirty="0"/>
              <a:t>Identifier les exigences de </a:t>
            </a:r>
            <a:r>
              <a:rPr lang="fr-FR" b="1" dirty="0"/>
              <a:t>vCenter High </a:t>
            </a:r>
            <a:r>
              <a:rPr lang="fr-FR" b="1" dirty="0" err="1"/>
              <a:t>Availability</a:t>
            </a:r>
            <a:endParaRPr lang="fr-FR" dirty="0"/>
          </a:p>
          <a:p>
            <a:pPr marL="0" indent="0">
              <a:buNone/>
            </a:pP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008585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CEAFC5-70B9-8241-DAFE-E36ED4011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451" y="624110"/>
            <a:ext cx="9555162" cy="1280890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Importance de maintenir vCenter hautement disponible</a:t>
            </a:r>
            <a:br>
              <a:rPr lang="fr-FR" b="1" dirty="0"/>
            </a:br>
            <a:br>
              <a:rPr lang="fr-FR" dirty="0"/>
            </a:br>
            <a:br>
              <a:rPr lang="fr-FR" b="1" dirty="0"/>
            </a:br>
            <a:br>
              <a:rPr lang="fr-FR" dirty="0"/>
            </a:br>
            <a:endParaRPr lang="fr-SN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9F2773-8D3D-F021-83CE-618B42225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La haute disponibilité est une caractéristique importante pour de nombreuses solutions </a:t>
            </a:r>
            <a:r>
              <a:rPr lang="fr-FR" b="1" dirty="0"/>
              <a:t>VMware</a:t>
            </a:r>
            <a:r>
              <a:rPr lang="fr-FR" dirty="0"/>
              <a:t> et tierces qui dépendent de </a:t>
            </a:r>
            <a:r>
              <a:rPr lang="fr-FR" b="1" dirty="0"/>
              <a:t>vCenter</a:t>
            </a:r>
            <a:r>
              <a:rPr lang="fr-FR" dirty="0"/>
              <a:t> en tant que plateforme principale de gestion :</a:t>
            </a:r>
          </a:p>
          <a:p>
            <a:r>
              <a:rPr lang="fr-FR" b="1" dirty="0"/>
              <a:t>vCenter</a:t>
            </a:r>
            <a:r>
              <a:rPr lang="fr-FR" dirty="0"/>
              <a:t> est la base de l’infrastructure de bureau virtuel.</a:t>
            </a:r>
          </a:p>
          <a:p>
            <a:r>
              <a:rPr lang="fr-FR" dirty="0"/>
              <a:t>Les solutions de </a:t>
            </a:r>
            <a:r>
              <a:rPr lang="fr-FR" b="1" dirty="0"/>
              <a:t>sauvegarde</a:t>
            </a:r>
            <a:r>
              <a:rPr lang="fr-FR" dirty="0"/>
              <a:t> et de </a:t>
            </a:r>
            <a:r>
              <a:rPr lang="fr-FR" b="1" dirty="0"/>
              <a:t>reprise après sinistre</a:t>
            </a:r>
            <a:r>
              <a:rPr lang="fr-FR" dirty="0"/>
              <a:t> reposent sur </a:t>
            </a:r>
            <a:r>
              <a:rPr lang="fr-FR" b="1" dirty="0"/>
              <a:t>vCenter</a:t>
            </a:r>
            <a:r>
              <a:rPr lang="fr-FR" dirty="0"/>
              <a:t>.</a:t>
            </a:r>
          </a:p>
          <a:p>
            <a:pPr marL="0" indent="0">
              <a:buNone/>
            </a:pPr>
            <a:br>
              <a:rPr lang="fr-FR" dirty="0"/>
            </a:b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37209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9" name="Rectangle 1098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1F351C-C5B9-F448-1917-52472057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br>
              <a:rPr lang="fr-FR" sz="1700" b="1" dirty="0"/>
            </a:br>
            <a:br>
              <a:rPr lang="fr-SN" sz="1700" b="1" dirty="0"/>
            </a:br>
            <a:br>
              <a:rPr lang="fr-SN" sz="1700" dirty="0"/>
            </a:br>
            <a:endParaRPr lang="fr-SN" sz="1700" dirty="0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09EB82-6A63-1233-E3BF-B9CB755E5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fr-FR" dirty="0"/>
            </a:br>
            <a:endParaRPr lang="fr-FR" dirty="0"/>
          </a:p>
        </p:txBody>
      </p:sp>
      <p:sp>
        <p:nvSpPr>
          <p:cNvPr id="1101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C192FA6-967F-E905-EEE2-BA0DDD266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1100138"/>
            <a:ext cx="4286250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313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E6700-988B-198C-647D-BA98F5D0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Importance de maintenir vCenter hautement disponible</a:t>
            </a:r>
            <a:br>
              <a:rPr lang="fr-FR" b="1" dirty="0"/>
            </a:br>
            <a:br>
              <a:rPr lang="fr-FR" dirty="0"/>
            </a:br>
            <a:br>
              <a:rPr lang="fr-FR" b="1" dirty="0"/>
            </a:br>
            <a:br>
              <a:rPr lang="fr-FR" dirty="0"/>
            </a:br>
            <a:br>
              <a:rPr lang="fr-FR" b="1" dirty="0"/>
            </a:br>
            <a:br>
              <a:rPr lang="fr-FR" dirty="0"/>
            </a:br>
            <a:br>
              <a:rPr lang="fr-SN" b="1" dirty="0"/>
            </a:br>
            <a:br>
              <a:rPr lang="fr-SN" dirty="0"/>
            </a:br>
            <a:endParaRPr lang="fr-S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13E09D-C899-EC09-C569-2C8FCD5F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vSphere</a:t>
            </a:r>
            <a:r>
              <a:rPr lang="fr-FR" dirty="0"/>
              <a:t> est une plateforme de virtualisation qui constitue la base pour construire et gérer les infrastructures cloud virtuelles, publiques et privées d’une organisation.</a:t>
            </a:r>
            <a:br>
              <a:rPr lang="fr-FR" dirty="0"/>
            </a:br>
            <a:r>
              <a:rPr lang="fr-FR" b="1" dirty="0"/>
              <a:t>vCenter</a:t>
            </a:r>
            <a:r>
              <a:rPr lang="fr-FR" dirty="0"/>
              <a:t> se trouve au cœur de </a:t>
            </a:r>
            <a:r>
              <a:rPr lang="fr-FR" b="1" dirty="0"/>
              <a:t>vSphere</a:t>
            </a:r>
            <a:r>
              <a:rPr lang="fr-FR" dirty="0"/>
              <a:t> et fournit des services pour gérer divers composants d’une infrastructure virtuelle, tels que les </a:t>
            </a:r>
            <a:r>
              <a:rPr lang="fr-FR" b="1" dirty="0"/>
              <a:t>hôtes ESXi</a:t>
            </a:r>
            <a:r>
              <a:rPr lang="fr-FR" dirty="0"/>
              <a:t>, les </a:t>
            </a:r>
            <a:r>
              <a:rPr lang="fr-FR" b="1" dirty="0"/>
              <a:t>machines virtuelles</a:t>
            </a:r>
            <a:r>
              <a:rPr lang="fr-FR" dirty="0"/>
              <a:t>, ainsi que les </a:t>
            </a:r>
            <a:r>
              <a:rPr lang="fr-FR" b="1" dirty="0"/>
              <a:t>ressources de stockage et de réseau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À mesure que de grandes infrastructures virtuelles sont construites à l’aide de </a:t>
            </a:r>
            <a:r>
              <a:rPr lang="fr-FR" b="1" dirty="0"/>
              <a:t>vSphere</a:t>
            </a:r>
            <a:r>
              <a:rPr lang="fr-FR" dirty="0"/>
              <a:t>, </a:t>
            </a:r>
            <a:r>
              <a:rPr lang="fr-FR" b="1" dirty="0"/>
              <a:t>vCenter</a:t>
            </a:r>
            <a:r>
              <a:rPr lang="fr-FR" dirty="0"/>
              <a:t> devient un élément essentiel pour assurer la </a:t>
            </a:r>
            <a:r>
              <a:rPr lang="fr-FR" b="1" dirty="0"/>
              <a:t>continuité d’activité</a:t>
            </a:r>
            <a:r>
              <a:rPr lang="fr-FR" dirty="0"/>
              <a:t> d’une organisation.</a:t>
            </a:r>
            <a:br>
              <a:rPr lang="fr-FR" dirty="0"/>
            </a:br>
            <a:r>
              <a:rPr lang="fr-FR" b="1" dirty="0"/>
              <a:t>vCenter</a:t>
            </a:r>
            <a:r>
              <a:rPr lang="fr-FR" dirty="0"/>
              <a:t> doit se protéger contre un ensemble de défaillances matérielles et logicielles dans un environnement donné et doit pouvoir </a:t>
            </a:r>
            <a:r>
              <a:rPr lang="fr-FR" b="1" dirty="0"/>
              <a:t>se rétablir de manière transparente</a:t>
            </a:r>
            <a:r>
              <a:rPr lang="fr-FR" dirty="0"/>
              <a:t> après de telles pannes.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455445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03642E-BFB6-7D8E-FE43-D174F21C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SN" b="1" dirty="0"/>
              <a:t>À propos de vCenter High </a:t>
            </a:r>
            <a:r>
              <a:rPr lang="fr-SN" b="1" dirty="0" err="1"/>
              <a:t>Availability</a:t>
            </a:r>
            <a:br>
              <a:rPr lang="fr-SN" b="1" dirty="0"/>
            </a:br>
            <a:br>
              <a:rPr lang="fr-SN" dirty="0"/>
            </a:br>
            <a:endParaRPr lang="fr-FR" b="1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D843E96-A55C-27EB-86F6-567D5EE23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vCenter High </a:t>
            </a:r>
            <a:r>
              <a:rPr lang="fr-FR" b="1" dirty="0" err="1"/>
              <a:t>Availability</a:t>
            </a:r>
            <a:r>
              <a:rPr lang="fr-FR" dirty="0"/>
              <a:t> protège </a:t>
            </a:r>
            <a:r>
              <a:rPr lang="fr-FR" b="1" dirty="0"/>
              <a:t>vCenter</a:t>
            </a:r>
            <a:r>
              <a:rPr lang="fr-FR" dirty="0"/>
              <a:t> contre les défaillances matérielles et logicielles.</a:t>
            </a:r>
            <a:br>
              <a:rPr lang="fr-FR" dirty="0"/>
            </a:br>
            <a:r>
              <a:rPr lang="fr-FR" b="1" dirty="0"/>
              <a:t>vCenter High </a:t>
            </a:r>
            <a:r>
              <a:rPr lang="fr-FR" b="1" dirty="0" err="1"/>
              <a:t>Availability</a:t>
            </a:r>
            <a:r>
              <a:rPr lang="fr-FR" dirty="0"/>
              <a:t> forme un </a:t>
            </a:r>
            <a:r>
              <a:rPr lang="fr-FR" b="1" dirty="0"/>
              <a:t>cluster</a:t>
            </a:r>
            <a:r>
              <a:rPr lang="fr-FR" dirty="0"/>
              <a:t> composé de plusieurs </a:t>
            </a:r>
            <a:r>
              <a:rPr lang="fr-FR" b="1" dirty="0"/>
              <a:t>nœuds</a:t>
            </a:r>
            <a:r>
              <a:rPr lang="fr-FR" dirty="0"/>
              <a:t> :</a:t>
            </a:r>
          </a:p>
          <a:p>
            <a:r>
              <a:rPr lang="fr-FR" b="1" dirty="0"/>
              <a:t>Active </a:t>
            </a:r>
            <a:r>
              <a:rPr lang="fr-FR" b="1" dirty="0" err="1"/>
              <a:t>node</a:t>
            </a:r>
            <a:r>
              <a:rPr lang="fr-FR" dirty="0"/>
              <a:t> : exécute l’instance active de </a:t>
            </a:r>
            <a:r>
              <a:rPr lang="fr-FR" b="1" dirty="0"/>
              <a:t>vCenter</a:t>
            </a:r>
            <a:endParaRPr lang="fr-FR" dirty="0"/>
          </a:p>
          <a:p>
            <a:r>
              <a:rPr lang="fr-FR" b="1" dirty="0"/>
              <a:t>Passive </a:t>
            </a:r>
            <a:r>
              <a:rPr lang="fr-FR" b="1" dirty="0" err="1"/>
              <a:t>node</a:t>
            </a:r>
            <a:r>
              <a:rPr lang="fr-FR" dirty="0"/>
              <a:t> : prend automatiquement le rôle du </a:t>
            </a:r>
            <a:r>
              <a:rPr lang="fr-FR" b="1" dirty="0"/>
              <a:t>Active </a:t>
            </a:r>
            <a:r>
              <a:rPr lang="fr-FR" b="1" dirty="0" err="1"/>
              <a:t>node</a:t>
            </a:r>
            <a:r>
              <a:rPr lang="fr-FR" dirty="0"/>
              <a:t> en cas de défaillance</a:t>
            </a:r>
          </a:p>
          <a:p>
            <a:r>
              <a:rPr lang="fr-FR" b="1" dirty="0" err="1"/>
              <a:t>Witness</a:t>
            </a:r>
            <a:r>
              <a:rPr lang="fr-FR" b="1" dirty="0"/>
              <a:t> </a:t>
            </a:r>
            <a:r>
              <a:rPr lang="fr-FR" b="1" dirty="0" err="1"/>
              <a:t>node</a:t>
            </a:r>
            <a:r>
              <a:rPr lang="fr-FR" dirty="0"/>
              <a:t> : fournit un </a:t>
            </a:r>
            <a:r>
              <a:rPr lang="fr-FR" b="1" dirty="0"/>
              <a:t>quorum</a:t>
            </a:r>
            <a:r>
              <a:rPr lang="fr-FR" dirty="0"/>
              <a:t> pour se protéger contre une situation de </a:t>
            </a:r>
            <a:r>
              <a:rPr lang="fr-FR" b="1" dirty="0"/>
              <a:t>split-</a:t>
            </a:r>
            <a:r>
              <a:rPr lang="fr-FR" b="1" dirty="0" err="1"/>
              <a:t>brain</a:t>
            </a:r>
            <a:endParaRPr lang="fr-FR" dirty="0"/>
          </a:p>
          <a:p>
            <a:r>
              <a:rPr lang="fr-FR" b="1" dirty="0"/>
              <a:t>vCenter High </a:t>
            </a:r>
            <a:r>
              <a:rPr lang="fr-FR" b="1" dirty="0" err="1"/>
              <a:t>Availability</a:t>
            </a:r>
            <a:r>
              <a:rPr lang="fr-FR" dirty="0"/>
              <a:t> est intégré à </a:t>
            </a:r>
            <a:r>
              <a:rPr lang="fr-FR" b="1" dirty="0"/>
              <a:t>vCenter</a:t>
            </a:r>
            <a:r>
              <a:rPr lang="fr-FR" dirty="0"/>
              <a:t> et inclus avec la </a:t>
            </a:r>
            <a:r>
              <a:rPr lang="fr-FR" b="1" dirty="0"/>
              <a:t>licence standard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56658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834754-B49A-48D1-C37F-6345ED4A6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SN" b="1" dirty="0"/>
              <a:t>À propos de vCenter High </a:t>
            </a:r>
            <a:r>
              <a:rPr lang="fr-SN" b="1" dirty="0" err="1"/>
              <a:t>Availability</a:t>
            </a:r>
            <a:br>
              <a:rPr lang="fr-SN" b="1" dirty="0"/>
            </a:br>
            <a:br>
              <a:rPr lang="fr-SN" dirty="0"/>
            </a:br>
            <a:endParaRPr lang="fr-SN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AABDA50-4C0D-8C1A-481F-FFEB01BA9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5062" y="2024062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fr-FR" dirty="0"/>
            </a:br>
            <a:endParaRPr lang="fr-SN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DE4248C-E2D7-30BD-86E0-AD87C5C5C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1485900"/>
            <a:ext cx="5000625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6279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89E66D-C489-B847-8BDB-A81183750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Scénario : défaillance du nœud actif</a:t>
            </a:r>
            <a:br>
              <a:rPr lang="fr-FR" b="1" dirty="0"/>
            </a:br>
            <a:br>
              <a:rPr lang="fr-FR" dirty="0"/>
            </a:br>
            <a:endParaRPr lang="fr-SN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B3B23EA-DD59-6C03-1774-1BDCF89624C3}"/>
              </a:ext>
            </a:extLst>
          </p:cNvPr>
          <p:cNvSpPr txBox="1"/>
          <p:nvPr/>
        </p:nvSpPr>
        <p:spPr>
          <a:xfrm>
            <a:off x="2547938" y="1674674"/>
            <a:ext cx="70024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Si le </a:t>
            </a:r>
            <a:r>
              <a:rPr lang="fr-FR" b="1" dirty="0"/>
              <a:t>nœud actif</a:t>
            </a:r>
            <a:r>
              <a:rPr lang="fr-FR" dirty="0"/>
              <a:t> tombe en panne, le </a:t>
            </a:r>
            <a:r>
              <a:rPr lang="fr-FR" b="1" dirty="0"/>
              <a:t>nœud passif</a:t>
            </a:r>
            <a:r>
              <a:rPr lang="fr-FR" dirty="0"/>
              <a:t> prend le rôle du </a:t>
            </a:r>
            <a:r>
              <a:rPr lang="fr-FR" b="1" dirty="0"/>
              <a:t>nœud actif</a:t>
            </a:r>
            <a:r>
              <a:rPr lang="fr-FR" dirty="0"/>
              <a:t>. Le </a:t>
            </a:r>
            <a:r>
              <a:rPr lang="fr-FR" b="1" dirty="0"/>
              <a:t>cluster</a:t>
            </a:r>
            <a:r>
              <a:rPr lang="fr-FR" dirty="0"/>
              <a:t> est alors considéré comme fonctionnant dans un </a:t>
            </a:r>
            <a:r>
              <a:rPr lang="fr-FR" b="1" dirty="0"/>
              <a:t>état dégradé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Le </a:t>
            </a:r>
            <a:r>
              <a:rPr lang="fr-FR" b="1" dirty="0"/>
              <a:t>nœud actif</a:t>
            </a:r>
            <a:r>
              <a:rPr lang="fr-FR" dirty="0"/>
              <a:t> exécute l’instance active de </a:t>
            </a:r>
            <a:r>
              <a:rPr lang="fr-FR" b="1" dirty="0"/>
              <a:t>vCenter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Ce nœud utilise une </a:t>
            </a:r>
            <a:r>
              <a:rPr lang="fr-FR" b="1" dirty="0"/>
              <a:t>adresse IP</a:t>
            </a:r>
            <a:r>
              <a:rPr lang="fr-FR" dirty="0"/>
              <a:t> sur le </a:t>
            </a:r>
            <a:r>
              <a:rPr lang="fr-FR" b="1" dirty="0"/>
              <a:t>Management Network</a:t>
            </a:r>
            <a:r>
              <a:rPr lang="fr-FR" dirty="0"/>
              <a:t> pour permettre la connexion du </a:t>
            </a:r>
            <a:r>
              <a:rPr lang="fr-FR" b="1" dirty="0"/>
              <a:t>vSphere Client</a:t>
            </a:r>
            <a:r>
              <a:rPr lang="fr-FR" dirty="0"/>
              <a:t> et des </a:t>
            </a:r>
            <a:r>
              <a:rPr lang="fr-FR" b="1" dirty="0"/>
              <a:t>hôtes ESXi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Si le </a:t>
            </a:r>
            <a:r>
              <a:rPr lang="fr-FR" b="1" dirty="0"/>
              <a:t>nœud actif</a:t>
            </a:r>
            <a:r>
              <a:rPr lang="fr-FR" dirty="0"/>
              <a:t> échoue (à cause d’une panne matérielle, logicielle ou réseau), le </a:t>
            </a:r>
            <a:r>
              <a:rPr lang="fr-FR" b="1" dirty="0"/>
              <a:t>nœud passif</a:t>
            </a:r>
            <a:r>
              <a:rPr lang="fr-FR" dirty="0"/>
              <a:t> prend alors le rôle du </a:t>
            </a:r>
            <a:r>
              <a:rPr lang="fr-FR" b="1" dirty="0"/>
              <a:t>nœud actif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L’adresse IP à laquelle le </a:t>
            </a:r>
            <a:r>
              <a:rPr lang="fr-FR" b="1" dirty="0"/>
              <a:t>vSphere Client</a:t>
            </a:r>
            <a:r>
              <a:rPr lang="fr-FR" dirty="0"/>
              <a:t> était connecté est transférée du nœud défaillant vers le nouveau </a:t>
            </a:r>
            <a:r>
              <a:rPr lang="fr-FR" b="1" dirty="0"/>
              <a:t>nœud actif</a:t>
            </a:r>
            <a:r>
              <a:rPr lang="fr-FR" dirty="0"/>
              <a:t>.</a:t>
            </a:r>
            <a:endParaRPr lang="fr-SN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D32635A2-F045-5EEA-B2AA-190E7725BF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SN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A1B6D8E9-1E4D-6F7F-BED6-E6FD6F8F78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03742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45E81-CB94-39F0-4F10-7E83F5C7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Scénario : défaillance du nœud actif</a:t>
            </a:r>
            <a:br>
              <a:rPr lang="fr-FR" b="1" dirty="0"/>
            </a:br>
            <a:br>
              <a:rPr lang="fr-FR" dirty="0"/>
            </a:br>
            <a:br>
              <a:rPr lang="fr-FR" b="1" dirty="0"/>
            </a:br>
            <a:br>
              <a:rPr lang="fr-FR" dirty="0"/>
            </a:br>
            <a:endParaRPr lang="fr-SN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125BB29-E4C2-A274-2691-9AA989CF9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Le nouveau </a:t>
            </a:r>
            <a:r>
              <a:rPr lang="fr-FR" b="1" dirty="0"/>
              <a:t>nœud actif</a:t>
            </a:r>
            <a:r>
              <a:rPr lang="fr-FR" dirty="0"/>
              <a:t> commence alors à traiter les requêtes des clients.</a:t>
            </a:r>
            <a:br>
              <a:rPr lang="fr-FR" dirty="0"/>
            </a:br>
            <a:r>
              <a:rPr lang="fr-FR" dirty="0"/>
              <a:t>Pendant ce processus, l’utilisateur doit </a:t>
            </a:r>
            <a:r>
              <a:rPr lang="fr-FR" b="1" dirty="0"/>
              <a:t>se reconnecter au vSphere Client</a:t>
            </a:r>
            <a:r>
              <a:rPr lang="fr-FR" dirty="0"/>
              <a:t> pour continuer à accéder à </a:t>
            </a:r>
            <a:r>
              <a:rPr lang="fr-FR" b="1" dirty="0"/>
              <a:t>vCenter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Comme seulement deux nœuds sont alors en fonctionnement, le </a:t>
            </a:r>
            <a:r>
              <a:rPr lang="fr-FR" b="1" dirty="0"/>
              <a:t>cluster vCenter High </a:t>
            </a:r>
            <a:r>
              <a:rPr lang="fr-FR" b="1" dirty="0" err="1"/>
              <a:t>Availability</a:t>
            </a:r>
            <a:r>
              <a:rPr lang="fr-FR" dirty="0"/>
              <a:t> est considéré comme étant en </a:t>
            </a:r>
            <a:r>
              <a:rPr lang="fr-FR" b="1" dirty="0"/>
              <a:t>état dégradé</a:t>
            </a:r>
            <a:r>
              <a:rPr lang="fr-FR" dirty="0"/>
              <a:t>, et un </a:t>
            </a:r>
            <a:r>
              <a:rPr lang="fr-FR" b="1" dirty="0"/>
              <a:t>nouvel échec</a:t>
            </a:r>
            <a:r>
              <a:rPr lang="fr-FR" dirty="0"/>
              <a:t> ne peut pas être géré automatiquement.</a:t>
            </a:r>
            <a:br>
              <a:rPr lang="fr-FR" dirty="0"/>
            </a:br>
            <a:r>
              <a:rPr lang="fr-FR" dirty="0"/>
              <a:t>Une défaillance supplémentaire dans cet état signifierait que les services </a:t>
            </a:r>
            <a:r>
              <a:rPr lang="fr-FR" b="1" dirty="0"/>
              <a:t>vCenter</a:t>
            </a:r>
            <a:r>
              <a:rPr lang="fr-FR" dirty="0"/>
              <a:t> ne seraient plus disponibles.</a:t>
            </a:r>
            <a:br>
              <a:rPr lang="fr-FR" dirty="0"/>
            </a:br>
            <a:r>
              <a:rPr lang="fr-FR" dirty="0"/>
              <a:t>Un </a:t>
            </a:r>
            <a:r>
              <a:rPr lang="fr-FR" b="1" dirty="0"/>
              <a:t>nœud passif</a:t>
            </a:r>
            <a:r>
              <a:rPr lang="fr-FR" dirty="0"/>
              <a:t> est donc requis pour ramener le cluster à un </a:t>
            </a:r>
            <a:r>
              <a:rPr lang="fr-FR" b="1" dirty="0"/>
              <a:t>état sain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br>
              <a:rPr lang="fr-FR" dirty="0"/>
            </a:b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4185490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A74E4-7211-A851-7F7A-68E3E266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Scénario : défaillance du nœud passif</a:t>
            </a:r>
            <a:br>
              <a:rPr lang="fr-FR" b="1" dirty="0"/>
            </a:br>
            <a:br>
              <a:rPr lang="fr-FR" dirty="0"/>
            </a:br>
            <a:br>
              <a:rPr lang="fr-FR" b="1" dirty="0"/>
            </a:br>
            <a:br>
              <a:rPr lang="fr-FR" dirty="0"/>
            </a:br>
            <a:endParaRPr lang="fr-SN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742C7A8-551F-6FCB-5D57-06CFE78E6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9100"/>
            <a:ext cx="8915400" cy="4031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6493A4-2AC0-7FEF-BFEB-CB92F3F5C7B4}"/>
              </a:ext>
            </a:extLst>
          </p:cNvPr>
          <p:cNvSpPr txBox="1"/>
          <p:nvPr/>
        </p:nvSpPr>
        <p:spPr>
          <a:xfrm>
            <a:off x="3043238" y="2693511"/>
            <a:ext cx="6099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fr-FR" dirty="0"/>
            </a:br>
            <a:endParaRPr lang="fr-S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9AD7DB7-F4AD-76F9-6303-7749A30DA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3" y="1528763"/>
            <a:ext cx="4829175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90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12179-970C-96E5-F5B4-181191EAB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Scénario : défaillance du nœud passif</a:t>
            </a:r>
            <a:br>
              <a:rPr lang="fr-FR" b="1" dirty="0"/>
            </a:br>
            <a:br>
              <a:rPr lang="fr-FR" dirty="0"/>
            </a:br>
            <a:br>
              <a:rPr lang="fr-FR" b="1" dirty="0"/>
            </a:br>
            <a:br>
              <a:rPr lang="fr-FR" dirty="0"/>
            </a:br>
            <a:endParaRPr lang="fr-S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3F5701-031A-0B16-884C-377FF985C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Si le </a:t>
            </a:r>
            <a:r>
              <a:rPr lang="fr-FR" b="1" dirty="0"/>
              <a:t>nœud passif</a:t>
            </a:r>
            <a:r>
              <a:rPr lang="fr-FR" dirty="0"/>
              <a:t> tombe en panne, le </a:t>
            </a:r>
            <a:r>
              <a:rPr lang="fr-FR" b="1" dirty="0"/>
              <a:t>nœud actif</a:t>
            </a:r>
            <a:r>
              <a:rPr lang="fr-FR" dirty="0"/>
              <a:t> continue de fonctionner normalement.</a:t>
            </a:r>
            <a:br>
              <a:rPr lang="fr-FR" dirty="0"/>
            </a:br>
            <a:r>
              <a:rPr lang="fr-FR" dirty="0"/>
              <a:t>Cependant, le </a:t>
            </a:r>
            <a:r>
              <a:rPr lang="fr-FR" b="1" dirty="0"/>
              <a:t>cluster</a:t>
            </a:r>
            <a:r>
              <a:rPr lang="fr-FR" dirty="0"/>
              <a:t> est considéré comme fonctionnant dans un </a:t>
            </a:r>
            <a:r>
              <a:rPr lang="fr-FR" b="1" dirty="0"/>
              <a:t>état dégradé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Si le </a:t>
            </a:r>
            <a:r>
              <a:rPr lang="fr-FR" b="1" dirty="0"/>
              <a:t>nœud passif</a:t>
            </a:r>
            <a:r>
              <a:rPr lang="fr-FR" dirty="0"/>
              <a:t> échoue, le </a:t>
            </a:r>
            <a:r>
              <a:rPr lang="fr-FR" b="1" dirty="0"/>
              <a:t>nœud actif</a:t>
            </a:r>
            <a:r>
              <a:rPr lang="fr-FR" dirty="0"/>
              <a:t> continue de fonctionner normalement.</a:t>
            </a:r>
            <a:br>
              <a:rPr lang="fr-FR" dirty="0"/>
            </a:br>
            <a:r>
              <a:rPr lang="fr-FR" dirty="0"/>
              <a:t>Aucune interruption de service ne se produit, et les utilisateurs peuvent continuer à accéder au </a:t>
            </a:r>
            <a:r>
              <a:rPr lang="fr-FR" b="1" dirty="0"/>
              <a:t>nœud actif</a:t>
            </a:r>
            <a:r>
              <a:rPr lang="fr-FR" dirty="0"/>
              <a:t> via le </a:t>
            </a:r>
            <a:r>
              <a:rPr lang="fr-FR" b="1" dirty="0"/>
              <a:t>vSphere Client</a:t>
            </a:r>
            <a:r>
              <a:rPr lang="fr-FR" dirty="0"/>
              <a:t>.</a:t>
            </a:r>
            <a:br>
              <a:rPr lang="fr-FR" dirty="0"/>
            </a:b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7602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C6B7C-40AA-E9E6-E77C-7595621D3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Scénario : défaillance du nœud passif</a:t>
            </a:r>
            <a:br>
              <a:rPr lang="fr-FR" b="1" dirty="0"/>
            </a:br>
            <a:br>
              <a:rPr lang="fr-FR" dirty="0"/>
            </a:br>
            <a:br>
              <a:rPr lang="fr-FR" b="1" dirty="0"/>
            </a:br>
            <a:br>
              <a:rPr lang="fr-FR" dirty="0"/>
            </a:br>
            <a:endParaRPr lang="fr-SN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33C9E0-732B-C1F1-D487-BD2734C14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Cependant, comme le </a:t>
            </a:r>
            <a:r>
              <a:rPr lang="fr-FR" b="1" dirty="0"/>
              <a:t>nœud passif</a:t>
            </a:r>
            <a:r>
              <a:rPr lang="fr-FR" dirty="0"/>
              <a:t> n’est plus disponible, le </a:t>
            </a:r>
            <a:r>
              <a:rPr lang="fr-FR" b="1" dirty="0"/>
              <a:t>nœud actif</a:t>
            </a:r>
            <a:r>
              <a:rPr lang="fr-FR" dirty="0"/>
              <a:t> n’est plus protégé.</a:t>
            </a:r>
            <a:br>
              <a:rPr lang="fr-FR" dirty="0"/>
            </a:br>
            <a:r>
              <a:rPr lang="fr-FR" dirty="0"/>
              <a:t>Le </a:t>
            </a:r>
            <a:r>
              <a:rPr lang="fr-FR" b="1" dirty="0"/>
              <a:t>cluster</a:t>
            </a:r>
            <a:r>
              <a:rPr lang="fr-FR" dirty="0"/>
              <a:t> est alors en </a:t>
            </a:r>
            <a:r>
              <a:rPr lang="fr-FR" b="1" dirty="0"/>
              <a:t>état dégradé</a:t>
            </a:r>
            <a:r>
              <a:rPr lang="fr-FR" dirty="0"/>
              <a:t>, car seuls deux nœuds (actif et témoin) sont en fonctionnement.</a:t>
            </a:r>
            <a:br>
              <a:rPr lang="fr-FR" dirty="0"/>
            </a:br>
            <a:r>
              <a:rPr lang="fr-FR" dirty="0"/>
              <a:t>Une </a:t>
            </a:r>
            <a:r>
              <a:rPr lang="fr-FR" b="1" dirty="0"/>
              <a:t>nouvelle défaillance</a:t>
            </a:r>
            <a:r>
              <a:rPr lang="fr-FR" dirty="0"/>
              <a:t> dans cet état signifierait que les </a:t>
            </a:r>
            <a:r>
              <a:rPr lang="fr-FR" b="1" dirty="0"/>
              <a:t>services vCenter</a:t>
            </a:r>
            <a:r>
              <a:rPr lang="fr-FR" dirty="0"/>
              <a:t> ne seraient plus disponibles.</a:t>
            </a:r>
            <a:br>
              <a:rPr lang="fr-FR" dirty="0"/>
            </a:br>
            <a:r>
              <a:rPr lang="fr-FR" dirty="0"/>
              <a:t>Un </a:t>
            </a:r>
            <a:r>
              <a:rPr lang="fr-FR" b="1" dirty="0"/>
              <a:t>nœud passif</a:t>
            </a:r>
            <a:r>
              <a:rPr lang="fr-FR" dirty="0"/>
              <a:t> est donc nécessaire pour ramener le </a:t>
            </a:r>
            <a:r>
              <a:rPr lang="fr-FR" b="1" dirty="0"/>
              <a:t>cluster</a:t>
            </a:r>
            <a:r>
              <a:rPr lang="fr-FR" dirty="0"/>
              <a:t> à un </a:t>
            </a:r>
            <a:r>
              <a:rPr lang="fr-FR" b="1" dirty="0"/>
              <a:t>état sain</a:t>
            </a:r>
            <a:r>
              <a:rPr lang="fr-FR" dirty="0"/>
              <a:t>.</a:t>
            </a: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755190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2EFB25-6515-3486-10E1-BB588860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Scénario : défaillance du nœud témoin</a:t>
            </a:r>
            <a:br>
              <a:rPr lang="fr-FR" b="1" dirty="0"/>
            </a:br>
            <a:br>
              <a:rPr lang="fr-FR" dirty="0"/>
            </a:br>
            <a:br>
              <a:rPr lang="fr-FR" b="1" dirty="0"/>
            </a:br>
            <a:br>
              <a:rPr lang="fr-FR" dirty="0"/>
            </a:br>
            <a:endParaRPr lang="fr-S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2D13D0C-3CF2-009C-46FC-6824B3EBF3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555" y="2133600"/>
            <a:ext cx="4708715" cy="377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457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2255E5-5732-792D-4967-C617BF21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Scénario : défaillance du nœud témoin</a:t>
            </a:r>
            <a:br>
              <a:rPr lang="fr-FR" b="1" dirty="0"/>
            </a:br>
            <a:br>
              <a:rPr lang="fr-FR" dirty="0"/>
            </a:br>
            <a:endParaRPr lang="fr-S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40D919-AAF8-4868-0923-DECCD759C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Si le </a:t>
            </a:r>
            <a:r>
              <a:rPr lang="fr-FR" b="1" dirty="0"/>
              <a:t>nœud témoin</a:t>
            </a:r>
            <a:r>
              <a:rPr lang="fr-FR" dirty="0"/>
              <a:t> échoue, le </a:t>
            </a:r>
            <a:r>
              <a:rPr lang="fr-FR" b="1" dirty="0"/>
              <a:t>nœud actif</a:t>
            </a:r>
            <a:r>
              <a:rPr lang="fr-FR" dirty="0"/>
              <a:t> continue de fonctionner normalement.</a:t>
            </a:r>
            <a:br>
              <a:rPr lang="fr-FR" dirty="0"/>
            </a:br>
            <a:r>
              <a:rPr lang="fr-FR" dirty="0"/>
              <a:t>Cependant, le </a:t>
            </a:r>
            <a:r>
              <a:rPr lang="fr-FR" b="1" dirty="0"/>
              <a:t>cluster</a:t>
            </a:r>
            <a:r>
              <a:rPr lang="fr-FR" dirty="0"/>
              <a:t> est considéré comme étant dans un </a:t>
            </a:r>
            <a:r>
              <a:rPr lang="fr-FR" b="1" dirty="0"/>
              <a:t>état dégradé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      Le </a:t>
            </a:r>
            <a:r>
              <a:rPr lang="fr-FR" b="1" dirty="0"/>
              <a:t>nœud témoin</a:t>
            </a:r>
            <a:r>
              <a:rPr lang="fr-FR" dirty="0"/>
              <a:t> est utilisé pour maintenir le </a:t>
            </a:r>
            <a:r>
              <a:rPr lang="fr-FR" b="1" dirty="0"/>
              <a:t>quorum</a:t>
            </a:r>
            <a:r>
              <a:rPr lang="fr-FR" dirty="0"/>
              <a:t>.</a:t>
            </a:r>
          </a:p>
          <a:p>
            <a:r>
              <a:rPr lang="fr-FR" dirty="0"/>
              <a:t>Si le </a:t>
            </a:r>
            <a:r>
              <a:rPr lang="fr-FR" b="1" dirty="0"/>
              <a:t>nœud témoin</a:t>
            </a:r>
            <a:r>
              <a:rPr lang="fr-FR" dirty="0"/>
              <a:t> échoue, le </a:t>
            </a:r>
            <a:r>
              <a:rPr lang="fr-FR" b="1" dirty="0"/>
              <a:t>nœud actif</a:t>
            </a:r>
            <a:r>
              <a:rPr lang="fr-FR" dirty="0"/>
              <a:t> continue à fonctionner sans interruption de service.</a:t>
            </a:r>
            <a:br>
              <a:rPr lang="fr-FR" dirty="0"/>
            </a:br>
            <a:r>
              <a:rPr lang="fr-FR" dirty="0"/>
              <a:t>Cependant, comme seulement deux nœuds restent en fonctionnement, le </a:t>
            </a:r>
            <a:r>
              <a:rPr lang="fr-FR" b="1" dirty="0"/>
              <a:t>cluster</a:t>
            </a:r>
            <a:r>
              <a:rPr lang="fr-FR" dirty="0"/>
              <a:t> est considéré comme étant dans un </a:t>
            </a:r>
            <a:r>
              <a:rPr lang="fr-FR" b="1" dirty="0"/>
              <a:t>état dégradé</a:t>
            </a:r>
            <a:r>
              <a:rPr lang="fr-FR" dirty="0"/>
              <a:t>, et un </a:t>
            </a:r>
            <a:r>
              <a:rPr lang="fr-FR" b="1" dirty="0"/>
              <a:t>basculement (failover)</a:t>
            </a:r>
            <a:r>
              <a:rPr lang="fr-FR" dirty="0"/>
              <a:t> ne peut pas se produire.</a:t>
            </a:r>
            <a:br>
              <a:rPr lang="fr-FR" dirty="0"/>
            </a:br>
            <a:r>
              <a:rPr lang="fr-FR" dirty="0"/>
              <a:t>Une </a:t>
            </a:r>
            <a:r>
              <a:rPr lang="fr-FR" b="1" dirty="0"/>
              <a:t>défaillance supplémentaire</a:t>
            </a:r>
            <a:r>
              <a:rPr lang="fr-FR" dirty="0"/>
              <a:t> dans un </a:t>
            </a:r>
            <a:r>
              <a:rPr lang="fr-FR" b="1" dirty="0"/>
              <a:t>cluster dégradé</a:t>
            </a:r>
            <a:r>
              <a:rPr lang="fr-FR" dirty="0"/>
              <a:t> rendrait les </a:t>
            </a:r>
            <a:r>
              <a:rPr lang="fr-FR" b="1" dirty="0"/>
              <a:t>services vCenter</a:t>
            </a:r>
            <a:r>
              <a:rPr lang="fr-FR" dirty="0"/>
              <a:t> indisponibles.</a:t>
            </a:r>
            <a:br>
              <a:rPr lang="fr-FR" dirty="0"/>
            </a:br>
            <a:r>
              <a:rPr lang="fr-FR" dirty="0"/>
              <a:t>Le </a:t>
            </a:r>
            <a:r>
              <a:rPr lang="fr-FR" b="1" dirty="0"/>
              <a:t>nœud témoin</a:t>
            </a:r>
            <a:r>
              <a:rPr lang="fr-FR" dirty="0"/>
              <a:t> doit donc être restauré afin de ramener le </a:t>
            </a:r>
            <a:r>
              <a:rPr lang="fr-FR" b="1" dirty="0"/>
              <a:t>cluster</a:t>
            </a:r>
            <a:r>
              <a:rPr lang="fr-FR" dirty="0"/>
              <a:t> à un </a:t>
            </a:r>
            <a:r>
              <a:rPr lang="fr-FR" b="1" dirty="0"/>
              <a:t>état sain</a:t>
            </a:r>
            <a:r>
              <a:rPr lang="fr-FR" dirty="0"/>
              <a:t>.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055370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74439C-6A4B-2B00-8F04-BDC620CA7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Avantages de vCenter High </a:t>
            </a:r>
            <a:r>
              <a:rPr lang="fr-FR" b="1" dirty="0" err="1"/>
              <a:t>Availability</a:t>
            </a:r>
            <a:br>
              <a:rPr lang="fr-FR" b="1" dirty="0"/>
            </a:br>
            <a:br>
              <a:rPr lang="fr-FR" dirty="0"/>
            </a:br>
            <a:endParaRPr lang="fr-SN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57427E-5EA5-328A-4A00-B1A94C045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 dirty="0"/>
              <a:t>vCenter</a:t>
            </a:r>
            <a:r>
              <a:rPr lang="fr-FR" dirty="0"/>
              <a:t> devient plus résilient.</a:t>
            </a:r>
          </a:p>
          <a:p>
            <a:r>
              <a:rPr lang="fr-FR" dirty="0"/>
              <a:t>Une </a:t>
            </a:r>
            <a:r>
              <a:rPr lang="fr-FR" b="1" dirty="0"/>
              <a:t>protection contre les défaillances matérielles, hôte et applicatives</a:t>
            </a:r>
            <a:r>
              <a:rPr lang="fr-FR" dirty="0"/>
              <a:t> est assurée.</a:t>
            </a:r>
          </a:p>
          <a:p>
            <a:r>
              <a:rPr lang="fr-FR" dirty="0"/>
              <a:t>La </a:t>
            </a:r>
            <a:r>
              <a:rPr lang="fr-FR" b="1" dirty="0"/>
              <a:t>restauration</a:t>
            </a:r>
            <a:r>
              <a:rPr lang="fr-FR" dirty="0"/>
              <a:t> s’effectue en quelques minutes, réduisant au minimum le </a:t>
            </a:r>
            <a:r>
              <a:rPr lang="fr-FR" b="1" dirty="0"/>
              <a:t>temps d’arrêt global</a:t>
            </a:r>
            <a:r>
              <a:rPr lang="fr-FR" dirty="0"/>
              <a:t>.</a:t>
            </a:r>
          </a:p>
          <a:p>
            <a:r>
              <a:rPr lang="fr-FR" dirty="0"/>
              <a:t>L’</a:t>
            </a:r>
            <a:r>
              <a:rPr lang="fr-FR" b="1" dirty="0"/>
              <a:t>architecture active-passive</a:t>
            </a:r>
            <a:r>
              <a:rPr lang="fr-FR" dirty="0"/>
              <a:t> permet un </a:t>
            </a:r>
            <a:r>
              <a:rPr lang="fr-FR" b="1" dirty="0"/>
              <a:t>basculement transparent</a:t>
            </a:r>
            <a:r>
              <a:rPr lang="fr-FR" dirty="0"/>
              <a:t> :</a:t>
            </a:r>
          </a:p>
          <a:p>
            <a:pPr lvl="1"/>
            <a:r>
              <a:rPr lang="fr-FR" b="1" dirty="0"/>
              <a:t>Objectif de point de restauration (RPO)</a:t>
            </a:r>
            <a:r>
              <a:rPr lang="fr-FR" dirty="0"/>
              <a:t> : aucune perte de données.</a:t>
            </a:r>
          </a:p>
          <a:p>
            <a:pPr lvl="1"/>
            <a:r>
              <a:rPr lang="fr-FR" b="1" dirty="0"/>
              <a:t>Objectif de temps de restauration (RTO)</a:t>
            </a:r>
            <a:r>
              <a:rPr lang="fr-FR" dirty="0"/>
              <a:t> : en quelques minutes.</a:t>
            </a:r>
          </a:p>
          <a:p>
            <a:r>
              <a:rPr lang="fr-FR" dirty="0"/>
              <a:t>Les </a:t>
            </a:r>
            <a:r>
              <a:rPr lang="fr-FR" b="1" dirty="0"/>
              <a:t>nœuds</a:t>
            </a:r>
            <a:r>
              <a:rPr lang="fr-FR" dirty="0"/>
              <a:t> peuvent être </a:t>
            </a:r>
            <a:r>
              <a:rPr lang="fr-FR" b="1" dirty="0"/>
              <a:t>géographiquement distants</a:t>
            </a:r>
            <a:r>
              <a:rPr lang="fr-FR" dirty="0"/>
              <a:t> (moins de </a:t>
            </a:r>
            <a:r>
              <a:rPr lang="fr-FR" b="1" dirty="0"/>
              <a:t>10 millisecondes de latence</a:t>
            </a:r>
            <a:r>
              <a:rPr lang="fr-FR" dirty="0"/>
              <a:t>).</a:t>
            </a:r>
          </a:p>
          <a:p>
            <a:r>
              <a:rPr lang="fr-FR" dirty="0"/>
              <a:t>Aucun </a:t>
            </a:r>
            <a:r>
              <a:rPr lang="fr-FR" b="1" dirty="0"/>
              <a:t>stockage partagé</a:t>
            </a:r>
            <a:r>
              <a:rPr lang="fr-FR" dirty="0"/>
              <a:t> n’est requis.</a:t>
            </a:r>
          </a:p>
          <a:p>
            <a:r>
              <a:rPr lang="fr-FR" dirty="0"/>
              <a:t>Aucune </a:t>
            </a:r>
            <a:r>
              <a:rPr lang="fr-FR" b="1" dirty="0"/>
              <a:t>technologie tierce</a:t>
            </a:r>
            <a:r>
              <a:rPr lang="fr-FR" dirty="0"/>
              <a:t> n’est nécessaire.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148180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6A6985-C4EE-C38C-2DF1-043E0B5C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Exigences de vCenter High </a:t>
            </a:r>
            <a:r>
              <a:rPr lang="fr-FR" b="1" dirty="0" err="1"/>
              <a:t>Availability</a:t>
            </a:r>
            <a:br>
              <a:rPr lang="fr-FR" b="1" dirty="0"/>
            </a:br>
            <a:br>
              <a:rPr lang="fr-FR" dirty="0"/>
            </a:br>
            <a:endParaRPr lang="fr-SN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1C470895-273B-3270-DE9A-01FFCF07AF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6339209"/>
              </p:ext>
            </p:extLst>
          </p:nvPr>
        </p:nvGraphicFramePr>
        <p:xfrm>
          <a:off x="2702257" y="2079550"/>
          <a:ext cx="8352430" cy="380827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176215">
                  <a:extLst>
                    <a:ext uri="{9D8B030D-6E8A-4147-A177-3AD203B41FA5}">
                      <a16:colId xmlns:a16="http://schemas.microsoft.com/office/drawing/2014/main" val="820663853"/>
                    </a:ext>
                  </a:extLst>
                </a:gridCol>
                <a:gridCol w="4176215">
                  <a:extLst>
                    <a:ext uri="{9D8B030D-6E8A-4147-A177-3AD203B41FA5}">
                      <a16:colId xmlns:a16="http://schemas.microsoft.com/office/drawing/2014/main" val="635544561"/>
                    </a:ext>
                  </a:extLst>
                </a:gridCol>
              </a:tblGrid>
              <a:tr h="256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SN" sz="1300" b="1">
                          <a:solidFill>
                            <a:srgbClr val="9E9E9E"/>
                          </a:solidFill>
                          <a:effectLst/>
                        </a:rPr>
                        <a:t>Composant</a:t>
                      </a:r>
                      <a:endParaRPr lang="fr-SN" sz="1300">
                        <a:solidFill>
                          <a:srgbClr val="9E9E9E"/>
                        </a:solidFill>
                        <a:effectLst/>
                      </a:endParaRPr>
                    </a:p>
                  </a:txBody>
                  <a:tcPr marL="64038" marR="64038" marT="32019" marB="32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SN" sz="1300" b="1">
                          <a:solidFill>
                            <a:srgbClr val="9E9E9E"/>
                          </a:solidFill>
                          <a:effectLst/>
                        </a:rPr>
                        <a:t>Exigences</a:t>
                      </a:r>
                      <a:endParaRPr lang="fr-SN" sz="1300">
                        <a:solidFill>
                          <a:srgbClr val="9E9E9E"/>
                        </a:solidFill>
                        <a:effectLst/>
                      </a:endParaRPr>
                    </a:p>
                  </a:txBody>
                  <a:tcPr marL="64038" marR="64038" marT="32019" marB="32019" anchor="ctr"/>
                </a:tc>
                <a:extLst>
                  <a:ext uri="{0D108BD9-81ED-4DB2-BD59-A6C34878D82A}">
                    <a16:rowId xmlns:a16="http://schemas.microsoft.com/office/drawing/2014/main" val="3248337402"/>
                  </a:ext>
                </a:extLst>
              </a:tr>
              <a:tr h="448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SN" sz="1300" b="1">
                          <a:effectLst/>
                        </a:rPr>
                        <a:t>ESXi</a:t>
                      </a:r>
                      <a:endParaRPr lang="fr-SN" sz="1300">
                        <a:effectLst/>
                      </a:endParaRPr>
                    </a:p>
                  </a:txBody>
                  <a:tcPr marL="64038" marR="64038" marT="32019" marB="32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>
                          <a:effectLst/>
                        </a:rPr>
                        <a:t>• Un minimum de </a:t>
                      </a:r>
                      <a:r>
                        <a:rPr lang="fr-FR" sz="1300" b="1">
                          <a:effectLst/>
                        </a:rPr>
                        <a:t>trois hôtes ESXi</a:t>
                      </a:r>
                      <a:r>
                        <a:rPr lang="fr-FR" sz="1300">
                          <a:effectLst/>
                        </a:rPr>
                        <a:t> est recommandé.</a:t>
                      </a:r>
                    </a:p>
                  </a:txBody>
                  <a:tcPr marL="64038" marR="64038" marT="32019" marB="32019" anchor="ctr"/>
                </a:tc>
                <a:extLst>
                  <a:ext uri="{0D108BD9-81ED-4DB2-BD59-A6C34878D82A}">
                    <a16:rowId xmlns:a16="http://schemas.microsoft.com/office/drawing/2014/main" val="757923204"/>
                  </a:ext>
                </a:extLst>
              </a:tr>
              <a:tr h="1408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SN" sz="1300" b="1" dirty="0">
                          <a:effectLst/>
                        </a:rPr>
                        <a:t>vCenter</a:t>
                      </a:r>
                      <a:endParaRPr lang="fr-SN" sz="1300" dirty="0">
                        <a:effectLst/>
                      </a:endParaRPr>
                    </a:p>
                  </a:txBody>
                  <a:tcPr marL="64038" marR="64038" marT="32019" marB="32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>
                          <a:effectLst/>
                        </a:rPr>
                        <a:t>• Une taille de déploiement </a:t>
                      </a:r>
                      <a:r>
                        <a:rPr lang="fr-FR" sz="1300" b="1">
                          <a:effectLst/>
                        </a:rPr>
                        <a:t>Small</a:t>
                      </a:r>
                      <a:r>
                        <a:rPr lang="fr-FR" sz="1300">
                          <a:effectLst/>
                        </a:rPr>
                        <a:t> ou supérieure est requise pour atteindre le </a:t>
                      </a:r>
                      <a:r>
                        <a:rPr lang="fr-FR" sz="1300" b="1">
                          <a:effectLst/>
                        </a:rPr>
                        <a:t>RTO</a:t>
                      </a:r>
                      <a:r>
                        <a:rPr lang="fr-FR" sz="1300">
                          <a:effectLst/>
                        </a:rPr>
                        <a:t>.</a:t>
                      </a:r>
                      <a:br>
                        <a:rPr lang="fr-FR" sz="1300">
                          <a:effectLst/>
                        </a:rPr>
                      </a:br>
                      <a:r>
                        <a:rPr lang="fr-FR" sz="1300">
                          <a:effectLst/>
                        </a:rPr>
                        <a:t>• Un espace disque suffisant est nécessaire pour </a:t>
                      </a:r>
                      <a:r>
                        <a:rPr lang="fr-FR" sz="1300" b="1">
                          <a:effectLst/>
                        </a:rPr>
                        <a:t>collecter et stocker les bundles de support</a:t>
                      </a:r>
                      <a:r>
                        <a:rPr lang="fr-FR" sz="1300">
                          <a:effectLst/>
                        </a:rPr>
                        <a:t> pour les trois nœuds sur le </a:t>
                      </a:r>
                      <a:r>
                        <a:rPr lang="fr-FR" sz="1300" b="1">
                          <a:effectLst/>
                        </a:rPr>
                        <a:t>nœud actif</a:t>
                      </a:r>
                      <a:r>
                        <a:rPr lang="fr-FR" sz="1300">
                          <a:effectLst/>
                        </a:rPr>
                        <a:t>.</a:t>
                      </a:r>
                    </a:p>
                  </a:txBody>
                  <a:tcPr marL="64038" marR="64038" marT="32019" marB="32019" anchor="ctr"/>
                </a:tc>
                <a:extLst>
                  <a:ext uri="{0D108BD9-81ED-4DB2-BD59-A6C34878D82A}">
                    <a16:rowId xmlns:a16="http://schemas.microsoft.com/office/drawing/2014/main" val="2537740131"/>
                  </a:ext>
                </a:extLst>
              </a:tr>
              <a:tr h="1216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SN" sz="1300" b="1">
                          <a:effectLst/>
                        </a:rPr>
                        <a:t>Connectivité réseau</a:t>
                      </a:r>
                      <a:endParaRPr lang="fr-SN" sz="1300">
                        <a:effectLst/>
                      </a:endParaRPr>
                    </a:p>
                  </a:txBody>
                  <a:tcPr marL="64038" marR="64038" marT="32019" marB="32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>
                          <a:effectLst/>
                        </a:rPr>
                        <a:t>• La </a:t>
                      </a:r>
                      <a:r>
                        <a:rPr lang="fr-FR" sz="1300" b="1">
                          <a:effectLst/>
                        </a:rPr>
                        <a:t>latence réseau</a:t>
                      </a:r>
                      <a:r>
                        <a:rPr lang="fr-FR" sz="1300">
                          <a:effectLst/>
                        </a:rPr>
                        <a:t> entre les trois nœuds doit être </a:t>
                      </a:r>
                      <a:r>
                        <a:rPr lang="fr-FR" sz="1300" b="1">
                          <a:effectLst/>
                        </a:rPr>
                        <a:t>inférieure à 10 millisecondes</a:t>
                      </a:r>
                      <a:r>
                        <a:rPr lang="fr-FR" sz="1300">
                          <a:effectLst/>
                        </a:rPr>
                        <a:t>.</a:t>
                      </a:r>
                      <a:br>
                        <a:rPr lang="fr-FR" sz="1300">
                          <a:effectLst/>
                        </a:rPr>
                      </a:br>
                      <a:r>
                        <a:rPr lang="fr-FR" sz="1300">
                          <a:effectLst/>
                        </a:rPr>
                        <a:t>• Le </a:t>
                      </a:r>
                      <a:r>
                        <a:rPr lang="fr-FR" sz="1300" b="1">
                          <a:effectLst/>
                        </a:rPr>
                        <a:t>réseau vCenter HA</a:t>
                      </a:r>
                      <a:r>
                        <a:rPr lang="fr-FR" sz="1300">
                          <a:effectLst/>
                        </a:rPr>
                        <a:t> doit être sur un </a:t>
                      </a:r>
                      <a:r>
                        <a:rPr lang="fr-FR" sz="1300" b="1">
                          <a:effectLst/>
                        </a:rPr>
                        <a:t>sous-réseau différent</a:t>
                      </a:r>
                      <a:r>
                        <a:rPr lang="fr-FR" sz="1300">
                          <a:effectLst/>
                        </a:rPr>
                        <a:t> de celui du </a:t>
                      </a:r>
                      <a:r>
                        <a:rPr lang="fr-FR" sz="1300" b="1">
                          <a:effectLst/>
                        </a:rPr>
                        <a:t>Management Network</a:t>
                      </a:r>
                      <a:r>
                        <a:rPr lang="fr-FR" sz="1300">
                          <a:effectLst/>
                        </a:rPr>
                        <a:t>.</a:t>
                      </a:r>
                    </a:p>
                  </a:txBody>
                  <a:tcPr marL="64038" marR="64038" marT="32019" marB="32019" anchor="ctr"/>
                </a:tc>
                <a:extLst>
                  <a:ext uri="{0D108BD9-81ED-4DB2-BD59-A6C34878D82A}">
                    <a16:rowId xmlns:a16="http://schemas.microsoft.com/office/drawing/2014/main" val="208346887"/>
                  </a:ext>
                </a:extLst>
              </a:tr>
              <a:tr h="448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SN" sz="1300" b="1">
                          <a:effectLst/>
                        </a:rPr>
                        <a:t>Licence</a:t>
                      </a:r>
                      <a:endParaRPr lang="fr-SN" sz="1300">
                        <a:effectLst/>
                      </a:endParaRPr>
                    </a:p>
                  </a:txBody>
                  <a:tcPr marL="64038" marR="64038" marT="32019" marB="320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 dirty="0">
                          <a:effectLst/>
                        </a:rPr>
                        <a:t>• Une </a:t>
                      </a:r>
                      <a:r>
                        <a:rPr lang="fr-FR" sz="1300" b="1" dirty="0">
                          <a:effectLst/>
                        </a:rPr>
                        <a:t>licence vCenter Standard unique</a:t>
                      </a:r>
                      <a:r>
                        <a:rPr lang="fr-FR" sz="1300" dirty="0">
                          <a:effectLst/>
                        </a:rPr>
                        <a:t> est requise.</a:t>
                      </a:r>
                    </a:p>
                  </a:txBody>
                  <a:tcPr marL="64038" marR="64038" marT="32019" marB="32019" anchor="ctr"/>
                </a:tc>
                <a:extLst>
                  <a:ext uri="{0D108BD9-81ED-4DB2-BD59-A6C34878D82A}">
                    <a16:rowId xmlns:a16="http://schemas.microsoft.com/office/drawing/2014/main" val="1431236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430098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Metadata/LabelInfo.xml><?xml version="1.0" encoding="utf-8"?>
<clbl:labelList xmlns:clbl="http://schemas.microsoft.com/office/2020/mipLabelMetadata">
  <clbl:label id="{fc24caf1-31f7-40c1-bde0-ca915f0156e3}" enabled="1" method="Standard" siteId="{088e9b00-ffd0-458e-bfa1-acf4c596d3c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650</TotalTime>
  <Words>1068</Words>
  <Application>Microsoft Office PowerPoint</Application>
  <PresentationFormat>Grand écran</PresentationFormat>
  <Paragraphs>69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Aptos</vt:lpstr>
      <vt:lpstr>Arial</vt:lpstr>
      <vt:lpstr>Century Gothic</vt:lpstr>
      <vt:lpstr>Wingdings 3</vt:lpstr>
      <vt:lpstr>Brin</vt:lpstr>
      <vt:lpstr>VCENTER HIGH AVAILABILITY</vt:lpstr>
      <vt:lpstr>Objectifs d'apprentissage   </vt:lpstr>
      <vt:lpstr>Importance de maintenir vCenter hautement disponible    </vt:lpstr>
      <vt:lpstr>   </vt:lpstr>
      <vt:lpstr>Importance de maintenir vCenter hautement disponible        </vt:lpstr>
      <vt:lpstr>À propos de vCenter High Availability  </vt:lpstr>
      <vt:lpstr>À propos de vCenter High Availability  </vt:lpstr>
      <vt:lpstr>Scénario : défaillance du nœud actif  </vt:lpstr>
      <vt:lpstr>Scénario : défaillance du nœud actif    </vt:lpstr>
      <vt:lpstr>Scénario : défaillance du nœud passif    </vt:lpstr>
      <vt:lpstr>Scénario : défaillance du nœud passif    </vt:lpstr>
      <vt:lpstr>Scénario : défaillance du nœud passif    </vt:lpstr>
      <vt:lpstr>Scénario : défaillance du nœud témoin    </vt:lpstr>
      <vt:lpstr>Scénario : défaillance du nœud témoin  </vt:lpstr>
      <vt:lpstr>Avantages de vCenter High Availability  </vt:lpstr>
      <vt:lpstr>Exigences de vCenter High Availability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Alassane Sene Diagne (AGL)</dc:creator>
  <cp:lastModifiedBy>Alassane Sene Diagne (AGL)</cp:lastModifiedBy>
  <cp:revision>7</cp:revision>
  <dcterms:created xsi:type="dcterms:W3CDTF">2025-12-29T15:01:53Z</dcterms:created>
  <dcterms:modified xsi:type="dcterms:W3CDTF">2026-02-23T16:34:11Z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Brin:9</vt:lpwstr>
  </property>
  <property fmtid="{D5CDD505-2E9C-101B-9397-08002B2CF9AE}" pid="3" name="ClassificationContentMarkingFooterText">
    <vt:lpwstr>Sensitivity: Internal</vt:lpwstr>
  </property>
</Properties>
</file>