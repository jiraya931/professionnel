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387" r:id="rId6"/>
    <p:sldId id="260" r:id="rId7"/>
    <p:sldId id="261" r:id="rId8"/>
    <p:sldId id="389" r:id="rId9"/>
    <p:sldId id="388"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39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7D1F3E-E219-4AA8-A2D3-C3E2427BCD98}" v="12" dt="2026-02-23T16:40:52.972"/>
  </p1510:revLst>
</p1510:revInfo>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fr-SN"/>
          </a:p>
        </p:txBody>
      </p:sp>
      <p:sp>
        <p:nvSpPr>
          <p:cNvPr id="6" name="Slide Number Placeholder 5"/>
          <p:cNvSpPr>
            <a:spLocks noGrp="1"/>
          </p:cNvSpPr>
          <p:nvPr>
            <p:ph type="sldNum" sz="quarter" idx="12"/>
          </p:nvPr>
        </p:nvSpPr>
        <p:spPr>
          <a:xfrm>
            <a:off x="531812" y="4529540"/>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581026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SN"/>
          </a:p>
        </p:txBody>
      </p:sp>
      <p:sp>
        <p:nvSpPr>
          <p:cNvPr id="6" name="Slide Number Placeholder 5"/>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983480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557930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760722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E0073D7-330B-4A20-B0A3-AEBE9275C43B}" type="datetimeFigureOut">
              <a:rPr lang="fr-SN" smtClean="0"/>
              <a:t>23/02/2026</a:t>
            </a:fld>
            <a:endParaRPr lang="fr-SN"/>
          </a:p>
        </p:txBody>
      </p:sp>
      <p:sp>
        <p:nvSpPr>
          <p:cNvPr id="8" name="Footer Placeholder 7"/>
          <p:cNvSpPr>
            <a:spLocks noGrp="1"/>
          </p:cNvSpPr>
          <p:nvPr>
            <p:ph type="ftr" sz="quarter" idx="11"/>
          </p:nvPr>
        </p:nvSpPr>
        <p:spPr/>
        <p:txBody>
          <a:bodyPr/>
          <a:lstStyle/>
          <a:p>
            <a:endParaRPr lang="fr-S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35342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E0073D7-330B-4A20-B0A3-AEBE9275C43B}" type="datetimeFigureOut">
              <a:rPr lang="fr-SN" smtClean="0"/>
              <a:t>23/02/2026</a:t>
            </a:fld>
            <a:endParaRPr lang="fr-SN"/>
          </a:p>
        </p:txBody>
      </p:sp>
      <p:sp>
        <p:nvSpPr>
          <p:cNvPr id="4" name="Footer Placeholder 3"/>
          <p:cNvSpPr>
            <a:spLocks noGrp="1"/>
          </p:cNvSpPr>
          <p:nvPr>
            <p:ph type="ftr" sz="quarter" idx="11"/>
          </p:nvPr>
        </p:nvSpPr>
        <p:spPr/>
        <p:txBody>
          <a:bodyPr/>
          <a:lstStyle/>
          <a:p>
            <a:endParaRPr lang="fr-S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129616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0073D7-330B-4A20-B0A3-AEBE9275C43B}" type="datetimeFigureOut">
              <a:rPr lang="fr-SN" smtClean="0"/>
              <a:t>23/02/2026</a:t>
            </a:fld>
            <a:endParaRPr lang="fr-SN"/>
          </a:p>
        </p:txBody>
      </p:sp>
      <p:sp>
        <p:nvSpPr>
          <p:cNvPr id="3" name="Footer Placeholder 2"/>
          <p:cNvSpPr>
            <a:spLocks noGrp="1"/>
          </p:cNvSpPr>
          <p:nvPr>
            <p:ph type="ftr" sz="quarter" idx="11"/>
          </p:nvPr>
        </p:nvSpPr>
        <p:spPr/>
        <p:txBody>
          <a:bodyPr/>
          <a:lstStyle/>
          <a:p>
            <a:endParaRPr lang="fr-S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1909134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904260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675781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752284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D8F61B-BC3E-4166-808D-1AD07F4F05BF}" type="slidenum">
              <a:rPr lang="fr-SN" smtClean="0"/>
              <a:t>‹N°›</a:t>
            </a:fld>
            <a:endParaRPr lang="fr-S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302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420686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D8F61B-BC3E-4166-808D-1AD07F4F05BF}" type="slidenum">
              <a:rPr lang="fr-SN" smtClean="0"/>
              <a:t>‹N°›</a:t>
            </a:fld>
            <a:endParaRPr lang="fr-S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90854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165706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310238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4083774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fr-S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fr-S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fr-S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fr-S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fr-S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fr-S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fr-S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fr-S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fr-S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fr-S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fr-S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fr-S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fr-S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fr-S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fr-S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fr-S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fr-S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fr-S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fr-S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fr-S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fr-S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fr-S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fr-S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fr-S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E0073D7-330B-4A20-B0A3-AEBE9275C43B}" type="datetimeFigureOut">
              <a:rPr lang="fr-SN" smtClean="0"/>
              <a:t>23/02/2026</a:t>
            </a:fld>
            <a:endParaRPr lang="fr-S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S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7D8F61B-BC3E-4166-808D-1AD07F4F05BF}" type="slidenum">
              <a:rPr lang="fr-SN" smtClean="0"/>
              <a:t>‹N°›</a:t>
            </a:fld>
            <a:endParaRPr lang="fr-SN"/>
          </a:p>
        </p:txBody>
      </p:sp>
      <p:sp>
        <p:nvSpPr>
          <p:cNvPr id="9" name="ZoneTexte 8">
            <a:extLst>
              <a:ext uri="{FF2B5EF4-FFF2-40B4-BE49-F238E27FC236}">
                <a16:creationId xmlns:a16="http://schemas.microsoft.com/office/drawing/2014/main" id="{BA421B88-7205-2036-5E19-461B605D12C5}"/>
              </a:ext>
            </a:extLst>
          </p:cNvPr>
          <p:cNvSpPr txBox="1"/>
          <p:nvPr userDrawn="1">
            <p:extLst>
              <p:ext uri="{1162E1C5-73C7-4A58-AE30-91384D911F3F}">
                <p184:classification xmlns:p184="http://schemas.microsoft.com/office/powerpoint/2018/4/main" val="ftr"/>
              </p:ext>
            </p:extLst>
          </p:nvPr>
        </p:nvSpPr>
        <p:spPr>
          <a:xfrm>
            <a:off x="190500" y="6515100"/>
            <a:ext cx="1069975" cy="152400"/>
          </a:xfrm>
          <a:prstGeom prst="rect">
            <a:avLst/>
          </a:prstGeom>
        </p:spPr>
        <p:txBody>
          <a:bodyPr horzOverflow="overflow" lIns="0" tIns="0" rIns="0" bIns="0">
            <a:spAutoFit/>
          </a:bodyPr>
          <a:lstStyle/>
          <a:p>
            <a:pPr algn="l"/>
            <a:r>
              <a:rPr lang="fr-SN" sz="1000">
                <a:solidFill>
                  <a:srgbClr val="000000">
                    <a:alpha val="50000"/>
                  </a:srgbClr>
                </a:solidFill>
                <a:latin typeface="Aptos" panose="020B0004020202020204" pitchFamily="34" charset="0"/>
              </a:rPr>
              <a:t>Sensitivity: Internal</a:t>
            </a:r>
          </a:p>
        </p:txBody>
      </p:sp>
    </p:spTree>
    <p:extLst>
      <p:ext uri="{BB962C8B-B14F-4D97-AF65-F5344CB8AC3E}">
        <p14:creationId xmlns:p14="http://schemas.microsoft.com/office/powerpoint/2010/main" val="2922910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E83CAC-3114-0D35-FA5E-DADC7D81C80B}"/>
              </a:ext>
            </a:extLst>
          </p:cNvPr>
          <p:cNvSpPr>
            <a:spLocks noGrp="1"/>
          </p:cNvSpPr>
          <p:nvPr>
            <p:ph type="ctrTitle"/>
          </p:nvPr>
        </p:nvSpPr>
        <p:spPr/>
        <p:txBody>
          <a:bodyPr/>
          <a:lstStyle/>
          <a:p>
            <a:r>
              <a:rPr lang="fr-SN" b="1" dirty="0"/>
              <a:t> Profils de configuration vSphere</a:t>
            </a:r>
          </a:p>
        </p:txBody>
      </p:sp>
      <p:sp>
        <p:nvSpPr>
          <p:cNvPr id="3" name="Sous-titre 2">
            <a:extLst>
              <a:ext uri="{FF2B5EF4-FFF2-40B4-BE49-F238E27FC236}">
                <a16:creationId xmlns:a16="http://schemas.microsoft.com/office/drawing/2014/main" id="{C5723C96-7712-AEA0-030E-F99BD01E1EA0}"/>
              </a:ext>
            </a:extLst>
          </p:cNvPr>
          <p:cNvSpPr>
            <a:spLocks noGrp="1"/>
          </p:cNvSpPr>
          <p:nvPr>
            <p:ph type="subTitle" idx="1"/>
          </p:nvPr>
        </p:nvSpPr>
        <p:spPr/>
        <p:txBody>
          <a:bodyPr/>
          <a:lstStyle/>
          <a:p>
            <a:endParaRPr lang="fr-SN" dirty="0"/>
          </a:p>
        </p:txBody>
      </p:sp>
    </p:spTree>
    <p:extLst>
      <p:ext uri="{BB962C8B-B14F-4D97-AF65-F5344CB8AC3E}">
        <p14:creationId xmlns:p14="http://schemas.microsoft.com/office/powerpoint/2010/main" val="423657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FB2ADA-E07A-66BF-0BAB-46EC528FD373}"/>
              </a:ext>
            </a:extLst>
          </p:cNvPr>
          <p:cNvSpPr>
            <a:spLocks noGrp="1"/>
          </p:cNvSpPr>
          <p:nvPr>
            <p:ph type="title"/>
          </p:nvPr>
        </p:nvSpPr>
        <p:spPr/>
        <p:txBody>
          <a:bodyPr>
            <a:normAutofit fontScale="90000"/>
          </a:bodyPr>
          <a:lstStyle/>
          <a:p>
            <a:br>
              <a:rPr lang="fr-SN" b="1" dirty="0"/>
            </a:br>
            <a:r>
              <a:rPr lang="fr-SN" b="1" dirty="0"/>
              <a:t>Objectifs d’apprentissage</a:t>
            </a:r>
            <a:br>
              <a:rPr lang="fr-SN" b="1" dirty="0"/>
            </a:br>
            <a:br>
              <a:rPr lang="fr-SN" dirty="0"/>
            </a:br>
            <a:endParaRPr lang="fr-SN" dirty="0"/>
          </a:p>
        </p:txBody>
      </p:sp>
      <p:sp>
        <p:nvSpPr>
          <p:cNvPr id="3" name="Espace réservé du contenu 2">
            <a:extLst>
              <a:ext uri="{FF2B5EF4-FFF2-40B4-BE49-F238E27FC236}">
                <a16:creationId xmlns:a16="http://schemas.microsoft.com/office/drawing/2014/main" id="{111E1508-30BC-4150-5F3F-CA37175B6DB0}"/>
              </a:ext>
            </a:extLst>
          </p:cNvPr>
          <p:cNvSpPr>
            <a:spLocks noGrp="1"/>
          </p:cNvSpPr>
          <p:nvPr>
            <p:ph idx="1"/>
          </p:nvPr>
        </p:nvSpPr>
        <p:spPr/>
        <p:txBody>
          <a:bodyPr>
            <a:normAutofit/>
          </a:bodyPr>
          <a:lstStyle/>
          <a:p>
            <a:r>
              <a:rPr lang="fr-FR" dirty="0"/>
              <a:t>Reconnaître les avantages de l’utilisation des </a:t>
            </a:r>
            <a:r>
              <a:rPr lang="fr-FR" b="1" dirty="0"/>
              <a:t>profils de configuration vSphere</a:t>
            </a:r>
            <a:endParaRPr lang="fr-FR" dirty="0"/>
          </a:p>
          <a:p>
            <a:r>
              <a:rPr lang="fr-FR" dirty="0"/>
              <a:t>Expliquer le fonctionnement de la fonctionnalité </a:t>
            </a:r>
            <a:r>
              <a:rPr lang="fr-FR" b="1" dirty="0"/>
              <a:t>Profils d’hôte (Host Profiles)</a:t>
            </a:r>
            <a:endParaRPr lang="fr-FR" dirty="0"/>
          </a:p>
          <a:p>
            <a:r>
              <a:rPr lang="fr-FR" dirty="0"/>
              <a:t>Configurer et gérer les </a:t>
            </a:r>
            <a:r>
              <a:rPr lang="fr-FR" b="1" dirty="0"/>
              <a:t>profils de configuration vSphere</a:t>
            </a:r>
            <a:endParaRPr lang="fr-FR" dirty="0"/>
          </a:p>
          <a:p>
            <a:pPr marL="0" indent="0">
              <a:buNone/>
            </a:pPr>
            <a:endParaRPr lang="fr-SN" dirty="0"/>
          </a:p>
        </p:txBody>
      </p:sp>
    </p:spTree>
    <p:extLst>
      <p:ext uri="{BB962C8B-B14F-4D97-AF65-F5344CB8AC3E}">
        <p14:creationId xmlns:p14="http://schemas.microsoft.com/office/powerpoint/2010/main" val="3008585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CEAFC5-70B9-8241-DAFE-E36ED4011EDA}"/>
              </a:ext>
            </a:extLst>
          </p:cNvPr>
          <p:cNvSpPr>
            <a:spLocks noGrp="1"/>
          </p:cNvSpPr>
          <p:nvPr>
            <p:ph type="title"/>
          </p:nvPr>
        </p:nvSpPr>
        <p:spPr>
          <a:xfrm>
            <a:off x="1949451" y="624110"/>
            <a:ext cx="9555162" cy="1280890"/>
          </a:xfrm>
        </p:spPr>
        <p:txBody>
          <a:bodyPr>
            <a:normAutofit fontScale="90000"/>
          </a:bodyPr>
          <a:lstStyle/>
          <a:p>
            <a:r>
              <a:rPr lang="fr-FR" b="1" dirty="0"/>
              <a:t>À propos des profils de configuration vSphere</a:t>
            </a:r>
            <a:br>
              <a:rPr lang="fr-FR" b="1" dirty="0"/>
            </a:br>
            <a:br>
              <a:rPr lang="fr-FR" dirty="0"/>
            </a:br>
            <a:endParaRPr lang="fr-SN" b="1" dirty="0"/>
          </a:p>
        </p:txBody>
      </p:sp>
      <p:sp>
        <p:nvSpPr>
          <p:cNvPr id="3" name="Espace réservé du contenu 2">
            <a:extLst>
              <a:ext uri="{FF2B5EF4-FFF2-40B4-BE49-F238E27FC236}">
                <a16:creationId xmlns:a16="http://schemas.microsoft.com/office/drawing/2014/main" id="{139F2773-8D3D-F021-83CE-618B42225BD2}"/>
              </a:ext>
            </a:extLst>
          </p:cNvPr>
          <p:cNvSpPr>
            <a:spLocks noGrp="1"/>
          </p:cNvSpPr>
          <p:nvPr>
            <p:ph idx="1"/>
          </p:nvPr>
        </p:nvSpPr>
        <p:spPr/>
        <p:txBody>
          <a:bodyPr/>
          <a:lstStyle/>
          <a:p>
            <a:r>
              <a:rPr lang="fr-FR" dirty="0"/>
              <a:t>Introduits dans </a:t>
            </a:r>
            <a:r>
              <a:rPr lang="fr-FR" b="1" dirty="0"/>
              <a:t>vSphere 8</a:t>
            </a:r>
            <a:r>
              <a:rPr lang="fr-FR" dirty="0"/>
              <a:t>, les administrateurs peuvent utiliser les </a:t>
            </a:r>
            <a:r>
              <a:rPr lang="fr-FR" b="1" dirty="0"/>
              <a:t>profils de configuration vSphere</a:t>
            </a:r>
            <a:r>
              <a:rPr lang="fr-FR" dirty="0"/>
              <a:t> pour tester les fonctionnalités et fournir des commentaires pendant le processus de développement.</a:t>
            </a:r>
          </a:p>
          <a:p>
            <a:r>
              <a:rPr lang="fr-FR" dirty="0"/>
              <a:t>À partir de </a:t>
            </a:r>
            <a:r>
              <a:rPr lang="fr-FR" b="1" dirty="0"/>
              <a:t>vSphere 8.0 Update 1</a:t>
            </a:r>
            <a:r>
              <a:rPr lang="fr-FR" dirty="0"/>
              <a:t> et versions ultérieures, les </a:t>
            </a:r>
            <a:r>
              <a:rPr lang="fr-FR" b="1" dirty="0"/>
              <a:t>profils de configuration vSphere</a:t>
            </a:r>
            <a:r>
              <a:rPr lang="fr-FR" dirty="0"/>
              <a:t> sont entièrement pris en charge.</a:t>
            </a:r>
          </a:p>
          <a:p>
            <a:r>
              <a:rPr lang="fr-FR" dirty="0"/>
              <a:t>Avec les </a:t>
            </a:r>
            <a:r>
              <a:rPr lang="fr-FR" b="1" dirty="0"/>
              <a:t>profils de configuration vSphere</a:t>
            </a:r>
            <a:r>
              <a:rPr lang="fr-FR" dirty="0"/>
              <a:t>, les administrateurs peuvent :</a:t>
            </a:r>
          </a:p>
          <a:p>
            <a:r>
              <a:rPr lang="fr-FR" dirty="0"/>
              <a:t>Gérer collectivement la configuration de tous les hôtes d’un cluster.</a:t>
            </a:r>
          </a:p>
          <a:p>
            <a:r>
              <a:rPr lang="fr-FR" dirty="0"/>
              <a:t>Définir une configuration souhaitée pouvant être appliquée à tous les hôtes en une seule opération.</a:t>
            </a:r>
          </a:p>
          <a:p>
            <a:r>
              <a:rPr lang="fr-FR" dirty="0"/>
              <a:t>Utiliser un hôte de référence et faire de sa configuration la configuration souhaitée pour l’ensemble du cluster.</a:t>
            </a:r>
          </a:p>
          <a:p>
            <a:endParaRPr lang="fr-SN" dirty="0"/>
          </a:p>
        </p:txBody>
      </p:sp>
    </p:spTree>
    <p:extLst>
      <p:ext uri="{BB962C8B-B14F-4D97-AF65-F5344CB8AC3E}">
        <p14:creationId xmlns:p14="http://schemas.microsoft.com/office/powerpoint/2010/main" val="1372094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F351C-C5B9-F448-1917-52472057DAA8}"/>
              </a:ext>
            </a:extLst>
          </p:cNvPr>
          <p:cNvSpPr>
            <a:spLocks noGrp="1"/>
          </p:cNvSpPr>
          <p:nvPr>
            <p:ph type="title"/>
          </p:nvPr>
        </p:nvSpPr>
        <p:spPr/>
        <p:txBody>
          <a:bodyPr>
            <a:normAutofit fontScale="90000"/>
          </a:bodyPr>
          <a:lstStyle/>
          <a:p>
            <a:r>
              <a:rPr lang="fr-FR" b="1" dirty="0"/>
              <a:t>À propos des profils de configuration vSphere</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0F09EB82-6A63-1233-E3BF-B9CB755E51B2}"/>
              </a:ext>
            </a:extLst>
          </p:cNvPr>
          <p:cNvSpPr>
            <a:spLocks noGrp="1"/>
          </p:cNvSpPr>
          <p:nvPr>
            <p:ph idx="1"/>
          </p:nvPr>
        </p:nvSpPr>
        <p:spPr/>
        <p:txBody>
          <a:bodyPr>
            <a:normAutofit/>
          </a:bodyPr>
          <a:lstStyle/>
          <a:p>
            <a:r>
              <a:rPr lang="fr-FR" dirty="0"/>
              <a:t>Dans </a:t>
            </a:r>
            <a:r>
              <a:rPr lang="fr-FR" b="1" dirty="0"/>
              <a:t>vSphere 8</a:t>
            </a:r>
            <a:r>
              <a:rPr lang="fr-FR" dirty="0"/>
              <a:t>, les </a:t>
            </a:r>
            <a:r>
              <a:rPr lang="fr-FR" b="1" dirty="0"/>
              <a:t>profils de configuration vSphere</a:t>
            </a:r>
            <a:r>
              <a:rPr lang="fr-FR" dirty="0"/>
              <a:t> ont été introduits sous forme d’</a:t>
            </a:r>
            <a:r>
              <a:rPr lang="fr-FR" b="1" dirty="0"/>
              <a:t>aperçu technologique (</a:t>
            </a:r>
            <a:r>
              <a:rPr lang="fr-FR" b="1" dirty="0" err="1"/>
              <a:t>Technology</a:t>
            </a:r>
            <a:r>
              <a:rPr lang="fr-FR" b="1" dirty="0"/>
              <a:t> </a:t>
            </a:r>
            <a:r>
              <a:rPr lang="fr-FR" b="1" dirty="0" err="1"/>
              <a:t>Preview</a:t>
            </a:r>
            <a:r>
              <a:rPr lang="fr-FR" b="1" dirty="0"/>
              <a:t>)</a:t>
            </a:r>
            <a:r>
              <a:rPr lang="fr-FR" dirty="0"/>
              <a:t> et n’étaient pas encore entièrement pris en charge.</a:t>
            </a:r>
          </a:p>
          <a:p>
            <a:r>
              <a:rPr lang="fr-FR" dirty="0"/>
              <a:t>Les administrateurs peuvent activer les </a:t>
            </a:r>
            <a:r>
              <a:rPr lang="fr-FR" b="1" dirty="0"/>
              <a:t>profils de configuration vSphere</a:t>
            </a:r>
            <a:r>
              <a:rPr lang="fr-FR" dirty="0"/>
              <a:t> uniquement sur les clusters que vous gérez à l’aide d’une </a:t>
            </a:r>
            <a:r>
              <a:rPr lang="fr-FR" b="1" dirty="0"/>
              <a:t>image unique</a:t>
            </a:r>
            <a:r>
              <a:rPr lang="fr-FR" dirty="0"/>
              <a:t>.</a:t>
            </a:r>
          </a:p>
          <a:p>
            <a:br>
              <a:rPr lang="fr-FR" dirty="0"/>
            </a:br>
            <a:endParaRPr lang="fr-FR" dirty="0"/>
          </a:p>
        </p:txBody>
      </p:sp>
    </p:spTree>
    <p:extLst>
      <p:ext uri="{BB962C8B-B14F-4D97-AF65-F5344CB8AC3E}">
        <p14:creationId xmlns:p14="http://schemas.microsoft.com/office/powerpoint/2010/main" val="2714313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9E6700-988B-198C-647D-BA98F5D049E8}"/>
              </a:ext>
            </a:extLst>
          </p:cNvPr>
          <p:cNvSpPr>
            <a:spLocks noGrp="1"/>
          </p:cNvSpPr>
          <p:nvPr>
            <p:ph type="title"/>
          </p:nvPr>
        </p:nvSpPr>
        <p:spPr/>
        <p:txBody>
          <a:bodyPr>
            <a:normAutofit fontScale="90000"/>
          </a:bodyPr>
          <a:lstStyle/>
          <a:p>
            <a:r>
              <a:rPr lang="fr-FR" b="1" dirty="0"/>
              <a:t>À propos des profils de configuration vSphere</a:t>
            </a:r>
            <a:br>
              <a:rPr lang="fr-FR" b="1" dirty="0"/>
            </a:br>
            <a:br>
              <a:rPr lang="fr-FR" dirty="0"/>
            </a:br>
            <a:endParaRPr lang="fr-SN" dirty="0"/>
          </a:p>
        </p:txBody>
      </p:sp>
      <p:pic>
        <p:nvPicPr>
          <p:cNvPr id="1026" name="Picture 2">
            <a:extLst>
              <a:ext uri="{FF2B5EF4-FFF2-40B4-BE49-F238E27FC236}">
                <a16:creationId xmlns:a16="http://schemas.microsoft.com/office/drawing/2014/main" id="{D36CD20A-BAE5-5FB9-80B8-26764F47F2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8488" y="2238232"/>
            <a:ext cx="5915025" cy="4048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5445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03642E-BFB6-7D8E-FE43-D174F21C51F3}"/>
              </a:ext>
            </a:extLst>
          </p:cNvPr>
          <p:cNvSpPr>
            <a:spLocks noGrp="1"/>
          </p:cNvSpPr>
          <p:nvPr>
            <p:ph type="title"/>
          </p:nvPr>
        </p:nvSpPr>
        <p:spPr/>
        <p:txBody>
          <a:bodyPr>
            <a:normAutofit fontScale="90000"/>
          </a:bodyPr>
          <a:lstStyle/>
          <a:p>
            <a:r>
              <a:rPr lang="fr-FR" b="1" dirty="0"/>
              <a:t>Exigences pour les profils de configuration vSphere</a:t>
            </a:r>
            <a:br>
              <a:rPr lang="fr-FR" b="1" dirty="0"/>
            </a:br>
            <a:br>
              <a:rPr lang="fr-FR" dirty="0"/>
            </a:br>
            <a:endParaRPr lang="fr-FR" b="1" dirty="0"/>
          </a:p>
        </p:txBody>
      </p:sp>
      <p:sp>
        <p:nvSpPr>
          <p:cNvPr id="4" name="Espace réservé du contenu 3">
            <a:extLst>
              <a:ext uri="{FF2B5EF4-FFF2-40B4-BE49-F238E27FC236}">
                <a16:creationId xmlns:a16="http://schemas.microsoft.com/office/drawing/2014/main" id="{4D843E96-A55C-27EB-86F6-567D5EE232D4}"/>
              </a:ext>
            </a:extLst>
          </p:cNvPr>
          <p:cNvSpPr>
            <a:spLocks noGrp="1"/>
          </p:cNvSpPr>
          <p:nvPr>
            <p:ph idx="1"/>
          </p:nvPr>
        </p:nvSpPr>
        <p:spPr/>
        <p:txBody>
          <a:bodyPr>
            <a:normAutofit/>
          </a:bodyPr>
          <a:lstStyle/>
          <a:p>
            <a:r>
              <a:rPr lang="fr-FR" dirty="0"/>
              <a:t>Pour utiliser les </a:t>
            </a:r>
            <a:r>
              <a:rPr lang="fr-FR" b="1" dirty="0"/>
              <a:t>profils de configuration vSphere</a:t>
            </a:r>
            <a:r>
              <a:rPr lang="fr-FR" dirty="0"/>
              <a:t>, vous devez vous assurer que votre environnement répond aux exigences suivantes :</a:t>
            </a:r>
          </a:p>
          <a:p>
            <a:r>
              <a:rPr lang="fr-FR" b="1" dirty="0"/>
              <a:t>vCenter Server 8.0 Update 1</a:t>
            </a:r>
            <a:endParaRPr lang="fr-FR" dirty="0"/>
          </a:p>
          <a:p>
            <a:r>
              <a:rPr lang="fr-FR" b="1" dirty="0"/>
              <a:t>ESXi 8.0 Update 1</a:t>
            </a:r>
            <a:endParaRPr lang="fr-FR" dirty="0"/>
          </a:p>
          <a:p>
            <a:r>
              <a:rPr lang="fr-FR" b="1" dirty="0"/>
              <a:t>Licence Enterprise Plus</a:t>
            </a:r>
            <a:endParaRPr lang="fr-FR" dirty="0"/>
          </a:p>
          <a:p>
            <a:endParaRPr lang="fr-SN" dirty="0"/>
          </a:p>
        </p:txBody>
      </p:sp>
    </p:spTree>
    <p:extLst>
      <p:ext uri="{BB962C8B-B14F-4D97-AF65-F5344CB8AC3E}">
        <p14:creationId xmlns:p14="http://schemas.microsoft.com/office/powerpoint/2010/main" val="56658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834754-B49A-48D1-C37F-6345ED4A6D12}"/>
              </a:ext>
            </a:extLst>
          </p:cNvPr>
          <p:cNvSpPr>
            <a:spLocks noGrp="1"/>
          </p:cNvSpPr>
          <p:nvPr>
            <p:ph type="title"/>
          </p:nvPr>
        </p:nvSpPr>
        <p:spPr/>
        <p:txBody>
          <a:bodyPr>
            <a:normAutofit fontScale="90000"/>
          </a:bodyPr>
          <a:lstStyle/>
          <a:p>
            <a:r>
              <a:rPr lang="fr-FR" b="1" dirty="0"/>
              <a:t>Création de "Network Traffic Rules"</a:t>
            </a:r>
            <a:br>
              <a:rPr lang="fr-FR" b="1" dirty="0"/>
            </a:br>
            <a:br>
              <a:rPr lang="fr-FR" dirty="0"/>
            </a:br>
            <a:endParaRPr lang="fr-SN" dirty="0"/>
          </a:p>
        </p:txBody>
      </p:sp>
      <p:sp>
        <p:nvSpPr>
          <p:cNvPr id="4" name="Espace réservé du contenu 3">
            <a:extLst>
              <a:ext uri="{FF2B5EF4-FFF2-40B4-BE49-F238E27FC236}">
                <a16:creationId xmlns:a16="http://schemas.microsoft.com/office/drawing/2014/main" id="{0AABDA50-4C0D-8C1A-481F-FFEB01BA9B9F}"/>
              </a:ext>
            </a:extLst>
          </p:cNvPr>
          <p:cNvSpPr>
            <a:spLocks noGrp="1"/>
          </p:cNvSpPr>
          <p:nvPr>
            <p:ph idx="1"/>
          </p:nvPr>
        </p:nvSpPr>
        <p:spPr/>
        <p:txBody>
          <a:bodyPr>
            <a:normAutofit fontScale="70000" lnSpcReduction="20000"/>
          </a:bodyPr>
          <a:lstStyle/>
          <a:p>
            <a:r>
              <a:rPr lang="fr-FR" dirty="0"/>
              <a:t>Vous pouvez définir des </a:t>
            </a:r>
            <a:r>
              <a:rPr lang="fr-FR" b="1" dirty="0"/>
              <a:t>Network Traffic Rules</a:t>
            </a:r>
            <a:r>
              <a:rPr lang="fr-FR" dirty="0"/>
              <a:t> pour le traitement du trafic lié aux machines virtuelles (VM) ou aux adaptateurs physiques.</a:t>
            </a:r>
          </a:p>
          <a:p>
            <a:r>
              <a:rPr lang="fr-FR" dirty="0"/>
              <a:t>En général, une </a:t>
            </a:r>
            <a:r>
              <a:rPr lang="fr-FR" b="1" dirty="0"/>
              <a:t>Network Traffic Rule</a:t>
            </a:r>
            <a:r>
              <a:rPr lang="fr-FR" dirty="0"/>
              <a:t> se compose d’un qualificateur pour le trafic et d’une action permettant de restreindre ou de prioriser le trafic correspondant.</a:t>
            </a:r>
          </a:p>
          <a:p>
            <a:r>
              <a:rPr lang="fr-FR" dirty="0"/>
              <a:t>Dans une </a:t>
            </a:r>
            <a:r>
              <a:rPr lang="fr-FR" b="1" dirty="0"/>
              <a:t>Network Traffic Rule</a:t>
            </a:r>
            <a:r>
              <a:rPr lang="fr-FR" dirty="0"/>
              <a:t>, l’action </a:t>
            </a:r>
            <a:r>
              <a:rPr lang="fr-FR" b="1" dirty="0" err="1"/>
              <a:t>Allow</a:t>
            </a:r>
            <a:r>
              <a:rPr lang="fr-FR" dirty="0"/>
              <a:t> permet au trafic de passer à travers le port du </a:t>
            </a:r>
            <a:r>
              <a:rPr lang="fr-FR" b="1" dirty="0"/>
              <a:t>Distributed Switch</a:t>
            </a:r>
            <a:r>
              <a:rPr lang="fr-FR" dirty="0"/>
              <a:t> ou le port </a:t>
            </a:r>
            <a:r>
              <a:rPr lang="fr-FR" dirty="0" err="1"/>
              <a:t>uplink</a:t>
            </a:r>
            <a:r>
              <a:rPr lang="fr-FR" dirty="0"/>
              <a:t>, tandis que l’action </a:t>
            </a:r>
            <a:r>
              <a:rPr lang="fr-FR" b="1" dirty="0"/>
              <a:t>Drop</a:t>
            </a:r>
            <a:r>
              <a:rPr lang="fr-FR" dirty="0"/>
              <a:t> bloque le trafic.</a:t>
            </a:r>
            <a:br>
              <a:rPr lang="fr-FR" dirty="0"/>
            </a:br>
            <a:r>
              <a:rPr lang="fr-FR" dirty="0"/>
              <a:t>L’action </a:t>
            </a:r>
            <a:r>
              <a:rPr lang="fr-FR" b="1" dirty="0"/>
              <a:t>Tag</a:t>
            </a:r>
            <a:r>
              <a:rPr lang="fr-FR" dirty="0"/>
              <a:t> marque (ou étiquette) le trafic passant par le port du </a:t>
            </a:r>
            <a:r>
              <a:rPr lang="fr-FR" b="1" dirty="0"/>
              <a:t>Distributed Switch</a:t>
            </a:r>
            <a:r>
              <a:rPr lang="fr-FR" dirty="0"/>
              <a:t> ou le port </a:t>
            </a:r>
            <a:r>
              <a:rPr lang="fr-FR" dirty="0" err="1"/>
              <a:t>uplink</a:t>
            </a:r>
            <a:r>
              <a:rPr lang="fr-FR" dirty="0"/>
              <a:t>.</a:t>
            </a:r>
          </a:p>
          <a:p>
            <a:r>
              <a:rPr lang="fr-FR" dirty="0"/>
              <a:t>Du point de vue du </a:t>
            </a:r>
            <a:r>
              <a:rPr lang="fr-FR" b="1" dirty="0"/>
              <a:t>Distributed Switch</a:t>
            </a:r>
            <a:r>
              <a:rPr lang="fr-FR" dirty="0"/>
              <a:t> :</a:t>
            </a:r>
          </a:p>
          <a:p>
            <a:r>
              <a:rPr lang="fr-FR" b="1" dirty="0" err="1"/>
              <a:t>Ingress</a:t>
            </a:r>
            <a:r>
              <a:rPr lang="fr-FR" dirty="0"/>
              <a:t> signifie entrant depuis la VM, le port </a:t>
            </a:r>
            <a:r>
              <a:rPr lang="fr-FR" b="1" dirty="0" err="1"/>
              <a:t>vmkernel</a:t>
            </a:r>
            <a:r>
              <a:rPr lang="fr-FR" dirty="0"/>
              <a:t>, ou depuis un </a:t>
            </a:r>
            <a:r>
              <a:rPr lang="fr-FR" dirty="0" err="1"/>
              <a:t>uplink</a:t>
            </a:r>
            <a:r>
              <a:rPr lang="fr-FR" dirty="0"/>
              <a:t>.</a:t>
            </a:r>
          </a:p>
          <a:p>
            <a:r>
              <a:rPr lang="fr-FR" b="1" dirty="0" err="1"/>
              <a:t>Egress</a:t>
            </a:r>
            <a:r>
              <a:rPr lang="fr-FR" dirty="0"/>
              <a:t> signifie sortant vers la VM, vers le port </a:t>
            </a:r>
            <a:r>
              <a:rPr lang="fr-FR" b="1" dirty="0" err="1"/>
              <a:t>vmkernel</a:t>
            </a:r>
            <a:r>
              <a:rPr lang="fr-FR" dirty="0"/>
              <a:t>, ou vers un </a:t>
            </a:r>
            <a:r>
              <a:rPr lang="fr-FR" dirty="0" err="1"/>
              <a:t>uplink</a:t>
            </a:r>
            <a:r>
              <a:rPr lang="fr-FR" dirty="0"/>
              <a:t>.</a:t>
            </a:r>
          </a:p>
          <a:p>
            <a:r>
              <a:rPr lang="fr-FR" dirty="0"/>
              <a:t>Un qualificateur représente un ensemble de critères de correspondance liés à une couche réseau.</a:t>
            </a:r>
            <a:br>
              <a:rPr lang="fr-FR" dirty="0"/>
            </a:br>
            <a:r>
              <a:rPr lang="fr-FR" dirty="0"/>
              <a:t>Vous pouvez faire correspondre le trafic selon le type de trafic système, les propriétés de trafic de la couche 2 ou de la couche 3.</a:t>
            </a:r>
            <a:br>
              <a:rPr lang="fr-FR" dirty="0"/>
            </a:br>
            <a:r>
              <a:rPr lang="fr-FR" dirty="0"/>
              <a:t>Vous pouvez utiliser le qualificateur pour une couche réseau spécifique, ou combiner plusieurs qualificateurs pour identifier les paquets plus précisément.</a:t>
            </a:r>
          </a:p>
          <a:p>
            <a:br>
              <a:rPr lang="fr-FR" dirty="0"/>
            </a:br>
            <a:endParaRPr lang="fr-SN" dirty="0"/>
          </a:p>
        </p:txBody>
      </p:sp>
    </p:spTree>
    <p:extLst>
      <p:ext uri="{BB962C8B-B14F-4D97-AF65-F5344CB8AC3E}">
        <p14:creationId xmlns:p14="http://schemas.microsoft.com/office/powerpoint/2010/main" val="2206279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C216A-65CB-42D9-ED43-2596637F33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8A151C-259F-0411-2656-2F01AAF4188A}"/>
              </a:ext>
            </a:extLst>
          </p:cNvPr>
          <p:cNvSpPr>
            <a:spLocks noGrp="1"/>
          </p:cNvSpPr>
          <p:nvPr>
            <p:ph type="title"/>
          </p:nvPr>
        </p:nvSpPr>
        <p:spPr/>
        <p:txBody>
          <a:bodyPr>
            <a:normAutofit fontScale="90000"/>
          </a:bodyPr>
          <a:lstStyle/>
          <a:p>
            <a:r>
              <a:rPr lang="fr-FR" b="1" dirty="0"/>
              <a:t>Limitations des profils de configuration vSphere</a:t>
            </a:r>
            <a:br>
              <a:rPr lang="fr-FR" b="1" dirty="0"/>
            </a:br>
            <a:br>
              <a:rPr lang="fr-FR" dirty="0"/>
            </a:br>
            <a:endParaRPr lang="fr-SN" dirty="0"/>
          </a:p>
        </p:txBody>
      </p:sp>
      <p:sp>
        <p:nvSpPr>
          <p:cNvPr id="4" name="Espace réservé du contenu 3">
            <a:extLst>
              <a:ext uri="{FF2B5EF4-FFF2-40B4-BE49-F238E27FC236}">
                <a16:creationId xmlns:a16="http://schemas.microsoft.com/office/drawing/2014/main" id="{07F8E06E-15D6-2C5C-BD92-EF62182F9D55}"/>
              </a:ext>
            </a:extLst>
          </p:cNvPr>
          <p:cNvSpPr>
            <a:spLocks noGrp="1"/>
          </p:cNvSpPr>
          <p:nvPr>
            <p:ph idx="1"/>
          </p:nvPr>
        </p:nvSpPr>
        <p:spPr/>
        <p:txBody>
          <a:bodyPr>
            <a:normAutofit/>
          </a:bodyPr>
          <a:lstStyle/>
          <a:p>
            <a:r>
              <a:rPr lang="fr-FR" dirty="0"/>
              <a:t>Les </a:t>
            </a:r>
            <a:r>
              <a:rPr lang="fr-FR" b="1" dirty="0"/>
              <a:t>profils de configuration vSphere</a:t>
            </a:r>
            <a:r>
              <a:rPr lang="fr-FR" dirty="0"/>
              <a:t> présentent les limitations suivantes :</a:t>
            </a:r>
          </a:p>
          <a:p>
            <a:r>
              <a:rPr lang="fr-FR" dirty="0"/>
              <a:t>Une fois activés sur un cluster, les profils de configuration vSphere ne peuvent pas être désactivés.</a:t>
            </a:r>
          </a:p>
          <a:p>
            <a:r>
              <a:rPr lang="fr-FR" dirty="0"/>
              <a:t>Ne prennent pas en charge un cluster si </a:t>
            </a:r>
            <a:r>
              <a:rPr lang="fr-FR" b="1" dirty="0"/>
              <a:t>NSX</a:t>
            </a:r>
            <a:r>
              <a:rPr lang="fr-FR" dirty="0"/>
              <a:t> est également activé.</a:t>
            </a:r>
          </a:p>
          <a:p>
            <a:r>
              <a:rPr lang="fr-FR" dirty="0"/>
              <a:t>Ne prennent pas en charge un cluster avec des hôtes équipés de </a:t>
            </a:r>
            <a:r>
              <a:rPr lang="fr-FR" b="1" dirty="0"/>
              <a:t>DPU</a:t>
            </a:r>
            <a:r>
              <a:rPr lang="fr-FR" dirty="0"/>
              <a:t>.</a:t>
            </a:r>
          </a:p>
          <a:p>
            <a:r>
              <a:rPr lang="fr-FR" dirty="0"/>
              <a:t>Certains services </a:t>
            </a:r>
            <a:r>
              <a:rPr lang="fr-FR" b="1" dirty="0"/>
              <a:t>ESXi</a:t>
            </a:r>
            <a:r>
              <a:rPr lang="fr-FR" dirty="0"/>
              <a:t>, tels que les états de démarrage et d’exécution, ne sont actuellement pas gérés par les profils de configuration vSphere.</a:t>
            </a:r>
          </a:p>
          <a:p>
            <a:pPr lvl="1"/>
            <a:r>
              <a:rPr lang="fr-FR" dirty="0"/>
              <a:t>Par exemple, les paramètres de démarrage et d’exécution du service </a:t>
            </a:r>
            <a:r>
              <a:rPr lang="fr-FR" b="1" dirty="0"/>
              <a:t>SSH</a:t>
            </a:r>
            <a:r>
              <a:rPr lang="fr-FR" dirty="0"/>
              <a:t> ne sont pas inclus dans un document de configuration de cluster.</a:t>
            </a:r>
          </a:p>
          <a:p>
            <a:endParaRPr lang="fr-SN" dirty="0"/>
          </a:p>
        </p:txBody>
      </p:sp>
    </p:spTree>
    <p:extLst>
      <p:ext uri="{BB962C8B-B14F-4D97-AF65-F5344CB8AC3E}">
        <p14:creationId xmlns:p14="http://schemas.microsoft.com/office/powerpoint/2010/main" val="3834469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DCB69-B96D-4C73-250E-B5D31237994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FFEEBDE-0C73-EF1B-9FEE-829133F32FB0}"/>
              </a:ext>
            </a:extLst>
          </p:cNvPr>
          <p:cNvSpPr>
            <a:spLocks noGrp="1"/>
          </p:cNvSpPr>
          <p:nvPr>
            <p:ph type="title"/>
          </p:nvPr>
        </p:nvSpPr>
        <p:spPr/>
        <p:txBody>
          <a:bodyPr>
            <a:normAutofit fontScale="90000"/>
          </a:bodyPr>
          <a:lstStyle/>
          <a:p>
            <a:r>
              <a:rPr lang="fr-FR" b="1" dirty="0"/>
              <a:t>Configuration au niveau du cluster</a:t>
            </a:r>
            <a:br>
              <a:rPr lang="fr-FR" b="1" dirty="0"/>
            </a:br>
            <a:br>
              <a:rPr lang="fr-FR" dirty="0"/>
            </a:br>
            <a:endParaRPr lang="fr-SN" dirty="0"/>
          </a:p>
        </p:txBody>
      </p:sp>
      <p:sp>
        <p:nvSpPr>
          <p:cNvPr id="4" name="Espace réservé du contenu 3">
            <a:extLst>
              <a:ext uri="{FF2B5EF4-FFF2-40B4-BE49-F238E27FC236}">
                <a16:creationId xmlns:a16="http://schemas.microsoft.com/office/drawing/2014/main" id="{733BE710-DCDE-B3E8-8D1F-BD33CAC65612}"/>
              </a:ext>
            </a:extLst>
          </p:cNvPr>
          <p:cNvSpPr>
            <a:spLocks noGrp="1"/>
          </p:cNvSpPr>
          <p:nvPr>
            <p:ph idx="1"/>
          </p:nvPr>
        </p:nvSpPr>
        <p:spPr/>
        <p:txBody>
          <a:bodyPr>
            <a:normAutofit/>
          </a:bodyPr>
          <a:lstStyle/>
          <a:p>
            <a:pPr marL="0" indent="0">
              <a:buNone/>
            </a:pPr>
            <a:br>
              <a:rPr lang="fr-FR" dirty="0"/>
            </a:br>
            <a:endParaRPr lang="fr-SN" dirty="0"/>
          </a:p>
        </p:txBody>
      </p:sp>
      <p:pic>
        <p:nvPicPr>
          <p:cNvPr id="2050" name="Picture 2">
            <a:extLst>
              <a:ext uri="{FF2B5EF4-FFF2-40B4-BE49-F238E27FC236}">
                <a16:creationId xmlns:a16="http://schemas.microsoft.com/office/drawing/2014/main" id="{87E32CC1-BF9B-6673-ABCF-0736CB80E7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057400"/>
            <a:ext cx="59436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717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89E66D-C489-B847-8BDB-A81183750885}"/>
              </a:ext>
            </a:extLst>
          </p:cNvPr>
          <p:cNvSpPr>
            <a:spLocks noGrp="1"/>
          </p:cNvSpPr>
          <p:nvPr>
            <p:ph type="title"/>
          </p:nvPr>
        </p:nvSpPr>
        <p:spPr/>
        <p:txBody>
          <a:bodyPr>
            <a:normAutofit fontScale="90000"/>
          </a:bodyPr>
          <a:lstStyle/>
          <a:p>
            <a:r>
              <a:rPr lang="fr-FR" b="1" dirty="0"/>
              <a:t>Utilisation des profils de configuration vSphere</a:t>
            </a:r>
            <a:br>
              <a:rPr lang="fr-FR" b="1" dirty="0"/>
            </a:br>
            <a:br>
              <a:rPr lang="fr-FR" dirty="0"/>
            </a:br>
            <a:r>
              <a:rPr lang="fr-FR" sz="2000" dirty="0">
                <a:solidFill>
                  <a:schemeClr val="tx1">
                    <a:lumMod val="75000"/>
                    <a:lumOff val="25000"/>
                  </a:schemeClr>
                </a:solidFill>
                <a:latin typeface="+mn-lt"/>
                <a:ea typeface="+mn-ea"/>
                <a:cs typeface="+mn-cs"/>
              </a:rPr>
              <a:t>Le flux de travail de configuration commence par des vérifications d’éligibilité sur le cluster et les hôtes.</a:t>
            </a:r>
            <a:br>
              <a:rPr lang="fr-FR" sz="2000" dirty="0">
                <a:solidFill>
                  <a:schemeClr val="tx1">
                    <a:lumMod val="75000"/>
                    <a:lumOff val="25000"/>
                  </a:schemeClr>
                </a:solidFill>
                <a:latin typeface="+mn-lt"/>
                <a:ea typeface="+mn-ea"/>
                <a:cs typeface="+mn-cs"/>
              </a:rPr>
            </a:br>
            <a:r>
              <a:rPr lang="fr-FR" sz="2000" dirty="0">
                <a:solidFill>
                  <a:schemeClr val="tx1">
                    <a:lumMod val="75000"/>
                    <a:lumOff val="25000"/>
                  </a:schemeClr>
                </a:solidFill>
                <a:latin typeface="+mn-lt"/>
                <a:ea typeface="+mn-ea"/>
                <a:cs typeface="+mn-cs"/>
              </a:rPr>
              <a:t>Si le cluster n’est pas éligible, le processus de configuration ne se poursuivra pas.</a:t>
            </a:r>
            <a:br>
              <a:rPr lang="fr-FR" sz="2000" dirty="0">
                <a:solidFill>
                  <a:schemeClr val="tx1">
                    <a:lumMod val="75000"/>
                    <a:lumOff val="25000"/>
                  </a:schemeClr>
                </a:solidFill>
                <a:latin typeface="+mn-lt"/>
                <a:ea typeface="+mn-ea"/>
                <a:cs typeface="+mn-cs"/>
              </a:rPr>
            </a:br>
            <a:r>
              <a:rPr lang="fr-FR" sz="2000" dirty="0">
                <a:solidFill>
                  <a:schemeClr val="tx1">
                    <a:lumMod val="75000"/>
                    <a:lumOff val="25000"/>
                  </a:schemeClr>
                </a:solidFill>
                <a:latin typeface="+mn-lt"/>
                <a:ea typeface="+mn-ea"/>
                <a:cs typeface="+mn-cs"/>
              </a:rPr>
              <a:t>Si le cluster est éligible, les administrateurs peuvent importer une configuration à partir d’un hôte du cluster ou d’un fichier JSON.</a:t>
            </a:r>
            <a:br>
              <a:rPr lang="fr-FR" sz="2000" dirty="0">
                <a:solidFill>
                  <a:schemeClr val="tx1">
                    <a:lumMod val="75000"/>
                    <a:lumOff val="25000"/>
                  </a:schemeClr>
                </a:solidFill>
                <a:latin typeface="+mn-lt"/>
                <a:ea typeface="+mn-ea"/>
                <a:cs typeface="+mn-cs"/>
              </a:rPr>
            </a:br>
            <a:endParaRPr lang="fr-SN" sz="2000" dirty="0">
              <a:solidFill>
                <a:schemeClr val="tx1">
                  <a:lumMod val="75000"/>
                  <a:lumOff val="25000"/>
                </a:schemeClr>
              </a:solidFill>
              <a:latin typeface="+mn-lt"/>
              <a:ea typeface="+mn-ea"/>
              <a:cs typeface="+mn-cs"/>
            </a:endParaRPr>
          </a:p>
        </p:txBody>
      </p:sp>
    </p:spTree>
    <p:extLst>
      <p:ext uri="{BB962C8B-B14F-4D97-AF65-F5344CB8AC3E}">
        <p14:creationId xmlns:p14="http://schemas.microsoft.com/office/powerpoint/2010/main" val="3037428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E45E81-CB94-39F0-4F10-7E83F5C7CA00}"/>
              </a:ext>
            </a:extLst>
          </p:cNvPr>
          <p:cNvSpPr>
            <a:spLocks noGrp="1"/>
          </p:cNvSpPr>
          <p:nvPr>
            <p:ph type="title"/>
          </p:nvPr>
        </p:nvSpPr>
        <p:spPr/>
        <p:txBody>
          <a:bodyPr>
            <a:normAutofit fontScale="90000"/>
          </a:bodyPr>
          <a:lstStyle/>
          <a:p>
            <a:r>
              <a:rPr lang="fr-FR" b="1" dirty="0"/>
              <a:t>Utilisation des profils de configuration vSphere</a:t>
            </a:r>
            <a:br>
              <a:rPr lang="fr-FR" b="1" dirty="0"/>
            </a:br>
            <a:br>
              <a:rPr lang="fr-FR" dirty="0"/>
            </a:br>
            <a:br>
              <a:rPr lang="en-US" b="1" dirty="0"/>
            </a:br>
            <a:br>
              <a:rPr lang="en-US" dirty="0"/>
            </a:br>
            <a:endParaRPr lang="fr-SN" dirty="0"/>
          </a:p>
        </p:txBody>
      </p:sp>
      <p:pic>
        <p:nvPicPr>
          <p:cNvPr id="3074" name="Picture 2">
            <a:extLst>
              <a:ext uri="{FF2B5EF4-FFF2-40B4-BE49-F238E27FC236}">
                <a16:creationId xmlns:a16="http://schemas.microsoft.com/office/drawing/2014/main" id="{CDFD5DC3-7B1D-C37C-A051-C3DAC467A4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88987" y="2579486"/>
            <a:ext cx="5915851" cy="2886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490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5A74E4-7211-A851-7F7A-68E3E266DB9C}"/>
              </a:ext>
            </a:extLst>
          </p:cNvPr>
          <p:cNvSpPr>
            <a:spLocks noGrp="1"/>
          </p:cNvSpPr>
          <p:nvPr>
            <p:ph type="title"/>
          </p:nvPr>
        </p:nvSpPr>
        <p:spPr/>
        <p:txBody>
          <a:bodyPr>
            <a:normAutofit fontScale="90000"/>
          </a:bodyPr>
          <a:lstStyle/>
          <a:p>
            <a:r>
              <a:rPr lang="fr-FR" b="1" dirty="0"/>
              <a:t>Afficher les paramètres des hôtes dans la configuration souhaitée</a:t>
            </a:r>
            <a:br>
              <a:rPr lang="fr-FR" b="1" dirty="0"/>
            </a:br>
            <a:br>
              <a:rPr lang="fr-FR" dirty="0"/>
            </a:br>
            <a:endParaRPr lang="fr-SN" dirty="0"/>
          </a:p>
        </p:txBody>
      </p:sp>
      <p:sp>
        <p:nvSpPr>
          <p:cNvPr id="5" name="Espace réservé du contenu 4">
            <a:extLst>
              <a:ext uri="{FF2B5EF4-FFF2-40B4-BE49-F238E27FC236}">
                <a16:creationId xmlns:a16="http://schemas.microsoft.com/office/drawing/2014/main" id="{5742C7A8-551F-6FCB-5D57-06CFE78E6565}"/>
              </a:ext>
            </a:extLst>
          </p:cNvPr>
          <p:cNvSpPr>
            <a:spLocks noGrp="1"/>
          </p:cNvSpPr>
          <p:nvPr>
            <p:ph idx="1"/>
          </p:nvPr>
        </p:nvSpPr>
        <p:spPr>
          <a:xfrm>
            <a:off x="2589212" y="1771650"/>
            <a:ext cx="8915400" cy="3949072"/>
          </a:xfrm>
        </p:spPr>
        <p:txBody>
          <a:bodyPr>
            <a:normAutofit/>
          </a:bodyPr>
          <a:lstStyle/>
          <a:p>
            <a:pPr marL="0" indent="0">
              <a:buNone/>
            </a:pPr>
            <a:endParaRPr lang="fr-FR" dirty="0"/>
          </a:p>
          <a:p>
            <a:pPr marL="0" indent="0">
              <a:buNone/>
            </a:pPr>
            <a:endParaRPr lang="fr-FR" dirty="0"/>
          </a:p>
          <a:p>
            <a:r>
              <a:rPr lang="fr-FR" dirty="0"/>
              <a:t>Vous pouvez consulter des informations sur la manière dont chaque paramètre d’hôte est configuré dans la configuration souhaitée actuelle du cluster.</a:t>
            </a:r>
          </a:p>
          <a:p>
            <a:r>
              <a:rPr lang="fr-FR" dirty="0"/>
              <a:t>Pour chaque paramètre d’hôte défini dans le document de configuration, vous pouvez voir les valeurs définies pour tous les hôtes du cluster ainsi que les éventuelles exceptions spécifiques à certains hôtes.</a:t>
            </a:r>
          </a:p>
          <a:p>
            <a:pPr marL="0" indent="0">
              <a:buNone/>
            </a:pPr>
            <a:br>
              <a:rPr lang="fr-FR" dirty="0"/>
            </a:br>
            <a:endParaRPr lang="fr-SN" dirty="0"/>
          </a:p>
        </p:txBody>
      </p:sp>
    </p:spTree>
    <p:extLst>
      <p:ext uri="{BB962C8B-B14F-4D97-AF65-F5344CB8AC3E}">
        <p14:creationId xmlns:p14="http://schemas.microsoft.com/office/powerpoint/2010/main" val="131590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812179-970C-96E5-F5B4-181191EAB17E}"/>
              </a:ext>
            </a:extLst>
          </p:cNvPr>
          <p:cNvSpPr>
            <a:spLocks noGrp="1"/>
          </p:cNvSpPr>
          <p:nvPr>
            <p:ph type="title"/>
          </p:nvPr>
        </p:nvSpPr>
        <p:spPr/>
        <p:txBody>
          <a:bodyPr>
            <a:normAutofit fontScale="90000"/>
          </a:bodyPr>
          <a:lstStyle/>
          <a:p>
            <a:r>
              <a:rPr lang="fr-FR" b="1" dirty="0"/>
              <a:t>Afficher les paramètres des hôtes dans la configuration souhaitée</a:t>
            </a:r>
            <a:br>
              <a:rPr lang="fr-FR" b="1" dirty="0"/>
            </a:br>
            <a:br>
              <a:rPr lang="fr-FR" dirty="0"/>
            </a:br>
            <a:br>
              <a:rPr lang="en-US" b="1" dirty="0"/>
            </a:br>
            <a:br>
              <a:rPr lang="en-US" dirty="0"/>
            </a:br>
            <a:endParaRPr lang="fr-SN" dirty="0"/>
          </a:p>
        </p:txBody>
      </p:sp>
      <p:pic>
        <p:nvPicPr>
          <p:cNvPr id="4098" name="Picture 2">
            <a:extLst>
              <a:ext uri="{FF2B5EF4-FFF2-40B4-BE49-F238E27FC236}">
                <a16:creationId xmlns:a16="http://schemas.microsoft.com/office/drawing/2014/main" id="{3FDC6E6A-360C-32C6-2F85-CC06E90B2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2014538"/>
            <a:ext cx="5029200"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020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6C6B7C-40AA-E9E6-E77C-7595621D362F}"/>
              </a:ext>
            </a:extLst>
          </p:cNvPr>
          <p:cNvSpPr>
            <a:spLocks noGrp="1"/>
          </p:cNvSpPr>
          <p:nvPr>
            <p:ph type="title"/>
          </p:nvPr>
        </p:nvSpPr>
        <p:spPr/>
        <p:txBody>
          <a:bodyPr>
            <a:normAutofit fontScale="90000"/>
          </a:bodyPr>
          <a:lstStyle/>
          <a:p>
            <a:r>
              <a:rPr lang="fr-FR" b="1" dirty="0"/>
              <a:t>Schéma de configuration et document de configuration</a:t>
            </a:r>
            <a:br>
              <a:rPr lang="fr-FR" b="1" dirty="0"/>
            </a:br>
            <a:br>
              <a:rPr lang="fr-FR" dirty="0"/>
            </a:b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1045C8EB-2414-B8A6-CBB1-B5C69130DE1A}"/>
              </a:ext>
            </a:extLst>
          </p:cNvPr>
          <p:cNvSpPr>
            <a:spLocks noGrp="1"/>
          </p:cNvSpPr>
          <p:nvPr>
            <p:ph idx="1"/>
          </p:nvPr>
        </p:nvSpPr>
        <p:spPr/>
        <p:txBody>
          <a:bodyPr>
            <a:normAutofit fontScale="92500" lnSpcReduction="10000"/>
          </a:bodyPr>
          <a:lstStyle/>
          <a:p>
            <a:r>
              <a:rPr lang="fr-FR" dirty="0"/>
              <a:t>Les administrateurs peuvent configurer et gérer la configuration souhaitée des hôtes pour un cluster entier en travaillant avec le document de configuration du cluster concerné.</a:t>
            </a:r>
          </a:p>
          <a:p>
            <a:r>
              <a:rPr lang="fr-FR" dirty="0"/>
              <a:t>Le document de configuration est un fichier JSON que vous pouvez télécharger sur votre ordinateur local et modifier à l’aide d’un éditeur JSON.</a:t>
            </a:r>
          </a:p>
          <a:p>
            <a:r>
              <a:rPr lang="fr-FR" dirty="0"/>
              <a:t>Un document de configuration valide contient une section profile et, éventuellement, des sections host-</a:t>
            </a:r>
            <a:r>
              <a:rPr lang="fr-FR" dirty="0" err="1"/>
              <a:t>specific</a:t>
            </a:r>
            <a:r>
              <a:rPr lang="fr-FR" dirty="0"/>
              <a:t> et host-</a:t>
            </a:r>
            <a:r>
              <a:rPr lang="fr-FR" dirty="0" err="1"/>
              <a:t>override</a:t>
            </a:r>
            <a:r>
              <a:rPr lang="fr-FR" dirty="0"/>
              <a:t> :</a:t>
            </a:r>
          </a:p>
          <a:p>
            <a:r>
              <a:rPr lang="fr-FR" dirty="0"/>
              <a:t>La section profile contient une configuration commune applicable à tous les hôtes du cluster.</a:t>
            </a:r>
          </a:p>
          <a:p>
            <a:r>
              <a:rPr lang="fr-FR" dirty="0"/>
              <a:t>La section host-</a:t>
            </a:r>
            <a:r>
              <a:rPr lang="fr-FR" dirty="0" err="1"/>
              <a:t>specific</a:t>
            </a:r>
            <a:r>
              <a:rPr lang="fr-FR" dirty="0"/>
              <a:t> représente la configuration qui ne peut être spécifiée que pour un hôte particulier.</a:t>
            </a:r>
          </a:p>
          <a:p>
            <a:r>
              <a:rPr lang="fr-FR" dirty="0"/>
              <a:t>La section host-</a:t>
            </a:r>
            <a:r>
              <a:rPr lang="fr-FR" dirty="0" err="1"/>
              <a:t>override</a:t>
            </a:r>
            <a:r>
              <a:rPr lang="fr-FR" dirty="0"/>
              <a:t> représente la configuration qui remplace celle d’un hôte spécifique dans le cluster.</a:t>
            </a:r>
          </a:p>
          <a:p>
            <a:pPr marL="0" indent="0">
              <a:buNone/>
            </a:pPr>
            <a:endParaRPr lang="fr-SN" dirty="0"/>
          </a:p>
        </p:txBody>
      </p:sp>
    </p:spTree>
    <p:extLst>
      <p:ext uri="{BB962C8B-B14F-4D97-AF65-F5344CB8AC3E}">
        <p14:creationId xmlns:p14="http://schemas.microsoft.com/office/powerpoint/2010/main" val="1755190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2EFB25-6515-3486-10E1-BB588860AD85}"/>
              </a:ext>
            </a:extLst>
          </p:cNvPr>
          <p:cNvSpPr>
            <a:spLocks noGrp="1"/>
          </p:cNvSpPr>
          <p:nvPr>
            <p:ph type="title"/>
          </p:nvPr>
        </p:nvSpPr>
        <p:spPr/>
        <p:txBody>
          <a:bodyPr>
            <a:normAutofit fontScale="90000"/>
          </a:bodyPr>
          <a:lstStyle/>
          <a:p>
            <a:r>
              <a:rPr lang="fr-FR" b="1" dirty="0"/>
              <a:t>Vérifier la conformité des hôtes par rapport à la configuration souhaitée du cluster</a:t>
            </a:r>
            <a:br>
              <a:rPr lang="fr-FR" b="1" dirty="0"/>
            </a:br>
            <a:br>
              <a:rPr lang="fr-FR" dirty="0"/>
            </a:br>
            <a:endParaRPr lang="fr-SN" dirty="0"/>
          </a:p>
        </p:txBody>
      </p:sp>
      <p:sp>
        <p:nvSpPr>
          <p:cNvPr id="5" name="Espace réservé du contenu 4">
            <a:extLst>
              <a:ext uri="{FF2B5EF4-FFF2-40B4-BE49-F238E27FC236}">
                <a16:creationId xmlns:a16="http://schemas.microsoft.com/office/drawing/2014/main" id="{B66AA271-CBAA-3EAA-9ACB-B7828809086E}"/>
              </a:ext>
            </a:extLst>
          </p:cNvPr>
          <p:cNvSpPr>
            <a:spLocks noGrp="1"/>
          </p:cNvSpPr>
          <p:nvPr>
            <p:ph idx="1"/>
          </p:nvPr>
        </p:nvSpPr>
        <p:spPr/>
        <p:txBody>
          <a:bodyPr>
            <a:normAutofit/>
          </a:bodyPr>
          <a:lstStyle/>
          <a:p>
            <a:pPr marL="0" indent="0">
              <a:buNone/>
            </a:pPr>
            <a:r>
              <a:rPr lang="fr-FR" dirty="0"/>
              <a:t>Vous pouvez vérifier la conformité de chaque hôte d’un cluster par rapport à la configuration souhaitée définie pour l’ensemble du cluster.</a:t>
            </a:r>
            <a:br>
              <a:rPr lang="fr-FR" dirty="0"/>
            </a:br>
            <a:r>
              <a:rPr lang="fr-FR" dirty="0"/>
              <a:t>La tâche </a:t>
            </a:r>
            <a:r>
              <a:rPr lang="fr-FR" b="1" dirty="0"/>
              <a:t>Vérification de la conformité de la configuration du cluster</a:t>
            </a:r>
            <a:r>
              <a:rPr lang="fr-FR" dirty="0"/>
              <a:t> s’exécute automatiquement dans les cas suivants :</a:t>
            </a:r>
          </a:p>
          <a:p>
            <a:r>
              <a:rPr lang="fr-FR" dirty="0"/>
              <a:t>Lorsque vous apportez des modifications à la configuration souhaitée du cluster.</a:t>
            </a:r>
          </a:p>
          <a:p>
            <a:r>
              <a:rPr lang="fr-FR" dirty="0"/>
              <a:t>Lorsque vous ajoutez un hôte au cluster.</a:t>
            </a:r>
          </a:p>
          <a:p>
            <a:pPr marL="0" indent="0">
              <a:buNone/>
            </a:pPr>
            <a:endParaRPr lang="fr-SN" dirty="0"/>
          </a:p>
        </p:txBody>
      </p:sp>
    </p:spTree>
    <p:extLst>
      <p:ext uri="{BB962C8B-B14F-4D97-AF65-F5344CB8AC3E}">
        <p14:creationId xmlns:p14="http://schemas.microsoft.com/office/powerpoint/2010/main" val="4210457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E35616-B6B4-AF5C-9C1B-EA6E39132FFF}"/>
              </a:ext>
            </a:extLst>
          </p:cNvPr>
          <p:cNvSpPr>
            <a:spLocks noGrp="1"/>
          </p:cNvSpPr>
          <p:nvPr>
            <p:ph type="title"/>
          </p:nvPr>
        </p:nvSpPr>
        <p:spPr/>
        <p:txBody>
          <a:bodyPr>
            <a:normAutofit fontScale="90000"/>
          </a:bodyPr>
          <a:lstStyle/>
          <a:p>
            <a:r>
              <a:rPr lang="fr-FR" b="1" dirty="0"/>
              <a:t>Exécuter une </a:t>
            </a:r>
            <a:r>
              <a:rPr lang="fr-FR" b="1" dirty="0" err="1"/>
              <a:t>prévérification</a:t>
            </a:r>
            <a:r>
              <a:rPr lang="fr-FR" b="1" dirty="0"/>
              <a:t> de remédiation</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D675AB9E-70D0-4E12-01DD-16F6EF18F94E}"/>
              </a:ext>
            </a:extLst>
          </p:cNvPr>
          <p:cNvSpPr>
            <a:spLocks noGrp="1"/>
          </p:cNvSpPr>
          <p:nvPr>
            <p:ph idx="1"/>
          </p:nvPr>
        </p:nvSpPr>
        <p:spPr/>
        <p:txBody>
          <a:bodyPr/>
          <a:lstStyle/>
          <a:p>
            <a:pPr marL="0" indent="0">
              <a:buNone/>
            </a:pPr>
            <a:r>
              <a:rPr lang="fr-FR" dirty="0"/>
              <a:t>Vous exécutez une </a:t>
            </a:r>
            <a:r>
              <a:rPr lang="fr-FR" b="1" dirty="0" err="1"/>
              <a:t>prévérification</a:t>
            </a:r>
            <a:r>
              <a:rPr lang="fr-FR" b="1" dirty="0"/>
              <a:t> de remédiation</a:t>
            </a:r>
            <a:r>
              <a:rPr lang="fr-FR" dirty="0"/>
              <a:t> afin de vous assurer que la configuration souhaitée est valide et que le cluster est en bon état de fonctionnement.</a:t>
            </a:r>
          </a:p>
          <a:p>
            <a:pPr marL="0" indent="0">
              <a:buNone/>
            </a:pPr>
            <a:r>
              <a:rPr lang="fr-FR" dirty="0"/>
              <a:t>Pendant cette </a:t>
            </a:r>
            <a:r>
              <a:rPr lang="fr-FR" dirty="0" err="1"/>
              <a:t>prévérification</a:t>
            </a:r>
            <a:r>
              <a:rPr lang="fr-FR" dirty="0"/>
              <a:t>, </a:t>
            </a:r>
            <a:r>
              <a:rPr lang="fr-FR" b="1" dirty="0"/>
              <a:t>vSphere Configuration Profiles</a:t>
            </a:r>
            <a:r>
              <a:rPr lang="fr-FR" dirty="0"/>
              <a:t> effectue divers contrôles d’intégrité sur chaque hôte ainsi que sur l’ensemble du cluster.</a:t>
            </a:r>
            <a:br>
              <a:rPr lang="fr-FR" dirty="0"/>
            </a:br>
            <a:r>
              <a:rPr lang="fr-FR" dirty="0"/>
              <a:t>La </a:t>
            </a:r>
            <a:r>
              <a:rPr lang="fr-FR" dirty="0" err="1"/>
              <a:t>prévérification</a:t>
            </a:r>
            <a:r>
              <a:rPr lang="fr-FR" dirty="0"/>
              <a:t> de remédiation calcule également l’impact que la remédiation pourrait avoir sur les hôtes.</a:t>
            </a:r>
          </a:p>
          <a:p>
            <a:pPr marL="0" indent="0">
              <a:buNone/>
            </a:pPr>
            <a:endParaRPr lang="fr-SN" dirty="0"/>
          </a:p>
        </p:txBody>
      </p:sp>
    </p:spTree>
    <p:extLst>
      <p:ext uri="{BB962C8B-B14F-4D97-AF65-F5344CB8AC3E}">
        <p14:creationId xmlns:p14="http://schemas.microsoft.com/office/powerpoint/2010/main" val="3443758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4E3287-46CA-FCDE-331D-6A2FF40EA019}"/>
              </a:ext>
            </a:extLst>
          </p:cNvPr>
          <p:cNvSpPr>
            <a:spLocks noGrp="1"/>
          </p:cNvSpPr>
          <p:nvPr>
            <p:ph type="title"/>
          </p:nvPr>
        </p:nvSpPr>
        <p:spPr/>
        <p:txBody>
          <a:bodyPr>
            <a:normAutofit fontScale="90000"/>
          </a:bodyPr>
          <a:lstStyle/>
          <a:p>
            <a:r>
              <a:rPr lang="fr-FR" b="1" dirty="0"/>
              <a:t>Exécuter une </a:t>
            </a:r>
            <a:r>
              <a:rPr lang="fr-FR" b="1" dirty="0" err="1"/>
              <a:t>prévérification</a:t>
            </a:r>
            <a:r>
              <a:rPr lang="fr-FR" b="1" dirty="0"/>
              <a:t> de remédiation</a:t>
            </a:r>
            <a:br>
              <a:rPr lang="fr-FR" b="1" dirty="0"/>
            </a:br>
            <a:br>
              <a:rPr lang="fr-FR" dirty="0"/>
            </a:br>
            <a:br>
              <a:rPr lang="fr-SN" b="1" dirty="0"/>
            </a:br>
            <a:br>
              <a:rPr lang="fr-FR" b="1" dirty="0"/>
            </a:br>
            <a:br>
              <a:rPr lang="fr-FR" dirty="0"/>
            </a:br>
            <a:endParaRPr lang="fr-SN" dirty="0"/>
          </a:p>
        </p:txBody>
      </p:sp>
      <p:pic>
        <p:nvPicPr>
          <p:cNvPr id="5122" name="Picture 2">
            <a:extLst>
              <a:ext uri="{FF2B5EF4-FFF2-40B4-BE49-F238E27FC236}">
                <a16:creationId xmlns:a16="http://schemas.microsoft.com/office/drawing/2014/main" id="{944B748B-8CFC-E6D8-829A-F0ADB1C05E8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85789" y="2593775"/>
            <a:ext cx="5887272" cy="2857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739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712016-2D52-2465-DBB1-6315099355DE}"/>
              </a:ext>
            </a:extLst>
          </p:cNvPr>
          <p:cNvSpPr>
            <a:spLocks noGrp="1"/>
          </p:cNvSpPr>
          <p:nvPr>
            <p:ph type="title"/>
          </p:nvPr>
        </p:nvSpPr>
        <p:spPr/>
        <p:txBody>
          <a:bodyPr>
            <a:normAutofit fontScale="90000"/>
          </a:bodyPr>
          <a:lstStyle/>
          <a:p>
            <a:r>
              <a:rPr lang="fr-FR" b="1" dirty="0"/>
              <a:t>Corriger un cluster selon la configuration souhaitée</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2FFE1585-85E0-0E83-0E32-BC4107EA0C37}"/>
              </a:ext>
            </a:extLst>
          </p:cNvPr>
          <p:cNvSpPr>
            <a:spLocks noGrp="1"/>
          </p:cNvSpPr>
          <p:nvPr>
            <p:ph idx="1"/>
          </p:nvPr>
        </p:nvSpPr>
        <p:spPr/>
        <p:txBody>
          <a:bodyPr>
            <a:normAutofit/>
          </a:bodyPr>
          <a:lstStyle/>
          <a:p>
            <a:r>
              <a:rPr lang="fr-FR" dirty="0"/>
              <a:t>Vous pouvez </a:t>
            </a:r>
            <a:r>
              <a:rPr lang="fr-FR" b="1" dirty="0"/>
              <a:t>corriger un cluster</a:t>
            </a:r>
            <a:r>
              <a:rPr lang="fr-FR" dirty="0"/>
              <a:t> en fonction de la configuration souhaitée afin que tous les hôtes non conformes deviennent conformes à la configuration définie pour le cluster.</a:t>
            </a:r>
          </a:p>
          <a:p>
            <a:r>
              <a:rPr lang="fr-FR" dirty="0"/>
              <a:t>Dans cette étape, vous pouvez examiner l’impact de la remédiation.</a:t>
            </a:r>
            <a:br>
              <a:rPr lang="fr-FR" dirty="0"/>
            </a:br>
            <a:r>
              <a:rPr lang="fr-FR" dirty="0"/>
              <a:t>Par exemple :</a:t>
            </a:r>
          </a:p>
          <a:p>
            <a:r>
              <a:rPr lang="fr-FR" dirty="0"/>
              <a:t>Les hôtes du cluster seront placés en </a:t>
            </a:r>
            <a:r>
              <a:rPr lang="fr-FR" b="1" dirty="0"/>
              <a:t>mode maintenance</a:t>
            </a:r>
            <a:r>
              <a:rPr lang="fr-FR" dirty="0"/>
              <a:t>, puis redémarrés si nécessaire.</a:t>
            </a:r>
          </a:p>
          <a:p>
            <a:r>
              <a:rPr lang="fr-FR" dirty="0"/>
              <a:t>Les hôtes concernés seront ensuite remis en fonctionnement une fois la remédiation terminée.</a:t>
            </a:r>
          </a:p>
          <a:p>
            <a:pPr marL="0" indent="0">
              <a:buNone/>
            </a:pPr>
            <a:endParaRPr lang="fr-SN" dirty="0"/>
          </a:p>
        </p:txBody>
      </p:sp>
    </p:spTree>
    <p:extLst>
      <p:ext uri="{BB962C8B-B14F-4D97-AF65-F5344CB8AC3E}">
        <p14:creationId xmlns:p14="http://schemas.microsoft.com/office/powerpoint/2010/main" val="3769592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D9D134-60F5-CDBC-7391-0D670CBCFAC4}"/>
              </a:ext>
            </a:extLst>
          </p:cNvPr>
          <p:cNvSpPr>
            <a:spLocks noGrp="1"/>
          </p:cNvSpPr>
          <p:nvPr>
            <p:ph type="title"/>
          </p:nvPr>
        </p:nvSpPr>
        <p:spPr/>
        <p:txBody>
          <a:bodyPr>
            <a:normAutofit fontScale="90000"/>
          </a:bodyPr>
          <a:lstStyle/>
          <a:p>
            <a:r>
              <a:rPr lang="fr-FR" b="1" dirty="0"/>
              <a:t>Corriger un cluster selon la configuration souhaitée</a:t>
            </a:r>
            <a:br>
              <a:rPr lang="fr-FR" b="1" dirty="0"/>
            </a:br>
            <a:br>
              <a:rPr lang="fr-FR" dirty="0"/>
            </a:br>
            <a:endParaRPr lang="fr-SN" dirty="0"/>
          </a:p>
        </p:txBody>
      </p:sp>
      <p:pic>
        <p:nvPicPr>
          <p:cNvPr id="6146" name="Picture 2">
            <a:extLst>
              <a:ext uri="{FF2B5EF4-FFF2-40B4-BE49-F238E27FC236}">
                <a16:creationId xmlns:a16="http://schemas.microsoft.com/office/drawing/2014/main" id="{9BCE93A8-C7CE-BC04-B3B3-B07D366BE2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89279" y="2836697"/>
            <a:ext cx="3715268" cy="2372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201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79E471-32B8-30B9-65F8-D3001DC844E4}"/>
              </a:ext>
            </a:extLst>
          </p:cNvPr>
          <p:cNvSpPr>
            <a:spLocks noGrp="1"/>
          </p:cNvSpPr>
          <p:nvPr>
            <p:ph type="title"/>
          </p:nvPr>
        </p:nvSpPr>
        <p:spPr>
          <a:xfrm>
            <a:off x="1930401" y="624110"/>
            <a:ext cx="9574212" cy="1280890"/>
          </a:xfrm>
        </p:spPr>
        <p:txBody>
          <a:bodyPr>
            <a:normAutofit fontScale="90000"/>
          </a:bodyPr>
          <a:lstStyle/>
          <a:p>
            <a:r>
              <a:rPr lang="fr-FR" b="1" dirty="0"/>
              <a:t>Configuration cohérente sur plusieurs sites</a:t>
            </a:r>
            <a:br>
              <a:rPr lang="fr-FR" b="1" dirty="0"/>
            </a:br>
            <a:br>
              <a:rPr lang="fr-FR" dirty="0"/>
            </a:br>
            <a:br>
              <a:rPr lang="fr-SN" b="1" dirty="0"/>
            </a:br>
            <a:br>
              <a:rPr lang="fr-SN" dirty="0"/>
            </a:br>
            <a:br>
              <a:rPr lang="fr-SN" b="1" dirty="0"/>
            </a:br>
            <a:br>
              <a:rPr lang="fr-FR" b="1" dirty="0"/>
            </a:br>
            <a:br>
              <a:rPr lang="fr-FR" dirty="0"/>
            </a:b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670BE713-4352-9527-7969-9875673E0FAB}"/>
              </a:ext>
            </a:extLst>
          </p:cNvPr>
          <p:cNvSpPr>
            <a:spLocks noGrp="1"/>
          </p:cNvSpPr>
          <p:nvPr>
            <p:ph idx="1"/>
          </p:nvPr>
        </p:nvSpPr>
        <p:spPr/>
        <p:txBody>
          <a:bodyPr>
            <a:normAutofit/>
          </a:bodyPr>
          <a:lstStyle/>
          <a:p>
            <a:r>
              <a:rPr lang="fr-FR" dirty="0"/>
              <a:t>Vous pouvez obtenir une </a:t>
            </a:r>
            <a:r>
              <a:rPr lang="fr-FR" b="1" dirty="0"/>
              <a:t>configuration cohérente</a:t>
            </a:r>
            <a:r>
              <a:rPr lang="fr-FR" dirty="0"/>
              <a:t> sur plusieurs serveurs </a:t>
            </a:r>
            <a:r>
              <a:rPr lang="fr-FR" b="1" dirty="0"/>
              <a:t>vCenter</a:t>
            </a:r>
            <a:r>
              <a:rPr lang="fr-FR" dirty="0"/>
              <a:t> dans votre environnement.</a:t>
            </a:r>
            <a:br>
              <a:rPr lang="fr-FR" dirty="0"/>
            </a:br>
            <a:r>
              <a:rPr lang="fr-FR" dirty="0"/>
              <a:t>À partir du </a:t>
            </a:r>
            <a:r>
              <a:rPr lang="fr-FR" b="1" dirty="0"/>
              <a:t>vCenter source (Source VC)</a:t>
            </a:r>
            <a:r>
              <a:rPr lang="fr-FR" dirty="0"/>
              <a:t> :</a:t>
            </a:r>
          </a:p>
          <a:p>
            <a:pPr fontAlgn="t"/>
            <a:r>
              <a:rPr lang="fr-FR" dirty="0"/>
              <a:t>Vous exportez la configuration au format </a:t>
            </a:r>
            <a:r>
              <a:rPr lang="fr-FR" b="1" dirty="0"/>
              <a:t>JSON</a:t>
            </a:r>
            <a:r>
              <a:rPr lang="fr-FR" dirty="0"/>
              <a:t>, incluant :</a:t>
            </a:r>
          </a:p>
          <a:p>
            <a:pPr lvl="1"/>
            <a:r>
              <a:rPr lang="fr-FR" dirty="0"/>
              <a:t>La configuration de </a:t>
            </a:r>
            <a:r>
              <a:rPr lang="fr-FR" dirty="0" err="1"/>
              <a:t>l’appliance</a:t>
            </a:r>
            <a:r>
              <a:rPr lang="fr-FR" dirty="0"/>
              <a:t>,</a:t>
            </a:r>
          </a:p>
          <a:p>
            <a:pPr lvl="1"/>
            <a:r>
              <a:rPr lang="fr-FR" dirty="0"/>
              <a:t>La configuration réseau,</a:t>
            </a:r>
          </a:p>
          <a:p>
            <a:pPr lvl="1"/>
            <a:r>
              <a:rPr lang="fr-FR" dirty="0"/>
              <a:t>Les utilisateurs et les privilèges.</a:t>
            </a:r>
          </a:p>
          <a:p>
            <a:r>
              <a:rPr lang="fr-FR" dirty="0"/>
              <a:t>Ensuite, vous pouvez </a:t>
            </a:r>
            <a:r>
              <a:rPr lang="fr-FR" b="1" dirty="0"/>
              <a:t>valider et importer</a:t>
            </a:r>
            <a:r>
              <a:rPr lang="fr-FR" dirty="0"/>
              <a:t> cette configuration dans les </a:t>
            </a:r>
            <a:r>
              <a:rPr lang="fr-FR" b="1" dirty="0" err="1"/>
              <a:t>vCenters</a:t>
            </a:r>
            <a:r>
              <a:rPr lang="fr-FR" b="1" dirty="0"/>
              <a:t> de destination (Dest. VC1, VC2, VC3, VC4, VC5)</a:t>
            </a:r>
            <a:r>
              <a:rPr lang="fr-FR" dirty="0"/>
              <a:t> afin de garantir une uniformité de configuration entre tous les sites.</a:t>
            </a:r>
          </a:p>
          <a:p>
            <a:pPr marL="0" indent="0">
              <a:buNone/>
            </a:pPr>
            <a:endParaRPr lang="fr-SN" dirty="0"/>
          </a:p>
        </p:txBody>
      </p:sp>
    </p:spTree>
    <p:extLst>
      <p:ext uri="{BB962C8B-B14F-4D97-AF65-F5344CB8AC3E}">
        <p14:creationId xmlns:p14="http://schemas.microsoft.com/office/powerpoint/2010/main" val="1597395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97686D-608D-FF05-7E9E-71EF004C4BBC}"/>
              </a:ext>
            </a:extLst>
          </p:cNvPr>
          <p:cNvSpPr>
            <a:spLocks noGrp="1"/>
          </p:cNvSpPr>
          <p:nvPr>
            <p:ph type="title"/>
          </p:nvPr>
        </p:nvSpPr>
        <p:spPr/>
        <p:txBody>
          <a:bodyPr>
            <a:normAutofit fontScale="90000"/>
          </a:bodyPr>
          <a:lstStyle/>
          <a:p>
            <a:r>
              <a:rPr lang="fr-FR" b="1" dirty="0"/>
              <a:t>Configuration cohérente sur plusieurs sites</a:t>
            </a:r>
            <a:br>
              <a:rPr lang="fr-FR" b="1" dirty="0"/>
            </a:br>
            <a:br>
              <a:rPr lang="fr-FR" dirty="0"/>
            </a:br>
            <a:br>
              <a:rPr lang="fr-SN" b="1" dirty="0"/>
            </a:br>
            <a:br>
              <a:rPr lang="fr-SN" dirty="0"/>
            </a:br>
            <a:br>
              <a:rPr lang="fr-SN" b="1" dirty="0"/>
            </a:br>
            <a:br>
              <a:rPr lang="fr-SN" dirty="0"/>
            </a:br>
            <a:endParaRPr lang="fr-SN" dirty="0"/>
          </a:p>
        </p:txBody>
      </p:sp>
      <p:pic>
        <p:nvPicPr>
          <p:cNvPr id="7170" name="Picture 2">
            <a:extLst>
              <a:ext uri="{FF2B5EF4-FFF2-40B4-BE49-F238E27FC236}">
                <a16:creationId xmlns:a16="http://schemas.microsoft.com/office/drawing/2014/main" id="{4D93E7D0-6EEE-456D-BF19-0FD0367DA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8900" y="2730499"/>
            <a:ext cx="4926013" cy="2898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185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971176-1016-C489-578F-A409C4BF5D7A}"/>
              </a:ext>
            </a:extLst>
          </p:cNvPr>
          <p:cNvSpPr>
            <a:spLocks noGrp="1"/>
          </p:cNvSpPr>
          <p:nvPr>
            <p:ph type="title"/>
          </p:nvPr>
        </p:nvSpPr>
        <p:spPr/>
        <p:txBody>
          <a:bodyPr>
            <a:normAutofit fontScale="90000"/>
          </a:bodyPr>
          <a:lstStyle/>
          <a:p>
            <a:r>
              <a:rPr lang="fr-FR" b="1" dirty="0"/>
              <a:t>Prise en charge de vSphere Distributed Switch</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813AC524-BF3E-5BA1-E2B6-AB17868E212D}"/>
              </a:ext>
            </a:extLst>
          </p:cNvPr>
          <p:cNvSpPr>
            <a:spLocks noGrp="1"/>
          </p:cNvSpPr>
          <p:nvPr>
            <p:ph idx="1"/>
          </p:nvPr>
        </p:nvSpPr>
        <p:spPr/>
        <p:txBody>
          <a:bodyPr>
            <a:normAutofit fontScale="92500" lnSpcReduction="20000"/>
          </a:bodyPr>
          <a:lstStyle/>
          <a:p>
            <a:r>
              <a:rPr lang="fr-FR" dirty="0"/>
              <a:t>Les profils de configuration vSphere (vSphere Configuration Profiles) prennent en charge la </a:t>
            </a:r>
            <a:r>
              <a:rPr lang="fr-FR" dirty="0" err="1"/>
              <a:t>co-existence</a:t>
            </a:r>
            <a:r>
              <a:rPr lang="fr-FR" dirty="0"/>
              <a:t> avec les configurations de vSphere Distributed Switch.</a:t>
            </a:r>
          </a:p>
          <a:p>
            <a:r>
              <a:rPr lang="fr-FR" dirty="0"/>
              <a:t>Cela signifie que vSphere Distributed Switch et les informations des Distributed port groups sont toujours gérés par vCenter et sont compatibles avec l’utilisation des profils de configuration vSphere.</a:t>
            </a:r>
            <a:br>
              <a:rPr lang="fr-FR" dirty="0"/>
            </a:br>
            <a:r>
              <a:rPr lang="fr-FR" dirty="0"/>
              <a:t>Par exemple, si vous créez ou modifiez des Distributed port groups, vous n’avez pas besoin d’ajouter ces informations au document de configuration du cluster.</a:t>
            </a:r>
          </a:p>
          <a:p>
            <a:r>
              <a:rPr lang="fr-FR" dirty="0"/>
              <a:t>Le Distributed port group est géré par le vSphere Distributed Switch indépendamment du cluster.</a:t>
            </a:r>
          </a:p>
          <a:p>
            <a:r>
              <a:rPr lang="fr-FR" dirty="0"/>
              <a:t>Cependant, si vous attachez des interfaces </a:t>
            </a:r>
            <a:r>
              <a:rPr lang="fr-FR" b="1" dirty="0" err="1"/>
              <a:t>vmkernel</a:t>
            </a:r>
            <a:r>
              <a:rPr lang="fr-FR" dirty="0"/>
              <a:t> à des Distributed port groups, la configuration des interfaces </a:t>
            </a:r>
            <a:r>
              <a:rPr lang="fr-FR" b="1" dirty="0" err="1"/>
              <a:t>vmkernel</a:t>
            </a:r>
            <a:r>
              <a:rPr lang="fr-FR" dirty="0"/>
              <a:t> doit être gérée par les profils de configuration vSphere.</a:t>
            </a:r>
          </a:p>
          <a:p>
            <a:r>
              <a:rPr lang="fr-FR" i="1" dirty="0"/>
              <a:t>Référence – Annoncer les profils de configuration vSphere (</a:t>
            </a:r>
            <a:r>
              <a:rPr lang="fr-FR" i="1" dirty="0" err="1"/>
              <a:t>Announcing</a:t>
            </a:r>
            <a:r>
              <a:rPr lang="fr-FR" i="1" dirty="0"/>
              <a:t> vSphere Configuration Profiles)</a:t>
            </a:r>
            <a:endParaRPr lang="fr-FR" dirty="0"/>
          </a:p>
          <a:p>
            <a:pPr marL="0" indent="0">
              <a:buNone/>
            </a:pPr>
            <a:endParaRPr lang="fr-SN" dirty="0"/>
          </a:p>
        </p:txBody>
      </p:sp>
    </p:spTree>
    <p:extLst>
      <p:ext uri="{BB962C8B-B14F-4D97-AF65-F5344CB8AC3E}">
        <p14:creationId xmlns:p14="http://schemas.microsoft.com/office/powerpoint/2010/main" val="3551063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36C680-A30B-B9A9-9177-EFC35B82554C}"/>
              </a:ext>
            </a:extLst>
          </p:cNvPr>
          <p:cNvSpPr>
            <a:spLocks noGrp="1"/>
          </p:cNvSpPr>
          <p:nvPr>
            <p:ph type="title"/>
          </p:nvPr>
        </p:nvSpPr>
        <p:spPr/>
        <p:txBody>
          <a:bodyPr>
            <a:normAutofit fontScale="90000"/>
          </a:bodyPr>
          <a:lstStyle/>
          <a:p>
            <a:r>
              <a:rPr lang="fr-FR" b="1" dirty="0"/>
              <a:t>Transition d’un cluster avec un vSphere Distributed Switch</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4FE355E1-55F5-48D6-1130-8CE582B9492A}"/>
              </a:ext>
            </a:extLst>
          </p:cNvPr>
          <p:cNvSpPr>
            <a:spLocks noGrp="1"/>
          </p:cNvSpPr>
          <p:nvPr>
            <p:ph idx="1"/>
          </p:nvPr>
        </p:nvSpPr>
        <p:spPr/>
        <p:txBody>
          <a:bodyPr/>
          <a:lstStyle/>
          <a:p>
            <a:r>
              <a:rPr lang="fr-FR" dirty="0"/>
              <a:t>Un cluster existant configuré pour utiliser des profils d’hôtes (</a:t>
            </a:r>
            <a:r>
              <a:rPr lang="fr-FR" b="1" dirty="0"/>
              <a:t>Host Profiles</a:t>
            </a:r>
            <a:r>
              <a:rPr lang="fr-FR" dirty="0"/>
              <a:t>) peut être converti afin d’utiliser à la place les </a:t>
            </a:r>
            <a:r>
              <a:rPr lang="fr-FR" b="1" dirty="0"/>
              <a:t>profils de configuration vSphere</a:t>
            </a:r>
            <a:r>
              <a:rPr lang="fr-FR" dirty="0"/>
              <a:t>.</a:t>
            </a:r>
          </a:p>
          <a:p>
            <a:endParaRPr lang="fr-SN" dirty="0"/>
          </a:p>
        </p:txBody>
      </p:sp>
    </p:spTree>
    <p:extLst>
      <p:ext uri="{BB962C8B-B14F-4D97-AF65-F5344CB8AC3E}">
        <p14:creationId xmlns:p14="http://schemas.microsoft.com/office/powerpoint/2010/main" val="4106577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8F0009-199B-8EF4-1B04-5ED5A4C825B4}"/>
              </a:ext>
            </a:extLst>
          </p:cNvPr>
          <p:cNvSpPr>
            <a:spLocks noGrp="1"/>
          </p:cNvSpPr>
          <p:nvPr>
            <p:ph type="title"/>
          </p:nvPr>
        </p:nvSpPr>
        <p:spPr/>
        <p:txBody>
          <a:bodyPr>
            <a:normAutofit fontScale="90000"/>
          </a:bodyPr>
          <a:lstStyle/>
          <a:p>
            <a:r>
              <a:rPr lang="fr-FR" b="1" dirty="0"/>
              <a:t>Transition d’un cluster avec un vSphere Distributed Switch</a:t>
            </a:r>
            <a:br>
              <a:rPr lang="fr-FR" b="1" dirty="0"/>
            </a:br>
            <a:br>
              <a:rPr lang="fr-FR" dirty="0"/>
            </a:br>
            <a:br>
              <a:rPr lang="fr-SN" b="1" dirty="0"/>
            </a:br>
            <a:br>
              <a:rPr lang="fr-SN" dirty="0"/>
            </a:br>
            <a:endParaRPr lang="fr-SN" dirty="0"/>
          </a:p>
        </p:txBody>
      </p:sp>
      <p:sp>
        <p:nvSpPr>
          <p:cNvPr id="3" name="Espace réservé du contenu 2">
            <a:extLst>
              <a:ext uri="{FF2B5EF4-FFF2-40B4-BE49-F238E27FC236}">
                <a16:creationId xmlns:a16="http://schemas.microsoft.com/office/drawing/2014/main" id="{B7984268-BD51-BDAE-B4DD-F9E4E337432D}"/>
              </a:ext>
            </a:extLst>
          </p:cNvPr>
          <p:cNvSpPr>
            <a:spLocks noGrp="1"/>
          </p:cNvSpPr>
          <p:nvPr>
            <p:ph idx="1"/>
          </p:nvPr>
        </p:nvSpPr>
        <p:spPr/>
        <p:txBody>
          <a:bodyPr/>
          <a:lstStyle/>
          <a:p>
            <a:endParaRPr lang="fr-SN"/>
          </a:p>
        </p:txBody>
      </p:sp>
      <p:pic>
        <p:nvPicPr>
          <p:cNvPr id="8194" name="Picture 2">
            <a:extLst>
              <a:ext uri="{FF2B5EF4-FFF2-40B4-BE49-F238E27FC236}">
                <a16:creationId xmlns:a16="http://schemas.microsoft.com/office/drawing/2014/main" id="{E35D4E49-E10D-8344-390A-8854E37E40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2775" y="1985963"/>
            <a:ext cx="5886450" cy="288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084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9B1C3A-4E82-AD91-92DF-6E9AE6E51377}"/>
              </a:ext>
            </a:extLst>
          </p:cNvPr>
          <p:cNvSpPr>
            <a:spLocks noGrp="1"/>
          </p:cNvSpPr>
          <p:nvPr>
            <p:ph type="title"/>
          </p:nvPr>
        </p:nvSpPr>
        <p:spPr/>
        <p:txBody>
          <a:bodyPr>
            <a:normAutofit fontScale="90000"/>
          </a:bodyPr>
          <a:lstStyle/>
          <a:p>
            <a:r>
              <a:rPr lang="fr-FR" b="1" dirty="0"/>
              <a:t>État de santé du service vSphere Configuration Profiles</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F2382F7D-F3D9-19BD-4CBA-48283549DC94}"/>
              </a:ext>
            </a:extLst>
          </p:cNvPr>
          <p:cNvSpPr>
            <a:spLocks noGrp="1"/>
          </p:cNvSpPr>
          <p:nvPr>
            <p:ph idx="1"/>
          </p:nvPr>
        </p:nvSpPr>
        <p:spPr/>
        <p:txBody>
          <a:bodyPr>
            <a:normAutofit/>
          </a:bodyPr>
          <a:lstStyle/>
          <a:p>
            <a:r>
              <a:rPr lang="fr-SN" b="1" dirty="0"/>
              <a:t>vSphere Configuration Profiles</a:t>
            </a:r>
            <a:r>
              <a:rPr lang="fr-SN" dirty="0"/>
              <a:t> est fourni par le service </a:t>
            </a:r>
            <a:r>
              <a:rPr lang="fr-SN" b="1" dirty="0"/>
              <a:t>VMware vSphere Update Manager</a:t>
            </a:r>
            <a:r>
              <a:rPr lang="fr-SN" dirty="0"/>
              <a:t>.</a:t>
            </a:r>
          </a:p>
          <a:p>
            <a:r>
              <a:rPr lang="fr-SN" dirty="0"/>
              <a:t>Les messages de journal (</a:t>
            </a:r>
            <a:r>
              <a:rPr lang="fr-SN" b="1" dirty="0"/>
              <a:t>log messages</a:t>
            </a:r>
            <a:r>
              <a:rPr lang="fr-SN" dirty="0"/>
              <a:t>) sont principalement enregistrés dans le fichier</a:t>
            </a:r>
            <a:br>
              <a:rPr lang="fr-SN" dirty="0"/>
            </a:br>
            <a:r>
              <a:rPr lang="fr-SN" dirty="0"/>
              <a:t>vmware-vum-server-XX.log situé dans le répertoire suivant sur le vCenter : /var/log/</a:t>
            </a:r>
            <a:r>
              <a:rPr lang="fr-SN" dirty="0" err="1"/>
              <a:t>vmware</a:t>
            </a:r>
            <a:r>
              <a:rPr lang="fr-SN" dirty="0"/>
              <a:t>/</a:t>
            </a:r>
            <a:r>
              <a:rPr lang="fr-SN" dirty="0" err="1"/>
              <a:t>vmware-updatemgr</a:t>
            </a:r>
            <a:r>
              <a:rPr lang="fr-SN" dirty="0"/>
              <a:t>/</a:t>
            </a:r>
            <a:r>
              <a:rPr lang="fr-SN" dirty="0" err="1"/>
              <a:t>vum</a:t>
            </a:r>
            <a:r>
              <a:rPr lang="fr-SN" dirty="0"/>
              <a:t>-server/</a:t>
            </a:r>
          </a:p>
          <a:p>
            <a:endParaRPr lang="fr-SN" dirty="0"/>
          </a:p>
        </p:txBody>
      </p:sp>
    </p:spTree>
    <p:extLst>
      <p:ext uri="{BB962C8B-B14F-4D97-AF65-F5344CB8AC3E}">
        <p14:creationId xmlns:p14="http://schemas.microsoft.com/office/powerpoint/2010/main" val="1220792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E3AB52-4851-6BBB-4F8F-2ED2594780CB}"/>
              </a:ext>
            </a:extLst>
          </p:cNvPr>
          <p:cNvSpPr>
            <a:spLocks noGrp="1"/>
          </p:cNvSpPr>
          <p:nvPr>
            <p:ph type="title"/>
          </p:nvPr>
        </p:nvSpPr>
        <p:spPr/>
        <p:txBody>
          <a:bodyPr>
            <a:normAutofit fontScale="90000"/>
          </a:bodyPr>
          <a:lstStyle/>
          <a:p>
            <a:r>
              <a:rPr lang="fr-FR" b="1" dirty="0"/>
              <a:t>État de santé du service vSphere Configuration Profiles</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A8E5FE8B-46C9-34E1-B566-B473ECB9B5B6}"/>
              </a:ext>
            </a:extLst>
          </p:cNvPr>
          <p:cNvSpPr>
            <a:spLocks noGrp="1"/>
          </p:cNvSpPr>
          <p:nvPr>
            <p:ph idx="1"/>
          </p:nvPr>
        </p:nvSpPr>
        <p:spPr/>
        <p:txBody>
          <a:bodyPr/>
          <a:lstStyle/>
          <a:p>
            <a:endParaRPr lang="fr-SN" dirty="0"/>
          </a:p>
        </p:txBody>
      </p:sp>
      <p:pic>
        <p:nvPicPr>
          <p:cNvPr id="4" name="Picture 2">
            <a:extLst>
              <a:ext uri="{FF2B5EF4-FFF2-40B4-BE49-F238E27FC236}">
                <a16:creationId xmlns:a16="http://schemas.microsoft.com/office/drawing/2014/main" id="{1D15C785-AE14-E188-AC51-4DDC227D6F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1350" y="2928938"/>
            <a:ext cx="5829300" cy="1000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6647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9C9252-05F8-8AB2-A7CA-7777EE58291A}"/>
              </a:ext>
            </a:extLst>
          </p:cNvPr>
          <p:cNvSpPr>
            <a:spLocks noGrp="1"/>
          </p:cNvSpPr>
          <p:nvPr>
            <p:ph type="title"/>
          </p:nvPr>
        </p:nvSpPr>
        <p:spPr/>
        <p:txBody>
          <a:bodyPr>
            <a:normAutofit fontScale="90000"/>
          </a:bodyPr>
          <a:lstStyle/>
          <a:p>
            <a:r>
              <a:rPr lang="fr-FR" b="1" dirty="0"/>
              <a:t>À propos des Host Profiles</a:t>
            </a:r>
            <a:br>
              <a:rPr lang="fr-FR" b="1" dirty="0"/>
            </a:br>
            <a:br>
              <a:rPr lang="fr-FR" dirty="0"/>
            </a:b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0A4F7FF7-9354-73B1-1E62-42AFE7D36EDD}"/>
              </a:ext>
            </a:extLst>
          </p:cNvPr>
          <p:cNvSpPr>
            <a:spLocks noGrp="1"/>
          </p:cNvSpPr>
          <p:nvPr>
            <p:ph idx="1"/>
          </p:nvPr>
        </p:nvSpPr>
        <p:spPr/>
        <p:txBody>
          <a:bodyPr/>
          <a:lstStyle/>
          <a:p>
            <a:r>
              <a:rPr lang="fr-FR" dirty="0"/>
              <a:t>Introduits avec </a:t>
            </a:r>
            <a:r>
              <a:rPr lang="fr-FR" b="1" dirty="0"/>
              <a:t>vSphere 4.0</a:t>
            </a:r>
            <a:r>
              <a:rPr lang="fr-FR" dirty="0"/>
              <a:t>, les </a:t>
            </a:r>
            <a:r>
              <a:rPr lang="fr-FR" b="1" dirty="0"/>
              <a:t>Host Profiles</a:t>
            </a:r>
            <a:r>
              <a:rPr lang="fr-FR" dirty="0"/>
              <a:t> sont désormais les prédécesseurs des </a:t>
            </a:r>
            <a:r>
              <a:rPr lang="fr-FR" b="1" dirty="0"/>
              <a:t>vSphere Configuration Profiles</a:t>
            </a:r>
            <a:r>
              <a:rPr lang="fr-FR" dirty="0"/>
              <a:t>.</a:t>
            </a:r>
          </a:p>
          <a:p>
            <a:r>
              <a:rPr lang="fr-FR" dirty="0"/>
              <a:t>Les </a:t>
            </a:r>
            <a:r>
              <a:rPr lang="fr-FR" b="1" dirty="0"/>
              <a:t>Host Profiles</a:t>
            </a:r>
            <a:r>
              <a:rPr lang="fr-FR" dirty="0"/>
              <a:t> sont également utilisés pour automatiser et centraliser la gestion de la configuration des hôtes ainsi que la conformité de cette configuration.</a:t>
            </a:r>
            <a:br>
              <a:rPr lang="fr-FR" dirty="0"/>
            </a:br>
            <a:r>
              <a:rPr lang="fr-FR" dirty="0"/>
              <a:t>Tout comme les </a:t>
            </a:r>
            <a:r>
              <a:rPr lang="fr-FR" b="1" dirty="0"/>
              <a:t>vSphere Configuration Profiles</a:t>
            </a:r>
            <a:r>
              <a:rPr lang="fr-FR" dirty="0"/>
              <a:t>, les </a:t>
            </a:r>
            <a:r>
              <a:rPr lang="fr-FR" b="1" dirty="0"/>
              <a:t>Host Profiles</a:t>
            </a:r>
            <a:r>
              <a:rPr lang="fr-FR" dirty="0"/>
              <a:t> présentent de nombreux avantages :</a:t>
            </a:r>
          </a:p>
          <a:p>
            <a:r>
              <a:rPr lang="fr-FR" dirty="0"/>
              <a:t>Configuration et gestion des modifications simplifiées pour les hôtes </a:t>
            </a:r>
            <a:r>
              <a:rPr lang="fr-FR" b="1" dirty="0"/>
              <a:t>ESXi</a:t>
            </a:r>
            <a:endParaRPr lang="fr-FR" dirty="0"/>
          </a:p>
          <a:p>
            <a:r>
              <a:rPr lang="fr-FR" dirty="0"/>
              <a:t>Détection facilitée de la non-conformité par rapport aux configurations standard</a:t>
            </a:r>
          </a:p>
          <a:p>
            <a:r>
              <a:rPr lang="fr-FR" dirty="0" err="1"/>
              <a:t>Rémédiation</a:t>
            </a:r>
            <a:r>
              <a:rPr lang="fr-FR" dirty="0"/>
              <a:t> automatisée</a:t>
            </a:r>
          </a:p>
          <a:p>
            <a:endParaRPr lang="fr-SN" dirty="0"/>
          </a:p>
        </p:txBody>
      </p:sp>
    </p:spTree>
    <p:extLst>
      <p:ext uri="{BB962C8B-B14F-4D97-AF65-F5344CB8AC3E}">
        <p14:creationId xmlns:p14="http://schemas.microsoft.com/office/powerpoint/2010/main" val="3508320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90D991-CA74-6E9E-A5D9-D8AA63B2DDD8}"/>
              </a:ext>
            </a:extLst>
          </p:cNvPr>
          <p:cNvSpPr>
            <a:spLocks noGrp="1"/>
          </p:cNvSpPr>
          <p:nvPr>
            <p:ph type="title"/>
          </p:nvPr>
        </p:nvSpPr>
        <p:spPr/>
        <p:txBody>
          <a:bodyPr>
            <a:normAutofit fontScale="90000"/>
          </a:bodyPr>
          <a:lstStyle/>
          <a:p>
            <a:r>
              <a:rPr lang="fr-FR" b="1" dirty="0"/>
              <a:t>À propos des Host Profiles</a:t>
            </a:r>
            <a:br>
              <a:rPr lang="fr-FR" b="1" dirty="0"/>
            </a:br>
            <a:br>
              <a:rPr lang="fr-FR" dirty="0"/>
            </a:br>
            <a:br>
              <a:rPr lang="fr-FR" b="1" dirty="0"/>
            </a:br>
            <a:br>
              <a:rPr lang="fr-FR" dirty="0"/>
            </a:br>
            <a:endParaRPr lang="fr-SN" dirty="0"/>
          </a:p>
        </p:txBody>
      </p:sp>
      <p:pic>
        <p:nvPicPr>
          <p:cNvPr id="11266" name="Picture 2">
            <a:extLst>
              <a:ext uri="{FF2B5EF4-FFF2-40B4-BE49-F238E27FC236}">
                <a16:creationId xmlns:a16="http://schemas.microsoft.com/office/drawing/2014/main" id="{40632FD2-C581-B626-0092-9FAABF6104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37478" y="2133600"/>
            <a:ext cx="5018870" cy="377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518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D8EA3D-4BFF-2F25-69F9-1D7D5A5B7FD1}"/>
              </a:ext>
            </a:extLst>
          </p:cNvPr>
          <p:cNvSpPr>
            <a:spLocks noGrp="1"/>
          </p:cNvSpPr>
          <p:nvPr>
            <p:ph type="title"/>
          </p:nvPr>
        </p:nvSpPr>
        <p:spPr/>
        <p:txBody>
          <a:bodyPr>
            <a:normAutofit fontScale="90000"/>
          </a:bodyPr>
          <a:lstStyle/>
          <a:p>
            <a:r>
              <a:rPr lang="fr-FR" b="1" dirty="0"/>
              <a:t>Exportation des configurations de Distributed Switch</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50423E26-BAE6-C8D7-AAD4-7F58F828FE9E}"/>
              </a:ext>
            </a:extLst>
          </p:cNvPr>
          <p:cNvSpPr>
            <a:spLocks noGrp="1"/>
          </p:cNvSpPr>
          <p:nvPr>
            <p:ph idx="1"/>
          </p:nvPr>
        </p:nvSpPr>
        <p:spPr/>
        <p:txBody>
          <a:bodyPr>
            <a:normAutofit fontScale="92500" lnSpcReduction="10000"/>
          </a:bodyPr>
          <a:lstStyle/>
          <a:p>
            <a:pPr marL="0" indent="0">
              <a:buNone/>
            </a:pPr>
            <a:r>
              <a:rPr lang="fr-FR" dirty="0"/>
              <a:t>Au fil du temps, votre environnement </a:t>
            </a:r>
            <a:r>
              <a:rPr lang="fr-FR" b="1" dirty="0"/>
              <a:t>vSphere</a:t>
            </a:r>
            <a:r>
              <a:rPr lang="fr-FR" dirty="0"/>
              <a:t> évolue et s’étend. De nouveaux hôtes sont ajoutés au centre de données et doivent être configurés pour coexister avec les autres hôtes du cluster. Par exemple :</a:t>
            </a:r>
          </a:p>
          <a:p>
            <a:r>
              <a:rPr lang="fr-FR" b="1" dirty="0"/>
              <a:t>Stockage</a:t>
            </a:r>
            <a:r>
              <a:rPr lang="fr-FR" dirty="0"/>
              <a:t> : datastores tels que </a:t>
            </a:r>
            <a:r>
              <a:rPr lang="fr-FR" b="1" dirty="0"/>
              <a:t>VMFS</a:t>
            </a:r>
            <a:r>
              <a:rPr lang="fr-FR" dirty="0"/>
              <a:t> et </a:t>
            </a:r>
            <a:r>
              <a:rPr lang="fr-FR" b="1" dirty="0"/>
              <a:t>NFS</a:t>
            </a:r>
            <a:r>
              <a:rPr lang="fr-FR" dirty="0"/>
              <a:t>, initiateurs et cibles </a:t>
            </a:r>
            <a:r>
              <a:rPr lang="fr-FR" b="1" dirty="0"/>
              <a:t>iSCSI</a:t>
            </a:r>
            <a:r>
              <a:rPr lang="fr-FR" dirty="0"/>
              <a:t>, et </a:t>
            </a:r>
            <a:r>
              <a:rPr lang="fr-FR" dirty="0" err="1"/>
              <a:t>multipathing</a:t>
            </a:r>
            <a:endParaRPr lang="fr-FR" dirty="0"/>
          </a:p>
          <a:p>
            <a:r>
              <a:rPr lang="fr-FR" b="1" dirty="0"/>
              <a:t>Réseau</a:t>
            </a:r>
            <a:r>
              <a:rPr lang="fr-FR" dirty="0"/>
              <a:t> : commutateurs virtuels, </a:t>
            </a:r>
            <a:r>
              <a:rPr lang="fr-FR" b="1" dirty="0"/>
              <a:t>port groups</a:t>
            </a:r>
            <a:r>
              <a:rPr lang="fr-FR" dirty="0"/>
              <a:t>, vitesse des cartes réseau physiques (</a:t>
            </a:r>
            <a:r>
              <a:rPr lang="fr-FR" b="1" dirty="0"/>
              <a:t>NIC</a:t>
            </a:r>
            <a:r>
              <a:rPr lang="fr-FR" dirty="0"/>
              <a:t>), sécurité, stratégies d’agrégation (</a:t>
            </a:r>
            <a:r>
              <a:rPr lang="fr-FR" b="1" dirty="0"/>
              <a:t>NIC teaming </a:t>
            </a:r>
            <a:r>
              <a:rPr lang="fr-FR" b="1" dirty="0" err="1"/>
              <a:t>policies</a:t>
            </a:r>
            <a:r>
              <a:rPr lang="fr-FR" dirty="0"/>
              <a:t>), etc.</a:t>
            </a:r>
          </a:p>
          <a:p>
            <a:r>
              <a:rPr lang="fr-FR" b="1" dirty="0"/>
              <a:t>Licences</a:t>
            </a:r>
            <a:r>
              <a:rPr lang="fr-FR" dirty="0"/>
              <a:t> : sélection de l’édition, saisie de la clé de licence, etc.</a:t>
            </a:r>
          </a:p>
          <a:p>
            <a:r>
              <a:rPr lang="fr-FR" b="1" dirty="0"/>
              <a:t>Configuration de la date et de l’heure</a:t>
            </a:r>
            <a:r>
              <a:rPr lang="fr-FR" dirty="0"/>
              <a:t> : serveur </a:t>
            </a:r>
            <a:r>
              <a:rPr lang="fr-FR" b="1" dirty="0"/>
              <a:t>Network Time Protocol (NTP)</a:t>
            </a:r>
            <a:endParaRPr lang="fr-FR" dirty="0"/>
          </a:p>
          <a:p>
            <a:r>
              <a:rPr lang="fr-FR" b="1" dirty="0"/>
              <a:t>Paramètres de sécurité</a:t>
            </a:r>
            <a:r>
              <a:rPr lang="fr-FR" dirty="0"/>
              <a:t> : paramètres du pare-feu, configuration </a:t>
            </a:r>
            <a:r>
              <a:rPr lang="fr-FR" b="1" dirty="0"/>
              <a:t>Active Directory</a:t>
            </a:r>
            <a:r>
              <a:rPr lang="fr-FR" dirty="0"/>
              <a:t>, services </a:t>
            </a:r>
            <a:r>
              <a:rPr lang="fr-FR" b="1" dirty="0"/>
              <a:t>ESXi</a:t>
            </a:r>
            <a:r>
              <a:rPr lang="fr-FR" dirty="0"/>
              <a:t>, etc.</a:t>
            </a:r>
          </a:p>
          <a:p>
            <a:r>
              <a:rPr lang="fr-FR" b="1" dirty="0"/>
              <a:t>DNS et routage</a:t>
            </a:r>
            <a:r>
              <a:rPr lang="fr-FR" dirty="0"/>
              <a:t> : serveur </a:t>
            </a:r>
            <a:r>
              <a:rPr lang="fr-FR" b="1" dirty="0"/>
              <a:t>DNS</a:t>
            </a:r>
            <a:r>
              <a:rPr lang="fr-FR" dirty="0"/>
              <a:t>, passerelle par défaut </a:t>
            </a:r>
            <a:r>
              <a:rPr lang="fr-FR" b="1" dirty="0"/>
              <a:t>IP</a:t>
            </a:r>
            <a:r>
              <a:rPr lang="fr-FR" dirty="0"/>
              <a:t>, etc.</a:t>
            </a:r>
          </a:p>
          <a:p>
            <a:endParaRPr lang="fr-SN" dirty="0"/>
          </a:p>
        </p:txBody>
      </p:sp>
    </p:spTree>
    <p:extLst>
      <p:ext uri="{BB962C8B-B14F-4D97-AF65-F5344CB8AC3E}">
        <p14:creationId xmlns:p14="http://schemas.microsoft.com/office/powerpoint/2010/main" val="3684660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5C7CDF-F3F2-7D83-3A0B-E03EB477CC74}"/>
              </a:ext>
            </a:extLst>
          </p:cNvPr>
          <p:cNvSpPr>
            <a:spLocks noGrp="1"/>
          </p:cNvSpPr>
          <p:nvPr>
            <p:ph type="title"/>
          </p:nvPr>
        </p:nvSpPr>
        <p:spPr/>
        <p:txBody>
          <a:bodyPr>
            <a:normAutofit fontScale="90000"/>
          </a:bodyPr>
          <a:lstStyle/>
          <a:p>
            <a:r>
              <a:rPr lang="fr-FR" b="1" dirty="0"/>
              <a:t>À propos des Host Profiles</a:t>
            </a:r>
            <a:br>
              <a:rPr lang="fr-FR" b="1" dirty="0"/>
            </a:br>
            <a:br>
              <a:rPr lang="fr-FR" dirty="0"/>
            </a:b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805F6088-6E5A-19AB-83C3-FCBB5FA6319B}"/>
              </a:ext>
            </a:extLst>
          </p:cNvPr>
          <p:cNvSpPr>
            <a:spLocks noGrp="1"/>
          </p:cNvSpPr>
          <p:nvPr>
            <p:ph idx="1"/>
          </p:nvPr>
        </p:nvSpPr>
        <p:spPr/>
        <p:txBody>
          <a:bodyPr>
            <a:normAutofit fontScale="77500" lnSpcReduction="20000"/>
          </a:bodyPr>
          <a:lstStyle/>
          <a:p>
            <a:pPr marL="0" indent="0">
              <a:buNone/>
            </a:pPr>
            <a:r>
              <a:rPr lang="fr-FR" dirty="0"/>
              <a:t>Traditionnellement, vous modifiiez la configuration d’un seul hôte :</a:t>
            </a:r>
          </a:p>
          <a:p>
            <a:r>
              <a:rPr lang="fr-FR" b="1" dirty="0"/>
              <a:t>Manuellement</a:t>
            </a:r>
            <a:r>
              <a:rPr lang="fr-FR" dirty="0"/>
              <a:t>, à l’aide du </a:t>
            </a:r>
            <a:r>
              <a:rPr lang="fr-FR" b="1" dirty="0"/>
              <a:t>vSphere Client</a:t>
            </a:r>
            <a:r>
              <a:rPr lang="fr-FR" dirty="0"/>
              <a:t> ou de la ligne de commande</a:t>
            </a:r>
          </a:p>
          <a:p>
            <a:r>
              <a:rPr lang="fr-FR" b="1" dirty="0"/>
              <a:t>Automatiquement</a:t>
            </a:r>
            <a:r>
              <a:rPr lang="fr-FR" dirty="0"/>
              <a:t>, à l’aide de scripts</a:t>
            </a:r>
          </a:p>
          <a:p>
            <a:pPr marL="0" indent="0">
              <a:buNone/>
            </a:pPr>
            <a:r>
              <a:rPr lang="fr-FR" dirty="0"/>
              <a:t>Grâce à la fonctionnalité </a:t>
            </a:r>
            <a:r>
              <a:rPr lang="fr-FR" b="1" dirty="0"/>
              <a:t>Host Profiles</a:t>
            </a:r>
            <a:r>
              <a:rPr lang="fr-FR" dirty="0"/>
              <a:t>, vous pouvez exporter les paramètres de configuration d’un hôte de référence principal et les enregistrer sous forme d’un ensemble de règles portables appelé </a:t>
            </a:r>
            <a:r>
              <a:rPr lang="fr-FR" b="1" dirty="0"/>
              <a:t>host profile</a:t>
            </a:r>
            <a:r>
              <a:rPr lang="fr-FR" dirty="0"/>
              <a:t>. Vous pouvez ensuite utiliser ce profil pour configurer rapidement d’autres hôtes dans le centre de données.</a:t>
            </a:r>
            <a:br>
              <a:rPr lang="fr-FR" dirty="0"/>
            </a:br>
            <a:r>
              <a:rPr lang="fr-FR" dirty="0"/>
              <a:t>Configurer des hôtes à l’aide de cette méthode réduit considérablement le temps de configuration de nouveaux hôtes. Plusieurs étapes sont regroupées en un seul clic. Les </a:t>
            </a:r>
            <a:r>
              <a:rPr lang="fr-FR" b="1" dirty="0"/>
              <a:t>Host Profiles</a:t>
            </a:r>
            <a:r>
              <a:rPr lang="fr-FR" dirty="0"/>
              <a:t> éliminent également le besoin de créer des scripts spécialisés pour configurer les hôtes.</a:t>
            </a:r>
          </a:p>
          <a:p>
            <a:pPr marL="0" indent="0">
              <a:buNone/>
            </a:pPr>
            <a:r>
              <a:rPr lang="fr-FR" dirty="0"/>
              <a:t>Le système </a:t>
            </a:r>
            <a:r>
              <a:rPr lang="fr-FR" b="1" dirty="0"/>
              <a:t>vCenter</a:t>
            </a:r>
            <a:r>
              <a:rPr lang="fr-FR" dirty="0"/>
              <a:t> utilise les </a:t>
            </a:r>
            <a:r>
              <a:rPr lang="fr-FR" b="1" dirty="0"/>
              <a:t>Host Profiles</a:t>
            </a:r>
            <a:r>
              <a:rPr lang="fr-FR" dirty="0"/>
              <a:t> comme base de configuration des hôtes, ce qui permet de surveiller les changements de configuration, de détecter les écarts et de les corriger.</a:t>
            </a:r>
          </a:p>
          <a:p>
            <a:pPr marL="0" indent="0">
              <a:buNone/>
            </a:pPr>
            <a:r>
              <a:rPr lang="fr-FR" dirty="0"/>
              <a:t>En tant que fonctionnalité sous licence de </a:t>
            </a:r>
            <a:r>
              <a:rPr lang="fr-FR" b="1" dirty="0"/>
              <a:t>vSphere</a:t>
            </a:r>
            <a:r>
              <a:rPr lang="fr-FR" dirty="0"/>
              <a:t>, les </a:t>
            </a:r>
            <a:r>
              <a:rPr lang="fr-FR" b="1" dirty="0"/>
              <a:t>Host Profiles</a:t>
            </a:r>
            <a:r>
              <a:rPr lang="fr-FR" dirty="0"/>
              <a:t> ne sont disponibles qu’avec la licence </a:t>
            </a:r>
            <a:r>
              <a:rPr lang="fr-FR" b="1" dirty="0"/>
              <a:t>Enterprise Plus</a:t>
            </a:r>
            <a:r>
              <a:rPr lang="fr-FR" dirty="0"/>
              <a:t>.</a:t>
            </a:r>
            <a:br>
              <a:rPr lang="fr-FR" dirty="0"/>
            </a:br>
            <a:r>
              <a:rPr lang="fr-FR" dirty="0"/>
              <a:t>Si vous rencontrez des erreurs, assurez-vous que vos hôtes disposent de la licence </a:t>
            </a:r>
            <a:r>
              <a:rPr lang="fr-FR" b="1" dirty="0"/>
              <a:t>vSphere</a:t>
            </a:r>
            <a:r>
              <a:rPr lang="fr-FR" dirty="0"/>
              <a:t> appropriée.</a:t>
            </a:r>
          </a:p>
          <a:p>
            <a:pPr marL="0" indent="0">
              <a:buNone/>
            </a:pPr>
            <a:endParaRPr lang="fr-SN" dirty="0"/>
          </a:p>
        </p:txBody>
      </p:sp>
    </p:spTree>
    <p:extLst>
      <p:ext uri="{BB962C8B-B14F-4D97-AF65-F5344CB8AC3E}">
        <p14:creationId xmlns:p14="http://schemas.microsoft.com/office/powerpoint/2010/main" val="3392463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FAABB1-8AF7-663F-5604-E88F763A37E6}"/>
              </a:ext>
            </a:extLst>
          </p:cNvPr>
          <p:cNvSpPr>
            <a:spLocks noGrp="1"/>
          </p:cNvSpPr>
          <p:nvPr>
            <p:ph type="title"/>
          </p:nvPr>
        </p:nvSpPr>
        <p:spPr/>
        <p:txBody>
          <a:bodyPr>
            <a:normAutofit fontScale="90000"/>
          </a:bodyPr>
          <a:lstStyle/>
          <a:p>
            <a:r>
              <a:rPr lang="fr-FR" b="1" dirty="0"/>
              <a:t>Restauration et importation des configurations de Distributed Switch</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5DD84400-87CA-E3E7-607B-7D571056038F}"/>
              </a:ext>
            </a:extLst>
          </p:cNvPr>
          <p:cNvSpPr>
            <a:spLocks noGrp="1"/>
          </p:cNvSpPr>
          <p:nvPr>
            <p:ph idx="1"/>
          </p:nvPr>
        </p:nvSpPr>
        <p:spPr/>
        <p:txBody>
          <a:bodyPr>
            <a:normAutofit fontScale="92500" lnSpcReduction="20000"/>
          </a:bodyPr>
          <a:lstStyle/>
          <a:p>
            <a:r>
              <a:rPr lang="fr-FR" dirty="0"/>
              <a:t>Grâce à la fonctionnalité </a:t>
            </a:r>
            <a:r>
              <a:rPr lang="fr-FR" b="1" dirty="0"/>
              <a:t>Host Profiles</a:t>
            </a:r>
            <a:r>
              <a:rPr lang="fr-FR" dirty="0"/>
              <a:t>, vous pouvez exporter les paramètres de configuration d’un hôte de référence principal et les enregistrer sous forme d’un ensemble de règles portables appelé </a:t>
            </a:r>
            <a:r>
              <a:rPr lang="fr-FR" b="1" dirty="0"/>
              <a:t>host profile</a:t>
            </a:r>
            <a:r>
              <a:rPr lang="fr-FR" dirty="0"/>
              <a:t>. Vous pouvez ensuite utiliser ce profil pour configurer rapidement d’autres hôtes dans le centre de données.</a:t>
            </a:r>
            <a:br>
              <a:rPr lang="fr-FR" dirty="0"/>
            </a:br>
            <a:r>
              <a:rPr lang="fr-FR" dirty="0"/>
              <a:t>Configurer des hôtes à l’aide de cette méthode réduit considérablement le temps de configuration de nouveaux hôtes. Plusieurs étapes sont regroupées en un seul clic. Les </a:t>
            </a:r>
            <a:r>
              <a:rPr lang="fr-FR" b="1" dirty="0"/>
              <a:t>Host Profiles</a:t>
            </a:r>
            <a:r>
              <a:rPr lang="fr-FR" dirty="0"/>
              <a:t> éliminent également le besoin de créer des scripts spécialisés pour configurer les hôtes.</a:t>
            </a:r>
          </a:p>
          <a:p>
            <a:r>
              <a:rPr lang="fr-FR" dirty="0"/>
              <a:t>Le système </a:t>
            </a:r>
            <a:r>
              <a:rPr lang="fr-FR" b="1" dirty="0"/>
              <a:t>vCenter</a:t>
            </a:r>
            <a:r>
              <a:rPr lang="fr-FR" dirty="0"/>
              <a:t> utilise les </a:t>
            </a:r>
            <a:r>
              <a:rPr lang="fr-FR" b="1" dirty="0"/>
              <a:t>Host Profiles</a:t>
            </a:r>
            <a:r>
              <a:rPr lang="fr-FR" dirty="0"/>
              <a:t> comme base de configuration des hôtes, ce qui permet de surveiller les changements de configuration, de détecter les écarts et de les corriger.</a:t>
            </a:r>
          </a:p>
          <a:p>
            <a:r>
              <a:rPr lang="fr-FR" dirty="0"/>
              <a:t>En tant que fonctionnalité sous licence de </a:t>
            </a:r>
            <a:r>
              <a:rPr lang="fr-FR" b="1" dirty="0"/>
              <a:t>vSphere</a:t>
            </a:r>
            <a:r>
              <a:rPr lang="fr-FR" dirty="0"/>
              <a:t>, les </a:t>
            </a:r>
            <a:r>
              <a:rPr lang="fr-FR" b="1" dirty="0"/>
              <a:t>Host Profiles</a:t>
            </a:r>
            <a:r>
              <a:rPr lang="fr-FR" dirty="0"/>
              <a:t> ne sont disponibles qu’avec la licence </a:t>
            </a:r>
            <a:r>
              <a:rPr lang="fr-FR" b="1" dirty="0"/>
              <a:t>Enterprise Plus</a:t>
            </a:r>
            <a:r>
              <a:rPr lang="fr-FR" dirty="0"/>
              <a:t>.</a:t>
            </a:r>
            <a:br>
              <a:rPr lang="fr-FR" dirty="0"/>
            </a:br>
            <a:r>
              <a:rPr lang="fr-FR" dirty="0"/>
              <a:t>Si vous rencontrez des erreurs, assurez-vous que vos hôtes disposent de la licence </a:t>
            </a:r>
            <a:r>
              <a:rPr lang="fr-FR" b="1" dirty="0"/>
              <a:t>vSphere</a:t>
            </a:r>
            <a:r>
              <a:rPr lang="fr-FR" dirty="0"/>
              <a:t> appropriée.</a:t>
            </a:r>
          </a:p>
          <a:p>
            <a:endParaRPr lang="fr-SN" dirty="0"/>
          </a:p>
        </p:txBody>
      </p:sp>
    </p:spTree>
    <p:extLst>
      <p:ext uri="{BB962C8B-B14F-4D97-AF65-F5344CB8AC3E}">
        <p14:creationId xmlns:p14="http://schemas.microsoft.com/office/powerpoint/2010/main" val="2934851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8937DB-ED6C-40FF-4570-849A85A86352}"/>
              </a:ext>
            </a:extLst>
          </p:cNvPr>
          <p:cNvSpPr>
            <a:spLocks noGrp="1"/>
          </p:cNvSpPr>
          <p:nvPr>
            <p:ph type="title"/>
          </p:nvPr>
        </p:nvSpPr>
        <p:spPr/>
        <p:txBody>
          <a:bodyPr>
            <a:normAutofit fontScale="90000"/>
          </a:bodyPr>
          <a:lstStyle/>
          <a:p>
            <a:r>
              <a:rPr lang="fr-FR" b="1" dirty="0"/>
              <a:t>Mise en œuvre des Host Profiles</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32E42694-1571-F047-3B07-6F99B7BCFCCA}"/>
              </a:ext>
            </a:extLst>
          </p:cNvPr>
          <p:cNvSpPr>
            <a:spLocks noGrp="1"/>
          </p:cNvSpPr>
          <p:nvPr>
            <p:ph idx="1"/>
          </p:nvPr>
        </p:nvSpPr>
        <p:spPr/>
        <p:txBody>
          <a:bodyPr/>
          <a:lstStyle/>
          <a:p>
            <a:r>
              <a:rPr lang="fr-FR" dirty="0"/>
              <a:t>Vous commencez avec un </a:t>
            </a:r>
            <a:r>
              <a:rPr lang="fr-FR" b="1" dirty="0"/>
              <a:t>hôte de référence</a:t>
            </a:r>
            <a:r>
              <a:rPr lang="fr-FR" dirty="0"/>
              <a:t> pour créer un </a:t>
            </a:r>
            <a:r>
              <a:rPr lang="fr-FR" b="1" dirty="0"/>
              <a:t>host profile</a:t>
            </a:r>
            <a:r>
              <a:rPr lang="fr-FR" dirty="0"/>
              <a:t> qui peut ensuite être appliqué à de nouveaux hôtes.</a:t>
            </a:r>
          </a:p>
          <a:p>
            <a:br>
              <a:rPr lang="fr-FR" dirty="0"/>
            </a:br>
            <a:endParaRPr lang="fr-SN" dirty="0"/>
          </a:p>
        </p:txBody>
      </p:sp>
    </p:spTree>
    <p:extLst>
      <p:ext uri="{BB962C8B-B14F-4D97-AF65-F5344CB8AC3E}">
        <p14:creationId xmlns:p14="http://schemas.microsoft.com/office/powerpoint/2010/main" val="24765865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37091B-F76F-E4B3-2CC5-983412FCFFDF}"/>
              </a:ext>
            </a:extLst>
          </p:cNvPr>
          <p:cNvSpPr>
            <a:spLocks noGrp="1"/>
          </p:cNvSpPr>
          <p:nvPr>
            <p:ph type="title"/>
          </p:nvPr>
        </p:nvSpPr>
        <p:spPr/>
        <p:txBody>
          <a:bodyPr>
            <a:normAutofit fontScale="90000"/>
          </a:bodyPr>
          <a:lstStyle/>
          <a:p>
            <a:r>
              <a:rPr lang="fr-FR" b="1" dirty="0"/>
              <a:t>Mise en œuvre des Host Profiles</a:t>
            </a:r>
            <a:br>
              <a:rPr lang="fr-FR" b="1" dirty="0"/>
            </a:br>
            <a:br>
              <a:rPr lang="fr-FR" dirty="0"/>
            </a:br>
            <a:br>
              <a:rPr lang="fr-FR" b="1" dirty="0"/>
            </a:br>
            <a:br>
              <a:rPr lang="fr-FR" dirty="0"/>
            </a:br>
            <a:endParaRPr lang="fr-SN" dirty="0"/>
          </a:p>
        </p:txBody>
      </p:sp>
      <p:pic>
        <p:nvPicPr>
          <p:cNvPr id="12290" name="Picture 2">
            <a:extLst>
              <a:ext uri="{FF2B5EF4-FFF2-40B4-BE49-F238E27FC236}">
                <a16:creationId xmlns:a16="http://schemas.microsoft.com/office/drawing/2014/main" id="{489A227D-D4A5-AEA6-50CC-1467CD8BD1A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17646" y="2925605"/>
            <a:ext cx="5258534" cy="2257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3511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C05351-D704-54B9-FAC9-1DBC41A7AF3B}"/>
              </a:ext>
            </a:extLst>
          </p:cNvPr>
          <p:cNvSpPr>
            <a:spLocks noGrp="1"/>
          </p:cNvSpPr>
          <p:nvPr>
            <p:ph type="title"/>
          </p:nvPr>
        </p:nvSpPr>
        <p:spPr/>
        <p:txBody>
          <a:bodyPr>
            <a:normAutofit fontScale="90000"/>
          </a:bodyPr>
          <a:lstStyle/>
          <a:p>
            <a:r>
              <a:rPr lang="fr-FR" b="1" dirty="0"/>
              <a:t>Mise en œuvre des Host Profiles</a:t>
            </a:r>
            <a:br>
              <a:rPr lang="fr-FR" b="1" dirty="0"/>
            </a:br>
            <a:br>
              <a:rPr lang="fr-FR" dirty="0"/>
            </a:br>
            <a:br>
              <a:rPr lang="fr-FR" b="1" dirty="0"/>
            </a:br>
            <a:br>
              <a:rPr lang="fr-FR" dirty="0"/>
            </a:br>
            <a:br>
              <a:rPr lang="pt-BR" b="1" dirty="0"/>
            </a:br>
            <a:br>
              <a:rPr lang="pt-BR" dirty="0"/>
            </a:br>
            <a:endParaRPr lang="fr-SN" dirty="0"/>
          </a:p>
        </p:txBody>
      </p:sp>
      <p:sp>
        <p:nvSpPr>
          <p:cNvPr id="3" name="Espace réservé du contenu 2">
            <a:extLst>
              <a:ext uri="{FF2B5EF4-FFF2-40B4-BE49-F238E27FC236}">
                <a16:creationId xmlns:a16="http://schemas.microsoft.com/office/drawing/2014/main" id="{63B397AB-360F-F777-1B55-5DA8C61B9658}"/>
              </a:ext>
            </a:extLst>
          </p:cNvPr>
          <p:cNvSpPr>
            <a:spLocks noGrp="1"/>
          </p:cNvSpPr>
          <p:nvPr>
            <p:ph idx="1"/>
          </p:nvPr>
        </p:nvSpPr>
        <p:spPr/>
        <p:txBody>
          <a:bodyPr>
            <a:normAutofit fontScale="85000" lnSpcReduction="20000"/>
          </a:bodyPr>
          <a:lstStyle/>
          <a:p>
            <a:pPr marL="0" indent="0">
              <a:buNone/>
            </a:pPr>
            <a:r>
              <a:rPr lang="fr-FR" dirty="0"/>
              <a:t>Suivez ce flux de travail de base pour implémenter les Host Profiles :</a:t>
            </a:r>
          </a:p>
          <a:p>
            <a:r>
              <a:rPr lang="fr-FR" b="1" dirty="0"/>
              <a:t>Configurez un hôte</a:t>
            </a:r>
            <a:r>
              <a:rPr lang="fr-FR" dirty="0"/>
              <a:t> destiné à servir d’hôte de référence.</a:t>
            </a:r>
            <a:br>
              <a:rPr lang="fr-FR" dirty="0"/>
            </a:br>
            <a:r>
              <a:rPr lang="fr-FR" dirty="0"/>
              <a:t>L’hôte de référence est celui à partir duquel le profil sera créé.</a:t>
            </a:r>
          </a:p>
          <a:p>
            <a:r>
              <a:rPr lang="fr-FR" b="1" dirty="0"/>
              <a:t>Utilisez l’assistant </a:t>
            </a:r>
            <a:r>
              <a:rPr lang="fr-FR" b="1" i="1" dirty="0" err="1"/>
              <a:t>Create</a:t>
            </a:r>
            <a:r>
              <a:rPr lang="fr-FR" b="1" i="1" dirty="0"/>
              <a:t> Profile</a:t>
            </a:r>
            <a:r>
              <a:rPr lang="fr-FR" dirty="0"/>
              <a:t> pour créer un profil à partir de l’hôte de référence désigné.</a:t>
            </a:r>
            <a:br>
              <a:rPr lang="fr-FR" dirty="0"/>
            </a:br>
            <a:r>
              <a:rPr lang="fr-FR" dirty="0"/>
              <a:t>vCenter récupère les paramètres de configuration de l’hôte de référence, y compris les montages NFS et les ports </a:t>
            </a:r>
            <a:r>
              <a:rPr lang="fr-FR" b="1" dirty="0"/>
              <a:t>vSphere </a:t>
            </a:r>
            <a:r>
              <a:rPr lang="fr-FR" b="1" dirty="0" err="1"/>
              <a:t>vMotion</a:t>
            </a:r>
            <a:r>
              <a:rPr lang="fr-FR" dirty="0"/>
              <a:t>.</a:t>
            </a:r>
            <a:br>
              <a:rPr lang="fr-FR" dirty="0"/>
            </a:br>
            <a:r>
              <a:rPr lang="fr-FR" dirty="0"/>
              <a:t>Vous pouvez modifier le profil afin de personnaliser davantage les règles définies dans le profil.</a:t>
            </a:r>
          </a:p>
          <a:p>
            <a:r>
              <a:rPr lang="fr-FR" b="1" dirty="0"/>
              <a:t>Associez le host profile</a:t>
            </a:r>
            <a:r>
              <a:rPr lang="fr-FR" dirty="0"/>
              <a:t> à un hôte ou à un cluster d’hôtes.</a:t>
            </a:r>
            <a:br>
              <a:rPr lang="fr-FR" dirty="0"/>
            </a:br>
            <a:r>
              <a:rPr lang="fr-FR" dirty="0"/>
              <a:t>Vous pouvez attacher un profil à un hôte autonome ou à un ou plusieurs clusters d’hôtes.</a:t>
            </a:r>
          </a:p>
          <a:p>
            <a:r>
              <a:rPr lang="fr-FR" b="1" dirty="0"/>
              <a:t>Vérifiez la conformité des hôtes</a:t>
            </a:r>
            <a:r>
              <a:rPr lang="fr-FR" dirty="0"/>
              <a:t> par rapport au profil de l’hôte de référence.</a:t>
            </a:r>
            <a:br>
              <a:rPr lang="fr-FR" dirty="0"/>
            </a:br>
            <a:r>
              <a:rPr lang="fr-FR" dirty="0"/>
              <a:t>Si tous les hôtes sont conformes au host profile, cela signifie qu’ils sont correctement configurés.</a:t>
            </a:r>
          </a:p>
          <a:p>
            <a:r>
              <a:rPr lang="fr-FR" b="1" dirty="0"/>
              <a:t>Vérifiez la conformité des nouveaux hôtes</a:t>
            </a:r>
            <a:r>
              <a:rPr lang="fr-FR" dirty="0"/>
              <a:t> par rapport au profil de l’hôte.</a:t>
            </a:r>
            <a:br>
              <a:rPr lang="fr-FR" dirty="0"/>
            </a:br>
            <a:r>
              <a:rPr lang="fr-FR" dirty="0"/>
              <a:t>Vous pouvez facilement appliquer le host profile à d’autres hôtes ou clusters d’hôtes non conformes.</a:t>
            </a:r>
          </a:p>
          <a:p>
            <a:endParaRPr lang="fr-SN" dirty="0"/>
          </a:p>
        </p:txBody>
      </p:sp>
    </p:spTree>
    <p:extLst>
      <p:ext uri="{BB962C8B-B14F-4D97-AF65-F5344CB8AC3E}">
        <p14:creationId xmlns:p14="http://schemas.microsoft.com/office/powerpoint/2010/main" val="33155133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F7A6DC-9BEE-DBC5-E628-B7F5C382A0E2}"/>
              </a:ext>
            </a:extLst>
          </p:cNvPr>
          <p:cNvSpPr>
            <a:spLocks noGrp="1"/>
          </p:cNvSpPr>
          <p:nvPr>
            <p:ph type="title"/>
          </p:nvPr>
        </p:nvSpPr>
        <p:spPr/>
        <p:txBody>
          <a:bodyPr>
            <a:normAutofit fontScale="90000"/>
          </a:bodyPr>
          <a:lstStyle/>
          <a:p>
            <a:r>
              <a:rPr lang="fr-FR" b="1" dirty="0"/>
              <a:t>Mise en œuvre des Host Profiles</a:t>
            </a:r>
            <a:br>
              <a:rPr lang="fr-FR" b="1" dirty="0"/>
            </a:br>
            <a:br>
              <a:rPr lang="fr-FR" dirty="0"/>
            </a:br>
            <a:br>
              <a:rPr lang="fr-SN" b="1" dirty="0"/>
            </a:br>
            <a:br>
              <a:rPr lang="fr-SN" dirty="0"/>
            </a:br>
            <a:br>
              <a:rPr lang="pt-BR" b="1" dirty="0"/>
            </a:br>
            <a:br>
              <a:rPr lang="pt-BR" dirty="0"/>
            </a:br>
            <a:endParaRPr lang="fr-SN" dirty="0"/>
          </a:p>
        </p:txBody>
      </p:sp>
      <p:sp>
        <p:nvSpPr>
          <p:cNvPr id="3" name="Espace réservé du contenu 2">
            <a:extLst>
              <a:ext uri="{FF2B5EF4-FFF2-40B4-BE49-F238E27FC236}">
                <a16:creationId xmlns:a16="http://schemas.microsoft.com/office/drawing/2014/main" id="{94592EB1-2E41-CAF2-7050-9BF03E64CC89}"/>
              </a:ext>
            </a:extLst>
          </p:cNvPr>
          <p:cNvSpPr>
            <a:spLocks noGrp="1"/>
          </p:cNvSpPr>
          <p:nvPr>
            <p:ph idx="1"/>
          </p:nvPr>
        </p:nvSpPr>
        <p:spPr/>
        <p:txBody>
          <a:bodyPr>
            <a:normAutofit/>
          </a:bodyPr>
          <a:lstStyle/>
          <a:p>
            <a:r>
              <a:rPr lang="fr-FR" dirty="0"/>
              <a:t>Vous pouvez également </a:t>
            </a:r>
            <a:r>
              <a:rPr lang="fr-FR" b="1" dirty="0"/>
              <a:t>importer et exporter</a:t>
            </a:r>
            <a:r>
              <a:rPr lang="fr-FR" dirty="0"/>
              <a:t> un host profile vers un fichier de profil au format </a:t>
            </a:r>
            <a:r>
              <a:rPr lang="fr-FR" b="1" dirty="0"/>
              <a:t>VMware Profile (.</a:t>
            </a:r>
            <a:r>
              <a:rPr lang="fr-FR" b="1" dirty="0" err="1"/>
              <a:t>vpf</a:t>
            </a:r>
            <a:r>
              <a:rPr lang="fr-FR" b="1" dirty="0"/>
              <a:t>)</a:t>
            </a:r>
            <a:r>
              <a:rPr lang="fr-FR" dirty="0"/>
              <a:t>.</a:t>
            </a:r>
            <a:br>
              <a:rPr lang="fr-FR" dirty="0"/>
            </a:br>
            <a:r>
              <a:rPr lang="fr-FR" dirty="0"/>
              <a:t>Cette fonctionnalité est utile pour </a:t>
            </a:r>
            <a:r>
              <a:rPr lang="fr-FR" b="1" dirty="0"/>
              <a:t>partager des host profiles entre plusieurs instances de vCenter</a:t>
            </a:r>
            <a:r>
              <a:rPr lang="fr-FR" dirty="0"/>
              <a:t>.</a:t>
            </a:r>
            <a:endParaRPr lang="fr-SN" dirty="0"/>
          </a:p>
        </p:txBody>
      </p:sp>
    </p:spTree>
    <p:extLst>
      <p:ext uri="{BB962C8B-B14F-4D97-AF65-F5344CB8AC3E}">
        <p14:creationId xmlns:p14="http://schemas.microsoft.com/office/powerpoint/2010/main" val="2283842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444453-AE9C-C7B6-9E9C-090E0BFD6BE8}"/>
              </a:ext>
            </a:extLst>
          </p:cNvPr>
          <p:cNvSpPr>
            <a:spLocks noGrp="1"/>
          </p:cNvSpPr>
          <p:nvPr>
            <p:ph type="title"/>
          </p:nvPr>
        </p:nvSpPr>
        <p:spPr/>
        <p:txBody>
          <a:bodyPr>
            <a:normAutofit fontScale="90000"/>
          </a:bodyPr>
          <a:lstStyle/>
          <a:p>
            <a:r>
              <a:rPr lang="fr-SN" b="1" dirty="0"/>
              <a:t>Surveillance de la conformité</a:t>
            </a:r>
            <a:br>
              <a:rPr lang="fr-SN" b="1" dirty="0"/>
            </a:br>
            <a:br>
              <a:rPr lang="fr-SN" dirty="0"/>
            </a:br>
            <a:br>
              <a:rPr lang="fr-SN" b="1" dirty="0"/>
            </a:br>
            <a:br>
              <a:rPr lang="fr-SN" dirty="0"/>
            </a:br>
            <a:br>
              <a:rPr lang="pt-BR" b="1" dirty="0"/>
            </a:br>
            <a:br>
              <a:rPr lang="pt-BR" dirty="0"/>
            </a:br>
            <a:endParaRPr lang="fr-SN" dirty="0"/>
          </a:p>
        </p:txBody>
      </p:sp>
      <p:sp>
        <p:nvSpPr>
          <p:cNvPr id="3" name="Espace réservé du contenu 2">
            <a:extLst>
              <a:ext uri="{FF2B5EF4-FFF2-40B4-BE49-F238E27FC236}">
                <a16:creationId xmlns:a16="http://schemas.microsoft.com/office/drawing/2014/main" id="{C588C47B-FC37-A485-7862-0F77D02B3D6B}"/>
              </a:ext>
            </a:extLst>
          </p:cNvPr>
          <p:cNvSpPr>
            <a:spLocks noGrp="1"/>
          </p:cNvSpPr>
          <p:nvPr>
            <p:ph idx="1"/>
          </p:nvPr>
        </p:nvSpPr>
        <p:spPr/>
        <p:txBody>
          <a:bodyPr>
            <a:normAutofit/>
          </a:bodyPr>
          <a:lstStyle/>
          <a:p>
            <a:r>
              <a:rPr lang="fr-FR" dirty="0"/>
              <a:t>Lorsqu’un </a:t>
            </a:r>
            <a:r>
              <a:rPr lang="fr-FR" b="1" dirty="0"/>
              <a:t>nouvel hôte</a:t>
            </a:r>
            <a:r>
              <a:rPr lang="fr-FR" dirty="0"/>
              <a:t> est ajouté à un cluster, celui-ci est vérifié pour s’assurer de sa </a:t>
            </a:r>
            <a:r>
              <a:rPr lang="fr-FR" b="1" dirty="0"/>
              <a:t>conformité</a:t>
            </a:r>
            <a:r>
              <a:rPr lang="fr-FR" dirty="0"/>
              <a:t> avec le </a:t>
            </a:r>
            <a:r>
              <a:rPr lang="fr-FR" b="1" dirty="0"/>
              <a:t>host profile</a:t>
            </a:r>
            <a:r>
              <a:rPr lang="fr-FR" dirty="0"/>
              <a:t> appliqué.</a:t>
            </a:r>
            <a:br>
              <a:rPr lang="fr-FR" dirty="0"/>
            </a:br>
            <a:r>
              <a:rPr lang="fr-FR" dirty="0"/>
              <a:t>Un cluster peut également être vérifié manuellement pour la conformité avec un host profile.</a:t>
            </a:r>
            <a:endParaRPr lang="fr-SN" dirty="0"/>
          </a:p>
        </p:txBody>
      </p:sp>
    </p:spTree>
    <p:extLst>
      <p:ext uri="{BB962C8B-B14F-4D97-AF65-F5344CB8AC3E}">
        <p14:creationId xmlns:p14="http://schemas.microsoft.com/office/powerpoint/2010/main" val="1650286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30B825-F843-B626-898F-3A9187AD4BF4}"/>
              </a:ext>
            </a:extLst>
          </p:cNvPr>
          <p:cNvSpPr>
            <a:spLocks noGrp="1"/>
          </p:cNvSpPr>
          <p:nvPr>
            <p:ph type="title"/>
          </p:nvPr>
        </p:nvSpPr>
        <p:spPr/>
        <p:txBody>
          <a:bodyPr>
            <a:normAutofit fontScale="90000"/>
          </a:bodyPr>
          <a:lstStyle/>
          <a:p>
            <a:r>
              <a:rPr lang="fr-SN" b="1" dirty="0"/>
              <a:t>Surveillance de la conformité</a:t>
            </a:r>
            <a:br>
              <a:rPr lang="fr-SN" b="1" dirty="0"/>
            </a:br>
            <a:br>
              <a:rPr lang="fr-SN" dirty="0"/>
            </a:br>
            <a:br>
              <a:rPr lang="fr-SN" b="1" dirty="0"/>
            </a:br>
            <a:br>
              <a:rPr lang="fr-SN" dirty="0"/>
            </a:br>
            <a:br>
              <a:rPr lang="pt-BR" b="1" dirty="0"/>
            </a:br>
            <a:br>
              <a:rPr lang="pt-BR" dirty="0"/>
            </a:br>
            <a:endParaRPr lang="fr-SN" b="1" dirty="0"/>
          </a:p>
        </p:txBody>
      </p:sp>
      <p:pic>
        <p:nvPicPr>
          <p:cNvPr id="13314" name="Picture 2">
            <a:extLst>
              <a:ext uri="{FF2B5EF4-FFF2-40B4-BE49-F238E27FC236}">
                <a16:creationId xmlns:a16="http://schemas.microsoft.com/office/drawing/2014/main" id="{F1B01825-293C-26FA-DB81-B0EDE69275B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03277" y="3093908"/>
            <a:ext cx="5887272" cy="1857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6994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70C69E-BF49-284C-A0DB-7678029C1C7E}"/>
              </a:ext>
            </a:extLst>
          </p:cNvPr>
          <p:cNvSpPr>
            <a:spLocks noGrp="1"/>
          </p:cNvSpPr>
          <p:nvPr>
            <p:ph type="title"/>
          </p:nvPr>
        </p:nvSpPr>
        <p:spPr/>
        <p:txBody>
          <a:bodyPr>
            <a:normAutofit fontScale="90000"/>
          </a:bodyPr>
          <a:lstStyle/>
          <a:p>
            <a:r>
              <a:rPr lang="fr-SN" b="1" dirty="0"/>
              <a:t>Surveillance de la conformité</a:t>
            </a:r>
            <a:br>
              <a:rPr lang="fr-SN" b="1" dirty="0"/>
            </a:br>
            <a:br>
              <a:rPr lang="fr-SN" dirty="0"/>
            </a:br>
            <a:endParaRPr lang="fr-SN" dirty="0"/>
          </a:p>
        </p:txBody>
      </p:sp>
      <p:sp>
        <p:nvSpPr>
          <p:cNvPr id="3" name="Espace réservé du contenu 2">
            <a:extLst>
              <a:ext uri="{FF2B5EF4-FFF2-40B4-BE49-F238E27FC236}">
                <a16:creationId xmlns:a16="http://schemas.microsoft.com/office/drawing/2014/main" id="{0C5755D2-FF58-347B-4FA9-4875B9C8C514}"/>
              </a:ext>
            </a:extLst>
          </p:cNvPr>
          <p:cNvSpPr>
            <a:spLocks noGrp="1"/>
          </p:cNvSpPr>
          <p:nvPr>
            <p:ph idx="1"/>
          </p:nvPr>
        </p:nvSpPr>
        <p:spPr/>
        <p:txBody>
          <a:bodyPr>
            <a:normAutofit fontScale="92500" lnSpcReduction="10000"/>
          </a:bodyPr>
          <a:lstStyle/>
          <a:p>
            <a:r>
              <a:rPr lang="fr-FR" dirty="0"/>
              <a:t>Après la création du host profile et son association à un ensemble d’hôtes ou de clusters, vous pouvez </a:t>
            </a:r>
            <a:r>
              <a:rPr lang="fr-FR" b="1" dirty="0"/>
              <a:t>vérifier l’état de conformité</a:t>
            </a:r>
            <a:r>
              <a:rPr lang="fr-FR" dirty="0"/>
              <a:t> à plusieurs endroits dans le </a:t>
            </a:r>
            <a:r>
              <a:rPr lang="fr-FR" b="1" dirty="0"/>
              <a:t>vSphere Client</a:t>
            </a:r>
            <a:r>
              <a:rPr lang="fr-FR" dirty="0"/>
              <a:t> :</a:t>
            </a:r>
          </a:p>
          <a:p>
            <a:r>
              <a:rPr lang="fr-FR" b="1" dirty="0"/>
              <a:t>Vue principale du host profile</a:t>
            </a:r>
            <a:r>
              <a:rPr lang="fr-FR" dirty="0"/>
              <a:t> : affiche l’état de conformité des hôtes.</a:t>
            </a:r>
          </a:p>
          <a:p>
            <a:r>
              <a:rPr lang="fr-FR" b="1" dirty="0"/>
              <a:t>Onglet </a:t>
            </a:r>
            <a:r>
              <a:rPr lang="fr-FR" b="1" i="1" dirty="0" err="1"/>
              <a:t>Summary</a:t>
            </a:r>
            <a:r>
              <a:rPr lang="fr-FR" b="1" dirty="0"/>
              <a:t> de l’hôte</a:t>
            </a:r>
            <a:r>
              <a:rPr lang="fr-FR" dirty="0"/>
              <a:t> : affiche l’état de conformité de l’hôte sélectionné.</a:t>
            </a:r>
          </a:p>
          <a:p>
            <a:r>
              <a:rPr lang="fr-FR" b="1" dirty="0"/>
              <a:t>Onglet </a:t>
            </a:r>
            <a:r>
              <a:rPr lang="fr-FR" b="1" i="1" dirty="0"/>
              <a:t>Monitor</a:t>
            </a:r>
            <a:r>
              <a:rPr lang="fr-FR" b="1" dirty="0"/>
              <a:t> du host profile</a:t>
            </a:r>
            <a:r>
              <a:rPr lang="fr-FR" dirty="0"/>
              <a:t> : après avoir lancé une vérification de conformité, cet onglet affiche l’état de conformité des hôtes sélectionnés.</a:t>
            </a:r>
            <a:br>
              <a:rPr lang="fr-FR" dirty="0"/>
            </a:br>
            <a:r>
              <a:rPr lang="fr-FR" dirty="0"/>
              <a:t>Cette vue affiche également toutes les </a:t>
            </a:r>
            <a:r>
              <a:rPr lang="fr-FR" b="1" dirty="0"/>
              <a:t>incohérences</a:t>
            </a:r>
            <a:r>
              <a:rPr lang="fr-FR" dirty="0"/>
              <a:t> entre les valeurs des hôtes et celles définies dans le host profile (comme illustré sur la diapositive).</a:t>
            </a:r>
          </a:p>
          <a:p>
            <a:r>
              <a:rPr lang="fr-FR" dirty="0"/>
              <a:t>Vous pouvez également </a:t>
            </a:r>
            <a:r>
              <a:rPr lang="fr-FR" b="1" dirty="0"/>
              <a:t>vérifier la conformité de composants ou de paramètres individuels</a:t>
            </a:r>
            <a:r>
              <a:rPr lang="fr-FR" dirty="0"/>
              <a:t>.</a:t>
            </a:r>
            <a:br>
              <a:rPr lang="fr-FR" dirty="0"/>
            </a:br>
            <a:r>
              <a:rPr lang="fr-FR" dirty="0"/>
              <a:t>Ces vérifications de conformité intégrées sont particulièrement utiles pour </a:t>
            </a:r>
            <a:r>
              <a:rPr lang="fr-FR" b="1" dirty="0"/>
              <a:t>vSphere DRS</a:t>
            </a:r>
            <a:r>
              <a:rPr lang="fr-FR" dirty="0"/>
              <a:t> et </a:t>
            </a:r>
            <a:r>
              <a:rPr lang="fr-FR" b="1" dirty="0"/>
              <a:t>vSphere DPM</a:t>
            </a:r>
            <a:r>
              <a:rPr lang="fr-FR" dirty="0"/>
              <a:t>.</a:t>
            </a:r>
          </a:p>
          <a:p>
            <a:endParaRPr lang="fr-SN" dirty="0"/>
          </a:p>
        </p:txBody>
      </p:sp>
    </p:spTree>
    <p:extLst>
      <p:ext uri="{BB962C8B-B14F-4D97-AF65-F5344CB8AC3E}">
        <p14:creationId xmlns:p14="http://schemas.microsoft.com/office/powerpoint/2010/main" val="3140028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8B1245-5250-84C1-6ACB-E27EFB741493}"/>
              </a:ext>
            </a:extLst>
          </p:cNvPr>
          <p:cNvSpPr>
            <a:spLocks noGrp="1"/>
          </p:cNvSpPr>
          <p:nvPr>
            <p:ph type="title"/>
          </p:nvPr>
        </p:nvSpPr>
        <p:spPr/>
        <p:txBody>
          <a:bodyPr>
            <a:normAutofit fontScale="90000"/>
          </a:bodyPr>
          <a:lstStyle/>
          <a:p>
            <a:r>
              <a:rPr lang="fr-FR" b="1" dirty="0"/>
              <a:t>Standardisation entre plusieurs instances de vCenter</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3739CC2B-8DC3-2F4A-2A5D-5645382D6976}"/>
              </a:ext>
            </a:extLst>
          </p:cNvPr>
          <p:cNvSpPr>
            <a:spLocks noGrp="1"/>
          </p:cNvSpPr>
          <p:nvPr>
            <p:ph idx="1"/>
          </p:nvPr>
        </p:nvSpPr>
        <p:spPr/>
        <p:txBody>
          <a:bodyPr>
            <a:normAutofit/>
          </a:bodyPr>
          <a:lstStyle/>
          <a:p>
            <a:r>
              <a:rPr lang="fr-FR" dirty="0"/>
              <a:t>Certaines organisations disposent d’environnements étendus comportant de nombreuses instances de vCenter.</a:t>
            </a:r>
            <a:br>
              <a:rPr lang="fr-FR" dirty="0"/>
            </a:br>
            <a:r>
              <a:rPr lang="fr-FR" dirty="0"/>
              <a:t>Si vous souhaitez </a:t>
            </a:r>
            <a:r>
              <a:rPr lang="fr-FR" b="1" dirty="0"/>
              <a:t>standardiser une configuration d’hôte unique</a:t>
            </a:r>
            <a:r>
              <a:rPr lang="fr-FR" dirty="0"/>
              <a:t> sur plusieurs environnements vCenter, vous pouvez exporter le host profile d’une instance de vCenter afin que d’autres instances puissent l’importer et l’utiliser dans leurs environnements.</a:t>
            </a:r>
            <a:br>
              <a:rPr lang="fr-FR" dirty="0"/>
            </a:br>
            <a:r>
              <a:rPr lang="fr-FR" dirty="0"/>
              <a:t>Les </a:t>
            </a:r>
            <a:r>
              <a:rPr lang="fr-FR" b="1" dirty="0"/>
              <a:t>host profiles</a:t>
            </a:r>
            <a:r>
              <a:rPr lang="fr-FR" dirty="0"/>
              <a:t> ne sont </a:t>
            </a:r>
            <a:r>
              <a:rPr lang="fr-FR" b="1" dirty="0"/>
              <a:t>ni répliqués, ni partagés, ni synchronisés</a:t>
            </a:r>
            <a:r>
              <a:rPr lang="fr-FR" dirty="0"/>
              <a:t> entre les instances de vCenter connectées par le </a:t>
            </a:r>
            <a:r>
              <a:rPr lang="fr-FR" b="1" dirty="0" err="1"/>
              <a:t>Enhanced</a:t>
            </a:r>
            <a:r>
              <a:rPr lang="fr-FR" b="1" dirty="0"/>
              <a:t> </a:t>
            </a:r>
            <a:r>
              <a:rPr lang="fr-FR" b="1" dirty="0" err="1"/>
              <a:t>Linked</a:t>
            </a:r>
            <a:r>
              <a:rPr lang="fr-FR" b="1" dirty="0"/>
              <a:t> Mode</a:t>
            </a:r>
            <a:r>
              <a:rPr lang="fr-FR" dirty="0"/>
              <a:t>.</a:t>
            </a:r>
          </a:p>
          <a:p>
            <a:r>
              <a:rPr lang="fr-FR" dirty="0"/>
              <a:t>Les fichiers sont exportés au </a:t>
            </a:r>
            <a:r>
              <a:rPr lang="fr-FR" b="1" dirty="0"/>
              <a:t>format de profil VMware (.</a:t>
            </a:r>
            <a:r>
              <a:rPr lang="fr-FR" b="1" dirty="0" err="1"/>
              <a:t>vpf</a:t>
            </a:r>
            <a:r>
              <a:rPr lang="fr-FR" b="1" dirty="0"/>
              <a:t>)</a:t>
            </a:r>
            <a:r>
              <a:rPr lang="fr-FR" dirty="0"/>
              <a:t>.</a:t>
            </a:r>
          </a:p>
          <a:p>
            <a:endParaRPr lang="fr-SN" dirty="0"/>
          </a:p>
        </p:txBody>
      </p:sp>
    </p:spTree>
    <p:extLst>
      <p:ext uri="{BB962C8B-B14F-4D97-AF65-F5344CB8AC3E}">
        <p14:creationId xmlns:p14="http://schemas.microsoft.com/office/powerpoint/2010/main" val="3677213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0CD915-4C8B-1588-3710-42EFDB08E7E6}"/>
              </a:ext>
            </a:extLst>
          </p:cNvPr>
          <p:cNvSpPr>
            <a:spLocks noGrp="1"/>
          </p:cNvSpPr>
          <p:nvPr>
            <p:ph type="title"/>
          </p:nvPr>
        </p:nvSpPr>
        <p:spPr/>
        <p:txBody>
          <a:bodyPr>
            <a:normAutofit fontScale="90000"/>
          </a:bodyPr>
          <a:lstStyle/>
          <a:p>
            <a:r>
              <a:rPr lang="fr-FR" b="1" dirty="0"/>
              <a:t>Standardisation entre plusieurs instances de vCenter</a:t>
            </a:r>
            <a:br>
              <a:rPr lang="fr-FR" b="1" dirty="0"/>
            </a:br>
            <a:br>
              <a:rPr lang="fr-FR" dirty="0"/>
            </a:br>
            <a:endParaRPr lang="fr-SN" dirty="0"/>
          </a:p>
        </p:txBody>
      </p:sp>
      <p:pic>
        <p:nvPicPr>
          <p:cNvPr id="14338" name="Picture 2">
            <a:extLst>
              <a:ext uri="{FF2B5EF4-FFF2-40B4-BE49-F238E27FC236}">
                <a16:creationId xmlns:a16="http://schemas.microsoft.com/office/drawing/2014/main" id="{80C8B692-5ADF-6EFE-37E3-E5233F1EF21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32068" y="2650933"/>
            <a:ext cx="4229690" cy="274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7906246"/>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Metadata/LabelInfo.xml><?xml version="1.0" encoding="utf-8"?>
<clbl:labelList xmlns:clbl="http://schemas.microsoft.com/office/2020/mipLabelMetadata">
  <clbl:label id="{fc24caf1-31f7-40c1-bde0-ca915f0156e3}" enabled="1" method="Standard" siteId="{088e9b00-ffd0-458e-bfa1-acf4c596d3cb}" removed="0"/>
</clbl:labelList>
</file>

<file path=docProps/app.xml><?xml version="1.0" encoding="utf-8"?>
<Properties xmlns="http://schemas.openxmlformats.org/officeDocument/2006/extended-properties" xmlns:vt="http://schemas.openxmlformats.org/officeDocument/2006/docPropsVTypes">
  <Template>Wisp</Template>
  <TotalTime>386</TotalTime>
  <Words>2746</Words>
  <Application>Microsoft Office PowerPoint</Application>
  <PresentationFormat>Grand écran</PresentationFormat>
  <Paragraphs>143</Paragraphs>
  <Slides>40</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40</vt:i4>
      </vt:variant>
    </vt:vector>
  </HeadingPairs>
  <TitlesOfParts>
    <vt:vector size="45" baseType="lpstr">
      <vt:lpstr>Aptos</vt:lpstr>
      <vt:lpstr>Arial</vt:lpstr>
      <vt:lpstr>Century Gothic</vt:lpstr>
      <vt:lpstr>Wingdings 3</vt:lpstr>
      <vt:lpstr>Brin</vt:lpstr>
      <vt:lpstr> Profils de configuration vSphere</vt:lpstr>
      <vt:lpstr> Objectifs d’apprentissage  </vt:lpstr>
      <vt:lpstr>À propos des profils de configuration vSphere  </vt:lpstr>
      <vt:lpstr>À propos des profils de configuration vSphere  </vt:lpstr>
      <vt:lpstr>À propos des profils de configuration vSphere  </vt:lpstr>
      <vt:lpstr>Exigences pour les profils de configuration vSphere  </vt:lpstr>
      <vt:lpstr>Création de "Network Traffic Rules"  </vt:lpstr>
      <vt:lpstr>Limitations des profils de configuration vSphere  </vt:lpstr>
      <vt:lpstr>Configuration au niveau du cluster  </vt:lpstr>
      <vt:lpstr>Utilisation des profils de configuration vSphere  Le flux de travail de configuration commence par des vérifications d’éligibilité sur le cluster et les hôtes. Si le cluster n’est pas éligible, le processus de configuration ne se poursuivra pas. Si le cluster est éligible, les administrateurs peuvent importer une configuration à partir d’un hôte du cluster ou d’un fichier JSON. </vt:lpstr>
      <vt:lpstr>Utilisation des profils de configuration vSphere    </vt:lpstr>
      <vt:lpstr>Afficher les paramètres des hôtes dans la configuration souhaitée  </vt:lpstr>
      <vt:lpstr>Afficher les paramètres des hôtes dans la configuration souhaitée    </vt:lpstr>
      <vt:lpstr>Schéma de configuration et document de configuration    </vt:lpstr>
      <vt:lpstr>Vérifier la conformité des hôtes par rapport à la configuration souhaitée du cluster  </vt:lpstr>
      <vt:lpstr>Exécuter une prévérification de remédiation  </vt:lpstr>
      <vt:lpstr>Exécuter une prévérification de remédiation     </vt:lpstr>
      <vt:lpstr>Corriger un cluster selon la configuration souhaitée  </vt:lpstr>
      <vt:lpstr>Corriger un cluster selon la configuration souhaitée  </vt:lpstr>
      <vt:lpstr>Configuration cohérente sur plusieurs sites         </vt:lpstr>
      <vt:lpstr>Configuration cohérente sur plusieurs sites      </vt:lpstr>
      <vt:lpstr>Prise en charge de vSphere Distributed Switch  </vt:lpstr>
      <vt:lpstr>Transition d’un cluster avec un vSphere Distributed Switch  </vt:lpstr>
      <vt:lpstr>Transition d’un cluster avec un vSphere Distributed Switch    </vt:lpstr>
      <vt:lpstr>État de santé du service vSphere Configuration Profiles  </vt:lpstr>
      <vt:lpstr>État de santé du service vSphere Configuration Profiles  </vt:lpstr>
      <vt:lpstr>À propos des Host Profiles    </vt:lpstr>
      <vt:lpstr>À propos des Host Profiles    </vt:lpstr>
      <vt:lpstr>Exportation des configurations de Distributed Switch  </vt:lpstr>
      <vt:lpstr>À propos des Host Profiles    </vt:lpstr>
      <vt:lpstr>Restauration et importation des configurations de Distributed Switch  </vt:lpstr>
      <vt:lpstr>Mise en œuvre des Host Profiles  </vt:lpstr>
      <vt:lpstr>Mise en œuvre des Host Profiles    </vt:lpstr>
      <vt:lpstr>Mise en œuvre des Host Profiles      </vt:lpstr>
      <vt:lpstr>Mise en œuvre des Host Profiles      </vt:lpstr>
      <vt:lpstr>Surveillance de la conformité      </vt:lpstr>
      <vt:lpstr>Surveillance de la conformité      </vt:lpstr>
      <vt:lpstr>Surveillance de la conformité  </vt:lpstr>
      <vt:lpstr>Standardisation entre plusieurs instances de vCenter  </vt:lpstr>
      <vt:lpstr>Standardisation entre plusieurs instances de vCenter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Alassane Sene Diagne (AGL)</dc:creator>
  <cp:lastModifiedBy>Alassane Sene Diagne (AGL)</cp:lastModifiedBy>
  <cp:revision>3</cp:revision>
  <dcterms:created xsi:type="dcterms:W3CDTF">2025-12-29T15:01:53Z</dcterms:created>
  <dcterms:modified xsi:type="dcterms:W3CDTF">2026-02-23T17:00:03Z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Brin:9</vt:lpwstr>
  </property>
  <property fmtid="{D5CDD505-2E9C-101B-9397-08002B2CF9AE}" pid="3" name="ClassificationContentMarkingFooterText">
    <vt:lpwstr>Sensitivity: Internal</vt:lpwstr>
  </property>
</Properties>
</file>