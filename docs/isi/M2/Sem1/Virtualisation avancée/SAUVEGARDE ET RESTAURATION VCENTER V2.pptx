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387" r:id="rId6"/>
    <p:sldId id="260" r:id="rId7"/>
    <p:sldId id="261" r:id="rId8"/>
    <p:sldId id="262" r:id="rId9"/>
    <p:sldId id="263" r:id="rId10"/>
    <p:sldId id="264" r:id="rId11"/>
    <p:sldId id="265" r:id="rId12"/>
    <p:sldId id="266" r:id="rId13"/>
    <p:sldId id="267"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75CCCC1-10AD-4F51-B1A9-365D2719A568}" v="69" dt="2026-02-23T16:16:02.242"/>
  </p1510:revLst>
</p1510:revInfo>
</file>

<file path=ppt/tableStyles.xml><?xml version="1.0" encoding="utf-8"?>
<a:tblStyleLst xmlns:a="http://schemas.openxmlformats.org/drawingml/2006/main" def="{5C22544A-7EE6-4342-B048-85BDC9FD1C3A}">
  <a:tblStyle styleId="{3C2FFA5D-87B4-456A-9821-1D502468CF0F}" styleName="Style à thème 1 - Accentuation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08FB837D-C827-4EFA-A057-4D05807E0F7C}" styleName="Style à thème 1 - Accentuation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35758FB7-9AC5-4552-8A53-C91805E547FA}" styleName="Style à thème 1 - Accentuation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775DCB02-9BB8-47FD-8907-85C794F793BA}" styleName="Style à thème 1 - Accentuation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14" autoAdjust="0"/>
    <p:restoredTop sz="94660"/>
  </p:normalViewPr>
  <p:slideViewPr>
    <p:cSldViewPr snapToGrid="0">
      <p:cViewPr varScale="1">
        <p:scale>
          <a:sx n="150" d="100"/>
          <a:sy n="150" d="100"/>
        </p:scale>
        <p:origin x="624" y="132"/>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fr-FR"/>
              <a:t>Modifiez le style du titre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p>
            <a:fld id="{8E0073D7-330B-4A20-B0A3-AEBE9275C43B}" type="datetimeFigureOut">
              <a:rPr lang="fr-SN" smtClean="0"/>
              <a:t>23/02/2026</a:t>
            </a:fld>
            <a:endParaRPr lang="fr-SN"/>
          </a:p>
        </p:txBody>
      </p:sp>
      <p:sp>
        <p:nvSpPr>
          <p:cNvPr id="5" name="Footer Placeholder 4"/>
          <p:cNvSpPr>
            <a:spLocks noGrp="1"/>
          </p:cNvSpPr>
          <p:nvPr>
            <p:ph type="ftr" sz="quarter" idx="11"/>
          </p:nvPr>
        </p:nvSpPr>
        <p:spPr/>
        <p:txBody>
          <a:bodyPr/>
          <a:lstStyle/>
          <a:p>
            <a:endParaRPr lang="fr-SN"/>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txBody>
          <a:bodyPr/>
          <a:lstStyle/>
          <a:p>
            <a:endParaRPr lang="fr-SN"/>
          </a:p>
        </p:txBody>
      </p:sp>
      <p:sp>
        <p:nvSpPr>
          <p:cNvPr id="6" name="Slide Number Placeholder 5"/>
          <p:cNvSpPr>
            <a:spLocks noGrp="1"/>
          </p:cNvSpPr>
          <p:nvPr>
            <p:ph type="sldNum" sz="quarter" idx="12"/>
          </p:nvPr>
        </p:nvSpPr>
        <p:spPr>
          <a:xfrm>
            <a:off x="531812" y="4529540"/>
            <a:ext cx="779767" cy="365125"/>
          </a:xfrm>
        </p:spPr>
        <p:txBody>
          <a:bodyPr/>
          <a:lstStyle/>
          <a:p>
            <a:fld id="{07D8F61B-BC3E-4166-808D-1AD07F4F05BF}" type="slidenum">
              <a:rPr lang="fr-SN" smtClean="0"/>
              <a:t>‹N°›</a:t>
            </a:fld>
            <a:endParaRPr lang="fr-SN"/>
          </a:p>
        </p:txBody>
      </p:sp>
    </p:spTree>
    <p:extLst>
      <p:ext uri="{BB962C8B-B14F-4D97-AF65-F5344CB8AC3E}">
        <p14:creationId xmlns:p14="http://schemas.microsoft.com/office/powerpoint/2010/main" val="25810267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fr-FR"/>
              <a:t>Modifiez le style du titre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8E0073D7-330B-4A20-B0A3-AEBE9275C43B}" type="datetimeFigureOut">
              <a:rPr lang="fr-SN" smtClean="0"/>
              <a:t>23/02/2026</a:t>
            </a:fld>
            <a:endParaRPr lang="fr-SN"/>
          </a:p>
        </p:txBody>
      </p:sp>
      <p:sp>
        <p:nvSpPr>
          <p:cNvPr id="5" name="Footer Placeholder 4"/>
          <p:cNvSpPr>
            <a:spLocks noGrp="1"/>
          </p:cNvSpPr>
          <p:nvPr>
            <p:ph type="ftr" sz="quarter" idx="11"/>
          </p:nvPr>
        </p:nvSpPr>
        <p:spPr/>
        <p:txBody>
          <a:bodyPr/>
          <a:lstStyle/>
          <a:p>
            <a:endParaRPr lang="fr-S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fr-SN"/>
          </a:p>
        </p:txBody>
      </p:sp>
      <p:sp>
        <p:nvSpPr>
          <p:cNvPr id="6" name="Slide Number Placeholder 5"/>
          <p:cNvSpPr>
            <a:spLocks noGrp="1"/>
          </p:cNvSpPr>
          <p:nvPr>
            <p:ph type="sldNum" sz="quarter" idx="12"/>
          </p:nvPr>
        </p:nvSpPr>
        <p:spPr/>
        <p:txBody>
          <a:bodyPr/>
          <a:lstStyle/>
          <a:p>
            <a:fld id="{07D8F61B-BC3E-4166-808D-1AD07F4F05BF}" type="slidenum">
              <a:rPr lang="fr-SN" smtClean="0"/>
              <a:t>‹N°›</a:t>
            </a:fld>
            <a:endParaRPr lang="fr-SN"/>
          </a:p>
        </p:txBody>
      </p:sp>
    </p:spTree>
    <p:extLst>
      <p:ext uri="{BB962C8B-B14F-4D97-AF65-F5344CB8AC3E}">
        <p14:creationId xmlns:p14="http://schemas.microsoft.com/office/powerpoint/2010/main" val="9834809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fr-FR"/>
              <a:t>Modifiez le style du titre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8E0073D7-330B-4A20-B0A3-AEBE9275C43B}" type="datetimeFigureOut">
              <a:rPr lang="fr-SN" smtClean="0"/>
              <a:t>23/02/2026</a:t>
            </a:fld>
            <a:endParaRPr lang="fr-SN"/>
          </a:p>
        </p:txBody>
      </p:sp>
      <p:sp>
        <p:nvSpPr>
          <p:cNvPr id="5" name="Footer Placeholder 4"/>
          <p:cNvSpPr>
            <a:spLocks noGrp="1"/>
          </p:cNvSpPr>
          <p:nvPr>
            <p:ph type="ftr" sz="quarter" idx="11"/>
          </p:nvPr>
        </p:nvSpPr>
        <p:spPr/>
        <p:txBody>
          <a:bodyPr/>
          <a:lstStyle/>
          <a:p>
            <a:endParaRPr lang="fr-S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07D8F61B-BC3E-4166-808D-1AD07F4F05BF}" type="slidenum">
              <a:rPr lang="fr-SN" smtClean="0"/>
              <a:t>‹N°›</a:t>
            </a:fld>
            <a:endParaRPr lang="fr-SN"/>
          </a:p>
        </p:txBody>
      </p:sp>
    </p:spTree>
    <p:extLst>
      <p:ext uri="{BB962C8B-B14F-4D97-AF65-F5344CB8AC3E}">
        <p14:creationId xmlns:p14="http://schemas.microsoft.com/office/powerpoint/2010/main" val="35579307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8E0073D7-330B-4A20-B0A3-AEBE9275C43B}" type="datetimeFigureOut">
              <a:rPr lang="fr-SN" smtClean="0"/>
              <a:t>23/02/2026</a:t>
            </a:fld>
            <a:endParaRPr lang="fr-SN"/>
          </a:p>
        </p:txBody>
      </p:sp>
      <p:sp>
        <p:nvSpPr>
          <p:cNvPr id="6" name="Footer Placeholder 5"/>
          <p:cNvSpPr>
            <a:spLocks noGrp="1"/>
          </p:cNvSpPr>
          <p:nvPr>
            <p:ph type="ftr" sz="quarter" idx="11"/>
          </p:nvPr>
        </p:nvSpPr>
        <p:spPr/>
        <p:txBody>
          <a:bodyPr/>
          <a:lstStyle/>
          <a:p>
            <a:endParaRPr lang="fr-SN"/>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07D8F61B-BC3E-4166-808D-1AD07F4F05BF}" type="slidenum">
              <a:rPr lang="fr-SN" smtClean="0"/>
              <a:t>‹N°›</a:t>
            </a:fld>
            <a:endParaRPr lang="fr-SN"/>
          </a:p>
        </p:txBody>
      </p:sp>
    </p:spTree>
    <p:extLst>
      <p:ext uri="{BB962C8B-B14F-4D97-AF65-F5344CB8AC3E}">
        <p14:creationId xmlns:p14="http://schemas.microsoft.com/office/powerpoint/2010/main" val="27607227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fr-FR"/>
              <a:t>Modifiez le style du titre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8E0073D7-330B-4A20-B0A3-AEBE9275C43B}" type="datetimeFigureOut">
              <a:rPr lang="fr-SN" smtClean="0"/>
              <a:t>23/02/2026</a:t>
            </a:fld>
            <a:endParaRPr lang="fr-SN"/>
          </a:p>
        </p:txBody>
      </p:sp>
      <p:sp>
        <p:nvSpPr>
          <p:cNvPr id="8" name="Footer Placeholder 7"/>
          <p:cNvSpPr>
            <a:spLocks noGrp="1"/>
          </p:cNvSpPr>
          <p:nvPr>
            <p:ph type="ftr" sz="quarter" idx="11"/>
          </p:nvPr>
        </p:nvSpPr>
        <p:spPr/>
        <p:txBody>
          <a:bodyPr/>
          <a:lstStyle/>
          <a:p>
            <a:endParaRPr lang="fr-SN"/>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07D8F61B-BC3E-4166-808D-1AD07F4F05BF}" type="slidenum">
              <a:rPr lang="fr-SN" smtClean="0"/>
              <a:t>‹N°›</a:t>
            </a:fld>
            <a:endParaRPr lang="fr-SN"/>
          </a:p>
        </p:txBody>
      </p:sp>
    </p:spTree>
    <p:extLst>
      <p:ext uri="{BB962C8B-B14F-4D97-AF65-F5344CB8AC3E}">
        <p14:creationId xmlns:p14="http://schemas.microsoft.com/office/powerpoint/2010/main" val="3353423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8E0073D7-330B-4A20-B0A3-AEBE9275C43B}" type="datetimeFigureOut">
              <a:rPr lang="fr-SN" smtClean="0"/>
              <a:t>23/02/2026</a:t>
            </a:fld>
            <a:endParaRPr lang="fr-SN"/>
          </a:p>
        </p:txBody>
      </p:sp>
      <p:sp>
        <p:nvSpPr>
          <p:cNvPr id="4" name="Footer Placeholder 3"/>
          <p:cNvSpPr>
            <a:spLocks noGrp="1"/>
          </p:cNvSpPr>
          <p:nvPr>
            <p:ph type="ftr" sz="quarter" idx="11"/>
          </p:nvPr>
        </p:nvSpPr>
        <p:spPr/>
        <p:txBody>
          <a:bodyPr/>
          <a:lstStyle/>
          <a:p>
            <a:endParaRPr lang="fr-SN"/>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07D8F61B-BC3E-4166-808D-1AD07F4F05BF}" type="slidenum">
              <a:rPr lang="fr-SN" smtClean="0"/>
              <a:t>‹N°›</a:t>
            </a:fld>
            <a:endParaRPr lang="fr-SN"/>
          </a:p>
        </p:txBody>
      </p:sp>
    </p:spTree>
    <p:extLst>
      <p:ext uri="{BB962C8B-B14F-4D97-AF65-F5344CB8AC3E}">
        <p14:creationId xmlns:p14="http://schemas.microsoft.com/office/powerpoint/2010/main" val="21296162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0073D7-330B-4A20-B0A3-AEBE9275C43B}" type="datetimeFigureOut">
              <a:rPr lang="fr-SN" smtClean="0"/>
              <a:t>23/02/2026</a:t>
            </a:fld>
            <a:endParaRPr lang="fr-SN"/>
          </a:p>
        </p:txBody>
      </p:sp>
      <p:sp>
        <p:nvSpPr>
          <p:cNvPr id="3" name="Footer Placeholder 2"/>
          <p:cNvSpPr>
            <a:spLocks noGrp="1"/>
          </p:cNvSpPr>
          <p:nvPr>
            <p:ph type="ftr" sz="quarter" idx="11"/>
          </p:nvPr>
        </p:nvSpPr>
        <p:spPr/>
        <p:txBody>
          <a:bodyPr/>
          <a:lstStyle/>
          <a:p>
            <a:endParaRPr lang="fr-SN"/>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07D8F61B-BC3E-4166-808D-1AD07F4F05BF}" type="slidenum">
              <a:rPr lang="fr-SN" smtClean="0"/>
              <a:t>‹N°›</a:t>
            </a:fld>
            <a:endParaRPr lang="fr-SN"/>
          </a:p>
        </p:txBody>
      </p:sp>
    </p:spTree>
    <p:extLst>
      <p:ext uri="{BB962C8B-B14F-4D97-AF65-F5344CB8AC3E}">
        <p14:creationId xmlns:p14="http://schemas.microsoft.com/office/powerpoint/2010/main" val="19091346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fr-FR"/>
              <a:t>Modifiez le style du titre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8E0073D7-330B-4A20-B0A3-AEBE9275C43B}" type="datetimeFigureOut">
              <a:rPr lang="fr-SN" smtClean="0"/>
              <a:t>23/02/2026</a:t>
            </a:fld>
            <a:endParaRPr lang="fr-SN"/>
          </a:p>
        </p:txBody>
      </p:sp>
      <p:sp>
        <p:nvSpPr>
          <p:cNvPr id="6" name="Footer Placeholder 5"/>
          <p:cNvSpPr>
            <a:spLocks noGrp="1"/>
          </p:cNvSpPr>
          <p:nvPr>
            <p:ph type="ftr" sz="quarter" idx="11"/>
          </p:nvPr>
        </p:nvSpPr>
        <p:spPr/>
        <p:txBody>
          <a:bodyPr/>
          <a:lstStyle/>
          <a:p>
            <a:endParaRPr lang="fr-SN"/>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07D8F61B-BC3E-4166-808D-1AD07F4F05BF}" type="slidenum">
              <a:rPr lang="fr-SN" smtClean="0"/>
              <a:t>‹N°›</a:t>
            </a:fld>
            <a:endParaRPr lang="fr-SN"/>
          </a:p>
        </p:txBody>
      </p:sp>
    </p:spTree>
    <p:extLst>
      <p:ext uri="{BB962C8B-B14F-4D97-AF65-F5344CB8AC3E}">
        <p14:creationId xmlns:p14="http://schemas.microsoft.com/office/powerpoint/2010/main" val="39042603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fr-FR"/>
              <a:t>Modifiez le style du titre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8E0073D7-330B-4A20-B0A3-AEBE9275C43B}" type="datetimeFigureOut">
              <a:rPr lang="fr-SN" smtClean="0"/>
              <a:t>23/02/2026</a:t>
            </a:fld>
            <a:endParaRPr lang="fr-SN"/>
          </a:p>
        </p:txBody>
      </p:sp>
      <p:sp>
        <p:nvSpPr>
          <p:cNvPr id="6" name="Footer Placeholder 5"/>
          <p:cNvSpPr>
            <a:spLocks noGrp="1"/>
          </p:cNvSpPr>
          <p:nvPr>
            <p:ph type="ftr" sz="quarter" idx="11"/>
          </p:nvPr>
        </p:nvSpPr>
        <p:spPr/>
        <p:txBody>
          <a:bodyPr/>
          <a:lstStyle/>
          <a:p>
            <a:endParaRPr lang="fr-S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07D8F61B-BC3E-4166-808D-1AD07F4F05BF}" type="slidenum">
              <a:rPr lang="fr-SN" smtClean="0"/>
              <a:t>‹N°›</a:t>
            </a:fld>
            <a:endParaRPr lang="fr-SN"/>
          </a:p>
        </p:txBody>
      </p:sp>
    </p:spTree>
    <p:extLst>
      <p:ext uri="{BB962C8B-B14F-4D97-AF65-F5344CB8AC3E}">
        <p14:creationId xmlns:p14="http://schemas.microsoft.com/office/powerpoint/2010/main" val="26757812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re et légende">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fr-FR"/>
              <a:t>Modifiez le style du titre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8E0073D7-330B-4A20-B0A3-AEBE9275C43B}" type="datetimeFigureOut">
              <a:rPr lang="fr-SN" smtClean="0"/>
              <a:t>23/02/2026</a:t>
            </a:fld>
            <a:endParaRPr lang="fr-SN"/>
          </a:p>
        </p:txBody>
      </p:sp>
      <p:sp>
        <p:nvSpPr>
          <p:cNvPr id="5" name="Footer Placeholder 4"/>
          <p:cNvSpPr>
            <a:spLocks noGrp="1"/>
          </p:cNvSpPr>
          <p:nvPr>
            <p:ph type="ftr" sz="quarter" idx="11"/>
          </p:nvPr>
        </p:nvSpPr>
        <p:spPr/>
        <p:txBody>
          <a:bodyPr/>
          <a:lstStyle/>
          <a:p>
            <a:endParaRPr lang="fr-S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07D8F61B-BC3E-4166-808D-1AD07F4F05BF}" type="slidenum">
              <a:rPr lang="fr-SN" smtClean="0"/>
              <a:t>‹N°›</a:t>
            </a:fld>
            <a:endParaRPr lang="fr-SN"/>
          </a:p>
        </p:txBody>
      </p:sp>
    </p:spTree>
    <p:extLst>
      <p:ext uri="{BB962C8B-B14F-4D97-AF65-F5344CB8AC3E}">
        <p14:creationId xmlns:p14="http://schemas.microsoft.com/office/powerpoint/2010/main" val="27522846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tion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fr-FR"/>
              <a:t>Modifiez le style du titre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a:t>Cliquez pour modifier les styles du texte du masque</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8E0073D7-330B-4A20-B0A3-AEBE9275C43B}" type="datetimeFigureOut">
              <a:rPr lang="fr-SN" smtClean="0"/>
              <a:t>23/02/2026</a:t>
            </a:fld>
            <a:endParaRPr lang="fr-SN"/>
          </a:p>
        </p:txBody>
      </p:sp>
      <p:sp>
        <p:nvSpPr>
          <p:cNvPr id="5" name="Footer Placeholder 4"/>
          <p:cNvSpPr>
            <a:spLocks noGrp="1"/>
          </p:cNvSpPr>
          <p:nvPr>
            <p:ph type="ftr" sz="quarter" idx="11"/>
          </p:nvPr>
        </p:nvSpPr>
        <p:spPr/>
        <p:txBody>
          <a:bodyPr/>
          <a:lstStyle/>
          <a:p>
            <a:endParaRPr lang="fr-SN"/>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07D8F61B-BC3E-4166-808D-1AD07F4F05BF}" type="slidenum">
              <a:rPr lang="fr-SN" smtClean="0"/>
              <a:t>‹N°›</a:t>
            </a:fld>
            <a:endParaRPr lang="fr-S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23029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arte nom">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fr-FR"/>
              <a:t>Modifiez le style du titre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fr-FR"/>
              <a:t>Cliquez pour modifier les styles du texte du masque</a:t>
            </a:r>
          </a:p>
        </p:txBody>
      </p:sp>
      <p:sp>
        <p:nvSpPr>
          <p:cNvPr id="5" name="Date Placeholder 4"/>
          <p:cNvSpPr>
            <a:spLocks noGrp="1"/>
          </p:cNvSpPr>
          <p:nvPr>
            <p:ph type="dt" sz="half" idx="10"/>
          </p:nvPr>
        </p:nvSpPr>
        <p:spPr/>
        <p:txBody>
          <a:bodyPr/>
          <a:lstStyle/>
          <a:p>
            <a:fld id="{8E0073D7-330B-4A20-B0A3-AEBE9275C43B}" type="datetimeFigureOut">
              <a:rPr lang="fr-SN" smtClean="0"/>
              <a:t>23/02/2026</a:t>
            </a:fld>
            <a:endParaRPr lang="fr-SN"/>
          </a:p>
        </p:txBody>
      </p:sp>
      <p:sp>
        <p:nvSpPr>
          <p:cNvPr id="6" name="Footer Placeholder 5"/>
          <p:cNvSpPr>
            <a:spLocks noGrp="1"/>
          </p:cNvSpPr>
          <p:nvPr>
            <p:ph type="ftr" sz="quarter" idx="11"/>
          </p:nvPr>
        </p:nvSpPr>
        <p:spPr/>
        <p:txBody>
          <a:bodyPr/>
          <a:lstStyle/>
          <a:p>
            <a:endParaRPr lang="fr-S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07D8F61B-BC3E-4166-808D-1AD07F4F05BF}" type="slidenum">
              <a:rPr lang="fr-SN" smtClean="0"/>
              <a:t>‹N°›</a:t>
            </a:fld>
            <a:endParaRPr lang="fr-SN"/>
          </a:p>
        </p:txBody>
      </p:sp>
    </p:spTree>
    <p:extLst>
      <p:ext uri="{BB962C8B-B14F-4D97-AF65-F5344CB8AC3E}">
        <p14:creationId xmlns:p14="http://schemas.microsoft.com/office/powerpoint/2010/main" val="342068698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arte nom citation">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fr-FR"/>
              <a:t>Modifiez le style du titre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a:t>Cliquez pour modifier les styles du texte du masque</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fr-FR"/>
              <a:t>Cliquez pour modifier les styles du texte du masque</a:t>
            </a:r>
          </a:p>
        </p:txBody>
      </p:sp>
      <p:sp>
        <p:nvSpPr>
          <p:cNvPr id="5" name="Date Placeholder 4"/>
          <p:cNvSpPr>
            <a:spLocks noGrp="1"/>
          </p:cNvSpPr>
          <p:nvPr>
            <p:ph type="dt" sz="half" idx="10"/>
          </p:nvPr>
        </p:nvSpPr>
        <p:spPr/>
        <p:txBody>
          <a:bodyPr/>
          <a:lstStyle/>
          <a:p>
            <a:fld id="{8E0073D7-330B-4A20-B0A3-AEBE9275C43B}" type="datetimeFigureOut">
              <a:rPr lang="fr-SN" smtClean="0"/>
              <a:t>23/02/2026</a:t>
            </a:fld>
            <a:endParaRPr lang="fr-SN"/>
          </a:p>
        </p:txBody>
      </p:sp>
      <p:sp>
        <p:nvSpPr>
          <p:cNvPr id="6" name="Footer Placeholder 5"/>
          <p:cNvSpPr>
            <a:spLocks noGrp="1"/>
          </p:cNvSpPr>
          <p:nvPr>
            <p:ph type="ftr" sz="quarter" idx="11"/>
          </p:nvPr>
        </p:nvSpPr>
        <p:spPr/>
        <p:txBody>
          <a:bodyPr/>
          <a:lstStyle/>
          <a:p>
            <a:endParaRPr lang="fr-SN"/>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07D8F61B-BC3E-4166-808D-1AD07F4F05BF}" type="slidenum">
              <a:rPr lang="fr-SN" smtClean="0"/>
              <a:t>‹N°›</a:t>
            </a:fld>
            <a:endParaRPr lang="fr-S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99085484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rai ou faux">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fr-FR"/>
              <a:t>Modifiez le style du titre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a:t>Cliquez pour modifier les styles du texte du masque</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fr-FR"/>
              <a:t>Cliquez pour modifier les styles du texte du masque</a:t>
            </a:r>
          </a:p>
        </p:txBody>
      </p:sp>
      <p:sp>
        <p:nvSpPr>
          <p:cNvPr id="5" name="Date Placeholder 4"/>
          <p:cNvSpPr>
            <a:spLocks noGrp="1"/>
          </p:cNvSpPr>
          <p:nvPr>
            <p:ph type="dt" sz="half" idx="10"/>
          </p:nvPr>
        </p:nvSpPr>
        <p:spPr/>
        <p:txBody>
          <a:bodyPr/>
          <a:lstStyle/>
          <a:p>
            <a:fld id="{8E0073D7-330B-4A20-B0A3-AEBE9275C43B}" type="datetimeFigureOut">
              <a:rPr lang="fr-SN" smtClean="0"/>
              <a:t>23/02/2026</a:t>
            </a:fld>
            <a:endParaRPr lang="fr-SN"/>
          </a:p>
        </p:txBody>
      </p:sp>
      <p:sp>
        <p:nvSpPr>
          <p:cNvPr id="6" name="Footer Placeholder 5"/>
          <p:cNvSpPr>
            <a:spLocks noGrp="1"/>
          </p:cNvSpPr>
          <p:nvPr>
            <p:ph type="ftr" sz="quarter" idx="11"/>
          </p:nvPr>
        </p:nvSpPr>
        <p:spPr/>
        <p:txBody>
          <a:bodyPr/>
          <a:lstStyle/>
          <a:p>
            <a:endParaRPr lang="fr-S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07D8F61B-BC3E-4166-808D-1AD07F4F05BF}" type="slidenum">
              <a:rPr lang="fr-SN" smtClean="0"/>
              <a:t>‹N°›</a:t>
            </a:fld>
            <a:endParaRPr lang="fr-SN"/>
          </a:p>
        </p:txBody>
      </p:sp>
    </p:spTree>
    <p:extLst>
      <p:ext uri="{BB962C8B-B14F-4D97-AF65-F5344CB8AC3E}">
        <p14:creationId xmlns:p14="http://schemas.microsoft.com/office/powerpoint/2010/main" val="316570655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ncho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8E0073D7-330B-4A20-B0A3-AEBE9275C43B}" type="datetimeFigureOut">
              <a:rPr lang="fr-SN" smtClean="0"/>
              <a:t>23/02/2026</a:t>
            </a:fld>
            <a:endParaRPr lang="fr-SN"/>
          </a:p>
        </p:txBody>
      </p:sp>
      <p:sp>
        <p:nvSpPr>
          <p:cNvPr id="5" name="Footer Placeholder 4"/>
          <p:cNvSpPr>
            <a:spLocks noGrp="1"/>
          </p:cNvSpPr>
          <p:nvPr>
            <p:ph type="ftr" sz="quarter" idx="11"/>
          </p:nvPr>
        </p:nvSpPr>
        <p:spPr/>
        <p:txBody>
          <a:bodyPr/>
          <a:lstStyle/>
          <a:p>
            <a:endParaRPr lang="fr-S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07D8F61B-BC3E-4166-808D-1AD07F4F05BF}" type="slidenum">
              <a:rPr lang="fr-SN" smtClean="0"/>
              <a:t>‹N°›</a:t>
            </a:fld>
            <a:endParaRPr lang="fr-SN"/>
          </a:p>
        </p:txBody>
      </p:sp>
    </p:spTree>
    <p:extLst>
      <p:ext uri="{BB962C8B-B14F-4D97-AF65-F5344CB8AC3E}">
        <p14:creationId xmlns:p14="http://schemas.microsoft.com/office/powerpoint/2010/main" val="331023826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fr-FR"/>
              <a:t>Modifiez le style du titre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8E0073D7-330B-4A20-B0A3-AEBE9275C43B}" type="datetimeFigureOut">
              <a:rPr lang="fr-SN" smtClean="0"/>
              <a:t>23/02/2026</a:t>
            </a:fld>
            <a:endParaRPr lang="fr-SN"/>
          </a:p>
        </p:txBody>
      </p:sp>
      <p:sp>
        <p:nvSpPr>
          <p:cNvPr id="5" name="Footer Placeholder 4"/>
          <p:cNvSpPr>
            <a:spLocks noGrp="1"/>
          </p:cNvSpPr>
          <p:nvPr>
            <p:ph type="ftr" sz="quarter" idx="11"/>
          </p:nvPr>
        </p:nvSpPr>
        <p:spPr/>
        <p:txBody>
          <a:bodyPr/>
          <a:lstStyle/>
          <a:p>
            <a:endParaRPr lang="fr-S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07D8F61B-BC3E-4166-808D-1AD07F4F05BF}" type="slidenum">
              <a:rPr lang="fr-SN" smtClean="0"/>
              <a:t>‹N°›</a:t>
            </a:fld>
            <a:endParaRPr lang="fr-SN"/>
          </a:p>
        </p:txBody>
      </p:sp>
    </p:spTree>
    <p:extLst>
      <p:ext uri="{BB962C8B-B14F-4D97-AF65-F5344CB8AC3E}">
        <p14:creationId xmlns:p14="http://schemas.microsoft.com/office/powerpoint/2010/main" val="40837743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fr-SN"/>
            </a:p>
          </p:txBody>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fr-SN"/>
            </a:p>
          </p:txBody>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fr-SN"/>
            </a:p>
          </p:txBody>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fr-SN"/>
            </a:p>
          </p:txBody>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fr-SN"/>
            </a:p>
          </p:txBody>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fr-SN"/>
            </a:p>
          </p:txBody>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fr-SN"/>
            </a:p>
          </p:txBody>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fr-SN"/>
            </a:p>
          </p:txBody>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fr-SN"/>
            </a:p>
          </p:txBody>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fr-SN"/>
            </a:p>
          </p:txBody>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fr-SN"/>
            </a:p>
          </p:txBody>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fr-SN"/>
            </a:p>
          </p:txBody>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fr-SN"/>
            </a:p>
          </p:txBody>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fr-SN"/>
            </a:p>
          </p:txBody>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fr-SN"/>
            </a:p>
          </p:txBody>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fr-SN"/>
            </a:p>
          </p:txBody>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fr-SN"/>
            </a:p>
          </p:txBody>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fr-SN"/>
            </a:p>
          </p:txBody>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fr-SN"/>
            </a:p>
          </p:txBody>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fr-SN"/>
            </a:p>
          </p:txBody>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fr-SN"/>
            </a:p>
          </p:txBody>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fr-SN"/>
            </a:p>
          </p:txBody>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fr-SN"/>
            </a:p>
          </p:txBody>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fr-SN"/>
            </a:p>
          </p:txBody>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SN"/>
          </a:p>
        </p:txBody>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fr-FR"/>
              <a:t>Modifiez le style du titre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8E0073D7-330B-4A20-B0A3-AEBE9275C43B}" type="datetimeFigureOut">
              <a:rPr lang="fr-SN" smtClean="0"/>
              <a:t>23/02/2026</a:t>
            </a:fld>
            <a:endParaRPr lang="fr-SN"/>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fr-SN"/>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07D8F61B-BC3E-4166-808D-1AD07F4F05BF}" type="slidenum">
              <a:rPr lang="fr-SN" smtClean="0"/>
              <a:t>‹N°›</a:t>
            </a:fld>
            <a:endParaRPr lang="fr-SN"/>
          </a:p>
        </p:txBody>
      </p:sp>
      <p:sp>
        <p:nvSpPr>
          <p:cNvPr id="9" name="ZoneTexte 8">
            <a:extLst>
              <a:ext uri="{FF2B5EF4-FFF2-40B4-BE49-F238E27FC236}">
                <a16:creationId xmlns:a16="http://schemas.microsoft.com/office/drawing/2014/main" id="{BA421B88-7205-2036-5E19-461B605D12C5}"/>
              </a:ext>
            </a:extLst>
          </p:cNvPr>
          <p:cNvSpPr txBox="1"/>
          <p:nvPr userDrawn="1">
            <p:extLst>
              <p:ext uri="{1162E1C5-73C7-4A58-AE30-91384D911F3F}">
                <p184:classification xmlns:p184="http://schemas.microsoft.com/office/powerpoint/2018/4/main" val="ftr"/>
              </p:ext>
            </p:extLst>
          </p:nvPr>
        </p:nvSpPr>
        <p:spPr>
          <a:xfrm>
            <a:off x="190500" y="6515100"/>
            <a:ext cx="1069975" cy="152400"/>
          </a:xfrm>
          <a:prstGeom prst="rect">
            <a:avLst/>
          </a:prstGeom>
        </p:spPr>
        <p:txBody>
          <a:bodyPr horzOverflow="overflow" lIns="0" tIns="0" rIns="0" bIns="0">
            <a:spAutoFit/>
          </a:bodyPr>
          <a:lstStyle/>
          <a:p>
            <a:pPr algn="l"/>
            <a:r>
              <a:rPr lang="fr-SN" sz="1000">
                <a:solidFill>
                  <a:srgbClr val="000000">
                    <a:alpha val="50000"/>
                  </a:srgbClr>
                </a:solidFill>
                <a:latin typeface="Aptos" panose="020B0004020202020204" pitchFamily="34" charset="0"/>
              </a:rPr>
              <a:t>Sensitivity: Internal</a:t>
            </a:r>
          </a:p>
        </p:txBody>
      </p:sp>
    </p:spTree>
    <p:extLst>
      <p:ext uri="{BB962C8B-B14F-4D97-AF65-F5344CB8AC3E}">
        <p14:creationId xmlns:p14="http://schemas.microsoft.com/office/powerpoint/2010/main" val="292291024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7E83CAC-3114-0D35-FA5E-DADC7D81C80B}"/>
              </a:ext>
            </a:extLst>
          </p:cNvPr>
          <p:cNvSpPr>
            <a:spLocks noGrp="1"/>
          </p:cNvSpPr>
          <p:nvPr>
            <p:ph type="ctrTitle"/>
          </p:nvPr>
        </p:nvSpPr>
        <p:spPr/>
        <p:txBody>
          <a:bodyPr/>
          <a:lstStyle/>
          <a:p>
            <a:r>
              <a:rPr lang="fr-FR" dirty="0"/>
              <a:t>SAUVEGARDE ET RESTAURATION VCENTER</a:t>
            </a:r>
            <a:endParaRPr lang="fr-SN" dirty="0"/>
          </a:p>
        </p:txBody>
      </p:sp>
      <p:sp>
        <p:nvSpPr>
          <p:cNvPr id="3" name="Sous-titre 2">
            <a:extLst>
              <a:ext uri="{FF2B5EF4-FFF2-40B4-BE49-F238E27FC236}">
                <a16:creationId xmlns:a16="http://schemas.microsoft.com/office/drawing/2014/main" id="{C5723C96-7712-AEA0-030E-F99BD01E1EA0}"/>
              </a:ext>
            </a:extLst>
          </p:cNvPr>
          <p:cNvSpPr>
            <a:spLocks noGrp="1"/>
          </p:cNvSpPr>
          <p:nvPr>
            <p:ph type="subTitle" idx="1"/>
          </p:nvPr>
        </p:nvSpPr>
        <p:spPr/>
        <p:txBody>
          <a:bodyPr/>
          <a:lstStyle/>
          <a:p>
            <a:br>
              <a:rPr lang="fr-FR" dirty="0"/>
            </a:br>
            <a:endParaRPr lang="fr-SN" dirty="0"/>
          </a:p>
        </p:txBody>
      </p:sp>
    </p:spTree>
    <p:extLst>
      <p:ext uri="{BB962C8B-B14F-4D97-AF65-F5344CB8AC3E}">
        <p14:creationId xmlns:p14="http://schemas.microsoft.com/office/powerpoint/2010/main" val="4236572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BFB2ADA-E07A-66BF-0BAB-46EC528FD373}"/>
              </a:ext>
            </a:extLst>
          </p:cNvPr>
          <p:cNvSpPr>
            <a:spLocks noGrp="1"/>
          </p:cNvSpPr>
          <p:nvPr>
            <p:ph type="title"/>
          </p:nvPr>
        </p:nvSpPr>
        <p:spPr/>
        <p:txBody>
          <a:bodyPr>
            <a:normAutofit fontScale="90000"/>
          </a:bodyPr>
          <a:lstStyle/>
          <a:p>
            <a:r>
              <a:rPr lang="fr-SN" b="1" dirty="0"/>
              <a:t>Objectifs d'apprentissage</a:t>
            </a:r>
            <a:br>
              <a:rPr lang="fr-SN" b="1" dirty="0"/>
            </a:br>
            <a:br>
              <a:rPr lang="fr-SN" b="1" dirty="0"/>
            </a:br>
            <a:br>
              <a:rPr lang="fr-SN" dirty="0"/>
            </a:br>
            <a:endParaRPr lang="fr-SN" dirty="0"/>
          </a:p>
        </p:txBody>
      </p:sp>
      <p:sp>
        <p:nvSpPr>
          <p:cNvPr id="3" name="Espace réservé du contenu 2">
            <a:extLst>
              <a:ext uri="{FF2B5EF4-FFF2-40B4-BE49-F238E27FC236}">
                <a16:creationId xmlns:a16="http://schemas.microsoft.com/office/drawing/2014/main" id="{111E1508-30BC-4150-5F3F-CA37175B6DB0}"/>
              </a:ext>
            </a:extLst>
          </p:cNvPr>
          <p:cNvSpPr>
            <a:spLocks noGrp="1"/>
          </p:cNvSpPr>
          <p:nvPr>
            <p:ph idx="1"/>
          </p:nvPr>
        </p:nvSpPr>
        <p:spPr/>
        <p:txBody>
          <a:bodyPr>
            <a:normAutofit/>
          </a:bodyPr>
          <a:lstStyle/>
          <a:p>
            <a:r>
              <a:rPr lang="fr-FR" dirty="0"/>
              <a:t>Créer un calendrier de sauvegarde de vCenter</a:t>
            </a:r>
          </a:p>
          <a:p>
            <a:r>
              <a:rPr lang="fr-FR" dirty="0"/>
              <a:t>Restaurer vCenter à partir d’une sauvegarde</a:t>
            </a:r>
          </a:p>
          <a:p>
            <a:r>
              <a:rPr lang="fr-FR" dirty="0"/>
              <a:t>Configurer une sauvegarde de </a:t>
            </a:r>
            <a:r>
              <a:rPr lang="fr-FR" dirty="0" err="1"/>
              <a:t>l’appliance</a:t>
            </a:r>
            <a:r>
              <a:rPr lang="fr-FR" dirty="0"/>
              <a:t> vCenter</a:t>
            </a:r>
          </a:p>
          <a:p>
            <a:pPr marL="0" indent="0">
              <a:buNone/>
            </a:pPr>
            <a:endParaRPr lang="fr-SN" dirty="0"/>
          </a:p>
        </p:txBody>
      </p:sp>
    </p:spTree>
    <p:extLst>
      <p:ext uri="{BB962C8B-B14F-4D97-AF65-F5344CB8AC3E}">
        <p14:creationId xmlns:p14="http://schemas.microsoft.com/office/powerpoint/2010/main" val="30085853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4CEAFC5-70B9-8241-DAFE-E36ED4011EDA}"/>
              </a:ext>
            </a:extLst>
          </p:cNvPr>
          <p:cNvSpPr>
            <a:spLocks noGrp="1"/>
          </p:cNvSpPr>
          <p:nvPr>
            <p:ph type="title"/>
          </p:nvPr>
        </p:nvSpPr>
        <p:spPr>
          <a:xfrm>
            <a:off x="1949451" y="624110"/>
            <a:ext cx="9555162" cy="1280890"/>
          </a:xfrm>
        </p:spPr>
        <p:txBody>
          <a:bodyPr>
            <a:normAutofit fontScale="90000"/>
          </a:bodyPr>
          <a:lstStyle/>
          <a:p>
            <a:r>
              <a:rPr lang="fr-FR" b="1" dirty="0"/>
              <a:t>À propos de la sauvegarde et de la restauration de vCenter</a:t>
            </a:r>
            <a:br>
              <a:rPr lang="fr-FR" b="1" dirty="0"/>
            </a:br>
            <a:br>
              <a:rPr lang="fr-FR" dirty="0"/>
            </a:br>
            <a:endParaRPr lang="fr-SN" b="1" dirty="0"/>
          </a:p>
        </p:txBody>
      </p:sp>
      <p:sp>
        <p:nvSpPr>
          <p:cNvPr id="3" name="Espace réservé du contenu 2">
            <a:extLst>
              <a:ext uri="{FF2B5EF4-FFF2-40B4-BE49-F238E27FC236}">
                <a16:creationId xmlns:a16="http://schemas.microsoft.com/office/drawing/2014/main" id="{139F2773-8D3D-F021-83CE-618B42225BD2}"/>
              </a:ext>
            </a:extLst>
          </p:cNvPr>
          <p:cNvSpPr>
            <a:spLocks noGrp="1"/>
          </p:cNvSpPr>
          <p:nvPr>
            <p:ph idx="1"/>
          </p:nvPr>
        </p:nvSpPr>
        <p:spPr/>
        <p:txBody>
          <a:bodyPr/>
          <a:lstStyle/>
          <a:p>
            <a:pPr marL="0" indent="0">
              <a:buNone/>
            </a:pPr>
            <a:r>
              <a:rPr lang="fr-FR" dirty="0"/>
              <a:t>Les opérations de sauvegarde et de restauration de vCenter protègent les données. Ces opérations fonctionnent de la manière suivante :</a:t>
            </a:r>
          </a:p>
          <a:p>
            <a:r>
              <a:rPr lang="fr-FR" dirty="0"/>
              <a:t>Utiliser l’interface de gestion de vCenter</a:t>
            </a:r>
          </a:p>
          <a:p>
            <a:r>
              <a:rPr lang="fr-FR" dirty="0"/>
              <a:t>Supprimer la dépendance aux solutions de sauvegarde tierces</a:t>
            </a:r>
          </a:p>
          <a:p>
            <a:r>
              <a:rPr lang="fr-FR" dirty="0"/>
              <a:t>Prendre en charge FTPS, HTTP, HTTPS, SFTP, FTP, NFS et SMB</a:t>
            </a:r>
          </a:p>
          <a:p>
            <a:r>
              <a:rPr lang="fr-FR" dirty="0"/>
              <a:t>Inclure l’option de chiffrement des sauvegardes</a:t>
            </a:r>
          </a:p>
          <a:p>
            <a:r>
              <a:rPr lang="fr-FR" dirty="0"/>
              <a:t>Restaurer directement à partir de l’installateur GUI de vCenter</a:t>
            </a:r>
          </a:p>
          <a:p>
            <a:r>
              <a:rPr lang="fr-FR" dirty="0"/>
              <a:t>Restaurer une instance vCenter vers une nouvelle </a:t>
            </a:r>
            <a:r>
              <a:rPr lang="fr-FR" dirty="0" err="1"/>
              <a:t>appliance</a:t>
            </a:r>
            <a:endParaRPr lang="fr-FR" dirty="0"/>
          </a:p>
          <a:p>
            <a:pPr marL="0" indent="0">
              <a:buNone/>
            </a:pPr>
            <a:endParaRPr lang="fr-SN" dirty="0"/>
          </a:p>
        </p:txBody>
      </p:sp>
    </p:spTree>
    <p:extLst>
      <p:ext uri="{BB962C8B-B14F-4D97-AF65-F5344CB8AC3E}">
        <p14:creationId xmlns:p14="http://schemas.microsoft.com/office/powerpoint/2010/main" val="13720941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useBgFill="1">
        <p:nvSpPr>
          <p:cNvPr id="1099" name="Rectangle 1098">
            <a:extLst>
              <a:ext uri="{FF2B5EF4-FFF2-40B4-BE49-F238E27FC236}">
                <a16:creationId xmlns:a16="http://schemas.microsoft.com/office/drawing/2014/main" id="{3F4C104D-5F30-4811-9376-566B26E471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6"/>
            <a:ext cx="12192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CC1F351C-C5B9-F448-1917-52472057DAA8}"/>
              </a:ext>
            </a:extLst>
          </p:cNvPr>
          <p:cNvSpPr>
            <a:spLocks noGrp="1"/>
          </p:cNvSpPr>
          <p:nvPr>
            <p:ph type="title"/>
          </p:nvPr>
        </p:nvSpPr>
        <p:spPr>
          <a:xfrm>
            <a:off x="649224" y="645106"/>
            <a:ext cx="3650279" cy="1259894"/>
          </a:xfrm>
        </p:spPr>
        <p:txBody>
          <a:bodyPr>
            <a:normAutofit/>
          </a:bodyPr>
          <a:lstStyle/>
          <a:p>
            <a:pPr>
              <a:lnSpc>
                <a:spcPct val="90000"/>
              </a:lnSpc>
            </a:pPr>
            <a:r>
              <a:rPr lang="fr-FR" sz="1700" b="1"/>
              <a:t>À propos de la sauvegarde et de la restauration de vCenter</a:t>
            </a:r>
            <a:br>
              <a:rPr lang="fr-FR" sz="1700" b="1"/>
            </a:br>
            <a:br>
              <a:rPr lang="fr-SN" sz="1700" b="1"/>
            </a:br>
            <a:br>
              <a:rPr lang="fr-SN" sz="1700"/>
            </a:br>
            <a:endParaRPr lang="fr-SN" sz="1700"/>
          </a:p>
        </p:txBody>
      </p:sp>
      <p:sp>
        <p:nvSpPr>
          <p:cNvPr id="1100" name="Rectangle 1099">
            <a:extLst>
              <a:ext uri="{FF2B5EF4-FFF2-40B4-BE49-F238E27FC236}">
                <a16:creationId xmlns:a16="http://schemas.microsoft.com/office/drawing/2014/main" id="{0815E34B-5D02-4E01-A936-E8E1C0AB6F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SN"/>
          </a:p>
        </p:txBody>
      </p:sp>
      <p:sp>
        <p:nvSpPr>
          <p:cNvPr id="3" name="Espace réservé du contenu 2">
            <a:extLst>
              <a:ext uri="{FF2B5EF4-FFF2-40B4-BE49-F238E27FC236}">
                <a16:creationId xmlns:a16="http://schemas.microsoft.com/office/drawing/2014/main" id="{0F09EB82-6A63-1233-E3BF-B9CB755E51B2}"/>
              </a:ext>
            </a:extLst>
          </p:cNvPr>
          <p:cNvSpPr>
            <a:spLocks noGrp="1"/>
          </p:cNvSpPr>
          <p:nvPr>
            <p:ph idx="1"/>
          </p:nvPr>
        </p:nvSpPr>
        <p:spPr>
          <a:xfrm>
            <a:off x="649225" y="2133600"/>
            <a:ext cx="3650278" cy="3759253"/>
          </a:xfrm>
        </p:spPr>
        <p:txBody>
          <a:bodyPr>
            <a:normAutofit/>
          </a:bodyPr>
          <a:lstStyle/>
          <a:p>
            <a:pPr marL="0" indent="0">
              <a:buNone/>
            </a:pPr>
            <a:br>
              <a:rPr lang="fr-FR"/>
            </a:br>
            <a:endParaRPr lang="fr-FR" dirty="0"/>
          </a:p>
        </p:txBody>
      </p:sp>
      <p:pic>
        <p:nvPicPr>
          <p:cNvPr id="1028" name="Picture 4">
            <a:extLst>
              <a:ext uri="{FF2B5EF4-FFF2-40B4-BE49-F238E27FC236}">
                <a16:creationId xmlns:a16="http://schemas.microsoft.com/office/drawing/2014/main" id="{A5ED9B07-D01B-3C57-64B1-8775DAB1383A}"/>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619543" y="895929"/>
            <a:ext cx="6953577" cy="4741075"/>
          </a:xfrm>
          <a:prstGeom prst="rect">
            <a:avLst/>
          </a:prstGeom>
          <a:noFill/>
          <a:extLst>
            <a:ext uri="{909E8E84-426E-40DD-AFC4-6F175D3DCCD1}">
              <a14:hiddenFill xmlns:a14="http://schemas.microsoft.com/office/drawing/2010/main">
                <a:solidFill>
                  <a:srgbClr val="FFFFFF"/>
                </a:solidFill>
              </a14:hiddenFill>
            </a:ext>
          </a:extLst>
        </p:spPr>
      </p:pic>
      <p:sp>
        <p:nvSpPr>
          <p:cNvPr id="1101" name="Freeform 11">
            <a:extLst>
              <a:ext uri="{FF2B5EF4-FFF2-40B4-BE49-F238E27FC236}">
                <a16:creationId xmlns:a16="http://schemas.microsoft.com/office/drawing/2014/main" id="{7DE3414B-B032-4710-A468-D3285E38C5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061223"/>
            <a:ext cx="1038036" cy="506277"/>
          </a:xfrm>
          <a:custGeom>
            <a:avLst/>
            <a:gdLst>
              <a:gd name="connsiteX0" fmla="*/ 0 w 1038036"/>
              <a:gd name="connsiteY0" fmla="*/ 0 h 506277"/>
              <a:gd name="connsiteX1" fmla="*/ 182880 w 1038036"/>
              <a:gd name="connsiteY1" fmla="*/ 0 h 506277"/>
              <a:gd name="connsiteX2" fmla="*/ 291705 w 1038036"/>
              <a:gd name="connsiteY2" fmla="*/ 0 h 506277"/>
              <a:gd name="connsiteX3" fmla="*/ 291705 w 1038036"/>
              <a:gd name="connsiteY3" fmla="*/ 151 h 506277"/>
              <a:gd name="connsiteX4" fmla="*/ 692049 w 1038036"/>
              <a:gd name="connsiteY4" fmla="*/ 705 h 506277"/>
              <a:gd name="connsiteX5" fmla="*/ 782744 w 1038036"/>
              <a:gd name="connsiteY5" fmla="*/ 705 h 506277"/>
              <a:gd name="connsiteX6" fmla="*/ 797001 w 1038036"/>
              <a:gd name="connsiteY6" fmla="*/ 5473 h 506277"/>
              <a:gd name="connsiteX7" fmla="*/ 801982 w 1038036"/>
              <a:gd name="connsiteY7" fmla="*/ 10242 h 506277"/>
              <a:gd name="connsiteX8" fmla="*/ 1030951 w 1038036"/>
              <a:gd name="connsiteY8" fmla="*/ 239185 h 506277"/>
              <a:gd name="connsiteX9" fmla="*/ 1030951 w 1038036"/>
              <a:gd name="connsiteY9" fmla="*/ 267797 h 506277"/>
              <a:gd name="connsiteX10" fmla="*/ 801982 w 1038036"/>
              <a:gd name="connsiteY10" fmla="*/ 496740 h 506277"/>
              <a:gd name="connsiteX11" fmla="*/ 797001 w 1038036"/>
              <a:gd name="connsiteY11" fmla="*/ 501508 h 506277"/>
              <a:gd name="connsiteX12" fmla="*/ 782744 w 1038036"/>
              <a:gd name="connsiteY12" fmla="*/ 506277 h 506277"/>
              <a:gd name="connsiteX13" fmla="*/ 692049 w 1038036"/>
              <a:gd name="connsiteY13" fmla="*/ 506277 h 506277"/>
              <a:gd name="connsiteX14" fmla="*/ 291705 w 1038036"/>
              <a:gd name="connsiteY14" fmla="*/ 505140 h 506277"/>
              <a:gd name="connsiteX15" fmla="*/ 291705 w 1038036"/>
              <a:gd name="connsiteY15" fmla="*/ 506277 h 506277"/>
              <a:gd name="connsiteX16" fmla="*/ 0 w 1038036"/>
              <a:gd name="connsiteY16" fmla="*/ 506277 h 506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38036" h="506277">
                <a:moveTo>
                  <a:pt x="0" y="0"/>
                </a:moveTo>
                <a:lnTo>
                  <a:pt x="182880" y="0"/>
                </a:lnTo>
                <a:lnTo>
                  <a:pt x="291705" y="0"/>
                </a:lnTo>
                <a:lnTo>
                  <a:pt x="291705" y="151"/>
                </a:lnTo>
                <a:lnTo>
                  <a:pt x="692049" y="705"/>
                </a:lnTo>
                <a:lnTo>
                  <a:pt x="782744" y="705"/>
                </a:lnTo>
                <a:cubicBezTo>
                  <a:pt x="787553" y="705"/>
                  <a:pt x="792363" y="5473"/>
                  <a:pt x="797001" y="5473"/>
                </a:cubicBezTo>
                <a:cubicBezTo>
                  <a:pt x="797001" y="10242"/>
                  <a:pt x="801982" y="10242"/>
                  <a:pt x="801982" y="10242"/>
                </a:cubicBezTo>
                <a:lnTo>
                  <a:pt x="1030951" y="239185"/>
                </a:lnTo>
                <a:cubicBezTo>
                  <a:pt x="1040398" y="248722"/>
                  <a:pt x="1040398" y="258259"/>
                  <a:pt x="1030951" y="267797"/>
                </a:cubicBezTo>
                <a:lnTo>
                  <a:pt x="801982" y="496740"/>
                </a:lnTo>
                <a:cubicBezTo>
                  <a:pt x="800436" y="498363"/>
                  <a:pt x="798547" y="499885"/>
                  <a:pt x="797001" y="501508"/>
                </a:cubicBezTo>
                <a:cubicBezTo>
                  <a:pt x="792363" y="506277"/>
                  <a:pt x="787553" y="506277"/>
                  <a:pt x="782744" y="506277"/>
                </a:cubicBezTo>
                <a:lnTo>
                  <a:pt x="692049" y="506277"/>
                </a:lnTo>
                <a:lnTo>
                  <a:pt x="291705" y="505140"/>
                </a:lnTo>
                <a:lnTo>
                  <a:pt x="291705" y="506277"/>
                </a:lnTo>
                <a:lnTo>
                  <a:pt x="0" y="50627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143135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A9E6700-988B-198C-647D-BA98F5D049E8}"/>
              </a:ext>
            </a:extLst>
          </p:cNvPr>
          <p:cNvSpPr>
            <a:spLocks noGrp="1"/>
          </p:cNvSpPr>
          <p:nvPr>
            <p:ph type="title"/>
          </p:nvPr>
        </p:nvSpPr>
        <p:spPr/>
        <p:txBody>
          <a:bodyPr>
            <a:normAutofit fontScale="90000"/>
          </a:bodyPr>
          <a:lstStyle/>
          <a:p>
            <a:r>
              <a:rPr lang="fr-FR" b="1" dirty="0"/>
              <a:t>Méthode pour la sauvegarde et la restauration de vCenter</a:t>
            </a:r>
            <a:br>
              <a:rPr lang="fr-FR" b="1" dirty="0"/>
            </a:br>
            <a:br>
              <a:rPr lang="fr-FR" dirty="0"/>
            </a:br>
            <a:br>
              <a:rPr lang="fr-FR" b="1" dirty="0"/>
            </a:br>
            <a:br>
              <a:rPr lang="fr-FR" dirty="0"/>
            </a:br>
            <a:br>
              <a:rPr lang="fr-SN" b="1" dirty="0"/>
            </a:br>
            <a:br>
              <a:rPr lang="fr-SN" dirty="0"/>
            </a:br>
            <a:endParaRPr lang="fr-SN" dirty="0"/>
          </a:p>
        </p:txBody>
      </p:sp>
      <p:sp>
        <p:nvSpPr>
          <p:cNvPr id="3" name="Espace réservé du contenu 2">
            <a:extLst>
              <a:ext uri="{FF2B5EF4-FFF2-40B4-BE49-F238E27FC236}">
                <a16:creationId xmlns:a16="http://schemas.microsoft.com/office/drawing/2014/main" id="{C113E09D-C899-EC09-C569-2C8FCD5F2969}"/>
              </a:ext>
            </a:extLst>
          </p:cNvPr>
          <p:cNvSpPr>
            <a:spLocks noGrp="1"/>
          </p:cNvSpPr>
          <p:nvPr>
            <p:ph idx="1"/>
          </p:nvPr>
        </p:nvSpPr>
        <p:spPr/>
        <p:txBody>
          <a:bodyPr>
            <a:normAutofit/>
          </a:bodyPr>
          <a:lstStyle/>
          <a:p>
            <a:r>
              <a:rPr lang="fr-FR" dirty="0"/>
              <a:t>Sauvegarde et restauration basées sur des fichiers :</a:t>
            </a:r>
          </a:p>
          <a:p>
            <a:r>
              <a:rPr lang="fr-FR" dirty="0"/>
              <a:t>Utilisez l’interface de gestion de vCenter pour créer une sauvegarde basée sur des fichiers.</a:t>
            </a:r>
          </a:p>
          <a:p>
            <a:r>
              <a:rPr lang="fr-FR" dirty="0"/>
              <a:t>Restaurez la sauvegarde via l’installateur graphique de </a:t>
            </a:r>
            <a:r>
              <a:rPr lang="fr-FR" dirty="0" err="1"/>
              <a:t>l’appliance</a:t>
            </a:r>
            <a:r>
              <a:rPr lang="fr-FR" dirty="0"/>
              <a:t>.</a:t>
            </a:r>
          </a:p>
          <a:p>
            <a:r>
              <a:rPr lang="fr-FR" dirty="0"/>
              <a:t>Planifiez la sauvegarde et la restauration basées sur des fichiers.</a:t>
            </a:r>
          </a:p>
          <a:p>
            <a:pPr marL="0" indent="0">
              <a:buNone/>
            </a:pPr>
            <a:endParaRPr lang="fr-SN" dirty="0"/>
          </a:p>
        </p:txBody>
      </p:sp>
    </p:spTree>
    <p:extLst>
      <p:ext uri="{BB962C8B-B14F-4D97-AF65-F5344CB8AC3E}">
        <p14:creationId xmlns:p14="http://schemas.microsoft.com/office/powerpoint/2010/main" val="24554450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903642E-BFB6-7D8E-FE43-D174F21C51F3}"/>
              </a:ext>
            </a:extLst>
          </p:cNvPr>
          <p:cNvSpPr>
            <a:spLocks noGrp="1"/>
          </p:cNvSpPr>
          <p:nvPr>
            <p:ph type="title"/>
          </p:nvPr>
        </p:nvSpPr>
        <p:spPr/>
        <p:txBody>
          <a:bodyPr>
            <a:normAutofit fontScale="90000"/>
          </a:bodyPr>
          <a:lstStyle/>
          <a:p>
            <a:r>
              <a:rPr lang="fr-SN" b="1" dirty="0"/>
              <a:t>Planification des sauvegardes</a:t>
            </a:r>
            <a:br>
              <a:rPr lang="fr-SN" b="1" dirty="0"/>
            </a:br>
            <a:br>
              <a:rPr lang="fr-SN" dirty="0"/>
            </a:br>
            <a:br>
              <a:rPr lang="fr-SN" b="1" dirty="0"/>
            </a:br>
            <a:br>
              <a:rPr lang="fr-SN" dirty="0"/>
            </a:br>
            <a:endParaRPr lang="fr-FR" b="1" dirty="0"/>
          </a:p>
        </p:txBody>
      </p:sp>
      <p:sp>
        <p:nvSpPr>
          <p:cNvPr id="4" name="Espace réservé du contenu 3">
            <a:extLst>
              <a:ext uri="{FF2B5EF4-FFF2-40B4-BE49-F238E27FC236}">
                <a16:creationId xmlns:a16="http://schemas.microsoft.com/office/drawing/2014/main" id="{4D843E96-A55C-27EB-86F6-567D5EE232D4}"/>
              </a:ext>
            </a:extLst>
          </p:cNvPr>
          <p:cNvSpPr>
            <a:spLocks noGrp="1"/>
          </p:cNvSpPr>
          <p:nvPr>
            <p:ph idx="1"/>
          </p:nvPr>
        </p:nvSpPr>
        <p:spPr/>
        <p:txBody>
          <a:bodyPr>
            <a:normAutofit/>
          </a:bodyPr>
          <a:lstStyle/>
          <a:p>
            <a:r>
              <a:rPr lang="fr-FR" dirty="0"/>
              <a:t>Vous pouvez planifier des sauvegardes automatiques basées sur des fichiers.</a:t>
            </a:r>
            <a:br>
              <a:rPr lang="fr-FR" dirty="0"/>
            </a:br>
            <a:r>
              <a:rPr lang="fr-FR" dirty="0"/>
              <a:t>Le planificateur de sauvegarde prend en charge :</a:t>
            </a:r>
          </a:p>
          <a:p>
            <a:r>
              <a:rPr lang="fr-FR" dirty="0"/>
              <a:t>Une politique de rétention pour conserver toutes les sauvegardes ou un nombre défini de sauvegardes.</a:t>
            </a:r>
          </a:p>
          <a:p>
            <a:r>
              <a:rPr lang="fr-FR" dirty="0"/>
              <a:t>Une planification quotidienne, hebdomadaire ou personnalisée.</a:t>
            </a:r>
          </a:p>
          <a:p>
            <a:r>
              <a:rPr lang="fr-FR" dirty="0"/>
              <a:t>Les sauvegardes échouées déclenchent une alarme dans le client vSphere.</a:t>
            </a:r>
          </a:p>
          <a:p>
            <a:pPr marL="0" indent="0">
              <a:buNone/>
            </a:pPr>
            <a:endParaRPr lang="fr-SN" dirty="0"/>
          </a:p>
        </p:txBody>
      </p:sp>
    </p:spTree>
    <p:extLst>
      <p:ext uri="{BB962C8B-B14F-4D97-AF65-F5344CB8AC3E}">
        <p14:creationId xmlns:p14="http://schemas.microsoft.com/office/powerpoint/2010/main" val="566586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2834754-B49A-48D1-C37F-6345ED4A6D12}"/>
              </a:ext>
            </a:extLst>
          </p:cNvPr>
          <p:cNvSpPr>
            <a:spLocks noGrp="1"/>
          </p:cNvSpPr>
          <p:nvPr>
            <p:ph type="title"/>
          </p:nvPr>
        </p:nvSpPr>
        <p:spPr/>
        <p:txBody>
          <a:bodyPr>
            <a:normAutofit fontScale="90000"/>
          </a:bodyPr>
          <a:lstStyle/>
          <a:p>
            <a:r>
              <a:rPr lang="fr-SN" b="1" dirty="0"/>
              <a:t>Planification des sauvegardes</a:t>
            </a:r>
            <a:br>
              <a:rPr lang="fr-SN" b="1" dirty="0"/>
            </a:br>
            <a:br>
              <a:rPr lang="fr-SN" dirty="0"/>
            </a:br>
            <a:endParaRPr lang="fr-SN" dirty="0"/>
          </a:p>
        </p:txBody>
      </p:sp>
      <p:sp>
        <p:nvSpPr>
          <p:cNvPr id="4" name="Espace réservé du contenu 3">
            <a:extLst>
              <a:ext uri="{FF2B5EF4-FFF2-40B4-BE49-F238E27FC236}">
                <a16:creationId xmlns:a16="http://schemas.microsoft.com/office/drawing/2014/main" id="{0AABDA50-4C0D-8C1A-481F-FFEB01BA9B9F}"/>
              </a:ext>
            </a:extLst>
          </p:cNvPr>
          <p:cNvSpPr>
            <a:spLocks noGrp="1"/>
          </p:cNvSpPr>
          <p:nvPr>
            <p:ph idx="1"/>
          </p:nvPr>
        </p:nvSpPr>
        <p:spPr>
          <a:xfrm>
            <a:off x="2405062" y="2024062"/>
            <a:ext cx="8915400" cy="3777622"/>
          </a:xfrm>
        </p:spPr>
        <p:txBody>
          <a:bodyPr>
            <a:normAutofit/>
          </a:bodyPr>
          <a:lstStyle/>
          <a:p>
            <a:br>
              <a:rPr lang="fr-FR" dirty="0"/>
            </a:br>
            <a:endParaRPr lang="fr-SN" dirty="0"/>
          </a:p>
        </p:txBody>
      </p:sp>
      <p:pic>
        <p:nvPicPr>
          <p:cNvPr id="2050" name="Picture 2">
            <a:extLst>
              <a:ext uri="{FF2B5EF4-FFF2-40B4-BE49-F238E27FC236}">
                <a16:creationId xmlns:a16="http://schemas.microsoft.com/office/drawing/2014/main" id="{1B62BF43-457E-0153-F871-6E69C7E59EA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11488" y="1905000"/>
            <a:ext cx="5800725" cy="28289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062794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389E66D-C489-B847-8BDB-A81183750885}"/>
              </a:ext>
            </a:extLst>
          </p:cNvPr>
          <p:cNvSpPr>
            <a:spLocks noGrp="1"/>
          </p:cNvSpPr>
          <p:nvPr>
            <p:ph type="title"/>
          </p:nvPr>
        </p:nvSpPr>
        <p:spPr/>
        <p:txBody>
          <a:bodyPr>
            <a:normAutofit fontScale="90000"/>
          </a:bodyPr>
          <a:lstStyle/>
          <a:p>
            <a:r>
              <a:rPr lang="fr-FR" b="1" dirty="0"/>
              <a:t>Affichage du calendrier de sauvegarde</a:t>
            </a:r>
            <a:br>
              <a:rPr lang="fr-FR" b="1" dirty="0"/>
            </a:br>
            <a:br>
              <a:rPr lang="fr-FR" dirty="0"/>
            </a:br>
            <a:endParaRPr lang="fr-SN" dirty="0"/>
          </a:p>
        </p:txBody>
      </p:sp>
      <p:sp>
        <p:nvSpPr>
          <p:cNvPr id="4" name="ZoneTexte 3">
            <a:extLst>
              <a:ext uri="{FF2B5EF4-FFF2-40B4-BE49-F238E27FC236}">
                <a16:creationId xmlns:a16="http://schemas.microsoft.com/office/drawing/2014/main" id="{9B3B23EA-DD59-6C03-1774-1BDCF89624C3}"/>
              </a:ext>
            </a:extLst>
          </p:cNvPr>
          <p:cNvSpPr txBox="1"/>
          <p:nvPr/>
        </p:nvSpPr>
        <p:spPr>
          <a:xfrm>
            <a:off x="2547938" y="1674674"/>
            <a:ext cx="7002462" cy="2059126"/>
          </a:xfrm>
          <a:prstGeom prst="rect">
            <a:avLst/>
          </a:prstGeom>
          <a:noFill/>
        </p:spPr>
        <p:txBody>
          <a:bodyPr wrap="square">
            <a:spAutoFit/>
          </a:bodyPr>
          <a:lstStyle/>
          <a:p>
            <a:r>
              <a:rPr lang="fr-FR" dirty="0"/>
              <a:t>Vous pouvez afficher le calendrier de sauvegarde existant défini à partir de l’interface de gestion de vCenter.</a:t>
            </a:r>
            <a:br>
              <a:rPr lang="fr-FR" dirty="0"/>
            </a:br>
            <a:r>
              <a:rPr lang="fr-FR" dirty="0"/>
              <a:t>Le calendrier de sauvegarde peut être modifié, désactivé ou supprimé.</a:t>
            </a:r>
          </a:p>
          <a:p>
            <a:br>
              <a:rPr lang="fr-FR" dirty="0"/>
            </a:br>
            <a:br>
              <a:rPr lang="fr-FR" dirty="0"/>
            </a:br>
            <a:endParaRPr lang="fr-SN" dirty="0"/>
          </a:p>
        </p:txBody>
      </p:sp>
      <p:sp>
        <p:nvSpPr>
          <p:cNvPr id="6" name="AutoShape 4">
            <a:extLst>
              <a:ext uri="{FF2B5EF4-FFF2-40B4-BE49-F238E27FC236}">
                <a16:creationId xmlns:a16="http://schemas.microsoft.com/office/drawing/2014/main" id="{D32635A2-F045-5EEA-B2AA-190E7725BFCD}"/>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SN"/>
          </a:p>
        </p:txBody>
      </p:sp>
      <p:sp>
        <p:nvSpPr>
          <p:cNvPr id="7" name="AutoShape 6">
            <a:extLst>
              <a:ext uri="{FF2B5EF4-FFF2-40B4-BE49-F238E27FC236}">
                <a16:creationId xmlns:a16="http://schemas.microsoft.com/office/drawing/2014/main" id="{A1B6D8E9-1E4D-6F7F-BED6-E6FD6F8F7838}"/>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SN"/>
          </a:p>
        </p:txBody>
      </p:sp>
      <p:pic>
        <p:nvPicPr>
          <p:cNvPr id="3080" name="Picture 8">
            <a:extLst>
              <a:ext uri="{FF2B5EF4-FFF2-40B4-BE49-F238E27FC236}">
                <a16:creationId xmlns:a16="http://schemas.microsoft.com/office/drawing/2014/main" id="{0DFAD0AC-0889-0E12-6FF4-72F64813A03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95638" y="2828924"/>
            <a:ext cx="5880113" cy="12165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374288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BE45E81-CB94-39F0-4F10-7E83F5C7CA00}"/>
              </a:ext>
            </a:extLst>
          </p:cNvPr>
          <p:cNvSpPr>
            <a:spLocks noGrp="1"/>
          </p:cNvSpPr>
          <p:nvPr>
            <p:ph type="title"/>
          </p:nvPr>
        </p:nvSpPr>
        <p:spPr/>
        <p:txBody>
          <a:bodyPr>
            <a:normAutofit fontScale="90000"/>
          </a:bodyPr>
          <a:lstStyle/>
          <a:p>
            <a:r>
              <a:rPr lang="fr-FR" b="1" dirty="0"/>
              <a:t>Sauvegarde basée sur des fichiers de vCenter</a:t>
            </a:r>
            <a:br>
              <a:rPr lang="fr-FR" b="1" dirty="0"/>
            </a:br>
            <a:br>
              <a:rPr lang="fr-FR" dirty="0"/>
            </a:br>
            <a:endParaRPr lang="fr-SN" dirty="0"/>
          </a:p>
        </p:txBody>
      </p:sp>
      <p:sp>
        <p:nvSpPr>
          <p:cNvPr id="5" name="Espace réservé du contenu 4">
            <a:extLst>
              <a:ext uri="{FF2B5EF4-FFF2-40B4-BE49-F238E27FC236}">
                <a16:creationId xmlns:a16="http://schemas.microsoft.com/office/drawing/2014/main" id="{5125BB29-E4C2-A274-2691-9AA989CF9E64}"/>
              </a:ext>
            </a:extLst>
          </p:cNvPr>
          <p:cNvSpPr>
            <a:spLocks noGrp="1"/>
          </p:cNvSpPr>
          <p:nvPr>
            <p:ph idx="1"/>
          </p:nvPr>
        </p:nvSpPr>
        <p:spPr/>
        <p:txBody>
          <a:bodyPr>
            <a:normAutofit/>
          </a:bodyPr>
          <a:lstStyle/>
          <a:p>
            <a:pPr marL="0" indent="0">
              <a:buNone/>
            </a:pPr>
            <a:endParaRPr lang="fr-FR" b="1" dirty="0"/>
          </a:p>
          <a:p>
            <a:pPr marL="0" indent="0">
              <a:buNone/>
            </a:pPr>
            <a:br>
              <a:rPr lang="fr-FR" dirty="0"/>
            </a:br>
            <a:endParaRPr lang="fr-SN" dirty="0"/>
          </a:p>
        </p:txBody>
      </p:sp>
      <p:pic>
        <p:nvPicPr>
          <p:cNvPr id="4100" name="Picture 4">
            <a:extLst>
              <a:ext uri="{FF2B5EF4-FFF2-40B4-BE49-F238E27FC236}">
                <a16:creationId xmlns:a16="http://schemas.microsoft.com/office/drawing/2014/main" id="{FBA264B6-83A4-BA53-D5BD-565A820386A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67063" y="2028825"/>
            <a:ext cx="5857875" cy="28003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854904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F5A74E4-7211-A851-7F7A-68E3E266DB9C}"/>
              </a:ext>
            </a:extLst>
          </p:cNvPr>
          <p:cNvSpPr>
            <a:spLocks noGrp="1"/>
          </p:cNvSpPr>
          <p:nvPr>
            <p:ph type="title"/>
          </p:nvPr>
        </p:nvSpPr>
        <p:spPr/>
        <p:txBody>
          <a:bodyPr>
            <a:normAutofit fontScale="90000"/>
          </a:bodyPr>
          <a:lstStyle/>
          <a:p>
            <a:r>
              <a:rPr lang="fr-FR" b="1" dirty="0"/>
              <a:t>Sauvegarde basée sur des fichiers de vCenter</a:t>
            </a:r>
            <a:br>
              <a:rPr lang="fr-FR" b="1" dirty="0"/>
            </a:br>
            <a:br>
              <a:rPr lang="fr-FR" dirty="0"/>
            </a:br>
            <a:endParaRPr lang="fr-SN" dirty="0"/>
          </a:p>
        </p:txBody>
      </p:sp>
      <p:sp>
        <p:nvSpPr>
          <p:cNvPr id="5" name="Espace réservé du contenu 4">
            <a:extLst>
              <a:ext uri="{FF2B5EF4-FFF2-40B4-BE49-F238E27FC236}">
                <a16:creationId xmlns:a16="http://schemas.microsoft.com/office/drawing/2014/main" id="{5742C7A8-551F-6FCB-5D57-06CFE78E6565}"/>
              </a:ext>
            </a:extLst>
          </p:cNvPr>
          <p:cNvSpPr>
            <a:spLocks noGrp="1"/>
          </p:cNvSpPr>
          <p:nvPr>
            <p:ph idx="1"/>
          </p:nvPr>
        </p:nvSpPr>
        <p:spPr>
          <a:xfrm>
            <a:off x="2589212" y="1689100"/>
            <a:ext cx="8915400" cy="4031622"/>
          </a:xfrm>
        </p:spPr>
        <p:txBody>
          <a:bodyPr>
            <a:normAutofit/>
          </a:bodyPr>
          <a:lstStyle/>
          <a:p>
            <a:pPr marL="0" indent="0">
              <a:buNone/>
            </a:pPr>
            <a:endParaRPr lang="fr-FR" dirty="0"/>
          </a:p>
          <a:p>
            <a:r>
              <a:rPr lang="fr-FR" dirty="0"/>
              <a:t>Vous utilisez l’interface de gestion de vCenter pour exécuter une sauvegarde basée sur des fichiers de la configuration principale de vCenter, de l’inventaire et des données historiques de votre choix.</a:t>
            </a:r>
            <a:br>
              <a:rPr lang="fr-FR" dirty="0"/>
            </a:br>
            <a:r>
              <a:rPr lang="fr-FR" dirty="0"/>
              <a:t>Les données sauvegardées sont transmises via le protocole sélectionné vers un système distant.</a:t>
            </a:r>
            <a:br>
              <a:rPr lang="fr-FR" dirty="0"/>
            </a:br>
            <a:r>
              <a:rPr lang="fr-FR" dirty="0"/>
              <a:t>La sauvegarde n’est pas stockée sur vCenter.</a:t>
            </a:r>
          </a:p>
          <a:p>
            <a:r>
              <a:rPr lang="fr-FR" dirty="0"/>
              <a:t>Lors de la spécification de l’emplacement de la sauvegarde, utilisez la syntaxe suivante :</a:t>
            </a:r>
            <a:br>
              <a:rPr lang="fr-FR" dirty="0"/>
            </a:br>
            <a:r>
              <a:rPr lang="fr-FR" dirty="0"/>
              <a:t>protocol://&lt;server-address&gt;:&lt;port-number&gt;/folder/subfolder</a:t>
            </a:r>
          </a:p>
          <a:p>
            <a:pPr marL="0" indent="0">
              <a:buNone/>
            </a:pPr>
            <a:endParaRPr lang="fr-FR" dirty="0"/>
          </a:p>
        </p:txBody>
      </p:sp>
      <p:sp>
        <p:nvSpPr>
          <p:cNvPr id="4" name="ZoneTexte 3">
            <a:extLst>
              <a:ext uri="{FF2B5EF4-FFF2-40B4-BE49-F238E27FC236}">
                <a16:creationId xmlns:a16="http://schemas.microsoft.com/office/drawing/2014/main" id="{D26493A4-2AC0-7FEF-BFEB-CB92F3F5C7B4}"/>
              </a:ext>
            </a:extLst>
          </p:cNvPr>
          <p:cNvSpPr txBox="1"/>
          <p:nvPr/>
        </p:nvSpPr>
        <p:spPr>
          <a:xfrm>
            <a:off x="3043238" y="2693511"/>
            <a:ext cx="6099174" cy="646331"/>
          </a:xfrm>
          <a:prstGeom prst="rect">
            <a:avLst/>
          </a:prstGeom>
          <a:noFill/>
        </p:spPr>
        <p:txBody>
          <a:bodyPr wrap="square">
            <a:spAutoFit/>
          </a:bodyPr>
          <a:lstStyle/>
          <a:p>
            <a:pPr>
              <a:buNone/>
            </a:pPr>
            <a:br>
              <a:rPr lang="fr-FR" dirty="0"/>
            </a:br>
            <a:endParaRPr lang="fr-SN" dirty="0"/>
          </a:p>
        </p:txBody>
      </p:sp>
    </p:spTree>
    <p:extLst>
      <p:ext uri="{BB962C8B-B14F-4D97-AF65-F5344CB8AC3E}">
        <p14:creationId xmlns:p14="http://schemas.microsoft.com/office/powerpoint/2010/main" val="1315908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A812179-970C-96E5-F5B4-181191EAB17E}"/>
              </a:ext>
            </a:extLst>
          </p:cNvPr>
          <p:cNvSpPr>
            <a:spLocks noGrp="1"/>
          </p:cNvSpPr>
          <p:nvPr>
            <p:ph type="title"/>
          </p:nvPr>
        </p:nvSpPr>
        <p:spPr/>
        <p:txBody>
          <a:bodyPr>
            <a:normAutofit fontScale="90000"/>
          </a:bodyPr>
          <a:lstStyle/>
          <a:p>
            <a:r>
              <a:rPr lang="fr-FR" b="1" dirty="0"/>
              <a:t>Restauration basée sur des fichiers de vCenter</a:t>
            </a:r>
            <a:br>
              <a:rPr lang="fr-FR" b="1" dirty="0"/>
            </a:br>
            <a:br>
              <a:rPr lang="fr-FR" dirty="0"/>
            </a:br>
            <a:endParaRPr lang="fr-SN" dirty="0"/>
          </a:p>
        </p:txBody>
      </p:sp>
      <p:sp>
        <p:nvSpPr>
          <p:cNvPr id="3" name="Espace réservé du contenu 2">
            <a:extLst>
              <a:ext uri="{FF2B5EF4-FFF2-40B4-BE49-F238E27FC236}">
                <a16:creationId xmlns:a16="http://schemas.microsoft.com/office/drawing/2014/main" id="{CF3F5701-031A-0B16-884C-377FF985C192}"/>
              </a:ext>
            </a:extLst>
          </p:cNvPr>
          <p:cNvSpPr>
            <a:spLocks noGrp="1"/>
          </p:cNvSpPr>
          <p:nvPr>
            <p:ph idx="1"/>
          </p:nvPr>
        </p:nvSpPr>
        <p:spPr/>
        <p:txBody>
          <a:bodyPr>
            <a:normAutofit fontScale="92500" lnSpcReduction="20000"/>
          </a:bodyPr>
          <a:lstStyle/>
          <a:p>
            <a:r>
              <a:rPr lang="fr-FR" dirty="0"/>
              <a:t>Vous pouvez utiliser l’installateur GUI de vCenter pour restaurer vCenter sur un hôte ESXi ou une instance vCenter.</a:t>
            </a:r>
            <a:br>
              <a:rPr lang="fr-FR" dirty="0"/>
            </a:br>
            <a:r>
              <a:rPr lang="fr-FR" dirty="0"/>
              <a:t>La procédure de restauration se déroule en plusieurs étapes :</a:t>
            </a:r>
          </a:p>
          <a:p>
            <a:r>
              <a:rPr lang="fr-FR" dirty="0"/>
              <a:t>Un nouvel appareil est déployé.</a:t>
            </a:r>
          </a:p>
          <a:p>
            <a:r>
              <a:rPr lang="fr-FR" dirty="0"/>
              <a:t>Le vCenter nouvellement déployé est rempli avec les données stockées dans la sauvegarde basée sur des fichiers.</a:t>
            </a:r>
          </a:p>
          <a:p>
            <a:r>
              <a:rPr lang="fr-FR" dirty="0"/>
              <a:t>Pour effectuer une restauration réussie :</a:t>
            </a:r>
          </a:p>
          <a:p>
            <a:r>
              <a:rPr lang="fr-FR" dirty="0"/>
              <a:t>Le mot de passe de chiffrement (s’il est utilisé) doit être saisi manuellement.</a:t>
            </a:r>
          </a:p>
          <a:p>
            <a:r>
              <a:rPr lang="fr-FR" dirty="0"/>
              <a:t>La taille de l’appareil doit être identique ou supérieure à celle au moment de la sauvegarde.</a:t>
            </a:r>
          </a:p>
          <a:p>
            <a:r>
              <a:rPr lang="fr-FR" dirty="0"/>
              <a:t>Les numéros de version de vCenter doivent correspondre.</a:t>
            </a:r>
          </a:p>
          <a:p>
            <a:br>
              <a:rPr lang="fr-FR" dirty="0"/>
            </a:br>
            <a:endParaRPr lang="fr-SN" dirty="0"/>
          </a:p>
        </p:txBody>
      </p:sp>
    </p:spTree>
    <p:extLst>
      <p:ext uri="{BB962C8B-B14F-4D97-AF65-F5344CB8AC3E}">
        <p14:creationId xmlns:p14="http://schemas.microsoft.com/office/powerpoint/2010/main" val="3760205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26C6B7C-40AA-E9E6-E77C-7595621D362F}"/>
              </a:ext>
            </a:extLst>
          </p:cNvPr>
          <p:cNvSpPr>
            <a:spLocks noGrp="1"/>
          </p:cNvSpPr>
          <p:nvPr>
            <p:ph type="title"/>
          </p:nvPr>
        </p:nvSpPr>
        <p:spPr/>
        <p:txBody>
          <a:bodyPr>
            <a:normAutofit fontScale="90000"/>
          </a:bodyPr>
          <a:lstStyle/>
          <a:p>
            <a:r>
              <a:rPr lang="fr-FR" b="1" dirty="0"/>
              <a:t>Restauration basée sur des fichiers de vCenter</a:t>
            </a:r>
            <a:br>
              <a:rPr lang="fr-FR" b="1" dirty="0"/>
            </a:br>
            <a:br>
              <a:rPr lang="fr-FR" dirty="0"/>
            </a:br>
            <a:endParaRPr lang="fr-SN" dirty="0"/>
          </a:p>
        </p:txBody>
      </p:sp>
      <p:pic>
        <p:nvPicPr>
          <p:cNvPr id="5122" name="Picture 2">
            <a:extLst>
              <a:ext uri="{FF2B5EF4-FFF2-40B4-BE49-F238E27FC236}">
                <a16:creationId xmlns:a16="http://schemas.microsoft.com/office/drawing/2014/main" id="{C2B1B07B-330D-841A-97D4-2430E1CF18A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460514" y="2779539"/>
            <a:ext cx="5172797" cy="24863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551903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E2EFB25-6515-3486-10E1-BB588860AD85}"/>
              </a:ext>
            </a:extLst>
          </p:cNvPr>
          <p:cNvSpPr>
            <a:spLocks noGrp="1"/>
          </p:cNvSpPr>
          <p:nvPr>
            <p:ph type="title"/>
          </p:nvPr>
        </p:nvSpPr>
        <p:spPr/>
        <p:txBody>
          <a:bodyPr>
            <a:normAutofit fontScale="90000"/>
          </a:bodyPr>
          <a:lstStyle/>
          <a:p>
            <a:r>
              <a:rPr lang="fr-FR" b="1" dirty="0"/>
              <a:t>Restauration basée sur des fichiers de vCenter</a:t>
            </a:r>
            <a:br>
              <a:rPr lang="fr-FR" b="1" dirty="0"/>
            </a:br>
            <a:br>
              <a:rPr lang="fr-FR" dirty="0"/>
            </a:br>
            <a:endParaRPr lang="fr-SN" dirty="0"/>
          </a:p>
        </p:txBody>
      </p:sp>
      <p:sp>
        <p:nvSpPr>
          <p:cNvPr id="3" name="Espace réservé du contenu 2">
            <a:extLst>
              <a:ext uri="{FF2B5EF4-FFF2-40B4-BE49-F238E27FC236}">
                <a16:creationId xmlns:a16="http://schemas.microsoft.com/office/drawing/2014/main" id="{D865CA0E-DE32-5D46-65CF-DBC900E60A99}"/>
              </a:ext>
            </a:extLst>
          </p:cNvPr>
          <p:cNvSpPr>
            <a:spLocks noGrp="1"/>
          </p:cNvSpPr>
          <p:nvPr>
            <p:ph idx="1"/>
          </p:nvPr>
        </p:nvSpPr>
        <p:spPr/>
        <p:txBody>
          <a:bodyPr>
            <a:normAutofit fontScale="92500" lnSpcReduction="20000"/>
          </a:bodyPr>
          <a:lstStyle/>
          <a:p>
            <a:r>
              <a:rPr lang="fr-FR" dirty="0"/>
              <a:t>Vous pouvez effectuer une restauration basée sur des fichiers uniquement pour une instance vCenter que vous avez préalablement sauvegardée à l’aide de l’interface de gestion de vCenter.</a:t>
            </a:r>
            <a:br>
              <a:rPr lang="fr-FR" dirty="0"/>
            </a:br>
            <a:r>
              <a:rPr lang="fr-FR" dirty="0"/>
              <a:t>Vous pouvez effectuer l’opération de restauration à l’aide de l’installateur GUI de vCenter.</a:t>
            </a:r>
            <a:br>
              <a:rPr lang="fr-FR" dirty="0"/>
            </a:br>
            <a:r>
              <a:rPr lang="fr-FR" dirty="0"/>
              <a:t>Ce processus automatise le déploiement d’une nouvelle instance de vCenter et la copie des données depuis la sauvegarde basée sur des fichiers vers le nouvel appareil.</a:t>
            </a:r>
          </a:p>
          <a:p>
            <a:r>
              <a:rPr lang="fr-FR" dirty="0"/>
              <a:t>Vous pouvez également effectuer une opération de restauration en déployant une nouvelle instance de vCenter et en utilisant l’interface de gestion de vCenter pour copier les données de la sauvegarde basée sur des fichiers vers le nouvel appareil.</a:t>
            </a:r>
          </a:p>
          <a:p>
            <a:r>
              <a:rPr lang="fr-FR" dirty="0"/>
              <a:t>L’installateur GUI de vCenter ne prend pas en charge la restauration à partir d’une sauvegarde utilisant les protocoles NFS ou SMB.</a:t>
            </a:r>
            <a:br>
              <a:rPr lang="fr-FR" dirty="0"/>
            </a:br>
            <a:r>
              <a:rPr lang="fr-FR" dirty="0"/>
              <a:t>Pour effectuer une restauration à partir d’un protocole NFS ou SMB, vous devez utiliser l’interface de gestion de vCenter.</a:t>
            </a:r>
          </a:p>
          <a:p>
            <a:pPr marL="0" indent="0">
              <a:buNone/>
            </a:pPr>
            <a:endParaRPr lang="fr-SN" dirty="0"/>
          </a:p>
        </p:txBody>
      </p:sp>
    </p:spTree>
    <p:extLst>
      <p:ext uri="{BB962C8B-B14F-4D97-AF65-F5344CB8AC3E}">
        <p14:creationId xmlns:p14="http://schemas.microsoft.com/office/powerpoint/2010/main" val="4210457528"/>
      </p:ext>
    </p:extLst>
  </p:cSld>
  <p:clrMapOvr>
    <a:masterClrMapping/>
  </p:clrMapOvr>
</p:sld>
</file>

<file path=ppt/theme/theme1.xml><?xml version="1.0" encoding="utf-8"?>
<a:theme xmlns:a="http://schemas.openxmlformats.org/drawingml/2006/main" name="Brin">
  <a:themeElements>
    <a:clrScheme name="Brin">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Brin">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Brin">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Metadata/LabelInfo.xml><?xml version="1.0" encoding="utf-8"?>
<clbl:labelList xmlns:clbl="http://schemas.microsoft.com/office/2020/mipLabelMetadata">
  <clbl:label id="{fc24caf1-31f7-40c1-bde0-ca915f0156e3}" enabled="1" method="Standard" siteId="{088e9b00-ffd0-458e-bfa1-acf4c596d3cb}" removed="0"/>
</clbl:labelList>
</file>

<file path=docProps/app.xml><?xml version="1.0" encoding="utf-8"?>
<Properties xmlns="http://schemas.openxmlformats.org/officeDocument/2006/extended-properties" xmlns:vt="http://schemas.openxmlformats.org/officeDocument/2006/docPropsVTypes">
  <Template>Wisp</Template>
  <TotalTime>633</TotalTime>
  <Words>682</Words>
  <Application>Microsoft Office PowerPoint</Application>
  <PresentationFormat>Grand écran</PresentationFormat>
  <Paragraphs>53</Paragraphs>
  <Slides>13</Slides>
  <Notes>0</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13</vt:i4>
      </vt:variant>
    </vt:vector>
  </HeadingPairs>
  <TitlesOfParts>
    <vt:vector size="18" baseType="lpstr">
      <vt:lpstr>Aptos</vt:lpstr>
      <vt:lpstr>Arial</vt:lpstr>
      <vt:lpstr>Century Gothic</vt:lpstr>
      <vt:lpstr>Wingdings 3</vt:lpstr>
      <vt:lpstr>Brin</vt:lpstr>
      <vt:lpstr>SAUVEGARDE ET RESTAURATION VCENTER</vt:lpstr>
      <vt:lpstr>Objectifs d'apprentissage   </vt:lpstr>
      <vt:lpstr>À propos de la sauvegarde et de la restauration de vCenter  </vt:lpstr>
      <vt:lpstr>À propos de la sauvegarde et de la restauration de vCenter   </vt:lpstr>
      <vt:lpstr>Méthode pour la sauvegarde et la restauration de vCenter      </vt:lpstr>
      <vt:lpstr>Planification des sauvegardes    </vt:lpstr>
      <vt:lpstr>Planification des sauvegardes  </vt:lpstr>
      <vt:lpstr>Affichage du calendrier de sauvegarde  </vt:lpstr>
      <vt:lpstr>Sauvegarde basée sur des fichiers de vCenter  </vt:lpstr>
      <vt:lpstr>Sauvegarde basée sur des fichiers de vCenter  </vt:lpstr>
      <vt:lpstr>Restauration basée sur des fichiers de vCenter  </vt:lpstr>
      <vt:lpstr>Restauration basée sur des fichiers de vCenter  </vt:lpstr>
      <vt:lpstr>Restauration basée sur des fichiers de vCenter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Alassane Sene Diagne (AGL)</dc:creator>
  <cp:lastModifiedBy>Alassane Sene Diagne (AGL)</cp:lastModifiedBy>
  <cp:revision>6</cp:revision>
  <dcterms:created xsi:type="dcterms:W3CDTF">2025-12-29T15:01:53Z</dcterms:created>
  <dcterms:modified xsi:type="dcterms:W3CDTF">2026-02-23T16:35:53Z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FooterLocations">
    <vt:lpwstr>Brin:9</vt:lpwstr>
  </property>
  <property fmtid="{D5CDD505-2E9C-101B-9397-08002B2CF9AE}" pid="3" name="ClassificationContentMarkingFooterText">
    <vt:lpwstr>Sensitivity: Internal</vt:lpwstr>
  </property>
</Properties>
</file>