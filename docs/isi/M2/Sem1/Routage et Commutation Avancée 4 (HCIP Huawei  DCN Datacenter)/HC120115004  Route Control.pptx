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59" r:id="rId4"/>
  </p:sldMasterIdLst>
  <p:notesMasterIdLst>
    <p:notesMasterId r:id="rId49"/>
  </p:notesMasterIdLst>
  <p:handoutMasterIdLst>
    <p:handoutMasterId r:id="rId50"/>
  </p:handoutMasterIdLst>
  <p:sldIdLst>
    <p:sldId id="256" r:id="rId5"/>
    <p:sldId id="257" r:id="rId6"/>
    <p:sldId id="258" r:id="rId7"/>
    <p:sldId id="259" r:id="rId8"/>
    <p:sldId id="260" r:id="rId9"/>
    <p:sldId id="261" r:id="rId10"/>
    <p:sldId id="262" r:id="rId11"/>
    <p:sldId id="263" r:id="rId12"/>
    <p:sldId id="264" r:id="rId13"/>
    <p:sldId id="298" r:id="rId14"/>
    <p:sldId id="265" r:id="rId15"/>
    <p:sldId id="266" r:id="rId16"/>
    <p:sldId id="267" r:id="rId17"/>
    <p:sldId id="29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9" r:id="rId44"/>
    <p:sldId id="293" r:id="rId45"/>
    <p:sldId id="294" r:id="rId46"/>
    <p:sldId id="295" r:id="rId47"/>
    <p:sldId id="296" r:id="rId48"/>
  </p:sldIdLst>
  <p:sldSz cx="12192000" cy="6858000"/>
  <p:notesSz cx="7099300" cy="10234613"/>
  <p:defaultTex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2" orient="horz" pos="482" userDrawn="1">
          <p15:clr>
            <a:srgbClr val="A4A3A4"/>
          </p15:clr>
        </p15:guide>
        <p15:guide id="3" orient="horz" pos="2908" userDrawn="1">
          <p15:clr>
            <a:srgbClr val="A4A3A4"/>
          </p15:clr>
        </p15:guide>
        <p15:guide id="4" orient="horz" pos="5967">
          <p15:clr>
            <a:srgbClr val="A4A3A4"/>
          </p15:clr>
        </p15:guide>
        <p15:guide id="6" pos="2440">
          <p15:clr>
            <a:srgbClr val="A4A3A4"/>
          </p15:clr>
        </p15:guide>
        <p15:guide id="7" pos="431" userDrawn="1">
          <p15:clr>
            <a:srgbClr val="A4A3A4"/>
          </p15:clr>
        </p15:guide>
        <p15:guide id="8" pos="4028">
          <p15:clr>
            <a:srgbClr val="A4A3A4"/>
          </p15:clr>
        </p15:guide>
        <p15:guide id="9" pos="626">
          <p15:clr>
            <a:srgbClr val="A4A3A4"/>
          </p15:clr>
        </p15:guide>
        <p15:guide id="10" pos="384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00280246" initials="w" lastIdx="13" clrIdx="0"/>
  <p:cmAuthor id="1" name="huangwenyong" initials="h" lastIdx="22" clrIdx="1"/>
  <p:cmAuthor id="2" name="c00224892" initials="CML"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B0F0"/>
    <a:srgbClr val="990000"/>
    <a:srgbClr val="FF0909"/>
    <a:srgbClr val="CF6B63"/>
    <a:srgbClr val="E7CCC7"/>
    <a:srgbClr val="FFC1C1"/>
    <a:srgbClr val="EE0000"/>
    <a:srgbClr val="54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6" autoAdjust="0"/>
    <p:restoredTop sz="64748" autoAdjust="0"/>
  </p:normalViewPr>
  <p:slideViewPr>
    <p:cSldViewPr showGuides="1">
      <p:cViewPr varScale="1">
        <p:scale>
          <a:sx n="48" d="100"/>
          <a:sy n="48" d="100"/>
        </p:scale>
        <p:origin x="606" y="48"/>
      </p:cViewPr>
      <p:guideLst/>
    </p:cSldViewPr>
  </p:slideViewPr>
  <p:notesTextViewPr>
    <p:cViewPr>
      <p:scale>
        <a:sx n="75" d="100"/>
        <a:sy n="75" d="100"/>
      </p:scale>
      <p:origin x="0" y="0"/>
    </p:cViewPr>
  </p:notesTextViewPr>
  <p:sorterViewPr>
    <p:cViewPr>
      <p:scale>
        <a:sx n="66" d="100"/>
        <a:sy n="66" d="100"/>
      </p:scale>
      <p:origin x="0" y="3576"/>
    </p:cViewPr>
  </p:sorterViewPr>
  <p:notesViewPr>
    <p:cSldViewPr showGuides="1">
      <p:cViewPr varScale="1">
        <p:scale>
          <a:sx n="60" d="100"/>
          <a:sy n="60" d="100"/>
        </p:scale>
        <p:origin x="3216" y="58"/>
      </p:cViewPr>
      <p:guideLst>
        <p:guide orient="horz" pos="482"/>
        <p:guide orient="horz" pos="2908"/>
        <p:guide orient="horz" pos="5967"/>
        <p:guide pos="2440"/>
        <p:guide pos="431"/>
        <p:guide pos="4028"/>
        <p:guide pos="626"/>
        <p:guide pos="3846"/>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02"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defTabSz="968375" fontAlgn="base">
              <a:defRPr sz="1300">
                <a:latin typeface="Arial" charset="0"/>
                <a:ea typeface="宋体" pitchFamily="2" charset="-122"/>
              </a:defRPr>
            </a:lvl1pPr>
          </a:lstStyle>
          <a:p>
            <a:pPr>
              <a:defRPr/>
            </a:pPr>
            <a:r>
              <a:rPr lang="zh-CN" altLang="en-US"/>
              <a:t>请将此处改为本章标题</a:t>
            </a:r>
            <a:endParaRPr lang="en-US" altLang="zh-CN"/>
          </a:p>
        </p:txBody>
      </p:sp>
      <p:sp>
        <p:nvSpPr>
          <p:cNvPr id="512003" name="Rectangle 3"/>
          <p:cNvSpPr>
            <a:spLocks noGrp="1" noChangeArrowheads="1"/>
          </p:cNvSpPr>
          <p:nvPr>
            <p:ph type="dt" sz="quarter" idx="1"/>
          </p:nvPr>
        </p:nvSpPr>
        <p:spPr bwMode="auto">
          <a:xfrm>
            <a:off x="4021138"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algn="r" defTabSz="968375" fontAlgn="base">
              <a:defRPr sz="1300">
                <a:latin typeface="Arial" charset="0"/>
                <a:ea typeface="宋体" pitchFamily="2" charset="-122"/>
              </a:defRPr>
            </a:lvl1pPr>
          </a:lstStyle>
          <a:p>
            <a:pPr>
              <a:defRPr/>
            </a:pPr>
            <a:endParaRPr lang="en-US" altLang="zh-CN"/>
          </a:p>
        </p:txBody>
      </p:sp>
      <p:sp>
        <p:nvSpPr>
          <p:cNvPr id="512004" name="Rectangle 4"/>
          <p:cNvSpPr>
            <a:spLocks noGrp="1" noChangeArrowheads="1"/>
          </p:cNvSpPr>
          <p:nvPr>
            <p:ph type="ftr" sz="quarter" idx="2"/>
          </p:nvPr>
        </p:nvSpPr>
        <p:spPr bwMode="auto">
          <a:xfrm>
            <a:off x="0"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defTabSz="968375" fontAlgn="base">
              <a:defRPr sz="1300">
                <a:latin typeface="Arial" charset="0"/>
                <a:ea typeface="宋体" pitchFamily="2" charset="-122"/>
              </a:defRPr>
            </a:lvl1pPr>
          </a:lstStyle>
          <a:p>
            <a:pPr>
              <a:defRPr/>
            </a:pPr>
            <a:endParaRPr lang="en-US" altLang="zh-CN"/>
          </a:p>
        </p:txBody>
      </p:sp>
      <p:sp>
        <p:nvSpPr>
          <p:cNvPr id="512005" name="Rectangle 5"/>
          <p:cNvSpPr>
            <a:spLocks noGrp="1" noChangeArrowheads="1"/>
          </p:cNvSpPr>
          <p:nvPr>
            <p:ph type="sldNum" sz="quarter" idx="3"/>
          </p:nvPr>
        </p:nvSpPr>
        <p:spPr bwMode="auto">
          <a:xfrm>
            <a:off x="4021138"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algn="r" defTabSz="968375" fontAlgn="base">
              <a:defRPr sz="1300">
                <a:latin typeface="Arial" charset="0"/>
                <a:ea typeface="宋体" pitchFamily="2" charset="-122"/>
              </a:defRPr>
            </a:lvl1pPr>
          </a:lstStyle>
          <a:p>
            <a:pPr>
              <a:defRPr/>
            </a:pPr>
            <a:fld id="{DFB0E886-5559-4133-9D2D-4B2631545D0E}" type="slidenum">
              <a:rPr lang="en-US" altLang="zh-CN"/>
              <a:pPr>
                <a:defRPr/>
              </a:pPr>
              <a:t>‹#›</a:t>
            </a:fld>
            <a:endParaRPr lang="en-US" altLang="zh-CN"/>
          </a:p>
        </p:txBody>
      </p:sp>
    </p:spTree>
    <p:extLst>
      <p:ext uri="{BB962C8B-B14F-4D97-AF65-F5344CB8AC3E}">
        <p14:creationId xmlns:p14="http://schemas.microsoft.com/office/powerpoint/2010/main" val="28947443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1" name="Rectangle 5"/>
          <p:cNvSpPr>
            <a:spLocks noGrp="1" noChangeArrowheads="1"/>
          </p:cNvSpPr>
          <p:nvPr>
            <p:ph type="body" sz="quarter" idx="3"/>
          </p:nvPr>
        </p:nvSpPr>
        <p:spPr bwMode="auto">
          <a:xfrm>
            <a:off x="583903" y="4616450"/>
            <a:ext cx="5931494" cy="5109368"/>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p>
            <a:pPr lvl="0"/>
            <a:r>
              <a:rPr lang="en-US" altLang="zh-CN" noProof="0" dirty="0" smtClean="0"/>
              <a:t>Click here to add content</a:t>
            </a:r>
            <a:endParaRPr lang="en-US" altLang="zh-CN" noProof="0" dirty="0"/>
          </a:p>
          <a:p>
            <a:pPr lvl="1"/>
            <a:r>
              <a:rPr lang="en-US" altLang="zh-CN" noProof="0" dirty="0"/>
              <a:t>Click here to add content</a:t>
            </a:r>
          </a:p>
          <a:p>
            <a:pPr lvl="2"/>
            <a:r>
              <a:rPr lang="en-US" altLang="zh-CN" noProof="0" dirty="0"/>
              <a:t>Click here to add content</a:t>
            </a:r>
          </a:p>
        </p:txBody>
      </p:sp>
      <p:sp>
        <p:nvSpPr>
          <p:cNvPr id="68610" name="Rectangle 4"/>
          <p:cNvSpPr>
            <a:spLocks noGrp="1" noRot="1" noChangeAspect="1" noChangeArrowheads="1" noTextEdit="1"/>
          </p:cNvSpPr>
          <p:nvPr>
            <p:ph type="sldImg" idx="2"/>
          </p:nvPr>
        </p:nvSpPr>
        <p:spPr bwMode="auto">
          <a:xfrm>
            <a:off x="583903" y="765609"/>
            <a:ext cx="5931493" cy="3336983"/>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688167284"/>
      </p:ext>
    </p:extLst>
  </p:cSld>
  <p:clrMap bg1="lt1" tx1="dk1" bg2="lt2" tx2="dk2" accent1="accent1" accent2="accent2" accent3="accent3" accent4="accent4" accent5="accent5" accent6="accent6" hlink="hlink" folHlink="folHlink"/>
  <p:hf hdr="0" dt="0"/>
  <p:notesStyle>
    <a:lvl1pPr marL="180975" indent="-180975" algn="l" rtl="0" eaLnBrk="1" fontAlgn="base" hangingPunct="1">
      <a:lnSpc>
        <a:spcPct val="125000"/>
      </a:lnSpc>
      <a:spcBef>
        <a:spcPct val="0"/>
      </a:spcBef>
      <a:spcAft>
        <a:spcPts val="600"/>
      </a:spcAft>
      <a:buSzPct val="60000"/>
      <a:buFont typeface="Wingdings" pitchFamily="2" charset="2"/>
      <a:buChar char="l"/>
      <a:defRPr sz="1100" kern="1200">
        <a:solidFill>
          <a:schemeClr val="tx1"/>
        </a:solidFill>
        <a:latin typeface="微软雅黑" panose="020B0503020204020204" pitchFamily="34" charset="-122"/>
        <a:ea typeface="微软雅黑" panose="020B0503020204020204" pitchFamily="34" charset="-122"/>
        <a:cs typeface="+mn-cs"/>
      </a:defRPr>
    </a:lvl1pPr>
    <a:lvl2pPr marL="541338" indent="-180975" algn="l" rtl="0" eaLnBrk="1" fontAlgn="base" hangingPunct="1">
      <a:lnSpc>
        <a:spcPct val="125000"/>
      </a:lnSpc>
      <a:spcBef>
        <a:spcPct val="0"/>
      </a:spcBef>
      <a:spcAft>
        <a:spcPts val="600"/>
      </a:spcAft>
      <a:buSzPct val="50000"/>
      <a:buFont typeface="Wingdings" pitchFamily="2" charset="2"/>
      <a:buChar char="p"/>
      <a:defRPr sz="1100" kern="1200">
        <a:solidFill>
          <a:schemeClr val="tx1"/>
        </a:solidFill>
        <a:latin typeface="微软雅黑" panose="020B0503020204020204" pitchFamily="34" charset="-122"/>
        <a:ea typeface="微软雅黑" panose="020B0503020204020204" pitchFamily="34" charset="-122"/>
        <a:cs typeface="+mn-cs"/>
      </a:defRPr>
    </a:lvl2pPr>
    <a:lvl3pPr marL="895350" indent="-174625" algn="l" rtl="0" eaLnBrk="1" fontAlgn="base" hangingPunct="1">
      <a:lnSpc>
        <a:spcPct val="125000"/>
      </a:lnSpc>
      <a:spcBef>
        <a:spcPct val="0"/>
      </a:spcBef>
      <a:spcAft>
        <a:spcPts val="600"/>
      </a:spcAft>
      <a:buSzPct val="50000"/>
      <a:buFont typeface="Wingdings" pitchFamily="2" charset="2"/>
      <a:buChar char="n"/>
      <a:defRPr sz="11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4pPr>
    <a:lvl5pPr marL="20574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mod="1">
    <p:ext uri="{620B2872-D7B9-4A21-9093-7833F8D536E1}">
      <p15:sldGuideLst xmlns:p15="http://schemas.microsoft.com/office/powerpoint/2012/main">
        <p15:guide id="1" orient="horz" pos="482" userDrawn="1">
          <p15:clr>
            <a:srgbClr val="F26B43"/>
          </p15:clr>
        </p15:guide>
        <p15:guide id="2" orient="horz" pos="29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93663" y="738188"/>
            <a:ext cx="6623050" cy="3725862"/>
          </a:xfrm>
          <a:ln/>
        </p:spPr>
      </p:sp>
      <p:sp>
        <p:nvSpPr>
          <p:cNvPr id="2" name="备注占位符 1"/>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49919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xfrm>
            <a:off x="584200" y="765175"/>
            <a:ext cx="5930900" cy="3336925"/>
          </a:xfrm>
          <a:ln/>
        </p:spPr>
      </p:sp>
      <p:sp>
        <p:nvSpPr>
          <p:cNvPr id="60419"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4239710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xfrm>
            <a:off x="584200" y="765175"/>
            <a:ext cx="5930900" cy="3336925"/>
          </a:xfrm>
          <a:ln/>
        </p:spPr>
      </p:sp>
      <p:sp>
        <p:nvSpPr>
          <p:cNvPr id="61443"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391979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xfrm>
            <a:off x="584200" y="765175"/>
            <a:ext cx="5930900" cy="3336925"/>
          </a:xfrm>
          <a:ln/>
        </p:spPr>
      </p:sp>
      <p:sp>
        <p:nvSpPr>
          <p:cNvPr id="62467"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2642373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备注占位符 2"/>
          <p:cNvSpPr>
            <a:spLocks noGrp="1"/>
          </p:cNvSpPr>
          <p:nvPr>
            <p:ph type="body" idx="1"/>
          </p:nvPr>
        </p:nvSpPr>
        <p:spPr/>
        <p:txBody>
          <a:bodyPr/>
          <a:lstStyle/>
          <a:p>
            <a:r>
              <a:rPr lang="zh-CN" altLang="zh-CN" smtClean="0">
                <a:sym typeface="FrutigerNext LT Regular" pitchFamily="34" charset="0"/>
              </a:rPr>
              <a:t>Control traffic reachability: As shown in the figure, the marketing department is not allowed to access the financial and R&amp;D departments, and the headquarters is not allowed to access the R&amp;D department.</a:t>
            </a:r>
          </a:p>
          <a:p>
            <a:r>
              <a:rPr lang="zh-CN" altLang="zh-CN" smtClean="0">
                <a:sym typeface="FrutigerNext LT Regular" pitchFamily="34" charset="0"/>
              </a:rPr>
              <a:t>Adjust network traffic paths: As shown in the figure, OSPF is run to compute routes. The marketing and financial departments access the headquarters through the path with the minimum cost, even though the path is congested. The other link is always idle, causing a waste of bandwidth.</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345696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xfrm>
            <a:off x="584200" y="765175"/>
            <a:ext cx="5930900" cy="3336925"/>
          </a:xfrm>
          <a:ln/>
        </p:spPr>
      </p:sp>
      <p:sp>
        <p:nvSpPr>
          <p:cNvPr id="64515"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1097909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备注占位符 2"/>
          <p:cNvSpPr>
            <a:spLocks noGrp="1"/>
          </p:cNvSpPr>
          <p:nvPr>
            <p:ph type="body" idx="1"/>
          </p:nvPr>
        </p:nvSpPr>
        <p:spPr/>
        <p:txBody>
          <a:bodyPr/>
          <a:lstStyle/>
          <a:p>
            <a:r>
              <a:rPr lang="zh-CN" altLang="zh-CN" dirty="0" smtClean="0">
                <a:sym typeface="FrutigerNext LT Regular" pitchFamily="34" charset="0"/>
              </a:rPr>
              <a:t>When advertising, receiving, and importing routes, routing policy implements certain policies according to actual networking requirements in order to filter the routes and change the attributes of the routes. Purposes of routing policies are as follows:</a:t>
            </a:r>
          </a:p>
          <a:p>
            <a:pPr lvl="1"/>
            <a:r>
              <a:rPr lang="zh-CN" altLang="zh-CN" dirty="0" smtClean="0">
                <a:sym typeface="FrutigerNext LT Regular" pitchFamily="34" charset="0"/>
              </a:rPr>
              <a:t>Control route advertisement: advertises only the routes matching certain conditions.</a:t>
            </a:r>
          </a:p>
          <a:p>
            <a:pPr lvl="1"/>
            <a:r>
              <a:rPr lang="zh-CN" altLang="zh-CN" dirty="0" smtClean="0">
                <a:sym typeface="FrutigerNext LT Regular" pitchFamily="34" charset="0"/>
              </a:rPr>
              <a:t>Control route sending and receiving: receives only necessary and valid routes to control the capacity of routing table, enhancing network security.</a:t>
            </a:r>
          </a:p>
          <a:p>
            <a:pPr lvl="1"/>
            <a:r>
              <a:rPr lang="zh-CN" altLang="zh-CN" dirty="0" smtClean="0">
                <a:sym typeface="FrutigerNext LT Regular" pitchFamily="34" charset="0"/>
              </a:rPr>
              <a:t>Filter and control imported routes: imports only the routes meeting certain conditions </a:t>
            </a:r>
            <a:r>
              <a:rPr lang="en-US" altLang="zh-CN" dirty="0" smtClean="0">
                <a:sym typeface="FrutigerNext LT Regular" pitchFamily="34" charset="0"/>
              </a:rPr>
              <a:t>from </a:t>
            </a:r>
            <a:r>
              <a:rPr lang="zh-CN" altLang="zh-CN" dirty="0" smtClean="0">
                <a:sym typeface="FrutigerNext LT Regular" pitchFamily="34" charset="0"/>
              </a:rPr>
              <a:t>other routing protocols, and sets the attributes of imported routes.</a:t>
            </a:r>
          </a:p>
          <a:p>
            <a:pPr lvl="1"/>
            <a:r>
              <a:rPr lang="zh-CN" altLang="zh-CN" dirty="0" smtClean="0">
                <a:sym typeface="FrutigerNext LT Regular" pitchFamily="34" charset="0"/>
              </a:rPr>
              <a:t>Set route attributes: sets attributes for the routes filtered by routing policy</a:t>
            </a:r>
            <a:r>
              <a:rPr lang="zh-CN" altLang="zh-CN" dirty="0" smtClean="0">
                <a:sym typeface="FrutigerNext LT Regular" pitchFamily="34" charset="0"/>
              </a:rPr>
              <a:t>.</a:t>
            </a:r>
            <a:endParaRPr lang="zh-CN" altLang="zh-CN" dirty="0" smtClean="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472854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备注占位符 2"/>
          <p:cNvSpPr>
            <a:spLocks noGrp="1"/>
          </p:cNvSpPr>
          <p:nvPr>
            <p:ph type="body" idx="1"/>
          </p:nvPr>
        </p:nvSpPr>
        <p:spPr/>
        <p:txBody>
          <a:bodyPr/>
          <a:lstStyle/>
          <a:p>
            <a:r>
              <a:rPr lang="zh-CN" altLang="zh-CN" smtClean="0">
                <a:sym typeface="FrutigerNext LT Regular" pitchFamily="34" charset="0"/>
              </a:rPr>
              <a:t>Routing policies are implemented in the following steps:</a:t>
            </a:r>
          </a:p>
          <a:p>
            <a:pPr lvl="1"/>
            <a:r>
              <a:rPr lang="zh-CN" altLang="zh-CN" smtClean="0">
                <a:sym typeface="FrutigerNext LT Regular" pitchFamily="34" charset="0"/>
              </a:rPr>
              <a:t>Define attributes of routing information to which routing policies are applied. Define a set of matching rules regarding </a:t>
            </a:r>
            <a:r>
              <a:rPr lang="en-US" altLang="zh-CN" smtClean="0">
                <a:sym typeface="FrutigerNext LT Regular" pitchFamily="34" charset="0"/>
              </a:rPr>
              <a:t>various </a:t>
            </a:r>
            <a:r>
              <a:rPr lang="zh-CN" altLang="zh-CN" smtClean="0">
                <a:sym typeface="FrutigerNext LT Regular" pitchFamily="34" charset="0"/>
              </a:rPr>
              <a:t>attributes of routing information such as the destination address and AS number.</a:t>
            </a:r>
          </a:p>
          <a:p>
            <a:pPr lvl="1"/>
            <a:r>
              <a:rPr lang="zh-CN" altLang="zh-CN" smtClean="0">
                <a:sym typeface="FrutigerNext LT Regular" pitchFamily="34" charset="0"/>
              </a:rPr>
              <a:t>Apply matching rules to route advertising, receiving, and importing.</a:t>
            </a:r>
          </a:p>
          <a:p>
            <a:r>
              <a:rPr lang="zh-CN" altLang="zh-CN" smtClean="0">
                <a:sym typeface="FrutigerNext LT Regular" pitchFamily="34" charset="0"/>
              </a:rPr>
              <a:t>Currently, the following filters are provided for routing protocols:</a:t>
            </a:r>
          </a:p>
          <a:p>
            <a:pPr lvl="1"/>
            <a:r>
              <a:rPr lang="zh-CN" altLang="zh-CN" smtClean="0">
                <a:sym typeface="FrutigerNext LT Regular" pitchFamily="34" charset="0"/>
              </a:rPr>
              <a:t>ACL</a:t>
            </a:r>
          </a:p>
          <a:p>
            <a:pPr lvl="1"/>
            <a:r>
              <a:rPr lang="zh-CN" altLang="zh-CN" smtClean="0">
                <a:sym typeface="FrutigerNext LT Regular" pitchFamily="34" charset="0"/>
              </a:rPr>
              <a:t>Address prefix list</a:t>
            </a:r>
          </a:p>
          <a:p>
            <a:pPr lvl="1"/>
            <a:r>
              <a:rPr lang="zh-CN" altLang="zh-CN" smtClean="0">
                <a:sym typeface="FrutigerNext LT Regular" pitchFamily="34" charset="0"/>
              </a:rPr>
              <a:t>AS_Path filter</a:t>
            </a:r>
          </a:p>
          <a:p>
            <a:pPr lvl="1"/>
            <a:r>
              <a:rPr lang="zh-CN" altLang="zh-CN" smtClean="0">
                <a:sym typeface="FrutigerNext LT Regular" pitchFamily="34" charset="0"/>
              </a:rPr>
              <a:t>Community attribute filter</a:t>
            </a:r>
          </a:p>
          <a:p>
            <a:pPr lvl="1"/>
            <a:r>
              <a:rPr lang="zh-CN" altLang="zh-CN" smtClean="0">
                <a:sym typeface="FrutigerNext LT Regular" pitchFamily="34" charset="0"/>
              </a:rPr>
              <a:t>Extended community attribute filter</a:t>
            </a:r>
          </a:p>
          <a:p>
            <a:pPr lvl="1"/>
            <a:r>
              <a:rPr lang="zh-CN" altLang="zh-CN" smtClean="0">
                <a:sym typeface="FrutigerNext LT Regular" pitchFamily="34" charset="0"/>
              </a:rPr>
              <a:t>RD filter</a:t>
            </a:r>
            <a:endParaRPr lang="zh-CN" altLang="zh-CN" dirty="0" smtClean="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621442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xfrm>
            <a:off x="584200" y="765175"/>
            <a:ext cx="5930900" cy="3336925"/>
          </a:xfrm>
          <a:ln/>
        </p:spPr>
      </p:sp>
      <p:sp>
        <p:nvSpPr>
          <p:cNvPr id="67587" name="备注占位符 2"/>
          <p:cNvSpPr>
            <a:spLocks noGrp="1"/>
          </p:cNvSpPr>
          <p:nvPr>
            <p:ph type="body" idx="1"/>
          </p:nvPr>
        </p:nvSpPr>
        <p:spPr>
          <a:noFill/>
          <a:ln/>
        </p:spPr>
        <p:txBody>
          <a:bodyPr/>
          <a:lstStyle/>
          <a:p>
            <a:pPr hangingPunct="1"/>
            <a:r>
              <a:rPr lang="zh-CN" altLang="zh-CN" dirty="0" smtClean="0">
                <a:solidFill>
                  <a:srgbClr val="000000"/>
                </a:solidFill>
                <a:latin typeface="FrutigerNext LT Regular"/>
                <a:sym typeface="FrutigerNext LT Regular" pitchFamily="34" charset="0"/>
              </a:rPr>
              <a:t>An ACL is composed of a list of rules. Each rule contains a permit or deny clause. These rules define packets with information in the packets.</a:t>
            </a:r>
          </a:p>
          <a:p>
            <a:pPr hangingPunct="1"/>
            <a:r>
              <a:rPr lang="zh-CN" altLang="zh-CN" dirty="0" smtClean="0">
                <a:solidFill>
                  <a:srgbClr val="000000"/>
                </a:solidFill>
                <a:latin typeface="FrutigerNext LT Regular"/>
                <a:sym typeface="FrutigerNext LT Regular" pitchFamily="34" charset="0"/>
              </a:rPr>
              <a:t>ACL classification:</a:t>
            </a:r>
          </a:p>
          <a:p>
            <a:pPr lvl="1" hangingPunct="1">
              <a:buFont typeface="Wingdings" pitchFamily="2" charset="2"/>
              <a:buChar char="p"/>
            </a:pPr>
            <a:r>
              <a:rPr lang="zh-CN" altLang="zh-CN" dirty="0" smtClean="0">
                <a:solidFill>
                  <a:srgbClr val="000000"/>
                </a:solidFill>
                <a:latin typeface="FrutigerNext LT Regular"/>
                <a:sym typeface="FrutigerNext LT Regular" pitchFamily="34" charset="0"/>
              </a:rPr>
              <a:t>Basic ACL: matches packets against source address, fragmentation flag, and time range. The ACL number ranges from 2000 to 2999.</a:t>
            </a:r>
          </a:p>
          <a:p>
            <a:pPr lvl="1" hangingPunct="1">
              <a:lnSpc>
                <a:spcPct val="100000"/>
              </a:lnSpc>
              <a:buFont typeface="Wingdings" pitchFamily="2" charset="2"/>
              <a:buChar char="p"/>
            </a:pPr>
            <a:r>
              <a:rPr lang="zh-CN" altLang="zh-CN" dirty="0" smtClean="0">
                <a:solidFill>
                  <a:srgbClr val="000000"/>
                </a:solidFill>
                <a:latin typeface="FrutigerNext LT Regular"/>
                <a:sym typeface="FrutigerNext LT Regular" pitchFamily="34" charset="0"/>
              </a:rPr>
              <a:t>Advanced ACL: matches packets against source address, destination address, source port number, destination port number, protocol type, priority, and time range. the ACL number ranges from 3000 to 3999.</a:t>
            </a:r>
          </a:p>
          <a:p>
            <a:pPr lvl="1" hangingPunct="1">
              <a:buFont typeface="Wingdings" pitchFamily="2" charset="2"/>
              <a:buChar char="p"/>
            </a:pPr>
            <a:r>
              <a:rPr lang="zh-CN" altLang="zh-CN" dirty="0" smtClean="0">
                <a:solidFill>
                  <a:srgbClr val="000000"/>
                </a:solidFill>
                <a:latin typeface="FrutigerNext LT Regular"/>
                <a:sym typeface="FrutigerNext LT Regular" pitchFamily="34" charset="0"/>
              </a:rPr>
              <a:t>Layer 2 ACL: matches packets against source MAC address, destination MAC address, and packet type. The ACL number ranges from 4000 to 4999.</a:t>
            </a:r>
          </a:p>
          <a:p>
            <a:pPr lvl="1" hangingPunct="1">
              <a:buFont typeface="Wingdings" pitchFamily="2" charset="2"/>
              <a:buChar char="p"/>
            </a:pPr>
            <a:r>
              <a:rPr lang="zh-CN" altLang="zh-CN" dirty="0" smtClean="0">
                <a:solidFill>
                  <a:srgbClr val="000000"/>
                </a:solidFill>
                <a:latin typeface="FrutigerNext LT Regular"/>
                <a:sym typeface="FrutigerNext LT Regular" pitchFamily="34" charset="0"/>
              </a:rPr>
              <a:t>User-defined ACL: matches packets against user-defined rules. The ACL number ranges from 5000 to 5999.</a:t>
            </a:r>
          </a:p>
          <a:p>
            <a:pPr hangingPunct="1">
              <a:spcAft>
                <a:spcPts val="575"/>
              </a:spcAft>
            </a:pPr>
            <a:r>
              <a:rPr lang="zh-CN" altLang="zh-CN" dirty="0" smtClean="0">
                <a:solidFill>
                  <a:srgbClr val="000000"/>
                </a:solidFill>
                <a:latin typeface="FrutigerNext LT Regular"/>
                <a:sym typeface="FrutigerNext LT Regular" pitchFamily="34" charset="0"/>
              </a:rPr>
              <a:t>An ACL can consist of multiple deny or permit clauses. Each clause describes a rule. After receiving data packets, the device matches the packets against the first ACL rule. If the packets do not match the first ACL rule, the device matches the packets against the next ACL rule. Once the packets match a rule, the device executes the action in the rule and does not match packets against other rules. If the packets do not match any rule, the device directly forwards the packets. </a:t>
            </a:r>
          </a:p>
        </p:txBody>
      </p:sp>
    </p:spTree>
    <p:extLst>
      <p:ext uri="{BB962C8B-B14F-4D97-AF65-F5344CB8AC3E}">
        <p14:creationId xmlns:p14="http://schemas.microsoft.com/office/powerpoint/2010/main" val="1357893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83903" y="765175"/>
            <a:ext cx="5931494" cy="8960643"/>
          </a:xfrm>
        </p:spPr>
        <p:txBody>
          <a:bodyPr/>
          <a:lstStyle/>
          <a:p>
            <a:r>
              <a:rPr lang="en-US" altLang="zh-CN" dirty="0"/>
              <a:t>Note: The ACL rules may overlap or conflict with each other. The rule matching order decides the rule priorities. The ACL processes rule overlapping or conflict based on rule priorities.</a:t>
            </a:r>
          </a:p>
          <a:p>
            <a:endParaRPr lang="zh-CN" altLang="en-US" dirty="0"/>
          </a:p>
        </p:txBody>
      </p:sp>
    </p:spTree>
    <p:extLst>
      <p:ext uri="{BB962C8B-B14F-4D97-AF65-F5344CB8AC3E}">
        <p14:creationId xmlns:p14="http://schemas.microsoft.com/office/powerpoint/2010/main" val="1511443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xfrm>
            <a:off x="584200" y="765175"/>
            <a:ext cx="5930900" cy="3336925"/>
          </a:xfrm>
          <a:ln/>
        </p:spPr>
      </p:sp>
      <p:sp>
        <p:nvSpPr>
          <p:cNvPr id="68611" name="备注占位符 2"/>
          <p:cNvSpPr>
            <a:spLocks noGrp="1"/>
          </p:cNvSpPr>
          <p:nvPr>
            <p:ph type="body" idx="1"/>
          </p:nvPr>
        </p:nvSpPr>
        <p:spPr>
          <a:noFill/>
          <a:ln/>
        </p:spPr>
        <p:txBody>
          <a:bodyPr/>
          <a:lstStyle/>
          <a:p>
            <a:pPr hangingPunct="1"/>
            <a:endParaRPr lang="en-US" altLang="zh-CN" dirty="0" smtClean="0">
              <a:latin typeface="FrutigerNext LT Regular"/>
            </a:endParaRPr>
          </a:p>
        </p:txBody>
      </p:sp>
    </p:spTree>
    <p:extLst>
      <p:ext uri="{BB962C8B-B14F-4D97-AF65-F5344CB8AC3E}">
        <p14:creationId xmlns:p14="http://schemas.microsoft.com/office/powerpoint/2010/main" val="359705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xfrm>
            <a:off x="584200" y="765175"/>
            <a:ext cx="5930900" cy="3336925"/>
          </a:xfrm>
          <a:ln/>
        </p:spPr>
      </p:sp>
      <p:sp>
        <p:nvSpPr>
          <p:cNvPr id="69635" name="备注占位符 2"/>
          <p:cNvSpPr>
            <a:spLocks noGrp="1"/>
          </p:cNvSpPr>
          <p:nvPr>
            <p:ph type="body" idx="1"/>
          </p:nvPr>
        </p:nvSpPr>
        <p:spPr>
          <a:noFill/>
          <a:ln/>
        </p:spPr>
        <p:txBody>
          <a:bodyPr/>
          <a:lstStyle/>
          <a:p>
            <a:pPr hangingPunct="1"/>
            <a:endParaRPr lang="en-US" altLang="zh-CN" dirty="0" smtClean="0">
              <a:latin typeface="FrutigerNext LT Regular"/>
            </a:endParaRPr>
          </a:p>
        </p:txBody>
      </p:sp>
    </p:spTree>
    <p:extLst>
      <p:ext uri="{BB962C8B-B14F-4D97-AF65-F5344CB8AC3E}">
        <p14:creationId xmlns:p14="http://schemas.microsoft.com/office/powerpoint/2010/main" val="147345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备注占位符 2"/>
          <p:cNvSpPr>
            <a:spLocks noGrp="1"/>
          </p:cNvSpPr>
          <p:nvPr>
            <p:ph type="body" idx="1"/>
          </p:nvPr>
        </p:nvSpPr>
        <p:spPr/>
        <p:txBody>
          <a:bodyPr/>
          <a:lstStyle/>
          <a:p>
            <a:r>
              <a:rPr lang="zh-CN" altLang="zh-CN" dirty="0" smtClean="0">
                <a:sym typeface="FrutigerNext LT Regular" pitchFamily="34" charset="0"/>
              </a:rPr>
              <a:t>IP prefix list is the address prefix list. The address prefix list filters the routes based on the defined prefix filter list.</a:t>
            </a:r>
          </a:p>
          <a:p>
            <a:r>
              <a:rPr lang="zh-CN" altLang="zh-CN" dirty="0" smtClean="0">
                <a:sym typeface="FrutigerNext LT Regular" pitchFamily="34" charset="0"/>
              </a:rPr>
              <a:t>Format and matching rule of prefix list:</a:t>
            </a:r>
          </a:p>
          <a:p>
            <a:pPr lvl="1"/>
            <a:r>
              <a:rPr lang="zh-CN" altLang="zh-CN" dirty="0" smtClean="0">
                <a:sym typeface="FrutigerNext LT Regular" pitchFamily="34" charset="0"/>
              </a:rPr>
              <a:t>The prefix filter list consists of IP addresses and masks. An IP address can be a subnet address or host address. The mask length ranges from 0 to 32.</a:t>
            </a:r>
          </a:p>
          <a:p>
            <a:pPr lvl="1"/>
            <a:r>
              <a:rPr lang="zh-CN" altLang="zh-CN" dirty="0" smtClean="0">
                <a:sym typeface="FrutigerNext LT Regular" pitchFamily="34" charset="0"/>
              </a:rPr>
              <a:t>Each IP prefix in the IP prefix list has an index. The IP prefixes are processed in an ascending order of index.</a:t>
            </a:r>
          </a:p>
          <a:p>
            <a:pPr lvl="1"/>
            <a:r>
              <a:rPr lang="zh-CN" altLang="zh-CN" dirty="0" smtClean="0">
                <a:sym typeface="FrutigerNext LT Regular" pitchFamily="34" charset="0"/>
              </a:rPr>
              <a:t>If the indexes are not manually set, the device allocates indexes to the IP prefixes with an interval of 10. If a new IP prefix has the same name and index as an existing IP prefix but their contents are different, the new IP prefix overwrites the old one.</a:t>
            </a:r>
          </a:p>
          <a:p>
            <a:pPr lvl="1"/>
            <a:r>
              <a:rPr lang="zh-CN" altLang="zh-CN" dirty="0" smtClean="0">
                <a:sym typeface="FrutigerNext LT Regular" pitchFamily="34" charset="0"/>
              </a:rPr>
              <a:t>If no IP prefix is matched, the default matching mode of the last IP prefix is deny by default. If a referenced IP prefix list does not exist, the default mode permit is used.</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289070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83903" y="765175"/>
            <a:ext cx="5931494" cy="8960643"/>
          </a:xfrm>
        </p:spPr>
        <p:txBody>
          <a:bodyPr/>
          <a:lstStyle/>
          <a:p>
            <a:r>
              <a:rPr lang="en-US" altLang="zh-CN" dirty="0"/>
              <a:t>Prefix mask length range:</a:t>
            </a:r>
          </a:p>
          <a:p>
            <a:r>
              <a:rPr lang="en-US" altLang="zh-CN" dirty="0"/>
              <a:t>The IP prefix list can match a specific route or match the routes within a certain mask length. The prefix mask length can also be specified using the keywords greater-equal or less-equal. If the keyword greater-equal or less-equal is not specified, the precise matching is used. That is, only the route with the same mask length as the prefix list is matched. If the keyword greater-equal is specified, the routes of which the mask lengths range from greater-equal value to 32 bits are matched. If the keyword less-equal is specified, the routes of which the mask lengths range from the specified value to less-equal are matched.</a:t>
            </a:r>
          </a:p>
          <a:p>
            <a:endParaRPr lang="zh-CN" altLang="en-US" dirty="0"/>
          </a:p>
        </p:txBody>
      </p:sp>
    </p:spTree>
    <p:extLst>
      <p:ext uri="{BB962C8B-B14F-4D97-AF65-F5344CB8AC3E}">
        <p14:creationId xmlns:p14="http://schemas.microsoft.com/office/powerpoint/2010/main" val="14693684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85110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备注占位符 2"/>
          <p:cNvSpPr>
            <a:spLocks noGrp="1"/>
          </p:cNvSpPr>
          <p:nvPr>
            <p:ph type="body" idx="1"/>
          </p:nvPr>
        </p:nvSpPr>
        <p:spPr/>
        <p:txBody>
          <a:bodyPr/>
          <a:lstStyle/>
          <a:p>
            <a:r>
              <a:rPr lang="zh-CN" altLang="zh-CN" dirty="0" smtClean="0">
                <a:sym typeface="FrutigerNext LT Regular" pitchFamily="34" charset="0"/>
              </a:rPr>
              <a:t>The filter-policy tools of protocols can reference ACLs or address prefix lists to filter the received, advertised, and imported routes. </a:t>
            </a:r>
          </a:p>
          <a:p>
            <a:r>
              <a:rPr lang="zh-CN" altLang="zh-CN" dirty="0" smtClean="0">
                <a:sym typeface="FrutigerNext LT Regular" pitchFamily="34" charset="0"/>
              </a:rPr>
              <a:t>For a distance-vector protocol and a link-state protocol, the operations of the filter-policy tools are different:</a:t>
            </a:r>
          </a:p>
          <a:p>
            <a:pPr lvl="1"/>
            <a:r>
              <a:rPr lang="zh-CN" altLang="zh-CN" dirty="0" smtClean="0">
                <a:sym typeface="FrutigerNext LT Regular" pitchFamily="34" charset="0"/>
              </a:rPr>
              <a:t>The distance-vector protocol generates routes based on routing table, so the filter will affect the routes received from and sent to neighbors. </a:t>
            </a:r>
          </a:p>
          <a:p>
            <a:pPr lvl="1"/>
            <a:r>
              <a:rPr lang="zh-CN" altLang="zh-CN" dirty="0" smtClean="0">
                <a:sym typeface="FrutigerNext LT Regular" pitchFamily="34" charset="0"/>
              </a:rPr>
              <a:t>The link-state protocol generates routes based on the link state base and the routing information is hidden in the link status LSA. However, the filter-policy cannot filter the advertised and received LSAs. Therefore, the filter-policy does not affect link state advertisement, integrity of link state, or routing table. It affects only the local routing table. Only filtered routes can be added to the routing table.</a:t>
            </a:r>
          </a:p>
          <a:p>
            <a:pPr lvl="1"/>
            <a:r>
              <a:rPr lang="zh-CN" altLang="zh-CN" dirty="0" smtClean="0">
                <a:sym typeface="FrutigerNext LT Regular" pitchFamily="34" charset="0"/>
              </a:rPr>
              <a:t>The routes advertised by the filter-policy export command of different protocols are different:</a:t>
            </a:r>
          </a:p>
          <a:p>
            <a:pPr lvl="2"/>
            <a:r>
              <a:rPr lang="zh-CN" altLang="zh-CN" dirty="0" smtClean="0">
                <a:sym typeface="FrutigerNext LT Regular" pitchFamily="34" charset="0"/>
              </a:rPr>
              <a:t>The routes imported to or discovered by the DV protocol are filtered.</a:t>
            </a:r>
          </a:p>
          <a:p>
            <a:pPr lvl="2"/>
            <a:r>
              <a:rPr lang="zh-CN" altLang="zh-CN" dirty="0" smtClean="0">
                <a:sym typeface="FrutigerNext LT Regular" pitchFamily="34" charset="0"/>
              </a:rPr>
              <a:t>Only the routes imported to the link status protocol are filtered. </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5998516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xfrm>
            <a:off x="584200" y="765175"/>
            <a:ext cx="5930900" cy="3336925"/>
          </a:xfrm>
          <a:ln/>
        </p:spPr>
      </p:sp>
      <p:sp>
        <p:nvSpPr>
          <p:cNvPr id="73731" name="备注占位符 2"/>
          <p:cNvSpPr>
            <a:spLocks noGrp="1"/>
          </p:cNvSpPr>
          <p:nvPr>
            <p:ph type="body" idx="1"/>
          </p:nvPr>
        </p:nvSpPr>
        <p:spPr>
          <a:noFill/>
          <a:ln/>
        </p:spPr>
        <p:txBody>
          <a:bodyPr/>
          <a:lstStyle/>
          <a:p>
            <a:pPr hangingPunct="1"/>
            <a:r>
              <a:rPr lang="zh-CN" altLang="zh-CN" smtClean="0">
                <a:solidFill>
                  <a:srgbClr val="000000"/>
                </a:solidFill>
                <a:latin typeface="FrutigerNext LT Regular"/>
                <a:sym typeface="FrutigerNext LT Regular" pitchFamily="34" charset="0"/>
              </a:rPr>
              <a:t>Each node in the route policy matches permit or deny mode. If a node matches the permit mode, when a route meets all if-match clauses in the node, the route is allowed and the apply clause matching the node is executed, and the next node is not processed. If a route does not match any if-match clause in the node, the next node is processed for route filtering. If a node matches the deny mode, when a route matches all if-match clauses in the node, the route is not allowed and the apply clause of the node is not executed, and the next node is not processed. Otherwise, the next node is processed for route filtering.</a:t>
            </a:r>
          </a:p>
        </p:txBody>
      </p:sp>
    </p:spTree>
    <p:extLst>
      <p:ext uri="{BB962C8B-B14F-4D97-AF65-F5344CB8AC3E}">
        <p14:creationId xmlns:p14="http://schemas.microsoft.com/office/powerpoint/2010/main" val="810207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备注占位符 2"/>
          <p:cNvSpPr>
            <a:spLocks noGrp="1"/>
          </p:cNvSpPr>
          <p:nvPr>
            <p:ph type="body" idx="1"/>
          </p:nvPr>
        </p:nvSpPr>
        <p:spPr/>
        <p:txBody>
          <a:bodyPr/>
          <a:lstStyle/>
          <a:p>
            <a:r>
              <a:rPr lang="zh-CN" altLang="zh-CN" smtClean="0">
                <a:sym typeface="FrutigerNext LT Regular" pitchFamily="34" charset="0"/>
              </a:rPr>
              <a:t>Pref1 matches 5.5.5.5/32 or 1.1.2.0/24. They will be filtered out (deny) by node 10 of route-policy RP, so Table-2 does not contain 5.5.5.5/32 and 1.1.2.0/24.</a:t>
            </a:r>
          </a:p>
          <a:p>
            <a:r>
              <a:rPr lang="zh-CN" altLang="zh-CN" smtClean="0">
                <a:sym typeface="FrutigerNext LT Regular" pitchFamily="34" charset="0"/>
              </a:rPr>
              <a:t>Pref2 filters out (deny) 6.6.6.6/32. Although node 20 in route-policy RP matches permit, 6.6.6.6/32 is still filtered out. Therefore, Table-2 does not contain 6.6.6.6/32.</a:t>
            </a:r>
          </a:p>
          <a:p>
            <a:r>
              <a:rPr lang="zh-CN" altLang="zh-CN" smtClean="0">
                <a:sym typeface="FrutigerNext LT Regular" pitchFamily="34" charset="0"/>
              </a:rPr>
              <a:t>Node 30 in route-policy RP defines two if-match clauses, matching ACL 2001 and ACL 2002. The routes match ACL 2001 include 1.1.3.0/24 (next hop 34.34.34.2), 1.1.3.0/24 (next hop 13.13.13.1), 1.1.3.0/25 (next hop 34.34.34.2), and 1.1.3.0/25 (next hop 13.13.13.1). The routes 1.1.3.0/24 (next hop 13.13.13.1) and 1.1.3.0/25 (next hop 13.13.13.1) match both ACL 2001 and ACL 2002. Therefore, the cost values of 1.1.3.0/24 (next hop 13.13.13.1) and 1.1.3.0/25 (next hop 13.13.13.1) are changed to 21.</a:t>
            </a:r>
          </a:p>
          <a:p>
            <a:r>
              <a:rPr lang="zh-CN" altLang="zh-CN" smtClean="0">
                <a:sym typeface="FrutigerNext LT Regular" pitchFamily="34" charset="0"/>
              </a:rPr>
              <a:t>The routes 1.1.3.0/24 (next hop 34.34.34.2) and 1.1.3.0/25 (next hop 34.34.34.2) are matched against node 40 in route-policy RP. The route 1.1.3.0/25 matches Pref3, so the cost value of 1.1.3.0/25 (next hop 34.34.34.2) is changed to 11.</a:t>
            </a:r>
          </a:p>
          <a:p>
            <a:r>
              <a:rPr lang="zh-CN" altLang="zh-CN" smtClean="0">
                <a:sym typeface="FrutigerNext LT Regular" pitchFamily="34" charset="0"/>
              </a:rPr>
              <a:t>Then, the route 1.1.3.0/24 (next hop 34.34.34.2) matches node 50 in route-policy RP.</a:t>
            </a:r>
            <a:endParaRPr lang="zh-CN" altLang="zh-CN" dirty="0" smtClean="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258919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xfrm>
            <a:off x="584200" y="765175"/>
            <a:ext cx="5930900" cy="3336925"/>
          </a:xfrm>
          <a:ln/>
        </p:spPr>
      </p:sp>
      <p:sp>
        <p:nvSpPr>
          <p:cNvPr id="75779"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202190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备注占位符 2"/>
          <p:cNvSpPr>
            <a:spLocks noGrp="1"/>
          </p:cNvSpPr>
          <p:nvPr>
            <p:ph type="body" idx="1"/>
          </p:nvPr>
        </p:nvSpPr>
        <p:spPr/>
        <p:txBody>
          <a:bodyPr/>
          <a:lstStyle/>
          <a:p>
            <a:r>
              <a:rPr lang="zh-CN" altLang="zh-CN" smtClean="0">
                <a:sym typeface="FrutigerNext LT Regular" pitchFamily="34" charset="0"/>
              </a:rPr>
              <a:t>RTA can also use route policy to control routes:</a:t>
            </a:r>
          </a:p>
          <a:p>
            <a:pPr lvl="1"/>
            <a:r>
              <a:rPr lang="zh-CN" altLang="zh-CN" smtClean="0">
                <a:sym typeface="FrutigerNext LT Regular" pitchFamily="34" charset="0"/>
              </a:rPr>
              <a:t>acl 2000</a:t>
            </a:r>
          </a:p>
          <a:p>
            <a:pPr lvl="2"/>
            <a:r>
              <a:rPr lang="zh-CN" altLang="zh-CN" smtClean="0">
                <a:sym typeface="FrutigerNext LT Regular" pitchFamily="34" charset="0"/>
              </a:rPr>
              <a:t>rule 0 permit source 10.1.1.0 0.0.0.255</a:t>
            </a:r>
          </a:p>
          <a:p>
            <a:pPr lvl="2"/>
            <a:r>
              <a:rPr lang="zh-CN" altLang="zh-CN" smtClean="0">
                <a:sym typeface="FrutigerNext LT Regular" pitchFamily="34" charset="0"/>
              </a:rPr>
              <a:t>rule 5 permit source 10.1.3.0 0.0.0.255</a:t>
            </a:r>
          </a:p>
          <a:p>
            <a:pPr lvl="1"/>
            <a:r>
              <a:rPr lang="zh-CN" altLang="zh-CN" smtClean="0">
                <a:sym typeface="FrutigerNext LT Regular" pitchFamily="34" charset="0"/>
              </a:rPr>
              <a:t>route-policy huawei-control permit node 10</a:t>
            </a:r>
          </a:p>
          <a:p>
            <a:pPr lvl="2"/>
            <a:r>
              <a:rPr lang="zh-CN" altLang="zh-CN" smtClean="0">
                <a:sym typeface="FrutigerNext LT Regular" pitchFamily="34" charset="0"/>
              </a:rPr>
              <a:t>if-match acl 2000</a:t>
            </a:r>
          </a:p>
          <a:p>
            <a:pPr lvl="1"/>
            <a:r>
              <a:rPr lang="zh-CN" altLang="zh-CN" smtClean="0">
                <a:sym typeface="FrutigerNext LT Regular" pitchFamily="34" charset="0"/>
              </a:rPr>
              <a:t>ospf 1</a:t>
            </a:r>
          </a:p>
          <a:p>
            <a:pPr lvl="2"/>
            <a:r>
              <a:rPr lang="zh-CN" altLang="zh-CN" smtClean="0">
                <a:sym typeface="FrutigerNext LT Regular" pitchFamily="34" charset="0"/>
              </a:rPr>
              <a:t>import-route direct route-policy huawei-control</a:t>
            </a:r>
            <a:endParaRPr lang="zh-CN" altLang="zh-CN" dirty="0" smtClean="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898929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备注占位符 2"/>
          <p:cNvSpPr>
            <a:spLocks noGrp="1"/>
          </p:cNvSpPr>
          <p:nvPr>
            <p:ph type="body" idx="1"/>
          </p:nvPr>
        </p:nvSpPr>
        <p:spPr/>
        <p:txBody>
          <a:bodyPr/>
          <a:lstStyle/>
          <a:p>
            <a:r>
              <a:rPr lang="zh-CN" altLang="zh-CN" smtClean="0">
                <a:sym typeface="FrutigerNext LT Regular" pitchFamily="34" charset="0"/>
              </a:rPr>
              <a:t>Note: The preceding information is a part of key information.</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4166247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xfrm>
            <a:off x="584200" y="765175"/>
            <a:ext cx="5930900" cy="3336925"/>
          </a:xfrm>
          <a:ln/>
        </p:spPr>
      </p:sp>
      <p:sp>
        <p:nvSpPr>
          <p:cNvPr id="78851"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9623924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a:xfrm>
            <a:off x="584200" y="765175"/>
            <a:ext cx="5930900" cy="3336925"/>
          </a:xfrm>
          <a:ln/>
        </p:spPr>
      </p:sp>
      <p:sp>
        <p:nvSpPr>
          <p:cNvPr id="79875" name="备注占位符 2"/>
          <p:cNvSpPr>
            <a:spLocks noGrp="1"/>
          </p:cNvSpPr>
          <p:nvPr>
            <p:ph type="body" idx="1"/>
          </p:nvPr>
        </p:nvSpPr>
        <p:spPr>
          <a:noFill/>
          <a:ln/>
        </p:spPr>
        <p:txBody>
          <a:bodyPr/>
          <a:lstStyle/>
          <a:p>
            <a:pPr hangingPunct="1"/>
            <a:endParaRPr lang="zh-CN" altLang="zh-CN" smtClean="0">
              <a:latin typeface="FrutigerNext LT Regular"/>
            </a:endParaRPr>
          </a:p>
        </p:txBody>
      </p:sp>
    </p:spTree>
    <p:extLst>
      <p:ext uri="{BB962C8B-B14F-4D97-AF65-F5344CB8AC3E}">
        <p14:creationId xmlns:p14="http://schemas.microsoft.com/office/powerpoint/2010/main" val="22687263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备注占位符 2"/>
          <p:cNvSpPr>
            <a:spLocks noGrp="1"/>
          </p:cNvSpPr>
          <p:nvPr>
            <p:ph type="body" idx="1"/>
          </p:nvPr>
        </p:nvSpPr>
        <p:spPr/>
        <p:txBody>
          <a:bodyPr/>
          <a:lstStyle/>
          <a:p>
            <a:r>
              <a:rPr lang="en-US" altLang="zh-CN" dirty="0" smtClean="0">
                <a:sym typeface="FrutigerNext LT Regular" pitchFamily="34" charset="0"/>
              </a:rPr>
              <a:t>According to the test result, a</a:t>
            </a:r>
            <a:r>
              <a:rPr lang="zh-CN" altLang="zh-CN" dirty="0" smtClean="0">
                <a:sym typeface="FrutigerNext LT Regular" pitchFamily="34" charset="0"/>
              </a:rPr>
              <a:t>fter </a:t>
            </a:r>
            <a:r>
              <a:rPr lang="en-US" altLang="zh-CN" dirty="0" smtClean="0"/>
              <a:t>Traffic Filter</a:t>
            </a:r>
            <a:r>
              <a:rPr lang="zh-CN" altLang="zh-CN" dirty="0" smtClean="0">
                <a:sym typeface="FrutigerNext LT Regular" pitchFamily="34" charset="0"/>
              </a:rPr>
              <a:t> </a:t>
            </a:r>
            <a:r>
              <a:rPr lang="zh-CN" altLang="zh-CN" dirty="0" smtClean="0">
                <a:sym typeface="FrutigerNext LT Regular" pitchFamily="34" charset="0"/>
              </a:rPr>
              <a:t>is </a:t>
            </a:r>
            <a:r>
              <a:rPr lang="en-US" altLang="zh-CN" dirty="0" smtClean="0">
                <a:sym typeface="FrutigerNext LT Regular" pitchFamily="34" charset="0"/>
              </a:rPr>
              <a:t>configured</a:t>
            </a:r>
            <a:r>
              <a:rPr lang="zh-CN" altLang="zh-CN" dirty="0" smtClean="0">
                <a:sym typeface="FrutigerNext LT Regular" pitchFamily="34" charset="0"/>
              </a:rPr>
              <a:t>, the routing table of RTC contains the routes on the entire network, and the marketing department cannot access the financial and R&amp;D departments but can access other departments. The routing table of RTD also contains the routes on the entire network. The headquarters cannot access the R&amp;D department, but can access other departments.</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554914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xfrm>
            <a:off x="584200" y="765175"/>
            <a:ext cx="5930900" cy="3336925"/>
          </a:xfrm>
          <a:ln/>
        </p:spPr>
      </p:sp>
      <p:sp>
        <p:nvSpPr>
          <p:cNvPr id="81923"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9166114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备注占位符 2"/>
          <p:cNvSpPr>
            <a:spLocks noGrp="1"/>
          </p:cNvSpPr>
          <p:nvPr>
            <p:ph type="body" idx="1"/>
          </p:nvPr>
        </p:nvSpPr>
        <p:spPr/>
        <p:txBody>
          <a:bodyPr/>
          <a:lstStyle/>
          <a:p>
            <a:r>
              <a:rPr lang="zh-CN" altLang="zh-CN" smtClean="0">
                <a:sym typeface="FrutigerNext LT Regular" pitchFamily="34" charset="0"/>
              </a:rPr>
              <a:t>You can change protocol attributes to control the routing </a:t>
            </a:r>
            <a:r>
              <a:rPr lang="en-US" altLang="zh-CN" smtClean="0">
                <a:sym typeface="FrutigerNext LT Regular" pitchFamily="34" charset="0"/>
              </a:rPr>
              <a:t>table </a:t>
            </a:r>
            <a:r>
              <a:rPr lang="zh-CN" altLang="zh-CN" smtClean="0">
                <a:sym typeface="FrutigerNext LT Regular" pitchFamily="34" charset="0"/>
              </a:rPr>
              <a:t>entries, affecting traffic path:</a:t>
            </a:r>
            <a:endParaRPr lang="en-US" altLang="zh-CN" smtClean="0">
              <a:sym typeface="FrutigerNext LT Regular" pitchFamily="34" charset="0"/>
            </a:endParaRPr>
          </a:p>
          <a:p>
            <a:pPr lvl="1"/>
            <a:r>
              <a:rPr lang="zh-CN" altLang="zh-CN" smtClean="0">
                <a:sym typeface="FrutigerNext LT Regular" pitchFamily="34" charset="0"/>
              </a:rPr>
              <a:t>If OSPF or IS-IS is run, adjust the cost values of interfaces.</a:t>
            </a:r>
          </a:p>
          <a:p>
            <a:pPr lvl="1"/>
            <a:r>
              <a:rPr lang="zh-CN" altLang="zh-CN" smtClean="0">
                <a:sym typeface="FrutigerNext LT Regular" pitchFamily="34" charset="0"/>
              </a:rPr>
              <a:t>If RIP is run, adjust the metric or next hop.</a:t>
            </a:r>
          </a:p>
          <a:p>
            <a:pPr lvl="1"/>
            <a:r>
              <a:rPr lang="zh-CN" altLang="zh-CN" smtClean="0">
                <a:sym typeface="FrutigerNext LT Regular" pitchFamily="34" charset="0"/>
              </a:rPr>
              <a:t>If BGP is run, adjust the AS-Path, Local_Pref, MED, and Community attributes.</a:t>
            </a:r>
            <a:endParaRPr lang="zh-CN" altLang="zh-CN" dirty="0" smtClean="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9067501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备注占位符 2"/>
          <p:cNvSpPr>
            <a:spLocks noGrp="1"/>
          </p:cNvSpPr>
          <p:nvPr>
            <p:ph type="body" idx="1"/>
          </p:nvPr>
        </p:nvSpPr>
        <p:spPr/>
        <p:txBody>
          <a:bodyPr/>
          <a:lstStyle/>
          <a:p>
            <a:r>
              <a:rPr lang="zh-CN" altLang="zh-CN" smtClean="0">
                <a:sym typeface="FrutigerNext LT Regular" pitchFamily="34" charset="0"/>
              </a:rPr>
              <a:t>Traditionally, packets are forwarded by searching the routing table based on destination IP addresses. What are the disadvantages of this method? Can it meet complicated requirements? Can packet forwarding be controlled precisely?</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4700812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备注占位符 2"/>
          <p:cNvSpPr>
            <a:spLocks noGrp="1"/>
          </p:cNvSpPr>
          <p:nvPr>
            <p:ph type="body" idx="1"/>
          </p:nvPr>
        </p:nvSpPr>
        <p:spPr/>
        <p:txBody>
          <a:bodyPr/>
          <a:lstStyle/>
          <a:p>
            <a:r>
              <a:rPr lang="zh-CN" altLang="zh-CN" smtClean="0">
                <a:sym typeface="FrutigerNext LT Regular" pitchFamily="34" charset="0"/>
              </a:rPr>
              <a:t>Due to the limitation in route policy, users expect to customize packet forwarding policies based on the traditional routing method. Policy-based routing allows network administrators to make user-defined policies to change packet routes based on source addresses, packet size, and link quality in addition to destination addresses.</a:t>
            </a:r>
            <a:endParaRPr lang="zh-CN" altLang="zh-CN" dirty="0" smtClean="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720209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584200" y="765175"/>
            <a:ext cx="5930900" cy="3336925"/>
          </a:xfrm>
          <a:ln/>
        </p:spPr>
      </p:sp>
      <p:sp>
        <p:nvSpPr>
          <p:cNvPr id="86019" name="备注占位符 2"/>
          <p:cNvSpPr>
            <a:spLocks noGrp="1"/>
          </p:cNvSpPr>
          <p:nvPr>
            <p:ph type="body" idx="1"/>
          </p:nvPr>
        </p:nvSpPr>
        <p:spPr>
          <a:noFill/>
          <a:ln/>
        </p:spPr>
        <p:txBody>
          <a:bodyPr/>
          <a:lstStyle/>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zh-CN" dirty="0" smtClean="0">
                <a:sym typeface="FrutigerNext LT Regular" pitchFamily="34" charset="0"/>
              </a:rPr>
              <a:t>Different from the routing mechanism that </a:t>
            </a:r>
            <a:r>
              <a:rPr lang="en-US" altLang="zh-CN" dirty="0" smtClean="0">
                <a:sym typeface="FrutigerNext LT Regular" pitchFamily="34" charset="0"/>
              </a:rPr>
              <a:t>forwards packets by searching for the</a:t>
            </a:r>
            <a:r>
              <a:rPr lang="zh-CN" altLang="zh-CN" dirty="0" smtClean="0">
                <a:sym typeface="FrutigerNext LT Regular" pitchFamily="34" charset="0"/>
              </a:rPr>
              <a:t> routes based on the destination addresses of IP packets, policy-based routing (PBR) is based on the user-defined routing policies.</a:t>
            </a:r>
            <a:r>
              <a:rPr lang="en-US" altLang="zh-CN" dirty="0" smtClean="0">
                <a:sym typeface="FrutigerNext LT Regular" pitchFamily="34" charset="0"/>
              </a:rPr>
              <a:t> </a:t>
            </a:r>
            <a:r>
              <a:rPr lang="zh-CN" altLang="zh-CN" dirty="0" smtClean="0">
                <a:sym typeface="FrutigerNext LT Regular" pitchFamily="34" charset="0"/>
              </a:rPr>
              <a:t>PBR has a higher priority than routing policy. Before forwarding a data packet, the router matches the packet against the PBR rule first. If matched, the packet is forwarded based on the policy. Otherwise, the packet is forwarded based on the routing table. The PBR does not modify the routing table. It affects data packet forwarding based on the pre-defined rules.</a:t>
            </a:r>
          </a:p>
          <a:p>
            <a:pPr hangingPunct="1"/>
            <a:endParaRPr lang="zh-CN" altLang="en-US" dirty="0" smtClean="0">
              <a:latin typeface="FrutigerNext LT Regular"/>
            </a:endParaRPr>
          </a:p>
        </p:txBody>
      </p:sp>
    </p:spTree>
    <p:extLst>
      <p:ext uri="{BB962C8B-B14F-4D97-AF65-F5344CB8AC3E}">
        <p14:creationId xmlns:p14="http://schemas.microsoft.com/office/powerpoint/2010/main" val="29877736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备注占位符 2"/>
          <p:cNvSpPr>
            <a:spLocks noGrp="1"/>
          </p:cNvSpPr>
          <p:nvPr>
            <p:ph type="body" idx="1"/>
          </p:nvPr>
        </p:nvSpPr>
        <p:spPr/>
        <p:txBody>
          <a:bodyPr/>
          <a:lstStyle/>
          <a:p>
            <a:r>
              <a:rPr lang="zh-CN" altLang="zh-CN" smtClean="0">
                <a:sym typeface="FrutigerNext LT Regular" pitchFamily="34" charset="0"/>
              </a:rPr>
              <a:t>PBR includes:</a:t>
            </a:r>
          </a:p>
          <a:p>
            <a:pPr lvl="1"/>
            <a:r>
              <a:rPr lang="zh-CN" altLang="zh-CN" smtClean="0">
                <a:sym typeface="FrutigerNext LT Regular" pitchFamily="34" charset="0"/>
              </a:rPr>
              <a:t>Local PBR: applies to packets sent by the device, such as ICMP and BGP packets.</a:t>
            </a:r>
          </a:p>
          <a:p>
            <a:pPr lvl="2"/>
            <a:r>
              <a:rPr lang="zh-CN" altLang="zh-CN" smtClean="0">
                <a:sym typeface="FrutigerNext LT Regular" pitchFamily="34" charset="0"/>
              </a:rPr>
              <a:t>To send the packets with different source addresses and lengths, configure local PBR.</a:t>
            </a:r>
          </a:p>
          <a:p>
            <a:pPr lvl="2"/>
            <a:r>
              <a:rPr lang="zh-CN" altLang="zh-CN" smtClean="0">
                <a:sym typeface="FrutigerNext LT Regular" pitchFamily="34" charset="0"/>
              </a:rPr>
              <a:t>It is implemented using the Policy-Based-Route tool.</a:t>
            </a:r>
          </a:p>
          <a:p>
            <a:pPr lvl="1"/>
            <a:r>
              <a:rPr lang="zh-CN" altLang="zh-CN" smtClean="0">
                <a:sym typeface="FrutigerNext LT Regular" pitchFamily="34" charset="0"/>
              </a:rPr>
              <a:t>Interface PBR: applies to the packets forwarded (not </a:t>
            </a:r>
            <a:r>
              <a:rPr lang="en-US" altLang="zh-CN" smtClean="0">
                <a:sym typeface="FrutigerNext LT Regular" pitchFamily="34" charset="0"/>
              </a:rPr>
              <a:t>initiated</a:t>
            </a:r>
            <a:r>
              <a:rPr lang="zh-CN" altLang="zh-CN" smtClean="0">
                <a:sym typeface="FrutigerNext LT Regular" pitchFamily="34" charset="0"/>
              </a:rPr>
              <a:t>) by the local device.</a:t>
            </a:r>
          </a:p>
          <a:p>
            <a:pPr lvl="2"/>
            <a:r>
              <a:rPr lang="zh-CN" altLang="zh-CN" smtClean="0">
                <a:sym typeface="FrutigerNext LT Regular" pitchFamily="34" charset="0"/>
              </a:rPr>
              <a:t>To forward packets to the specified next hop, configure the interface PBR. The packets matching the redirection rule are forwarded through the specified next hop interface. The packets not matching the redirection rule are forwarded based on routing table. Interface PBR applies to load balancing and monitoring.</a:t>
            </a:r>
          </a:p>
          <a:p>
            <a:pPr lvl="2"/>
            <a:r>
              <a:rPr lang="zh-CN" altLang="zh-CN" smtClean="0">
                <a:sym typeface="FrutigerNext LT Regular" pitchFamily="34" charset="0"/>
              </a:rPr>
              <a:t>It is implemented using the traffic policy.</a:t>
            </a:r>
          </a:p>
          <a:p>
            <a:pPr lvl="1"/>
            <a:r>
              <a:rPr lang="zh-CN" altLang="zh-CN" smtClean="0">
                <a:sym typeface="FrutigerNext LT Regular" pitchFamily="34" charset="0"/>
              </a:rPr>
              <a:t>Smart PBR: selects the optimal path for service traffic based on link quality.</a:t>
            </a:r>
          </a:p>
          <a:p>
            <a:pPr lvl="2"/>
            <a:r>
              <a:rPr lang="zh-CN" altLang="zh-CN" smtClean="0">
                <a:sym typeface="FrutigerNext LT Regular" pitchFamily="34" charset="0"/>
              </a:rPr>
              <a:t>To select paths for different services based on link quality, configure smart PBR.</a:t>
            </a:r>
          </a:p>
          <a:p>
            <a:pPr lvl="2"/>
            <a:r>
              <a:rPr lang="zh-CN" altLang="zh-CN" smtClean="0">
                <a:sym typeface="FrutigerNext LT Regular" pitchFamily="34" charset="0"/>
              </a:rPr>
              <a:t>It is implemented using the Smart-Policy-Route tool. This method is not described in this course.</a:t>
            </a:r>
            <a:endParaRPr lang="zh-CN" altLang="zh-CN" dirty="0" smtClean="0">
              <a:sym typeface="FrutigerNext LT Regular" pitchFamily="34" charset="0"/>
            </a:endParaRPr>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7027433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备注占位符 2"/>
          <p:cNvSpPr>
            <a:spLocks noGrp="1"/>
          </p:cNvSpPr>
          <p:nvPr>
            <p:ph type="body" idx="1"/>
          </p:nvPr>
        </p:nvSpPr>
        <p:spPr/>
        <p:txBody>
          <a:bodyPr/>
          <a:lstStyle/>
          <a:p>
            <a:r>
              <a:rPr lang="zh-CN" altLang="zh-CN" smtClean="0">
                <a:sym typeface="FrutigerNext LT Regular" pitchFamily="34" charset="0"/>
              </a:rPr>
              <a:t>MQC is used in this example.</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797280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xfrm>
            <a:off x="584200" y="765175"/>
            <a:ext cx="5930900" cy="3336925"/>
          </a:xfrm>
          <a:ln/>
        </p:spPr>
      </p:sp>
      <p:sp>
        <p:nvSpPr>
          <p:cNvPr id="89091" name="备注占位符 2"/>
          <p:cNvSpPr>
            <a:spLocks noGrp="1"/>
          </p:cNvSpPr>
          <p:nvPr>
            <p:ph type="body" idx="1"/>
          </p:nvPr>
        </p:nvSpPr>
        <p:spPr>
          <a:noFill/>
          <a:ln/>
        </p:spPr>
        <p:txBody>
          <a:bodyPr/>
          <a:lstStyle/>
          <a:p>
            <a:pPr hangingPunct="1"/>
            <a:endParaRPr lang="en-US" altLang="zh-CN" dirty="0" smtClean="0">
              <a:latin typeface="FrutigerNext LT Regular"/>
            </a:endParaRPr>
          </a:p>
        </p:txBody>
      </p:sp>
    </p:spTree>
    <p:extLst>
      <p:ext uri="{BB962C8B-B14F-4D97-AF65-F5344CB8AC3E}">
        <p14:creationId xmlns:p14="http://schemas.microsoft.com/office/powerpoint/2010/main" val="19703513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备注占位符 2"/>
          <p:cNvSpPr>
            <a:spLocks noGrp="1"/>
          </p:cNvSpPr>
          <p:nvPr>
            <p:ph type="body" idx="1"/>
          </p:nvPr>
        </p:nvSpPr>
        <p:spPr/>
        <p:txBody>
          <a:bodyPr/>
          <a:lstStyle/>
          <a:p>
            <a:r>
              <a:rPr lang="zh-CN" altLang="zh-CN" smtClean="0">
                <a:sym typeface="FrutigerNext LT Regular" pitchFamily="34" charset="0"/>
              </a:rPr>
              <a:t>A router has a routing table and a forwarding table. The forwarding table is mapped </a:t>
            </a:r>
            <a:r>
              <a:rPr lang="en-US" altLang="zh-CN" smtClean="0">
                <a:sym typeface="FrutigerNext LT Regular" pitchFamily="34" charset="0"/>
              </a:rPr>
              <a:t>from </a:t>
            </a:r>
            <a:r>
              <a:rPr lang="zh-CN" altLang="zh-CN" smtClean="0">
                <a:sym typeface="FrutigerNext LT Regular" pitchFamily="34" charset="0"/>
              </a:rPr>
              <a:t>the routing table. PBR applies to the forwarding table, and routing policy applies to the routing table. Forwarding is performed at the bottom layer, while routing is performed at the upper layer. Therefore, the forwarding based on forwarding table has a higher priority than the forwarding based on routing table.</a:t>
            </a:r>
          </a:p>
          <a:p>
            <a:r>
              <a:rPr lang="zh-CN" altLang="zh-CN" smtClean="0">
                <a:sym typeface="FrutigerNext LT Regular" pitchFamily="34" charset="0"/>
              </a:rPr>
              <a:t>A route policy takes effect in route discovery. It uses certain rules to influence route advertisement, receiving, and selection, thus modifying the routing entries. The PBR takes effect in packet forwarding. It uses certain rules to influence packet forwarding, but does not affect the routing table.</a:t>
            </a:r>
            <a:endParaRPr lang="zh-CN" altLang="zh-CN" dirty="0" smtClean="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044115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a:xfrm>
            <a:off x="584200" y="765175"/>
            <a:ext cx="5930900" cy="3336925"/>
          </a:xfrm>
          <a:ln/>
        </p:spPr>
      </p:sp>
      <p:sp>
        <p:nvSpPr>
          <p:cNvPr id="91139"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30974097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xfrm>
            <a:off x="584200" y="765175"/>
            <a:ext cx="5930900" cy="3336925"/>
          </a:xfrm>
          <a:ln/>
        </p:spPr>
      </p:sp>
      <p:sp>
        <p:nvSpPr>
          <p:cNvPr id="92163"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26031700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xfrm>
            <a:off x="584200" y="765175"/>
            <a:ext cx="5930900" cy="3336925"/>
          </a:xfrm>
          <a:ln/>
        </p:spPr>
      </p:sp>
      <p:sp>
        <p:nvSpPr>
          <p:cNvPr id="93187"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35657609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xfrm>
            <a:off x="584200" y="765175"/>
            <a:ext cx="5930900" cy="3336925"/>
          </a:xfrm>
          <a:ln/>
        </p:spPr>
      </p:sp>
      <p:sp>
        <p:nvSpPr>
          <p:cNvPr id="94211"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33754264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xfrm>
            <a:off x="584200" y="765175"/>
            <a:ext cx="5930900" cy="3336925"/>
          </a:xfrm>
          <a:ln/>
        </p:spPr>
      </p:sp>
      <p:sp>
        <p:nvSpPr>
          <p:cNvPr id="95235"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4445799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xfrm>
            <a:off x="584200" y="765175"/>
            <a:ext cx="5930900" cy="3336925"/>
          </a:xfrm>
          <a:ln/>
        </p:spPr>
      </p:sp>
      <p:sp>
        <p:nvSpPr>
          <p:cNvPr id="96259"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22287783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xfrm>
            <a:off x="584200" y="765175"/>
            <a:ext cx="5930900" cy="3336925"/>
          </a:xfrm>
          <a:ln/>
        </p:spPr>
      </p:sp>
      <p:sp>
        <p:nvSpPr>
          <p:cNvPr id="96259"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16168346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xfrm>
            <a:off x="584200" y="765175"/>
            <a:ext cx="5930900" cy="3336925"/>
          </a:xfrm>
          <a:ln/>
        </p:spPr>
      </p:sp>
      <p:sp>
        <p:nvSpPr>
          <p:cNvPr id="97283"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500096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xfrm>
            <a:off x="584200" y="765175"/>
            <a:ext cx="5930900" cy="3336925"/>
          </a:xfrm>
          <a:ln/>
        </p:spPr>
      </p:sp>
      <p:sp>
        <p:nvSpPr>
          <p:cNvPr id="98307" name="备注占位符 2"/>
          <p:cNvSpPr>
            <a:spLocks noGrp="1"/>
          </p:cNvSpPr>
          <p:nvPr>
            <p:ph type="body" idx="1"/>
          </p:nvPr>
        </p:nvSpPr>
        <p:spPr>
          <a:noFill/>
          <a:ln/>
        </p:spPr>
        <p:txBody>
          <a:bodyPr/>
          <a:lstStyle/>
          <a:p>
            <a:pPr hangingPunct="1"/>
            <a:endParaRPr lang="zh-CN" altLang="en-US" smtClean="0">
              <a:latin typeface="FrutigerNext LT Regular"/>
            </a:endParaRPr>
          </a:p>
        </p:txBody>
      </p:sp>
    </p:spTree>
    <p:extLst>
      <p:ext uri="{BB962C8B-B14F-4D97-AF65-F5344CB8AC3E}">
        <p14:creationId xmlns:p14="http://schemas.microsoft.com/office/powerpoint/2010/main" val="2528175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备注占位符 2"/>
          <p:cNvSpPr>
            <a:spLocks noGrp="1"/>
          </p:cNvSpPr>
          <p:nvPr>
            <p:ph type="body" idx="1"/>
          </p:nvPr>
        </p:nvSpPr>
        <p:spPr/>
        <p:txBody>
          <a:bodyPr/>
          <a:lstStyle/>
          <a:p>
            <a:r>
              <a:rPr lang="zh-CN" altLang="zh-CN" smtClean="0">
                <a:sym typeface="FrutigerNext LT Regular" pitchFamily="34" charset="0"/>
              </a:rPr>
              <a:t>Answer: The IP prefix list can filter only routing information, but cannot filter IP packets.</a:t>
            </a:r>
          </a:p>
          <a:p>
            <a:r>
              <a:rPr lang="zh-CN" altLang="zh-CN" smtClean="0">
                <a:sym typeface="FrutigerNext LT Regular" pitchFamily="34" charset="0"/>
              </a:rPr>
              <a:t>Answer: Routing policy and policy-based routing.</a:t>
            </a:r>
          </a:p>
          <a:p>
            <a:r>
              <a:rPr lang="zh-CN" altLang="zh-CN" smtClean="0">
                <a:sym typeface="FrutigerNext LT Regular" pitchFamily="34" charset="0"/>
              </a:rPr>
              <a:t>Answer: The problems such as </a:t>
            </a:r>
            <a:r>
              <a:rPr lang="en-US" altLang="zh-CN" smtClean="0"/>
              <a:t>sub-optimal </a:t>
            </a:r>
            <a:r>
              <a:rPr lang="zh-CN" altLang="zh-CN" smtClean="0">
                <a:sym typeface="FrutigerNext LT Regular" pitchFamily="34" charset="0"/>
              </a:rPr>
              <a:t>path and route loop may occur. The solutions include route filtering and priority adjustment.</a:t>
            </a:r>
            <a:endParaRPr lang="zh-CN" altLang="zh-CN" dirty="0" smtClean="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9439056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584200" y="765175"/>
            <a:ext cx="5930900" cy="3336925"/>
          </a:xfrm>
          <a:ln/>
        </p:spPr>
      </p:sp>
      <p:sp>
        <p:nvSpPr>
          <p:cNvPr id="100355" name="Rectangle 3"/>
          <p:cNvSpPr>
            <a:spLocks noGrp="1" noChangeArrowheads="1"/>
          </p:cNvSpPr>
          <p:nvPr>
            <p:ph type="body" idx="1"/>
          </p:nvPr>
        </p:nvSpPr>
        <p:spPr>
          <a:noFill/>
          <a:ln/>
        </p:spPr>
        <p:txBody>
          <a:bodyPr/>
          <a:lstStyle/>
          <a:p>
            <a:pPr hangingPunct="1"/>
            <a:endParaRPr lang="zh-CN" altLang="zh-CN" smtClean="0">
              <a:latin typeface="FrutigerNext LT Regular"/>
            </a:endParaRPr>
          </a:p>
        </p:txBody>
      </p:sp>
    </p:spTree>
    <p:extLst>
      <p:ext uri="{BB962C8B-B14F-4D97-AF65-F5344CB8AC3E}">
        <p14:creationId xmlns:p14="http://schemas.microsoft.com/office/powerpoint/2010/main" val="3363155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Revision Record">
    <p:spTree>
      <p:nvGrpSpPr>
        <p:cNvPr id="1" name=""/>
        <p:cNvGrpSpPr/>
        <p:nvPr/>
      </p:nvGrpSpPr>
      <p:grpSpPr>
        <a:xfrm>
          <a:off x="0" y="0"/>
          <a:ext cx="0" cy="0"/>
          <a:chOff x="0" y="0"/>
          <a:chExt cx="0" cy="0"/>
        </a:xfrm>
      </p:grpSpPr>
      <p:sp>
        <p:nvSpPr>
          <p:cNvPr id="63" name="Rectangle 2"/>
          <p:cNvSpPr>
            <a:spLocks noChangeArrowheads="1"/>
          </p:cNvSpPr>
          <p:nvPr userDrawn="1"/>
        </p:nvSpPr>
        <p:spPr bwMode="auto">
          <a:xfrm>
            <a:off x="952501" y="368660"/>
            <a:ext cx="4207395" cy="479425"/>
          </a:xfrm>
          <a:prstGeom prst="rect">
            <a:avLst/>
          </a:prstGeom>
          <a:noFill/>
          <a:ln w="9525">
            <a:noFill/>
            <a:miter lim="800000"/>
            <a:headEnd/>
            <a:tailEnd/>
          </a:ln>
        </p:spPr>
        <p:txBody>
          <a:bodyPr lIns="78258" tIns="39127" rIns="78258" bIns="39127" anchor="ctr"/>
          <a:lstStyle/>
          <a:p>
            <a:pPr marL="0" marR="0" lvl="0" indent="0" algn="l" defTabSz="1001624" rtl="0" eaLnBrk="0" fontAlgn="t" latinLnBrk="0" hangingPunct="0">
              <a:lnSpc>
                <a:spcPct val="100000"/>
              </a:lnSpc>
              <a:spcBef>
                <a:spcPct val="0"/>
              </a:spcBef>
              <a:spcAft>
                <a:spcPct val="0"/>
              </a:spcAft>
              <a:buClrTx/>
              <a:buSzTx/>
              <a:buFontTx/>
              <a:buNone/>
              <a:tabLst/>
              <a:defRPr/>
            </a:pPr>
            <a:r>
              <a:rPr lang="en-US" altLang="zh-CN" sz="3500" b="1" dirty="0" smtClean="0">
                <a:solidFill>
                  <a:schemeClr val="tx1">
                    <a:lumMod val="75000"/>
                    <a:lumOff val="25000"/>
                  </a:schemeClr>
                </a:solidFill>
                <a:latin typeface="+mn-ea"/>
                <a:ea typeface="+mn-ea"/>
              </a:rPr>
              <a:t>Revision Record</a:t>
            </a:r>
            <a:endParaRPr lang="zh-CN" altLang="en-US" sz="3500" b="1" dirty="0" smtClean="0">
              <a:solidFill>
                <a:schemeClr val="tx1">
                  <a:lumMod val="75000"/>
                  <a:lumOff val="25000"/>
                </a:schemeClr>
              </a:solidFill>
              <a:latin typeface="+mn-ea"/>
              <a:ea typeface="+mn-ea"/>
            </a:endParaRPr>
          </a:p>
        </p:txBody>
      </p:sp>
      <p:sp>
        <p:nvSpPr>
          <p:cNvPr id="64" name="Text Box 58"/>
          <p:cNvSpPr txBox="1">
            <a:spLocks noChangeArrowheads="1"/>
          </p:cNvSpPr>
          <p:nvPr userDrawn="1"/>
        </p:nvSpPr>
        <p:spPr bwMode="auto">
          <a:xfrm>
            <a:off x="7487791" y="368660"/>
            <a:ext cx="3996445" cy="523220"/>
          </a:xfrm>
          <a:prstGeom prst="rect">
            <a:avLst/>
          </a:prstGeom>
          <a:noFill/>
          <a:ln w="9525" algn="ctr">
            <a:noFill/>
            <a:miter lim="800000"/>
            <a:headEnd/>
            <a:tailEnd/>
          </a:ln>
        </p:spPr>
        <p:txBody>
          <a:bodyPr wrap="square">
            <a:spAutoFit/>
          </a:bodyPr>
          <a:lstStyle/>
          <a:p>
            <a:pPr>
              <a:spcBef>
                <a:spcPct val="50000"/>
              </a:spcBef>
            </a:pPr>
            <a:r>
              <a:rPr lang="en-US" altLang="zh-CN" sz="2800" kern="1200" dirty="0" smtClean="0">
                <a:solidFill>
                  <a:srgbClr val="4D4D4D"/>
                </a:solidFill>
                <a:latin typeface="+mn-ea"/>
                <a:ea typeface="+mn-ea"/>
                <a:cs typeface="+mn-cs"/>
              </a:rPr>
              <a:t>Do Not Print this Page</a:t>
            </a:r>
            <a:endParaRPr lang="zh-CN" altLang="en-US" sz="2800" kern="1200" dirty="0">
              <a:solidFill>
                <a:srgbClr val="4D4D4D"/>
              </a:solidFill>
              <a:latin typeface="+mn-ea"/>
              <a:ea typeface="+mn-ea"/>
              <a:cs typeface="+mn-cs"/>
            </a:endParaRPr>
          </a:p>
        </p:txBody>
      </p:sp>
      <p:graphicFrame>
        <p:nvGraphicFramePr>
          <p:cNvPr id="30" name="Group 3"/>
          <p:cNvGraphicFramePr>
            <a:graphicFrameLocks noGrp="1"/>
          </p:cNvGraphicFramePr>
          <p:nvPr userDrawn="1">
            <p:extLst>
              <p:ext uri="{D42A27DB-BD31-4B8C-83A1-F6EECF244321}">
                <p14:modId xmlns:p14="http://schemas.microsoft.com/office/powerpoint/2010/main" val="3494048295"/>
              </p:ext>
            </p:extLst>
          </p:nvPr>
        </p:nvGraphicFramePr>
        <p:xfrm>
          <a:off x="1007534" y="1232756"/>
          <a:ext cx="10464802" cy="1082675"/>
        </p:xfrm>
        <a:graphic>
          <a:graphicData uri="http://schemas.openxmlformats.org/drawingml/2006/table">
            <a:tbl>
              <a:tblPr/>
              <a:tblGrid>
                <a:gridCol w="3059004">
                  <a:extLst>
                    <a:ext uri="{9D8B030D-6E8A-4147-A177-3AD203B41FA5}">
                      <a16:colId xmlns:a16="http://schemas.microsoft.com/office/drawing/2014/main" xmlns="" val="20000"/>
                    </a:ext>
                  </a:extLst>
                </a:gridCol>
                <a:gridCol w="2155444">
                  <a:extLst>
                    <a:ext uri="{9D8B030D-6E8A-4147-A177-3AD203B41FA5}">
                      <a16:colId xmlns:a16="http://schemas.microsoft.com/office/drawing/2014/main" xmlns="" val="20001"/>
                    </a:ext>
                  </a:extLst>
                </a:gridCol>
                <a:gridCol w="2873927">
                  <a:extLst>
                    <a:ext uri="{9D8B030D-6E8A-4147-A177-3AD203B41FA5}">
                      <a16:colId xmlns:a16="http://schemas.microsoft.com/office/drawing/2014/main" xmlns="" val="20002"/>
                    </a:ext>
                  </a:extLst>
                </a:gridCol>
                <a:gridCol w="2376427">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Course Code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 Version</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mn-ea"/>
                          <a:ea typeface="+mn-ea"/>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31" name="Group 21"/>
          <p:cNvGraphicFramePr>
            <a:graphicFrameLocks noGrp="1"/>
          </p:cNvGraphicFramePr>
          <p:nvPr userDrawn="1">
            <p:extLst>
              <p:ext uri="{D42A27DB-BD31-4B8C-83A1-F6EECF244321}">
                <p14:modId xmlns:p14="http://schemas.microsoft.com/office/powerpoint/2010/main" val="3173793265"/>
              </p:ext>
            </p:extLst>
          </p:nvPr>
        </p:nvGraphicFramePr>
        <p:xfrm>
          <a:off x="1007533" y="2529867"/>
          <a:ext cx="10464800" cy="3527425"/>
        </p:xfrm>
        <a:graphic>
          <a:graphicData uri="http://schemas.openxmlformats.org/drawingml/2006/table">
            <a:tbl>
              <a:tblPr/>
              <a:tblGrid>
                <a:gridCol w="3085809">
                  <a:extLst>
                    <a:ext uri="{9D8B030D-6E8A-4147-A177-3AD203B41FA5}">
                      <a16:colId xmlns:a16="http://schemas.microsoft.com/office/drawing/2014/main" xmlns="" val="20000"/>
                    </a:ext>
                  </a:extLst>
                </a:gridCol>
                <a:gridCol w="2155920">
                  <a:extLst>
                    <a:ext uri="{9D8B030D-6E8A-4147-A177-3AD203B41FA5}">
                      <a16:colId xmlns:a16="http://schemas.microsoft.com/office/drawing/2014/main" xmlns="" val="20001"/>
                    </a:ext>
                  </a:extLst>
                </a:gridCol>
                <a:gridCol w="2912127">
                  <a:extLst>
                    <a:ext uri="{9D8B030D-6E8A-4147-A177-3AD203B41FA5}">
                      <a16:colId xmlns:a16="http://schemas.microsoft.com/office/drawing/2014/main" xmlns="" val="20002"/>
                    </a:ext>
                  </a:extLst>
                </a:gridCol>
                <a:gridCol w="2310944">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Author/ID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Reviewer/ID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New</a:t>
                      </a:r>
                      <a:r>
                        <a:rPr kumimoji="1" lang="zh-CN" altLang="zh-CN" sz="1600" b="1" i="0" u="none" strike="noStrike" cap="none" normalizeH="0" baseline="0" dirty="0">
                          <a:ln>
                            <a:noFill/>
                          </a:ln>
                          <a:solidFill>
                            <a:schemeClr val="tx1"/>
                          </a:solidFill>
                          <a:effectLst/>
                          <a:latin typeface="+mn-ea"/>
                          <a:ea typeface="+mn-ea"/>
                        </a:rPr>
                        <a:t>/</a:t>
                      </a:r>
                      <a:r>
                        <a:rPr kumimoji="1" lang="en-US" altLang="zh-CN" sz="1600" b="1" i="0" u="none" strike="noStrike" cap="none" normalizeH="0" baseline="0" dirty="0">
                          <a:ln>
                            <a:noFill/>
                          </a:ln>
                          <a:solidFill>
                            <a:schemeClr val="tx1"/>
                          </a:solidFill>
                          <a:effectLst/>
                          <a:latin typeface="+mn-ea"/>
                          <a:ea typeface="+mn-ea"/>
                        </a:rPr>
                        <a:t> Update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470491851"/>
                  </a:ext>
                </a:extLst>
              </a:tr>
            </a:tbl>
          </a:graphicData>
        </a:graphic>
      </p:graphicFrame>
      <p:sp>
        <p:nvSpPr>
          <p:cNvPr id="32"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Course Code</a:t>
            </a:r>
          </a:p>
        </p:txBody>
      </p:sp>
      <p:sp>
        <p:nvSpPr>
          <p:cNvPr id="33"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Product</a:t>
            </a:r>
          </a:p>
        </p:txBody>
      </p:sp>
      <p:sp>
        <p:nvSpPr>
          <p:cNvPr id="34" name="文本占位符 7"/>
          <p:cNvSpPr>
            <a:spLocks noGrp="1"/>
          </p:cNvSpPr>
          <p:nvPr>
            <p:ph type="body" sz="quarter" idx="19" hasCustomPrompt="1"/>
          </p:nvPr>
        </p:nvSpPr>
        <p:spPr>
          <a:xfrm>
            <a:off x="6239934" y="1803960"/>
            <a:ext cx="284439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7" name="文本占位符 7"/>
          <p:cNvSpPr>
            <a:spLocks noGrp="1"/>
          </p:cNvSpPr>
          <p:nvPr>
            <p:ph type="body" sz="quarter" idx="20" hasCustomPrompt="1"/>
          </p:nvPr>
        </p:nvSpPr>
        <p:spPr>
          <a:xfrm>
            <a:off x="9084332" y="1803960"/>
            <a:ext cx="2388001"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8" name="文本占位符 7"/>
          <p:cNvSpPr>
            <a:spLocks noGrp="1"/>
          </p:cNvSpPr>
          <p:nvPr>
            <p:ph type="body" sz="quarter" idx="13" hasCustomPrompt="1"/>
          </p:nvPr>
        </p:nvSpPr>
        <p:spPr>
          <a:xfrm>
            <a:off x="1007533"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49" name="文本占位符 7"/>
          <p:cNvSpPr>
            <a:spLocks noGrp="1"/>
          </p:cNvSpPr>
          <p:nvPr>
            <p:ph type="body" sz="quarter" idx="14" hasCustomPrompt="1"/>
          </p:nvPr>
        </p:nvSpPr>
        <p:spPr>
          <a:xfrm>
            <a:off x="4079776" y="3089025"/>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0" name="文本占位符 7"/>
          <p:cNvSpPr>
            <a:spLocks noGrp="1"/>
          </p:cNvSpPr>
          <p:nvPr>
            <p:ph type="body" sz="quarter" idx="15" hasCustomPrompt="1"/>
          </p:nvPr>
        </p:nvSpPr>
        <p:spPr>
          <a:xfrm>
            <a:off x="6239933"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1" name="文本占位符 7"/>
          <p:cNvSpPr>
            <a:spLocks noGrp="1"/>
          </p:cNvSpPr>
          <p:nvPr>
            <p:ph type="body" sz="quarter" idx="16" hasCustomPrompt="1"/>
          </p:nvPr>
        </p:nvSpPr>
        <p:spPr>
          <a:xfrm>
            <a:off x="9168341" y="3089025"/>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2" name="文本占位符 7">
            <a:extLst>
              <a:ext uri="{FF2B5EF4-FFF2-40B4-BE49-F238E27FC236}">
                <a16:creationId xmlns:a16="http://schemas.microsoft.com/office/drawing/2014/main" xmlns="" id="{44F86C3E-C49E-485B-8EB0-960F41282238}"/>
              </a:ext>
            </a:extLst>
          </p:cNvPr>
          <p:cNvSpPr>
            <a:spLocks noGrp="1"/>
          </p:cNvSpPr>
          <p:nvPr>
            <p:ph type="body" sz="quarter" idx="21" hasCustomPrompt="1"/>
          </p:nvPr>
        </p:nvSpPr>
        <p:spPr>
          <a:xfrm>
            <a:off x="101943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3" name="文本占位符 7">
            <a:extLst>
              <a:ext uri="{FF2B5EF4-FFF2-40B4-BE49-F238E27FC236}">
                <a16:creationId xmlns:a16="http://schemas.microsoft.com/office/drawing/2014/main" xmlns="" id="{DB3D228B-4BFD-4782-B68D-12F66EA8C589}"/>
              </a:ext>
            </a:extLst>
          </p:cNvPr>
          <p:cNvSpPr>
            <a:spLocks noGrp="1"/>
          </p:cNvSpPr>
          <p:nvPr>
            <p:ph type="body" sz="quarter" idx="22" hasCustomPrompt="1"/>
          </p:nvPr>
        </p:nvSpPr>
        <p:spPr>
          <a:xfrm>
            <a:off x="4091679" y="3608189"/>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4" name="文本占位符 7">
            <a:extLst>
              <a:ext uri="{FF2B5EF4-FFF2-40B4-BE49-F238E27FC236}">
                <a16:creationId xmlns:a16="http://schemas.microsoft.com/office/drawing/2014/main" xmlns="" id="{FECCD724-6B1F-4104-8A9B-6B6764A3F859}"/>
              </a:ext>
            </a:extLst>
          </p:cNvPr>
          <p:cNvSpPr>
            <a:spLocks noGrp="1"/>
          </p:cNvSpPr>
          <p:nvPr>
            <p:ph type="body" sz="quarter" idx="23" hasCustomPrompt="1"/>
          </p:nvPr>
        </p:nvSpPr>
        <p:spPr>
          <a:xfrm>
            <a:off x="625183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5" name="文本占位符 7">
            <a:extLst>
              <a:ext uri="{FF2B5EF4-FFF2-40B4-BE49-F238E27FC236}">
                <a16:creationId xmlns:a16="http://schemas.microsoft.com/office/drawing/2014/main" xmlns="" id="{57E1C633-41F6-4A25-9DB3-D6799CE610DD}"/>
              </a:ext>
            </a:extLst>
          </p:cNvPr>
          <p:cNvSpPr>
            <a:spLocks noGrp="1"/>
          </p:cNvSpPr>
          <p:nvPr>
            <p:ph type="body" sz="quarter" idx="24" hasCustomPrompt="1"/>
          </p:nvPr>
        </p:nvSpPr>
        <p:spPr>
          <a:xfrm>
            <a:off x="9180244" y="3608189"/>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6" name="文本占位符 7">
            <a:extLst>
              <a:ext uri="{FF2B5EF4-FFF2-40B4-BE49-F238E27FC236}">
                <a16:creationId xmlns:a16="http://schemas.microsoft.com/office/drawing/2014/main" xmlns="" id="{C68CBD59-B896-4217-9781-389A1B11CE8D}"/>
              </a:ext>
            </a:extLst>
          </p:cNvPr>
          <p:cNvSpPr>
            <a:spLocks noGrp="1"/>
          </p:cNvSpPr>
          <p:nvPr>
            <p:ph type="body" sz="quarter" idx="25" hasCustomPrompt="1"/>
          </p:nvPr>
        </p:nvSpPr>
        <p:spPr>
          <a:xfrm>
            <a:off x="99579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7" name="文本占位符 7">
            <a:extLst>
              <a:ext uri="{FF2B5EF4-FFF2-40B4-BE49-F238E27FC236}">
                <a16:creationId xmlns:a16="http://schemas.microsoft.com/office/drawing/2014/main" xmlns="" id="{791E82EE-AF55-486C-953D-3BD5CEE81CE4}"/>
              </a:ext>
            </a:extLst>
          </p:cNvPr>
          <p:cNvSpPr>
            <a:spLocks noGrp="1"/>
          </p:cNvSpPr>
          <p:nvPr>
            <p:ph type="body" sz="quarter" idx="26" hasCustomPrompt="1"/>
          </p:nvPr>
        </p:nvSpPr>
        <p:spPr>
          <a:xfrm>
            <a:off x="4068039" y="4077072"/>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8" name="文本占位符 7">
            <a:extLst>
              <a:ext uri="{FF2B5EF4-FFF2-40B4-BE49-F238E27FC236}">
                <a16:creationId xmlns:a16="http://schemas.microsoft.com/office/drawing/2014/main" xmlns="" id="{0F4FBCD0-2E04-4942-AFAF-B2774F425FB6}"/>
              </a:ext>
            </a:extLst>
          </p:cNvPr>
          <p:cNvSpPr>
            <a:spLocks noGrp="1"/>
          </p:cNvSpPr>
          <p:nvPr>
            <p:ph type="body" sz="quarter" idx="27" hasCustomPrompt="1"/>
          </p:nvPr>
        </p:nvSpPr>
        <p:spPr>
          <a:xfrm>
            <a:off x="622819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9" name="文本占位符 7">
            <a:extLst>
              <a:ext uri="{FF2B5EF4-FFF2-40B4-BE49-F238E27FC236}">
                <a16:creationId xmlns:a16="http://schemas.microsoft.com/office/drawing/2014/main" xmlns="" id="{701F8BDF-8D3E-4528-8B32-92CDA38CF25C}"/>
              </a:ext>
            </a:extLst>
          </p:cNvPr>
          <p:cNvSpPr>
            <a:spLocks noGrp="1"/>
          </p:cNvSpPr>
          <p:nvPr>
            <p:ph type="body" sz="quarter" idx="28" hasCustomPrompt="1"/>
          </p:nvPr>
        </p:nvSpPr>
        <p:spPr>
          <a:xfrm>
            <a:off x="9156604" y="4077072"/>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60" name="文本占位符 7">
            <a:extLst>
              <a:ext uri="{FF2B5EF4-FFF2-40B4-BE49-F238E27FC236}">
                <a16:creationId xmlns:a16="http://schemas.microsoft.com/office/drawing/2014/main" xmlns="" id="{2DAE044E-F1B2-424B-BDD0-3E92A10C4695}"/>
              </a:ext>
            </a:extLst>
          </p:cNvPr>
          <p:cNvSpPr>
            <a:spLocks noGrp="1"/>
          </p:cNvSpPr>
          <p:nvPr>
            <p:ph type="body" sz="quarter" idx="29" hasCustomPrompt="1"/>
          </p:nvPr>
        </p:nvSpPr>
        <p:spPr>
          <a:xfrm>
            <a:off x="101943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61" name="文本占位符 7">
            <a:extLst>
              <a:ext uri="{FF2B5EF4-FFF2-40B4-BE49-F238E27FC236}">
                <a16:creationId xmlns:a16="http://schemas.microsoft.com/office/drawing/2014/main" xmlns="" id="{19929436-360F-44DC-A864-1DA42B59198F}"/>
              </a:ext>
            </a:extLst>
          </p:cNvPr>
          <p:cNvSpPr>
            <a:spLocks noGrp="1"/>
          </p:cNvSpPr>
          <p:nvPr>
            <p:ph type="body" sz="quarter" idx="30" hasCustomPrompt="1"/>
          </p:nvPr>
        </p:nvSpPr>
        <p:spPr>
          <a:xfrm>
            <a:off x="4091679" y="4581128"/>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62" name="文本占位符 7">
            <a:extLst>
              <a:ext uri="{FF2B5EF4-FFF2-40B4-BE49-F238E27FC236}">
                <a16:creationId xmlns:a16="http://schemas.microsoft.com/office/drawing/2014/main" xmlns="" id="{E3F04EDE-0D87-45F2-9033-289878AAF2FA}"/>
              </a:ext>
            </a:extLst>
          </p:cNvPr>
          <p:cNvSpPr>
            <a:spLocks noGrp="1"/>
          </p:cNvSpPr>
          <p:nvPr>
            <p:ph type="body" sz="quarter" idx="31" hasCustomPrompt="1"/>
          </p:nvPr>
        </p:nvSpPr>
        <p:spPr>
          <a:xfrm>
            <a:off x="625183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77" name="文本占位符 7">
            <a:extLst>
              <a:ext uri="{FF2B5EF4-FFF2-40B4-BE49-F238E27FC236}">
                <a16:creationId xmlns:a16="http://schemas.microsoft.com/office/drawing/2014/main" xmlns="" id="{3F9FD2BB-87FB-42F0-8418-F87E96763F68}"/>
              </a:ext>
            </a:extLst>
          </p:cNvPr>
          <p:cNvSpPr>
            <a:spLocks noGrp="1"/>
          </p:cNvSpPr>
          <p:nvPr>
            <p:ph type="body" sz="quarter" idx="32" hasCustomPrompt="1"/>
          </p:nvPr>
        </p:nvSpPr>
        <p:spPr>
          <a:xfrm>
            <a:off x="9180244" y="4581128"/>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78" name="文本占位符 7">
            <a:extLst>
              <a:ext uri="{FF2B5EF4-FFF2-40B4-BE49-F238E27FC236}">
                <a16:creationId xmlns:a16="http://schemas.microsoft.com/office/drawing/2014/main" xmlns="" id="{450C36C1-EC46-4EAC-8A54-EFB2EF58F730}"/>
              </a:ext>
            </a:extLst>
          </p:cNvPr>
          <p:cNvSpPr>
            <a:spLocks noGrp="1"/>
          </p:cNvSpPr>
          <p:nvPr>
            <p:ph type="body" sz="quarter" idx="33" hasCustomPrompt="1"/>
          </p:nvPr>
        </p:nvSpPr>
        <p:spPr>
          <a:xfrm>
            <a:off x="99579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79" name="文本占位符 7">
            <a:extLst>
              <a:ext uri="{FF2B5EF4-FFF2-40B4-BE49-F238E27FC236}">
                <a16:creationId xmlns:a16="http://schemas.microsoft.com/office/drawing/2014/main" xmlns="" id="{06E305FB-6351-4BDD-B27A-CA91C0B55424}"/>
              </a:ext>
            </a:extLst>
          </p:cNvPr>
          <p:cNvSpPr>
            <a:spLocks noGrp="1"/>
          </p:cNvSpPr>
          <p:nvPr>
            <p:ph type="body" sz="quarter" idx="34" hasCustomPrompt="1"/>
          </p:nvPr>
        </p:nvSpPr>
        <p:spPr>
          <a:xfrm>
            <a:off x="4068039" y="5049180"/>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0" name="文本占位符 7">
            <a:extLst>
              <a:ext uri="{FF2B5EF4-FFF2-40B4-BE49-F238E27FC236}">
                <a16:creationId xmlns:a16="http://schemas.microsoft.com/office/drawing/2014/main" xmlns="" id="{986CE630-9BBE-44AB-B3AC-29A48255E185}"/>
              </a:ext>
            </a:extLst>
          </p:cNvPr>
          <p:cNvSpPr>
            <a:spLocks noGrp="1"/>
          </p:cNvSpPr>
          <p:nvPr>
            <p:ph type="body" sz="quarter" idx="35" hasCustomPrompt="1"/>
          </p:nvPr>
        </p:nvSpPr>
        <p:spPr>
          <a:xfrm>
            <a:off x="622819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1" name="文本占位符 7">
            <a:extLst>
              <a:ext uri="{FF2B5EF4-FFF2-40B4-BE49-F238E27FC236}">
                <a16:creationId xmlns:a16="http://schemas.microsoft.com/office/drawing/2014/main" xmlns="" id="{4DDD786F-E21B-4BBC-A377-D2EC3EE50688}"/>
              </a:ext>
            </a:extLst>
          </p:cNvPr>
          <p:cNvSpPr>
            <a:spLocks noGrp="1"/>
          </p:cNvSpPr>
          <p:nvPr>
            <p:ph type="body" sz="quarter" idx="36" hasCustomPrompt="1"/>
          </p:nvPr>
        </p:nvSpPr>
        <p:spPr>
          <a:xfrm>
            <a:off x="9156604" y="5049180"/>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82" name="文本占位符 7">
            <a:extLst>
              <a:ext uri="{FF2B5EF4-FFF2-40B4-BE49-F238E27FC236}">
                <a16:creationId xmlns:a16="http://schemas.microsoft.com/office/drawing/2014/main" xmlns="" id="{EE728293-3BC5-4224-A4F0-27996EC76EA2}"/>
              </a:ext>
            </a:extLst>
          </p:cNvPr>
          <p:cNvSpPr>
            <a:spLocks noGrp="1"/>
          </p:cNvSpPr>
          <p:nvPr>
            <p:ph type="body" sz="quarter" idx="37" hasCustomPrompt="1"/>
          </p:nvPr>
        </p:nvSpPr>
        <p:spPr>
          <a:xfrm>
            <a:off x="101943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83" name="文本占位符 7">
            <a:extLst>
              <a:ext uri="{FF2B5EF4-FFF2-40B4-BE49-F238E27FC236}">
                <a16:creationId xmlns:a16="http://schemas.microsoft.com/office/drawing/2014/main" xmlns="" id="{84C5C924-BCE5-46C8-9041-30EDC3D85E52}"/>
              </a:ext>
            </a:extLst>
          </p:cNvPr>
          <p:cNvSpPr>
            <a:spLocks noGrp="1"/>
          </p:cNvSpPr>
          <p:nvPr>
            <p:ph type="body" sz="quarter" idx="38" hasCustomPrompt="1"/>
          </p:nvPr>
        </p:nvSpPr>
        <p:spPr>
          <a:xfrm>
            <a:off x="4091679" y="5553236"/>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4" name="文本占位符 7">
            <a:extLst>
              <a:ext uri="{FF2B5EF4-FFF2-40B4-BE49-F238E27FC236}">
                <a16:creationId xmlns:a16="http://schemas.microsoft.com/office/drawing/2014/main" xmlns="" id="{1DBD4C29-C885-4339-873D-B55FBD81DDFE}"/>
              </a:ext>
            </a:extLst>
          </p:cNvPr>
          <p:cNvSpPr>
            <a:spLocks noGrp="1"/>
          </p:cNvSpPr>
          <p:nvPr>
            <p:ph type="body" sz="quarter" idx="39" hasCustomPrompt="1"/>
          </p:nvPr>
        </p:nvSpPr>
        <p:spPr>
          <a:xfrm>
            <a:off x="625183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5" name="文本占位符 7">
            <a:extLst>
              <a:ext uri="{FF2B5EF4-FFF2-40B4-BE49-F238E27FC236}">
                <a16:creationId xmlns:a16="http://schemas.microsoft.com/office/drawing/2014/main" xmlns="" id="{6D84506C-645A-472E-A06C-3A65A7744312}"/>
              </a:ext>
            </a:extLst>
          </p:cNvPr>
          <p:cNvSpPr>
            <a:spLocks noGrp="1"/>
          </p:cNvSpPr>
          <p:nvPr>
            <p:ph type="body" sz="quarter" idx="40" hasCustomPrompt="1"/>
          </p:nvPr>
        </p:nvSpPr>
        <p:spPr>
          <a:xfrm>
            <a:off x="9180244" y="5553236"/>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Title">
    <p:spTree>
      <p:nvGrpSpPr>
        <p:cNvPr id="1" name=""/>
        <p:cNvGrpSpPr/>
        <p:nvPr/>
      </p:nvGrpSpPr>
      <p:grpSpPr>
        <a:xfrm>
          <a:off x="0" y="0"/>
          <a:ext cx="0" cy="0"/>
          <a:chOff x="0" y="0"/>
          <a:chExt cx="0" cy="0"/>
        </a:xfrm>
      </p:grpSpPr>
      <p:pic>
        <p:nvPicPr>
          <p:cNvPr id="7"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 y="84"/>
            <a:ext cx="12192000" cy="710975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41"/>
          <p:cNvSpPr>
            <a:spLocks noGrp="1" noChangeArrowheads="1"/>
          </p:cNvSpPr>
          <p:nvPr>
            <p:ph type="ctrTitle" sz="quarter" hasCustomPrompt="1"/>
          </p:nvPr>
        </p:nvSpPr>
        <p:spPr>
          <a:xfrm>
            <a:off x="1031295" y="4957156"/>
            <a:ext cx="10441567" cy="831600"/>
          </a:xfrm>
          <a:prstGeom prst="rect">
            <a:avLst/>
          </a:prstGeom>
          <a:ln algn="ctr"/>
        </p:spPr>
        <p:txBody>
          <a:bodyPr lIns="87802" tIns="43901" rIns="87802" bIns="43901"/>
          <a:lstStyle>
            <a:lvl1pPr algn="l" defTabSz="801688" rtl="0" eaLnBrk="0" fontAlgn="base" hangingPunct="0">
              <a:spcBef>
                <a:spcPct val="0"/>
              </a:spcBef>
              <a:spcAft>
                <a:spcPct val="0"/>
              </a:spcAft>
              <a:defRPr lang="zh-CN" altLang="en-US" sz="4300" b="1" kern="1200" dirty="0">
                <a:solidFill>
                  <a:srgbClr val="0070C0"/>
                </a:solidFill>
                <a:latin typeface="+mn-ea"/>
                <a:ea typeface="+mn-ea"/>
                <a:cs typeface="Arial" panose="020B0604020202020204" pitchFamily="34" charset="0"/>
              </a:defRPr>
            </a:lvl1pPr>
          </a:lstStyle>
          <a:p>
            <a:r>
              <a:rPr lang="en-US" altLang="zh-CN" dirty="0" smtClean="0"/>
              <a:t>Click to Edit Title</a:t>
            </a:r>
            <a:endParaRPr lang="zh-CN" altLang="en-US" dirty="0"/>
          </a:p>
        </p:txBody>
      </p:sp>
      <p:sp>
        <p:nvSpPr>
          <p:cNvPr id="30" name="文本占位符 29"/>
          <p:cNvSpPr>
            <a:spLocks noGrp="1"/>
          </p:cNvSpPr>
          <p:nvPr>
            <p:ph type="body" sz="quarter" idx="10" hasCustomPrompt="1"/>
          </p:nvPr>
        </p:nvSpPr>
        <p:spPr>
          <a:xfrm>
            <a:off x="1031295" y="5816120"/>
            <a:ext cx="6912000" cy="493200"/>
          </a:xfrm>
          <a:prstGeom prst="rect">
            <a:avLst/>
          </a:prstGeom>
        </p:spPr>
        <p:txBody>
          <a:bodyPr/>
          <a:lstStyle>
            <a:lvl1pPr marL="0" indent="0" algn="l" defTabSz="801688" rtl="0" eaLnBrk="0" fontAlgn="base" hangingPunct="0">
              <a:spcBef>
                <a:spcPct val="0"/>
              </a:spcBef>
              <a:spcAft>
                <a:spcPct val="0"/>
              </a:spcAft>
              <a:buNone/>
              <a:defRPr lang="zh-CN" altLang="en-US" sz="2000" kern="1200" dirty="0" smtClean="0">
                <a:solidFill>
                  <a:srgbClr val="0070C0"/>
                </a:solidFill>
                <a:latin typeface="+mn-ea"/>
                <a:ea typeface="+mn-ea"/>
                <a:cs typeface="Arial" panose="020B0604020202020204" pitchFamily="34" charset="0"/>
              </a:defRPr>
            </a:lvl1pPr>
          </a:lstStyle>
          <a:p>
            <a:pPr lvl="0"/>
            <a:r>
              <a:rPr lang="en-US" altLang="zh-CN" dirty="0" smtClean="0"/>
              <a:t>Click to Edit Title</a:t>
            </a:r>
            <a:endParaRPr lang="zh-CN" altLang="en-US" dirty="0" smtClean="0"/>
          </a:p>
        </p:txBody>
      </p:sp>
      <p:sp>
        <p:nvSpPr>
          <p:cNvPr id="9"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a:t>
            </a:r>
            <a:r>
              <a:rPr lang="en-US" altLang="zh-CN" sz="1200" dirty="0" smtClean="0">
                <a:latin typeface="+mj-lt"/>
                <a:ea typeface="MS PGothic" pitchFamily="34" charset="-128"/>
                <a:cs typeface="Arial" pitchFamily="34" charset="0"/>
              </a:rPr>
              <a:t>2019 </a:t>
            </a:r>
            <a:r>
              <a:rPr lang="en-US" altLang="zh-CN" sz="1200" dirty="0">
                <a:latin typeface="+mj-lt"/>
                <a:ea typeface="MS PGothic" pitchFamily="34" charset="-128"/>
                <a:cs typeface="Arial" pitchFamily="34" charset="0"/>
              </a:rPr>
              <a:t>Huawei Technologies Co., Ltd. All rights reserved. </a:t>
            </a:r>
          </a:p>
        </p:txBody>
      </p: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Foreword">
    <p:bg>
      <p:bgRef idx="1001">
        <a:schemeClr val="bg1"/>
      </p:bgRef>
    </p:bg>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4" y="1233488"/>
            <a:ext cx="10558800" cy="4679788"/>
          </a:xfrm>
          <a:prstGeom prst="rect">
            <a:avLst/>
          </a:prstGeom>
        </p:spPr>
        <p:txBody>
          <a:bodyPr/>
          <a:lstStyle>
            <a:lvl1pPr algn="just" eaLnBrk="1" hangingPunct="1">
              <a:defRPr>
                <a:latin typeface="+mn-ea"/>
                <a:ea typeface="+mn-ea"/>
                <a:cs typeface="Arial" panose="020B0604020202020204" pitchFamily="34" charset="0"/>
              </a:defRPr>
            </a:lvl1pPr>
            <a:lvl5pPr>
              <a:buNone/>
              <a:defRPr/>
            </a:lvl5pPr>
          </a:lstStyle>
          <a:p>
            <a:pPr eaLnBrk="1" hangingPunct="1"/>
            <a:r>
              <a:rPr lang="en-US" altLang="zh-CN" dirty="0" smtClean="0"/>
              <a:t>The chapter describes ...</a:t>
            </a:r>
            <a:endParaRPr lang="zh-CN" altLang="en-US" dirty="0"/>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376264"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Foreword</a:t>
            </a:r>
            <a:endParaRPr lang="zh-CN" altLang="en-US"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335360" y="498828"/>
            <a:ext cx="628158" cy="459460"/>
            <a:chOff x="3275013" y="1363663"/>
            <a:chExt cx="5645150" cy="4129087"/>
          </a:xfrm>
          <a:solidFill>
            <a:schemeClr val="bg1"/>
          </a:solidFill>
        </p:grpSpPr>
        <p:sp>
          <p:nvSpPr>
            <p:cNvPr id="12"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Objectives">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912284" y="1233487"/>
            <a:ext cx="10558800" cy="4680000"/>
          </a:xfrm>
          <a:prstGeom prst="rect">
            <a:avLst/>
          </a:prstGeom>
        </p:spPr>
        <p:txBody>
          <a:bodyPr/>
          <a:lstStyle>
            <a:lvl1pPr marL="301618" marR="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kumimoji="0" lang="zh-CN" altLang="en-US" sz="2200" b="0" i="0" u="none" strike="noStrike" kern="0" cap="none" spc="0" normalizeH="0" baseline="0" noProof="0"/>
            </a:lvl1pPr>
            <a:lvl2pPr algn="just" eaLnBrk="1" hangingPunct="1">
              <a:defRPr>
                <a:latin typeface="+mn-ea"/>
                <a:ea typeface="+mn-ea"/>
                <a:cs typeface="Arial" panose="020B0604020202020204" pitchFamily="34" charset="0"/>
              </a:defRPr>
            </a:lvl2pPr>
            <a:lvl3pPr algn="just" eaLnBrk="1" hangingPunct="1">
              <a:defRPr>
                <a:latin typeface="+mn-ea"/>
                <a:ea typeface="+mn-ea"/>
                <a:cs typeface="Arial" panose="020B0604020202020204" pitchFamily="34" charset="0"/>
              </a:defRPr>
            </a:lvl3pPr>
            <a:lvl4pPr algn="just" eaLnBrk="1" hangingPunct="1">
              <a:defRPr>
                <a:latin typeface="+mn-ea"/>
                <a:ea typeface="+mn-ea"/>
                <a:cs typeface="Arial" panose="020B0604020202020204" pitchFamily="34" charset="0"/>
              </a:defRPr>
            </a:lvl4pPr>
            <a:lvl5pPr algn="just" eaLnBrk="1" hangingPunct="1">
              <a:defRPr>
                <a:latin typeface="+mn-ea"/>
                <a:ea typeface="+mn-ea"/>
                <a:cs typeface="Arial" panose="020B0604020202020204" pitchFamily="34" charset="0"/>
              </a:defRPr>
            </a:lvl5pPr>
          </a:lstStyle>
          <a:p>
            <a:pPr marL="301618" marR="0" lvl="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en-US" altLang="zh-CN" sz="2200" b="0" i="0" u="none" strike="noStrike" kern="0" cap="none" spc="0" normalizeH="0" baseline="0" noProof="0" dirty="0" smtClean="0">
                <a:ln>
                  <a:noFill/>
                </a:ln>
                <a:solidFill>
                  <a:srgbClr val="000000"/>
                </a:solidFill>
                <a:effectLst/>
                <a:uLnTx/>
                <a:uFillTx/>
                <a:latin typeface="+mn-lt"/>
                <a:ea typeface="+mn-ea"/>
                <a:cs typeface="+mn-cs"/>
              </a:rPr>
              <a:t>On completion of this course, you will be able to:</a:t>
            </a:r>
            <a:endParaRPr kumimoji="0" lang="zh-CN" altLang="en-US" sz="2200" b="0" i="0" u="none" strike="noStrike" kern="0" cap="none" spc="0" normalizeH="0" baseline="0" noProof="0" dirty="0" smtClean="0">
              <a:ln>
                <a:noFill/>
              </a:ln>
              <a:solidFill>
                <a:srgbClr val="000000"/>
              </a:solidFill>
              <a:effectLst/>
              <a:uLnTx/>
              <a:uFillTx/>
              <a:latin typeface="+mn-lt"/>
              <a:ea typeface="+mn-ea"/>
              <a:cs typeface="+mn-cs"/>
            </a:endParaRP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59228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Objectives</a:t>
            </a:r>
            <a:endParaRPr lang="en-US" altLang="zh-CN" dirty="0"/>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43372" y="440668"/>
            <a:ext cx="533970" cy="533470"/>
            <a:chOff x="2960687" y="4865687"/>
            <a:chExt cx="1698626" cy="1697038"/>
          </a:xfrm>
          <a:solidFill>
            <a:schemeClr val="bg1"/>
          </a:solidFill>
        </p:grpSpPr>
        <p:sp>
          <p:nvSpPr>
            <p:cNvPr id="1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Contents">
    <p:spTree>
      <p:nvGrpSpPr>
        <p:cNvPr id="1" name=""/>
        <p:cNvGrpSpPr/>
        <p:nvPr/>
      </p:nvGrpSpPr>
      <p:grpSpPr>
        <a:xfrm>
          <a:off x="0" y="0"/>
          <a:ext cx="0" cy="0"/>
          <a:chOff x="0" y="0"/>
          <a:chExt cx="0" cy="0"/>
        </a:xfrm>
      </p:grpSpPr>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232248"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b="1" kern="1200" dirty="0" smtClean="0">
                <a:solidFill>
                  <a:schemeClr val="tx1">
                    <a:lumMod val="75000"/>
                    <a:lumOff val="25000"/>
                  </a:schemeClr>
                </a:solidFill>
                <a:latin typeface="+mn-ea"/>
                <a:ea typeface="+mn-ea"/>
                <a:cs typeface="Arial" pitchFamily="34" charset="0"/>
              </a:rPr>
              <a:t>Contents</a:t>
            </a:r>
            <a:endParaRPr lang="en-US" altLang="zh-CN" sz="3500" b="1" kern="1200" dirty="0">
              <a:solidFill>
                <a:schemeClr val="tx1">
                  <a:lumMod val="75000"/>
                  <a:lumOff val="25000"/>
                </a:schemeClr>
              </a:solidFill>
              <a:latin typeface="+mn-ea"/>
              <a:ea typeface="+mn-ea"/>
              <a:cs typeface="Arial" pitchFamily="34" charset="0"/>
            </a:endParaRPr>
          </a:p>
        </p:txBody>
      </p:sp>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587388" y="515379"/>
            <a:ext cx="358335" cy="426359"/>
            <a:chOff x="3295650" y="230188"/>
            <a:chExt cx="936625" cy="1114426"/>
          </a:xfrm>
          <a:solidFill>
            <a:schemeClr val="bg1"/>
          </a:solidFill>
        </p:grpSpPr>
        <p:sp>
          <p:nvSpPr>
            <p:cNvPr id="11"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4"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5"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6"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7"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8" name="文本占位符 6"/>
          <p:cNvSpPr>
            <a:spLocks noGrp="1"/>
          </p:cNvSpPr>
          <p:nvPr>
            <p:ph type="body" sz="quarter" idx="10" hasCustomPrompt="1"/>
          </p:nvPr>
        </p:nvSpPr>
        <p:spPr>
          <a:xfrm>
            <a:off x="912285" y="1233488"/>
            <a:ext cx="10560048"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457200" marR="0" indent="-457200" algn="l" defTabSz="801668" rtl="0" eaLnBrk="0" fontAlgn="base" latinLnBrk="0" hangingPunct="0">
              <a:lnSpc>
                <a:spcPct val="140000"/>
              </a:lnSpc>
              <a:spcBef>
                <a:spcPct val="30000"/>
              </a:spcBef>
              <a:spcAft>
                <a:spcPct val="0"/>
              </a:spcAft>
              <a:buClr>
                <a:schemeClr val="tx1"/>
              </a:buClr>
              <a:buSzPct val="100000"/>
              <a:buFont typeface="+mj-lt"/>
              <a:buAutoNum type="arabicPeriod"/>
              <a:tabLst/>
              <a:defRPr lang="zh-CN" altLang="en-US" sz="2200" baseline="0" dirty="0">
                <a:solidFill>
                  <a:schemeClr val="tx1"/>
                </a:solidFill>
                <a:latin typeface="+mn-lt"/>
                <a:ea typeface="+mn-ea"/>
                <a:cs typeface="+mn-cs"/>
              </a:defRPr>
            </a:lvl1pPr>
          </a:lstStyle>
          <a:p>
            <a:r>
              <a:rPr lang="en-US" altLang="zh-CN" dirty="0" smtClean="0"/>
              <a:t>Item 1</a:t>
            </a:r>
            <a:endParaRPr lang="zh-CN" altLang="en-US" dirty="0"/>
          </a:p>
        </p:txBody>
      </p:sp>
      <p:sp>
        <p:nvSpPr>
          <p:cNvPr id="2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3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Overview and Objectives(Optional)">
    <p:spTree>
      <p:nvGrpSpPr>
        <p:cNvPr id="1" name=""/>
        <p:cNvGrpSpPr/>
        <p:nvPr/>
      </p:nvGrpSpPr>
      <p:grpSpPr>
        <a:xfrm>
          <a:off x="0" y="0"/>
          <a:ext cx="0" cy="0"/>
          <a:chOff x="0" y="0"/>
          <a:chExt cx="0" cy="0"/>
        </a:xfrm>
      </p:grpSpPr>
      <p:sp>
        <p:nvSpPr>
          <p:cNvPr id="7" name="内容占位符 6"/>
          <p:cNvSpPr>
            <a:spLocks noGrp="1"/>
          </p:cNvSpPr>
          <p:nvPr>
            <p:ph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2pPr algn="just">
              <a:defRPr>
                <a:latin typeface="+mn-ea"/>
                <a:ea typeface="+mn-ea"/>
                <a:cs typeface="Arial" panose="020B0604020202020204" pitchFamily="34" charset="0"/>
              </a:defRPr>
            </a:lvl2pPr>
            <a:lvl3pPr algn="just">
              <a:defRPr>
                <a:latin typeface="+mn-ea"/>
                <a:ea typeface="+mn-ea"/>
                <a:cs typeface="Arial" panose="020B0604020202020204" pitchFamily="34" charset="0"/>
              </a:defRPr>
            </a:lvl3pPr>
            <a:lvl4pPr algn="just">
              <a:defRPr>
                <a:latin typeface="+mn-ea"/>
                <a:ea typeface="+mn-ea"/>
                <a:cs typeface="Arial" panose="020B0604020202020204" pitchFamily="34" charset="0"/>
              </a:defRPr>
            </a:lvl4pPr>
            <a:lvl5pPr algn="just">
              <a:defRPr>
                <a:latin typeface="+mn-ea"/>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Overview and Objectives</a:t>
            </a:r>
            <a:endParaRPr lang="en-US" altLang="zh-CN"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87388" y="505779"/>
            <a:ext cx="374708" cy="445558"/>
            <a:chOff x="-1647825" y="2492375"/>
            <a:chExt cx="1947863" cy="2316163"/>
          </a:xfrm>
          <a:solidFill>
            <a:schemeClr val="bg1"/>
          </a:solidFill>
        </p:grpSpPr>
        <p:sp>
          <p:nvSpPr>
            <p:cNvPr id="12"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3"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Title and Content">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912285" y="1233488"/>
            <a:ext cx="10560048" cy="4680000"/>
          </a:xfrm>
          <a:prstGeom prst="rect">
            <a:avLst/>
          </a:prstGeom>
        </p:spPr>
        <p:txBody>
          <a:bodyPr/>
          <a:lstStyle>
            <a:lvl1pPr algn="just">
              <a:defRPr>
                <a:latin typeface="+mn-ea"/>
                <a:ea typeface="+mn-ea"/>
                <a:cs typeface="Arial" panose="020B0604020202020204" pitchFamily="34" charset="0"/>
              </a:defRPr>
            </a:lvl1pPr>
          </a:lstStyle>
          <a:p>
            <a:r>
              <a:rPr lang="en-US" altLang="zh-CN" dirty="0" smtClean="0"/>
              <a:t>Click here to edit</a:t>
            </a:r>
            <a:endParaRPr lang="zh-CN" altLang="en-US" dirty="0"/>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7"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8" name="组合 7"/>
          <p:cNvGrpSpPr/>
          <p:nvPr userDrawn="1"/>
        </p:nvGrpSpPr>
        <p:grpSpPr>
          <a:xfrm>
            <a:off x="587388" y="505779"/>
            <a:ext cx="374708" cy="445558"/>
            <a:chOff x="-1647825" y="2492375"/>
            <a:chExt cx="1947863" cy="2316163"/>
          </a:xfrm>
          <a:solidFill>
            <a:schemeClr val="bg1"/>
          </a:solidFill>
        </p:grpSpPr>
        <p:sp>
          <p:nvSpPr>
            <p:cNvPr id="9"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0"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1"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smtClean="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Title Only">
    <p:spTree>
      <p:nvGrpSpPr>
        <p:cNvPr id="1" name=""/>
        <p:cNvGrpSpPr/>
        <p:nvPr/>
      </p:nvGrpSpPr>
      <p:grpSpPr>
        <a:xfrm>
          <a:off x="0" y="0"/>
          <a:ext cx="0" cy="0"/>
          <a:chOff x="0" y="0"/>
          <a:chExt cx="0" cy="0"/>
        </a:xfrm>
      </p:grpSpPr>
      <p:sp>
        <p:nvSpPr>
          <p:cNvPr id="10"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1"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2"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smtClean="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White Backgroun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Quiz">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912285" y="1233487"/>
            <a:ext cx="10560049" cy="4680000"/>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rgbClr val="808080"/>
              </a:buClr>
              <a:buSzPct val="100000"/>
              <a:buFont typeface="+mj-lt"/>
              <a:buAutoNum type="arabicPeriod"/>
              <a:tabLst/>
              <a:defRPr sz="2000">
                <a:latin typeface="+mn-ea"/>
                <a:ea typeface="+mn-ea"/>
                <a:cs typeface="Arial" panose="020B0604020202020204" pitchFamily="34" charset="0"/>
              </a:defRPr>
            </a:lvl1pPr>
            <a:lvl2pPr marL="401637" indent="0" algn="just">
              <a:buSzPct val="100000"/>
              <a:buFont typeface="+mj-lt"/>
              <a:buNone/>
              <a:defRPr sz="1800"/>
            </a:lvl2pPr>
            <a:lvl3pPr>
              <a:defRPr/>
            </a:lvl3pPr>
            <a:lvl5pPr>
              <a:buNone/>
              <a:defRPr/>
            </a:lvl5pPr>
          </a:lstStyle>
          <a:p>
            <a:r>
              <a:rPr lang="en-US" altLang="zh-CN" dirty="0" smtClean="0"/>
              <a:t>Question description.</a:t>
            </a:r>
            <a:endParaRPr lang="en-US" altLang="zh-CN"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Quiz</a:t>
            </a:r>
            <a:endParaRPr lang="en-US" altLang="zh-CN" dirty="0"/>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79376" y="424270"/>
            <a:ext cx="495619" cy="592462"/>
            <a:chOff x="5554662" y="2422526"/>
            <a:chExt cx="690564" cy="825500"/>
          </a:xfrm>
          <a:solidFill>
            <a:schemeClr val="bg1"/>
          </a:solidFill>
        </p:grpSpPr>
        <p:sp>
          <p:nvSpPr>
            <p:cNvPr id="11"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4" name="Freeform 6"/>
          <p:cNvSpPr>
            <a:spLocks/>
          </p:cNvSpPr>
          <p:nvPr userDrawn="1"/>
        </p:nvSpPr>
        <p:spPr bwMode="auto">
          <a:xfrm>
            <a:off x="3288528" y="296368"/>
            <a:ext cx="8892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5" name="Freeform 11"/>
          <p:cNvSpPr>
            <a:spLocks/>
          </p:cNvSpPr>
          <p:nvPr userDrawn="1"/>
        </p:nvSpPr>
        <p:spPr bwMode="auto">
          <a:xfrm>
            <a:off x="3180516"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Section Summary(Optional)">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smtClean="0"/>
              <a:t>Click here to edit summary</a:t>
            </a:r>
            <a:endParaRPr lang="zh-CN" altLang="en-US"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424847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Section Summary</a:t>
            </a:r>
            <a:endParaRPr lang="en-US" altLang="zh-CN"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Summary">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412268"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Summary</a:t>
            </a:r>
            <a:endParaRPr lang="en-US" altLang="zh-CN" sz="3500" b="1" kern="1200" dirty="0">
              <a:solidFill>
                <a:schemeClr val="tx1">
                  <a:lumMod val="75000"/>
                  <a:lumOff val="25000"/>
                </a:schemeClr>
              </a:solidFill>
              <a:latin typeface="+mn-ea"/>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4" name="文本占位符 6"/>
          <p:cNvSpPr>
            <a:spLocks noGrp="1"/>
          </p:cNvSpPr>
          <p:nvPr>
            <p:ph type="body" sz="quarter" idx="11" hasCustomPrompt="1"/>
          </p:nvPr>
        </p:nvSpPr>
        <p:spPr>
          <a:xfrm>
            <a:off x="911424" y="1232756"/>
            <a:ext cx="10560049" cy="4680000"/>
          </a:xfrm>
        </p:spPr>
        <p:txBody>
          <a:bodyPr/>
          <a:lstStyle>
            <a:lvl1pPr algn="just">
              <a:defRPr>
                <a:latin typeface="+mn-ea"/>
                <a:ea typeface="+mn-ea"/>
                <a:cs typeface="Arial" panose="020B0604020202020204" pitchFamily="34" charset="0"/>
              </a:defRPr>
            </a:lvl1pPr>
            <a:lvl5pPr>
              <a:buNone/>
              <a:defRPr/>
            </a:lvl5pPr>
          </a:lstStyle>
          <a:p>
            <a:pPr lvl="0"/>
            <a:r>
              <a:rPr lang="en-US" altLang="zh-CN" dirty="0" smtClean="0"/>
              <a:t>Click to edit</a:t>
            </a:r>
            <a:endParaRPr lang="zh-CN" altLang="en-US"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pos="3840" userDrawn="1">
          <p15:clr>
            <a:srgbClr val="FBAE40"/>
          </p15:clr>
        </p15:guide>
        <p15:guide id="2" pos="57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More Information(Optional)">
    <p:spTree>
      <p:nvGrpSpPr>
        <p:cNvPr id="1" name=""/>
        <p:cNvGrpSpPr/>
        <p:nvPr/>
      </p:nvGrpSpPr>
      <p:grpSpPr>
        <a:xfrm>
          <a:off x="0" y="0"/>
          <a:ext cx="0" cy="0"/>
          <a:chOff x="0" y="0"/>
          <a:chExt cx="0" cy="0"/>
        </a:xfrm>
      </p:grpSpPr>
      <p:sp>
        <p:nvSpPr>
          <p:cNvPr id="9"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smtClean="0"/>
              <a:t>More information for trainees</a:t>
            </a:r>
            <a:endParaRPr lang="zh-CN" altLang="en-US"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More Information</a:t>
            </a:r>
            <a:endParaRPr lang="en-US" altLang="zh-CN" sz="3500" b="1" kern="1200" dirty="0">
              <a:solidFill>
                <a:schemeClr val="tx1">
                  <a:lumMod val="75000"/>
                  <a:lumOff val="25000"/>
                </a:schemeClr>
              </a:solidFill>
              <a:latin typeface="+mn-ea"/>
              <a:ea typeface="+mn-ea"/>
              <a:cs typeface="Arial" pitchFamily="34" charset="0"/>
            </a:endParaRPr>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479376" y="480268"/>
            <a:ext cx="496581" cy="496581"/>
            <a:chOff x="4485904" y="3429000"/>
            <a:chExt cx="2003425" cy="2003425"/>
          </a:xfrm>
          <a:solidFill>
            <a:schemeClr val="bg1"/>
          </a:solidFill>
        </p:grpSpPr>
        <p:sp>
          <p:nvSpPr>
            <p:cNvPr id="12"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Recommendations(Optional)">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stStyle>
          <a:p>
            <a:endParaRPr lang="zh-CN" altLang="en-US" dirty="0"/>
          </a:p>
        </p:txBody>
      </p:sp>
      <p:sp>
        <p:nvSpPr>
          <p:cNvPr id="8"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Recommendations</a:t>
            </a:r>
            <a:endParaRPr lang="en-US" altLang="zh-CN" sz="3500" b="1" kern="1200" dirty="0">
              <a:solidFill>
                <a:schemeClr val="tx1">
                  <a:lumMod val="75000"/>
                  <a:lumOff val="25000"/>
                </a:schemeClr>
              </a:solidFill>
              <a:latin typeface="+mn-ea"/>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56929"/>
            <a:ext cx="461963" cy="485190"/>
            <a:chOff x="-779463" y="1835151"/>
            <a:chExt cx="1136650" cy="1193799"/>
          </a:xfrm>
          <a:solidFill>
            <a:schemeClr val="bg1"/>
          </a:solidFill>
        </p:grpSpPr>
        <p:sp>
          <p:nvSpPr>
            <p:cNvPr id="12"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5#Thank You">
    <p:spTree>
      <p:nvGrpSpPr>
        <p:cNvPr id="1" name=""/>
        <p:cNvGrpSpPr/>
        <p:nvPr/>
      </p:nvGrpSpPr>
      <p:grpSpPr>
        <a:xfrm>
          <a:off x="0" y="0"/>
          <a:ext cx="0" cy="0"/>
          <a:chOff x="0" y="0"/>
          <a:chExt cx="0" cy="0"/>
        </a:xfrm>
      </p:grpSpPr>
      <p:pic>
        <p:nvPicPr>
          <p:cNvPr id="7"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0" y="0"/>
            <a:ext cx="12193664"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userDrawn="1"/>
        </p:nvSpPr>
        <p:spPr bwMode="auto">
          <a:xfrm>
            <a:off x="-24680" y="-8620"/>
            <a:ext cx="12240000" cy="6876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mn-ea"/>
              <a:ea typeface="+mn-ea"/>
            </a:endParaRPr>
          </a:p>
        </p:txBody>
      </p:sp>
      <p:grpSp>
        <p:nvGrpSpPr>
          <p:cNvPr id="4" name="组合 3"/>
          <p:cNvGrpSpPr/>
          <p:nvPr userDrawn="1"/>
        </p:nvGrpSpPr>
        <p:grpSpPr>
          <a:xfrm>
            <a:off x="4106469" y="2676330"/>
            <a:ext cx="3971726" cy="1543241"/>
            <a:chOff x="4698555" y="2537610"/>
            <a:chExt cx="3971726" cy="1543241"/>
          </a:xfrm>
        </p:grpSpPr>
        <p:sp>
          <p:nvSpPr>
            <p:cNvPr id="5" name="Text Box 9">
              <a:extLst>
                <a:ext uri="{FF2B5EF4-FFF2-40B4-BE49-F238E27FC236}">
                  <a16:creationId xmlns:a16="http://schemas.microsoft.com/office/drawing/2014/main" xmlns="" id="{9D36E720-0E25-41AB-8346-B547D8B86001}"/>
                </a:ext>
              </a:extLst>
            </p:cNvPr>
            <p:cNvSpPr txBox="1">
              <a:spLocks noChangeArrowheads="1"/>
            </p:cNvSpPr>
            <p:nvPr/>
          </p:nvSpPr>
          <p:spPr bwMode="auto">
            <a:xfrm>
              <a:off x="4698555" y="3447730"/>
              <a:ext cx="3971726" cy="633121"/>
            </a:xfrm>
            <a:prstGeom prst="rect">
              <a:avLst/>
            </a:prstGeom>
            <a:noFill/>
            <a:ln w="9525">
              <a:noFill/>
              <a:miter lim="800000"/>
              <a:headEnd/>
              <a:tailEnd/>
            </a:ln>
          </p:spPr>
          <p:txBody>
            <a:bodyPr wrap="none" lIns="78358" tIns="39179" rIns="78358" bIns="39179">
              <a:spAutoFit/>
            </a:bodyPr>
            <a:lstStyle>
              <a:defPPr>
                <a:defRPr lang="zh-CN"/>
              </a:defPPr>
              <a:lvl1pPr defTabSz="784225" eaLnBrk="0" hangingPunct="0">
                <a:buSzPct val="100000"/>
                <a:defRPr sz="3600">
                  <a:solidFill>
                    <a:schemeClr val="bg1"/>
                  </a:solidFill>
                  <a:effectLst>
                    <a:outerShdw blurRad="38100" dist="38100" dir="2700000" algn="tl">
                      <a:srgbClr val="000000">
                        <a:alpha val="43137"/>
                      </a:srgbClr>
                    </a:outerShdw>
                  </a:effectLst>
                  <a:latin typeface="+mn-ea"/>
                  <a:ea typeface="+mn-ea"/>
                  <a:cs typeface="Arial" panose="020B0604020202020204" pitchFamily="34" charset="0"/>
                </a:defRPr>
              </a:lvl1pPr>
            </a:lstStyle>
            <a:p>
              <a:pPr lvl="0"/>
              <a:r>
                <a:rPr lang="zh-CN" altLang="zh-CN" dirty="0">
                  <a:sym typeface="FrutigerNext LT Regular" pitchFamily="34" charset="0"/>
                </a:rPr>
                <a:t>www.huawei.com</a:t>
              </a:r>
            </a:p>
          </p:txBody>
        </p:sp>
        <p:sp>
          <p:nvSpPr>
            <p:cNvPr id="6" name="Text Box 8">
              <a:extLst>
                <a:ext uri="{FF2B5EF4-FFF2-40B4-BE49-F238E27FC236}">
                  <a16:creationId xmlns:a16="http://schemas.microsoft.com/office/drawing/2014/main" xmlns="" id="{11ED55EC-FD16-4B98-B04D-4605D3C0D784}"/>
                </a:ext>
              </a:extLst>
            </p:cNvPr>
            <p:cNvSpPr txBox="1">
              <a:spLocks noChangeArrowheads="1"/>
            </p:cNvSpPr>
            <p:nvPr/>
          </p:nvSpPr>
          <p:spPr bwMode="auto">
            <a:xfrm>
              <a:off x="4891281" y="2537610"/>
              <a:ext cx="3593610" cy="910120"/>
            </a:xfrm>
            <a:prstGeom prst="rect">
              <a:avLst/>
            </a:prstGeom>
            <a:noFill/>
            <a:ln w="9525">
              <a:noFill/>
              <a:miter lim="800000"/>
              <a:headEnd/>
              <a:tailEnd/>
            </a:ln>
          </p:spPr>
          <p:txBody>
            <a:bodyPr wrap="none" lIns="78358" tIns="39179" rIns="78358" bIns="39179">
              <a:spAutoFit/>
            </a:bodyPr>
            <a:lstStyle>
              <a:defPPr>
                <a:defRPr lang="zh-CN"/>
              </a:defPPr>
              <a:lvl1pPr defTabSz="784225" eaLnBrk="0" fontAlgn="base" hangingPunct="0">
                <a:buSzPct val="100000"/>
                <a:defRPr sz="5400">
                  <a:solidFill>
                    <a:schemeClr val="bg1"/>
                  </a:solidFill>
                  <a:effectLst>
                    <a:outerShdw blurRad="38100" dist="38100" dir="2700000" algn="tl">
                      <a:srgbClr val="000000">
                        <a:alpha val="43137"/>
                      </a:srgbClr>
                    </a:outerShdw>
                  </a:effectLst>
                  <a:latin typeface="+mn-ea"/>
                  <a:ea typeface="+mn-ea"/>
                </a:defRPr>
              </a:lvl1pPr>
            </a:lstStyle>
            <a:p>
              <a:pPr lvl="0"/>
              <a:r>
                <a:rPr lang="en-US" altLang="zh-CN" dirty="0" smtClean="0">
                  <a:sym typeface="FrutigerNext LT Regular" pitchFamily="34" charset="0"/>
                </a:rPr>
                <a:t>Thank You</a:t>
              </a:r>
              <a:endParaRPr lang="zh-CN" altLang="zh-CN" dirty="0">
                <a:sym typeface="FrutigerNext LT Regular" pitchFamily="34" charset="0"/>
              </a:endParaRPr>
            </a:p>
          </p:txBody>
        </p:sp>
      </p:grpSp>
    </p:spTree>
    <p:extLst>
      <p:ext uri="{BB962C8B-B14F-4D97-AF65-F5344CB8AC3E}">
        <p14:creationId xmlns:p14="http://schemas.microsoft.com/office/powerpoint/2010/main" val="397101909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8#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Tree>
    <p:extLst>
      <p:ext uri="{BB962C8B-B14F-4D97-AF65-F5344CB8AC3E}">
        <p14:creationId xmlns:p14="http://schemas.microsoft.com/office/powerpoint/2010/main" val="10875605"/>
      </p:ext>
    </p:extLst>
  </p:cSld>
  <p:clrMapOvr>
    <a:masterClrMapping/>
  </p:clrMapOvr>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
        <p:nvSpPr>
          <p:cNvPr id="7" name="Rectangle 6"/>
          <p:cNvSpPr>
            <a:spLocks noGrp="1" noChangeArrowheads="1"/>
          </p:cNvSpPr>
          <p:nvPr>
            <p:ph type="title"/>
          </p:nvPr>
        </p:nvSpPr>
        <p:spPr bwMode="auto">
          <a:xfrm>
            <a:off x="911424" y="262036"/>
            <a:ext cx="106023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en-US" altLang="zh-CN" dirty="0"/>
              <a:t>Click to Edit</a:t>
            </a:r>
            <a:endParaRPr lang="zh-CN" altLang="en-US" dirty="0"/>
          </a:p>
        </p:txBody>
      </p:sp>
      <p:sp>
        <p:nvSpPr>
          <p:cNvPr id="9" name="Rectangle 57"/>
          <p:cNvSpPr>
            <a:spLocks noGrp="1" noChangeArrowheads="1"/>
          </p:cNvSpPr>
          <p:nvPr>
            <p:ph type="body" idx="1"/>
          </p:nvPr>
        </p:nvSpPr>
        <p:spPr bwMode="auto">
          <a:xfrm>
            <a:off x="911425" y="1249461"/>
            <a:ext cx="10572749" cy="504867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Rectangle 69"/>
          <p:cNvSpPr>
            <a:spLocks noChangeArrowheads="1"/>
          </p:cNvSpPr>
          <p:nvPr userDrawn="1"/>
        </p:nvSpPr>
        <p:spPr bwMode="auto">
          <a:xfrm>
            <a:off x="119336" y="6500581"/>
            <a:ext cx="704672"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n-ea"/>
                <a:cs typeface="Arial" pitchFamily="34" charset="0"/>
              </a:rPr>
              <a:t>Page</a:t>
            </a:r>
            <a:r>
              <a:rPr lang="en-US" altLang="zh-CN" sz="1200" baseline="0" dirty="0">
                <a:latin typeface="+mj-lt"/>
                <a:ea typeface="+mn-ea"/>
                <a:cs typeface="Arial" pitchFamily="34" charset="0"/>
              </a:rPr>
              <a:t> </a:t>
            </a:r>
            <a:fld id="{2F2CF7F5-F178-4429-B6CA-28062DF31937}" type="slidenum">
              <a:rPr lang="en-US" altLang="zh-CN" sz="1200" smtClean="0">
                <a:latin typeface="+mj-lt"/>
                <a:ea typeface="+mn-ea"/>
                <a:cs typeface="Arial" pitchFamily="34" charset="0"/>
              </a:rPr>
              <a:pPr defTabSz="801668" eaLnBrk="0" fontAlgn="base" hangingPunct="0">
                <a:defRPr/>
              </a:pPr>
              <a:t>‹#›</a:t>
            </a:fld>
            <a:endParaRPr lang="en-US" altLang="zh-CN" sz="1200" dirty="0">
              <a:latin typeface="+mj-lt"/>
              <a:ea typeface="+mn-ea"/>
              <a:cs typeface="Arial" pitchFamily="34" charset="0"/>
            </a:endParaRPr>
          </a:p>
        </p:txBody>
      </p:sp>
      <p:sp>
        <p:nvSpPr>
          <p:cNvPr id="11"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a:t>
            </a:r>
            <a:r>
              <a:rPr lang="en-US" altLang="zh-CN" sz="1200" dirty="0" smtClean="0">
                <a:latin typeface="+mj-lt"/>
                <a:ea typeface="MS PGothic" pitchFamily="34" charset="-128"/>
                <a:cs typeface="Arial" pitchFamily="34" charset="0"/>
              </a:rPr>
              <a:t>2019 </a:t>
            </a:r>
            <a:r>
              <a:rPr lang="en-US" altLang="zh-CN" sz="1200" dirty="0">
                <a:latin typeface="+mj-lt"/>
                <a:ea typeface="MS PGothic" pitchFamily="34" charset="-128"/>
                <a:cs typeface="Arial" pitchFamily="34" charset="0"/>
              </a:rPr>
              <a:t>Huawei Technologies Co., Ltd. All rights reserved. </a:t>
            </a:r>
          </a:p>
        </p:txBody>
      </p:sp>
    </p:spTree>
  </p:cSld>
  <p:clrMap bg1="lt1" tx1="dk1" bg2="lt2" tx2="dk2" accent1="accent1" accent2="accent2" accent3="accent3" accent4="accent4" accent5="accent5" accent6="accent6" hlink="hlink" folHlink="folHlink"/>
  <p:sldLayoutIdLst>
    <p:sldLayoutId id="2147483855" r:id="rId1"/>
    <p:sldLayoutId id="2147483830" r:id="rId2"/>
    <p:sldLayoutId id="2147483846" r:id="rId3"/>
    <p:sldLayoutId id="2147483826" r:id="rId4"/>
    <p:sldLayoutId id="2147483848" r:id="rId5"/>
    <p:sldLayoutId id="2147483849" r:id="rId6"/>
    <p:sldLayoutId id="2147483858" r:id="rId7"/>
    <p:sldLayoutId id="2147483828" r:id="rId8"/>
    <p:sldLayoutId id="2147483863" r:id="rId9"/>
    <p:sldLayoutId id="2147483862" r:id="rId10"/>
    <p:sldLayoutId id="2147483851" r:id="rId11"/>
    <p:sldLayoutId id="2147483852" r:id="rId12"/>
    <p:sldLayoutId id="2147483850" r:id="rId13"/>
    <p:sldLayoutId id="2147483861" r:id="rId14"/>
    <p:sldLayoutId id="2147483866" r:id="rId15"/>
    <p:sldLayoutId id="2147483867" r:id="rId16"/>
  </p:sldLayoutIdLst>
  <p:timing>
    <p:tnLst>
      <p:par>
        <p:cTn id="1" dur="indefinite" restart="never" nodeType="tmRoot"/>
      </p:par>
    </p:tnLst>
  </p:timing>
  <p:hf hdr="0" ftr="0" dt="0"/>
  <p:txStyles>
    <p:titleStyle>
      <a:lvl1pPr algn="l" defTabSz="801688" rtl="0" eaLnBrk="0" fontAlgn="base" hangingPunct="0">
        <a:spcBef>
          <a:spcPct val="0"/>
        </a:spcBef>
        <a:spcAft>
          <a:spcPct val="0"/>
        </a:spcAft>
        <a:defRPr sz="3500" b="0">
          <a:solidFill>
            <a:schemeClr val="tx1">
              <a:lumMod val="75000"/>
              <a:lumOff val="25000"/>
            </a:schemeClr>
          </a:solidFill>
          <a:latin typeface="+mn-lt"/>
          <a:ea typeface="+mj-ea"/>
          <a:cs typeface="+mj-cs"/>
        </a:defRPr>
      </a:lvl1pPr>
      <a:lvl2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500">
          <a:solidFill>
            <a:srgbClr val="990000"/>
          </a:solidFill>
          <a:latin typeface="FrutigerNext LT Medium" pitchFamily="34" charset="0"/>
          <a:ea typeface="黑体" pitchFamily="2" charset="-122"/>
        </a:defRPr>
      </a:lvl9pPr>
    </p:titleStyle>
    <p:body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35" userDrawn="1">
          <p15:clr>
            <a:srgbClr val="F26B43"/>
          </p15:clr>
        </p15:guide>
        <p15:guide id="2" pos="7227" userDrawn="1">
          <p15:clr>
            <a:srgbClr val="F26B43"/>
          </p15:clr>
        </p15:guide>
        <p15:guide id="3" orient="horz" pos="777" userDrawn="1">
          <p15:clr>
            <a:srgbClr val="F26B43"/>
          </p15:clr>
        </p15:guide>
        <p15:guide id="4" orient="horz" pos="4020" userDrawn="1">
          <p15:clr>
            <a:srgbClr val="F26B43"/>
          </p15:clr>
        </p15:guide>
        <p15:guide id="6" orient="horz" pos="234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notesSlide" Target="../notesSlides/notesSlide20.xml"/><Relationship Id="rId7" Type="http://schemas.openxmlformats.org/officeDocument/2006/relationships/image" Target="../media/image6.png"/><Relationship Id="rId2" Type="http://schemas.openxmlformats.org/officeDocument/2006/relationships/slideLayout" Target="../slideLayouts/slideLayout8.xml"/><Relationship Id="rId1" Type="http://schemas.openxmlformats.org/officeDocument/2006/relationships/vmlDrawing" Target="../drawings/vmlDrawing1.vml"/><Relationship Id="rId6" Type="http://schemas.openxmlformats.org/officeDocument/2006/relationships/image" Target="../media/image7.png"/><Relationship Id="rId11" Type="http://schemas.openxmlformats.org/officeDocument/2006/relationships/image" Target="../media/image9.wmf"/><Relationship Id="rId5" Type="http://schemas.openxmlformats.org/officeDocument/2006/relationships/image" Target="../media/image4.png"/><Relationship Id="rId10" Type="http://schemas.openxmlformats.org/officeDocument/2006/relationships/oleObject" Target="../embeddings/oleObject2.bin"/><Relationship Id="rId4" Type="http://schemas.openxmlformats.org/officeDocument/2006/relationships/image" Target="../media/image5.png"/><Relationship Id="rId9" Type="http://schemas.openxmlformats.org/officeDocument/2006/relationships/image" Target="../media/image8.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3.xml"/><Relationship Id="rId7"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0.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27.xml"/><Relationship Id="rId7" Type="http://schemas.openxmlformats.org/officeDocument/2006/relationships/oleObject" Target="../embeddings/oleObject4.bin"/><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xml"/><Relationship Id="rId1" Type="http://schemas.openxmlformats.org/officeDocument/2006/relationships/vmlDrawing" Target="../drawings/vmlDrawing4.vml"/><Relationship Id="rId5" Type="http://schemas.openxmlformats.org/officeDocument/2006/relationships/image" Target="../media/image11.wmf"/><Relationship Id="rId4" Type="http://schemas.openxmlformats.org/officeDocument/2006/relationships/oleObject" Target="../embeddings/oleObject5.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3"/>
          <p:cNvSpPr>
            <a:spLocks noGrp="1"/>
          </p:cNvSpPr>
          <p:nvPr>
            <p:ph type="ctrTitle" sz="quarter"/>
          </p:nvPr>
        </p:nvSpPr>
        <p:spPr/>
        <p:txBody>
          <a:bodyPr/>
          <a:lstStyle/>
          <a:p>
            <a:r>
              <a:rPr lang="zh-CN" altLang="zh-CN" smtClean="0">
                <a:sym typeface="FrutigerNext LT Regular" pitchFamily="34" charset="0"/>
              </a:rPr>
              <a:t>Route Control</a:t>
            </a:r>
            <a:endParaRPr lang="zh-CN" altLang="zh-CN" dirty="0" smtClean="0">
              <a:sym typeface="FrutigerNext LT Regular" pitchFamily="34" charset="0"/>
            </a:endParaRPr>
          </a:p>
        </p:txBody>
      </p:sp>
      <p:sp>
        <p:nvSpPr>
          <p:cNvPr id="2150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endParaRPr lang="zh-CN" altLang="en-US">
              <a:latin typeface="FrutigerNext LT Regular"/>
            </a:endParaRPr>
          </a:p>
        </p:txBody>
      </p:sp>
    </p:spTree>
    <p:extLst>
      <p:ext uri="{BB962C8B-B14F-4D97-AF65-F5344CB8AC3E}">
        <p14:creationId xmlns:p14="http://schemas.microsoft.com/office/powerpoint/2010/main" val="37677763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文本占位符 2"/>
          <p:cNvSpPr>
            <a:spLocks noGrp="1"/>
          </p:cNvSpPr>
          <p:nvPr>
            <p:ph type="body" sz="quarter" idx="10"/>
          </p:nvPr>
        </p:nvSpPr>
        <p:spPr/>
        <p:txBody>
          <a:bodyPr/>
          <a:lstStyle/>
          <a:p>
            <a:r>
              <a:rPr lang="en-US" altLang="zh-CN" smtClean="0">
                <a:sym typeface="FrutigerNext LT Regular" pitchFamily="34" charset="0"/>
              </a:rPr>
              <a:t>Enterprise networks may encounter the problems such as unauthorized access of certain traffic and </a:t>
            </a:r>
            <a:r>
              <a:rPr lang="en-US" altLang="zh-CN" smtClean="0"/>
              <a:t>sub-optimal </a:t>
            </a:r>
            <a:r>
              <a:rPr lang="en-US" altLang="zh-CN" smtClean="0">
                <a:sym typeface="FrutigerNext LT Regular" pitchFamily="34" charset="0"/>
              </a:rPr>
              <a:t>traffic path selection. To ensure data access security and improve link bandwidth usage, traffic behavior on the network must be controlled, for example, reachability control and traffic path adjustment. </a:t>
            </a:r>
          </a:p>
          <a:p>
            <a:r>
              <a:rPr lang="en-US" altLang="zh-CN" smtClean="0">
                <a:sym typeface="FrutigerNext LT Regular" pitchFamily="34" charset="0"/>
              </a:rPr>
              <a:t>Tools may be required to meet complicated and precise traffic control requirements. This course introduces the traffic control tools and their usage scenarios.</a:t>
            </a:r>
            <a:endParaRPr lang="en-US" altLang="zh-CN" dirty="0" smtClean="0">
              <a:sym typeface="FrutigerNext LT Regular" pitchFamily="34" charset="0"/>
            </a:endParaRPr>
          </a:p>
        </p:txBody>
      </p:sp>
    </p:spTree>
    <p:extLst>
      <p:ext uri="{BB962C8B-B14F-4D97-AF65-F5344CB8AC3E}">
        <p14:creationId xmlns:p14="http://schemas.microsoft.com/office/powerpoint/2010/main" val="23926380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p:txBody>
          <a:bodyPr/>
          <a:lstStyle/>
          <a:p>
            <a:r>
              <a:rPr lang="en-US" altLang="zh-CN" smtClean="0"/>
              <a:t>Upon completion of this section, you will be able </a:t>
            </a:r>
            <a:r>
              <a:rPr lang="en-US" altLang="zh-CN" smtClean="0">
                <a:sym typeface="FrutigerNext LT Regular" pitchFamily="34" charset="0"/>
              </a:rPr>
              <a:t>to:</a:t>
            </a:r>
          </a:p>
          <a:p>
            <a:pPr lvl="1"/>
            <a:r>
              <a:rPr lang="en-US" altLang="zh-CN" smtClean="0"/>
              <a:t>Master the method to control network traffic reachability</a:t>
            </a:r>
          </a:p>
          <a:p>
            <a:pPr lvl="1"/>
            <a:r>
              <a:rPr lang="en-US" altLang="zh-CN" smtClean="0"/>
              <a:t>Master the method to adjust network traffic paths</a:t>
            </a:r>
          </a:p>
          <a:p>
            <a:pPr lvl="1"/>
            <a:r>
              <a:rPr lang="en-US" altLang="zh-CN" smtClean="0"/>
              <a:t>Be familiar with</a:t>
            </a:r>
            <a:r>
              <a:rPr lang="en-US" altLang="zh-CN" smtClean="0">
                <a:sym typeface="FrutigerNext LT Regular" pitchFamily="34" charset="0"/>
              </a:rPr>
              <a:t> the problems caused by route import and solutions</a:t>
            </a:r>
            <a:endParaRPr lang="en-US" altLang="zh-CN" dirty="0" smtClean="0">
              <a:sym typeface="FrutigerNext LT Regular" pitchFamily="34" charset="0"/>
            </a:endParaRPr>
          </a:p>
        </p:txBody>
      </p:sp>
    </p:spTree>
    <p:extLst>
      <p:ext uri="{BB962C8B-B14F-4D97-AF65-F5344CB8AC3E}">
        <p14:creationId xmlns:p14="http://schemas.microsoft.com/office/powerpoint/2010/main" val="1226893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文本占位符 3"/>
          <p:cNvSpPr>
            <a:spLocks noGrp="1"/>
          </p:cNvSpPr>
          <p:nvPr>
            <p:ph type="body" sz="quarter" idx="10"/>
          </p:nvPr>
        </p:nvSpPr>
        <p:spPr/>
        <p:txBody>
          <a:bodyPr/>
          <a:lstStyle/>
          <a:p>
            <a:r>
              <a:rPr lang="en-US" altLang="zh-CN" b="1" dirty="0" smtClean="0">
                <a:sym typeface="FrutigerNext LT Regular" pitchFamily="34" charset="0"/>
              </a:rPr>
              <a:t>Traffic Behavior Control Requirement</a:t>
            </a:r>
          </a:p>
          <a:p>
            <a:r>
              <a:rPr lang="en-US" altLang="zh-CN" dirty="0" smtClean="0">
                <a:solidFill>
                  <a:schemeClr val="bg1">
                    <a:lumMod val="50000"/>
                  </a:schemeClr>
                </a:solidFill>
                <a:sym typeface="FrutigerNext LT Regular" pitchFamily="34" charset="0"/>
              </a:rPr>
              <a:t>Control Reachability</a:t>
            </a:r>
          </a:p>
          <a:p>
            <a:r>
              <a:rPr lang="en-US" altLang="zh-CN" dirty="0" smtClean="0">
                <a:solidFill>
                  <a:schemeClr val="bg1">
                    <a:lumMod val="50000"/>
                  </a:schemeClr>
                </a:solidFill>
                <a:sym typeface="FrutigerNext LT Regular" pitchFamily="34" charset="0"/>
              </a:rPr>
              <a:t>Adjust Network Traffic Path</a:t>
            </a:r>
          </a:p>
          <a:p>
            <a:r>
              <a:rPr lang="en-US" altLang="zh-CN" dirty="0" smtClean="0">
                <a:solidFill>
                  <a:schemeClr val="bg1">
                    <a:lumMod val="50000"/>
                  </a:schemeClr>
                </a:solidFill>
                <a:sym typeface="FrutigerNext LT Regular" pitchFamily="34" charset="0"/>
              </a:rPr>
              <a:t>Problems Caused by Route Importing and Solutions</a:t>
            </a:r>
          </a:p>
        </p:txBody>
      </p:sp>
    </p:spTree>
    <p:extLst>
      <p:ext uri="{BB962C8B-B14F-4D97-AF65-F5344CB8AC3E}">
        <p14:creationId xmlns:p14="http://schemas.microsoft.com/office/powerpoint/2010/main" val="36876956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2"/>
          </p:nvPr>
        </p:nvSpPr>
        <p:spPr/>
        <p:txBody>
          <a:bodyPr/>
          <a:lstStyle/>
          <a:p>
            <a:r>
              <a:rPr lang="en-US" altLang="zh-CN" dirty="0"/>
              <a:t>Traffic Behavior Control Requirement</a:t>
            </a:r>
            <a:endParaRPr lang="zh-CN" altLang="en-US" dirty="0"/>
          </a:p>
        </p:txBody>
      </p:sp>
      <p:sp>
        <p:nvSpPr>
          <p:cNvPr id="25608" name="文本占位符 2"/>
          <p:cNvSpPr txBox="1">
            <a:spLocks/>
          </p:cNvSpPr>
          <p:nvPr/>
        </p:nvSpPr>
        <p:spPr bwMode="auto">
          <a:xfrm>
            <a:off x="1008063" y="1344916"/>
            <a:ext cx="7920037" cy="558800"/>
          </a:xfrm>
          <a:prstGeom prst="rect">
            <a:avLst/>
          </a:prstGeom>
          <a:noFill/>
          <a:ln w="9525">
            <a:noFill/>
            <a:miter lim="800000"/>
            <a:headEnd/>
            <a:tailEnd/>
          </a:ln>
        </p:spPr>
        <p:txBody>
          <a:bodyPr/>
          <a:lstStyle/>
          <a:p>
            <a:pPr marL="457200" indent="-457200" defTabSz="801688" eaLnBrk="0" hangingPunct="0">
              <a:lnSpc>
                <a:spcPct val="140000"/>
              </a:lnSpc>
              <a:spcBef>
                <a:spcPct val="30000"/>
              </a:spcBef>
              <a:buSzPct val="100000"/>
              <a:buFont typeface="FrutigerNext LT Medium" pitchFamily="34" charset="0"/>
              <a:buAutoNum type="arabicPeriod"/>
            </a:pPr>
            <a:r>
              <a:rPr lang="en-US" altLang="zh-CN" sz="2000" dirty="0">
                <a:solidFill>
                  <a:srgbClr val="000000"/>
                </a:solidFill>
                <a:latin typeface="+mn-lt"/>
                <a:ea typeface="华文细黑" pitchFamily="2" charset="-122"/>
                <a:sym typeface="FrutigerNext LT Regular" pitchFamily="34" charset="0"/>
              </a:rPr>
              <a:t>Control traffic reachability.</a:t>
            </a:r>
          </a:p>
        </p:txBody>
      </p:sp>
      <p:sp>
        <p:nvSpPr>
          <p:cNvPr id="25609" name="文本占位符 2"/>
          <p:cNvSpPr txBox="1">
            <a:spLocks/>
          </p:cNvSpPr>
          <p:nvPr/>
        </p:nvSpPr>
        <p:spPr bwMode="auto">
          <a:xfrm>
            <a:off x="1000125" y="3883328"/>
            <a:ext cx="4283831" cy="558800"/>
          </a:xfrm>
          <a:prstGeom prst="rect">
            <a:avLst/>
          </a:prstGeom>
          <a:noFill/>
          <a:ln w="9525">
            <a:noFill/>
            <a:miter lim="800000"/>
            <a:headEnd/>
            <a:tailEnd/>
          </a:ln>
        </p:spPr>
        <p:txBody>
          <a:bodyPr/>
          <a:lstStyle/>
          <a:p>
            <a:pPr marL="457200" indent="-457200" defTabSz="801688" eaLnBrk="0" hangingPunct="0">
              <a:lnSpc>
                <a:spcPct val="140000"/>
              </a:lnSpc>
              <a:spcBef>
                <a:spcPct val="30000"/>
              </a:spcBef>
              <a:buSzPct val="100000"/>
              <a:buFont typeface="FrutigerNext LT Medium" pitchFamily="34" charset="0"/>
              <a:buAutoNum type="arabicPeriod" startAt="2"/>
            </a:pPr>
            <a:r>
              <a:rPr lang="en-US" altLang="zh-CN" sz="2000" dirty="0">
                <a:solidFill>
                  <a:srgbClr val="000000"/>
                </a:solidFill>
                <a:latin typeface="+mn-lt"/>
                <a:ea typeface="华文细黑" pitchFamily="2" charset="-122"/>
                <a:sym typeface="FrutigerNext LT Regular" pitchFamily="34" charset="0"/>
              </a:rPr>
              <a:t>Adjust network traffic path.</a:t>
            </a:r>
          </a:p>
        </p:txBody>
      </p:sp>
      <p:grpSp>
        <p:nvGrpSpPr>
          <p:cNvPr id="7" name="组合 6"/>
          <p:cNvGrpSpPr/>
          <p:nvPr/>
        </p:nvGrpSpPr>
        <p:grpSpPr>
          <a:xfrm>
            <a:off x="2495600" y="1866740"/>
            <a:ext cx="7632651" cy="2175468"/>
            <a:chOff x="2495600" y="1866740"/>
            <a:chExt cx="7632651" cy="2175468"/>
          </a:xfrm>
        </p:grpSpPr>
        <p:sp>
          <p:nvSpPr>
            <p:cNvPr id="75" name="圆角矩形 74"/>
            <p:cNvSpPr/>
            <p:nvPr/>
          </p:nvSpPr>
          <p:spPr bwMode="auto">
            <a:xfrm>
              <a:off x="8256588" y="3408202"/>
              <a:ext cx="1871662" cy="633413"/>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sp>
          <p:nvSpPr>
            <p:cNvPr id="74" name="圆角矩形 73"/>
            <p:cNvSpPr/>
            <p:nvPr/>
          </p:nvSpPr>
          <p:spPr bwMode="auto">
            <a:xfrm>
              <a:off x="8231188" y="2665252"/>
              <a:ext cx="1897062" cy="63182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sp>
          <p:nvSpPr>
            <p:cNvPr id="73" name="圆角矩形 72"/>
            <p:cNvSpPr/>
            <p:nvPr/>
          </p:nvSpPr>
          <p:spPr bwMode="auto">
            <a:xfrm>
              <a:off x="8220075" y="1866740"/>
              <a:ext cx="1908175" cy="66833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sp>
          <p:nvSpPr>
            <p:cNvPr id="72" name="圆角矩形 71"/>
            <p:cNvSpPr/>
            <p:nvPr/>
          </p:nvSpPr>
          <p:spPr bwMode="auto">
            <a:xfrm>
              <a:off x="2697163" y="3016090"/>
              <a:ext cx="1801812" cy="75088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sp>
          <p:nvSpPr>
            <p:cNvPr id="71" name="圆角矩形 70"/>
            <p:cNvSpPr/>
            <p:nvPr/>
          </p:nvSpPr>
          <p:spPr bwMode="auto">
            <a:xfrm>
              <a:off x="2697164" y="2077876"/>
              <a:ext cx="1797050"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sp>
          <p:nvSpPr>
            <p:cNvPr id="25610" name="矩形 40"/>
            <p:cNvSpPr>
              <a:spLocks noChangeArrowheads="1"/>
            </p:cNvSpPr>
            <p:nvPr/>
          </p:nvSpPr>
          <p:spPr bwMode="auto">
            <a:xfrm>
              <a:off x="8972552" y="1997347"/>
              <a:ext cx="1155699" cy="430887"/>
            </a:xfrm>
            <a:prstGeom prst="rect">
              <a:avLst/>
            </a:prstGeom>
            <a:noFill/>
            <a:ln w="9525">
              <a:noFill/>
              <a:miter lim="800000"/>
              <a:headEnd/>
              <a:tailEnd/>
            </a:ln>
          </p:spPr>
          <p:txBody>
            <a:bodyPr wrap="square">
              <a:spAutoFit/>
            </a:bodyPr>
            <a:lstStyle/>
            <a:p>
              <a:pPr algn="ctr" eaLnBrk="0" fontAlgn="t" hangingPunct="0">
                <a:buSzPct val="100000"/>
              </a:pPr>
              <a:r>
                <a:rPr lang="en-US" altLang="zh-CN" sz="1100" b="1" dirty="0">
                  <a:solidFill>
                    <a:srgbClr val="000000"/>
                  </a:solidFill>
                  <a:latin typeface="+mn-lt"/>
                  <a:ea typeface="+mn-ea"/>
                  <a:sym typeface="FrutigerNext LT Regular" pitchFamily="34" charset="0"/>
                </a:rPr>
                <a:t>Financial department</a:t>
              </a:r>
            </a:p>
          </p:txBody>
        </p:sp>
        <p:cxnSp>
          <p:nvCxnSpPr>
            <p:cNvPr id="25611" name="直接连接符 44"/>
            <p:cNvCxnSpPr>
              <a:cxnSpLocks noChangeShapeType="1"/>
            </p:cNvCxnSpPr>
            <p:nvPr/>
          </p:nvCxnSpPr>
          <p:spPr bwMode="auto">
            <a:xfrm flipH="1" flipV="1">
              <a:off x="3935413" y="2420776"/>
              <a:ext cx="1255712" cy="292100"/>
            </a:xfrm>
            <a:prstGeom prst="line">
              <a:avLst/>
            </a:prstGeom>
            <a:noFill/>
            <a:ln w="28575" algn="ctr">
              <a:solidFill>
                <a:schemeClr val="tx1"/>
              </a:solidFill>
              <a:round/>
              <a:headEnd/>
              <a:tailEnd/>
            </a:ln>
          </p:spPr>
        </p:cxnSp>
        <p:cxnSp>
          <p:nvCxnSpPr>
            <p:cNvPr id="46" name="直接连接符 45"/>
            <p:cNvCxnSpPr/>
            <p:nvPr/>
          </p:nvCxnSpPr>
          <p:spPr bwMode="auto">
            <a:xfrm>
              <a:off x="5232401" y="2709702"/>
              <a:ext cx="993775" cy="207963"/>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613" name="直接连接符 46"/>
            <p:cNvCxnSpPr>
              <a:cxnSpLocks noChangeShapeType="1"/>
            </p:cNvCxnSpPr>
            <p:nvPr/>
          </p:nvCxnSpPr>
          <p:spPr bwMode="auto">
            <a:xfrm flipV="1">
              <a:off x="5270501" y="3116101"/>
              <a:ext cx="881063" cy="185738"/>
            </a:xfrm>
            <a:prstGeom prst="line">
              <a:avLst/>
            </a:prstGeom>
            <a:noFill/>
            <a:ln w="28575" algn="ctr">
              <a:solidFill>
                <a:schemeClr val="tx1"/>
              </a:solidFill>
              <a:round/>
              <a:headEnd/>
              <a:tailEnd/>
            </a:ln>
          </p:spPr>
        </p:cxnSp>
        <p:cxnSp>
          <p:nvCxnSpPr>
            <p:cNvPr id="25614" name="直接连接符 47"/>
            <p:cNvCxnSpPr>
              <a:cxnSpLocks noChangeShapeType="1"/>
            </p:cNvCxnSpPr>
            <p:nvPr/>
          </p:nvCxnSpPr>
          <p:spPr bwMode="auto">
            <a:xfrm flipH="1">
              <a:off x="4040189" y="3306601"/>
              <a:ext cx="1114425" cy="228600"/>
            </a:xfrm>
            <a:prstGeom prst="line">
              <a:avLst/>
            </a:prstGeom>
            <a:noFill/>
            <a:ln w="28575" algn="ctr">
              <a:solidFill>
                <a:schemeClr val="tx1"/>
              </a:solidFill>
              <a:round/>
              <a:headEnd/>
              <a:tailEnd/>
            </a:ln>
          </p:spPr>
        </p:cxnSp>
        <p:cxnSp>
          <p:nvCxnSpPr>
            <p:cNvPr id="25615" name="直接连接符 48"/>
            <p:cNvCxnSpPr>
              <a:cxnSpLocks noChangeShapeType="1"/>
            </p:cNvCxnSpPr>
            <p:nvPr/>
          </p:nvCxnSpPr>
          <p:spPr bwMode="auto">
            <a:xfrm>
              <a:off x="6240464" y="2993864"/>
              <a:ext cx="1150937" cy="0"/>
            </a:xfrm>
            <a:prstGeom prst="line">
              <a:avLst/>
            </a:prstGeom>
            <a:noFill/>
            <a:ln w="28575" algn="ctr">
              <a:solidFill>
                <a:schemeClr val="tx1"/>
              </a:solidFill>
              <a:round/>
              <a:headEnd/>
              <a:tailEnd/>
            </a:ln>
          </p:spPr>
        </p:cxnSp>
        <p:cxnSp>
          <p:nvCxnSpPr>
            <p:cNvPr id="25616" name="直接连接符 49"/>
            <p:cNvCxnSpPr>
              <a:cxnSpLocks noChangeShapeType="1"/>
            </p:cNvCxnSpPr>
            <p:nvPr/>
          </p:nvCxnSpPr>
          <p:spPr bwMode="auto">
            <a:xfrm flipH="1">
              <a:off x="7445375" y="2346164"/>
              <a:ext cx="1074738" cy="601662"/>
            </a:xfrm>
            <a:prstGeom prst="line">
              <a:avLst/>
            </a:prstGeom>
            <a:noFill/>
            <a:ln w="28575" algn="ctr">
              <a:solidFill>
                <a:schemeClr val="tx1"/>
              </a:solidFill>
              <a:round/>
              <a:headEnd/>
              <a:tailEnd/>
            </a:ln>
          </p:spPr>
        </p:cxnSp>
        <p:cxnSp>
          <p:nvCxnSpPr>
            <p:cNvPr id="25617" name="直接连接符 50"/>
            <p:cNvCxnSpPr>
              <a:cxnSpLocks noChangeShapeType="1"/>
            </p:cNvCxnSpPr>
            <p:nvPr/>
          </p:nvCxnSpPr>
          <p:spPr bwMode="auto">
            <a:xfrm flipV="1">
              <a:off x="7564439" y="2993864"/>
              <a:ext cx="979487" cy="0"/>
            </a:xfrm>
            <a:prstGeom prst="line">
              <a:avLst/>
            </a:prstGeom>
            <a:noFill/>
            <a:ln w="28575" algn="ctr">
              <a:solidFill>
                <a:schemeClr val="tx1"/>
              </a:solidFill>
              <a:round/>
              <a:headEnd/>
              <a:tailEnd/>
            </a:ln>
          </p:spPr>
        </p:cxnSp>
        <p:cxnSp>
          <p:nvCxnSpPr>
            <p:cNvPr id="25618" name="直接连接符 51"/>
            <p:cNvCxnSpPr>
              <a:cxnSpLocks noChangeShapeType="1"/>
            </p:cNvCxnSpPr>
            <p:nvPr/>
          </p:nvCxnSpPr>
          <p:spPr bwMode="auto">
            <a:xfrm>
              <a:off x="7383464" y="2962114"/>
              <a:ext cx="1292225" cy="760412"/>
            </a:xfrm>
            <a:prstGeom prst="line">
              <a:avLst/>
            </a:prstGeom>
            <a:noFill/>
            <a:ln w="28575" algn="ctr">
              <a:solidFill>
                <a:schemeClr val="tx1"/>
              </a:solidFill>
              <a:round/>
              <a:headEnd/>
              <a:tailEnd/>
            </a:ln>
          </p:spPr>
        </p:cxnSp>
        <p:sp>
          <p:nvSpPr>
            <p:cNvPr id="25619" name="矩形 52"/>
            <p:cNvSpPr>
              <a:spLocks noChangeArrowheads="1"/>
            </p:cNvSpPr>
            <p:nvPr/>
          </p:nvSpPr>
          <p:spPr bwMode="auto">
            <a:xfrm>
              <a:off x="2697163" y="3285393"/>
              <a:ext cx="1149674" cy="261610"/>
            </a:xfrm>
            <a:prstGeom prst="rect">
              <a:avLst/>
            </a:prstGeom>
            <a:noFill/>
            <a:ln w="9525">
              <a:noFill/>
              <a:miter lim="800000"/>
              <a:headEnd/>
              <a:tailEnd/>
            </a:ln>
          </p:spPr>
          <p:txBody>
            <a:bodyPr wrap="none">
              <a:spAutoFit/>
            </a:bodyPr>
            <a:lstStyle/>
            <a:p>
              <a:pPr eaLnBrk="0" fontAlgn="t" hangingPunct="0">
                <a:buSzPct val="100000"/>
              </a:pPr>
              <a:r>
                <a:rPr lang="en-US" altLang="zh-CN" sz="1100" b="1" dirty="0">
                  <a:solidFill>
                    <a:srgbClr val="000000"/>
                  </a:solidFill>
                  <a:latin typeface="+mn-lt"/>
                  <a:ea typeface="+mn-ea"/>
                  <a:sym typeface="FrutigerNext LT Regular" pitchFamily="34" charset="0"/>
                </a:rPr>
                <a:t>Headquarters</a:t>
              </a:r>
            </a:p>
          </p:txBody>
        </p:sp>
        <p:sp>
          <p:nvSpPr>
            <p:cNvPr id="25620" name="矩形 53"/>
            <p:cNvSpPr>
              <a:spLocks noChangeArrowheads="1"/>
            </p:cNvSpPr>
            <p:nvPr/>
          </p:nvSpPr>
          <p:spPr bwMode="auto">
            <a:xfrm>
              <a:off x="9012238" y="2782438"/>
              <a:ext cx="1116012" cy="430887"/>
            </a:xfrm>
            <a:prstGeom prst="rect">
              <a:avLst/>
            </a:prstGeom>
            <a:noFill/>
            <a:ln w="9525">
              <a:noFill/>
              <a:miter lim="800000"/>
              <a:headEnd/>
              <a:tailEnd/>
            </a:ln>
          </p:spPr>
          <p:txBody>
            <a:bodyPr wrap="square">
              <a:spAutoFit/>
            </a:bodyPr>
            <a:lstStyle/>
            <a:p>
              <a:pPr algn="ctr" eaLnBrk="0" fontAlgn="t" hangingPunct="0">
                <a:buSzPct val="100000"/>
              </a:pPr>
              <a:r>
                <a:rPr lang="en-US" altLang="zh-CN" sz="1100" b="1" dirty="0">
                  <a:solidFill>
                    <a:srgbClr val="000000"/>
                  </a:solidFill>
                  <a:latin typeface="+mn-lt"/>
                  <a:ea typeface="+mn-ea"/>
                  <a:sym typeface="FrutigerNext LT Regular" pitchFamily="34" charset="0"/>
                </a:rPr>
                <a:t>R&amp;D department</a:t>
              </a:r>
            </a:p>
          </p:txBody>
        </p:sp>
        <p:sp>
          <p:nvSpPr>
            <p:cNvPr id="25621" name="矩形 54"/>
            <p:cNvSpPr>
              <a:spLocks noChangeArrowheads="1"/>
            </p:cNvSpPr>
            <p:nvPr/>
          </p:nvSpPr>
          <p:spPr bwMode="auto">
            <a:xfrm>
              <a:off x="8940368" y="3604954"/>
              <a:ext cx="1187882" cy="400110"/>
            </a:xfrm>
            <a:prstGeom prst="rect">
              <a:avLst/>
            </a:prstGeom>
            <a:noFill/>
            <a:ln w="9525">
              <a:noFill/>
              <a:miter lim="800000"/>
              <a:headEnd/>
              <a:tailEnd/>
            </a:ln>
          </p:spPr>
          <p:txBody>
            <a:bodyPr wrap="square">
              <a:spAutoFit/>
            </a:bodyPr>
            <a:lstStyle/>
            <a:p>
              <a:pPr algn="ctr" eaLnBrk="0" fontAlgn="t" hangingPunct="0">
                <a:buSzPct val="100000"/>
              </a:pPr>
              <a:r>
                <a:rPr lang="en-US" altLang="zh-CN" b="1" dirty="0">
                  <a:solidFill>
                    <a:srgbClr val="000000"/>
                  </a:solidFill>
                  <a:latin typeface="+mn-lt"/>
                  <a:ea typeface="+mn-ea"/>
                  <a:sym typeface="FrutigerNext LT Regular" pitchFamily="34" charset="0"/>
                </a:rPr>
                <a:t>Documentation department</a:t>
              </a:r>
            </a:p>
          </p:txBody>
        </p:sp>
        <p:sp>
          <p:nvSpPr>
            <p:cNvPr id="25622" name="文本框 55"/>
            <p:cNvSpPr txBox="1">
              <a:spLocks noChangeArrowheads="1"/>
            </p:cNvSpPr>
            <p:nvPr/>
          </p:nvSpPr>
          <p:spPr bwMode="auto">
            <a:xfrm>
              <a:off x="6443663" y="2398552"/>
              <a:ext cx="754062" cy="34607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600" b="1" dirty="0">
                  <a:solidFill>
                    <a:srgbClr val="C00000"/>
                  </a:solidFill>
                  <a:latin typeface="+mn-lt"/>
                  <a:ea typeface="+mn-ea"/>
                  <a:cs typeface="Arial" charset="0"/>
                  <a:sym typeface="FrutigerNext LT Regular" pitchFamily="34" charset="0"/>
                </a:rPr>
                <a:t>OSPF</a:t>
              </a:r>
            </a:p>
          </p:txBody>
        </p:sp>
        <p:sp>
          <p:nvSpPr>
            <p:cNvPr id="25623" name="文本框 56"/>
            <p:cNvSpPr txBox="1">
              <a:spLocks noChangeArrowheads="1"/>
            </p:cNvSpPr>
            <p:nvPr/>
          </p:nvSpPr>
          <p:spPr bwMode="auto">
            <a:xfrm>
              <a:off x="2495600" y="2277282"/>
              <a:ext cx="1347788" cy="439503"/>
            </a:xfrm>
            <a:prstGeom prst="rect">
              <a:avLst/>
            </a:prstGeom>
            <a:noFill/>
            <a:ln w="9525">
              <a:noFill/>
              <a:miter lim="800000"/>
              <a:headEnd/>
              <a:tailEnd/>
            </a:ln>
          </p:spPr>
          <p:txBody>
            <a:bodyPr wrap="square" lIns="99980" tIns="49986" rIns="99980" bIns="49986">
              <a:spAutoFit/>
            </a:bodyPr>
            <a:lstStyle/>
            <a:p>
              <a:pPr algn="ctr" defTabSz="1000125" eaLnBrk="0" hangingPunct="0">
                <a:buSzPct val="100000"/>
              </a:pPr>
              <a:r>
                <a:rPr lang="en-US" altLang="zh-CN" sz="1100" b="1" dirty="0">
                  <a:solidFill>
                    <a:srgbClr val="000000"/>
                  </a:solidFill>
                  <a:latin typeface="+mn-lt"/>
                  <a:ea typeface="+mn-ea"/>
                  <a:cs typeface="Arial" charset="0"/>
                  <a:sym typeface="FrutigerNext LT Regular" pitchFamily="34" charset="0"/>
                </a:rPr>
                <a:t>Marketing department</a:t>
              </a:r>
            </a:p>
          </p:txBody>
        </p:sp>
        <p:sp>
          <p:nvSpPr>
            <p:cNvPr id="25633" name="AutoShape 21"/>
            <p:cNvSpPr>
              <a:spLocks noChangeArrowheads="1"/>
            </p:cNvSpPr>
            <p:nvPr/>
          </p:nvSpPr>
          <p:spPr bwMode="auto">
            <a:xfrm>
              <a:off x="4548188" y="1919126"/>
              <a:ext cx="2914794" cy="427038"/>
            </a:xfrm>
            <a:prstGeom prst="wedgeRectCallout">
              <a:avLst>
                <a:gd name="adj1" fmla="val 1069"/>
                <a:gd name="adj2" fmla="val 118606"/>
              </a:avLst>
            </a:prstGeom>
            <a:noFill/>
            <a:ln w="3175" algn="ctr">
              <a:solidFill>
                <a:srgbClr val="999999"/>
              </a:solidFill>
              <a:miter lim="800000"/>
              <a:headEnd/>
              <a:tailEnd/>
            </a:ln>
          </p:spPr>
          <p:txBody>
            <a:bodyPr lIns="0" tIns="0" rIns="0" bIns="0" anchor="ctr" anchorCtr="1"/>
            <a:lstStyle/>
            <a:p>
              <a:pPr eaLnBrk="0" fontAlgn="t" hangingPunct="0">
                <a:spcBef>
                  <a:spcPct val="20000"/>
                </a:spcBef>
                <a:buSzPct val="100000"/>
              </a:pPr>
              <a:r>
                <a:rPr lang="en-US" altLang="zh-CN" sz="1100" dirty="0">
                  <a:solidFill>
                    <a:srgbClr val="000000"/>
                  </a:solidFill>
                  <a:latin typeface="+mn-lt"/>
                  <a:ea typeface="+mn-ea"/>
                  <a:sym typeface="FrutigerNext LT Regular" pitchFamily="34" charset="0"/>
                </a:rPr>
                <a:t>To enhance network security, some departments are not allowed to access each other.</a:t>
              </a:r>
            </a:p>
          </p:txBody>
        </p:sp>
        <p:grpSp>
          <p:nvGrpSpPr>
            <p:cNvPr id="25639" name="组合 93"/>
            <p:cNvGrpSpPr>
              <a:grpSpLocks noChangeAspect="1"/>
            </p:cNvGrpSpPr>
            <p:nvPr/>
          </p:nvGrpSpPr>
          <p:grpSpPr bwMode="auto">
            <a:xfrm>
              <a:off x="7791450" y="2852576"/>
              <a:ext cx="141288" cy="141288"/>
              <a:chOff x="389239" y="2587273"/>
              <a:chExt cx="192358" cy="194586"/>
            </a:xfrm>
          </p:grpSpPr>
          <p:cxnSp>
            <p:nvCxnSpPr>
              <p:cNvPr id="25646" name="直接连接符 94"/>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5647" name="直接连接符 95"/>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25640" name="组合 96"/>
            <p:cNvGrpSpPr>
              <a:grpSpLocks noChangeAspect="1"/>
            </p:cNvGrpSpPr>
            <p:nvPr/>
          </p:nvGrpSpPr>
          <p:grpSpPr bwMode="auto">
            <a:xfrm>
              <a:off x="7800975" y="3033551"/>
              <a:ext cx="139700" cy="141288"/>
              <a:chOff x="389239" y="2587273"/>
              <a:chExt cx="192358" cy="194586"/>
            </a:xfrm>
          </p:grpSpPr>
          <p:cxnSp>
            <p:nvCxnSpPr>
              <p:cNvPr id="25644" name="直接连接符 97"/>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5645" name="直接连接符 98"/>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25641" name="组合 99"/>
            <p:cNvGrpSpPr>
              <a:grpSpLocks noChangeAspect="1"/>
            </p:cNvGrpSpPr>
            <p:nvPr/>
          </p:nvGrpSpPr>
          <p:grpSpPr bwMode="auto">
            <a:xfrm>
              <a:off x="7781925" y="2479515"/>
              <a:ext cx="141288" cy="142875"/>
              <a:chOff x="389239" y="2587273"/>
              <a:chExt cx="192358" cy="194586"/>
            </a:xfrm>
          </p:grpSpPr>
          <p:cxnSp>
            <p:nvCxnSpPr>
              <p:cNvPr id="25642" name="直接连接符 100"/>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5643" name="直接连接符 101"/>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pic>
          <p:nvPicPr>
            <p:cNvPr id="85" name="图片 8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609833" y="3396208"/>
              <a:ext cx="540000" cy="442800"/>
            </a:xfrm>
            <a:prstGeom prst="rect">
              <a:avLst/>
            </a:prstGeom>
          </p:spPr>
        </p:pic>
        <p:pic>
          <p:nvPicPr>
            <p:cNvPr id="89" name="图片 8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48583" y="2119588"/>
              <a:ext cx="540000" cy="442800"/>
            </a:xfrm>
            <a:prstGeom prst="rect">
              <a:avLst/>
            </a:prstGeom>
          </p:spPr>
        </p:pic>
        <p:pic>
          <p:nvPicPr>
            <p:cNvPr id="90" name="图片 8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52904" y="3599408"/>
              <a:ext cx="540000" cy="442800"/>
            </a:xfrm>
            <a:prstGeom prst="rect">
              <a:avLst/>
            </a:prstGeom>
          </p:spPr>
        </p:pic>
        <p:pic>
          <p:nvPicPr>
            <p:cNvPr id="9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938319" y="2549045"/>
              <a:ext cx="628652" cy="514351"/>
            </a:xfrm>
            <a:prstGeom prst="rect">
              <a:avLst/>
            </a:prstGeom>
            <a:noFill/>
          </p:spPr>
        </p:pic>
        <p:pic>
          <p:nvPicPr>
            <p:cNvPr id="9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857930" y="2784953"/>
              <a:ext cx="628652" cy="514351"/>
            </a:xfrm>
            <a:prstGeom prst="rect">
              <a:avLst/>
            </a:prstGeom>
            <a:noFill/>
          </p:spPr>
        </p:pic>
        <p:pic>
          <p:nvPicPr>
            <p:cNvPr id="9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938570" y="3205195"/>
              <a:ext cx="628652" cy="514351"/>
            </a:xfrm>
            <a:prstGeom prst="rect">
              <a:avLst/>
            </a:prstGeom>
            <a:noFill/>
          </p:spPr>
        </p:pic>
        <p:pic>
          <p:nvPicPr>
            <p:cNvPr id="9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025923" y="2785767"/>
              <a:ext cx="628652" cy="514351"/>
            </a:xfrm>
            <a:prstGeom prst="rect">
              <a:avLst/>
            </a:prstGeom>
            <a:noFill/>
          </p:spPr>
        </p:pic>
        <p:pic>
          <p:nvPicPr>
            <p:cNvPr id="95" name="图片 94" descr="市场部.png"/>
            <p:cNvPicPr>
              <a:picLocks noChangeAspect="1"/>
            </p:cNvPicPr>
            <p:nvPr/>
          </p:nvPicPr>
          <p:blipFill>
            <a:blip r:embed="rId5" cstate="print"/>
            <a:stretch>
              <a:fillRect/>
            </a:stretch>
          </p:blipFill>
          <p:spPr>
            <a:xfrm>
              <a:off x="3609833" y="2264963"/>
              <a:ext cx="540000" cy="441818"/>
            </a:xfrm>
            <a:prstGeom prst="rect">
              <a:avLst/>
            </a:prstGeom>
          </p:spPr>
        </p:pic>
        <p:pic>
          <p:nvPicPr>
            <p:cNvPr id="96" name="图片 95" descr="研发部.png"/>
            <p:cNvPicPr>
              <a:picLocks noChangeAspect="1"/>
            </p:cNvPicPr>
            <p:nvPr/>
          </p:nvPicPr>
          <p:blipFill>
            <a:blip r:embed="rId6" cstate="print"/>
            <a:stretch>
              <a:fillRect/>
            </a:stretch>
          </p:blipFill>
          <p:spPr>
            <a:xfrm>
              <a:off x="8460103" y="2818796"/>
              <a:ext cx="540000" cy="441818"/>
            </a:xfrm>
            <a:prstGeom prst="rect">
              <a:avLst/>
            </a:prstGeom>
          </p:spPr>
        </p:pic>
        <p:sp>
          <p:nvSpPr>
            <p:cNvPr id="25635" name="任意多边形 75"/>
            <p:cNvSpPr>
              <a:spLocks/>
            </p:cNvSpPr>
            <p:nvPr/>
          </p:nvSpPr>
          <p:spPr bwMode="auto">
            <a:xfrm>
              <a:off x="4164013" y="2349340"/>
              <a:ext cx="4056062" cy="441325"/>
            </a:xfrm>
            <a:custGeom>
              <a:avLst/>
              <a:gdLst>
                <a:gd name="T0" fmla="*/ 0 w 4430180"/>
                <a:gd name="T1" fmla="*/ 21699 h 765974"/>
                <a:gd name="T2" fmla="*/ 949695 w 4430180"/>
                <a:gd name="T3" fmla="*/ 172078 h 765974"/>
                <a:gd name="T4" fmla="*/ 1874896 w 4430180"/>
                <a:gd name="T5" fmla="*/ 245215 h 765974"/>
                <a:gd name="T6" fmla="*/ 2800019 w 4430180"/>
                <a:gd name="T7" fmla="*/ 221514 h 765974"/>
                <a:gd name="T8" fmla="*/ 3713440 w 4430180"/>
                <a:gd name="T9" fmla="*/ 0 h 765974"/>
                <a:gd name="T10" fmla="*/ 0 60000 65536"/>
                <a:gd name="T11" fmla="*/ 0 60000 65536"/>
                <a:gd name="T12" fmla="*/ 0 60000 65536"/>
                <a:gd name="T13" fmla="*/ 0 60000 65536"/>
                <a:gd name="T14" fmla="*/ 0 60000 65536"/>
                <a:gd name="T15" fmla="*/ 0 w 4430180"/>
                <a:gd name="T16" fmla="*/ 0 h 765974"/>
                <a:gd name="T17" fmla="*/ 4430180 w 4430180"/>
                <a:gd name="T18" fmla="*/ 765974 h 765974"/>
              </a:gdLst>
              <a:ahLst/>
              <a:cxnLst>
                <a:cxn ang="T10">
                  <a:pos x="T0" y="T1"/>
                </a:cxn>
                <a:cxn ang="T11">
                  <a:pos x="T2" y="T3"/>
                </a:cxn>
                <a:cxn ang="T12">
                  <a:pos x="T4" y="T5"/>
                </a:cxn>
                <a:cxn ang="T13">
                  <a:pos x="T6" y="T7"/>
                </a:cxn>
                <a:cxn ang="T14">
                  <a:pos x="T8" y="T9"/>
                </a:cxn>
              </a:cxnLst>
              <a:rect l="T15" t="T16" r="T17" b="T18"/>
              <a:pathLst>
                <a:path w="4430180" h="765974">
                  <a:moveTo>
                    <a:pt x="0" y="65276"/>
                  </a:moveTo>
                  <a:cubicBezTo>
                    <a:pt x="394873" y="260332"/>
                    <a:pt x="760202" y="405582"/>
                    <a:pt x="1132998" y="517646"/>
                  </a:cubicBezTo>
                  <a:cubicBezTo>
                    <a:pt x="1505794" y="629710"/>
                    <a:pt x="1868865" y="712872"/>
                    <a:pt x="2236775" y="737658"/>
                  </a:cubicBezTo>
                  <a:cubicBezTo>
                    <a:pt x="2604685" y="762444"/>
                    <a:pt x="2815866" y="811392"/>
                    <a:pt x="3340459" y="666361"/>
                  </a:cubicBezTo>
                  <a:cubicBezTo>
                    <a:pt x="3533747" y="600844"/>
                    <a:pt x="4192608" y="317500"/>
                    <a:pt x="4430180" y="0"/>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dirty="0">
                <a:latin typeface="+mn-lt"/>
                <a:ea typeface="+mn-ea"/>
              </a:endParaRPr>
            </a:p>
          </p:txBody>
        </p:sp>
        <p:sp>
          <p:nvSpPr>
            <p:cNvPr id="25636" name="任意多边形 76"/>
            <p:cNvSpPr>
              <a:spLocks/>
            </p:cNvSpPr>
            <p:nvPr/>
          </p:nvSpPr>
          <p:spPr bwMode="auto">
            <a:xfrm>
              <a:off x="4094163" y="2565240"/>
              <a:ext cx="4089400" cy="384175"/>
            </a:xfrm>
            <a:custGeom>
              <a:avLst/>
              <a:gdLst>
                <a:gd name="T0" fmla="*/ 0 w 4697929"/>
                <a:gd name="T1" fmla="*/ 0 h 383690"/>
                <a:gd name="T2" fmla="*/ 825405 w 4697929"/>
                <a:gd name="T3" fmla="*/ 210259 h 383690"/>
                <a:gd name="T4" fmla="*/ 1651348 w 4697929"/>
                <a:gd name="T5" fmla="*/ 368479 h 383690"/>
                <a:gd name="T6" fmla="*/ 2487748 w 4697929"/>
                <a:gd name="T7" fmla="*/ 374681 h 383690"/>
                <a:gd name="T8" fmla="*/ 3560212 w 4697929"/>
                <a:gd name="T9" fmla="*/ 297158 h 383690"/>
                <a:gd name="T10" fmla="*/ 0 60000 65536"/>
                <a:gd name="T11" fmla="*/ 0 60000 65536"/>
                <a:gd name="T12" fmla="*/ 0 60000 65536"/>
                <a:gd name="T13" fmla="*/ 0 60000 65536"/>
                <a:gd name="T14" fmla="*/ 0 60000 65536"/>
                <a:gd name="T15" fmla="*/ 0 w 4697929"/>
                <a:gd name="T16" fmla="*/ 0 h 383690"/>
                <a:gd name="T17" fmla="*/ 4697929 w 4697929"/>
                <a:gd name="T18" fmla="*/ 383690 h 383690"/>
              </a:gdLst>
              <a:ahLst/>
              <a:cxnLst>
                <a:cxn ang="T10">
                  <a:pos x="T0" y="T1"/>
                </a:cxn>
                <a:cxn ang="T11">
                  <a:pos x="T2" y="T3"/>
                </a:cxn>
                <a:cxn ang="T12">
                  <a:pos x="T4" y="T5"/>
                </a:cxn>
                <a:cxn ang="T13">
                  <a:pos x="T6" y="T7"/>
                </a:cxn>
                <a:cxn ang="T14">
                  <a:pos x="T8" y="T9"/>
                </a:cxn>
              </a:cxnLst>
              <a:rect l="T15" t="T16" r="T17" b="T18"/>
              <a:pathLst>
                <a:path w="4697929" h="383690">
                  <a:moveTo>
                    <a:pt x="0" y="0"/>
                  </a:moveTo>
                  <a:cubicBezTo>
                    <a:pt x="580853" y="117564"/>
                    <a:pt x="725998" y="148658"/>
                    <a:pt x="1089175" y="209994"/>
                  </a:cubicBezTo>
                  <a:cubicBezTo>
                    <a:pt x="1452352" y="271330"/>
                    <a:pt x="1813465" y="340645"/>
                    <a:pt x="2179060" y="368014"/>
                  </a:cubicBezTo>
                  <a:cubicBezTo>
                    <a:pt x="2544655" y="395383"/>
                    <a:pt x="2696157" y="379754"/>
                    <a:pt x="3282744" y="374208"/>
                  </a:cubicBezTo>
                  <a:cubicBezTo>
                    <a:pt x="3755002" y="339688"/>
                    <a:pt x="4212384" y="428303"/>
                    <a:pt x="4697929" y="296783"/>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dirty="0">
                <a:latin typeface="+mn-lt"/>
                <a:ea typeface="+mn-ea"/>
              </a:endParaRPr>
            </a:p>
          </p:txBody>
        </p:sp>
        <p:sp>
          <p:nvSpPr>
            <p:cNvPr id="25637" name="任意多边形 78"/>
            <p:cNvSpPr>
              <a:spLocks/>
            </p:cNvSpPr>
            <p:nvPr/>
          </p:nvSpPr>
          <p:spPr bwMode="auto">
            <a:xfrm>
              <a:off x="4002089" y="3057365"/>
              <a:ext cx="4181475" cy="407987"/>
            </a:xfrm>
            <a:custGeom>
              <a:avLst/>
              <a:gdLst>
                <a:gd name="T0" fmla="*/ 0 w 4757337"/>
                <a:gd name="T1" fmla="*/ 340016 h 489478"/>
                <a:gd name="T2" fmla="*/ 968423 w 4757337"/>
                <a:gd name="T3" fmla="*/ 155129 h 489478"/>
                <a:gd name="T4" fmla="*/ 1566986 w 4757337"/>
                <a:gd name="T5" fmla="*/ 49579 h 489478"/>
                <a:gd name="T6" fmla="*/ 1957003 w 4757337"/>
                <a:gd name="T7" fmla="*/ 1868 h 489478"/>
                <a:gd name="T8" fmla="*/ 2531307 w 4757337"/>
                <a:gd name="T9" fmla="*/ 10590 h 489478"/>
                <a:gd name="T10" fmla="*/ 3007216 w 4757337"/>
                <a:gd name="T11" fmla="*/ 12807 h 489478"/>
                <a:gd name="T12" fmla="*/ 3676395 w 4757337"/>
                <a:gd name="T13" fmla="*/ 38577 h 489478"/>
                <a:gd name="T14" fmla="*/ 0 60000 65536"/>
                <a:gd name="T15" fmla="*/ 0 60000 65536"/>
                <a:gd name="T16" fmla="*/ 0 60000 65536"/>
                <a:gd name="T17" fmla="*/ 0 60000 65536"/>
                <a:gd name="T18" fmla="*/ 0 60000 65536"/>
                <a:gd name="T19" fmla="*/ 0 60000 65536"/>
                <a:gd name="T20" fmla="*/ 0 60000 65536"/>
                <a:gd name="T21" fmla="*/ 0 w 4757337"/>
                <a:gd name="T22" fmla="*/ 0 h 489478"/>
                <a:gd name="T23" fmla="*/ 4757337 w 4757337"/>
                <a:gd name="T24" fmla="*/ 489478 h 4894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57337" h="489478">
                  <a:moveTo>
                    <a:pt x="0" y="489478"/>
                  </a:moveTo>
                  <a:cubicBezTo>
                    <a:pt x="611849" y="328073"/>
                    <a:pt x="915209" y="293004"/>
                    <a:pt x="1253161" y="223320"/>
                  </a:cubicBezTo>
                  <a:cubicBezTo>
                    <a:pt x="1591113" y="153636"/>
                    <a:pt x="1685083" y="122022"/>
                    <a:pt x="2027714" y="71373"/>
                  </a:cubicBezTo>
                  <a:cubicBezTo>
                    <a:pt x="2267589" y="43979"/>
                    <a:pt x="2324431" y="12044"/>
                    <a:pt x="2532407" y="2689"/>
                  </a:cubicBezTo>
                  <a:cubicBezTo>
                    <a:pt x="2740383" y="-6666"/>
                    <a:pt x="3027848" y="11060"/>
                    <a:pt x="3275569" y="15245"/>
                  </a:cubicBezTo>
                  <a:lnTo>
                    <a:pt x="3891404" y="18437"/>
                  </a:lnTo>
                  <a:cubicBezTo>
                    <a:pt x="4386336" y="26107"/>
                    <a:pt x="4330916" y="38088"/>
                    <a:pt x="4757337" y="55534"/>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dirty="0">
                <a:latin typeface="+mn-lt"/>
                <a:ea typeface="+mn-ea"/>
              </a:endParaRPr>
            </a:p>
          </p:txBody>
        </p:sp>
      </p:grpSp>
      <p:grpSp>
        <p:nvGrpSpPr>
          <p:cNvPr id="6" name="组合 5"/>
          <p:cNvGrpSpPr/>
          <p:nvPr/>
        </p:nvGrpSpPr>
        <p:grpSpPr>
          <a:xfrm>
            <a:off x="2495328" y="4222590"/>
            <a:ext cx="7632923" cy="2087613"/>
            <a:chOff x="2495328" y="4222590"/>
            <a:chExt cx="7632923" cy="2087613"/>
          </a:xfrm>
        </p:grpSpPr>
        <p:sp>
          <p:nvSpPr>
            <p:cNvPr id="25634" name="AutoShape 21"/>
            <p:cNvSpPr>
              <a:spLocks noChangeArrowheads="1"/>
            </p:cNvSpPr>
            <p:nvPr/>
          </p:nvSpPr>
          <p:spPr bwMode="auto">
            <a:xfrm>
              <a:off x="6708775" y="4222590"/>
              <a:ext cx="2427288" cy="485775"/>
            </a:xfrm>
            <a:prstGeom prst="wedgeRectCallout">
              <a:avLst>
                <a:gd name="adj1" fmla="val -40199"/>
                <a:gd name="adj2" fmla="val 101486"/>
              </a:avLst>
            </a:prstGeom>
            <a:noFill/>
            <a:ln w="3175" algn="ctr">
              <a:solidFill>
                <a:srgbClr val="999999"/>
              </a:solidFill>
              <a:miter lim="800000"/>
              <a:headEnd/>
              <a:tailEnd/>
            </a:ln>
          </p:spPr>
          <p:txBody>
            <a:bodyPr lIns="0" tIns="0" rIns="0" bIns="0" anchor="ctr" anchorCtr="1"/>
            <a:lstStyle/>
            <a:p>
              <a:pPr eaLnBrk="0" fontAlgn="t" hangingPunct="0">
                <a:spcBef>
                  <a:spcPct val="20000"/>
                </a:spcBef>
                <a:buSzPct val="100000"/>
              </a:pPr>
              <a:r>
                <a:rPr lang="en-US" altLang="zh-CN" sz="1100" dirty="0">
                  <a:solidFill>
                    <a:srgbClr val="000000"/>
                  </a:solidFill>
                  <a:latin typeface="+mn-lt"/>
                  <a:ea typeface="+mn-ea"/>
                  <a:sym typeface="FrutigerNext LT Regular" pitchFamily="34" charset="0"/>
                </a:rPr>
                <a:t>In network optimization stage, network traffic paths may need to be adjusted.</a:t>
              </a:r>
            </a:p>
          </p:txBody>
        </p:sp>
        <p:sp>
          <p:nvSpPr>
            <p:cNvPr id="88" name="圆角矩形 87"/>
            <p:cNvSpPr/>
            <p:nvPr/>
          </p:nvSpPr>
          <p:spPr bwMode="auto">
            <a:xfrm>
              <a:off x="8197851" y="4973477"/>
              <a:ext cx="1930400"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sp>
          <p:nvSpPr>
            <p:cNvPr id="87" name="圆角矩形 86"/>
            <p:cNvSpPr/>
            <p:nvPr/>
          </p:nvSpPr>
          <p:spPr bwMode="auto">
            <a:xfrm>
              <a:off x="2697165" y="5333840"/>
              <a:ext cx="1839911" cy="75088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sp>
          <p:nvSpPr>
            <p:cNvPr id="86" name="圆角矩形 85"/>
            <p:cNvSpPr/>
            <p:nvPr/>
          </p:nvSpPr>
          <p:spPr bwMode="auto">
            <a:xfrm>
              <a:off x="2697020" y="4500402"/>
              <a:ext cx="1813070"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cxnSp>
          <p:nvCxnSpPr>
            <p:cNvPr id="25651" name="直接连接符 9"/>
            <p:cNvCxnSpPr>
              <a:cxnSpLocks noChangeShapeType="1"/>
            </p:cNvCxnSpPr>
            <p:nvPr/>
          </p:nvCxnSpPr>
          <p:spPr bwMode="auto">
            <a:xfrm flipH="1" flipV="1">
              <a:off x="3834025" y="4886143"/>
              <a:ext cx="1279378" cy="453994"/>
            </a:xfrm>
            <a:prstGeom prst="line">
              <a:avLst/>
            </a:prstGeom>
            <a:noFill/>
            <a:ln w="28575" algn="ctr">
              <a:solidFill>
                <a:schemeClr val="tx1"/>
              </a:solidFill>
              <a:round/>
              <a:headEnd/>
              <a:tailEnd/>
            </a:ln>
          </p:spPr>
        </p:cxnSp>
        <p:cxnSp>
          <p:nvCxnSpPr>
            <p:cNvPr id="11" name="直接连接符 10"/>
            <p:cNvCxnSpPr/>
            <p:nvPr/>
          </p:nvCxnSpPr>
          <p:spPr bwMode="auto">
            <a:xfrm flipV="1">
              <a:off x="5164139" y="4554377"/>
              <a:ext cx="1028700" cy="78740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653" name="直接连接符 11"/>
            <p:cNvCxnSpPr>
              <a:cxnSpLocks noChangeShapeType="1"/>
            </p:cNvCxnSpPr>
            <p:nvPr/>
          </p:nvCxnSpPr>
          <p:spPr bwMode="auto">
            <a:xfrm>
              <a:off x="5049380" y="5413993"/>
              <a:ext cx="1157605" cy="602391"/>
            </a:xfrm>
            <a:prstGeom prst="line">
              <a:avLst/>
            </a:prstGeom>
            <a:noFill/>
            <a:ln w="28575" algn="ctr">
              <a:solidFill>
                <a:schemeClr val="tx1"/>
              </a:solidFill>
              <a:round/>
              <a:headEnd/>
              <a:tailEnd/>
            </a:ln>
          </p:spPr>
        </p:cxnSp>
        <p:cxnSp>
          <p:nvCxnSpPr>
            <p:cNvPr id="25654" name="直接连接符 12"/>
            <p:cNvCxnSpPr>
              <a:cxnSpLocks noChangeShapeType="1"/>
            </p:cNvCxnSpPr>
            <p:nvPr/>
          </p:nvCxnSpPr>
          <p:spPr bwMode="auto">
            <a:xfrm flipH="1">
              <a:off x="3942040" y="5325292"/>
              <a:ext cx="1327326" cy="408468"/>
            </a:xfrm>
            <a:prstGeom prst="line">
              <a:avLst/>
            </a:prstGeom>
            <a:noFill/>
            <a:ln w="28575" algn="ctr">
              <a:solidFill>
                <a:schemeClr val="tx1"/>
              </a:solidFill>
              <a:round/>
              <a:headEnd/>
              <a:tailEnd/>
            </a:ln>
          </p:spPr>
        </p:cxnSp>
        <p:cxnSp>
          <p:nvCxnSpPr>
            <p:cNvPr id="25655" name="直接连接符 13"/>
            <p:cNvCxnSpPr>
              <a:cxnSpLocks noChangeShapeType="1"/>
            </p:cNvCxnSpPr>
            <p:nvPr/>
          </p:nvCxnSpPr>
          <p:spPr bwMode="auto">
            <a:xfrm>
              <a:off x="6098168" y="4568592"/>
              <a:ext cx="1130954" cy="782536"/>
            </a:xfrm>
            <a:prstGeom prst="line">
              <a:avLst/>
            </a:prstGeom>
            <a:noFill/>
            <a:ln w="28575" algn="ctr">
              <a:solidFill>
                <a:schemeClr val="tx1"/>
              </a:solidFill>
              <a:round/>
              <a:headEnd/>
              <a:tailEnd/>
            </a:ln>
          </p:spPr>
        </p:cxnSp>
        <p:cxnSp>
          <p:nvCxnSpPr>
            <p:cNvPr id="25656" name="直接连接符 14"/>
            <p:cNvCxnSpPr>
              <a:cxnSpLocks noChangeShapeType="1"/>
            </p:cNvCxnSpPr>
            <p:nvPr/>
          </p:nvCxnSpPr>
          <p:spPr bwMode="auto">
            <a:xfrm flipV="1">
              <a:off x="7411104" y="5373819"/>
              <a:ext cx="995566" cy="0"/>
            </a:xfrm>
            <a:prstGeom prst="line">
              <a:avLst/>
            </a:prstGeom>
            <a:noFill/>
            <a:ln w="28575" algn="ctr">
              <a:solidFill>
                <a:schemeClr val="tx1"/>
              </a:solidFill>
              <a:round/>
              <a:headEnd/>
              <a:tailEnd/>
            </a:ln>
          </p:spPr>
        </p:cxnSp>
        <p:sp>
          <p:nvSpPr>
            <p:cNvPr id="25657" name="矩形 15"/>
            <p:cNvSpPr>
              <a:spLocks noChangeArrowheads="1"/>
            </p:cNvSpPr>
            <p:nvPr/>
          </p:nvSpPr>
          <p:spPr bwMode="auto">
            <a:xfrm>
              <a:off x="2567609" y="5518803"/>
              <a:ext cx="1263104" cy="430887"/>
            </a:xfrm>
            <a:prstGeom prst="rect">
              <a:avLst/>
            </a:prstGeom>
            <a:noFill/>
            <a:ln w="9525">
              <a:noFill/>
              <a:miter lim="800000"/>
              <a:headEnd/>
              <a:tailEnd/>
            </a:ln>
          </p:spPr>
          <p:txBody>
            <a:bodyPr wrap="square">
              <a:spAutoFit/>
            </a:bodyPr>
            <a:lstStyle/>
            <a:p>
              <a:pPr algn="ctr" eaLnBrk="0" fontAlgn="t" hangingPunct="0">
                <a:buSzPct val="100000"/>
              </a:pPr>
              <a:r>
                <a:rPr lang="en-US" altLang="zh-CN" sz="1100" b="1" dirty="0">
                  <a:solidFill>
                    <a:srgbClr val="000000"/>
                  </a:solidFill>
                  <a:latin typeface="+mn-lt"/>
                  <a:ea typeface="+mn-ea"/>
                  <a:sym typeface="FrutigerNext LT Regular" pitchFamily="34" charset="0"/>
                </a:rPr>
                <a:t>Financial department</a:t>
              </a:r>
            </a:p>
          </p:txBody>
        </p:sp>
        <p:sp>
          <p:nvSpPr>
            <p:cNvPr id="25658" name="矩形 16"/>
            <p:cNvSpPr>
              <a:spLocks noChangeArrowheads="1"/>
            </p:cNvSpPr>
            <p:nvPr/>
          </p:nvSpPr>
          <p:spPr bwMode="auto">
            <a:xfrm>
              <a:off x="8952491" y="5239310"/>
              <a:ext cx="1175759" cy="261610"/>
            </a:xfrm>
            <a:prstGeom prst="rect">
              <a:avLst/>
            </a:prstGeom>
            <a:noFill/>
            <a:ln w="9525">
              <a:noFill/>
              <a:miter lim="800000"/>
              <a:headEnd/>
              <a:tailEnd/>
            </a:ln>
          </p:spPr>
          <p:txBody>
            <a:bodyPr wrap="square">
              <a:spAutoFit/>
            </a:bodyPr>
            <a:lstStyle/>
            <a:p>
              <a:pPr eaLnBrk="0" fontAlgn="t" hangingPunct="0">
                <a:buSzPct val="100000"/>
              </a:pPr>
              <a:r>
                <a:rPr lang="en-US" altLang="zh-CN" sz="1100" b="1" dirty="0">
                  <a:solidFill>
                    <a:srgbClr val="000000"/>
                  </a:solidFill>
                  <a:latin typeface="+mn-lt"/>
                  <a:ea typeface="+mn-ea"/>
                  <a:sym typeface="FrutigerNext LT Regular" pitchFamily="34" charset="0"/>
                </a:rPr>
                <a:t>Headquarters</a:t>
              </a:r>
            </a:p>
          </p:txBody>
        </p:sp>
        <p:sp>
          <p:nvSpPr>
            <p:cNvPr id="25659" name="文本框 17"/>
            <p:cNvSpPr txBox="1">
              <a:spLocks noChangeArrowheads="1"/>
            </p:cNvSpPr>
            <p:nvPr/>
          </p:nvSpPr>
          <p:spPr bwMode="auto">
            <a:xfrm>
              <a:off x="5738814" y="5157627"/>
              <a:ext cx="758825" cy="34766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600" b="1" dirty="0">
                  <a:solidFill>
                    <a:srgbClr val="C00000"/>
                  </a:solidFill>
                  <a:latin typeface="+mn-lt"/>
                  <a:ea typeface="+mn-ea"/>
                  <a:cs typeface="Arial" charset="0"/>
                  <a:sym typeface="FrutigerNext LT Regular" pitchFamily="34" charset="0"/>
                </a:rPr>
                <a:t>OSPF</a:t>
              </a:r>
            </a:p>
          </p:txBody>
        </p:sp>
        <p:sp>
          <p:nvSpPr>
            <p:cNvPr id="25660" name="文本框 18"/>
            <p:cNvSpPr txBox="1">
              <a:spLocks noChangeArrowheads="1"/>
            </p:cNvSpPr>
            <p:nvPr/>
          </p:nvSpPr>
          <p:spPr bwMode="auto">
            <a:xfrm>
              <a:off x="2495328" y="4646091"/>
              <a:ext cx="1368425" cy="43950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b="1" dirty="0">
                  <a:solidFill>
                    <a:srgbClr val="000000"/>
                  </a:solidFill>
                  <a:latin typeface="+mn-lt"/>
                  <a:ea typeface="+mn-ea"/>
                  <a:cs typeface="Arial" charset="0"/>
                  <a:sym typeface="FrutigerNext LT Regular" pitchFamily="34" charset="0"/>
                </a:rPr>
                <a:t>Marketing department</a:t>
              </a:r>
            </a:p>
          </p:txBody>
        </p:sp>
        <p:cxnSp>
          <p:nvCxnSpPr>
            <p:cNvPr id="25666" name="直接连接符 24"/>
            <p:cNvCxnSpPr>
              <a:cxnSpLocks noChangeShapeType="1"/>
            </p:cNvCxnSpPr>
            <p:nvPr/>
          </p:nvCxnSpPr>
          <p:spPr bwMode="auto">
            <a:xfrm flipV="1">
              <a:off x="6183172" y="5426293"/>
              <a:ext cx="1025840" cy="559733"/>
            </a:xfrm>
            <a:prstGeom prst="line">
              <a:avLst/>
            </a:prstGeom>
            <a:noFill/>
            <a:ln w="28575" algn="ctr">
              <a:solidFill>
                <a:schemeClr val="tx1"/>
              </a:solidFill>
              <a:round/>
              <a:headEnd/>
              <a:tailEnd/>
            </a:ln>
          </p:spPr>
        </p:cxnSp>
        <p:sp>
          <p:nvSpPr>
            <p:cNvPr id="25669" name="AutoShape 21"/>
            <p:cNvSpPr>
              <a:spLocks noChangeArrowheads="1"/>
            </p:cNvSpPr>
            <p:nvPr/>
          </p:nvSpPr>
          <p:spPr bwMode="auto">
            <a:xfrm>
              <a:off x="6891338" y="5811677"/>
              <a:ext cx="765175" cy="247650"/>
            </a:xfrm>
            <a:prstGeom prst="wedgeRectCallout">
              <a:avLst>
                <a:gd name="adj1" fmla="val -55861"/>
                <a:gd name="adj2" fmla="val -112389"/>
              </a:avLst>
            </a:prstGeom>
            <a:noFill/>
            <a:ln w="3175" algn="ctr">
              <a:solidFill>
                <a:srgbClr val="999999"/>
              </a:solidFill>
              <a:miter lim="800000"/>
              <a:headEnd/>
              <a:tailEnd/>
            </a:ln>
          </p:spPr>
          <p:txBody>
            <a:bodyPr lIns="0" tIns="0" rIns="0" bIns="0" anchor="ctr" anchorCtr="1"/>
            <a:lstStyle/>
            <a:p>
              <a:pPr eaLnBrk="0" fontAlgn="t" hangingPunct="0">
                <a:spcBef>
                  <a:spcPct val="20000"/>
                </a:spcBef>
                <a:buSzPct val="100000"/>
              </a:pPr>
              <a:r>
                <a:rPr lang="en-US" altLang="zh-CN" sz="1100" dirty="0">
                  <a:solidFill>
                    <a:srgbClr val="000000"/>
                  </a:solidFill>
                  <a:latin typeface="+mn-lt"/>
                  <a:ea typeface="+mn-ea"/>
                  <a:sym typeface="FrutigerNext LT Regular" pitchFamily="34" charset="0"/>
                </a:rPr>
                <a:t>Idle link</a:t>
              </a:r>
            </a:p>
          </p:txBody>
        </p:sp>
        <p:sp>
          <p:nvSpPr>
            <p:cNvPr id="25670" name="文本框 32"/>
            <p:cNvSpPr txBox="1">
              <a:spLocks noChangeArrowheads="1"/>
            </p:cNvSpPr>
            <p:nvPr/>
          </p:nvSpPr>
          <p:spPr bwMode="auto">
            <a:xfrm>
              <a:off x="5418139" y="4975065"/>
              <a:ext cx="612774" cy="2397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25671" name="文本框 33"/>
            <p:cNvSpPr txBox="1">
              <a:spLocks noChangeArrowheads="1"/>
            </p:cNvSpPr>
            <p:nvPr/>
          </p:nvSpPr>
          <p:spPr bwMode="auto">
            <a:xfrm>
              <a:off x="6281739" y="4978240"/>
              <a:ext cx="612774" cy="2397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25672" name="文本框 34"/>
            <p:cNvSpPr txBox="1">
              <a:spLocks noChangeArrowheads="1"/>
            </p:cNvSpPr>
            <p:nvPr/>
          </p:nvSpPr>
          <p:spPr bwMode="auto">
            <a:xfrm>
              <a:off x="6369051" y="5514815"/>
              <a:ext cx="488950" cy="2397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25673" name="文本框 35"/>
            <p:cNvSpPr txBox="1">
              <a:spLocks noChangeArrowheads="1"/>
            </p:cNvSpPr>
            <p:nvPr/>
          </p:nvSpPr>
          <p:spPr bwMode="auto">
            <a:xfrm>
              <a:off x="5381626" y="5514815"/>
              <a:ext cx="612774" cy="2397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5M</a:t>
              </a:r>
            </a:p>
          </p:txBody>
        </p:sp>
        <p:pic>
          <p:nvPicPr>
            <p:cNvPr id="79" name="图片 7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601768" y="5629402"/>
              <a:ext cx="540000" cy="442800"/>
            </a:xfrm>
            <a:prstGeom prst="rect">
              <a:avLst/>
            </a:prstGeom>
          </p:spPr>
        </p:pic>
        <p:pic>
          <p:nvPicPr>
            <p:cNvPr id="80" name="图片 7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27510" y="5191953"/>
              <a:ext cx="540000" cy="442800"/>
            </a:xfrm>
            <a:prstGeom prst="rect">
              <a:avLst/>
            </a:prstGeom>
          </p:spPr>
        </p:pic>
        <p:pic>
          <p:nvPicPr>
            <p:cNvPr id="8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807043" y="4454600"/>
              <a:ext cx="628652" cy="514351"/>
            </a:xfrm>
            <a:prstGeom prst="rect">
              <a:avLst/>
            </a:prstGeom>
            <a:noFill/>
          </p:spPr>
        </p:pic>
        <p:pic>
          <p:nvPicPr>
            <p:cNvPr id="8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793041" y="5178616"/>
              <a:ext cx="628652" cy="514351"/>
            </a:xfrm>
            <a:prstGeom prst="rect">
              <a:avLst/>
            </a:prstGeom>
            <a:noFill/>
          </p:spPr>
        </p:pic>
        <p:pic>
          <p:nvPicPr>
            <p:cNvPr id="8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801983" y="5795852"/>
              <a:ext cx="628652" cy="514351"/>
            </a:xfrm>
            <a:prstGeom prst="rect">
              <a:avLst/>
            </a:prstGeom>
            <a:noFill/>
          </p:spPr>
        </p:pic>
        <p:pic>
          <p:nvPicPr>
            <p:cNvPr id="8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025923" y="5210131"/>
              <a:ext cx="628652" cy="514351"/>
            </a:xfrm>
            <a:prstGeom prst="rect">
              <a:avLst/>
            </a:prstGeom>
            <a:noFill/>
          </p:spPr>
        </p:pic>
        <p:pic>
          <p:nvPicPr>
            <p:cNvPr id="97" name="图片 96" descr="市场部.png"/>
            <p:cNvPicPr>
              <a:picLocks noChangeAspect="1"/>
            </p:cNvPicPr>
            <p:nvPr/>
          </p:nvPicPr>
          <p:blipFill>
            <a:blip r:embed="rId5" cstate="print"/>
            <a:stretch>
              <a:fillRect/>
            </a:stretch>
          </p:blipFill>
          <p:spPr>
            <a:xfrm>
              <a:off x="3627552" y="4771418"/>
              <a:ext cx="540000" cy="441818"/>
            </a:xfrm>
            <a:prstGeom prst="rect">
              <a:avLst/>
            </a:prstGeom>
          </p:spPr>
        </p:pic>
        <p:sp>
          <p:nvSpPr>
            <p:cNvPr id="25674" name="任意多边形 91"/>
            <p:cNvSpPr>
              <a:spLocks/>
            </p:cNvSpPr>
            <p:nvPr/>
          </p:nvSpPr>
          <p:spPr bwMode="auto">
            <a:xfrm>
              <a:off x="5058197" y="4563130"/>
              <a:ext cx="3373950" cy="757600"/>
            </a:xfrm>
            <a:custGeom>
              <a:avLst/>
              <a:gdLst>
                <a:gd name="T0" fmla="*/ 0 w 4757928"/>
                <a:gd name="T1" fmla="*/ 757808 h 757808"/>
                <a:gd name="T2" fmla="*/ 214370 w 4757928"/>
                <a:gd name="T3" fmla="*/ 502853 h 757808"/>
                <a:gd name="T4" fmla="*/ 665280 w 4757928"/>
                <a:gd name="T5" fmla="*/ 40942 h 757808"/>
                <a:gd name="T6" fmla="*/ 850137 w 4757928"/>
                <a:gd name="T7" fmla="*/ 13027 h 757808"/>
                <a:gd name="T8" fmla="*/ 1515163 w 4757928"/>
                <a:gd name="T9" fmla="*/ 651571 h 757808"/>
                <a:gd name="T10" fmla="*/ 2392396 w 4757928"/>
                <a:gd name="T11" fmla="*/ 698134 h 757808"/>
                <a:gd name="T12" fmla="*/ 0 60000 65536"/>
                <a:gd name="T13" fmla="*/ 0 60000 65536"/>
                <a:gd name="T14" fmla="*/ 0 60000 65536"/>
                <a:gd name="T15" fmla="*/ 0 60000 65536"/>
                <a:gd name="T16" fmla="*/ 0 60000 65536"/>
                <a:gd name="T17" fmla="*/ 0 60000 65536"/>
                <a:gd name="T18" fmla="*/ 0 w 4757928"/>
                <a:gd name="T19" fmla="*/ 0 h 757808"/>
                <a:gd name="T20" fmla="*/ 4757928 w 4757928"/>
                <a:gd name="T21" fmla="*/ 757808 h 757808"/>
              </a:gdLst>
              <a:ahLst/>
              <a:cxnLst>
                <a:cxn ang="T12">
                  <a:pos x="T0" y="T1"/>
                </a:cxn>
                <a:cxn ang="T13">
                  <a:pos x="T2" y="T3"/>
                </a:cxn>
                <a:cxn ang="T14">
                  <a:pos x="T4" y="T5"/>
                </a:cxn>
                <a:cxn ang="T15">
                  <a:pos x="T6" y="T7"/>
                </a:cxn>
                <a:cxn ang="T16">
                  <a:pos x="T8" y="T9"/>
                </a:cxn>
                <a:cxn ang="T17">
                  <a:pos x="T10" y="T11"/>
                </a:cxn>
              </a:cxnLst>
              <a:rect l="T18" t="T19" r="T20" b="T21"/>
              <a:pathLst>
                <a:path w="4757928" h="757808">
                  <a:moveTo>
                    <a:pt x="0" y="757808"/>
                  </a:moveTo>
                  <a:cubicBezTo>
                    <a:pt x="458855" y="472416"/>
                    <a:pt x="205817" y="622331"/>
                    <a:pt x="426332" y="502853"/>
                  </a:cubicBezTo>
                  <a:cubicBezTo>
                    <a:pt x="646847" y="383375"/>
                    <a:pt x="1112357" y="122580"/>
                    <a:pt x="1323089" y="40942"/>
                  </a:cubicBezTo>
                  <a:cubicBezTo>
                    <a:pt x="1533821" y="-40696"/>
                    <a:pt x="1488699" y="27493"/>
                    <a:pt x="1690727" y="13027"/>
                  </a:cubicBezTo>
                  <a:cubicBezTo>
                    <a:pt x="1892755" y="91551"/>
                    <a:pt x="2708555" y="477977"/>
                    <a:pt x="3013312" y="651571"/>
                  </a:cubicBezTo>
                  <a:cubicBezTo>
                    <a:pt x="3314296" y="787533"/>
                    <a:pt x="4124954" y="721167"/>
                    <a:pt x="4757928" y="698134"/>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dirty="0">
                <a:latin typeface="+mn-lt"/>
                <a:ea typeface="+mn-ea"/>
              </a:endParaRPr>
            </a:p>
          </p:txBody>
        </p:sp>
      </p:grpSp>
    </p:spTree>
    <p:extLst>
      <p:ext uri="{BB962C8B-B14F-4D97-AF65-F5344CB8AC3E}">
        <p14:creationId xmlns:p14="http://schemas.microsoft.com/office/powerpoint/2010/main" val="27515977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文本占位符 3"/>
          <p:cNvSpPr>
            <a:spLocks noGrp="1"/>
          </p:cNvSpPr>
          <p:nvPr>
            <p:ph type="body" sz="quarter" idx="10"/>
          </p:nvPr>
        </p:nvSpPr>
        <p:spPr/>
        <p:txBody>
          <a:bodyPr/>
          <a:lstStyle/>
          <a:p>
            <a:r>
              <a:rPr lang="en-US" altLang="zh-CN" dirty="0" smtClean="0">
                <a:solidFill>
                  <a:schemeClr val="bg1">
                    <a:lumMod val="50000"/>
                  </a:schemeClr>
                </a:solidFill>
                <a:sym typeface="FrutigerNext LT Regular" pitchFamily="34" charset="0"/>
              </a:rPr>
              <a:t>Traffic Behavior Control Requirement</a:t>
            </a:r>
          </a:p>
          <a:p>
            <a:r>
              <a:rPr lang="en-US" altLang="zh-CN" b="1" dirty="0" smtClean="0">
                <a:sym typeface="FrutigerNext LT Regular" pitchFamily="34" charset="0"/>
              </a:rPr>
              <a:t>Control Reachability</a:t>
            </a:r>
          </a:p>
          <a:p>
            <a:pPr lvl="1">
              <a:buSzPct val="60000"/>
              <a:buFont typeface="Wingdings" panose="05000000000000000000" pitchFamily="2" charset="2"/>
              <a:buChar char="n"/>
            </a:pPr>
            <a:r>
              <a:rPr lang="en-US" altLang="zh-CN" dirty="0" smtClean="0">
                <a:sym typeface="FrutigerNext LT Regular" pitchFamily="34" charset="0"/>
              </a:rPr>
              <a:t>Routing Policy</a:t>
            </a:r>
          </a:p>
          <a:p>
            <a:pPr lvl="1"/>
            <a:r>
              <a:rPr lang="en-US" altLang="zh-CN" dirty="0" smtClean="0">
                <a:solidFill>
                  <a:schemeClr val="bg1">
                    <a:lumMod val="50000"/>
                  </a:schemeClr>
                </a:solidFill>
                <a:sym typeface="FrutigerNext LT Regular" pitchFamily="34" charset="0"/>
              </a:rPr>
              <a:t>Traffic Filter</a:t>
            </a:r>
            <a:endParaRPr lang="en-US" altLang="zh-CN" dirty="0" smtClean="0">
              <a:solidFill>
                <a:schemeClr val="bg1">
                  <a:lumMod val="50000"/>
                </a:schemeClr>
              </a:solidFill>
              <a:sym typeface="FrutigerNext LT Regular" pitchFamily="34" charset="0"/>
            </a:endParaRPr>
          </a:p>
          <a:p>
            <a:r>
              <a:rPr lang="en-US" altLang="zh-CN" dirty="0" smtClean="0">
                <a:solidFill>
                  <a:schemeClr val="bg1">
                    <a:lumMod val="50000"/>
                  </a:schemeClr>
                </a:solidFill>
                <a:sym typeface="FrutigerNext LT Regular" pitchFamily="34" charset="0"/>
              </a:rPr>
              <a:t>Adjust Network Traffic Path</a:t>
            </a:r>
          </a:p>
          <a:p>
            <a:r>
              <a:rPr lang="en-US" altLang="zh-CN" dirty="0" smtClean="0">
                <a:solidFill>
                  <a:schemeClr val="bg1">
                    <a:lumMod val="50000"/>
                  </a:schemeClr>
                </a:solidFill>
                <a:sym typeface="FrutigerNext LT Regular" pitchFamily="34" charset="0"/>
              </a:rPr>
              <a:t>Problems Caused by Route Importing and Solutions</a:t>
            </a:r>
          </a:p>
        </p:txBody>
      </p:sp>
    </p:spTree>
    <p:extLst>
      <p:ext uri="{BB962C8B-B14F-4D97-AF65-F5344CB8AC3E}">
        <p14:creationId xmlns:p14="http://schemas.microsoft.com/office/powerpoint/2010/main" val="22786348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FrutigerNext LT Regular" pitchFamily="34" charset="0"/>
              </a:rPr>
              <a:t>Question: How to control network traffic reachability.</a:t>
            </a:r>
            <a:endParaRPr lang="en-US" altLang="zh-CN" dirty="0">
              <a:sym typeface="FrutigerNext LT Regular" pitchFamily="34" charset="0"/>
            </a:endParaRPr>
          </a:p>
        </p:txBody>
      </p:sp>
      <p:sp>
        <p:nvSpPr>
          <p:cNvPr id="5" name="文本占位符 4"/>
          <p:cNvSpPr>
            <a:spLocks noGrp="1"/>
          </p:cNvSpPr>
          <p:nvPr>
            <p:ph type="body" sz="quarter" idx="12"/>
          </p:nvPr>
        </p:nvSpPr>
        <p:spPr/>
        <p:txBody>
          <a:bodyPr/>
          <a:lstStyle/>
          <a:p>
            <a:r>
              <a:rPr lang="en-US" altLang="zh-CN" dirty="0"/>
              <a:t>Control Traffic Reachability</a:t>
            </a:r>
            <a:endParaRPr lang="zh-CN" altLang="en-US" dirty="0"/>
          </a:p>
        </p:txBody>
      </p:sp>
      <p:sp>
        <p:nvSpPr>
          <p:cNvPr id="84" name="文本占位符 2"/>
          <p:cNvSpPr txBox="1">
            <a:spLocks/>
          </p:cNvSpPr>
          <p:nvPr/>
        </p:nvSpPr>
        <p:spPr bwMode="auto">
          <a:xfrm>
            <a:off x="2216348" y="4645756"/>
            <a:ext cx="7875588" cy="979488"/>
          </a:xfrm>
          <a:prstGeom prst="rect">
            <a:avLst/>
          </a:prstGeom>
          <a:noFill/>
          <a:ln w="9525">
            <a:noFill/>
            <a:miter lim="800000"/>
            <a:headEnd/>
            <a:tailEnd/>
          </a:ln>
        </p:spPr>
        <p:txBody>
          <a:bodyPr/>
          <a:lstStyle/>
          <a:p>
            <a:pPr marL="301625" indent="-301625" defTabSz="801688" eaLnBrk="0" hangingPunct="0">
              <a:spcBef>
                <a:spcPct val="30000"/>
              </a:spcBef>
              <a:buClr>
                <a:srgbClr val="808080"/>
              </a:buClr>
              <a:buSzPct val="60000"/>
              <a:buFont typeface="Wingdings" pitchFamily="2" charset="2"/>
              <a:buChar char="l"/>
            </a:pPr>
            <a:r>
              <a:rPr lang="en-US" altLang="zh-CN" sz="1600" dirty="0">
                <a:solidFill>
                  <a:srgbClr val="000000"/>
                </a:solidFill>
                <a:latin typeface="+mn-lt"/>
                <a:ea typeface="+mn-ea"/>
                <a:sym typeface="FrutigerNext LT Regular" pitchFamily="34" charset="0"/>
              </a:rPr>
              <a:t>Solution 1: Change the number of routing entries (filter the received and advertised routes) to control reachability. This is called </a:t>
            </a:r>
            <a:r>
              <a:rPr lang="en-US" altLang="zh-CN" sz="1600" b="1" dirty="0">
                <a:solidFill>
                  <a:srgbClr val="C00000"/>
                </a:solidFill>
                <a:latin typeface="+mn-lt"/>
                <a:ea typeface="+mn-ea"/>
                <a:sym typeface="FrutigerNext LT Regular" pitchFamily="34" charset="0"/>
              </a:rPr>
              <a:t>routing policy</a:t>
            </a:r>
            <a:r>
              <a:rPr lang="en-US" altLang="zh-CN" sz="1600" dirty="0">
                <a:solidFill>
                  <a:srgbClr val="000000"/>
                </a:solidFill>
                <a:latin typeface="+mn-lt"/>
                <a:ea typeface="+mn-ea"/>
                <a:sym typeface="FrutigerNext LT Regular" pitchFamily="34" charset="0"/>
              </a:rPr>
              <a:t>.</a:t>
            </a:r>
          </a:p>
        </p:txBody>
      </p:sp>
      <p:sp>
        <p:nvSpPr>
          <p:cNvPr id="85" name="文本占位符 2"/>
          <p:cNvSpPr txBox="1">
            <a:spLocks/>
          </p:cNvSpPr>
          <p:nvPr/>
        </p:nvSpPr>
        <p:spPr bwMode="auto">
          <a:xfrm>
            <a:off x="2216348" y="5259388"/>
            <a:ext cx="7943652" cy="977900"/>
          </a:xfrm>
          <a:prstGeom prst="rect">
            <a:avLst/>
          </a:prstGeom>
          <a:noFill/>
          <a:ln w="9525">
            <a:noFill/>
            <a:miter lim="800000"/>
            <a:headEnd/>
            <a:tailEnd/>
          </a:ln>
        </p:spPr>
        <p:txBody>
          <a:bodyPr/>
          <a:lstStyle/>
          <a:p>
            <a:pPr marL="301625" indent="-301625" defTabSz="801688" eaLnBrk="0" hangingPunct="0">
              <a:spcBef>
                <a:spcPct val="30000"/>
              </a:spcBef>
              <a:buClr>
                <a:srgbClr val="808080"/>
              </a:buClr>
              <a:buSzPct val="60000"/>
              <a:buFont typeface="Wingdings" pitchFamily="2" charset="2"/>
              <a:buChar char="l"/>
            </a:pPr>
            <a:r>
              <a:rPr lang="en-US" altLang="zh-CN" sz="1600" dirty="0">
                <a:solidFill>
                  <a:srgbClr val="000000"/>
                </a:solidFill>
                <a:latin typeface="+mn-lt"/>
                <a:ea typeface="+mn-ea"/>
                <a:sym typeface="FrutigerNext LT Regular" pitchFamily="34" charset="0"/>
              </a:rPr>
              <a:t>Solution 2: </a:t>
            </a:r>
            <a:r>
              <a:rPr lang="en-US" altLang="zh-CN" sz="1600" dirty="0" smtClean="0">
                <a:solidFill>
                  <a:srgbClr val="000000"/>
                </a:solidFill>
                <a:latin typeface="+mn-lt"/>
                <a:ea typeface="+mn-ea"/>
                <a:sym typeface="FrutigerNext LT Regular" pitchFamily="34" charset="0"/>
              </a:rPr>
              <a:t>Deploy traffic filter to deny or permit specified traffic flow. </a:t>
            </a:r>
            <a:r>
              <a:rPr lang="en-US" altLang="zh-CN" sz="1600" dirty="0">
                <a:solidFill>
                  <a:srgbClr val="000000"/>
                </a:solidFill>
                <a:latin typeface="+mn-lt"/>
                <a:ea typeface="+mn-ea"/>
                <a:sym typeface="FrutigerNext LT Regular" pitchFamily="34" charset="0"/>
              </a:rPr>
              <a:t>This method is called </a:t>
            </a:r>
            <a:r>
              <a:rPr lang="en-US" altLang="zh-CN" sz="1600" b="1" dirty="0" smtClean="0">
                <a:solidFill>
                  <a:srgbClr val="C00000"/>
                </a:solidFill>
                <a:latin typeface="+mn-lt"/>
                <a:ea typeface="+mn-ea"/>
                <a:sym typeface="FrutigerNext LT Regular" pitchFamily="34" charset="0"/>
              </a:rPr>
              <a:t>traffic filter</a:t>
            </a:r>
            <a:r>
              <a:rPr lang="en-US" altLang="zh-CN" sz="1600" dirty="0" smtClean="0">
                <a:latin typeface="+mn-lt"/>
                <a:ea typeface="+mn-ea"/>
                <a:sym typeface="FrutigerNext LT Regular" pitchFamily="34" charset="0"/>
              </a:rPr>
              <a:t>.</a:t>
            </a:r>
            <a:endParaRPr lang="en-US" altLang="zh-CN" sz="1600" dirty="0">
              <a:latin typeface="+mn-lt"/>
              <a:ea typeface="+mn-ea"/>
              <a:sym typeface="FrutigerNext LT Regular" pitchFamily="34" charset="0"/>
            </a:endParaRPr>
          </a:p>
        </p:txBody>
      </p:sp>
      <p:grpSp>
        <p:nvGrpSpPr>
          <p:cNvPr id="6" name="组合 5"/>
          <p:cNvGrpSpPr/>
          <p:nvPr/>
        </p:nvGrpSpPr>
        <p:grpSpPr>
          <a:xfrm>
            <a:off x="2256188" y="1989139"/>
            <a:ext cx="7951703" cy="2473324"/>
            <a:chOff x="2256188" y="1989139"/>
            <a:chExt cx="7951703" cy="2473324"/>
          </a:xfrm>
        </p:grpSpPr>
        <p:sp>
          <p:nvSpPr>
            <p:cNvPr id="41" name="圆角矩形 40"/>
            <p:cNvSpPr/>
            <p:nvPr/>
          </p:nvSpPr>
          <p:spPr bwMode="auto">
            <a:xfrm>
              <a:off x="8145018" y="3703638"/>
              <a:ext cx="1847374" cy="75882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fontAlgn="t">
                <a:defRPr/>
              </a:pPr>
              <a:endParaRPr lang="en-US" altLang="zh-CN" sz="900" dirty="0">
                <a:latin typeface="+mn-lt"/>
                <a:ea typeface="+mn-ea"/>
              </a:endParaRPr>
            </a:p>
          </p:txBody>
        </p:sp>
        <p:sp>
          <p:nvSpPr>
            <p:cNvPr id="42" name="圆角矩形 41"/>
            <p:cNvSpPr/>
            <p:nvPr/>
          </p:nvSpPr>
          <p:spPr bwMode="auto">
            <a:xfrm>
              <a:off x="8327579" y="2813051"/>
              <a:ext cx="1615184" cy="760412"/>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fontAlgn="t">
                <a:defRPr/>
              </a:pPr>
              <a:endParaRPr lang="en-US" altLang="zh-CN" sz="900" dirty="0">
                <a:latin typeface="+mn-lt"/>
                <a:ea typeface="+mn-ea"/>
              </a:endParaRPr>
            </a:p>
          </p:txBody>
        </p:sp>
        <p:sp>
          <p:nvSpPr>
            <p:cNvPr id="43" name="圆角矩形 42"/>
            <p:cNvSpPr/>
            <p:nvPr/>
          </p:nvSpPr>
          <p:spPr bwMode="auto">
            <a:xfrm>
              <a:off x="8008492" y="1989139"/>
              <a:ext cx="1934271" cy="76041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fontAlgn="t">
                <a:defRPr/>
              </a:pPr>
              <a:endParaRPr lang="en-US" altLang="zh-CN" sz="900" dirty="0">
                <a:latin typeface="+mn-lt"/>
                <a:ea typeface="+mn-ea"/>
              </a:endParaRPr>
            </a:p>
          </p:txBody>
        </p:sp>
        <p:sp>
          <p:nvSpPr>
            <p:cNvPr id="44" name="圆角矩形 43"/>
            <p:cNvSpPr/>
            <p:nvPr/>
          </p:nvSpPr>
          <p:spPr bwMode="auto">
            <a:xfrm>
              <a:off x="2404043" y="3392489"/>
              <a:ext cx="1608712" cy="76041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fontAlgn="t">
                <a:defRPr/>
              </a:pPr>
              <a:endParaRPr lang="en-US" altLang="zh-CN" sz="900" dirty="0">
                <a:latin typeface="+mn-lt"/>
                <a:ea typeface="+mn-ea"/>
              </a:endParaRPr>
            </a:p>
          </p:txBody>
        </p:sp>
        <p:sp>
          <p:nvSpPr>
            <p:cNvPr id="45" name="圆角矩形 44"/>
            <p:cNvSpPr/>
            <p:nvPr/>
          </p:nvSpPr>
          <p:spPr bwMode="auto">
            <a:xfrm>
              <a:off x="2370534" y="2349501"/>
              <a:ext cx="1612059"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fontAlgn="t">
                <a:defRPr/>
              </a:pPr>
              <a:endParaRPr lang="en-US" altLang="zh-CN" sz="900" dirty="0">
                <a:latin typeface="+mn-lt"/>
                <a:ea typeface="+mn-ea"/>
              </a:endParaRPr>
            </a:p>
          </p:txBody>
        </p:sp>
        <p:sp>
          <p:nvSpPr>
            <p:cNvPr id="27669" name="矩形 45"/>
            <p:cNvSpPr>
              <a:spLocks noChangeArrowheads="1"/>
            </p:cNvSpPr>
            <p:nvPr/>
          </p:nvSpPr>
          <p:spPr bwMode="auto">
            <a:xfrm>
              <a:off x="8979574" y="2134939"/>
              <a:ext cx="963190" cy="440258"/>
            </a:xfrm>
            <a:prstGeom prst="rect">
              <a:avLst/>
            </a:prstGeom>
            <a:noFill/>
            <a:ln w="9525">
              <a:noFill/>
              <a:miter lim="800000"/>
              <a:headEnd/>
              <a:tailEnd/>
            </a:ln>
          </p:spPr>
          <p:txBody>
            <a:bodyPr wrap="square">
              <a:noAutofit/>
            </a:bodyPr>
            <a:lstStyle/>
            <a:p>
              <a:pPr eaLnBrk="0" fontAlgn="t" hangingPunct="0">
                <a:buSzPct val="100000"/>
              </a:pPr>
              <a:r>
                <a:rPr lang="en-US" altLang="zh-CN" b="1" dirty="0">
                  <a:solidFill>
                    <a:srgbClr val="000000"/>
                  </a:solidFill>
                  <a:latin typeface="+mn-lt"/>
                  <a:ea typeface="+mn-ea"/>
                  <a:sym typeface="FrutigerNext LT Regular" pitchFamily="34" charset="0"/>
                </a:rPr>
                <a:t>Financial department</a:t>
              </a:r>
            </a:p>
          </p:txBody>
        </p:sp>
        <p:cxnSp>
          <p:nvCxnSpPr>
            <p:cNvPr id="27670" name="直接连接符 46"/>
            <p:cNvCxnSpPr>
              <a:cxnSpLocks noChangeShapeType="1"/>
            </p:cNvCxnSpPr>
            <p:nvPr/>
          </p:nvCxnSpPr>
          <p:spPr bwMode="auto">
            <a:xfrm flipH="1" flipV="1">
              <a:off x="3516052" y="2738493"/>
              <a:ext cx="1268634" cy="226324"/>
            </a:xfrm>
            <a:prstGeom prst="line">
              <a:avLst/>
            </a:prstGeom>
            <a:noFill/>
            <a:ln w="28575" algn="ctr">
              <a:solidFill>
                <a:schemeClr val="tx1"/>
              </a:solidFill>
              <a:round/>
              <a:headEnd/>
              <a:tailEnd/>
            </a:ln>
          </p:spPr>
        </p:cxnSp>
        <p:cxnSp>
          <p:nvCxnSpPr>
            <p:cNvPr id="48" name="直接连接符 47"/>
            <p:cNvCxnSpPr/>
            <p:nvPr/>
          </p:nvCxnSpPr>
          <p:spPr bwMode="auto">
            <a:xfrm>
              <a:off x="4743004" y="2968626"/>
              <a:ext cx="1238250" cy="26352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672" name="直接连接符 51"/>
            <p:cNvCxnSpPr>
              <a:cxnSpLocks noChangeShapeType="1"/>
            </p:cNvCxnSpPr>
            <p:nvPr/>
          </p:nvCxnSpPr>
          <p:spPr bwMode="auto">
            <a:xfrm flipV="1">
              <a:off x="4674796" y="3342291"/>
              <a:ext cx="1389415" cy="405823"/>
            </a:xfrm>
            <a:prstGeom prst="line">
              <a:avLst/>
            </a:prstGeom>
            <a:noFill/>
            <a:ln w="28575" algn="ctr">
              <a:solidFill>
                <a:schemeClr val="tx1"/>
              </a:solidFill>
              <a:round/>
              <a:headEnd/>
              <a:tailEnd/>
            </a:ln>
          </p:spPr>
        </p:cxnSp>
        <p:cxnSp>
          <p:nvCxnSpPr>
            <p:cNvPr id="27673" name="直接连接符 52"/>
            <p:cNvCxnSpPr>
              <a:cxnSpLocks noChangeShapeType="1"/>
            </p:cNvCxnSpPr>
            <p:nvPr/>
          </p:nvCxnSpPr>
          <p:spPr bwMode="auto">
            <a:xfrm flipH="1">
              <a:off x="3549621" y="3717066"/>
              <a:ext cx="1125174" cy="31047"/>
            </a:xfrm>
            <a:prstGeom prst="line">
              <a:avLst/>
            </a:prstGeom>
            <a:noFill/>
            <a:ln w="28575" algn="ctr">
              <a:solidFill>
                <a:schemeClr val="tx1"/>
              </a:solidFill>
              <a:round/>
              <a:headEnd/>
              <a:tailEnd/>
            </a:ln>
          </p:spPr>
        </p:cxnSp>
        <p:cxnSp>
          <p:nvCxnSpPr>
            <p:cNvPr id="27674" name="直接连接符 53"/>
            <p:cNvCxnSpPr>
              <a:cxnSpLocks noChangeShapeType="1"/>
            </p:cNvCxnSpPr>
            <p:nvPr/>
          </p:nvCxnSpPr>
          <p:spPr bwMode="auto">
            <a:xfrm flipV="1">
              <a:off x="6202001" y="3282065"/>
              <a:ext cx="1097572" cy="837"/>
            </a:xfrm>
            <a:prstGeom prst="line">
              <a:avLst/>
            </a:prstGeom>
            <a:noFill/>
            <a:ln w="28575" algn="ctr">
              <a:solidFill>
                <a:schemeClr val="tx1"/>
              </a:solidFill>
              <a:round/>
              <a:headEnd/>
              <a:tailEnd/>
            </a:ln>
          </p:spPr>
        </p:cxnSp>
        <p:cxnSp>
          <p:nvCxnSpPr>
            <p:cNvPr id="27675" name="直接连接符 54"/>
            <p:cNvCxnSpPr>
              <a:cxnSpLocks noChangeShapeType="1"/>
            </p:cNvCxnSpPr>
            <p:nvPr/>
          </p:nvCxnSpPr>
          <p:spPr bwMode="auto">
            <a:xfrm flipH="1">
              <a:off x="7608681" y="2493118"/>
              <a:ext cx="759563" cy="672045"/>
            </a:xfrm>
            <a:prstGeom prst="line">
              <a:avLst/>
            </a:prstGeom>
            <a:noFill/>
            <a:ln w="28575" algn="ctr">
              <a:solidFill>
                <a:schemeClr val="tx1"/>
              </a:solidFill>
              <a:round/>
              <a:headEnd/>
              <a:tailEnd/>
            </a:ln>
          </p:spPr>
        </p:cxnSp>
        <p:cxnSp>
          <p:nvCxnSpPr>
            <p:cNvPr id="27676" name="直接连接符 61"/>
            <p:cNvCxnSpPr>
              <a:cxnSpLocks noChangeShapeType="1"/>
            </p:cNvCxnSpPr>
            <p:nvPr/>
          </p:nvCxnSpPr>
          <p:spPr bwMode="auto">
            <a:xfrm flipV="1">
              <a:off x="7407575" y="3110378"/>
              <a:ext cx="1345668" cy="138709"/>
            </a:xfrm>
            <a:prstGeom prst="line">
              <a:avLst/>
            </a:prstGeom>
            <a:noFill/>
            <a:ln w="28575" algn="ctr">
              <a:solidFill>
                <a:schemeClr val="tx1"/>
              </a:solidFill>
              <a:round/>
              <a:headEnd/>
              <a:tailEnd/>
            </a:ln>
          </p:spPr>
        </p:cxnSp>
        <p:cxnSp>
          <p:nvCxnSpPr>
            <p:cNvPr id="27677" name="直接连接符 62"/>
            <p:cNvCxnSpPr>
              <a:cxnSpLocks noChangeShapeType="1"/>
            </p:cNvCxnSpPr>
            <p:nvPr/>
          </p:nvCxnSpPr>
          <p:spPr bwMode="auto">
            <a:xfrm>
              <a:off x="7477875" y="3373696"/>
              <a:ext cx="1040889" cy="748521"/>
            </a:xfrm>
            <a:prstGeom prst="line">
              <a:avLst/>
            </a:prstGeom>
            <a:noFill/>
            <a:ln w="28575" algn="ctr">
              <a:solidFill>
                <a:schemeClr val="tx1"/>
              </a:solidFill>
              <a:round/>
              <a:headEnd/>
              <a:tailEnd/>
            </a:ln>
          </p:spPr>
        </p:cxnSp>
        <p:sp>
          <p:nvSpPr>
            <p:cNvPr id="27678" name="矩形 64"/>
            <p:cNvSpPr>
              <a:spLocks noChangeArrowheads="1"/>
            </p:cNvSpPr>
            <p:nvPr/>
          </p:nvSpPr>
          <p:spPr bwMode="auto">
            <a:xfrm>
              <a:off x="2279576" y="3656057"/>
              <a:ext cx="1144865" cy="276999"/>
            </a:xfrm>
            <a:prstGeom prst="rect">
              <a:avLst/>
            </a:prstGeom>
            <a:noFill/>
            <a:ln w="9525">
              <a:noFill/>
              <a:miter lim="800000"/>
              <a:headEnd/>
              <a:tailEnd/>
            </a:ln>
          </p:spPr>
          <p:txBody>
            <a:bodyPr wrap="square">
              <a:noAutofit/>
            </a:bodyPr>
            <a:lstStyle/>
            <a:p>
              <a:pPr eaLnBrk="0" fontAlgn="t" hangingPunct="0">
                <a:buSzPct val="100000"/>
              </a:pPr>
              <a:r>
                <a:rPr lang="en-US" altLang="zh-CN" b="1" dirty="0">
                  <a:solidFill>
                    <a:srgbClr val="000000"/>
                  </a:solidFill>
                  <a:latin typeface="+mn-lt"/>
                  <a:ea typeface="+mn-ea"/>
                  <a:sym typeface="FrutigerNext LT Regular" pitchFamily="34" charset="0"/>
                </a:rPr>
                <a:t>Headquarters</a:t>
              </a:r>
            </a:p>
          </p:txBody>
        </p:sp>
        <p:sp>
          <p:nvSpPr>
            <p:cNvPr id="27679" name="矩形 65"/>
            <p:cNvSpPr>
              <a:spLocks noChangeArrowheads="1"/>
            </p:cNvSpPr>
            <p:nvPr/>
          </p:nvSpPr>
          <p:spPr bwMode="auto">
            <a:xfrm>
              <a:off x="9123431" y="2924156"/>
              <a:ext cx="1084460" cy="359159"/>
            </a:xfrm>
            <a:prstGeom prst="rect">
              <a:avLst/>
            </a:prstGeom>
            <a:noFill/>
            <a:ln w="9525">
              <a:noFill/>
              <a:miter lim="800000"/>
              <a:headEnd/>
              <a:tailEnd/>
            </a:ln>
          </p:spPr>
          <p:txBody>
            <a:bodyPr wrap="square">
              <a:noAutofit/>
            </a:bodyPr>
            <a:lstStyle/>
            <a:p>
              <a:pPr eaLnBrk="0" fontAlgn="t" hangingPunct="0">
                <a:buSzPct val="100000"/>
              </a:pPr>
              <a:r>
                <a:rPr lang="en-US" altLang="zh-CN" b="1" dirty="0">
                  <a:solidFill>
                    <a:srgbClr val="000000"/>
                  </a:solidFill>
                  <a:latin typeface="+mn-lt"/>
                  <a:ea typeface="+mn-ea"/>
                  <a:sym typeface="FrutigerNext LT Regular" pitchFamily="34" charset="0"/>
                </a:rPr>
                <a:t>R&amp;D department</a:t>
              </a:r>
            </a:p>
          </p:txBody>
        </p:sp>
        <p:sp>
          <p:nvSpPr>
            <p:cNvPr id="27680" name="矩形 66"/>
            <p:cNvSpPr>
              <a:spLocks noChangeArrowheads="1"/>
            </p:cNvSpPr>
            <p:nvPr/>
          </p:nvSpPr>
          <p:spPr bwMode="auto">
            <a:xfrm>
              <a:off x="8820703" y="3889890"/>
              <a:ext cx="1181882" cy="477797"/>
            </a:xfrm>
            <a:prstGeom prst="rect">
              <a:avLst/>
            </a:prstGeom>
            <a:noFill/>
            <a:ln w="9525">
              <a:noFill/>
              <a:miter lim="800000"/>
              <a:headEnd/>
              <a:tailEnd/>
            </a:ln>
          </p:spPr>
          <p:txBody>
            <a:bodyPr wrap="square">
              <a:noAutofit/>
            </a:bodyPr>
            <a:lstStyle/>
            <a:p>
              <a:pPr eaLnBrk="0" fontAlgn="t" hangingPunct="0">
                <a:buSzPct val="100000"/>
              </a:pPr>
              <a:r>
                <a:rPr lang="en-US" altLang="zh-CN" b="1" dirty="0">
                  <a:solidFill>
                    <a:srgbClr val="000000"/>
                  </a:solidFill>
                  <a:latin typeface="+mn-lt"/>
                  <a:ea typeface="+mn-ea"/>
                  <a:sym typeface="FrutigerNext LT Regular" pitchFamily="34" charset="0"/>
                </a:rPr>
                <a:t>Documentation</a:t>
              </a:r>
              <a:r>
                <a:rPr lang="en-US" altLang="zh-CN" sz="1050" b="1" dirty="0">
                  <a:solidFill>
                    <a:srgbClr val="000000"/>
                  </a:solidFill>
                  <a:latin typeface="+mn-lt"/>
                  <a:ea typeface="+mn-ea"/>
                  <a:sym typeface="FrutigerNext LT Regular" pitchFamily="34" charset="0"/>
                </a:rPr>
                <a:t> department</a:t>
              </a:r>
            </a:p>
          </p:txBody>
        </p:sp>
        <p:sp>
          <p:nvSpPr>
            <p:cNvPr id="27681" name="文本框 67"/>
            <p:cNvSpPr txBox="1">
              <a:spLocks noChangeArrowheads="1"/>
            </p:cNvSpPr>
            <p:nvPr/>
          </p:nvSpPr>
          <p:spPr bwMode="auto">
            <a:xfrm>
              <a:off x="5825648" y="2459323"/>
              <a:ext cx="738187" cy="316392"/>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400" b="1" dirty="0">
                  <a:solidFill>
                    <a:srgbClr val="C00000"/>
                  </a:solidFill>
                  <a:latin typeface="+mn-lt"/>
                  <a:ea typeface="+mn-ea"/>
                  <a:cs typeface="Arial" charset="0"/>
                  <a:sym typeface="FrutigerNext LT Regular" pitchFamily="34" charset="0"/>
                </a:rPr>
                <a:t>OSPF</a:t>
              </a:r>
            </a:p>
          </p:txBody>
        </p:sp>
        <p:sp>
          <p:nvSpPr>
            <p:cNvPr id="27682" name="文本框 68"/>
            <p:cNvSpPr txBox="1">
              <a:spLocks noChangeArrowheads="1"/>
            </p:cNvSpPr>
            <p:nvPr/>
          </p:nvSpPr>
          <p:spPr bwMode="auto">
            <a:xfrm>
              <a:off x="2256188" y="2421435"/>
              <a:ext cx="1150937" cy="470280"/>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100" b="1" dirty="0">
                  <a:solidFill>
                    <a:srgbClr val="000000"/>
                  </a:solidFill>
                  <a:latin typeface="+mn-lt"/>
                  <a:ea typeface="+mn-ea"/>
                  <a:cs typeface="Arial" charset="0"/>
                  <a:sym typeface="FrutigerNext LT Regular" pitchFamily="34" charset="0"/>
                </a:rPr>
                <a:t>Marketing department</a:t>
              </a:r>
            </a:p>
          </p:txBody>
        </p:sp>
        <p:sp>
          <p:nvSpPr>
            <p:cNvPr id="27692" name="文本框 78"/>
            <p:cNvSpPr txBox="1">
              <a:spLocks noChangeArrowheads="1"/>
            </p:cNvSpPr>
            <p:nvPr/>
          </p:nvSpPr>
          <p:spPr bwMode="auto">
            <a:xfrm>
              <a:off x="5206775" y="3776130"/>
              <a:ext cx="562920" cy="291771"/>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27693" name="文本框 79"/>
            <p:cNvSpPr txBox="1">
              <a:spLocks noChangeArrowheads="1"/>
            </p:cNvSpPr>
            <p:nvPr/>
          </p:nvSpPr>
          <p:spPr bwMode="auto">
            <a:xfrm>
              <a:off x="4455667" y="2500214"/>
              <a:ext cx="771524" cy="285614"/>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27694" name="文本框 80"/>
            <p:cNvSpPr txBox="1">
              <a:spLocks noChangeArrowheads="1"/>
            </p:cNvSpPr>
            <p:nvPr/>
          </p:nvSpPr>
          <p:spPr bwMode="auto">
            <a:xfrm>
              <a:off x="5816155" y="2833689"/>
              <a:ext cx="771524" cy="285614"/>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27695" name="文本框 81"/>
            <p:cNvSpPr txBox="1">
              <a:spLocks noChangeArrowheads="1"/>
            </p:cNvSpPr>
            <p:nvPr/>
          </p:nvSpPr>
          <p:spPr bwMode="auto">
            <a:xfrm>
              <a:off x="7092504" y="3594101"/>
              <a:ext cx="771524" cy="285614"/>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grpSp>
          <p:nvGrpSpPr>
            <p:cNvPr id="27655" name="组合 48"/>
            <p:cNvGrpSpPr>
              <a:grpSpLocks noChangeAspect="1"/>
            </p:cNvGrpSpPr>
            <p:nvPr/>
          </p:nvGrpSpPr>
          <p:grpSpPr bwMode="auto">
            <a:xfrm>
              <a:off x="7806880" y="2738439"/>
              <a:ext cx="139700" cy="141287"/>
              <a:chOff x="389239" y="2587273"/>
              <a:chExt cx="192358" cy="194586"/>
            </a:xfrm>
          </p:grpSpPr>
          <p:cxnSp>
            <p:nvCxnSpPr>
              <p:cNvPr id="27662" name="直接连接符 49"/>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7663" name="直接连接符 50"/>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27656" name="组合 55"/>
            <p:cNvGrpSpPr>
              <a:grpSpLocks noChangeAspect="1"/>
            </p:cNvGrpSpPr>
            <p:nvPr/>
          </p:nvGrpSpPr>
          <p:grpSpPr bwMode="auto">
            <a:xfrm>
              <a:off x="7967218" y="3216276"/>
              <a:ext cx="139700" cy="142875"/>
              <a:chOff x="389239" y="2587273"/>
              <a:chExt cx="192358" cy="194586"/>
            </a:xfrm>
          </p:grpSpPr>
          <p:cxnSp>
            <p:nvCxnSpPr>
              <p:cNvPr id="27660" name="直接连接符 56"/>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7661" name="直接连接符 57"/>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27657" name="组合 58"/>
            <p:cNvGrpSpPr>
              <a:grpSpLocks noChangeAspect="1"/>
            </p:cNvGrpSpPr>
            <p:nvPr/>
          </p:nvGrpSpPr>
          <p:grpSpPr bwMode="auto">
            <a:xfrm>
              <a:off x="7960869" y="3395664"/>
              <a:ext cx="141287" cy="141287"/>
              <a:chOff x="389239" y="2587273"/>
              <a:chExt cx="192358" cy="194586"/>
            </a:xfrm>
          </p:grpSpPr>
          <p:cxnSp>
            <p:nvCxnSpPr>
              <p:cNvPr id="27658" name="直接连接符 59"/>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7659" name="直接连接符 60"/>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pic>
          <p:nvPicPr>
            <p:cNvPr id="54" name="图片 5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75256" y="3509252"/>
              <a:ext cx="540000" cy="442800"/>
            </a:xfrm>
            <a:prstGeom prst="rect">
              <a:avLst/>
            </a:prstGeom>
          </p:spPr>
        </p:pic>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504922" y="2161623"/>
              <a:ext cx="540000" cy="442800"/>
            </a:xfrm>
            <a:prstGeom prst="rect">
              <a:avLst/>
            </a:prstGeom>
          </p:spPr>
        </p:pic>
        <p:pic>
          <p:nvPicPr>
            <p:cNvPr id="56" name="图片 5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317725" y="3914712"/>
              <a:ext cx="540000" cy="442800"/>
            </a:xfrm>
            <a:prstGeom prst="rect">
              <a:avLst/>
            </a:prstGeom>
          </p:spPr>
        </p:pic>
        <p:pic>
          <p:nvPicPr>
            <p:cNvPr id="5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56159" y="3504618"/>
              <a:ext cx="628652" cy="514351"/>
            </a:xfrm>
            <a:prstGeom prst="rect">
              <a:avLst/>
            </a:prstGeom>
            <a:noFill/>
          </p:spPr>
        </p:pic>
        <p:pic>
          <p:nvPicPr>
            <p:cNvPr id="5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918519" y="3111816"/>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197879" y="3046933"/>
              <a:ext cx="628652" cy="514351"/>
            </a:xfrm>
            <a:prstGeom prst="rect">
              <a:avLst/>
            </a:prstGeom>
            <a:noFill/>
          </p:spPr>
        </p:pic>
        <p:pic>
          <p:nvPicPr>
            <p:cNvPr id="6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57328" y="2764935"/>
              <a:ext cx="628652" cy="514351"/>
            </a:xfrm>
            <a:prstGeom prst="rect">
              <a:avLst/>
            </a:prstGeom>
            <a:noFill/>
          </p:spPr>
        </p:pic>
        <p:pic>
          <p:nvPicPr>
            <p:cNvPr id="61" name="图片 60" descr="市场部.png"/>
            <p:cNvPicPr>
              <a:picLocks noChangeAspect="1"/>
            </p:cNvPicPr>
            <p:nvPr/>
          </p:nvPicPr>
          <p:blipFill>
            <a:blip r:embed="rId5" cstate="print"/>
            <a:stretch>
              <a:fillRect/>
            </a:stretch>
          </p:blipFill>
          <p:spPr>
            <a:xfrm>
              <a:off x="3275256" y="2473670"/>
              <a:ext cx="540000" cy="441818"/>
            </a:xfrm>
            <a:prstGeom prst="rect">
              <a:avLst/>
            </a:prstGeom>
          </p:spPr>
        </p:pic>
        <p:pic>
          <p:nvPicPr>
            <p:cNvPr id="62" name="图片 61" descr="研发部.png"/>
            <p:cNvPicPr>
              <a:picLocks noChangeAspect="1"/>
            </p:cNvPicPr>
            <p:nvPr/>
          </p:nvPicPr>
          <p:blipFill>
            <a:blip r:embed="rId6" cstate="print"/>
            <a:stretch>
              <a:fillRect/>
            </a:stretch>
          </p:blipFill>
          <p:spPr>
            <a:xfrm>
              <a:off x="8651462" y="2891169"/>
              <a:ext cx="540000" cy="441818"/>
            </a:xfrm>
            <a:prstGeom prst="rect">
              <a:avLst/>
            </a:prstGeom>
          </p:spPr>
        </p:pic>
        <p:sp>
          <p:nvSpPr>
            <p:cNvPr id="27696" name="任意多边形 85"/>
            <p:cNvSpPr>
              <a:spLocks/>
            </p:cNvSpPr>
            <p:nvPr/>
          </p:nvSpPr>
          <p:spPr bwMode="auto">
            <a:xfrm>
              <a:off x="3737677" y="2434680"/>
              <a:ext cx="4558001" cy="774732"/>
            </a:xfrm>
            <a:custGeom>
              <a:avLst/>
              <a:gdLst>
                <a:gd name="T0" fmla="*/ 0 w 4558441"/>
                <a:gd name="T1" fmla="*/ 168166 h 774851"/>
                <a:gd name="T2" fmla="*/ 934190 w 4558441"/>
                <a:gd name="T3" fmla="*/ 424655 h 774851"/>
                <a:gd name="T4" fmla="*/ 2442528 w 4558441"/>
                <a:gd name="T5" fmla="*/ 737658 h 774851"/>
                <a:gd name="T6" fmla="*/ 3670198 w 4558441"/>
                <a:gd name="T7" fmla="*/ 774851 h 774851"/>
                <a:gd name="T8" fmla="*/ 4558441 w 4558441"/>
                <a:gd name="T9" fmla="*/ 0 h 774851"/>
                <a:gd name="T10" fmla="*/ 0 60000 65536"/>
                <a:gd name="T11" fmla="*/ 0 60000 65536"/>
                <a:gd name="T12" fmla="*/ 0 60000 65536"/>
                <a:gd name="T13" fmla="*/ 0 60000 65536"/>
                <a:gd name="T14" fmla="*/ 0 60000 65536"/>
                <a:gd name="T15" fmla="*/ 0 w 4558441"/>
                <a:gd name="T16" fmla="*/ 0 h 774851"/>
                <a:gd name="T17" fmla="*/ 4558441 w 4558441"/>
                <a:gd name="T18" fmla="*/ 774851 h 774851"/>
              </a:gdLst>
              <a:ahLst/>
              <a:cxnLst>
                <a:cxn ang="T10">
                  <a:pos x="T0" y="T1"/>
                </a:cxn>
                <a:cxn ang="T11">
                  <a:pos x="T2" y="T3"/>
                </a:cxn>
                <a:cxn ang="T12">
                  <a:pos x="T4" y="T5"/>
                </a:cxn>
                <a:cxn ang="T13">
                  <a:pos x="T6" y="T7"/>
                </a:cxn>
                <a:cxn ang="T14">
                  <a:pos x="T8" y="T9"/>
                </a:cxn>
              </a:cxnLst>
              <a:rect l="T15" t="T16" r="T17" b="T18"/>
              <a:pathLst>
                <a:path w="4558441" h="774851">
                  <a:moveTo>
                    <a:pt x="0" y="168166"/>
                  </a:moveTo>
                  <a:cubicBezTo>
                    <a:pt x="456867" y="332225"/>
                    <a:pt x="527102" y="329740"/>
                    <a:pt x="934190" y="424655"/>
                  </a:cubicBezTo>
                  <a:cubicBezTo>
                    <a:pt x="1341278" y="519570"/>
                    <a:pt x="1986527" y="679292"/>
                    <a:pt x="2442528" y="737658"/>
                  </a:cubicBezTo>
                  <a:cubicBezTo>
                    <a:pt x="2898529" y="796024"/>
                    <a:pt x="3317802" y="757288"/>
                    <a:pt x="3670199" y="774851"/>
                  </a:cubicBezTo>
                  <a:cubicBezTo>
                    <a:pt x="4235447" y="352873"/>
                    <a:pt x="4274375" y="255507"/>
                    <a:pt x="4558441" y="0"/>
                  </a:cubicBezTo>
                </a:path>
              </a:pathLst>
            </a:custGeom>
            <a:noFill/>
            <a:ln w="28575" cap="flat" cmpd="sng" algn="ctr">
              <a:solidFill>
                <a:srgbClr val="C00000"/>
              </a:solidFill>
              <a:prstDash val="dash"/>
              <a:round/>
              <a:headEnd type="none" w="med" len="med"/>
              <a:tailEnd type="stealth" w="lg" len="lg"/>
            </a:ln>
          </p:spPr>
          <p:txBody>
            <a:bodyPr wrap="square">
              <a:noAutofit/>
            </a:bodyPr>
            <a:lstStyle/>
            <a:p>
              <a:endParaRPr lang="en-US" altLang="zh-CN" sz="900" dirty="0">
                <a:latin typeface="+mn-lt"/>
                <a:ea typeface="+mn-ea"/>
              </a:endParaRPr>
            </a:p>
          </p:txBody>
        </p:sp>
        <p:sp>
          <p:nvSpPr>
            <p:cNvPr id="27697" name="任意多边形 86"/>
            <p:cNvSpPr>
              <a:spLocks/>
            </p:cNvSpPr>
            <p:nvPr/>
          </p:nvSpPr>
          <p:spPr bwMode="auto">
            <a:xfrm>
              <a:off x="3652176" y="2805356"/>
              <a:ext cx="5085132" cy="515727"/>
            </a:xfrm>
            <a:custGeom>
              <a:avLst/>
              <a:gdLst>
                <a:gd name="T0" fmla="*/ 0 w 5085623"/>
                <a:gd name="T1" fmla="*/ 0 h 515806"/>
                <a:gd name="T2" fmla="*/ 1073676 w 5085623"/>
                <a:gd name="T3" fmla="*/ 219770 h 515806"/>
                <a:gd name="T4" fmla="*/ 2349061 w 5085623"/>
                <a:gd name="T5" fmla="*/ 483416 h 515806"/>
                <a:gd name="T6" fmla="*/ 3801582 w 5085623"/>
                <a:gd name="T7" fmla="*/ 499387 h 515806"/>
                <a:gd name="T8" fmla="*/ 5085623 w 5085623"/>
                <a:gd name="T9" fmla="*/ 435313 h 515806"/>
                <a:gd name="T10" fmla="*/ 0 60000 65536"/>
                <a:gd name="T11" fmla="*/ 0 60000 65536"/>
                <a:gd name="T12" fmla="*/ 0 60000 65536"/>
                <a:gd name="T13" fmla="*/ 0 60000 65536"/>
                <a:gd name="T14" fmla="*/ 0 60000 65536"/>
                <a:gd name="T15" fmla="*/ 0 w 5085623"/>
                <a:gd name="T16" fmla="*/ 0 h 515806"/>
                <a:gd name="T17" fmla="*/ 5085623 w 5085623"/>
                <a:gd name="T18" fmla="*/ 515806 h 515806"/>
              </a:gdLst>
              <a:ahLst/>
              <a:cxnLst>
                <a:cxn ang="T10">
                  <a:pos x="T0" y="T1"/>
                </a:cxn>
                <a:cxn ang="T11">
                  <a:pos x="T2" y="T3"/>
                </a:cxn>
                <a:cxn ang="T12">
                  <a:pos x="T4" y="T5"/>
                </a:cxn>
                <a:cxn ang="T13">
                  <a:pos x="T6" y="T7"/>
                </a:cxn>
                <a:cxn ang="T14">
                  <a:pos x="T8" y="T9"/>
                </a:cxn>
              </a:cxnLst>
              <a:rect l="T15" t="T16" r="T17" b="T18"/>
              <a:pathLst>
                <a:path w="5085623" h="515806">
                  <a:moveTo>
                    <a:pt x="0" y="0"/>
                  </a:moveTo>
                  <a:cubicBezTo>
                    <a:pt x="456866" y="148561"/>
                    <a:pt x="682164" y="139201"/>
                    <a:pt x="1073674" y="219770"/>
                  </a:cubicBezTo>
                  <a:cubicBezTo>
                    <a:pt x="1465184" y="300339"/>
                    <a:pt x="1894410" y="436813"/>
                    <a:pt x="2349061" y="483416"/>
                  </a:cubicBezTo>
                  <a:cubicBezTo>
                    <a:pt x="2803712" y="530019"/>
                    <a:pt x="3234782" y="517809"/>
                    <a:pt x="3801578" y="499387"/>
                  </a:cubicBezTo>
                  <a:cubicBezTo>
                    <a:pt x="4346558" y="490140"/>
                    <a:pt x="4614384" y="486719"/>
                    <a:pt x="5085623" y="435313"/>
                  </a:cubicBezTo>
                </a:path>
              </a:pathLst>
            </a:custGeom>
            <a:noFill/>
            <a:ln w="28575" cap="flat" cmpd="sng" algn="ctr">
              <a:solidFill>
                <a:srgbClr val="C00000"/>
              </a:solidFill>
              <a:prstDash val="dash"/>
              <a:round/>
              <a:headEnd type="none" w="med" len="med"/>
              <a:tailEnd type="stealth" w="lg" len="lg"/>
            </a:ln>
          </p:spPr>
          <p:txBody>
            <a:bodyPr wrap="square">
              <a:noAutofit/>
            </a:bodyPr>
            <a:lstStyle/>
            <a:p>
              <a:endParaRPr lang="en-US" altLang="zh-CN" sz="900" dirty="0">
                <a:latin typeface="+mn-lt"/>
                <a:ea typeface="+mn-ea"/>
              </a:endParaRPr>
            </a:p>
          </p:txBody>
        </p:sp>
        <p:sp>
          <p:nvSpPr>
            <p:cNvPr id="27698" name="任意多边形 87"/>
            <p:cNvSpPr>
              <a:spLocks/>
            </p:cNvSpPr>
            <p:nvPr/>
          </p:nvSpPr>
          <p:spPr bwMode="auto">
            <a:xfrm>
              <a:off x="3698600" y="3446640"/>
              <a:ext cx="4980900" cy="378422"/>
            </a:xfrm>
            <a:custGeom>
              <a:avLst/>
              <a:gdLst>
                <a:gd name="T0" fmla="*/ 0 w 4992029"/>
                <a:gd name="T1" fmla="*/ 321106 h 446105"/>
                <a:gd name="T2" fmla="*/ 1107441 w 4992029"/>
                <a:gd name="T3" fmla="*/ 275854 h 446105"/>
                <a:gd name="T4" fmla="*/ 2378087 w 4992029"/>
                <a:gd name="T5" fmla="*/ 19058 h 446105"/>
                <a:gd name="T6" fmla="*/ 3835063 w 4992029"/>
                <a:gd name="T7" fmla="*/ 19584 h 446105"/>
                <a:gd name="T8" fmla="*/ 4970756 w 4992029"/>
                <a:gd name="T9" fmla="*/ 9748 h 446105"/>
                <a:gd name="T10" fmla="*/ 0 60000 65536"/>
                <a:gd name="T11" fmla="*/ 0 60000 65536"/>
                <a:gd name="T12" fmla="*/ 0 60000 65536"/>
                <a:gd name="T13" fmla="*/ 0 60000 65536"/>
                <a:gd name="T14" fmla="*/ 0 60000 65536"/>
                <a:gd name="T15" fmla="*/ 0 w 4992029"/>
                <a:gd name="T16" fmla="*/ 0 h 446105"/>
                <a:gd name="T17" fmla="*/ 4992029 w 4992029"/>
                <a:gd name="T18" fmla="*/ 446105 h 446105"/>
              </a:gdLst>
              <a:ahLst/>
              <a:cxnLst>
                <a:cxn ang="T10">
                  <a:pos x="T0" y="T1"/>
                </a:cxn>
                <a:cxn ang="T11">
                  <a:pos x="T2" y="T3"/>
                </a:cxn>
                <a:cxn ang="T12">
                  <a:pos x="T4" y="T5"/>
                </a:cxn>
                <a:cxn ang="T13">
                  <a:pos x="T6" y="T7"/>
                </a:cxn>
                <a:cxn ang="T14">
                  <a:pos x="T8" y="T9"/>
                </a:cxn>
              </a:cxnLst>
              <a:rect l="T15" t="T16" r="T17" b="T18"/>
              <a:pathLst>
                <a:path w="4992029" h="446105">
                  <a:moveTo>
                    <a:pt x="0" y="446105"/>
                  </a:moveTo>
                  <a:cubicBezTo>
                    <a:pt x="396336" y="404946"/>
                    <a:pt x="714136" y="453175"/>
                    <a:pt x="1112180" y="383237"/>
                  </a:cubicBezTo>
                  <a:cubicBezTo>
                    <a:pt x="1510224" y="313299"/>
                    <a:pt x="1931715" y="85814"/>
                    <a:pt x="2388264" y="26476"/>
                  </a:cubicBezTo>
                  <a:cubicBezTo>
                    <a:pt x="2844813" y="-32862"/>
                    <a:pt x="3391937" y="25893"/>
                    <a:pt x="3851477" y="27207"/>
                  </a:cubicBezTo>
                  <a:cubicBezTo>
                    <a:pt x="4231661" y="22652"/>
                    <a:pt x="4594876" y="-1860"/>
                    <a:pt x="4992029" y="13543"/>
                  </a:cubicBezTo>
                </a:path>
              </a:pathLst>
            </a:custGeom>
            <a:noFill/>
            <a:ln w="28575" cap="flat" cmpd="sng" algn="ctr">
              <a:solidFill>
                <a:srgbClr val="C00000"/>
              </a:solidFill>
              <a:prstDash val="dash"/>
              <a:round/>
              <a:headEnd type="none" w="med" len="med"/>
              <a:tailEnd type="stealth" w="lg" len="lg"/>
            </a:ln>
          </p:spPr>
          <p:txBody>
            <a:bodyPr wrap="square">
              <a:noAutofit/>
            </a:bodyPr>
            <a:lstStyle/>
            <a:p>
              <a:endParaRPr lang="en-US" altLang="zh-CN" sz="900" dirty="0">
                <a:latin typeface="+mn-lt"/>
                <a:ea typeface="+mn-ea"/>
              </a:endParaRPr>
            </a:p>
          </p:txBody>
        </p:sp>
      </p:grpSp>
    </p:spTree>
    <p:extLst>
      <p:ext uri="{BB962C8B-B14F-4D97-AF65-F5344CB8AC3E}">
        <p14:creationId xmlns:p14="http://schemas.microsoft.com/office/powerpoint/2010/main" val="155671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wipe(left)">
                                      <p:cBhvr>
                                        <p:cTn id="12"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2"/>
          </p:nvPr>
        </p:nvSpPr>
        <p:spPr/>
        <p:txBody>
          <a:bodyPr/>
          <a:lstStyle/>
          <a:p>
            <a:r>
              <a:rPr lang="en-US" altLang="zh-CN" smtClean="0"/>
              <a:t>Solution 1: Routing Policy</a:t>
            </a:r>
            <a:endParaRPr lang="zh-CN" altLang="en-US" dirty="0"/>
          </a:p>
        </p:txBody>
      </p:sp>
      <p:sp>
        <p:nvSpPr>
          <p:cNvPr id="158" name="文本占位符 2"/>
          <p:cNvSpPr txBox="1">
            <a:spLocks/>
          </p:cNvSpPr>
          <p:nvPr/>
        </p:nvSpPr>
        <p:spPr bwMode="auto">
          <a:xfrm>
            <a:off x="2216151" y="3752342"/>
            <a:ext cx="7912100" cy="1303338"/>
          </a:xfrm>
          <a:prstGeom prst="rect">
            <a:avLst/>
          </a:prstGeom>
          <a:noFill/>
          <a:ln w="9525">
            <a:noFill/>
            <a:miter lim="800000"/>
            <a:headEnd/>
            <a:tailEnd/>
          </a:ln>
        </p:spPr>
        <p:txBody>
          <a:bodyPr/>
          <a:lstStyle/>
          <a:p>
            <a:pPr marL="360363" indent="-360363" defTabSz="801688" eaLnBrk="0" hangingPunct="0">
              <a:lnSpc>
                <a:spcPct val="140000"/>
              </a:lnSpc>
              <a:spcBef>
                <a:spcPts val="0"/>
              </a:spcBef>
              <a:buClr>
                <a:srgbClr val="808080"/>
              </a:buClr>
              <a:buSzPct val="60000"/>
              <a:buFont typeface="Wingdings" pitchFamily="2" charset="2"/>
              <a:buChar char="l"/>
            </a:pPr>
            <a:r>
              <a:rPr lang="en-US" altLang="zh-CN" sz="1600" dirty="0">
                <a:solidFill>
                  <a:srgbClr val="000000"/>
                </a:solidFill>
                <a:latin typeface="+mn-lt"/>
                <a:ea typeface="+mn-ea"/>
                <a:sym typeface="FrutigerNext LT Regular" pitchFamily="34" charset="0"/>
              </a:rPr>
              <a:t>Use the </a:t>
            </a:r>
            <a:r>
              <a:rPr lang="en-US" altLang="zh-CN" sz="1600" b="1" dirty="0">
                <a:solidFill>
                  <a:srgbClr val="C00000"/>
                </a:solidFill>
                <a:latin typeface="+mn-lt"/>
                <a:ea typeface="+mn-ea"/>
                <a:sym typeface="FrutigerNext LT Regular" pitchFamily="34" charset="0"/>
              </a:rPr>
              <a:t>Filter-Policy </a:t>
            </a:r>
            <a:r>
              <a:rPr lang="en-US" altLang="zh-CN" sz="1600" dirty="0">
                <a:solidFill>
                  <a:srgbClr val="000000"/>
                </a:solidFill>
                <a:latin typeface="+mn-lt"/>
                <a:ea typeface="+mn-ea"/>
                <a:sym typeface="FrutigerNext LT Regular" pitchFamily="34" charset="0"/>
              </a:rPr>
              <a:t>tool to filter the routes imported from RTA to OSPF and the routes imported from RTC to the routing table:</a:t>
            </a:r>
          </a:p>
          <a:p>
            <a:pPr marL="628650" lvl="1" indent="-268288" defTabSz="801688" eaLnBrk="0" hangingPunct="0">
              <a:lnSpc>
                <a:spcPct val="140000"/>
              </a:lnSpc>
              <a:spcBef>
                <a:spcPts val="0"/>
              </a:spcBef>
              <a:buClr>
                <a:srgbClr val="000000"/>
              </a:buClr>
              <a:buSzPct val="50000"/>
              <a:buFont typeface="Wingdings" pitchFamily="2" charset="2"/>
              <a:buChar char="p"/>
            </a:pPr>
            <a:r>
              <a:rPr lang="en-US" altLang="zh-CN" sz="1400" dirty="0">
                <a:solidFill>
                  <a:srgbClr val="000000"/>
                </a:solidFill>
                <a:latin typeface="+mn-lt"/>
                <a:ea typeface="+mn-ea"/>
                <a:cs typeface="Courier New" pitchFamily="49" charset="0"/>
                <a:sym typeface="FrutigerNext LT Regular" pitchFamily="34" charset="0"/>
              </a:rPr>
              <a:t>Use ACL or IP-Prefix List to match the target flow.</a:t>
            </a:r>
          </a:p>
          <a:p>
            <a:pPr marL="628650" lvl="1" indent="-268288" defTabSz="801688" eaLnBrk="0" hangingPunct="0">
              <a:lnSpc>
                <a:spcPct val="140000"/>
              </a:lnSpc>
              <a:spcBef>
                <a:spcPts val="0"/>
              </a:spcBef>
              <a:buClr>
                <a:srgbClr val="000000"/>
              </a:buClr>
              <a:buSzPct val="50000"/>
              <a:buFont typeface="Wingdings" pitchFamily="2" charset="2"/>
              <a:buChar char="p"/>
            </a:pPr>
            <a:r>
              <a:rPr lang="en-US" altLang="zh-CN" sz="1400" dirty="0">
                <a:solidFill>
                  <a:srgbClr val="000000"/>
                </a:solidFill>
                <a:latin typeface="+mn-lt"/>
                <a:ea typeface="+mn-ea"/>
                <a:cs typeface="Courier New" pitchFamily="49" charset="0"/>
                <a:sym typeface="FrutigerNext LT Regular" pitchFamily="34" charset="0"/>
              </a:rPr>
              <a:t>Use the Filter-Policy in the protocol view to advertise policies for the target flow.</a:t>
            </a:r>
          </a:p>
        </p:txBody>
      </p:sp>
      <p:sp>
        <p:nvSpPr>
          <p:cNvPr id="159" name="文本占位符 2"/>
          <p:cNvSpPr txBox="1">
            <a:spLocks/>
          </p:cNvSpPr>
          <p:nvPr/>
        </p:nvSpPr>
        <p:spPr bwMode="auto">
          <a:xfrm>
            <a:off x="2216151" y="5124028"/>
            <a:ext cx="8351837" cy="1257300"/>
          </a:xfrm>
          <a:prstGeom prst="rect">
            <a:avLst/>
          </a:prstGeom>
          <a:noFill/>
          <a:ln w="9525">
            <a:noFill/>
            <a:miter lim="800000"/>
            <a:headEnd/>
            <a:tailEnd/>
          </a:ln>
        </p:spPr>
        <p:txBody>
          <a:bodyPr/>
          <a:lstStyle/>
          <a:p>
            <a:pPr marL="360363" indent="-360363" defTabSz="801688" eaLnBrk="0" hangingPunct="0">
              <a:lnSpc>
                <a:spcPct val="140000"/>
              </a:lnSpc>
              <a:spcBef>
                <a:spcPts val="0"/>
              </a:spcBef>
              <a:buClr>
                <a:srgbClr val="808080"/>
              </a:buClr>
              <a:buSzPct val="60000"/>
              <a:buFont typeface="Wingdings" pitchFamily="2" charset="2"/>
              <a:buChar char="l"/>
            </a:pPr>
            <a:r>
              <a:rPr lang="en-US" altLang="zh-CN" sz="1600" dirty="0">
                <a:solidFill>
                  <a:srgbClr val="000000"/>
                </a:solidFill>
                <a:latin typeface="+mn-lt"/>
                <a:ea typeface="+mn-ea"/>
                <a:cs typeface="Courier New" pitchFamily="49" charset="0"/>
                <a:sym typeface="FrutigerNext LT Regular" pitchFamily="34" charset="0"/>
              </a:rPr>
              <a:t>Use the </a:t>
            </a:r>
            <a:r>
              <a:rPr lang="en-US" altLang="zh-CN" sz="1600" b="1" dirty="0">
                <a:solidFill>
                  <a:srgbClr val="C00000"/>
                </a:solidFill>
                <a:latin typeface="+mn-lt"/>
                <a:ea typeface="+mn-ea"/>
                <a:cs typeface="Courier New" pitchFamily="49" charset="0"/>
                <a:sym typeface="FrutigerNext LT Regular" pitchFamily="34" charset="0"/>
              </a:rPr>
              <a:t>Route-Policy</a:t>
            </a:r>
            <a:r>
              <a:rPr lang="en-US" altLang="zh-CN" sz="1600" dirty="0">
                <a:solidFill>
                  <a:srgbClr val="000000"/>
                </a:solidFill>
                <a:latin typeface="+mn-lt"/>
                <a:ea typeface="+mn-ea"/>
                <a:cs typeface="Courier New" pitchFamily="49" charset="0"/>
                <a:sym typeface="FrutigerNext LT Regular" pitchFamily="34" charset="0"/>
              </a:rPr>
              <a:t> tool to filter the direct routes imported by RTA:</a:t>
            </a:r>
          </a:p>
          <a:p>
            <a:pPr marL="628650" lvl="1" indent="-268288" defTabSz="801688" eaLnBrk="0" hangingPunct="0">
              <a:lnSpc>
                <a:spcPct val="140000"/>
              </a:lnSpc>
              <a:spcBef>
                <a:spcPts val="0"/>
              </a:spcBef>
              <a:buClr>
                <a:srgbClr val="000000"/>
              </a:buClr>
              <a:buSzPct val="50000"/>
              <a:buFont typeface="Wingdings" pitchFamily="2" charset="2"/>
              <a:buChar char="p"/>
            </a:pPr>
            <a:r>
              <a:rPr lang="en-US" altLang="zh-CN" sz="1400" dirty="0">
                <a:solidFill>
                  <a:srgbClr val="000000"/>
                </a:solidFill>
                <a:latin typeface="+mn-lt"/>
                <a:ea typeface="+mn-ea"/>
                <a:cs typeface="Courier New" pitchFamily="49" charset="0"/>
                <a:sym typeface="FrutigerNext LT Regular" pitchFamily="34" charset="0"/>
              </a:rPr>
              <a:t>Use ACL or IP-Prefix List to match the target flow.</a:t>
            </a:r>
          </a:p>
          <a:p>
            <a:pPr marL="628650" lvl="1" indent="-268288" defTabSz="801688" eaLnBrk="0" hangingPunct="0">
              <a:lnSpc>
                <a:spcPct val="140000"/>
              </a:lnSpc>
              <a:spcBef>
                <a:spcPts val="0"/>
              </a:spcBef>
              <a:buClr>
                <a:srgbClr val="000000"/>
              </a:buClr>
              <a:buSzPct val="50000"/>
              <a:buFont typeface="Wingdings" pitchFamily="2" charset="2"/>
              <a:buChar char="p"/>
            </a:pPr>
            <a:r>
              <a:rPr lang="en-US" altLang="zh-CN" sz="1400" dirty="0">
                <a:solidFill>
                  <a:srgbClr val="000000"/>
                </a:solidFill>
                <a:latin typeface="+mn-lt"/>
                <a:ea typeface="+mn-ea"/>
                <a:cs typeface="Courier New" pitchFamily="49" charset="0"/>
                <a:sym typeface="FrutigerNext LT Regular" pitchFamily="34" charset="0"/>
              </a:rPr>
              <a:t>Use the Route-Policy in the protocol view to control the imported routes.</a:t>
            </a:r>
          </a:p>
        </p:txBody>
      </p:sp>
      <p:grpSp>
        <p:nvGrpSpPr>
          <p:cNvPr id="55" name="组合 54"/>
          <p:cNvGrpSpPr/>
          <p:nvPr/>
        </p:nvGrpSpPr>
        <p:grpSpPr>
          <a:xfrm>
            <a:off x="2396416" y="1325056"/>
            <a:ext cx="7951703" cy="2473324"/>
            <a:chOff x="2256188" y="1989139"/>
            <a:chExt cx="7951703" cy="2473324"/>
          </a:xfrm>
        </p:grpSpPr>
        <p:sp>
          <p:nvSpPr>
            <p:cNvPr id="56" name="圆角矩形 55"/>
            <p:cNvSpPr/>
            <p:nvPr/>
          </p:nvSpPr>
          <p:spPr bwMode="auto">
            <a:xfrm>
              <a:off x="8145018" y="3703638"/>
              <a:ext cx="1847374" cy="75882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fontAlgn="t">
                <a:defRPr/>
              </a:pPr>
              <a:endParaRPr lang="en-US" altLang="zh-CN" sz="900" dirty="0">
                <a:latin typeface="+mn-lt"/>
                <a:ea typeface="+mn-ea"/>
              </a:endParaRPr>
            </a:p>
          </p:txBody>
        </p:sp>
        <p:sp>
          <p:nvSpPr>
            <p:cNvPr id="57" name="圆角矩形 56"/>
            <p:cNvSpPr/>
            <p:nvPr/>
          </p:nvSpPr>
          <p:spPr bwMode="auto">
            <a:xfrm>
              <a:off x="8327579" y="2813051"/>
              <a:ext cx="1615184" cy="760412"/>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fontAlgn="t">
                <a:defRPr/>
              </a:pPr>
              <a:endParaRPr lang="en-US" altLang="zh-CN" sz="900" dirty="0">
                <a:latin typeface="+mn-lt"/>
                <a:ea typeface="+mn-ea"/>
              </a:endParaRPr>
            </a:p>
          </p:txBody>
        </p:sp>
        <p:sp>
          <p:nvSpPr>
            <p:cNvPr id="58" name="圆角矩形 57"/>
            <p:cNvSpPr/>
            <p:nvPr/>
          </p:nvSpPr>
          <p:spPr bwMode="auto">
            <a:xfrm>
              <a:off x="8008492" y="1989139"/>
              <a:ext cx="1934271" cy="76041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fontAlgn="t">
                <a:defRPr/>
              </a:pPr>
              <a:endParaRPr lang="en-US" altLang="zh-CN" sz="900" dirty="0">
                <a:latin typeface="+mn-lt"/>
                <a:ea typeface="+mn-ea"/>
              </a:endParaRPr>
            </a:p>
          </p:txBody>
        </p:sp>
        <p:sp>
          <p:nvSpPr>
            <p:cNvPr id="59" name="圆角矩形 58"/>
            <p:cNvSpPr/>
            <p:nvPr/>
          </p:nvSpPr>
          <p:spPr bwMode="auto">
            <a:xfrm>
              <a:off x="2404043" y="3392489"/>
              <a:ext cx="1608712" cy="76041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fontAlgn="t">
                <a:defRPr/>
              </a:pPr>
              <a:endParaRPr lang="en-US" altLang="zh-CN" sz="900" dirty="0">
                <a:latin typeface="+mn-lt"/>
                <a:ea typeface="+mn-ea"/>
              </a:endParaRPr>
            </a:p>
          </p:txBody>
        </p:sp>
        <p:sp>
          <p:nvSpPr>
            <p:cNvPr id="60" name="圆角矩形 59"/>
            <p:cNvSpPr/>
            <p:nvPr/>
          </p:nvSpPr>
          <p:spPr bwMode="auto">
            <a:xfrm>
              <a:off x="2370534" y="2349501"/>
              <a:ext cx="1612059"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fontAlgn="t">
                <a:defRPr/>
              </a:pPr>
              <a:endParaRPr lang="en-US" altLang="zh-CN" sz="900" dirty="0">
                <a:latin typeface="+mn-lt"/>
                <a:ea typeface="+mn-ea"/>
              </a:endParaRPr>
            </a:p>
          </p:txBody>
        </p:sp>
        <p:sp>
          <p:nvSpPr>
            <p:cNvPr id="61" name="矩形 45"/>
            <p:cNvSpPr>
              <a:spLocks noChangeArrowheads="1"/>
            </p:cNvSpPr>
            <p:nvPr/>
          </p:nvSpPr>
          <p:spPr bwMode="auto">
            <a:xfrm>
              <a:off x="8979574" y="2134939"/>
              <a:ext cx="963190" cy="440258"/>
            </a:xfrm>
            <a:prstGeom prst="rect">
              <a:avLst/>
            </a:prstGeom>
            <a:noFill/>
            <a:ln w="9525">
              <a:noFill/>
              <a:miter lim="800000"/>
              <a:headEnd/>
              <a:tailEnd/>
            </a:ln>
          </p:spPr>
          <p:txBody>
            <a:bodyPr wrap="square">
              <a:noAutofit/>
            </a:bodyPr>
            <a:lstStyle/>
            <a:p>
              <a:pPr eaLnBrk="0" fontAlgn="t" hangingPunct="0">
                <a:buSzPct val="100000"/>
              </a:pPr>
              <a:r>
                <a:rPr lang="en-US" altLang="zh-CN" b="1" dirty="0">
                  <a:solidFill>
                    <a:srgbClr val="000000"/>
                  </a:solidFill>
                  <a:latin typeface="+mn-lt"/>
                  <a:ea typeface="+mn-ea"/>
                  <a:sym typeface="FrutigerNext LT Regular" pitchFamily="34" charset="0"/>
                </a:rPr>
                <a:t>Financial department</a:t>
              </a:r>
            </a:p>
          </p:txBody>
        </p:sp>
        <p:cxnSp>
          <p:nvCxnSpPr>
            <p:cNvPr id="62" name="直接连接符 46"/>
            <p:cNvCxnSpPr>
              <a:cxnSpLocks noChangeShapeType="1"/>
            </p:cNvCxnSpPr>
            <p:nvPr/>
          </p:nvCxnSpPr>
          <p:spPr bwMode="auto">
            <a:xfrm flipH="1" flipV="1">
              <a:off x="3516052" y="2738493"/>
              <a:ext cx="1268634" cy="226324"/>
            </a:xfrm>
            <a:prstGeom prst="line">
              <a:avLst/>
            </a:prstGeom>
            <a:noFill/>
            <a:ln w="28575" algn="ctr">
              <a:solidFill>
                <a:schemeClr val="tx1"/>
              </a:solidFill>
              <a:round/>
              <a:headEnd/>
              <a:tailEnd/>
            </a:ln>
          </p:spPr>
        </p:cxnSp>
        <p:cxnSp>
          <p:nvCxnSpPr>
            <p:cNvPr id="63" name="直接连接符 62"/>
            <p:cNvCxnSpPr/>
            <p:nvPr/>
          </p:nvCxnSpPr>
          <p:spPr bwMode="auto">
            <a:xfrm>
              <a:off x="4743004" y="2968626"/>
              <a:ext cx="1238250" cy="26352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4" name="直接连接符 51"/>
            <p:cNvCxnSpPr>
              <a:cxnSpLocks noChangeShapeType="1"/>
            </p:cNvCxnSpPr>
            <p:nvPr/>
          </p:nvCxnSpPr>
          <p:spPr bwMode="auto">
            <a:xfrm flipV="1">
              <a:off x="4674796" y="3342291"/>
              <a:ext cx="1389415" cy="405823"/>
            </a:xfrm>
            <a:prstGeom prst="line">
              <a:avLst/>
            </a:prstGeom>
            <a:noFill/>
            <a:ln w="28575" algn="ctr">
              <a:solidFill>
                <a:schemeClr val="tx1"/>
              </a:solidFill>
              <a:round/>
              <a:headEnd/>
              <a:tailEnd/>
            </a:ln>
          </p:spPr>
        </p:cxnSp>
        <p:cxnSp>
          <p:nvCxnSpPr>
            <p:cNvPr id="65" name="直接连接符 52"/>
            <p:cNvCxnSpPr>
              <a:cxnSpLocks noChangeShapeType="1"/>
            </p:cNvCxnSpPr>
            <p:nvPr/>
          </p:nvCxnSpPr>
          <p:spPr bwMode="auto">
            <a:xfrm flipH="1">
              <a:off x="3549621" y="3717066"/>
              <a:ext cx="1125174" cy="31047"/>
            </a:xfrm>
            <a:prstGeom prst="line">
              <a:avLst/>
            </a:prstGeom>
            <a:noFill/>
            <a:ln w="28575" algn="ctr">
              <a:solidFill>
                <a:schemeClr val="tx1"/>
              </a:solidFill>
              <a:round/>
              <a:headEnd/>
              <a:tailEnd/>
            </a:ln>
          </p:spPr>
        </p:cxnSp>
        <p:cxnSp>
          <p:nvCxnSpPr>
            <p:cNvPr id="66" name="直接连接符 53"/>
            <p:cNvCxnSpPr>
              <a:cxnSpLocks noChangeShapeType="1"/>
            </p:cNvCxnSpPr>
            <p:nvPr/>
          </p:nvCxnSpPr>
          <p:spPr bwMode="auto">
            <a:xfrm flipV="1">
              <a:off x="6202001" y="3282065"/>
              <a:ext cx="1097572" cy="837"/>
            </a:xfrm>
            <a:prstGeom prst="line">
              <a:avLst/>
            </a:prstGeom>
            <a:noFill/>
            <a:ln w="28575" algn="ctr">
              <a:solidFill>
                <a:schemeClr val="tx1"/>
              </a:solidFill>
              <a:round/>
              <a:headEnd/>
              <a:tailEnd/>
            </a:ln>
          </p:spPr>
        </p:cxnSp>
        <p:cxnSp>
          <p:nvCxnSpPr>
            <p:cNvPr id="67" name="直接连接符 54"/>
            <p:cNvCxnSpPr>
              <a:cxnSpLocks noChangeShapeType="1"/>
            </p:cNvCxnSpPr>
            <p:nvPr/>
          </p:nvCxnSpPr>
          <p:spPr bwMode="auto">
            <a:xfrm flipH="1">
              <a:off x="7608681" y="2493118"/>
              <a:ext cx="759563" cy="672045"/>
            </a:xfrm>
            <a:prstGeom prst="line">
              <a:avLst/>
            </a:prstGeom>
            <a:noFill/>
            <a:ln w="28575" algn="ctr">
              <a:solidFill>
                <a:schemeClr val="tx1"/>
              </a:solidFill>
              <a:round/>
              <a:headEnd/>
              <a:tailEnd/>
            </a:ln>
          </p:spPr>
        </p:cxnSp>
        <p:cxnSp>
          <p:nvCxnSpPr>
            <p:cNvPr id="68" name="直接连接符 61"/>
            <p:cNvCxnSpPr>
              <a:cxnSpLocks noChangeShapeType="1"/>
            </p:cNvCxnSpPr>
            <p:nvPr/>
          </p:nvCxnSpPr>
          <p:spPr bwMode="auto">
            <a:xfrm flipV="1">
              <a:off x="7407575" y="3110378"/>
              <a:ext cx="1345668" cy="138709"/>
            </a:xfrm>
            <a:prstGeom prst="line">
              <a:avLst/>
            </a:prstGeom>
            <a:noFill/>
            <a:ln w="28575" algn="ctr">
              <a:solidFill>
                <a:schemeClr val="tx1"/>
              </a:solidFill>
              <a:round/>
              <a:headEnd/>
              <a:tailEnd/>
            </a:ln>
          </p:spPr>
        </p:cxnSp>
        <p:cxnSp>
          <p:nvCxnSpPr>
            <p:cNvPr id="69" name="直接连接符 62"/>
            <p:cNvCxnSpPr>
              <a:cxnSpLocks noChangeShapeType="1"/>
            </p:cNvCxnSpPr>
            <p:nvPr/>
          </p:nvCxnSpPr>
          <p:spPr bwMode="auto">
            <a:xfrm>
              <a:off x="7477875" y="3373696"/>
              <a:ext cx="1040889" cy="748521"/>
            </a:xfrm>
            <a:prstGeom prst="line">
              <a:avLst/>
            </a:prstGeom>
            <a:noFill/>
            <a:ln w="28575" algn="ctr">
              <a:solidFill>
                <a:schemeClr val="tx1"/>
              </a:solidFill>
              <a:round/>
              <a:headEnd/>
              <a:tailEnd/>
            </a:ln>
          </p:spPr>
        </p:cxnSp>
        <p:sp>
          <p:nvSpPr>
            <p:cNvPr id="70" name="矩形 64"/>
            <p:cNvSpPr>
              <a:spLocks noChangeArrowheads="1"/>
            </p:cNvSpPr>
            <p:nvPr/>
          </p:nvSpPr>
          <p:spPr bwMode="auto">
            <a:xfrm>
              <a:off x="2283364" y="3600060"/>
              <a:ext cx="1144865" cy="276999"/>
            </a:xfrm>
            <a:prstGeom prst="rect">
              <a:avLst/>
            </a:prstGeom>
            <a:noFill/>
            <a:ln w="9525">
              <a:noFill/>
              <a:miter lim="800000"/>
              <a:headEnd/>
              <a:tailEnd/>
            </a:ln>
          </p:spPr>
          <p:txBody>
            <a:bodyPr wrap="square">
              <a:noAutofit/>
            </a:bodyPr>
            <a:lstStyle/>
            <a:p>
              <a:pPr eaLnBrk="0" fontAlgn="t" hangingPunct="0">
                <a:buSzPct val="100000"/>
              </a:pPr>
              <a:r>
                <a:rPr lang="en-US" altLang="zh-CN" b="1" dirty="0">
                  <a:solidFill>
                    <a:srgbClr val="000000"/>
                  </a:solidFill>
                  <a:latin typeface="+mn-lt"/>
                  <a:ea typeface="+mn-ea"/>
                  <a:sym typeface="FrutigerNext LT Regular" pitchFamily="34" charset="0"/>
                </a:rPr>
                <a:t>Headquarters</a:t>
              </a:r>
            </a:p>
          </p:txBody>
        </p:sp>
        <p:sp>
          <p:nvSpPr>
            <p:cNvPr id="71" name="矩形 65"/>
            <p:cNvSpPr>
              <a:spLocks noChangeArrowheads="1"/>
            </p:cNvSpPr>
            <p:nvPr/>
          </p:nvSpPr>
          <p:spPr bwMode="auto">
            <a:xfrm>
              <a:off x="9123431" y="2924156"/>
              <a:ext cx="1084460" cy="359159"/>
            </a:xfrm>
            <a:prstGeom prst="rect">
              <a:avLst/>
            </a:prstGeom>
            <a:noFill/>
            <a:ln w="9525">
              <a:noFill/>
              <a:miter lim="800000"/>
              <a:headEnd/>
              <a:tailEnd/>
            </a:ln>
          </p:spPr>
          <p:txBody>
            <a:bodyPr wrap="square">
              <a:noAutofit/>
            </a:bodyPr>
            <a:lstStyle/>
            <a:p>
              <a:pPr eaLnBrk="0" fontAlgn="t" hangingPunct="0">
                <a:buSzPct val="100000"/>
              </a:pPr>
              <a:r>
                <a:rPr lang="en-US" altLang="zh-CN" b="1" dirty="0">
                  <a:solidFill>
                    <a:srgbClr val="000000"/>
                  </a:solidFill>
                  <a:latin typeface="+mn-lt"/>
                  <a:ea typeface="+mn-ea"/>
                  <a:sym typeface="FrutigerNext LT Regular" pitchFamily="34" charset="0"/>
                </a:rPr>
                <a:t>R&amp;D department</a:t>
              </a:r>
            </a:p>
          </p:txBody>
        </p:sp>
        <p:sp>
          <p:nvSpPr>
            <p:cNvPr id="72" name="矩形 66"/>
            <p:cNvSpPr>
              <a:spLocks noChangeArrowheads="1"/>
            </p:cNvSpPr>
            <p:nvPr/>
          </p:nvSpPr>
          <p:spPr bwMode="auto">
            <a:xfrm>
              <a:off x="8820703" y="3889890"/>
              <a:ext cx="1181882" cy="477797"/>
            </a:xfrm>
            <a:prstGeom prst="rect">
              <a:avLst/>
            </a:prstGeom>
            <a:noFill/>
            <a:ln w="9525">
              <a:noFill/>
              <a:miter lim="800000"/>
              <a:headEnd/>
              <a:tailEnd/>
            </a:ln>
          </p:spPr>
          <p:txBody>
            <a:bodyPr wrap="square">
              <a:noAutofit/>
            </a:bodyPr>
            <a:lstStyle/>
            <a:p>
              <a:pPr eaLnBrk="0" fontAlgn="t" hangingPunct="0">
                <a:buSzPct val="100000"/>
              </a:pPr>
              <a:r>
                <a:rPr lang="en-US" altLang="zh-CN" b="1" dirty="0">
                  <a:solidFill>
                    <a:srgbClr val="000000"/>
                  </a:solidFill>
                  <a:latin typeface="+mn-lt"/>
                  <a:ea typeface="+mn-ea"/>
                  <a:sym typeface="FrutigerNext LT Regular" pitchFamily="34" charset="0"/>
                </a:rPr>
                <a:t>Documentation</a:t>
              </a:r>
              <a:r>
                <a:rPr lang="en-US" altLang="zh-CN" sz="1050" b="1" dirty="0">
                  <a:solidFill>
                    <a:srgbClr val="000000"/>
                  </a:solidFill>
                  <a:latin typeface="+mn-lt"/>
                  <a:ea typeface="+mn-ea"/>
                  <a:sym typeface="FrutigerNext LT Regular" pitchFamily="34" charset="0"/>
                </a:rPr>
                <a:t> department</a:t>
              </a:r>
            </a:p>
          </p:txBody>
        </p:sp>
        <p:sp>
          <p:nvSpPr>
            <p:cNvPr id="73" name="文本框 67"/>
            <p:cNvSpPr txBox="1">
              <a:spLocks noChangeArrowheads="1"/>
            </p:cNvSpPr>
            <p:nvPr/>
          </p:nvSpPr>
          <p:spPr bwMode="auto">
            <a:xfrm>
              <a:off x="5825648" y="2459323"/>
              <a:ext cx="738187" cy="316392"/>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400" b="1" dirty="0">
                  <a:solidFill>
                    <a:srgbClr val="C00000"/>
                  </a:solidFill>
                  <a:latin typeface="+mn-lt"/>
                  <a:ea typeface="+mn-ea"/>
                  <a:cs typeface="Arial" charset="0"/>
                  <a:sym typeface="FrutigerNext LT Regular" pitchFamily="34" charset="0"/>
                </a:rPr>
                <a:t>OSPF</a:t>
              </a:r>
            </a:p>
          </p:txBody>
        </p:sp>
        <p:sp>
          <p:nvSpPr>
            <p:cNvPr id="74" name="文本框 68"/>
            <p:cNvSpPr txBox="1">
              <a:spLocks noChangeArrowheads="1"/>
            </p:cNvSpPr>
            <p:nvPr/>
          </p:nvSpPr>
          <p:spPr bwMode="auto">
            <a:xfrm>
              <a:off x="2256188" y="2421435"/>
              <a:ext cx="1150937" cy="470280"/>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100" b="1" dirty="0">
                  <a:solidFill>
                    <a:srgbClr val="000000"/>
                  </a:solidFill>
                  <a:latin typeface="+mn-lt"/>
                  <a:ea typeface="+mn-ea"/>
                  <a:cs typeface="Arial" charset="0"/>
                  <a:sym typeface="FrutigerNext LT Regular" pitchFamily="34" charset="0"/>
                </a:rPr>
                <a:t>Marketing department</a:t>
              </a:r>
            </a:p>
          </p:txBody>
        </p:sp>
        <p:sp>
          <p:nvSpPr>
            <p:cNvPr id="75" name="文本框 78"/>
            <p:cNvSpPr txBox="1">
              <a:spLocks noChangeArrowheads="1"/>
            </p:cNvSpPr>
            <p:nvPr/>
          </p:nvSpPr>
          <p:spPr bwMode="auto">
            <a:xfrm>
              <a:off x="5206775" y="3776130"/>
              <a:ext cx="562920" cy="291771"/>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76" name="文本框 79"/>
            <p:cNvSpPr txBox="1">
              <a:spLocks noChangeArrowheads="1"/>
            </p:cNvSpPr>
            <p:nvPr/>
          </p:nvSpPr>
          <p:spPr bwMode="auto">
            <a:xfrm>
              <a:off x="4455667" y="2500214"/>
              <a:ext cx="771524" cy="285614"/>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77" name="文本框 80"/>
            <p:cNvSpPr txBox="1">
              <a:spLocks noChangeArrowheads="1"/>
            </p:cNvSpPr>
            <p:nvPr/>
          </p:nvSpPr>
          <p:spPr bwMode="auto">
            <a:xfrm>
              <a:off x="5816155" y="2833689"/>
              <a:ext cx="771524" cy="285614"/>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78" name="文本框 81"/>
            <p:cNvSpPr txBox="1">
              <a:spLocks noChangeArrowheads="1"/>
            </p:cNvSpPr>
            <p:nvPr/>
          </p:nvSpPr>
          <p:spPr bwMode="auto">
            <a:xfrm>
              <a:off x="7092504" y="3594101"/>
              <a:ext cx="771524" cy="285614"/>
            </a:xfrm>
            <a:prstGeom prst="rect">
              <a:avLst/>
            </a:prstGeom>
            <a:noFill/>
            <a:ln w="9525">
              <a:noFill/>
              <a:miter lim="800000"/>
              <a:headEnd/>
              <a:tailEnd/>
            </a:ln>
          </p:spPr>
          <p:txBody>
            <a:bodyPr wrap="square" lIns="99980" tIns="49986" rIns="99980" bIns="49986">
              <a:no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grpSp>
          <p:nvGrpSpPr>
            <p:cNvPr id="79" name="组合 48"/>
            <p:cNvGrpSpPr>
              <a:grpSpLocks noChangeAspect="1"/>
            </p:cNvGrpSpPr>
            <p:nvPr/>
          </p:nvGrpSpPr>
          <p:grpSpPr bwMode="auto">
            <a:xfrm>
              <a:off x="7806880" y="2738439"/>
              <a:ext cx="139700" cy="141287"/>
              <a:chOff x="389239" y="2587273"/>
              <a:chExt cx="192358" cy="194586"/>
            </a:xfrm>
          </p:grpSpPr>
          <p:cxnSp>
            <p:nvCxnSpPr>
              <p:cNvPr id="98" name="直接连接符 49"/>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99" name="直接连接符 50"/>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80" name="组合 55"/>
            <p:cNvGrpSpPr>
              <a:grpSpLocks noChangeAspect="1"/>
            </p:cNvGrpSpPr>
            <p:nvPr/>
          </p:nvGrpSpPr>
          <p:grpSpPr bwMode="auto">
            <a:xfrm>
              <a:off x="7967218" y="3216276"/>
              <a:ext cx="139700" cy="142875"/>
              <a:chOff x="389239" y="2587273"/>
              <a:chExt cx="192358" cy="194586"/>
            </a:xfrm>
          </p:grpSpPr>
          <p:cxnSp>
            <p:nvCxnSpPr>
              <p:cNvPr id="96" name="直接连接符 56"/>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97" name="直接连接符 57"/>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81" name="组合 58"/>
            <p:cNvGrpSpPr>
              <a:grpSpLocks noChangeAspect="1"/>
            </p:cNvGrpSpPr>
            <p:nvPr/>
          </p:nvGrpSpPr>
          <p:grpSpPr bwMode="auto">
            <a:xfrm>
              <a:off x="7960869" y="3395664"/>
              <a:ext cx="141287" cy="141287"/>
              <a:chOff x="389239" y="2587273"/>
              <a:chExt cx="192358" cy="194586"/>
            </a:xfrm>
          </p:grpSpPr>
          <p:cxnSp>
            <p:nvCxnSpPr>
              <p:cNvPr id="94" name="直接连接符 59"/>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95" name="直接连接符 60"/>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pic>
          <p:nvPicPr>
            <p:cNvPr id="82" name="图片 8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75256" y="3509252"/>
              <a:ext cx="540000" cy="442800"/>
            </a:xfrm>
            <a:prstGeom prst="rect">
              <a:avLst/>
            </a:prstGeom>
          </p:spPr>
        </p:pic>
        <p:pic>
          <p:nvPicPr>
            <p:cNvPr id="83" name="图片 8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504922" y="2161623"/>
              <a:ext cx="540000" cy="442800"/>
            </a:xfrm>
            <a:prstGeom prst="rect">
              <a:avLst/>
            </a:prstGeom>
          </p:spPr>
        </p:pic>
        <p:pic>
          <p:nvPicPr>
            <p:cNvPr id="84" name="图片 8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317725" y="3914712"/>
              <a:ext cx="540000" cy="442800"/>
            </a:xfrm>
            <a:prstGeom prst="rect">
              <a:avLst/>
            </a:prstGeom>
          </p:spPr>
        </p:pic>
        <p:pic>
          <p:nvPicPr>
            <p:cNvPr id="8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56159" y="3504618"/>
              <a:ext cx="628652" cy="514351"/>
            </a:xfrm>
            <a:prstGeom prst="rect">
              <a:avLst/>
            </a:prstGeom>
            <a:noFill/>
          </p:spPr>
        </p:pic>
        <p:pic>
          <p:nvPicPr>
            <p:cNvPr id="8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918519" y="3111816"/>
              <a:ext cx="628652" cy="514351"/>
            </a:xfrm>
            <a:prstGeom prst="rect">
              <a:avLst/>
            </a:prstGeom>
            <a:noFill/>
          </p:spPr>
        </p:pic>
        <p:pic>
          <p:nvPicPr>
            <p:cNvPr id="8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197879" y="3046933"/>
              <a:ext cx="628652" cy="514351"/>
            </a:xfrm>
            <a:prstGeom prst="rect">
              <a:avLst/>
            </a:prstGeom>
            <a:noFill/>
          </p:spPr>
        </p:pic>
        <p:pic>
          <p:nvPicPr>
            <p:cNvPr id="8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57328" y="2764935"/>
              <a:ext cx="628652" cy="514351"/>
            </a:xfrm>
            <a:prstGeom prst="rect">
              <a:avLst/>
            </a:prstGeom>
            <a:noFill/>
          </p:spPr>
        </p:pic>
        <p:pic>
          <p:nvPicPr>
            <p:cNvPr id="89" name="图片 88" descr="市场部.png"/>
            <p:cNvPicPr>
              <a:picLocks noChangeAspect="1"/>
            </p:cNvPicPr>
            <p:nvPr/>
          </p:nvPicPr>
          <p:blipFill>
            <a:blip r:embed="rId5" cstate="print"/>
            <a:stretch>
              <a:fillRect/>
            </a:stretch>
          </p:blipFill>
          <p:spPr>
            <a:xfrm>
              <a:off x="3275256" y="2473670"/>
              <a:ext cx="540000" cy="441818"/>
            </a:xfrm>
            <a:prstGeom prst="rect">
              <a:avLst/>
            </a:prstGeom>
          </p:spPr>
        </p:pic>
        <p:pic>
          <p:nvPicPr>
            <p:cNvPr id="90" name="图片 89" descr="研发部.png"/>
            <p:cNvPicPr>
              <a:picLocks noChangeAspect="1"/>
            </p:cNvPicPr>
            <p:nvPr/>
          </p:nvPicPr>
          <p:blipFill>
            <a:blip r:embed="rId6" cstate="print"/>
            <a:stretch>
              <a:fillRect/>
            </a:stretch>
          </p:blipFill>
          <p:spPr>
            <a:xfrm>
              <a:off x="8651462" y="2891169"/>
              <a:ext cx="540000" cy="441818"/>
            </a:xfrm>
            <a:prstGeom prst="rect">
              <a:avLst/>
            </a:prstGeom>
          </p:spPr>
        </p:pic>
        <p:sp>
          <p:nvSpPr>
            <p:cNvPr id="91" name="任意多边形 85"/>
            <p:cNvSpPr>
              <a:spLocks/>
            </p:cNvSpPr>
            <p:nvPr/>
          </p:nvSpPr>
          <p:spPr bwMode="auto">
            <a:xfrm>
              <a:off x="3737677" y="2434680"/>
              <a:ext cx="4558001" cy="774732"/>
            </a:xfrm>
            <a:custGeom>
              <a:avLst/>
              <a:gdLst>
                <a:gd name="T0" fmla="*/ 0 w 4558441"/>
                <a:gd name="T1" fmla="*/ 168166 h 774851"/>
                <a:gd name="T2" fmla="*/ 934190 w 4558441"/>
                <a:gd name="T3" fmla="*/ 424655 h 774851"/>
                <a:gd name="T4" fmla="*/ 2442528 w 4558441"/>
                <a:gd name="T5" fmla="*/ 737658 h 774851"/>
                <a:gd name="T6" fmla="*/ 3670198 w 4558441"/>
                <a:gd name="T7" fmla="*/ 774851 h 774851"/>
                <a:gd name="T8" fmla="*/ 4558441 w 4558441"/>
                <a:gd name="T9" fmla="*/ 0 h 774851"/>
                <a:gd name="T10" fmla="*/ 0 60000 65536"/>
                <a:gd name="T11" fmla="*/ 0 60000 65536"/>
                <a:gd name="T12" fmla="*/ 0 60000 65536"/>
                <a:gd name="T13" fmla="*/ 0 60000 65536"/>
                <a:gd name="T14" fmla="*/ 0 60000 65536"/>
                <a:gd name="T15" fmla="*/ 0 w 4558441"/>
                <a:gd name="T16" fmla="*/ 0 h 774851"/>
                <a:gd name="T17" fmla="*/ 4558441 w 4558441"/>
                <a:gd name="T18" fmla="*/ 774851 h 774851"/>
              </a:gdLst>
              <a:ahLst/>
              <a:cxnLst>
                <a:cxn ang="T10">
                  <a:pos x="T0" y="T1"/>
                </a:cxn>
                <a:cxn ang="T11">
                  <a:pos x="T2" y="T3"/>
                </a:cxn>
                <a:cxn ang="T12">
                  <a:pos x="T4" y="T5"/>
                </a:cxn>
                <a:cxn ang="T13">
                  <a:pos x="T6" y="T7"/>
                </a:cxn>
                <a:cxn ang="T14">
                  <a:pos x="T8" y="T9"/>
                </a:cxn>
              </a:cxnLst>
              <a:rect l="T15" t="T16" r="T17" b="T18"/>
              <a:pathLst>
                <a:path w="4558441" h="774851">
                  <a:moveTo>
                    <a:pt x="0" y="168166"/>
                  </a:moveTo>
                  <a:cubicBezTo>
                    <a:pt x="456867" y="332225"/>
                    <a:pt x="527102" y="329740"/>
                    <a:pt x="934190" y="424655"/>
                  </a:cubicBezTo>
                  <a:cubicBezTo>
                    <a:pt x="1341278" y="519570"/>
                    <a:pt x="1986527" y="679292"/>
                    <a:pt x="2442528" y="737658"/>
                  </a:cubicBezTo>
                  <a:cubicBezTo>
                    <a:pt x="2898529" y="796024"/>
                    <a:pt x="3317802" y="757288"/>
                    <a:pt x="3670199" y="774851"/>
                  </a:cubicBezTo>
                  <a:cubicBezTo>
                    <a:pt x="4235447" y="352873"/>
                    <a:pt x="4274375" y="255507"/>
                    <a:pt x="4558441" y="0"/>
                  </a:cubicBezTo>
                </a:path>
              </a:pathLst>
            </a:custGeom>
            <a:noFill/>
            <a:ln w="28575" cap="flat" cmpd="sng" algn="ctr">
              <a:solidFill>
                <a:srgbClr val="C00000"/>
              </a:solidFill>
              <a:prstDash val="dash"/>
              <a:round/>
              <a:headEnd type="none" w="med" len="med"/>
              <a:tailEnd type="stealth" w="lg" len="lg"/>
            </a:ln>
          </p:spPr>
          <p:txBody>
            <a:bodyPr wrap="square">
              <a:noAutofit/>
            </a:bodyPr>
            <a:lstStyle/>
            <a:p>
              <a:endParaRPr lang="en-US" altLang="zh-CN" sz="900" dirty="0">
                <a:latin typeface="+mn-lt"/>
                <a:ea typeface="+mn-ea"/>
              </a:endParaRPr>
            </a:p>
          </p:txBody>
        </p:sp>
        <p:sp>
          <p:nvSpPr>
            <p:cNvPr id="92" name="任意多边形 86"/>
            <p:cNvSpPr>
              <a:spLocks/>
            </p:cNvSpPr>
            <p:nvPr/>
          </p:nvSpPr>
          <p:spPr bwMode="auto">
            <a:xfrm>
              <a:off x="3652176" y="2805356"/>
              <a:ext cx="5085132" cy="515727"/>
            </a:xfrm>
            <a:custGeom>
              <a:avLst/>
              <a:gdLst>
                <a:gd name="T0" fmla="*/ 0 w 5085623"/>
                <a:gd name="T1" fmla="*/ 0 h 515806"/>
                <a:gd name="T2" fmla="*/ 1073676 w 5085623"/>
                <a:gd name="T3" fmla="*/ 219770 h 515806"/>
                <a:gd name="T4" fmla="*/ 2349061 w 5085623"/>
                <a:gd name="T5" fmla="*/ 483416 h 515806"/>
                <a:gd name="T6" fmla="*/ 3801582 w 5085623"/>
                <a:gd name="T7" fmla="*/ 499387 h 515806"/>
                <a:gd name="T8" fmla="*/ 5085623 w 5085623"/>
                <a:gd name="T9" fmla="*/ 435313 h 515806"/>
                <a:gd name="T10" fmla="*/ 0 60000 65536"/>
                <a:gd name="T11" fmla="*/ 0 60000 65536"/>
                <a:gd name="T12" fmla="*/ 0 60000 65536"/>
                <a:gd name="T13" fmla="*/ 0 60000 65536"/>
                <a:gd name="T14" fmla="*/ 0 60000 65536"/>
                <a:gd name="T15" fmla="*/ 0 w 5085623"/>
                <a:gd name="T16" fmla="*/ 0 h 515806"/>
                <a:gd name="T17" fmla="*/ 5085623 w 5085623"/>
                <a:gd name="T18" fmla="*/ 515806 h 515806"/>
              </a:gdLst>
              <a:ahLst/>
              <a:cxnLst>
                <a:cxn ang="T10">
                  <a:pos x="T0" y="T1"/>
                </a:cxn>
                <a:cxn ang="T11">
                  <a:pos x="T2" y="T3"/>
                </a:cxn>
                <a:cxn ang="T12">
                  <a:pos x="T4" y="T5"/>
                </a:cxn>
                <a:cxn ang="T13">
                  <a:pos x="T6" y="T7"/>
                </a:cxn>
                <a:cxn ang="T14">
                  <a:pos x="T8" y="T9"/>
                </a:cxn>
              </a:cxnLst>
              <a:rect l="T15" t="T16" r="T17" b="T18"/>
              <a:pathLst>
                <a:path w="5085623" h="515806">
                  <a:moveTo>
                    <a:pt x="0" y="0"/>
                  </a:moveTo>
                  <a:cubicBezTo>
                    <a:pt x="456866" y="148561"/>
                    <a:pt x="682164" y="139201"/>
                    <a:pt x="1073674" y="219770"/>
                  </a:cubicBezTo>
                  <a:cubicBezTo>
                    <a:pt x="1465184" y="300339"/>
                    <a:pt x="1894410" y="436813"/>
                    <a:pt x="2349061" y="483416"/>
                  </a:cubicBezTo>
                  <a:cubicBezTo>
                    <a:pt x="2803712" y="530019"/>
                    <a:pt x="3234782" y="517809"/>
                    <a:pt x="3801578" y="499387"/>
                  </a:cubicBezTo>
                  <a:cubicBezTo>
                    <a:pt x="4346558" y="490140"/>
                    <a:pt x="4614384" y="486719"/>
                    <a:pt x="5085623" y="435313"/>
                  </a:cubicBezTo>
                </a:path>
              </a:pathLst>
            </a:custGeom>
            <a:noFill/>
            <a:ln w="28575" cap="flat" cmpd="sng" algn="ctr">
              <a:solidFill>
                <a:srgbClr val="C00000"/>
              </a:solidFill>
              <a:prstDash val="dash"/>
              <a:round/>
              <a:headEnd type="none" w="med" len="med"/>
              <a:tailEnd type="stealth" w="lg" len="lg"/>
            </a:ln>
          </p:spPr>
          <p:txBody>
            <a:bodyPr wrap="square">
              <a:noAutofit/>
            </a:bodyPr>
            <a:lstStyle/>
            <a:p>
              <a:endParaRPr lang="en-US" altLang="zh-CN" sz="900" dirty="0">
                <a:latin typeface="+mn-lt"/>
                <a:ea typeface="+mn-ea"/>
              </a:endParaRPr>
            </a:p>
          </p:txBody>
        </p:sp>
        <p:sp>
          <p:nvSpPr>
            <p:cNvPr id="93" name="任意多边形 87"/>
            <p:cNvSpPr>
              <a:spLocks/>
            </p:cNvSpPr>
            <p:nvPr/>
          </p:nvSpPr>
          <p:spPr bwMode="auto">
            <a:xfrm>
              <a:off x="3698600" y="3446640"/>
              <a:ext cx="4980900" cy="378422"/>
            </a:xfrm>
            <a:custGeom>
              <a:avLst/>
              <a:gdLst>
                <a:gd name="T0" fmla="*/ 0 w 4992029"/>
                <a:gd name="T1" fmla="*/ 321106 h 446105"/>
                <a:gd name="T2" fmla="*/ 1107441 w 4992029"/>
                <a:gd name="T3" fmla="*/ 275854 h 446105"/>
                <a:gd name="T4" fmla="*/ 2378087 w 4992029"/>
                <a:gd name="T5" fmla="*/ 19058 h 446105"/>
                <a:gd name="T6" fmla="*/ 3835063 w 4992029"/>
                <a:gd name="T7" fmla="*/ 19584 h 446105"/>
                <a:gd name="T8" fmla="*/ 4970756 w 4992029"/>
                <a:gd name="T9" fmla="*/ 9748 h 446105"/>
                <a:gd name="T10" fmla="*/ 0 60000 65536"/>
                <a:gd name="T11" fmla="*/ 0 60000 65536"/>
                <a:gd name="T12" fmla="*/ 0 60000 65536"/>
                <a:gd name="T13" fmla="*/ 0 60000 65536"/>
                <a:gd name="T14" fmla="*/ 0 60000 65536"/>
                <a:gd name="T15" fmla="*/ 0 w 4992029"/>
                <a:gd name="T16" fmla="*/ 0 h 446105"/>
                <a:gd name="T17" fmla="*/ 4992029 w 4992029"/>
                <a:gd name="T18" fmla="*/ 446105 h 446105"/>
              </a:gdLst>
              <a:ahLst/>
              <a:cxnLst>
                <a:cxn ang="T10">
                  <a:pos x="T0" y="T1"/>
                </a:cxn>
                <a:cxn ang="T11">
                  <a:pos x="T2" y="T3"/>
                </a:cxn>
                <a:cxn ang="T12">
                  <a:pos x="T4" y="T5"/>
                </a:cxn>
                <a:cxn ang="T13">
                  <a:pos x="T6" y="T7"/>
                </a:cxn>
                <a:cxn ang="T14">
                  <a:pos x="T8" y="T9"/>
                </a:cxn>
              </a:cxnLst>
              <a:rect l="T15" t="T16" r="T17" b="T18"/>
              <a:pathLst>
                <a:path w="4992029" h="446105">
                  <a:moveTo>
                    <a:pt x="0" y="446105"/>
                  </a:moveTo>
                  <a:cubicBezTo>
                    <a:pt x="396336" y="404946"/>
                    <a:pt x="714136" y="453175"/>
                    <a:pt x="1112180" y="383237"/>
                  </a:cubicBezTo>
                  <a:cubicBezTo>
                    <a:pt x="1510224" y="313299"/>
                    <a:pt x="1931715" y="85814"/>
                    <a:pt x="2388264" y="26476"/>
                  </a:cubicBezTo>
                  <a:cubicBezTo>
                    <a:pt x="2844813" y="-32862"/>
                    <a:pt x="3391937" y="25893"/>
                    <a:pt x="3851477" y="27207"/>
                  </a:cubicBezTo>
                  <a:cubicBezTo>
                    <a:pt x="4231661" y="22652"/>
                    <a:pt x="4594876" y="-1860"/>
                    <a:pt x="4992029" y="13543"/>
                  </a:cubicBezTo>
                </a:path>
              </a:pathLst>
            </a:custGeom>
            <a:noFill/>
            <a:ln w="28575" cap="flat" cmpd="sng" algn="ctr">
              <a:solidFill>
                <a:srgbClr val="C00000"/>
              </a:solidFill>
              <a:prstDash val="dash"/>
              <a:round/>
              <a:headEnd type="none" w="med" len="med"/>
              <a:tailEnd type="stealth" w="lg" len="lg"/>
            </a:ln>
          </p:spPr>
          <p:txBody>
            <a:bodyPr wrap="square">
              <a:noAutofit/>
            </a:bodyPr>
            <a:lstStyle/>
            <a:p>
              <a:endParaRPr lang="en-US" altLang="zh-CN" sz="900" dirty="0">
                <a:latin typeface="+mn-lt"/>
                <a:ea typeface="+mn-ea"/>
              </a:endParaRPr>
            </a:p>
          </p:txBody>
        </p:sp>
      </p:grpSp>
    </p:spTree>
    <p:extLst>
      <p:ext uri="{BB962C8B-B14F-4D97-AF65-F5344CB8AC3E}">
        <p14:creationId xmlns:p14="http://schemas.microsoft.com/office/powerpoint/2010/main" val="99384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8"/>
                                        </p:tgtEl>
                                        <p:attrNameLst>
                                          <p:attrName>style.visibility</p:attrName>
                                        </p:attrNameLst>
                                      </p:cBhvr>
                                      <p:to>
                                        <p:strVal val="visible"/>
                                      </p:to>
                                    </p:set>
                                    <p:animEffect transition="in" filter="wipe(left)">
                                      <p:cBhvr>
                                        <p:cTn id="7" dur="500"/>
                                        <p:tgtEl>
                                          <p:spTgt spid="1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9"/>
                                        </p:tgtEl>
                                        <p:attrNameLst>
                                          <p:attrName>style.visibility</p:attrName>
                                        </p:attrNameLst>
                                      </p:cBhvr>
                                      <p:to>
                                        <p:strVal val="visible"/>
                                      </p:to>
                                    </p:set>
                                    <p:animEffect transition="in" filter="wipe(left)">
                                      <p:cBhvr>
                                        <p:cTn id="12" dur="5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p:bldP spid="15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sz="2400" dirty="0" smtClean="0">
                <a:solidFill>
                  <a:srgbClr val="000000"/>
                </a:solidFill>
                <a:sym typeface="FrutigerNext LT Regular" pitchFamily="34" charset="0"/>
              </a:rPr>
              <a:t>ACL </a:t>
            </a:r>
            <a:r>
              <a:rPr lang="en-US" altLang="zh-CN" sz="2400" dirty="0">
                <a:solidFill>
                  <a:srgbClr val="000000"/>
                </a:solidFill>
                <a:sym typeface="FrutigerNext LT Regular" pitchFamily="34" charset="0"/>
              </a:rPr>
              <a:t>classifies packets into different types by based on packet information.</a:t>
            </a:r>
          </a:p>
          <a:p>
            <a:endParaRPr lang="zh-CN" altLang="en-US" dirty="0"/>
          </a:p>
        </p:txBody>
      </p:sp>
      <p:sp>
        <p:nvSpPr>
          <p:cNvPr id="2" name="文本占位符 1"/>
          <p:cNvSpPr>
            <a:spLocks noGrp="1"/>
          </p:cNvSpPr>
          <p:nvPr>
            <p:ph type="body" sz="quarter" idx="12"/>
          </p:nvPr>
        </p:nvSpPr>
        <p:spPr>
          <a:xfrm>
            <a:off x="1595500" y="410400"/>
            <a:ext cx="9831600" cy="639559"/>
          </a:xfrm>
        </p:spPr>
        <p:txBody>
          <a:bodyPr/>
          <a:lstStyle/>
          <a:p>
            <a:r>
              <a:rPr lang="en-US" altLang="zh-CN" dirty="0"/>
              <a:t>ACL Application Example (1</a:t>
            </a:r>
            <a:r>
              <a:rPr lang="en-US" altLang="zh-CN" dirty="0" smtClean="0"/>
              <a:t>)</a:t>
            </a:r>
            <a:endParaRPr lang="en-US" altLang="zh-CN" dirty="0"/>
          </a:p>
        </p:txBody>
      </p:sp>
      <p:sp>
        <p:nvSpPr>
          <p:cNvPr id="29700" name="AutoShape 24"/>
          <p:cNvSpPr>
            <a:spLocks noChangeArrowheads="1"/>
          </p:cNvSpPr>
          <p:nvPr/>
        </p:nvSpPr>
        <p:spPr bwMode="auto">
          <a:xfrm>
            <a:off x="3324225" y="2443164"/>
            <a:ext cx="6192838" cy="936625"/>
          </a:xfrm>
          <a:prstGeom prst="rightArrow">
            <a:avLst>
              <a:gd name="adj1" fmla="val 77954"/>
              <a:gd name="adj2" fmla="val 44324"/>
            </a:avLst>
          </a:prstGeom>
          <a:noFill/>
          <a:ln w="9525" algn="ctr">
            <a:solidFill>
              <a:schemeClr val="tx1"/>
            </a:solidFill>
            <a:miter lim="800000"/>
            <a:headEnd/>
            <a:tailEnd/>
          </a:ln>
        </p:spPr>
        <p:txBody>
          <a:bodyPr wrap="none" anchor="ctr"/>
          <a:lstStyle/>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acl 2001</a:t>
            </a:r>
          </a:p>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rule 0 permit source 1.1.0.0  0.0.255.255</a:t>
            </a:r>
          </a:p>
        </p:txBody>
      </p:sp>
      <p:sp>
        <p:nvSpPr>
          <p:cNvPr id="29701" name="TextBox 4"/>
          <p:cNvSpPr txBox="1">
            <a:spLocks noChangeArrowheads="1"/>
          </p:cNvSpPr>
          <p:nvPr/>
        </p:nvSpPr>
        <p:spPr bwMode="auto">
          <a:xfrm>
            <a:off x="3967163" y="3708400"/>
            <a:ext cx="1439862" cy="2154238"/>
          </a:xfrm>
          <a:prstGeom prst="rect">
            <a:avLst/>
          </a:prstGeom>
          <a:noFill/>
          <a:ln w="9525">
            <a:noFill/>
            <a:miter lim="800000"/>
            <a:headEnd/>
            <a:tailEnd/>
          </a:ln>
        </p:spPr>
        <p:txBody>
          <a:bodyPr lIns="0" tIns="0" rIns="0" bIns="0">
            <a:spAutoFit/>
          </a:bodyPr>
          <a:lstStyle/>
          <a:p>
            <a:pPr eaLnBrk="0" fontAlgn="t" hangingPunct="0">
              <a:buSzPct val="100000"/>
            </a:pPr>
            <a:r>
              <a:rPr lang="en-US" altLang="zh-CN" sz="2000" dirty="0">
                <a:solidFill>
                  <a:srgbClr val="000000"/>
                </a:solidFill>
                <a:latin typeface="+mn-lt"/>
                <a:ea typeface="+mn-ea"/>
                <a:sym typeface="FrutigerNext LT Regular" pitchFamily="34" charset="0"/>
              </a:rPr>
              <a:t>1.1.1.1/32</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1.1.1.0/24</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1.1.0.0/16</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1.0.0.0/8</a:t>
            </a:r>
          </a:p>
        </p:txBody>
      </p:sp>
      <p:sp>
        <p:nvSpPr>
          <p:cNvPr id="10" name="TextBox 7"/>
          <p:cNvSpPr txBox="1">
            <a:spLocks noChangeArrowheads="1"/>
          </p:cNvSpPr>
          <p:nvPr/>
        </p:nvSpPr>
        <p:spPr bwMode="auto">
          <a:xfrm>
            <a:off x="7361238" y="3725864"/>
            <a:ext cx="1439862" cy="1538287"/>
          </a:xfrm>
          <a:prstGeom prst="rect">
            <a:avLst/>
          </a:prstGeom>
          <a:noFill/>
          <a:ln w="9525">
            <a:noFill/>
            <a:miter lim="800000"/>
            <a:headEnd/>
            <a:tailEnd/>
          </a:ln>
        </p:spPr>
        <p:txBody>
          <a:bodyPr lIns="0" tIns="0" rIns="0" bIns="0">
            <a:spAutoFit/>
          </a:bodyPr>
          <a:lstStyle/>
          <a:p>
            <a:pPr eaLnBrk="0" fontAlgn="t" hangingPunct="0">
              <a:buSzPct val="100000"/>
            </a:pPr>
            <a:r>
              <a:rPr lang="en-US" altLang="zh-CN" sz="2000" b="1" dirty="0">
                <a:solidFill>
                  <a:srgbClr val="000000"/>
                </a:solidFill>
                <a:latin typeface="+mn-lt"/>
                <a:ea typeface="+mn-ea"/>
                <a:sym typeface="FrutigerNext LT Regular" pitchFamily="34" charset="0"/>
              </a:rPr>
              <a:t>1.1.1.1/32</a:t>
            </a:r>
          </a:p>
          <a:p>
            <a:pPr eaLnBrk="0" fontAlgn="t" hangingPunct="0">
              <a:buSzPct val="100000"/>
            </a:pPr>
            <a:endParaRPr lang="en-US" altLang="zh-CN" sz="2000" b="1" dirty="0">
              <a:solidFill>
                <a:srgbClr val="000000"/>
              </a:solidFill>
              <a:latin typeface="+mn-lt"/>
              <a:ea typeface="+mn-ea"/>
              <a:sym typeface="FrutigerNext LT Regular" pitchFamily="34" charset="0"/>
            </a:endParaRPr>
          </a:p>
          <a:p>
            <a:pPr eaLnBrk="0" fontAlgn="t" hangingPunct="0">
              <a:buSzPct val="100000"/>
            </a:pPr>
            <a:r>
              <a:rPr lang="en-US" altLang="zh-CN" sz="2000" b="1" dirty="0">
                <a:solidFill>
                  <a:srgbClr val="000000"/>
                </a:solidFill>
                <a:latin typeface="+mn-lt"/>
                <a:ea typeface="+mn-ea"/>
                <a:sym typeface="FrutigerNext LT Regular" pitchFamily="34" charset="0"/>
              </a:rPr>
              <a:t>1.1.1.0/24</a:t>
            </a:r>
          </a:p>
          <a:p>
            <a:pPr eaLnBrk="0" fontAlgn="t" hangingPunct="0">
              <a:buSzPct val="100000"/>
            </a:pPr>
            <a:endParaRPr lang="en-US" altLang="zh-CN" sz="2000" b="1" dirty="0">
              <a:solidFill>
                <a:srgbClr val="000000"/>
              </a:solidFill>
              <a:latin typeface="+mn-lt"/>
              <a:ea typeface="+mn-ea"/>
              <a:sym typeface="FrutigerNext LT Regular" pitchFamily="34" charset="0"/>
            </a:endParaRPr>
          </a:p>
          <a:p>
            <a:pPr eaLnBrk="0" fontAlgn="t" hangingPunct="0">
              <a:buSzPct val="100000"/>
            </a:pPr>
            <a:r>
              <a:rPr lang="en-US" altLang="zh-CN" sz="2000" b="1" dirty="0">
                <a:solidFill>
                  <a:srgbClr val="000000"/>
                </a:solidFill>
                <a:latin typeface="+mn-lt"/>
                <a:ea typeface="+mn-ea"/>
                <a:sym typeface="FrutigerNext LT Regular" pitchFamily="34" charset="0"/>
              </a:rPr>
              <a:t>1.1.0.0/16</a:t>
            </a:r>
          </a:p>
        </p:txBody>
      </p:sp>
    </p:spTree>
    <p:extLst>
      <p:ext uri="{BB962C8B-B14F-4D97-AF65-F5344CB8AC3E}">
        <p14:creationId xmlns:p14="http://schemas.microsoft.com/office/powerpoint/2010/main" val="193804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5679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t>ACL Application </a:t>
            </a:r>
            <a:r>
              <a:rPr lang="en-US" altLang="zh-CN" dirty="0" smtClean="0"/>
              <a:t>Example (2)</a:t>
            </a:r>
            <a:endParaRPr lang="zh-CN" altLang="en-US" dirty="0"/>
          </a:p>
        </p:txBody>
      </p:sp>
      <p:sp>
        <p:nvSpPr>
          <p:cNvPr id="30723" name="AutoShape 24"/>
          <p:cNvSpPr>
            <a:spLocks noChangeArrowheads="1"/>
          </p:cNvSpPr>
          <p:nvPr/>
        </p:nvSpPr>
        <p:spPr bwMode="auto">
          <a:xfrm>
            <a:off x="3011488" y="1570038"/>
            <a:ext cx="6553200" cy="1871662"/>
          </a:xfrm>
          <a:prstGeom prst="rightArrow">
            <a:avLst>
              <a:gd name="adj1" fmla="val 77954"/>
              <a:gd name="adj2" fmla="val 44349"/>
            </a:avLst>
          </a:prstGeom>
          <a:noFill/>
          <a:ln w="9525" algn="ctr">
            <a:solidFill>
              <a:schemeClr val="tx1"/>
            </a:solidFill>
            <a:miter lim="800000"/>
            <a:headEnd/>
            <a:tailEnd/>
          </a:ln>
        </p:spPr>
        <p:txBody>
          <a:bodyPr wrap="none" anchor="ctr"/>
          <a:lstStyle/>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acl 2001</a:t>
            </a:r>
          </a:p>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rule 0 permit source 1.1.1.1  0</a:t>
            </a:r>
          </a:p>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rule 1 </a:t>
            </a:r>
            <a:r>
              <a:rPr lang="en-US" altLang="zh-CN" sz="1800" dirty="0">
                <a:solidFill>
                  <a:srgbClr val="C00000"/>
                </a:solidFill>
                <a:latin typeface="+mn-lt"/>
                <a:ea typeface="+mn-ea"/>
                <a:cs typeface="Courier New" panose="02070309020205020404" pitchFamily="49" charset="0"/>
                <a:sym typeface="FrutigerNext LT Regular" pitchFamily="34" charset="0"/>
              </a:rPr>
              <a:t>deny</a:t>
            </a:r>
            <a:r>
              <a:rPr lang="en-US" altLang="zh-CN" sz="1800" dirty="0">
                <a:solidFill>
                  <a:srgbClr val="000000"/>
                </a:solidFill>
                <a:latin typeface="+mn-lt"/>
                <a:ea typeface="+mn-ea"/>
                <a:cs typeface="Courier New" panose="02070309020205020404" pitchFamily="49" charset="0"/>
                <a:sym typeface="FrutigerNext LT Regular" pitchFamily="34" charset="0"/>
              </a:rPr>
              <a:t> source 1.1.1.0  0</a:t>
            </a:r>
          </a:p>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rule 2 permit source 1.1.0.0  0.0.255.0</a:t>
            </a:r>
          </a:p>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rule 3 </a:t>
            </a:r>
            <a:r>
              <a:rPr lang="en-US" altLang="zh-CN" sz="1800" dirty="0">
                <a:solidFill>
                  <a:srgbClr val="C00000"/>
                </a:solidFill>
                <a:latin typeface="+mn-lt"/>
                <a:ea typeface="+mn-ea"/>
                <a:cs typeface="Courier New" panose="02070309020205020404" pitchFamily="49" charset="0"/>
                <a:sym typeface="FrutigerNext LT Regular" pitchFamily="34" charset="0"/>
              </a:rPr>
              <a:t>deny </a:t>
            </a:r>
            <a:r>
              <a:rPr lang="en-US" altLang="zh-CN" sz="1800" dirty="0">
                <a:solidFill>
                  <a:srgbClr val="000000"/>
                </a:solidFill>
                <a:latin typeface="+mn-lt"/>
                <a:ea typeface="+mn-ea"/>
                <a:cs typeface="Courier New" panose="02070309020205020404" pitchFamily="49" charset="0"/>
                <a:sym typeface="FrutigerNext LT Regular" pitchFamily="34" charset="0"/>
              </a:rPr>
              <a:t>source any</a:t>
            </a:r>
          </a:p>
        </p:txBody>
      </p:sp>
      <p:sp>
        <p:nvSpPr>
          <p:cNvPr id="30724" name="TextBox 4"/>
          <p:cNvSpPr txBox="1">
            <a:spLocks noChangeArrowheads="1"/>
          </p:cNvSpPr>
          <p:nvPr/>
        </p:nvSpPr>
        <p:spPr bwMode="auto">
          <a:xfrm>
            <a:off x="3000376" y="3578225"/>
            <a:ext cx="1439863" cy="2154238"/>
          </a:xfrm>
          <a:prstGeom prst="rect">
            <a:avLst/>
          </a:prstGeom>
          <a:noFill/>
          <a:ln w="9525">
            <a:noFill/>
            <a:miter lim="800000"/>
            <a:headEnd/>
            <a:tailEnd/>
          </a:ln>
        </p:spPr>
        <p:txBody>
          <a:bodyPr lIns="0" tIns="0" rIns="0" bIns="0">
            <a:spAutoFit/>
          </a:bodyPr>
          <a:lstStyle/>
          <a:p>
            <a:pPr eaLnBrk="0" fontAlgn="t" hangingPunct="0">
              <a:buSzPct val="100000"/>
            </a:pPr>
            <a:r>
              <a:rPr lang="en-US" altLang="zh-CN" sz="2000" dirty="0">
                <a:solidFill>
                  <a:srgbClr val="000000"/>
                </a:solidFill>
                <a:latin typeface="+mn-lt"/>
                <a:ea typeface="+mn-ea"/>
                <a:sym typeface="FrutigerNext LT Regular" pitchFamily="34" charset="0"/>
              </a:rPr>
              <a:t>1.1.1.1/32</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1.1.1.0/24</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1.1.0.0/16</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1.0.0.0/8</a:t>
            </a:r>
          </a:p>
        </p:txBody>
      </p:sp>
      <p:sp>
        <p:nvSpPr>
          <p:cNvPr id="16" name="TextBox 7"/>
          <p:cNvSpPr txBox="1">
            <a:spLocks noChangeArrowheads="1"/>
          </p:cNvSpPr>
          <p:nvPr/>
        </p:nvSpPr>
        <p:spPr bwMode="auto">
          <a:xfrm>
            <a:off x="7572376" y="3586164"/>
            <a:ext cx="1439863" cy="922337"/>
          </a:xfrm>
          <a:prstGeom prst="rect">
            <a:avLst/>
          </a:prstGeom>
          <a:noFill/>
          <a:ln w="9525">
            <a:noFill/>
            <a:miter lim="800000"/>
            <a:headEnd/>
            <a:tailEnd/>
          </a:ln>
        </p:spPr>
        <p:txBody>
          <a:bodyPr lIns="0" tIns="0" rIns="0" bIns="0">
            <a:spAutoFit/>
          </a:bodyPr>
          <a:lstStyle/>
          <a:p>
            <a:pPr eaLnBrk="0" fontAlgn="t" hangingPunct="0">
              <a:buSzPct val="100000"/>
            </a:pPr>
            <a:r>
              <a:rPr lang="en-US" altLang="zh-CN" sz="2000" b="1" dirty="0">
                <a:solidFill>
                  <a:srgbClr val="000000"/>
                </a:solidFill>
                <a:latin typeface="+mn-lt"/>
                <a:ea typeface="+mn-ea"/>
                <a:sym typeface="FrutigerNext LT Regular" pitchFamily="34" charset="0"/>
              </a:rPr>
              <a:t>1.1.1.1/32</a:t>
            </a:r>
          </a:p>
          <a:p>
            <a:pPr eaLnBrk="0" fontAlgn="t" hangingPunct="0">
              <a:buSzPct val="100000"/>
            </a:pPr>
            <a:endParaRPr lang="en-US" altLang="zh-CN" sz="2000" b="1" dirty="0">
              <a:solidFill>
                <a:srgbClr val="000000"/>
              </a:solidFill>
              <a:latin typeface="+mn-lt"/>
              <a:ea typeface="+mn-ea"/>
              <a:sym typeface="FrutigerNext LT Regular" pitchFamily="34" charset="0"/>
            </a:endParaRPr>
          </a:p>
          <a:p>
            <a:pPr eaLnBrk="0" fontAlgn="t" hangingPunct="0">
              <a:buSzPct val="100000"/>
            </a:pPr>
            <a:r>
              <a:rPr lang="en-US" altLang="zh-CN" sz="2000" b="1" dirty="0">
                <a:solidFill>
                  <a:srgbClr val="000000"/>
                </a:solidFill>
                <a:latin typeface="+mn-lt"/>
                <a:ea typeface="+mn-ea"/>
                <a:sym typeface="FrutigerNext LT Regular" pitchFamily="34" charset="0"/>
              </a:rPr>
              <a:t>1.1.0.0/16</a:t>
            </a:r>
          </a:p>
        </p:txBody>
      </p:sp>
    </p:spTree>
    <p:extLst>
      <p:ext uri="{BB962C8B-B14F-4D97-AF65-F5344CB8AC3E}">
        <p14:creationId xmlns:p14="http://schemas.microsoft.com/office/powerpoint/2010/main" val="116860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t>ACL Application </a:t>
            </a:r>
            <a:r>
              <a:rPr lang="en-US" altLang="zh-CN" dirty="0" smtClean="0"/>
              <a:t>Example (3)</a:t>
            </a:r>
            <a:endParaRPr lang="zh-CN" altLang="en-US" dirty="0"/>
          </a:p>
        </p:txBody>
      </p:sp>
      <p:sp>
        <p:nvSpPr>
          <p:cNvPr id="31747" name="AutoShape 24"/>
          <p:cNvSpPr>
            <a:spLocks noChangeArrowheads="1"/>
          </p:cNvSpPr>
          <p:nvPr/>
        </p:nvSpPr>
        <p:spPr bwMode="auto">
          <a:xfrm>
            <a:off x="3143250" y="1766889"/>
            <a:ext cx="5761038" cy="973137"/>
          </a:xfrm>
          <a:prstGeom prst="rightArrow">
            <a:avLst>
              <a:gd name="adj1" fmla="val 77954"/>
              <a:gd name="adj2" fmla="val 44291"/>
            </a:avLst>
          </a:prstGeom>
          <a:noFill/>
          <a:ln w="9525" algn="ctr">
            <a:solidFill>
              <a:schemeClr val="tx1"/>
            </a:solidFill>
            <a:miter lim="800000"/>
            <a:headEnd/>
            <a:tailEnd/>
          </a:ln>
        </p:spPr>
        <p:txBody>
          <a:bodyPr wrap="none" anchor="ctr"/>
          <a:lstStyle/>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acl 2001</a:t>
            </a:r>
          </a:p>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rule 0 permit source 1.1.1.0  0</a:t>
            </a:r>
          </a:p>
        </p:txBody>
      </p:sp>
      <p:sp>
        <p:nvSpPr>
          <p:cNvPr id="31748" name="TextBox 4"/>
          <p:cNvSpPr txBox="1">
            <a:spLocks noChangeArrowheads="1"/>
          </p:cNvSpPr>
          <p:nvPr/>
        </p:nvSpPr>
        <p:spPr bwMode="auto">
          <a:xfrm>
            <a:off x="3000376" y="2890839"/>
            <a:ext cx="1439863" cy="2770187"/>
          </a:xfrm>
          <a:prstGeom prst="rect">
            <a:avLst/>
          </a:prstGeom>
          <a:noFill/>
          <a:ln w="9525">
            <a:noFill/>
            <a:miter lim="800000"/>
            <a:headEnd/>
            <a:tailEnd/>
          </a:ln>
        </p:spPr>
        <p:txBody>
          <a:bodyPr lIns="0" tIns="0" rIns="0" bIns="0">
            <a:spAutoFit/>
          </a:bodyPr>
          <a:lstStyle/>
          <a:p>
            <a:pPr eaLnBrk="0" fontAlgn="t" hangingPunct="0">
              <a:buSzPct val="100000"/>
            </a:pPr>
            <a:r>
              <a:rPr lang="en-US" altLang="zh-CN" sz="2000" dirty="0">
                <a:solidFill>
                  <a:srgbClr val="000000"/>
                </a:solidFill>
                <a:latin typeface="+mn-lt"/>
                <a:ea typeface="+mn-ea"/>
                <a:sym typeface="FrutigerNext LT Regular" pitchFamily="34" charset="0"/>
              </a:rPr>
              <a:t>1.1.1.1/32</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1.1.1.0/24</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1.1.1.0/25</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1.1.0.0/16</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1.0.0.0/8</a:t>
            </a:r>
          </a:p>
        </p:txBody>
      </p:sp>
      <p:sp>
        <p:nvSpPr>
          <p:cNvPr id="8" name="TextBox 7"/>
          <p:cNvSpPr txBox="1">
            <a:spLocks noChangeArrowheads="1"/>
          </p:cNvSpPr>
          <p:nvPr/>
        </p:nvSpPr>
        <p:spPr bwMode="auto">
          <a:xfrm>
            <a:off x="7751763" y="2938464"/>
            <a:ext cx="1439862" cy="922337"/>
          </a:xfrm>
          <a:prstGeom prst="rect">
            <a:avLst/>
          </a:prstGeom>
          <a:noFill/>
          <a:ln w="9525">
            <a:noFill/>
            <a:miter lim="800000"/>
            <a:headEnd/>
            <a:tailEnd/>
          </a:ln>
        </p:spPr>
        <p:txBody>
          <a:bodyPr lIns="0" tIns="0" rIns="0" bIns="0">
            <a:spAutoFit/>
          </a:bodyPr>
          <a:lstStyle/>
          <a:p>
            <a:pPr eaLnBrk="0" fontAlgn="t" hangingPunct="0">
              <a:buSzPct val="100000"/>
            </a:pPr>
            <a:r>
              <a:rPr lang="en-US" altLang="zh-CN" sz="2000" b="1" dirty="0">
                <a:solidFill>
                  <a:srgbClr val="000000"/>
                </a:solidFill>
                <a:latin typeface="+mn-lt"/>
                <a:ea typeface="+mn-ea"/>
                <a:sym typeface="FrutigerNext LT Regular" pitchFamily="34" charset="0"/>
              </a:rPr>
              <a:t>1.1.1.0/24</a:t>
            </a:r>
          </a:p>
          <a:p>
            <a:pPr eaLnBrk="0" fontAlgn="t" hangingPunct="0">
              <a:buSzPct val="100000"/>
            </a:pPr>
            <a:endParaRPr lang="en-US" altLang="zh-CN" sz="2000" b="1" dirty="0">
              <a:solidFill>
                <a:srgbClr val="000000"/>
              </a:solidFill>
              <a:latin typeface="+mn-lt"/>
              <a:ea typeface="+mn-ea"/>
              <a:sym typeface="FrutigerNext LT Regular" pitchFamily="34" charset="0"/>
            </a:endParaRPr>
          </a:p>
          <a:p>
            <a:pPr eaLnBrk="0" fontAlgn="t" hangingPunct="0">
              <a:buSzPct val="100000"/>
            </a:pPr>
            <a:r>
              <a:rPr lang="en-US" altLang="zh-CN" sz="2000" b="1" dirty="0">
                <a:solidFill>
                  <a:srgbClr val="000000"/>
                </a:solidFill>
                <a:latin typeface="+mn-lt"/>
                <a:ea typeface="+mn-ea"/>
                <a:sym typeface="FrutigerNext LT Regular" pitchFamily="34" charset="0"/>
              </a:rPr>
              <a:t>1.1.1.0/25</a:t>
            </a:r>
          </a:p>
        </p:txBody>
      </p:sp>
      <p:sp>
        <p:nvSpPr>
          <p:cNvPr id="9" name="TextBox 6"/>
          <p:cNvSpPr txBox="1">
            <a:spLocks noChangeArrowheads="1"/>
          </p:cNvSpPr>
          <p:nvPr/>
        </p:nvSpPr>
        <p:spPr bwMode="auto">
          <a:xfrm>
            <a:off x="5664200" y="5300664"/>
            <a:ext cx="3671888" cy="615553"/>
          </a:xfrm>
          <a:prstGeom prst="rect">
            <a:avLst/>
          </a:prstGeom>
          <a:noFill/>
          <a:ln w="9525">
            <a:noFill/>
            <a:miter lim="800000"/>
            <a:headEnd/>
            <a:tailEnd/>
          </a:ln>
        </p:spPr>
        <p:txBody>
          <a:bodyPr lIns="0" tIns="0" rIns="0" bIns="0">
            <a:spAutoFit/>
          </a:bodyPr>
          <a:lstStyle/>
          <a:p>
            <a:pPr eaLnBrk="0" fontAlgn="t" hangingPunct="0">
              <a:buSzPct val="100000"/>
            </a:pPr>
            <a:r>
              <a:rPr lang="en-US" altLang="zh-CN" sz="2000" b="1" dirty="0">
                <a:solidFill>
                  <a:srgbClr val="000000"/>
                </a:solidFill>
                <a:latin typeface="+mn-lt"/>
                <a:ea typeface="+mn-ea"/>
                <a:sym typeface="FrutigerNext LT Regular" pitchFamily="34" charset="0"/>
              </a:rPr>
              <a:t>Question:</a:t>
            </a:r>
            <a:r>
              <a:rPr lang="en-US" altLang="zh-CN" sz="2000" dirty="0">
                <a:solidFill>
                  <a:srgbClr val="000000"/>
                </a:solidFill>
                <a:latin typeface="+mn-lt"/>
                <a:ea typeface="+mn-ea"/>
                <a:sym typeface="FrutigerNext LT Regular" pitchFamily="34" charset="0"/>
              </a:rPr>
              <a:t> How to filter out the route 1.1.1.0/25?</a:t>
            </a:r>
          </a:p>
        </p:txBody>
      </p:sp>
      <p:cxnSp>
        <p:nvCxnSpPr>
          <p:cNvPr id="10" name="直接箭头连接符 9"/>
          <p:cNvCxnSpPr/>
          <p:nvPr/>
        </p:nvCxnSpPr>
        <p:spPr>
          <a:xfrm flipH="1" flipV="1">
            <a:off x="4079875" y="4365626"/>
            <a:ext cx="1511300" cy="1008063"/>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1" name="AutoShape 4"/>
          <p:cNvSpPr>
            <a:spLocks noChangeArrowheads="1"/>
          </p:cNvSpPr>
          <p:nvPr/>
        </p:nvSpPr>
        <p:spPr bwMode="auto">
          <a:xfrm>
            <a:off x="5664200" y="4221164"/>
            <a:ext cx="3240088" cy="812655"/>
          </a:xfrm>
          <a:prstGeom prst="roundRect">
            <a:avLst>
              <a:gd name="adj" fmla="val 19009"/>
            </a:avLst>
          </a:prstGeom>
          <a:solidFill>
            <a:schemeClr val="bg1"/>
          </a:solidFill>
          <a:ln w="3175" algn="ctr">
            <a:solidFill>
              <a:srgbClr val="777777"/>
            </a:solidFill>
            <a:round/>
            <a:headEnd/>
            <a:tailEnd/>
          </a:ln>
        </p:spPr>
        <p:txBody>
          <a:bodyPr lIns="0" tIns="0" rIns="0" bIns="0" anchor="ctr" anchorCtr="1"/>
          <a:lstStyle/>
          <a:p>
            <a:pPr eaLnBrk="0" fontAlgn="t" hangingPunct="0">
              <a:buSzPct val="100000"/>
            </a:pPr>
            <a:r>
              <a:rPr lang="en-US" altLang="zh-CN" sz="1600" dirty="0">
                <a:solidFill>
                  <a:srgbClr val="000000"/>
                </a:solidFill>
                <a:latin typeface="+mn-lt"/>
                <a:ea typeface="+mn-ea"/>
                <a:sym typeface="FrutigerNext LT Regular" pitchFamily="34" charset="0"/>
              </a:rPr>
              <a:t>ACL can flexibly match packets against IP address prefixes, but cannot match mask length.</a:t>
            </a:r>
          </a:p>
        </p:txBody>
      </p:sp>
    </p:spTree>
    <p:extLst>
      <p:ext uri="{BB962C8B-B14F-4D97-AF65-F5344CB8AC3E}">
        <p14:creationId xmlns:p14="http://schemas.microsoft.com/office/powerpoint/2010/main" val="146213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en-US" altLang="zh-CN" dirty="0" smtClean="0">
                <a:sym typeface="FrutigerNext LT Regular" pitchFamily="34" charset="0"/>
              </a:rPr>
              <a:t>IP-Prefix List can match both IP address prefix and mask length.</a:t>
            </a:r>
          </a:p>
          <a:p>
            <a:r>
              <a:rPr lang="en-US" altLang="zh-CN" dirty="0" smtClean="0">
                <a:sym typeface="FrutigerNext LT Regular" pitchFamily="34" charset="0"/>
              </a:rPr>
              <a:t>IP-Prefix List cannot filter IP packets, but can filter only routing information.</a:t>
            </a:r>
          </a:p>
          <a:p>
            <a:endParaRPr lang="zh-CN" altLang="en-US" dirty="0"/>
          </a:p>
        </p:txBody>
      </p:sp>
      <p:sp>
        <p:nvSpPr>
          <p:cNvPr id="4" name="文本占位符 3"/>
          <p:cNvSpPr>
            <a:spLocks noGrp="1"/>
          </p:cNvSpPr>
          <p:nvPr>
            <p:ph type="body" sz="quarter" idx="12"/>
          </p:nvPr>
        </p:nvSpPr>
        <p:spPr/>
        <p:txBody>
          <a:bodyPr/>
          <a:lstStyle/>
          <a:p>
            <a:r>
              <a:rPr lang="en-US" altLang="zh-CN" smtClean="0"/>
              <a:t>IP-Prefix List Application Example (1)</a:t>
            </a:r>
            <a:endParaRPr lang="zh-CN" altLang="en-US" dirty="0"/>
          </a:p>
        </p:txBody>
      </p:sp>
      <p:sp>
        <p:nvSpPr>
          <p:cNvPr id="32773" name="AutoShape 4"/>
          <p:cNvSpPr>
            <a:spLocks noChangeArrowheads="1"/>
          </p:cNvSpPr>
          <p:nvPr/>
        </p:nvSpPr>
        <p:spPr bwMode="auto">
          <a:xfrm>
            <a:off x="2495549" y="3573016"/>
            <a:ext cx="7345362" cy="1512888"/>
          </a:xfrm>
          <a:prstGeom prst="roundRect">
            <a:avLst>
              <a:gd name="adj" fmla="val 19009"/>
            </a:avLst>
          </a:prstGeom>
          <a:solidFill>
            <a:schemeClr val="bg1"/>
          </a:solidFill>
          <a:ln w="3175" algn="ctr">
            <a:solidFill>
              <a:srgbClr val="777777"/>
            </a:solidFill>
            <a:round/>
            <a:headEnd/>
            <a:tailEnd/>
          </a:ln>
        </p:spPr>
        <p:txBody>
          <a:bodyPr lIns="0" tIns="0" rIns="0" bIns="0" anchor="ctr" anchorCtr="1"/>
          <a:lstStyle/>
          <a:p>
            <a:pPr algn="ctr" eaLnBrk="0" fontAlgn="t" hangingPunct="0">
              <a:buSzPct val="100000"/>
            </a:pPr>
            <a:r>
              <a:rPr lang="en-US" altLang="zh-CN" sz="1800" b="1" dirty="0">
                <a:solidFill>
                  <a:srgbClr val="000000"/>
                </a:solidFill>
                <a:latin typeface="+mn-lt"/>
                <a:cs typeface="Courier New" panose="02070309020205020404" pitchFamily="49" charset="0"/>
                <a:sym typeface="FrutigerNext LT Regular" pitchFamily="34" charset="0"/>
              </a:rPr>
              <a:t>ip ip-prefix test index 10 permit 10.0.0.0 16 greater-equal 24 less-equal 28</a:t>
            </a:r>
          </a:p>
          <a:p>
            <a:pPr algn="ctr" eaLnBrk="0" fontAlgn="t" hangingPunct="0">
              <a:buSzPct val="100000"/>
            </a:pPr>
            <a:r>
              <a:rPr lang="en-US" altLang="zh-CN" sz="1800" dirty="0">
                <a:solidFill>
                  <a:srgbClr val="000000"/>
                </a:solidFill>
                <a:latin typeface="+mn-lt"/>
                <a:sym typeface="FrutigerNext LT Regular" pitchFamily="34" charset="0"/>
              </a:rPr>
              <a:t>IP</a:t>
            </a:r>
            <a:r>
              <a:rPr lang="en-US" altLang="zh-CN" sz="1800" dirty="0">
                <a:solidFill>
                  <a:srgbClr val="000000"/>
                </a:solidFill>
                <a:latin typeface="+mn-lt"/>
                <a:ea typeface="华文细黑" pitchFamily="2" charset="-122"/>
                <a:sym typeface="FrutigerNext LT Regular" pitchFamily="34" charset="0"/>
              </a:rPr>
              <a:t> address range</a:t>
            </a:r>
            <a:r>
              <a:rPr lang="en-US" altLang="zh-CN" sz="1800" dirty="0">
                <a:solidFill>
                  <a:srgbClr val="000000"/>
                </a:solidFill>
                <a:latin typeface="+mn-lt"/>
                <a:sym typeface="FrutigerNext LT Regular" pitchFamily="34" charset="0"/>
              </a:rPr>
              <a:t>: 10.0.0.0 – 10.0.x.x</a:t>
            </a:r>
          </a:p>
          <a:p>
            <a:pPr algn="ctr" eaLnBrk="0" fontAlgn="t" hangingPunct="0">
              <a:buSzPct val="100000"/>
            </a:pPr>
            <a:r>
              <a:rPr lang="en-US" altLang="zh-CN" sz="1800" dirty="0">
                <a:solidFill>
                  <a:srgbClr val="000000"/>
                </a:solidFill>
                <a:latin typeface="+mn-lt"/>
                <a:sym typeface="FrutigerNext LT Regular" pitchFamily="34" charset="0"/>
              </a:rPr>
              <a:t>24&lt;= </a:t>
            </a:r>
            <a:r>
              <a:rPr lang="en-US" altLang="zh-CN" sz="1800" dirty="0">
                <a:solidFill>
                  <a:srgbClr val="000000"/>
                </a:solidFill>
                <a:latin typeface="+mn-lt"/>
                <a:ea typeface="华文细黑" pitchFamily="2" charset="-122"/>
                <a:sym typeface="FrutigerNext LT Regular" pitchFamily="34" charset="0"/>
              </a:rPr>
              <a:t>Mask length</a:t>
            </a:r>
            <a:r>
              <a:rPr lang="en-US" altLang="zh-CN" sz="1800" dirty="0">
                <a:solidFill>
                  <a:srgbClr val="000000"/>
                </a:solidFill>
                <a:latin typeface="+mn-lt"/>
                <a:sym typeface="FrutigerNext LT Regular" pitchFamily="34" charset="0"/>
              </a:rPr>
              <a:t>&lt;=28</a:t>
            </a:r>
          </a:p>
          <a:p>
            <a:pPr algn="ctr" eaLnBrk="0" fontAlgn="t" hangingPunct="0">
              <a:buSzPct val="100000"/>
            </a:pPr>
            <a:r>
              <a:rPr lang="en-US" altLang="zh-CN" sz="1800" dirty="0">
                <a:solidFill>
                  <a:srgbClr val="000000"/>
                </a:solidFill>
                <a:latin typeface="+mn-lt"/>
                <a:ea typeface="华文细黑" pitchFamily="2" charset="-122"/>
                <a:sym typeface="FrutigerNext LT Regular" pitchFamily="34" charset="0"/>
              </a:rPr>
              <a:t>Example</a:t>
            </a:r>
            <a:r>
              <a:rPr lang="en-US" altLang="zh-CN" sz="1800" dirty="0">
                <a:solidFill>
                  <a:srgbClr val="000000"/>
                </a:solidFill>
                <a:latin typeface="+mn-lt"/>
                <a:sym typeface="FrutigerNext LT Regular" pitchFamily="34" charset="0"/>
              </a:rPr>
              <a:t>: 10.0.1.0/24, 10.0.2.0/25, 10.0.2.192/26</a:t>
            </a:r>
          </a:p>
        </p:txBody>
      </p:sp>
    </p:spTree>
    <p:extLst>
      <p:ext uri="{BB962C8B-B14F-4D97-AF65-F5344CB8AC3E}">
        <p14:creationId xmlns:p14="http://schemas.microsoft.com/office/powerpoint/2010/main" val="32793369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04882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t>IP-Prefix List Application </a:t>
            </a:r>
            <a:r>
              <a:rPr lang="en-US" altLang="zh-CN" dirty="0" smtClean="0"/>
              <a:t>Example (2)</a:t>
            </a:r>
            <a:endParaRPr lang="zh-CN" altLang="en-US" dirty="0"/>
          </a:p>
        </p:txBody>
      </p:sp>
      <p:sp>
        <p:nvSpPr>
          <p:cNvPr id="33795" name="AutoShape 24"/>
          <p:cNvSpPr>
            <a:spLocks noChangeArrowheads="1"/>
          </p:cNvSpPr>
          <p:nvPr/>
        </p:nvSpPr>
        <p:spPr bwMode="auto">
          <a:xfrm>
            <a:off x="2735263" y="1712914"/>
            <a:ext cx="6659562" cy="865187"/>
          </a:xfrm>
          <a:prstGeom prst="rightArrow">
            <a:avLst>
              <a:gd name="adj1" fmla="val 77954"/>
              <a:gd name="adj2" fmla="val 44259"/>
            </a:avLst>
          </a:prstGeom>
          <a:noFill/>
          <a:ln w="9525" algn="ctr">
            <a:solidFill>
              <a:schemeClr val="tx1"/>
            </a:solidFill>
            <a:miter lim="800000"/>
            <a:headEnd/>
            <a:tailEnd/>
          </a:ln>
        </p:spPr>
        <p:txBody>
          <a:bodyPr wrap="none" anchor="ctr"/>
          <a:lstStyle/>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ip ip-prefix Pref1 index 10 permit 1.1.1.0  24 </a:t>
            </a:r>
          </a:p>
          <a:p>
            <a:pPr defTabSz="784225"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	</a:t>
            </a:r>
            <a:r>
              <a:rPr lang="en-US" altLang="zh-CN" sz="1800" dirty="0">
                <a:solidFill>
                  <a:srgbClr val="C00000"/>
                </a:solidFill>
                <a:latin typeface="+mn-lt"/>
                <a:ea typeface="+mn-ea"/>
                <a:cs typeface="Courier New" panose="02070309020205020404" pitchFamily="49" charset="0"/>
                <a:sym typeface="FrutigerNext LT Regular" pitchFamily="34" charset="0"/>
              </a:rPr>
              <a:t>greater-equal 24 less-equal 24</a:t>
            </a:r>
          </a:p>
        </p:txBody>
      </p:sp>
      <p:sp>
        <p:nvSpPr>
          <p:cNvPr id="33796" name="TextBox 4"/>
          <p:cNvSpPr txBox="1">
            <a:spLocks noChangeArrowheads="1"/>
          </p:cNvSpPr>
          <p:nvPr/>
        </p:nvSpPr>
        <p:spPr bwMode="auto">
          <a:xfrm>
            <a:off x="3000376" y="2890839"/>
            <a:ext cx="1439863" cy="2770187"/>
          </a:xfrm>
          <a:prstGeom prst="rect">
            <a:avLst/>
          </a:prstGeom>
          <a:noFill/>
          <a:ln w="9525">
            <a:noFill/>
            <a:miter lim="800000"/>
            <a:headEnd/>
            <a:tailEnd/>
          </a:ln>
        </p:spPr>
        <p:txBody>
          <a:bodyPr lIns="0" tIns="0" rIns="0" bIns="0">
            <a:spAutoFit/>
          </a:bodyPr>
          <a:lstStyle/>
          <a:p>
            <a:pPr eaLnBrk="0" fontAlgn="t" hangingPunct="0">
              <a:buSzPct val="100000"/>
            </a:pPr>
            <a:r>
              <a:rPr lang="en-US" altLang="zh-CN" sz="2000" dirty="0">
                <a:solidFill>
                  <a:srgbClr val="000000"/>
                </a:solidFill>
                <a:latin typeface="+mn-lt"/>
                <a:ea typeface="+mn-ea"/>
                <a:sym typeface="FrutigerNext LT Regular" pitchFamily="34" charset="0"/>
              </a:rPr>
              <a:t>1.1.1.1/32</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1.1.1.0/24</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1.1.1.0/25</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1.1.0.0/16</a:t>
            </a:r>
          </a:p>
          <a:p>
            <a:pPr eaLnBrk="0" fontAlgn="t" hangingPunct="0">
              <a:buSzPct val="100000"/>
            </a:pPr>
            <a:endParaRPr lang="en-US" altLang="zh-CN" sz="2000" dirty="0">
              <a:solidFill>
                <a:srgbClr val="000000"/>
              </a:solidFill>
              <a:latin typeface="+mn-lt"/>
              <a:ea typeface="+mn-ea"/>
              <a:sym typeface="FrutigerNext LT Regular" pitchFamily="34" charset="0"/>
            </a:endParaRPr>
          </a:p>
          <a:p>
            <a:pPr eaLnBrk="0" fontAlgn="t" hangingPunct="0">
              <a:buSzPct val="100000"/>
            </a:pPr>
            <a:r>
              <a:rPr lang="en-US" altLang="zh-CN" sz="2000" dirty="0">
                <a:solidFill>
                  <a:srgbClr val="000000"/>
                </a:solidFill>
                <a:latin typeface="+mn-lt"/>
                <a:ea typeface="+mn-ea"/>
                <a:sym typeface="FrutigerNext LT Regular" pitchFamily="34" charset="0"/>
              </a:rPr>
              <a:t>1.0.0.0/8</a:t>
            </a:r>
          </a:p>
        </p:txBody>
      </p:sp>
      <p:sp>
        <p:nvSpPr>
          <p:cNvPr id="12" name="TextBox 7"/>
          <p:cNvSpPr txBox="1">
            <a:spLocks noChangeArrowheads="1"/>
          </p:cNvSpPr>
          <p:nvPr/>
        </p:nvSpPr>
        <p:spPr bwMode="auto">
          <a:xfrm>
            <a:off x="7751763" y="2938464"/>
            <a:ext cx="1439862" cy="306387"/>
          </a:xfrm>
          <a:prstGeom prst="rect">
            <a:avLst/>
          </a:prstGeom>
          <a:noFill/>
          <a:ln w="9525">
            <a:noFill/>
            <a:miter lim="800000"/>
            <a:headEnd/>
            <a:tailEnd/>
          </a:ln>
        </p:spPr>
        <p:txBody>
          <a:bodyPr lIns="0" tIns="0" rIns="0" bIns="0">
            <a:spAutoFit/>
          </a:bodyPr>
          <a:lstStyle/>
          <a:p>
            <a:pPr eaLnBrk="0" fontAlgn="t" hangingPunct="0">
              <a:buSzPct val="100000"/>
            </a:pPr>
            <a:r>
              <a:rPr lang="en-US" altLang="zh-CN" sz="2000" b="1" dirty="0">
                <a:solidFill>
                  <a:srgbClr val="000000"/>
                </a:solidFill>
                <a:latin typeface="+mn-lt"/>
                <a:ea typeface="+mn-ea"/>
                <a:sym typeface="FrutigerNext LT Regular" pitchFamily="34" charset="0"/>
              </a:rPr>
              <a:t>1.1.1.0/24</a:t>
            </a:r>
          </a:p>
        </p:txBody>
      </p:sp>
      <p:sp>
        <p:nvSpPr>
          <p:cNvPr id="13" name="TextBox 6"/>
          <p:cNvSpPr txBox="1">
            <a:spLocks noChangeArrowheads="1"/>
          </p:cNvSpPr>
          <p:nvPr/>
        </p:nvSpPr>
        <p:spPr bwMode="auto">
          <a:xfrm>
            <a:off x="5664200" y="5300664"/>
            <a:ext cx="3671888" cy="615553"/>
          </a:xfrm>
          <a:prstGeom prst="rect">
            <a:avLst/>
          </a:prstGeom>
          <a:noFill/>
          <a:ln w="9525">
            <a:noFill/>
            <a:miter lim="800000"/>
            <a:headEnd/>
            <a:tailEnd/>
          </a:ln>
        </p:spPr>
        <p:txBody>
          <a:bodyPr lIns="0" tIns="0" rIns="0" bIns="0">
            <a:spAutoFit/>
          </a:bodyPr>
          <a:lstStyle/>
          <a:p>
            <a:pPr eaLnBrk="0" fontAlgn="t" hangingPunct="0">
              <a:buSzPct val="100000"/>
            </a:pPr>
            <a:r>
              <a:rPr lang="en-US" altLang="zh-CN" sz="2000" dirty="0">
                <a:solidFill>
                  <a:srgbClr val="000000"/>
                </a:solidFill>
                <a:latin typeface="+mn-lt"/>
                <a:ea typeface="+mn-ea"/>
                <a:sym typeface="FrutigerNext LT Regular" pitchFamily="34" charset="0"/>
              </a:rPr>
              <a:t>The route 1.1.1.0/25 will be filtered out.</a:t>
            </a:r>
          </a:p>
        </p:txBody>
      </p:sp>
      <p:cxnSp>
        <p:nvCxnSpPr>
          <p:cNvPr id="14" name="直接箭头连接符 13"/>
          <p:cNvCxnSpPr/>
          <p:nvPr/>
        </p:nvCxnSpPr>
        <p:spPr>
          <a:xfrm flipH="1" flipV="1">
            <a:off x="4079875" y="4365626"/>
            <a:ext cx="1511300" cy="1008063"/>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5" name="AutoShape 20"/>
          <p:cNvSpPr>
            <a:spLocks noChangeArrowheads="1"/>
          </p:cNvSpPr>
          <p:nvPr/>
        </p:nvSpPr>
        <p:spPr bwMode="auto">
          <a:xfrm>
            <a:off x="5988051" y="3933826"/>
            <a:ext cx="3492325" cy="700088"/>
          </a:xfrm>
          <a:prstGeom prst="wedgeRectCallout">
            <a:avLst>
              <a:gd name="adj1" fmla="val -52259"/>
              <a:gd name="adj2" fmla="val -272157"/>
            </a:avLst>
          </a:prstGeom>
          <a:solidFill>
            <a:schemeClr val="bg1"/>
          </a:solidFill>
          <a:ln w="3175" algn="ctr">
            <a:solidFill>
              <a:srgbClr val="999999"/>
            </a:solidFill>
            <a:miter lim="800000"/>
            <a:headEnd/>
            <a:tailEnd/>
          </a:ln>
        </p:spPr>
        <p:txBody>
          <a:bodyPr lIns="0" tIns="0" rIns="0" bIns="0" anchor="ctr" anchorCtr="1"/>
          <a:lstStyle/>
          <a:p>
            <a:pPr eaLnBrk="0" fontAlgn="t" hangingPunct="0">
              <a:buSzPct val="100000"/>
            </a:pPr>
            <a:r>
              <a:rPr lang="en-US" altLang="zh-CN" sz="1600" dirty="0">
                <a:solidFill>
                  <a:srgbClr val="000000"/>
                </a:solidFill>
                <a:latin typeface="+mn-lt"/>
                <a:ea typeface="+mn-ea"/>
                <a:sym typeface="FrutigerNext LT Regular" pitchFamily="34" charset="0"/>
              </a:rPr>
              <a:t>"greater-equal 24 less-equal 24" indicates that the mask length is 24.</a:t>
            </a:r>
          </a:p>
        </p:txBody>
      </p:sp>
    </p:spTree>
    <p:extLst>
      <p:ext uri="{BB962C8B-B14F-4D97-AF65-F5344CB8AC3E}">
        <p14:creationId xmlns:p14="http://schemas.microsoft.com/office/powerpoint/2010/main" val="315958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912285" y="1233488"/>
            <a:ext cx="10560048" cy="647340"/>
          </a:xfrm>
        </p:spPr>
        <p:txBody>
          <a:bodyPr/>
          <a:lstStyle/>
          <a:p>
            <a:r>
              <a:rPr lang="en-US" altLang="zh-CN" dirty="0" smtClean="0">
                <a:sym typeface="FrutigerNext LT Regular" pitchFamily="34" charset="0"/>
              </a:rPr>
              <a:t>Filter-Policy can filter the received or </a:t>
            </a:r>
            <a:r>
              <a:rPr lang="en-US" altLang="zh-CN" smtClean="0">
                <a:sym typeface="FrutigerNext LT Regular" pitchFamily="34" charset="0"/>
              </a:rPr>
              <a:t>advertised </a:t>
            </a:r>
            <a:r>
              <a:rPr lang="en-US" altLang="zh-CN" smtClean="0">
                <a:sym typeface="FrutigerNext LT Regular" pitchFamily="34" charset="0"/>
              </a:rPr>
              <a:t>ISIS, </a:t>
            </a:r>
            <a:r>
              <a:rPr lang="en-US" altLang="zh-CN" dirty="0" smtClean="0">
                <a:sym typeface="FrutigerNext LT Regular" pitchFamily="34" charset="0"/>
              </a:rPr>
              <a:t>OSPF, and BGP routes.</a:t>
            </a:r>
          </a:p>
        </p:txBody>
      </p:sp>
      <p:sp>
        <p:nvSpPr>
          <p:cNvPr id="5" name="文本占位符 4"/>
          <p:cNvSpPr>
            <a:spLocks noGrp="1"/>
          </p:cNvSpPr>
          <p:nvPr>
            <p:ph type="body" sz="quarter" idx="12"/>
          </p:nvPr>
        </p:nvSpPr>
        <p:spPr/>
        <p:txBody>
          <a:bodyPr/>
          <a:lstStyle/>
          <a:p>
            <a:r>
              <a:rPr lang="en-US" altLang="zh-CN" dirty="0"/>
              <a:t>Filter-Policy Tool</a:t>
            </a:r>
            <a:endParaRPr lang="zh-CN" altLang="en-US" dirty="0"/>
          </a:p>
        </p:txBody>
      </p:sp>
      <p:sp>
        <p:nvSpPr>
          <p:cNvPr id="6" name="文本框 5"/>
          <p:cNvSpPr txBox="1"/>
          <p:nvPr/>
        </p:nvSpPr>
        <p:spPr bwMode="auto">
          <a:xfrm>
            <a:off x="1883127" y="2944715"/>
            <a:ext cx="8618363" cy="771623"/>
          </a:xfrm>
          <a:prstGeom prst="rect">
            <a:avLst/>
          </a:prstGeom>
          <a:solidFill>
            <a:schemeClr val="bg1">
              <a:lumMod val="85000"/>
            </a:schemeClr>
          </a:solidFill>
          <a:ln w="9525" algn="ctr">
            <a:noFill/>
            <a:miter lim="800000"/>
            <a:headEnd/>
            <a:tailEnd/>
          </a:ln>
        </p:spPr>
        <p:txBody>
          <a:bodyPr vert="horz" wrap="none" lIns="90000" tIns="46800" rIns="90000" bIns="46800" numCol="1" rtlCol="0" anchor="ctr" anchorCtr="0" compatLnSpc="1">
            <a:prstTxWarp prst="textNoShape">
              <a:avLst/>
            </a:prstTxWarp>
            <a:spAutoFit/>
          </a:bodyPr>
          <a:lstStyle/>
          <a:p>
            <a:r>
              <a:rPr lang="en-US" altLang="zh-CN" sz="2200" dirty="0">
                <a:latin typeface="+mn-lt"/>
                <a:sym typeface="FrutigerNext LT Regular" pitchFamily="34" charset="0"/>
              </a:rPr>
              <a:t>Filter the routes received by protocols:</a:t>
            </a:r>
          </a:p>
          <a:p>
            <a:r>
              <a:rPr lang="en-US" altLang="zh-CN" sz="2200" dirty="0">
                <a:latin typeface="+mn-lt"/>
                <a:sym typeface="FrutigerNext LT Regular" pitchFamily="34" charset="0"/>
              </a:rPr>
              <a:t>    </a:t>
            </a:r>
            <a:r>
              <a:rPr lang="en-US" altLang="zh-CN" sz="2200" b="1" dirty="0">
                <a:latin typeface="+mn-lt"/>
                <a:sym typeface="FrutigerNext LT Regular" pitchFamily="34" charset="0"/>
              </a:rPr>
              <a:t>filter-policy</a:t>
            </a:r>
            <a:r>
              <a:rPr lang="en-US" altLang="zh-CN" sz="2200" dirty="0">
                <a:latin typeface="+mn-lt"/>
                <a:sym typeface="FrutigerNext LT Regular" pitchFamily="34" charset="0"/>
              </a:rPr>
              <a:t> { </a:t>
            </a:r>
            <a:r>
              <a:rPr lang="en-US" altLang="zh-CN" sz="2200" dirty="0" err="1">
                <a:latin typeface="+mn-lt"/>
                <a:sym typeface="FrutigerNext LT Regular" pitchFamily="34" charset="0"/>
              </a:rPr>
              <a:t>acl</a:t>
            </a:r>
            <a:r>
              <a:rPr lang="en-US" altLang="zh-CN" sz="2200" dirty="0">
                <a:latin typeface="+mn-lt"/>
                <a:sym typeface="FrutigerNext LT Regular" pitchFamily="34" charset="0"/>
              </a:rPr>
              <a:t>-number | </a:t>
            </a:r>
            <a:r>
              <a:rPr lang="en-US" altLang="zh-CN" sz="2200" dirty="0" err="1">
                <a:latin typeface="+mn-lt"/>
                <a:sym typeface="FrutigerNext LT Regular" pitchFamily="34" charset="0"/>
              </a:rPr>
              <a:t>ip</a:t>
            </a:r>
            <a:r>
              <a:rPr lang="en-US" altLang="zh-CN" sz="2200" dirty="0">
                <a:latin typeface="+mn-lt"/>
                <a:sym typeface="FrutigerNext LT Regular" pitchFamily="34" charset="0"/>
              </a:rPr>
              <a:t>-prefix </a:t>
            </a:r>
            <a:r>
              <a:rPr lang="en-US" altLang="zh-CN" sz="2200" dirty="0" err="1">
                <a:latin typeface="+mn-lt"/>
                <a:sym typeface="FrutigerNext LT Regular" pitchFamily="34" charset="0"/>
              </a:rPr>
              <a:t>ip</a:t>
            </a:r>
            <a:r>
              <a:rPr lang="en-US" altLang="zh-CN" sz="2200" dirty="0">
                <a:latin typeface="+mn-lt"/>
                <a:sym typeface="FrutigerNext LT Regular" pitchFamily="34" charset="0"/>
              </a:rPr>
              <a:t>-prefix-name } </a:t>
            </a:r>
            <a:r>
              <a:rPr lang="en-US" altLang="zh-CN" sz="2200" dirty="0" smtClean="0">
                <a:latin typeface="+mn-lt"/>
                <a:sym typeface="FrutigerNext LT Regular" pitchFamily="34" charset="0"/>
              </a:rPr>
              <a:t>import</a:t>
            </a:r>
            <a:endParaRPr lang="en-US" altLang="zh-CN" sz="2200" dirty="0">
              <a:latin typeface="+mn-lt"/>
              <a:sym typeface="FrutigerNext LT Regular" pitchFamily="34" charset="0"/>
            </a:endParaRPr>
          </a:p>
        </p:txBody>
      </p:sp>
      <p:sp>
        <p:nvSpPr>
          <p:cNvPr id="7" name="文本框 6"/>
          <p:cNvSpPr txBox="1"/>
          <p:nvPr/>
        </p:nvSpPr>
        <p:spPr bwMode="auto">
          <a:xfrm>
            <a:off x="1901561" y="4689140"/>
            <a:ext cx="8581493" cy="771623"/>
          </a:xfrm>
          <a:prstGeom prst="rect">
            <a:avLst/>
          </a:prstGeom>
          <a:solidFill>
            <a:schemeClr val="bg1">
              <a:lumMod val="85000"/>
            </a:schemeClr>
          </a:solidFill>
          <a:ln w="9525" algn="ctr">
            <a:noFill/>
            <a:miter lim="800000"/>
            <a:headEnd/>
            <a:tailEnd/>
          </a:ln>
        </p:spPr>
        <p:txBody>
          <a:bodyPr vert="horz" wrap="none" lIns="90000" tIns="46800" rIns="90000" bIns="46800" numCol="1" rtlCol="0" anchor="ctr" anchorCtr="0" compatLnSpc="1">
            <a:prstTxWarp prst="textNoShape">
              <a:avLst/>
            </a:prstTxWarp>
            <a:spAutoFit/>
          </a:bodyPr>
          <a:lstStyle/>
          <a:p>
            <a:r>
              <a:rPr lang="en-US" altLang="zh-CN" sz="2200" dirty="0">
                <a:latin typeface="+mn-lt"/>
                <a:sym typeface="FrutigerNext LT Regular" pitchFamily="34" charset="0"/>
              </a:rPr>
              <a:t>Filter the routes advertised by protocols:</a:t>
            </a:r>
          </a:p>
          <a:p>
            <a:r>
              <a:rPr lang="en-US" altLang="zh-CN" sz="2200" dirty="0">
                <a:latin typeface="+mn-lt"/>
                <a:sym typeface="FrutigerNext LT Regular" pitchFamily="34" charset="0"/>
              </a:rPr>
              <a:t>    </a:t>
            </a:r>
            <a:r>
              <a:rPr lang="en-US" altLang="zh-CN" sz="2200" b="1" dirty="0">
                <a:latin typeface="+mn-lt"/>
                <a:sym typeface="FrutigerNext LT Regular" pitchFamily="34" charset="0"/>
              </a:rPr>
              <a:t>filter-policy</a:t>
            </a:r>
            <a:r>
              <a:rPr lang="en-US" altLang="zh-CN" sz="2200" dirty="0">
                <a:latin typeface="+mn-lt"/>
                <a:sym typeface="FrutigerNext LT Regular" pitchFamily="34" charset="0"/>
              </a:rPr>
              <a:t> { </a:t>
            </a:r>
            <a:r>
              <a:rPr lang="en-US" altLang="zh-CN" sz="2200" dirty="0" err="1">
                <a:latin typeface="+mn-lt"/>
                <a:sym typeface="FrutigerNext LT Regular" pitchFamily="34" charset="0"/>
              </a:rPr>
              <a:t>acl</a:t>
            </a:r>
            <a:r>
              <a:rPr lang="en-US" altLang="zh-CN" sz="2200" dirty="0">
                <a:latin typeface="+mn-lt"/>
                <a:sym typeface="FrutigerNext LT Regular" pitchFamily="34" charset="0"/>
              </a:rPr>
              <a:t>-number | </a:t>
            </a:r>
            <a:r>
              <a:rPr lang="en-US" altLang="zh-CN" sz="2200" dirty="0" err="1">
                <a:latin typeface="+mn-lt"/>
                <a:sym typeface="FrutigerNext LT Regular" pitchFamily="34" charset="0"/>
              </a:rPr>
              <a:t>ip</a:t>
            </a:r>
            <a:r>
              <a:rPr lang="en-US" altLang="zh-CN" sz="2200" dirty="0">
                <a:latin typeface="+mn-lt"/>
                <a:sym typeface="FrutigerNext LT Regular" pitchFamily="34" charset="0"/>
              </a:rPr>
              <a:t>-prefix </a:t>
            </a:r>
            <a:r>
              <a:rPr lang="en-US" altLang="zh-CN" sz="2200" dirty="0" err="1">
                <a:latin typeface="+mn-lt"/>
                <a:sym typeface="FrutigerNext LT Regular" pitchFamily="34" charset="0"/>
              </a:rPr>
              <a:t>ip</a:t>
            </a:r>
            <a:r>
              <a:rPr lang="en-US" altLang="zh-CN" sz="2200" dirty="0">
                <a:latin typeface="+mn-lt"/>
                <a:sym typeface="FrutigerNext LT Regular" pitchFamily="34" charset="0"/>
              </a:rPr>
              <a:t>-prefix-name } </a:t>
            </a:r>
            <a:r>
              <a:rPr lang="en-US" altLang="zh-CN" sz="2200" dirty="0" smtClean="0">
                <a:latin typeface="+mn-lt"/>
                <a:sym typeface="FrutigerNext LT Regular" pitchFamily="34" charset="0"/>
              </a:rPr>
              <a:t>export</a:t>
            </a:r>
            <a:endParaRPr lang="en-US" altLang="zh-CN" sz="2200" dirty="0">
              <a:latin typeface="+mn-lt"/>
              <a:sym typeface="FrutigerNext LT Regular" pitchFamily="34" charset="0"/>
            </a:endParaRPr>
          </a:p>
        </p:txBody>
      </p:sp>
    </p:spTree>
    <p:extLst>
      <p:ext uri="{BB962C8B-B14F-4D97-AF65-F5344CB8AC3E}">
        <p14:creationId xmlns:p14="http://schemas.microsoft.com/office/powerpoint/2010/main" val="26742021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r>
              <a:rPr lang="en-US" altLang="zh-CN" dirty="0"/>
              <a:t>Route-Policy Tool</a:t>
            </a:r>
            <a:endParaRPr lang="zh-CN" altLang="en-US" dirty="0"/>
          </a:p>
        </p:txBody>
      </p:sp>
      <p:sp>
        <p:nvSpPr>
          <p:cNvPr id="35843" name="AutoShape 4"/>
          <p:cNvSpPr>
            <a:spLocks noChangeArrowheads="1"/>
          </p:cNvSpPr>
          <p:nvPr/>
        </p:nvSpPr>
        <p:spPr bwMode="auto">
          <a:xfrm>
            <a:off x="1008063" y="1412776"/>
            <a:ext cx="10464800" cy="719137"/>
          </a:xfrm>
          <a:prstGeom prst="rect">
            <a:avLst/>
          </a:prstGeom>
          <a:noFill/>
          <a:ln w="3175" algn="ctr">
            <a:noFill/>
            <a:round/>
            <a:headEnd/>
            <a:tailEnd/>
          </a:ln>
        </p:spPr>
        <p:txBody>
          <a:bodyPr lIns="0" tIns="0" rIns="0" bIns="0" anchor="ctr" anchorCtr="1"/>
          <a:lstStyle/>
          <a:p>
            <a:pPr eaLnBrk="0" fontAlgn="t" hangingPunct="0">
              <a:buSzPct val="100000"/>
            </a:pPr>
            <a:r>
              <a:rPr lang="en-US" altLang="zh-CN" sz="1600" dirty="0">
                <a:solidFill>
                  <a:srgbClr val="000000"/>
                </a:solidFill>
                <a:latin typeface="+mn-lt"/>
                <a:ea typeface="+mn-ea"/>
                <a:sym typeface="FrutigerNext LT Regular" pitchFamily="34" charset="0"/>
              </a:rPr>
              <a:t>Route-policy is a powerful tool. It can be used together </a:t>
            </a:r>
            <a:r>
              <a:rPr lang="en-US" altLang="zh-CN" sz="2000" dirty="0">
                <a:solidFill>
                  <a:srgbClr val="000000"/>
                </a:solidFill>
                <a:latin typeface="+mn-lt"/>
                <a:ea typeface="+mn-ea"/>
                <a:sym typeface="FrutigerNext LT Regular" pitchFamily="34" charset="0"/>
              </a:rPr>
              <a:t>with</a:t>
            </a:r>
            <a:r>
              <a:rPr lang="en-US" altLang="zh-CN" sz="1600" dirty="0">
                <a:solidFill>
                  <a:srgbClr val="000000"/>
                </a:solidFill>
                <a:latin typeface="+mn-lt"/>
                <a:ea typeface="+mn-ea"/>
                <a:sym typeface="FrutigerNext LT Regular" pitchFamily="34" charset="0"/>
              </a:rPr>
              <a:t> other tools such as ACL, IP prefix list, and AS path filter.</a:t>
            </a:r>
          </a:p>
        </p:txBody>
      </p:sp>
      <p:sp>
        <p:nvSpPr>
          <p:cNvPr id="35845" name="AutoShape 4"/>
          <p:cNvSpPr>
            <a:spLocks noChangeArrowheads="1"/>
          </p:cNvSpPr>
          <p:nvPr/>
        </p:nvSpPr>
        <p:spPr bwMode="auto">
          <a:xfrm>
            <a:off x="1008063" y="4460774"/>
            <a:ext cx="10464800" cy="1020453"/>
          </a:xfrm>
          <a:prstGeom prst="roundRect">
            <a:avLst>
              <a:gd name="adj" fmla="val 19009"/>
            </a:avLst>
          </a:prstGeom>
          <a:noFill/>
          <a:ln w="3175" algn="ctr">
            <a:noFill/>
            <a:round/>
            <a:headEnd/>
            <a:tailEnd/>
          </a:ln>
        </p:spPr>
        <p:txBody>
          <a:bodyPr lIns="0" tIns="0" rIns="0" bIns="0" anchor="ctr" anchorCtr="1"/>
          <a:lstStyle/>
          <a:p>
            <a:pPr eaLnBrk="0" fontAlgn="t" hangingPunct="0">
              <a:buSzPct val="100000"/>
            </a:pPr>
            <a:r>
              <a:rPr lang="en-US" altLang="zh-CN" sz="1600" dirty="0">
                <a:solidFill>
                  <a:srgbClr val="000000"/>
                </a:solidFill>
                <a:latin typeface="+mn-lt"/>
                <a:ea typeface="+mn-ea"/>
                <a:sym typeface="FrutigerNext LT Regular" pitchFamily="34" charset="0"/>
              </a:rPr>
              <a:t>A route policy consists of multiple nodes, which have the OR relationship. Each node has multiple if-match and apply clauses, and the if-match clauses have the AND </a:t>
            </a:r>
            <a:r>
              <a:rPr lang="en-US" altLang="zh-CN" sz="2000" dirty="0">
                <a:solidFill>
                  <a:srgbClr val="000000"/>
                </a:solidFill>
                <a:latin typeface="+mn-lt"/>
                <a:ea typeface="+mn-ea"/>
                <a:sym typeface="FrutigerNext LT Regular" pitchFamily="34" charset="0"/>
              </a:rPr>
              <a:t>relationship</a:t>
            </a:r>
            <a:r>
              <a:rPr lang="en-US" altLang="zh-CN" sz="1600" dirty="0">
                <a:solidFill>
                  <a:srgbClr val="000000"/>
                </a:solidFill>
                <a:latin typeface="+mn-lt"/>
                <a:ea typeface="+mn-ea"/>
                <a:sym typeface="FrutigerNext LT Regular" pitchFamily="34" charset="0"/>
              </a:rPr>
              <a:t>.</a:t>
            </a:r>
          </a:p>
        </p:txBody>
      </p:sp>
      <p:sp>
        <p:nvSpPr>
          <p:cNvPr id="7" name="AutoShape 4"/>
          <p:cNvSpPr>
            <a:spLocks noChangeArrowheads="1"/>
          </p:cNvSpPr>
          <p:nvPr/>
        </p:nvSpPr>
        <p:spPr bwMode="auto">
          <a:xfrm>
            <a:off x="2064446" y="2567449"/>
            <a:ext cx="8352034" cy="1622742"/>
          </a:xfrm>
          <a:prstGeom prst="rect">
            <a:avLst/>
          </a:prstGeom>
          <a:solidFill>
            <a:schemeClr val="bg1">
              <a:lumMod val="85000"/>
            </a:schemeClr>
          </a:solidFill>
          <a:ln w="3175" algn="ctr">
            <a:noFill/>
            <a:round/>
            <a:headEnd/>
            <a:tailEnd/>
          </a:ln>
        </p:spPr>
        <p:txBody>
          <a:bodyPr lIns="0" tIns="0" rIns="0" bIns="0" anchor="ctr" anchorCtr="1"/>
          <a:lstStyle/>
          <a:p>
            <a:pPr eaLnBrk="0" fontAlgn="t" hangingPunct="0">
              <a:buSzPct val="100000"/>
            </a:pPr>
            <a:r>
              <a:rPr lang="en-US" altLang="zh-CN" sz="2000" dirty="0">
                <a:solidFill>
                  <a:srgbClr val="000000"/>
                </a:solidFill>
                <a:latin typeface="+mn-lt"/>
                <a:ea typeface="+mn-ea"/>
                <a:cs typeface="Courier New" pitchFamily="49" charset="0"/>
                <a:sym typeface="FrutigerNext LT Regular" pitchFamily="34" charset="0"/>
              </a:rPr>
              <a:t>Format </a:t>
            </a:r>
            <a:r>
              <a:rPr lang="en-US" altLang="zh-CN" sz="2000" dirty="0">
                <a:solidFill>
                  <a:srgbClr val="000000"/>
                </a:solidFill>
                <a:latin typeface="+mn-lt"/>
                <a:ea typeface="+mn-ea"/>
                <a:sym typeface="FrutigerNext LT Regular" pitchFamily="34" charset="0"/>
              </a:rPr>
              <a:t>of route policy</a:t>
            </a:r>
            <a:r>
              <a:rPr lang="en-US" altLang="zh-CN" sz="2000" dirty="0">
                <a:solidFill>
                  <a:srgbClr val="000000"/>
                </a:solidFill>
                <a:latin typeface="+mn-lt"/>
                <a:ea typeface="+mn-ea"/>
                <a:cs typeface="Courier New" pitchFamily="49" charset="0"/>
                <a:sym typeface="FrutigerNext LT Regular" pitchFamily="34" charset="0"/>
              </a:rPr>
              <a:t>:</a:t>
            </a:r>
          </a:p>
          <a:p>
            <a:r>
              <a:rPr lang="en-US" altLang="zh-CN" sz="2000" b="1" dirty="0">
                <a:latin typeface="+mn-lt"/>
                <a:ea typeface="+mn-ea"/>
                <a:cs typeface="Courier New" panose="02070309020205020404" pitchFamily="49" charset="0"/>
              </a:rPr>
              <a:t>    route-policy</a:t>
            </a:r>
            <a:r>
              <a:rPr lang="en-US" altLang="zh-CN" sz="2000" dirty="0">
                <a:latin typeface="+mn-lt"/>
                <a:ea typeface="+mn-ea"/>
                <a:cs typeface="Courier New" panose="02070309020205020404" pitchFamily="49" charset="0"/>
              </a:rPr>
              <a:t> </a:t>
            </a:r>
            <a:r>
              <a:rPr lang="en-US" altLang="zh-CN" sz="2000" i="1" dirty="0">
                <a:latin typeface="+mn-lt"/>
                <a:ea typeface="+mn-ea"/>
                <a:cs typeface="Courier New" panose="02070309020205020404" pitchFamily="49" charset="0"/>
              </a:rPr>
              <a:t>route-policy-name</a:t>
            </a:r>
            <a:r>
              <a:rPr lang="en-US" altLang="zh-CN" sz="2000" dirty="0">
                <a:latin typeface="+mn-lt"/>
                <a:ea typeface="+mn-ea"/>
                <a:cs typeface="Courier New" panose="02070309020205020404" pitchFamily="49" charset="0"/>
              </a:rPr>
              <a:t> { </a:t>
            </a:r>
            <a:r>
              <a:rPr lang="en-US" altLang="zh-CN" sz="2000" b="1" dirty="0">
                <a:latin typeface="+mn-lt"/>
                <a:ea typeface="+mn-ea"/>
                <a:cs typeface="Courier New" panose="02070309020205020404" pitchFamily="49" charset="0"/>
              </a:rPr>
              <a:t>permit</a:t>
            </a:r>
            <a:r>
              <a:rPr lang="en-US" altLang="zh-CN" sz="2000" dirty="0">
                <a:latin typeface="+mn-lt"/>
                <a:ea typeface="+mn-ea"/>
                <a:cs typeface="Courier New" panose="02070309020205020404" pitchFamily="49" charset="0"/>
              </a:rPr>
              <a:t> | </a:t>
            </a:r>
            <a:r>
              <a:rPr lang="en-US" altLang="zh-CN" sz="2000" b="1" dirty="0">
                <a:latin typeface="+mn-lt"/>
                <a:ea typeface="+mn-ea"/>
                <a:cs typeface="Courier New" panose="02070309020205020404" pitchFamily="49" charset="0"/>
              </a:rPr>
              <a:t>deny</a:t>
            </a:r>
            <a:r>
              <a:rPr lang="en-US" altLang="zh-CN" sz="2000" dirty="0">
                <a:latin typeface="+mn-lt"/>
                <a:ea typeface="+mn-ea"/>
                <a:cs typeface="Courier New" panose="02070309020205020404" pitchFamily="49" charset="0"/>
              </a:rPr>
              <a:t> } </a:t>
            </a:r>
            <a:r>
              <a:rPr lang="en-US" altLang="zh-CN" sz="2000" b="1" dirty="0">
                <a:latin typeface="+mn-lt"/>
                <a:ea typeface="+mn-ea"/>
                <a:cs typeface="Courier New" panose="02070309020205020404" pitchFamily="49" charset="0"/>
              </a:rPr>
              <a:t>node</a:t>
            </a:r>
            <a:r>
              <a:rPr lang="en-US" altLang="zh-CN" sz="2000" dirty="0">
                <a:latin typeface="+mn-lt"/>
                <a:ea typeface="+mn-ea"/>
                <a:cs typeface="Courier New" panose="02070309020205020404" pitchFamily="49" charset="0"/>
              </a:rPr>
              <a:t> </a:t>
            </a:r>
            <a:r>
              <a:rPr lang="en-US" altLang="zh-CN" sz="2000" i="1" dirty="0">
                <a:latin typeface="+mn-lt"/>
                <a:ea typeface="+mn-ea"/>
                <a:cs typeface="Courier New" panose="02070309020205020404" pitchFamily="49" charset="0"/>
              </a:rPr>
              <a:t>node</a:t>
            </a:r>
            <a:endParaRPr lang="en-US" altLang="zh-CN" sz="2000" dirty="0">
              <a:latin typeface="+mn-lt"/>
              <a:ea typeface="+mn-ea"/>
              <a:cs typeface="Courier New" panose="02070309020205020404" pitchFamily="49" charset="0"/>
            </a:endParaRPr>
          </a:p>
          <a:p>
            <a:pPr lvl="1"/>
            <a:r>
              <a:rPr lang="en-US" altLang="zh-CN" sz="2000" b="1" dirty="0">
                <a:latin typeface="+mn-lt"/>
                <a:ea typeface="+mn-ea"/>
                <a:cs typeface="Courier New" panose="02070309020205020404" pitchFamily="49" charset="0"/>
              </a:rPr>
              <a:t>  if-match </a:t>
            </a:r>
            <a:r>
              <a:rPr lang="en-US" altLang="zh-CN" sz="2000" dirty="0">
                <a:latin typeface="+mn-lt"/>
                <a:ea typeface="+mn-ea"/>
                <a:cs typeface="Courier New" panose="02070309020205020404" pitchFamily="49" charset="0"/>
              </a:rPr>
              <a:t>{acl/cost/interface/ip next-hop/ip-prefix}</a:t>
            </a:r>
          </a:p>
          <a:p>
            <a:pPr lvl="1"/>
            <a:r>
              <a:rPr lang="en-US" altLang="zh-CN" sz="2000" b="1" dirty="0">
                <a:latin typeface="+mn-lt"/>
                <a:ea typeface="+mn-ea"/>
                <a:cs typeface="Courier New" panose="02070309020205020404" pitchFamily="49" charset="0"/>
              </a:rPr>
              <a:t>  apply </a:t>
            </a:r>
            <a:r>
              <a:rPr lang="en-US" altLang="zh-CN" sz="2000" dirty="0">
                <a:latin typeface="+mn-lt"/>
                <a:ea typeface="+mn-ea"/>
                <a:cs typeface="Courier New" panose="02070309020205020404" pitchFamily="49" charset="0"/>
              </a:rPr>
              <a:t>{cost/ip-address next-hop/tag}</a:t>
            </a:r>
            <a:endParaRPr lang="zh-CN" altLang="en-US" sz="2000" dirty="0">
              <a:latin typeface="+mn-lt"/>
              <a:ea typeface="+mn-ea"/>
              <a:cs typeface="Courier New" panose="02070309020205020404" pitchFamily="49" charset="0"/>
            </a:endParaRPr>
          </a:p>
        </p:txBody>
      </p:sp>
    </p:spTree>
    <p:extLst>
      <p:ext uri="{BB962C8B-B14F-4D97-AF65-F5344CB8AC3E}">
        <p14:creationId xmlns:p14="http://schemas.microsoft.com/office/powerpoint/2010/main" val="25878643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t>Route-Policy Application Example</a:t>
            </a:r>
            <a:endParaRPr lang="zh-CN" altLang="en-US" dirty="0"/>
          </a:p>
        </p:txBody>
      </p:sp>
      <p:grpSp>
        <p:nvGrpSpPr>
          <p:cNvPr id="4" name="组合 3"/>
          <p:cNvGrpSpPr/>
          <p:nvPr/>
        </p:nvGrpSpPr>
        <p:grpSpPr>
          <a:xfrm>
            <a:off x="2279576" y="1262772"/>
            <a:ext cx="7848872" cy="4866826"/>
            <a:chOff x="2279576" y="1262772"/>
            <a:chExt cx="7848872" cy="4866826"/>
          </a:xfrm>
        </p:grpSpPr>
        <p:grpSp>
          <p:nvGrpSpPr>
            <p:cNvPr id="12" name="组合 11"/>
            <p:cNvGrpSpPr/>
            <p:nvPr/>
          </p:nvGrpSpPr>
          <p:grpSpPr>
            <a:xfrm>
              <a:off x="2279576" y="1262772"/>
              <a:ext cx="7848872" cy="4614500"/>
              <a:chOff x="2279576" y="1262772"/>
              <a:chExt cx="7848872" cy="4614500"/>
            </a:xfrm>
          </p:grpSpPr>
          <p:sp>
            <p:nvSpPr>
              <p:cNvPr id="13" name="Rectangle 3"/>
              <p:cNvSpPr>
                <a:spLocks noChangeArrowheads="1"/>
              </p:cNvSpPr>
              <p:nvPr/>
            </p:nvSpPr>
            <p:spPr bwMode="auto">
              <a:xfrm>
                <a:off x="2279576" y="1700808"/>
                <a:ext cx="3024584" cy="2234458"/>
              </a:xfrm>
              <a:prstGeom prst="rect">
                <a:avLst/>
              </a:prstGeom>
              <a:noFill/>
              <a:ln w="9525" algn="ctr">
                <a:solidFill>
                  <a:schemeClr val="tx1"/>
                </a:solidFill>
                <a:miter lim="800000"/>
                <a:headEnd/>
                <a:tailEnd/>
              </a:ln>
            </p:spPr>
            <p:txBody>
              <a:bodyPr wrap="square">
                <a:spAutoFit/>
              </a:bodyPr>
              <a:lstStyle/>
              <a:p>
                <a:pPr defTabSz="784225" eaLnBrk="0" fontAlgn="base" hangingPunct="0">
                  <a:lnSpc>
                    <a:spcPct val="60000"/>
                  </a:lnSpc>
                  <a:spcBef>
                    <a:spcPct val="50000"/>
                  </a:spcBef>
                </a:pPr>
                <a:r>
                  <a:rPr lang="en-US" altLang="zh-CN" sz="1200" dirty="0" smtClean="0">
                    <a:latin typeface="+mn-ea"/>
                    <a:ea typeface="+mn-ea"/>
                  </a:rPr>
                  <a:t>Network	Cost	</a:t>
                </a:r>
                <a:r>
                  <a:rPr lang="en-US" altLang="zh-CN" sz="1200" dirty="0" err="1" smtClean="0">
                    <a:latin typeface="+mn-ea"/>
                    <a:ea typeface="+mn-ea"/>
                  </a:rPr>
                  <a:t>NextHop</a:t>
                </a:r>
                <a:endParaRPr lang="en-US" altLang="zh-CN" sz="1200" dirty="0">
                  <a:latin typeface="+mn-ea"/>
                  <a:ea typeface="+mn-ea"/>
                </a:endParaRPr>
              </a:p>
              <a:p>
                <a:pPr defTabSz="784225" eaLnBrk="0" fontAlgn="base" hangingPunct="0">
                  <a:lnSpc>
                    <a:spcPct val="60000"/>
                  </a:lnSpc>
                  <a:spcBef>
                    <a:spcPct val="50000"/>
                  </a:spcBef>
                </a:pPr>
                <a:r>
                  <a:rPr lang="en-US" altLang="zh-CN" sz="1200" dirty="0" smtClean="0">
                    <a:latin typeface="+mn-ea"/>
                    <a:ea typeface="+mn-ea"/>
                  </a:rPr>
                  <a:t>1.1.2.0/24	4687	34.34.34.2</a:t>
                </a:r>
              </a:p>
              <a:p>
                <a:pPr defTabSz="784225" eaLnBrk="0" fontAlgn="base" hangingPunct="0">
                  <a:lnSpc>
                    <a:spcPct val="60000"/>
                  </a:lnSpc>
                  <a:spcBef>
                    <a:spcPct val="50000"/>
                  </a:spcBef>
                </a:pPr>
                <a:r>
                  <a:rPr lang="en-US" altLang="zh-CN" sz="1200" dirty="0">
                    <a:latin typeface="+mn-ea"/>
                    <a:ea typeface="+mn-ea"/>
                  </a:rPr>
                  <a:t>	</a:t>
                </a:r>
                <a:r>
                  <a:rPr lang="en-US" altLang="zh-CN" sz="1200" dirty="0" smtClean="0">
                    <a:latin typeface="+mn-ea"/>
                    <a:ea typeface="+mn-ea"/>
                  </a:rPr>
                  <a:t>4687	13.13.13.1</a:t>
                </a:r>
                <a:endParaRPr lang="en-US" altLang="zh-CN" sz="1200" dirty="0">
                  <a:latin typeface="+mn-ea"/>
                  <a:ea typeface="+mn-ea"/>
                </a:endParaRPr>
              </a:p>
              <a:p>
                <a:pPr defTabSz="784225" eaLnBrk="0" fontAlgn="base" hangingPunct="0">
                  <a:lnSpc>
                    <a:spcPct val="60000"/>
                  </a:lnSpc>
                  <a:spcBef>
                    <a:spcPct val="50000"/>
                  </a:spcBef>
                </a:pPr>
                <a:r>
                  <a:rPr lang="en-US" altLang="zh-CN" sz="1200" dirty="0" smtClean="0">
                    <a:latin typeface="+mn-ea"/>
                    <a:ea typeface="+mn-ea"/>
                  </a:rPr>
                  <a:t>1.1.3.0/24	4687	34.34.34.2</a:t>
                </a:r>
              </a:p>
              <a:p>
                <a:pPr defTabSz="784225" eaLnBrk="0" fontAlgn="base" hangingPunct="0">
                  <a:lnSpc>
                    <a:spcPct val="60000"/>
                  </a:lnSpc>
                  <a:spcBef>
                    <a:spcPct val="50000"/>
                  </a:spcBef>
                </a:pPr>
                <a:r>
                  <a:rPr lang="en-US" altLang="zh-CN" sz="1200" dirty="0">
                    <a:latin typeface="+mn-ea"/>
                    <a:ea typeface="+mn-ea"/>
                  </a:rPr>
                  <a:t>	</a:t>
                </a:r>
                <a:r>
                  <a:rPr lang="en-US" altLang="zh-CN" sz="1200" dirty="0" smtClean="0">
                    <a:latin typeface="+mn-ea"/>
                    <a:ea typeface="+mn-ea"/>
                  </a:rPr>
                  <a:t>4687	13.13.13.1</a:t>
                </a:r>
                <a:endParaRPr lang="en-US" altLang="zh-CN" sz="1200" dirty="0">
                  <a:latin typeface="+mn-ea"/>
                  <a:ea typeface="+mn-ea"/>
                </a:endParaRPr>
              </a:p>
              <a:p>
                <a:pPr defTabSz="784225" eaLnBrk="0" fontAlgn="base" hangingPunct="0">
                  <a:lnSpc>
                    <a:spcPct val="60000"/>
                  </a:lnSpc>
                  <a:spcBef>
                    <a:spcPct val="50000"/>
                  </a:spcBef>
                </a:pPr>
                <a:r>
                  <a:rPr lang="en-US" altLang="zh-CN" sz="1200" dirty="0" smtClean="0">
                    <a:latin typeface="+mn-ea"/>
                    <a:ea typeface="+mn-ea"/>
                  </a:rPr>
                  <a:t>1.1.3.0/25	1	34.34.34.2</a:t>
                </a:r>
                <a:endParaRPr lang="en-US" altLang="zh-CN" sz="1200" dirty="0">
                  <a:latin typeface="+mn-ea"/>
                  <a:ea typeface="+mn-ea"/>
                </a:endParaRPr>
              </a:p>
              <a:p>
                <a:pPr defTabSz="784225" eaLnBrk="0" fontAlgn="base" hangingPunct="0">
                  <a:lnSpc>
                    <a:spcPct val="60000"/>
                  </a:lnSpc>
                  <a:spcBef>
                    <a:spcPct val="50000"/>
                  </a:spcBef>
                </a:pPr>
                <a:r>
                  <a:rPr lang="en-US" altLang="zh-CN" sz="1200" dirty="0">
                    <a:latin typeface="+mn-ea"/>
                    <a:ea typeface="+mn-ea"/>
                  </a:rPr>
                  <a:t>	</a:t>
                </a:r>
                <a:r>
                  <a:rPr lang="en-US" altLang="zh-CN" sz="1200" dirty="0" smtClean="0">
                    <a:latin typeface="+mn-ea"/>
                    <a:ea typeface="+mn-ea"/>
                  </a:rPr>
                  <a:t>1	13.13.13.1</a:t>
                </a:r>
                <a:endParaRPr lang="en-US" altLang="zh-CN" sz="1200" dirty="0">
                  <a:latin typeface="+mn-ea"/>
                  <a:ea typeface="+mn-ea"/>
                </a:endParaRPr>
              </a:p>
              <a:p>
                <a:pPr defTabSz="784225" eaLnBrk="0" fontAlgn="base" hangingPunct="0">
                  <a:lnSpc>
                    <a:spcPct val="60000"/>
                  </a:lnSpc>
                  <a:spcBef>
                    <a:spcPct val="50000"/>
                  </a:spcBef>
                </a:pPr>
                <a:r>
                  <a:rPr lang="en-US" altLang="zh-CN" sz="1200" dirty="0" smtClean="0">
                    <a:latin typeface="+mn-ea"/>
                    <a:ea typeface="+mn-ea"/>
                  </a:rPr>
                  <a:t>5.5.5.5/32	4687	34.34.34.2</a:t>
                </a:r>
                <a:endParaRPr lang="en-US" altLang="zh-CN" sz="1200" dirty="0">
                  <a:latin typeface="+mn-ea"/>
                  <a:ea typeface="+mn-ea"/>
                </a:endParaRPr>
              </a:p>
              <a:p>
                <a:pPr defTabSz="784225" eaLnBrk="0" fontAlgn="base" hangingPunct="0">
                  <a:lnSpc>
                    <a:spcPct val="60000"/>
                  </a:lnSpc>
                  <a:spcBef>
                    <a:spcPct val="50000"/>
                  </a:spcBef>
                </a:pPr>
                <a:r>
                  <a:rPr lang="en-US" altLang="zh-CN" sz="1200" dirty="0">
                    <a:latin typeface="+mn-ea"/>
                    <a:ea typeface="+mn-ea"/>
                  </a:rPr>
                  <a:t>	</a:t>
                </a:r>
                <a:r>
                  <a:rPr lang="en-US" altLang="zh-CN" sz="1200" dirty="0" smtClean="0">
                    <a:latin typeface="+mn-ea"/>
                    <a:ea typeface="+mn-ea"/>
                  </a:rPr>
                  <a:t>4687	13.13.13.1</a:t>
                </a:r>
                <a:endParaRPr lang="en-US" altLang="zh-CN" sz="1200" dirty="0">
                  <a:latin typeface="+mn-ea"/>
                  <a:ea typeface="+mn-ea"/>
                </a:endParaRPr>
              </a:p>
              <a:p>
                <a:pPr defTabSz="784225" eaLnBrk="0" fontAlgn="base" hangingPunct="0">
                  <a:lnSpc>
                    <a:spcPct val="60000"/>
                  </a:lnSpc>
                  <a:spcBef>
                    <a:spcPct val="50000"/>
                  </a:spcBef>
                </a:pPr>
                <a:r>
                  <a:rPr lang="en-US" altLang="zh-CN" sz="1200" dirty="0" smtClean="0">
                    <a:latin typeface="+mn-ea"/>
                    <a:ea typeface="+mn-ea"/>
                  </a:rPr>
                  <a:t>6.6.6.6/32	4687	34.34.34.2</a:t>
                </a:r>
              </a:p>
              <a:p>
                <a:pPr defTabSz="784225" eaLnBrk="0" fontAlgn="base" hangingPunct="0">
                  <a:lnSpc>
                    <a:spcPct val="60000"/>
                  </a:lnSpc>
                  <a:spcBef>
                    <a:spcPct val="50000"/>
                  </a:spcBef>
                </a:pPr>
                <a:r>
                  <a:rPr lang="en-US" altLang="zh-CN" sz="1200" dirty="0">
                    <a:latin typeface="+mn-ea"/>
                    <a:ea typeface="+mn-ea"/>
                  </a:rPr>
                  <a:t>	</a:t>
                </a:r>
                <a:r>
                  <a:rPr lang="en-US" altLang="zh-CN" sz="1200" dirty="0" smtClean="0">
                    <a:latin typeface="+mn-ea"/>
                    <a:ea typeface="+mn-ea"/>
                  </a:rPr>
                  <a:t>4687	13.13.13.1</a:t>
                </a:r>
                <a:endParaRPr lang="en-US" altLang="zh-CN" sz="1200" dirty="0">
                  <a:latin typeface="+mn-ea"/>
                  <a:ea typeface="+mn-ea"/>
                </a:endParaRPr>
              </a:p>
            </p:txBody>
          </p:sp>
          <p:sp>
            <p:nvSpPr>
              <p:cNvPr id="14" name="Rectangle 4"/>
              <p:cNvSpPr>
                <a:spLocks noChangeArrowheads="1"/>
              </p:cNvSpPr>
              <p:nvPr/>
            </p:nvSpPr>
            <p:spPr bwMode="auto">
              <a:xfrm>
                <a:off x="2279577" y="4725145"/>
                <a:ext cx="3022997" cy="1015663"/>
              </a:xfrm>
              <a:prstGeom prst="rect">
                <a:avLst/>
              </a:prstGeom>
              <a:noFill/>
              <a:ln w="9525" algn="ctr">
                <a:solidFill>
                  <a:schemeClr val="tx1"/>
                </a:solidFill>
                <a:miter lim="800000"/>
                <a:headEnd/>
                <a:tailEnd/>
              </a:ln>
            </p:spPr>
            <p:txBody>
              <a:bodyPr wrap="square">
                <a:spAutoFit/>
              </a:bodyPr>
              <a:lstStyle/>
              <a:p>
                <a:pPr defTabSz="784225" eaLnBrk="0" fontAlgn="base" hangingPunct="0">
                  <a:lnSpc>
                    <a:spcPct val="60000"/>
                  </a:lnSpc>
                  <a:spcBef>
                    <a:spcPct val="50000"/>
                  </a:spcBef>
                </a:pPr>
                <a:r>
                  <a:rPr lang="en-US" altLang="zh-CN" sz="1200" dirty="0" smtClean="0">
                    <a:latin typeface="+mn-ea"/>
                    <a:ea typeface="+mn-ea"/>
                  </a:rPr>
                  <a:t>Network	Cost	</a:t>
                </a:r>
                <a:r>
                  <a:rPr lang="en-US" altLang="zh-CN" sz="1200" dirty="0" err="1" smtClean="0">
                    <a:latin typeface="+mn-ea"/>
                    <a:ea typeface="+mn-ea"/>
                  </a:rPr>
                  <a:t>NextHop</a:t>
                </a:r>
                <a:r>
                  <a:rPr lang="en-US" altLang="zh-CN" sz="1200" dirty="0" smtClean="0">
                    <a:latin typeface="+mn-ea"/>
                    <a:ea typeface="+mn-ea"/>
                  </a:rPr>
                  <a:t>         </a:t>
                </a:r>
                <a:endParaRPr lang="en-US" altLang="zh-CN" sz="1200" dirty="0">
                  <a:latin typeface="+mn-ea"/>
                  <a:ea typeface="+mn-ea"/>
                </a:endParaRPr>
              </a:p>
              <a:p>
                <a:pPr defTabSz="784225" eaLnBrk="0" fontAlgn="base" hangingPunct="0">
                  <a:lnSpc>
                    <a:spcPct val="60000"/>
                  </a:lnSpc>
                  <a:spcBef>
                    <a:spcPct val="50000"/>
                  </a:spcBef>
                </a:pPr>
                <a:r>
                  <a:rPr lang="en-US" altLang="zh-CN" sz="1200" dirty="0" smtClean="0">
                    <a:latin typeface="+mn-ea"/>
                    <a:ea typeface="+mn-ea"/>
                  </a:rPr>
                  <a:t>1.1.3.0/24	4687	34.34.34.2</a:t>
                </a:r>
                <a:endParaRPr lang="en-US" altLang="zh-CN" sz="1200" dirty="0">
                  <a:latin typeface="+mn-ea"/>
                  <a:ea typeface="+mn-ea"/>
                </a:endParaRPr>
              </a:p>
              <a:p>
                <a:pPr defTabSz="784225" eaLnBrk="0" fontAlgn="base" hangingPunct="0">
                  <a:lnSpc>
                    <a:spcPct val="60000"/>
                  </a:lnSpc>
                  <a:spcBef>
                    <a:spcPct val="50000"/>
                  </a:spcBef>
                </a:pPr>
                <a:r>
                  <a:rPr lang="en-US" altLang="zh-CN" sz="1200" dirty="0">
                    <a:latin typeface="+mn-ea"/>
                    <a:ea typeface="+mn-ea"/>
                  </a:rPr>
                  <a:t>	</a:t>
                </a:r>
                <a:r>
                  <a:rPr lang="en-US" altLang="zh-CN" sz="1200" dirty="0" smtClean="0">
                    <a:latin typeface="+mn-ea"/>
                    <a:ea typeface="+mn-ea"/>
                  </a:rPr>
                  <a:t>21	13.13.13.1</a:t>
                </a:r>
                <a:endParaRPr lang="en-US" altLang="zh-CN" sz="1200" dirty="0">
                  <a:latin typeface="+mn-ea"/>
                  <a:ea typeface="+mn-ea"/>
                </a:endParaRPr>
              </a:p>
              <a:p>
                <a:pPr defTabSz="784225" eaLnBrk="0" fontAlgn="base" hangingPunct="0">
                  <a:lnSpc>
                    <a:spcPct val="60000"/>
                  </a:lnSpc>
                  <a:spcBef>
                    <a:spcPct val="50000"/>
                  </a:spcBef>
                </a:pPr>
                <a:r>
                  <a:rPr lang="en-US" altLang="zh-CN" sz="1200" dirty="0" smtClean="0">
                    <a:latin typeface="+mn-ea"/>
                    <a:ea typeface="+mn-ea"/>
                  </a:rPr>
                  <a:t>1.1.3.0/25	11	34.34.34.2</a:t>
                </a:r>
                <a:endParaRPr lang="en-US" altLang="zh-CN" sz="1200" dirty="0">
                  <a:latin typeface="+mn-ea"/>
                  <a:ea typeface="+mn-ea"/>
                </a:endParaRPr>
              </a:p>
              <a:p>
                <a:pPr defTabSz="784225" eaLnBrk="0" fontAlgn="base" hangingPunct="0">
                  <a:lnSpc>
                    <a:spcPct val="60000"/>
                  </a:lnSpc>
                  <a:spcBef>
                    <a:spcPct val="50000"/>
                  </a:spcBef>
                </a:pPr>
                <a:r>
                  <a:rPr lang="en-US" altLang="zh-CN" sz="1200" dirty="0">
                    <a:latin typeface="+mn-ea"/>
                    <a:ea typeface="+mn-ea"/>
                  </a:rPr>
                  <a:t>	</a:t>
                </a:r>
                <a:r>
                  <a:rPr lang="en-US" altLang="zh-CN" sz="1200" dirty="0" smtClean="0">
                    <a:latin typeface="+mn-ea"/>
                    <a:ea typeface="+mn-ea"/>
                  </a:rPr>
                  <a:t>21	13.13.13.1</a:t>
                </a:r>
                <a:endParaRPr lang="en-US" altLang="zh-CN" sz="1200" dirty="0">
                  <a:latin typeface="+mn-ea"/>
                  <a:ea typeface="+mn-ea"/>
                </a:endParaRPr>
              </a:p>
            </p:txBody>
          </p:sp>
          <p:sp>
            <p:nvSpPr>
              <p:cNvPr id="15" name="Rectangle 5"/>
              <p:cNvSpPr>
                <a:spLocks noChangeArrowheads="1"/>
              </p:cNvSpPr>
              <p:nvPr/>
            </p:nvSpPr>
            <p:spPr bwMode="auto">
              <a:xfrm>
                <a:off x="5591870" y="1484784"/>
                <a:ext cx="4536578" cy="4392488"/>
              </a:xfrm>
              <a:prstGeom prst="rect">
                <a:avLst/>
              </a:prstGeom>
              <a:noFill/>
              <a:ln w="9525" algn="ctr">
                <a:solidFill>
                  <a:schemeClr val="tx1"/>
                </a:solidFill>
                <a:miter lim="800000"/>
                <a:headEnd/>
                <a:tailEnd/>
              </a:ln>
            </p:spPr>
            <p:txBody>
              <a:bodyPr wrap="square">
                <a:spAutoFit/>
              </a:bodyPr>
              <a:lstStyle/>
              <a:p>
                <a:pPr defTabSz="784225" eaLnBrk="0" fontAlgn="base" hangingPunct="0"/>
                <a:r>
                  <a:rPr lang="en-US" altLang="zh-CN" sz="1200" dirty="0" err="1">
                    <a:latin typeface="+mn-ea"/>
                    <a:ea typeface="+mn-ea"/>
                  </a:rPr>
                  <a:t>acl</a:t>
                </a:r>
                <a:r>
                  <a:rPr lang="en-US" altLang="zh-CN" sz="1200" dirty="0">
                    <a:latin typeface="+mn-ea"/>
                    <a:ea typeface="+mn-ea"/>
                  </a:rPr>
                  <a:t> 2001</a:t>
                </a:r>
              </a:p>
              <a:p>
                <a:pPr defTabSz="784225" eaLnBrk="0" fontAlgn="base" hangingPunct="0"/>
                <a:r>
                  <a:rPr lang="en-US" altLang="zh-CN" sz="1200" dirty="0">
                    <a:latin typeface="+mn-ea"/>
                    <a:ea typeface="+mn-ea"/>
                  </a:rPr>
                  <a:t> rule 0 permit source 1.1.3.0 0.0.0.255</a:t>
                </a:r>
              </a:p>
              <a:p>
                <a:pPr defTabSz="784225" eaLnBrk="0" fontAlgn="base" hangingPunct="0"/>
                <a:r>
                  <a:rPr lang="en-US" altLang="zh-CN" sz="1200" dirty="0" err="1">
                    <a:latin typeface="+mn-ea"/>
                    <a:ea typeface="+mn-ea"/>
                  </a:rPr>
                  <a:t>acl</a:t>
                </a:r>
                <a:r>
                  <a:rPr lang="en-US" altLang="zh-CN" sz="1200" dirty="0">
                    <a:latin typeface="+mn-ea"/>
                    <a:ea typeface="+mn-ea"/>
                  </a:rPr>
                  <a:t> 2002</a:t>
                </a:r>
              </a:p>
              <a:p>
                <a:pPr defTabSz="784225" eaLnBrk="0" fontAlgn="base" hangingPunct="0"/>
                <a:r>
                  <a:rPr lang="en-US" altLang="zh-CN" sz="1200" dirty="0">
                    <a:latin typeface="+mn-ea"/>
                    <a:ea typeface="+mn-ea"/>
                  </a:rPr>
                  <a:t> rule 0 permit source 13.13.13.1 0</a:t>
                </a:r>
              </a:p>
              <a:p>
                <a:pPr defTabSz="784225" eaLnBrk="0" fontAlgn="base" hangingPunct="0"/>
                <a:endParaRPr lang="en-US" altLang="zh-CN" sz="1200" dirty="0">
                  <a:latin typeface="+mn-ea"/>
                  <a:ea typeface="+mn-ea"/>
                </a:endParaRPr>
              </a:p>
              <a:p>
                <a:pPr defTabSz="784225" eaLnBrk="0" fontAlgn="base" hangingPunct="0"/>
                <a:r>
                  <a:rPr lang="en-US" altLang="zh-CN" sz="1200" dirty="0">
                    <a:latin typeface="+mn-ea"/>
                    <a:ea typeface="+mn-ea"/>
                  </a:rPr>
                  <a:t>route-policy RP deny node 10</a:t>
                </a:r>
              </a:p>
              <a:p>
                <a:pPr defTabSz="784225" eaLnBrk="0" fontAlgn="base" hangingPunct="0"/>
                <a:r>
                  <a:rPr lang="en-US" altLang="zh-CN" sz="1200" dirty="0">
                    <a:latin typeface="+mn-ea"/>
                    <a:ea typeface="+mn-ea"/>
                  </a:rPr>
                  <a:t> if-match </a:t>
                </a:r>
                <a:r>
                  <a:rPr lang="en-US" altLang="zh-CN" sz="1200" dirty="0" err="1">
                    <a:latin typeface="+mn-ea"/>
                    <a:ea typeface="+mn-ea"/>
                  </a:rPr>
                  <a:t>ip</a:t>
                </a:r>
                <a:r>
                  <a:rPr lang="en-US" altLang="zh-CN" sz="1200" dirty="0">
                    <a:latin typeface="+mn-ea"/>
                    <a:ea typeface="+mn-ea"/>
                  </a:rPr>
                  <a:t>-prefix Pref1</a:t>
                </a:r>
              </a:p>
              <a:p>
                <a:pPr defTabSz="784225" eaLnBrk="0" fontAlgn="base" hangingPunct="0"/>
                <a:r>
                  <a:rPr lang="en-US" altLang="zh-CN" sz="1200" dirty="0">
                    <a:latin typeface="+mn-ea"/>
                    <a:ea typeface="+mn-ea"/>
                  </a:rPr>
                  <a:t>route-policy RP permit node 20</a:t>
                </a:r>
              </a:p>
              <a:p>
                <a:pPr defTabSz="784225" eaLnBrk="0" fontAlgn="base" hangingPunct="0"/>
                <a:r>
                  <a:rPr lang="en-US" altLang="zh-CN" sz="1200" dirty="0">
                    <a:latin typeface="+mn-ea"/>
                    <a:ea typeface="+mn-ea"/>
                  </a:rPr>
                  <a:t> if-match </a:t>
                </a:r>
                <a:r>
                  <a:rPr lang="en-US" altLang="zh-CN" sz="1200" dirty="0" err="1">
                    <a:latin typeface="+mn-ea"/>
                    <a:ea typeface="+mn-ea"/>
                  </a:rPr>
                  <a:t>ip</a:t>
                </a:r>
                <a:r>
                  <a:rPr lang="en-US" altLang="zh-CN" sz="1200" dirty="0">
                    <a:latin typeface="+mn-ea"/>
                    <a:ea typeface="+mn-ea"/>
                  </a:rPr>
                  <a:t>-prefix Pref2</a:t>
                </a:r>
              </a:p>
              <a:p>
                <a:pPr defTabSz="784225" eaLnBrk="0" fontAlgn="base" hangingPunct="0"/>
                <a:r>
                  <a:rPr lang="en-US" altLang="zh-CN" sz="1200" dirty="0">
                    <a:latin typeface="+mn-ea"/>
                    <a:ea typeface="+mn-ea"/>
                  </a:rPr>
                  <a:t>route-policy RP permit node 30</a:t>
                </a:r>
              </a:p>
              <a:p>
                <a:pPr defTabSz="784225" eaLnBrk="0" fontAlgn="base" hangingPunct="0"/>
                <a:r>
                  <a:rPr lang="en-US" altLang="zh-CN" sz="1200" dirty="0">
                    <a:latin typeface="+mn-ea"/>
                    <a:ea typeface="+mn-ea"/>
                  </a:rPr>
                  <a:t> if-match </a:t>
                </a:r>
                <a:r>
                  <a:rPr lang="en-US" altLang="zh-CN" sz="1200" dirty="0" err="1">
                    <a:latin typeface="+mn-ea"/>
                    <a:ea typeface="+mn-ea"/>
                  </a:rPr>
                  <a:t>acl</a:t>
                </a:r>
                <a:r>
                  <a:rPr lang="en-US" altLang="zh-CN" sz="1200" dirty="0">
                    <a:latin typeface="+mn-ea"/>
                    <a:ea typeface="+mn-ea"/>
                  </a:rPr>
                  <a:t> 2001</a:t>
                </a:r>
              </a:p>
              <a:p>
                <a:pPr defTabSz="784225" eaLnBrk="0" fontAlgn="base" hangingPunct="0"/>
                <a:r>
                  <a:rPr lang="en-US" altLang="zh-CN" sz="1200" dirty="0">
                    <a:latin typeface="+mn-ea"/>
                    <a:ea typeface="+mn-ea"/>
                  </a:rPr>
                  <a:t> if-match </a:t>
                </a:r>
                <a:r>
                  <a:rPr lang="en-US" altLang="zh-CN" sz="1200" dirty="0" err="1">
                    <a:latin typeface="+mn-ea"/>
                    <a:ea typeface="+mn-ea"/>
                  </a:rPr>
                  <a:t>ip</a:t>
                </a:r>
                <a:r>
                  <a:rPr lang="en-US" altLang="zh-CN" sz="1200" dirty="0">
                    <a:latin typeface="+mn-ea"/>
                    <a:ea typeface="+mn-ea"/>
                  </a:rPr>
                  <a:t> next-hop </a:t>
                </a:r>
                <a:r>
                  <a:rPr lang="en-US" altLang="zh-CN" sz="1200" dirty="0" err="1">
                    <a:latin typeface="+mn-ea"/>
                    <a:ea typeface="+mn-ea"/>
                  </a:rPr>
                  <a:t>acl</a:t>
                </a:r>
                <a:r>
                  <a:rPr lang="en-US" altLang="zh-CN" sz="1200" dirty="0">
                    <a:latin typeface="+mn-ea"/>
                    <a:ea typeface="+mn-ea"/>
                  </a:rPr>
                  <a:t> 2002</a:t>
                </a:r>
              </a:p>
              <a:p>
                <a:pPr defTabSz="784225" eaLnBrk="0" fontAlgn="base" hangingPunct="0"/>
                <a:r>
                  <a:rPr lang="en-US" altLang="zh-CN" sz="1200" dirty="0">
                    <a:latin typeface="+mn-ea"/>
                    <a:ea typeface="+mn-ea"/>
                  </a:rPr>
                  <a:t> apply cost 21</a:t>
                </a:r>
              </a:p>
              <a:p>
                <a:pPr defTabSz="784225" eaLnBrk="0" fontAlgn="base" hangingPunct="0"/>
                <a:r>
                  <a:rPr lang="en-US" altLang="zh-CN" sz="1200" dirty="0">
                    <a:latin typeface="+mn-ea"/>
                    <a:ea typeface="+mn-ea"/>
                  </a:rPr>
                  <a:t>route-policy RP permit node 40</a:t>
                </a:r>
              </a:p>
              <a:p>
                <a:pPr defTabSz="784225" eaLnBrk="0" fontAlgn="base" hangingPunct="0"/>
                <a:r>
                  <a:rPr lang="en-US" altLang="zh-CN" sz="1200" dirty="0">
                    <a:latin typeface="+mn-ea"/>
                    <a:ea typeface="+mn-ea"/>
                  </a:rPr>
                  <a:t> if-match </a:t>
                </a:r>
                <a:r>
                  <a:rPr lang="en-US" altLang="zh-CN" sz="1200" dirty="0" err="1">
                    <a:latin typeface="+mn-ea"/>
                    <a:ea typeface="+mn-ea"/>
                  </a:rPr>
                  <a:t>ip</a:t>
                </a:r>
                <a:r>
                  <a:rPr lang="en-US" altLang="zh-CN" sz="1200" dirty="0">
                    <a:latin typeface="+mn-ea"/>
                    <a:ea typeface="+mn-ea"/>
                  </a:rPr>
                  <a:t>-prefix Pref3</a:t>
                </a:r>
              </a:p>
              <a:p>
                <a:pPr defTabSz="784225" eaLnBrk="0" fontAlgn="base" hangingPunct="0"/>
                <a:r>
                  <a:rPr lang="en-US" altLang="zh-CN" sz="1200" dirty="0">
                    <a:latin typeface="+mn-ea"/>
                    <a:ea typeface="+mn-ea"/>
                  </a:rPr>
                  <a:t> apply cost 11</a:t>
                </a:r>
              </a:p>
              <a:p>
                <a:pPr defTabSz="784225" eaLnBrk="0" fontAlgn="base" hangingPunct="0"/>
                <a:r>
                  <a:rPr lang="en-US" altLang="zh-CN" sz="1200" dirty="0">
                    <a:latin typeface="+mn-ea"/>
                    <a:ea typeface="+mn-ea"/>
                  </a:rPr>
                  <a:t>route-policy RP permit node 50</a:t>
                </a:r>
              </a:p>
              <a:p>
                <a:pPr defTabSz="784225" eaLnBrk="0" fontAlgn="base" hangingPunct="0"/>
                <a:r>
                  <a:rPr lang="en-US" altLang="zh-CN" sz="1200" dirty="0">
                    <a:latin typeface="+mn-ea"/>
                    <a:ea typeface="+mn-ea"/>
                  </a:rPr>
                  <a:t>#</a:t>
                </a:r>
              </a:p>
              <a:p>
                <a:pPr defTabSz="784225" eaLnBrk="0" fontAlgn="base" hangingPunct="0"/>
                <a:r>
                  <a:rPr lang="en-US" altLang="zh-CN" sz="1200" dirty="0">
                    <a:latin typeface="+mn-ea"/>
                    <a:ea typeface="+mn-ea"/>
                  </a:rPr>
                  <a:t> </a:t>
                </a:r>
                <a:r>
                  <a:rPr lang="en-US" altLang="zh-CN" sz="1200" dirty="0" err="1">
                    <a:latin typeface="+mn-ea"/>
                    <a:ea typeface="+mn-ea"/>
                  </a:rPr>
                  <a:t>ip</a:t>
                </a:r>
                <a:r>
                  <a:rPr lang="en-US" altLang="zh-CN" sz="1200" dirty="0">
                    <a:latin typeface="+mn-ea"/>
                    <a:ea typeface="+mn-ea"/>
                  </a:rPr>
                  <a:t> </a:t>
                </a:r>
                <a:r>
                  <a:rPr lang="en-US" altLang="zh-CN" sz="1200" dirty="0" err="1">
                    <a:latin typeface="+mn-ea"/>
                    <a:ea typeface="+mn-ea"/>
                  </a:rPr>
                  <a:t>ip</a:t>
                </a:r>
                <a:r>
                  <a:rPr lang="en-US" altLang="zh-CN" sz="1200" dirty="0">
                    <a:latin typeface="+mn-ea"/>
                    <a:ea typeface="+mn-ea"/>
                  </a:rPr>
                  <a:t>-prefix Pref1 index 10 permit 5.5.5.5 32</a:t>
                </a:r>
              </a:p>
              <a:p>
                <a:pPr defTabSz="784225" eaLnBrk="0" fontAlgn="base" hangingPunct="0"/>
                <a:r>
                  <a:rPr lang="en-US" altLang="zh-CN" sz="1200" dirty="0">
                    <a:latin typeface="+mn-ea"/>
                    <a:ea typeface="+mn-ea"/>
                  </a:rPr>
                  <a:t> </a:t>
                </a:r>
                <a:r>
                  <a:rPr lang="en-US" altLang="zh-CN" sz="1200" dirty="0" err="1">
                    <a:latin typeface="+mn-ea"/>
                    <a:ea typeface="+mn-ea"/>
                  </a:rPr>
                  <a:t>ip</a:t>
                </a:r>
                <a:r>
                  <a:rPr lang="en-US" altLang="zh-CN" sz="1200" dirty="0">
                    <a:latin typeface="+mn-ea"/>
                    <a:ea typeface="+mn-ea"/>
                  </a:rPr>
                  <a:t> </a:t>
                </a:r>
                <a:r>
                  <a:rPr lang="en-US" altLang="zh-CN" sz="1200" dirty="0" err="1">
                    <a:latin typeface="+mn-ea"/>
                    <a:ea typeface="+mn-ea"/>
                  </a:rPr>
                  <a:t>ip</a:t>
                </a:r>
                <a:r>
                  <a:rPr lang="en-US" altLang="zh-CN" sz="1200" dirty="0">
                    <a:latin typeface="+mn-ea"/>
                    <a:ea typeface="+mn-ea"/>
                  </a:rPr>
                  <a:t>-prefix Pref1 index 20 permit 1.1.2.0 24</a:t>
                </a:r>
              </a:p>
              <a:p>
                <a:pPr defTabSz="784225" eaLnBrk="0" fontAlgn="base" hangingPunct="0"/>
                <a:r>
                  <a:rPr lang="en-US" altLang="zh-CN" sz="1200" dirty="0">
                    <a:latin typeface="+mn-ea"/>
                    <a:ea typeface="+mn-ea"/>
                  </a:rPr>
                  <a:t> </a:t>
                </a:r>
                <a:r>
                  <a:rPr lang="en-US" altLang="zh-CN" sz="1200" dirty="0" err="1">
                    <a:latin typeface="+mn-ea"/>
                    <a:ea typeface="+mn-ea"/>
                  </a:rPr>
                  <a:t>ip</a:t>
                </a:r>
                <a:r>
                  <a:rPr lang="en-US" altLang="zh-CN" sz="1200" dirty="0">
                    <a:latin typeface="+mn-ea"/>
                    <a:ea typeface="+mn-ea"/>
                  </a:rPr>
                  <a:t> </a:t>
                </a:r>
                <a:r>
                  <a:rPr lang="en-US" altLang="zh-CN" sz="1200" dirty="0" err="1">
                    <a:latin typeface="+mn-ea"/>
                    <a:ea typeface="+mn-ea"/>
                  </a:rPr>
                  <a:t>ip</a:t>
                </a:r>
                <a:r>
                  <a:rPr lang="en-US" altLang="zh-CN" sz="1200" dirty="0">
                    <a:latin typeface="+mn-ea"/>
                    <a:ea typeface="+mn-ea"/>
                  </a:rPr>
                  <a:t>-prefix Pref2 index 10 deny 6.6.6.6 32</a:t>
                </a:r>
              </a:p>
              <a:p>
                <a:pPr defTabSz="784225" eaLnBrk="0" fontAlgn="base" hangingPunct="0"/>
                <a:r>
                  <a:rPr lang="en-US" altLang="zh-CN" sz="1200" dirty="0">
                    <a:latin typeface="+mn-ea"/>
                    <a:ea typeface="+mn-ea"/>
                  </a:rPr>
                  <a:t> </a:t>
                </a:r>
                <a:r>
                  <a:rPr lang="en-US" altLang="zh-CN" sz="1200" dirty="0" err="1">
                    <a:latin typeface="+mn-ea"/>
                    <a:ea typeface="+mn-ea"/>
                  </a:rPr>
                  <a:t>ip</a:t>
                </a:r>
                <a:r>
                  <a:rPr lang="en-US" altLang="zh-CN" sz="1200" dirty="0">
                    <a:latin typeface="+mn-ea"/>
                    <a:ea typeface="+mn-ea"/>
                  </a:rPr>
                  <a:t> </a:t>
                </a:r>
                <a:r>
                  <a:rPr lang="en-US" altLang="zh-CN" sz="1200" dirty="0" err="1">
                    <a:latin typeface="+mn-ea"/>
                    <a:ea typeface="+mn-ea"/>
                  </a:rPr>
                  <a:t>ip</a:t>
                </a:r>
                <a:r>
                  <a:rPr lang="en-US" altLang="zh-CN" sz="1200" dirty="0">
                    <a:latin typeface="+mn-ea"/>
                    <a:ea typeface="+mn-ea"/>
                  </a:rPr>
                  <a:t>-prefix Pref3 index 10 permit 1.1.3.0 24 </a:t>
                </a:r>
              </a:p>
              <a:p>
                <a:pPr defTabSz="784225" eaLnBrk="0" fontAlgn="base" hangingPunct="0"/>
                <a:r>
                  <a:rPr lang="en-US" altLang="zh-CN" sz="1200" dirty="0">
                    <a:latin typeface="+mn-ea"/>
                    <a:ea typeface="+mn-ea"/>
                  </a:rPr>
                  <a:t>   greater-equal 25 less-equal 25</a:t>
                </a:r>
              </a:p>
            </p:txBody>
          </p:sp>
          <p:sp>
            <p:nvSpPr>
              <p:cNvPr id="16" name="AutoShape 6"/>
              <p:cNvSpPr>
                <a:spLocks noChangeArrowheads="1"/>
              </p:cNvSpPr>
              <p:nvPr/>
            </p:nvSpPr>
            <p:spPr bwMode="auto">
              <a:xfrm rot="20802587">
                <a:off x="5159897" y="1262772"/>
                <a:ext cx="663575" cy="293688"/>
              </a:xfrm>
              <a:prstGeom prst="curvedDownArrow">
                <a:avLst>
                  <a:gd name="adj1" fmla="val 41277"/>
                  <a:gd name="adj2" fmla="val 82575"/>
                  <a:gd name="adj3" fmla="val 33333"/>
                </a:avLst>
              </a:prstGeom>
              <a:solidFill>
                <a:schemeClr val="tx1"/>
              </a:solidFill>
              <a:ln w="9525">
                <a:solidFill>
                  <a:schemeClr val="tx1"/>
                </a:solidFill>
                <a:miter lim="800000"/>
                <a:headEnd/>
                <a:tailEnd/>
              </a:ln>
            </p:spPr>
            <p:txBody>
              <a:bodyPr wrap="none" anchor="ctr"/>
              <a:lstStyle/>
              <a:p>
                <a:endParaRPr lang="zh-CN" altLang="en-US">
                  <a:latin typeface="+mn-ea"/>
                  <a:ea typeface="+mn-ea"/>
                </a:endParaRPr>
              </a:p>
            </p:txBody>
          </p:sp>
          <p:sp>
            <p:nvSpPr>
              <p:cNvPr id="17" name="TextBox 8"/>
              <p:cNvSpPr txBox="1"/>
              <p:nvPr/>
            </p:nvSpPr>
            <p:spPr>
              <a:xfrm>
                <a:off x="3431704" y="1412777"/>
                <a:ext cx="792088" cy="246221"/>
              </a:xfrm>
              <a:prstGeom prst="rect">
                <a:avLst/>
              </a:prstGeom>
              <a:noFill/>
            </p:spPr>
            <p:txBody>
              <a:bodyPr wrap="square" lIns="0" tIns="0" rIns="0" bIns="0" rtlCol="0">
                <a:spAutoFit/>
              </a:bodyPr>
              <a:lstStyle/>
              <a:p>
                <a:r>
                  <a:rPr lang="en-US" altLang="zh-CN" sz="1600" b="1" dirty="0">
                    <a:latin typeface="+mn-ea"/>
                    <a:ea typeface="+mn-ea"/>
                  </a:rPr>
                  <a:t>Table-1</a:t>
                </a:r>
              </a:p>
            </p:txBody>
          </p:sp>
          <p:sp>
            <p:nvSpPr>
              <p:cNvPr id="18" name="TextBox 9"/>
              <p:cNvSpPr txBox="1"/>
              <p:nvPr/>
            </p:nvSpPr>
            <p:spPr>
              <a:xfrm>
                <a:off x="3431704" y="4437113"/>
                <a:ext cx="792088" cy="246221"/>
              </a:xfrm>
              <a:prstGeom prst="rect">
                <a:avLst/>
              </a:prstGeom>
              <a:noFill/>
            </p:spPr>
            <p:txBody>
              <a:bodyPr wrap="square" lIns="0" tIns="0" rIns="0" bIns="0" rtlCol="0">
                <a:spAutoFit/>
              </a:bodyPr>
              <a:lstStyle/>
              <a:p>
                <a:r>
                  <a:rPr lang="en-US" altLang="zh-CN" sz="1600" b="1" dirty="0">
                    <a:latin typeface="+mn-ea"/>
                    <a:ea typeface="+mn-ea"/>
                  </a:rPr>
                  <a:t>Table-2</a:t>
                </a:r>
              </a:p>
            </p:txBody>
          </p:sp>
        </p:grpSp>
        <p:sp>
          <p:nvSpPr>
            <p:cNvPr id="19" name="AutoShape 7"/>
            <p:cNvSpPr>
              <a:spLocks noChangeArrowheads="1"/>
            </p:cNvSpPr>
            <p:nvPr/>
          </p:nvSpPr>
          <p:spPr bwMode="auto">
            <a:xfrm rot="11962166">
              <a:off x="5043770" y="5841567"/>
              <a:ext cx="702299" cy="288031"/>
            </a:xfrm>
            <a:prstGeom prst="curvedDownArrow">
              <a:avLst>
                <a:gd name="adj1" fmla="val 39154"/>
                <a:gd name="adj2" fmla="val 78295"/>
                <a:gd name="adj3" fmla="val 33333"/>
              </a:avLst>
            </a:prstGeom>
            <a:solidFill>
              <a:schemeClr val="tx1"/>
            </a:solidFill>
            <a:ln w="9525">
              <a:solidFill>
                <a:schemeClr val="tx1"/>
              </a:solidFill>
              <a:miter lim="800000"/>
              <a:headEnd/>
              <a:tailEnd/>
            </a:ln>
          </p:spPr>
          <p:txBody>
            <a:bodyPr wrap="none" anchor="ctr"/>
            <a:lstStyle/>
            <a:p>
              <a:endParaRPr lang="zh-CN" altLang="en-US"/>
            </a:p>
          </p:txBody>
        </p:sp>
      </p:grpSp>
    </p:spTree>
    <p:extLst>
      <p:ext uri="{BB962C8B-B14F-4D97-AF65-F5344CB8AC3E}">
        <p14:creationId xmlns:p14="http://schemas.microsoft.com/office/powerpoint/2010/main" val="3893011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t>Route-Policy </a:t>
            </a:r>
            <a:r>
              <a:rPr lang="en-US" altLang="zh-CN" dirty="0" smtClean="0"/>
              <a:t>Configuration (1)</a:t>
            </a:r>
            <a:endParaRPr lang="zh-CN" altLang="en-US" dirty="0"/>
          </a:p>
        </p:txBody>
      </p:sp>
      <p:sp>
        <p:nvSpPr>
          <p:cNvPr id="49" name="圆角矩形 48"/>
          <p:cNvSpPr/>
          <p:nvPr/>
        </p:nvSpPr>
        <p:spPr bwMode="auto">
          <a:xfrm>
            <a:off x="8075612" y="3484563"/>
            <a:ext cx="1980827" cy="665162"/>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800" dirty="0">
              <a:latin typeface="+mn-lt"/>
              <a:ea typeface="+mn-ea"/>
            </a:endParaRPr>
          </a:p>
        </p:txBody>
      </p:sp>
      <p:sp>
        <p:nvSpPr>
          <p:cNvPr id="50" name="圆角矩形 49"/>
          <p:cNvSpPr/>
          <p:nvPr/>
        </p:nvSpPr>
        <p:spPr bwMode="auto">
          <a:xfrm>
            <a:off x="8075613" y="2776538"/>
            <a:ext cx="1980827" cy="652462"/>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800" dirty="0">
              <a:latin typeface="+mn-lt"/>
              <a:ea typeface="+mn-ea"/>
            </a:endParaRPr>
          </a:p>
        </p:txBody>
      </p:sp>
      <p:cxnSp>
        <p:nvCxnSpPr>
          <p:cNvPr id="37893" name="直接连接符 50"/>
          <p:cNvCxnSpPr>
            <a:cxnSpLocks noChangeShapeType="1"/>
          </p:cNvCxnSpPr>
          <p:nvPr/>
        </p:nvCxnSpPr>
        <p:spPr bwMode="auto">
          <a:xfrm flipV="1">
            <a:off x="6904038" y="3740150"/>
            <a:ext cx="519112" cy="1627188"/>
          </a:xfrm>
          <a:prstGeom prst="line">
            <a:avLst/>
          </a:prstGeom>
          <a:noFill/>
          <a:ln w="28575" algn="ctr">
            <a:solidFill>
              <a:srgbClr val="C00000"/>
            </a:solidFill>
            <a:prstDash val="sysDot"/>
            <a:round/>
            <a:headEnd/>
            <a:tailEnd/>
          </a:ln>
        </p:spPr>
      </p:cxnSp>
      <p:sp>
        <p:nvSpPr>
          <p:cNvPr id="52" name="圆角矩形 51"/>
          <p:cNvSpPr/>
          <p:nvPr/>
        </p:nvSpPr>
        <p:spPr bwMode="auto">
          <a:xfrm>
            <a:off x="8058150" y="4211638"/>
            <a:ext cx="1998290" cy="72390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800" dirty="0">
              <a:latin typeface="+mn-lt"/>
              <a:ea typeface="+mn-ea"/>
            </a:endParaRPr>
          </a:p>
        </p:txBody>
      </p:sp>
      <p:cxnSp>
        <p:nvCxnSpPr>
          <p:cNvPr id="37895" name="直接连接符 52"/>
          <p:cNvCxnSpPr>
            <a:cxnSpLocks noChangeShapeType="1"/>
          </p:cNvCxnSpPr>
          <p:nvPr/>
        </p:nvCxnSpPr>
        <p:spPr bwMode="auto">
          <a:xfrm flipV="1">
            <a:off x="6037263" y="2205039"/>
            <a:ext cx="1282700" cy="1411287"/>
          </a:xfrm>
          <a:prstGeom prst="line">
            <a:avLst/>
          </a:prstGeom>
          <a:noFill/>
          <a:ln w="28575" algn="ctr">
            <a:solidFill>
              <a:srgbClr val="C00000"/>
            </a:solidFill>
            <a:prstDash val="sysDot"/>
            <a:round/>
            <a:headEnd/>
            <a:tailEnd/>
          </a:ln>
        </p:spPr>
      </p:cxnSp>
      <p:sp>
        <p:nvSpPr>
          <p:cNvPr id="54" name="圆角矩形 53"/>
          <p:cNvSpPr/>
          <p:nvPr/>
        </p:nvSpPr>
        <p:spPr bwMode="auto">
          <a:xfrm>
            <a:off x="2428876" y="3979864"/>
            <a:ext cx="1527175" cy="75088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800" dirty="0">
              <a:latin typeface="+mn-lt"/>
              <a:ea typeface="+mn-ea"/>
            </a:endParaRPr>
          </a:p>
        </p:txBody>
      </p:sp>
      <p:cxnSp>
        <p:nvCxnSpPr>
          <p:cNvPr id="37897" name="直接连接符 54"/>
          <p:cNvCxnSpPr>
            <a:cxnSpLocks noChangeShapeType="1"/>
          </p:cNvCxnSpPr>
          <p:nvPr/>
        </p:nvCxnSpPr>
        <p:spPr bwMode="auto">
          <a:xfrm flipH="1" flipV="1">
            <a:off x="4060825" y="2381251"/>
            <a:ext cx="611188" cy="923925"/>
          </a:xfrm>
          <a:prstGeom prst="line">
            <a:avLst/>
          </a:prstGeom>
          <a:noFill/>
          <a:ln w="28575" algn="ctr">
            <a:solidFill>
              <a:srgbClr val="C00000"/>
            </a:solidFill>
            <a:prstDash val="sysDot"/>
            <a:round/>
            <a:headEnd/>
            <a:tailEnd/>
          </a:ln>
        </p:spPr>
      </p:cxnSp>
      <p:sp>
        <p:nvSpPr>
          <p:cNvPr id="56" name="圆角矩形 55"/>
          <p:cNvSpPr/>
          <p:nvPr/>
        </p:nvSpPr>
        <p:spPr bwMode="auto">
          <a:xfrm>
            <a:off x="2435226" y="2695575"/>
            <a:ext cx="1470025"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800" dirty="0">
              <a:latin typeface="+mn-lt"/>
              <a:ea typeface="+mn-ea"/>
            </a:endParaRPr>
          </a:p>
        </p:txBody>
      </p:sp>
      <p:sp>
        <p:nvSpPr>
          <p:cNvPr id="37899" name="矩形 56"/>
          <p:cNvSpPr>
            <a:spLocks noChangeArrowheads="1"/>
          </p:cNvSpPr>
          <p:nvPr/>
        </p:nvSpPr>
        <p:spPr bwMode="auto">
          <a:xfrm>
            <a:off x="8901114" y="2866156"/>
            <a:ext cx="1023936" cy="430887"/>
          </a:xfrm>
          <a:prstGeom prst="rect">
            <a:avLst/>
          </a:prstGeom>
          <a:noFill/>
          <a:ln w="9525">
            <a:noFill/>
            <a:miter lim="800000"/>
            <a:headEnd/>
            <a:tailEnd/>
          </a:ln>
        </p:spPr>
        <p:txBody>
          <a:bodyPr wrap="square">
            <a:spAutoFit/>
          </a:bodyPr>
          <a:lstStyle/>
          <a:p>
            <a:pPr eaLnBrk="0" fontAlgn="t" hangingPunct="0">
              <a:buSzPct val="100000"/>
            </a:pPr>
            <a:r>
              <a:rPr lang="en-US" altLang="zh-CN" sz="1100" b="1" dirty="0">
                <a:solidFill>
                  <a:srgbClr val="000000"/>
                </a:solidFill>
                <a:latin typeface="+mn-lt"/>
                <a:ea typeface="+mn-ea"/>
                <a:sym typeface="FrutigerNext LT Regular" pitchFamily="34" charset="0"/>
              </a:rPr>
              <a:t>Financial department</a:t>
            </a:r>
          </a:p>
        </p:txBody>
      </p:sp>
      <p:cxnSp>
        <p:nvCxnSpPr>
          <p:cNvPr id="37900" name="直接连接符 57"/>
          <p:cNvCxnSpPr>
            <a:cxnSpLocks noChangeShapeType="1"/>
          </p:cNvCxnSpPr>
          <p:nvPr/>
        </p:nvCxnSpPr>
        <p:spPr bwMode="auto">
          <a:xfrm flipH="1" flipV="1">
            <a:off x="3656013" y="3073400"/>
            <a:ext cx="1249362" cy="400050"/>
          </a:xfrm>
          <a:prstGeom prst="line">
            <a:avLst/>
          </a:prstGeom>
          <a:noFill/>
          <a:ln w="28575" algn="ctr">
            <a:solidFill>
              <a:schemeClr val="tx1"/>
            </a:solidFill>
            <a:round/>
            <a:headEnd/>
            <a:tailEnd/>
          </a:ln>
        </p:spPr>
      </p:cxnSp>
      <p:cxnSp>
        <p:nvCxnSpPr>
          <p:cNvPr id="59" name="直接连接符 58"/>
          <p:cNvCxnSpPr/>
          <p:nvPr/>
        </p:nvCxnSpPr>
        <p:spPr bwMode="auto">
          <a:xfrm>
            <a:off x="4881563" y="3429001"/>
            <a:ext cx="1155700" cy="32702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902" name="直接连接符 59"/>
          <p:cNvCxnSpPr>
            <a:cxnSpLocks noChangeShapeType="1"/>
          </p:cNvCxnSpPr>
          <p:nvPr/>
        </p:nvCxnSpPr>
        <p:spPr bwMode="auto">
          <a:xfrm flipV="1">
            <a:off x="4873626" y="3776664"/>
            <a:ext cx="1211263" cy="452437"/>
          </a:xfrm>
          <a:prstGeom prst="line">
            <a:avLst/>
          </a:prstGeom>
          <a:noFill/>
          <a:ln w="28575" algn="ctr">
            <a:solidFill>
              <a:schemeClr val="tx1"/>
            </a:solidFill>
            <a:round/>
            <a:headEnd/>
            <a:tailEnd/>
          </a:ln>
        </p:spPr>
      </p:cxnSp>
      <p:cxnSp>
        <p:nvCxnSpPr>
          <p:cNvPr id="37903" name="直接连接符 60"/>
          <p:cNvCxnSpPr>
            <a:cxnSpLocks noChangeShapeType="1"/>
          </p:cNvCxnSpPr>
          <p:nvPr/>
        </p:nvCxnSpPr>
        <p:spPr bwMode="auto">
          <a:xfrm flipH="1">
            <a:off x="3471864" y="4224339"/>
            <a:ext cx="1246187" cy="250825"/>
          </a:xfrm>
          <a:prstGeom prst="line">
            <a:avLst/>
          </a:prstGeom>
          <a:noFill/>
          <a:ln w="28575" algn="ctr">
            <a:solidFill>
              <a:schemeClr val="tx1"/>
            </a:solidFill>
            <a:round/>
            <a:headEnd/>
            <a:tailEnd/>
          </a:ln>
        </p:spPr>
      </p:cxnSp>
      <p:cxnSp>
        <p:nvCxnSpPr>
          <p:cNvPr id="37904" name="直接连接符 61"/>
          <p:cNvCxnSpPr>
            <a:cxnSpLocks noChangeShapeType="1"/>
          </p:cNvCxnSpPr>
          <p:nvPr/>
        </p:nvCxnSpPr>
        <p:spPr bwMode="auto">
          <a:xfrm>
            <a:off x="6059488" y="3786188"/>
            <a:ext cx="1116012" cy="0"/>
          </a:xfrm>
          <a:prstGeom prst="line">
            <a:avLst/>
          </a:prstGeom>
          <a:noFill/>
          <a:ln w="28575" algn="ctr">
            <a:solidFill>
              <a:schemeClr val="tx1"/>
            </a:solidFill>
            <a:round/>
            <a:headEnd/>
            <a:tailEnd/>
          </a:ln>
        </p:spPr>
      </p:cxnSp>
      <p:cxnSp>
        <p:nvCxnSpPr>
          <p:cNvPr id="37905" name="直接连接符 62"/>
          <p:cNvCxnSpPr>
            <a:cxnSpLocks noChangeShapeType="1"/>
          </p:cNvCxnSpPr>
          <p:nvPr/>
        </p:nvCxnSpPr>
        <p:spPr bwMode="auto">
          <a:xfrm flipH="1">
            <a:off x="7473950" y="3033714"/>
            <a:ext cx="998538" cy="644525"/>
          </a:xfrm>
          <a:prstGeom prst="line">
            <a:avLst/>
          </a:prstGeom>
          <a:noFill/>
          <a:ln w="28575" algn="ctr">
            <a:solidFill>
              <a:schemeClr val="tx1"/>
            </a:solidFill>
            <a:round/>
            <a:headEnd/>
            <a:tailEnd/>
          </a:ln>
        </p:spPr>
      </p:cxnSp>
      <p:cxnSp>
        <p:nvCxnSpPr>
          <p:cNvPr id="37906" name="直接连接符 63"/>
          <p:cNvCxnSpPr>
            <a:cxnSpLocks noChangeShapeType="1"/>
          </p:cNvCxnSpPr>
          <p:nvPr/>
        </p:nvCxnSpPr>
        <p:spPr bwMode="auto">
          <a:xfrm flipV="1">
            <a:off x="7419975" y="3752850"/>
            <a:ext cx="979488" cy="0"/>
          </a:xfrm>
          <a:prstGeom prst="line">
            <a:avLst/>
          </a:prstGeom>
          <a:noFill/>
          <a:ln w="28575" algn="ctr">
            <a:solidFill>
              <a:schemeClr val="tx1"/>
            </a:solidFill>
            <a:round/>
            <a:headEnd/>
            <a:tailEnd/>
          </a:ln>
        </p:spPr>
      </p:cxnSp>
      <p:cxnSp>
        <p:nvCxnSpPr>
          <p:cNvPr id="37907" name="直接连接符 64"/>
          <p:cNvCxnSpPr>
            <a:cxnSpLocks noChangeShapeType="1"/>
          </p:cNvCxnSpPr>
          <p:nvPr/>
        </p:nvCxnSpPr>
        <p:spPr bwMode="auto">
          <a:xfrm>
            <a:off x="7321551" y="3860800"/>
            <a:ext cx="1152525" cy="736600"/>
          </a:xfrm>
          <a:prstGeom prst="line">
            <a:avLst/>
          </a:prstGeom>
          <a:noFill/>
          <a:ln w="28575" algn="ctr">
            <a:solidFill>
              <a:schemeClr val="tx1"/>
            </a:solidFill>
            <a:round/>
            <a:headEnd/>
            <a:tailEnd/>
          </a:ln>
        </p:spPr>
      </p:cxnSp>
      <p:sp>
        <p:nvSpPr>
          <p:cNvPr id="37908" name="矩形 65"/>
          <p:cNvSpPr>
            <a:spLocks noChangeArrowheads="1"/>
          </p:cNvSpPr>
          <p:nvPr/>
        </p:nvSpPr>
        <p:spPr bwMode="auto">
          <a:xfrm>
            <a:off x="2424113" y="4013200"/>
            <a:ext cx="1149674" cy="261610"/>
          </a:xfrm>
          <a:prstGeom prst="rect">
            <a:avLst/>
          </a:prstGeom>
          <a:noFill/>
          <a:ln w="9525">
            <a:noFill/>
            <a:miter lim="800000"/>
            <a:headEnd/>
            <a:tailEnd/>
          </a:ln>
        </p:spPr>
        <p:txBody>
          <a:bodyPr wrap="none">
            <a:spAutoFit/>
          </a:bodyPr>
          <a:lstStyle/>
          <a:p>
            <a:pPr eaLnBrk="0" fontAlgn="t" hangingPunct="0">
              <a:buSzPct val="100000"/>
            </a:pPr>
            <a:r>
              <a:rPr lang="en-US" altLang="zh-CN" sz="1100" b="1" dirty="0">
                <a:solidFill>
                  <a:srgbClr val="000000"/>
                </a:solidFill>
                <a:latin typeface="+mn-lt"/>
                <a:ea typeface="+mn-ea"/>
                <a:sym typeface="FrutigerNext LT Regular" pitchFamily="34" charset="0"/>
              </a:rPr>
              <a:t>Headquarters</a:t>
            </a:r>
          </a:p>
        </p:txBody>
      </p:sp>
      <p:sp>
        <p:nvSpPr>
          <p:cNvPr id="37909" name="矩形 66"/>
          <p:cNvSpPr>
            <a:spLocks noChangeArrowheads="1"/>
          </p:cNvSpPr>
          <p:nvPr/>
        </p:nvSpPr>
        <p:spPr bwMode="auto">
          <a:xfrm>
            <a:off x="8901114" y="3574178"/>
            <a:ext cx="1023936" cy="430887"/>
          </a:xfrm>
          <a:prstGeom prst="rect">
            <a:avLst/>
          </a:prstGeom>
          <a:noFill/>
          <a:ln w="9525">
            <a:noFill/>
            <a:miter lim="800000"/>
            <a:headEnd/>
            <a:tailEnd/>
          </a:ln>
        </p:spPr>
        <p:txBody>
          <a:bodyPr wrap="square">
            <a:spAutoFit/>
          </a:bodyPr>
          <a:lstStyle/>
          <a:p>
            <a:pPr eaLnBrk="0" fontAlgn="t" hangingPunct="0">
              <a:buSzPct val="100000"/>
            </a:pPr>
            <a:r>
              <a:rPr lang="en-US" altLang="zh-CN" sz="1100" b="1" dirty="0">
                <a:solidFill>
                  <a:srgbClr val="000000"/>
                </a:solidFill>
                <a:latin typeface="+mn-lt"/>
                <a:ea typeface="+mn-ea"/>
                <a:sym typeface="FrutigerNext LT Regular" pitchFamily="34" charset="0"/>
              </a:rPr>
              <a:t>R&amp;D department</a:t>
            </a:r>
          </a:p>
        </p:txBody>
      </p:sp>
      <p:sp>
        <p:nvSpPr>
          <p:cNvPr id="37910" name="矩形 67"/>
          <p:cNvSpPr>
            <a:spLocks noChangeArrowheads="1"/>
          </p:cNvSpPr>
          <p:nvPr/>
        </p:nvSpPr>
        <p:spPr bwMode="auto">
          <a:xfrm>
            <a:off x="8869000" y="4326141"/>
            <a:ext cx="1277156" cy="430887"/>
          </a:xfrm>
          <a:prstGeom prst="rect">
            <a:avLst/>
          </a:prstGeom>
          <a:noFill/>
          <a:ln w="9525">
            <a:noFill/>
            <a:miter lim="800000"/>
            <a:headEnd/>
            <a:tailEnd/>
          </a:ln>
        </p:spPr>
        <p:txBody>
          <a:bodyPr wrap="square">
            <a:spAutoFit/>
          </a:bodyPr>
          <a:lstStyle/>
          <a:p>
            <a:pPr eaLnBrk="0" fontAlgn="t" hangingPunct="0">
              <a:buSzPct val="100000"/>
            </a:pPr>
            <a:r>
              <a:rPr lang="en-US" altLang="zh-CN" sz="1100" b="1" dirty="0">
                <a:solidFill>
                  <a:srgbClr val="000000"/>
                </a:solidFill>
                <a:latin typeface="+mn-lt"/>
                <a:ea typeface="+mn-ea"/>
                <a:sym typeface="FrutigerNext LT Regular" pitchFamily="34" charset="0"/>
              </a:rPr>
              <a:t>Documentation department</a:t>
            </a:r>
          </a:p>
        </p:txBody>
      </p:sp>
      <p:sp>
        <p:nvSpPr>
          <p:cNvPr id="37911" name="文本框 68"/>
          <p:cNvSpPr txBox="1">
            <a:spLocks noChangeArrowheads="1"/>
          </p:cNvSpPr>
          <p:nvPr/>
        </p:nvSpPr>
        <p:spPr bwMode="auto">
          <a:xfrm>
            <a:off x="5603875" y="2859088"/>
            <a:ext cx="787400"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C00000"/>
                </a:solidFill>
                <a:latin typeface="+mn-lt"/>
                <a:ea typeface="+mn-ea"/>
                <a:cs typeface="Arial" charset="0"/>
                <a:sym typeface="FrutigerNext LT Regular" pitchFamily="34" charset="0"/>
              </a:rPr>
              <a:t>OSPF</a:t>
            </a:r>
          </a:p>
        </p:txBody>
      </p:sp>
      <p:sp>
        <p:nvSpPr>
          <p:cNvPr id="37912" name="文本框 69"/>
          <p:cNvSpPr txBox="1">
            <a:spLocks noChangeArrowheads="1"/>
          </p:cNvSpPr>
          <p:nvPr/>
        </p:nvSpPr>
        <p:spPr bwMode="auto">
          <a:xfrm>
            <a:off x="2345198" y="2836671"/>
            <a:ext cx="1033452" cy="439503"/>
          </a:xfrm>
          <a:prstGeom prst="rect">
            <a:avLst/>
          </a:prstGeom>
          <a:noFill/>
          <a:ln w="9525">
            <a:noFill/>
            <a:miter lim="800000"/>
            <a:headEnd/>
            <a:tailEnd/>
          </a:ln>
        </p:spPr>
        <p:txBody>
          <a:bodyPr wrap="square" lIns="99980" tIns="49986" rIns="99980" bIns="49986">
            <a:spAutoFit/>
          </a:bodyPr>
          <a:lstStyle/>
          <a:p>
            <a:pPr algn="ctr" defTabSz="1000125" eaLnBrk="0" hangingPunct="0">
              <a:buSzPct val="100000"/>
            </a:pPr>
            <a:r>
              <a:rPr lang="en-US" altLang="zh-CN" sz="1100" b="1" dirty="0">
                <a:solidFill>
                  <a:srgbClr val="000000"/>
                </a:solidFill>
                <a:latin typeface="+mn-lt"/>
                <a:ea typeface="+mn-ea"/>
                <a:cs typeface="Arial" charset="0"/>
                <a:sym typeface="FrutigerNext LT Regular" pitchFamily="34" charset="0"/>
              </a:rPr>
              <a:t>Marketing department</a:t>
            </a:r>
          </a:p>
        </p:txBody>
      </p:sp>
      <p:sp>
        <p:nvSpPr>
          <p:cNvPr id="37918" name="文本框 75"/>
          <p:cNvSpPr txBox="1">
            <a:spLocks noChangeArrowheads="1"/>
          </p:cNvSpPr>
          <p:nvPr/>
        </p:nvSpPr>
        <p:spPr bwMode="auto">
          <a:xfrm>
            <a:off x="4403726" y="4513264"/>
            <a:ext cx="771525"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b="1" dirty="0">
                <a:solidFill>
                  <a:srgbClr val="000000"/>
                </a:solidFill>
                <a:latin typeface="+mn-lt"/>
                <a:ea typeface="+mn-ea"/>
                <a:cs typeface="Arial" charset="0"/>
                <a:sym typeface="FrutigerNext LT Regular" pitchFamily="34" charset="0"/>
              </a:rPr>
              <a:t>RTD</a:t>
            </a:r>
          </a:p>
        </p:txBody>
      </p:sp>
      <p:sp>
        <p:nvSpPr>
          <p:cNvPr id="37919" name="文本框 76"/>
          <p:cNvSpPr txBox="1">
            <a:spLocks noChangeArrowheads="1"/>
          </p:cNvSpPr>
          <p:nvPr/>
        </p:nvSpPr>
        <p:spPr bwMode="auto">
          <a:xfrm>
            <a:off x="4403726" y="2932114"/>
            <a:ext cx="771525"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b="1" dirty="0">
                <a:solidFill>
                  <a:srgbClr val="000000"/>
                </a:solidFill>
                <a:latin typeface="+mn-lt"/>
                <a:ea typeface="+mn-ea"/>
                <a:cs typeface="Arial" charset="0"/>
                <a:sym typeface="FrutigerNext LT Regular" pitchFamily="34" charset="0"/>
              </a:rPr>
              <a:t>RTC</a:t>
            </a:r>
          </a:p>
        </p:txBody>
      </p:sp>
      <p:sp>
        <p:nvSpPr>
          <p:cNvPr id="37920" name="文本框 77"/>
          <p:cNvSpPr txBox="1">
            <a:spLocks noChangeArrowheads="1"/>
          </p:cNvSpPr>
          <p:nvPr/>
        </p:nvSpPr>
        <p:spPr bwMode="auto">
          <a:xfrm>
            <a:off x="5683251" y="4005264"/>
            <a:ext cx="773113"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b="1" dirty="0">
                <a:solidFill>
                  <a:srgbClr val="000000"/>
                </a:solidFill>
                <a:latin typeface="+mn-lt"/>
                <a:ea typeface="+mn-ea"/>
                <a:cs typeface="Arial" charset="0"/>
                <a:sym typeface="FrutigerNext LT Regular" pitchFamily="34" charset="0"/>
              </a:rPr>
              <a:t>RTB</a:t>
            </a:r>
          </a:p>
        </p:txBody>
      </p:sp>
      <p:sp>
        <p:nvSpPr>
          <p:cNvPr id="37921" name="文本框 78"/>
          <p:cNvSpPr txBox="1">
            <a:spLocks noChangeArrowheads="1"/>
          </p:cNvSpPr>
          <p:nvPr/>
        </p:nvSpPr>
        <p:spPr bwMode="auto">
          <a:xfrm>
            <a:off x="6675438" y="3998914"/>
            <a:ext cx="773112"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b="1" dirty="0">
                <a:solidFill>
                  <a:srgbClr val="000000"/>
                </a:solidFill>
                <a:latin typeface="+mn-lt"/>
                <a:ea typeface="+mn-ea"/>
                <a:cs typeface="Arial" charset="0"/>
                <a:sym typeface="FrutigerNext LT Regular" pitchFamily="34" charset="0"/>
              </a:rPr>
              <a:t>RTA</a:t>
            </a:r>
          </a:p>
        </p:txBody>
      </p:sp>
      <p:sp>
        <p:nvSpPr>
          <p:cNvPr id="37922" name="文本框 79"/>
          <p:cNvSpPr txBox="1">
            <a:spLocks noChangeArrowheads="1"/>
          </p:cNvSpPr>
          <p:nvPr/>
        </p:nvSpPr>
        <p:spPr bwMode="auto">
          <a:xfrm rot="1032180">
            <a:off x="3806825" y="3012901"/>
            <a:ext cx="833438"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050" dirty="0">
                <a:solidFill>
                  <a:srgbClr val="000000"/>
                </a:solidFill>
                <a:latin typeface="+mn-lt"/>
                <a:ea typeface="+mn-ea"/>
                <a:cs typeface="Arial" charset="0"/>
                <a:sym typeface="FrutigerNext LT Regular" pitchFamily="34" charset="0"/>
              </a:rPr>
              <a:t>10.1.4.0</a:t>
            </a:r>
          </a:p>
        </p:txBody>
      </p:sp>
      <p:sp>
        <p:nvSpPr>
          <p:cNvPr id="37923" name="文本框 80"/>
          <p:cNvSpPr txBox="1">
            <a:spLocks noChangeArrowheads="1"/>
          </p:cNvSpPr>
          <p:nvPr/>
        </p:nvSpPr>
        <p:spPr bwMode="auto">
          <a:xfrm rot="1035426">
            <a:off x="5060950" y="3357388"/>
            <a:ext cx="831850"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050" dirty="0">
                <a:solidFill>
                  <a:srgbClr val="000000"/>
                </a:solidFill>
                <a:latin typeface="+mn-lt"/>
                <a:ea typeface="+mn-ea"/>
                <a:cs typeface="Arial" charset="0"/>
                <a:sym typeface="FrutigerNext LT Regular" pitchFamily="34" charset="0"/>
              </a:rPr>
              <a:t>12.1.2.0</a:t>
            </a:r>
          </a:p>
        </p:txBody>
      </p:sp>
      <p:sp>
        <p:nvSpPr>
          <p:cNvPr id="37924" name="文本框 81"/>
          <p:cNvSpPr txBox="1">
            <a:spLocks noChangeArrowheads="1"/>
          </p:cNvSpPr>
          <p:nvPr/>
        </p:nvSpPr>
        <p:spPr bwMode="auto">
          <a:xfrm rot="-1200000">
            <a:off x="5059364" y="4001913"/>
            <a:ext cx="833437"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050" dirty="0">
                <a:solidFill>
                  <a:srgbClr val="000000"/>
                </a:solidFill>
                <a:latin typeface="+mn-lt"/>
                <a:ea typeface="+mn-ea"/>
                <a:cs typeface="Arial" charset="0"/>
                <a:sym typeface="FrutigerNext LT Regular" pitchFamily="34" charset="0"/>
              </a:rPr>
              <a:t>12.1.3.0</a:t>
            </a:r>
          </a:p>
        </p:txBody>
      </p:sp>
      <p:sp>
        <p:nvSpPr>
          <p:cNvPr id="37925" name="文本框 82"/>
          <p:cNvSpPr txBox="1">
            <a:spLocks noChangeAspect="1"/>
          </p:cNvSpPr>
          <p:nvPr/>
        </p:nvSpPr>
        <p:spPr bwMode="auto">
          <a:xfrm rot="-645565">
            <a:off x="3803650" y="4303538"/>
            <a:ext cx="833438"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050" dirty="0">
                <a:solidFill>
                  <a:srgbClr val="000000"/>
                </a:solidFill>
                <a:latin typeface="+mn-lt"/>
                <a:ea typeface="+mn-ea"/>
                <a:cs typeface="Arial" charset="0"/>
                <a:sym typeface="FrutigerNext LT Regular" pitchFamily="34" charset="0"/>
              </a:rPr>
              <a:t>10.1.5.0</a:t>
            </a:r>
          </a:p>
        </p:txBody>
      </p:sp>
      <p:sp>
        <p:nvSpPr>
          <p:cNvPr id="37926" name="文本框 83"/>
          <p:cNvSpPr txBox="1">
            <a:spLocks noChangeArrowheads="1"/>
          </p:cNvSpPr>
          <p:nvPr/>
        </p:nvSpPr>
        <p:spPr bwMode="auto">
          <a:xfrm>
            <a:off x="6272213" y="3505201"/>
            <a:ext cx="831850"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050" dirty="0">
                <a:solidFill>
                  <a:srgbClr val="000000"/>
                </a:solidFill>
                <a:latin typeface="+mn-lt"/>
                <a:ea typeface="+mn-ea"/>
                <a:cs typeface="Arial" charset="0"/>
                <a:sym typeface="FrutigerNext LT Regular" pitchFamily="34" charset="0"/>
              </a:rPr>
              <a:t>12.1.1.0</a:t>
            </a:r>
          </a:p>
        </p:txBody>
      </p:sp>
      <p:sp>
        <p:nvSpPr>
          <p:cNvPr id="37927" name="文本框 84"/>
          <p:cNvSpPr txBox="1">
            <a:spLocks noChangeArrowheads="1"/>
          </p:cNvSpPr>
          <p:nvPr/>
        </p:nvSpPr>
        <p:spPr bwMode="auto">
          <a:xfrm rot="-1948063">
            <a:off x="7340600" y="3238326"/>
            <a:ext cx="831850"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050" dirty="0">
                <a:solidFill>
                  <a:srgbClr val="000000"/>
                </a:solidFill>
                <a:latin typeface="+mn-lt"/>
                <a:ea typeface="+mn-ea"/>
                <a:cs typeface="Arial" charset="0"/>
                <a:sym typeface="FrutigerNext LT Regular" pitchFamily="34" charset="0"/>
              </a:rPr>
              <a:t>10.1.1.0</a:t>
            </a:r>
          </a:p>
        </p:txBody>
      </p:sp>
      <p:sp>
        <p:nvSpPr>
          <p:cNvPr id="37928" name="文本框 85"/>
          <p:cNvSpPr txBox="1">
            <a:spLocks noChangeArrowheads="1"/>
          </p:cNvSpPr>
          <p:nvPr/>
        </p:nvSpPr>
        <p:spPr bwMode="auto">
          <a:xfrm>
            <a:off x="7535864" y="3756026"/>
            <a:ext cx="833437"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050" dirty="0">
                <a:solidFill>
                  <a:srgbClr val="000000"/>
                </a:solidFill>
                <a:latin typeface="+mn-lt"/>
                <a:ea typeface="+mn-ea"/>
                <a:cs typeface="Arial" charset="0"/>
                <a:sym typeface="FrutigerNext LT Regular" pitchFamily="34" charset="0"/>
              </a:rPr>
              <a:t>10.1.2.0</a:t>
            </a:r>
          </a:p>
        </p:txBody>
      </p:sp>
      <p:sp>
        <p:nvSpPr>
          <p:cNvPr id="37929" name="文本框 86"/>
          <p:cNvSpPr txBox="1">
            <a:spLocks noChangeArrowheads="1"/>
          </p:cNvSpPr>
          <p:nvPr/>
        </p:nvSpPr>
        <p:spPr bwMode="auto">
          <a:xfrm rot="2018709">
            <a:off x="7329488" y="4147963"/>
            <a:ext cx="831850"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050" dirty="0">
                <a:solidFill>
                  <a:srgbClr val="000000"/>
                </a:solidFill>
                <a:latin typeface="+mn-lt"/>
                <a:ea typeface="+mn-ea"/>
                <a:cs typeface="Arial" charset="0"/>
                <a:sym typeface="FrutigerNext LT Regular" pitchFamily="34" charset="0"/>
              </a:rPr>
              <a:t>10.1.3.0</a:t>
            </a:r>
          </a:p>
        </p:txBody>
      </p:sp>
      <p:sp>
        <p:nvSpPr>
          <p:cNvPr id="91" name="AutoShape 17"/>
          <p:cNvSpPr>
            <a:spLocks noChangeArrowheads="1"/>
          </p:cNvSpPr>
          <p:nvPr/>
        </p:nvSpPr>
        <p:spPr bwMode="auto">
          <a:xfrm>
            <a:off x="3395700" y="1680746"/>
            <a:ext cx="2287550" cy="677108"/>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ospf 1</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area 0 </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network 12.1.2.0 0.0.0.255</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network 10.1.4.0 0.0.0.255</a:t>
            </a:r>
          </a:p>
        </p:txBody>
      </p:sp>
      <p:cxnSp>
        <p:nvCxnSpPr>
          <p:cNvPr id="37934" name="直接连接符 91"/>
          <p:cNvCxnSpPr>
            <a:cxnSpLocks noChangeShapeType="1"/>
          </p:cNvCxnSpPr>
          <p:nvPr/>
        </p:nvCxnSpPr>
        <p:spPr bwMode="auto">
          <a:xfrm flipH="1">
            <a:off x="3979864" y="4156075"/>
            <a:ext cx="917575" cy="1104900"/>
          </a:xfrm>
          <a:prstGeom prst="line">
            <a:avLst/>
          </a:prstGeom>
          <a:noFill/>
          <a:ln w="28575" algn="ctr">
            <a:solidFill>
              <a:srgbClr val="C00000"/>
            </a:solidFill>
            <a:prstDash val="sysDot"/>
            <a:round/>
            <a:headEnd/>
            <a:tailEnd/>
          </a:ln>
        </p:spPr>
      </p:cxnSp>
      <p:sp>
        <p:nvSpPr>
          <p:cNvPr id="93" name="AutoShape 17"/>
          <p:cNvSpPr>
            <a:spLocks noChangeArrowheads="1"/>
          </p:cNvSpPr>
          <p:nvPr/>
        </p:nvSpPr>
        <p:spPr bwMode="auto">
          <a:xfrm>
            <a:off x="3395700" y="5213727"/>
            <a:ext cx="2287550" cy="677108"/>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ospf 1</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area 0 </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network 12.1.3.0 0.0.0.255</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network 10.1.5.0 0.0.0.255</a:t>
            </a:r>
          </a:p>
        </p:txBody>
      </p:sp>
      <p:sp>
        <p:nvSpPr>
          <p:cNvPr id="95" name="AutoShape 17"/>
          <p:cNvSpPr>
            <a:spLocks noChangeArrowheads="1"/>
          </p:cNvSpPr>
          <p:nvPr/>
        </p:nvSpPr>
        <p:spPr bwMode="auto">
          <a:xfrm>
            <a:off x="6456040" y="1663577"/>
            <a:ext cx="2304232" cy="846386"/>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ospf 1</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area 0 </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network 12.1.1.0 0.0.0.255</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network 12.1.2.0 0.0.0.255</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network 12.1.3.0 0.0.0.255</a:t>
            </a:r>
          </a:p>
        </p:txBody>
      </p:sp>
      <p:sp>
        <p:nvSpPr>
          <p:cNvPr id="96" name="AutoShape 17"/>
          <p:cNvSpPr>
            <a:spLocks noChangeArrowheads="1"/>
          </p:cNvSpPr>
          <p:nvPr/>
        </p:nvSpPr>
        <p:spPr bwMode="auto">
          <a:xfrm>
            <a:off x="6564052" y="5202065"/>
            <a:ext cx="2344998" cy="692497"/>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ospf 1</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a:t>
            </a:r>
            <a:r>
              <a:rPr lang="en-US" altLang="zh-CN" sz="1100" b="1" dirty="0">
                <a:solidFill>
                  <a:srgbClr val="C00000"/>
                </a:solidFill>
                <a:latin typeface="+mn-lt"/>
                <a:ea typeface="+mn-ea"/>
                <a:cs typeface="Courier New" panose="02070309020205020404" pitchFamily="49" charset="0"/>
                <a:sym typeface="FrutigerNext LT Regular" pitchFamily="34" charset="0"/>
              </a:rPr>
              <a:t>import-route direct</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area 0 </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network 12.1.1.0 0.0.0.255</a:t>
            </a:r>
          </a:p>
        </p:txBody>
      </p:sp>
      <p:pic>
        <p:nvPicPr>
          <p:cNvPr id="53" name="图片 5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43693" y="4282537"/>
            <a:ext cx="540000" cy="442800"/>
          </a:xfrm>
          <a:prstGeom prst="rect">
            <a:avLst/>
          </a:prstGeom>
        </p:spPr>
      </p:pic>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391842" y="2918296"/>
            <a:ext cx="540000" cy="442800"/>
          </a:xfrm>
          <a:prstGeom prst="rect">
            <a:avLst/>
          </a:prstGeom>
        </p:spPr>
      </p:pic>
      <p:pic>
        <p:nvPicPr>
          <p:cNvPr id="57" name="图片 5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00256" y="4316304"/>
            <a:ext cx="540000" cy="442800"/>
          </a:xfrm>
          <a:prstGeom prst="rect">
            <a:avLst/>
          </a:prstGeom>
        </p:spPr>
      </p:pic>
      <p:pic>
        <p:nvPicPr>
          <p:cNvPr id="5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32554" y="3233574"/>
            <a:ext cx="628652" cy="514351"/>
          </a:xfrm>
          <a:prstGeom prst="rect">
            <a:avLst/>
          </a:prstGeom>
          <a:noFill/>
        </p:spPr>
      </p:pic>
      <p:pic>
        <p:nvPicPr>
          <p:cNvPr id="6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37555" y="3929079"/>
            <a:ext cx="628652" cy="514351"/>
          </a:xfrm>
          <a:prstGeom prst="rect">
            <a:avLst/>
          </a:prstGeom>
          <a:noFill/>
        </p:spPr>
      </p:pic>
      <p:pic>
        <p:nvPicPr>
          <p:cNvPr id="6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87435" y="3478954"/>
            <a:ext cx="628652" cy="514351"/>
          </a:xfrm>
          <a:prstGeom prst="rect">
            <a:avLst/>
          </a:prstGeom>
          <a:noFill/>
        </p:spPr>
      </p:pic>
      <p:pic>
        <p:nvPicPr>
          <p:cNvPr id="6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011859" y="3544728"/>
            <a:ext cx="628652" cy="514351"/>
          </a:xfrm>
          <a:prstGeom prst="rect">
            <a:avLst/>
          </a:prstGeom>
          <a:noFill/>
        </p:spPr>
      </p:pic>
      <p:pic>
        <p:nvPicPr>
          <p:cNvPr id="63" name="图片 62" descr="市场部.png"/>
          <p:cNvPicPr>
            <a:picLocks noChangeAspect="1"/>
          </p:cNvPicPr>
          <p:nvPr/>
        </p:nvPicPr>
        <p:blipFill>
          <a:blip r:embed="rId5" cstate="print"/>
          <a:stretch>
            <a:fillRect/>
          </a:stretch>
        </p:blipFill>
        <p:spPr>
          <a:xfrm>
            <a:off x="3317028" y="2836671"/>
            <a:ext cx="540000" cy="441818"/>
          </a:xfrm>
          <a:prstGeom prst="rect">
            <a:avLst/>
          </a:prstGeom>
        </p:spPr>
      </p:pic>
      <p:pic>
        <p:nvPicPr>
          <p:cNvPr id="64" name="图片 63" descr="研发部.png"/>
          <p:cNvPicPr>
            <a:picLocks noChangeAspect="1"/>
          </p:cNvPicPr>
          <p:nvPr/>
        </p:nvPicPr>
        <p:blipFill>
          <a:blip r:embed="rId6" cstate="print"/>
          <a:stretch>
            <a:fillRect/>
          </a:stretch>
        </p:blipFill>
        <p:spPr>
          <a:xfrm>
            <a:off x="8373654" y="3540409"/>
            <a:ext cx="540000" cy="441818"/>
          </a:xfrm>
          <a:prstGeom prst="rect">
            <a:avLst/>
          </a:prstGeom>
        </p:spPr>
      </p:pic>
    </p:spTree>
    <p:extLst>
      <p:ext uri="{BB962C8B-B14F-4D97-AF65-F5344CB8AC3E}">
        <p14:creationId xmlns:p14="http://schemas.microsoft.com/office/powerpoint/2010/main" val="30146922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59" name="直接连接符 100"/>
          <p:cNvCxnSpPr>
            <a:cxnSpLocks noChangeShapeType="1"/>
          </p:cNvCxnSpPr>
          <p:nvPr/>
        </p:nvCxnSpPr>
        <p:spPr bwMode="auto">
          <a:xfrm>
            <a:off x="7357872" y="3899908"/>
            <a:ext cx="1153118" cy="736098"/>
          </a:xfrm>
          <a:prstGeom prst="line">
            <a:avLst/>
          </a:prstGeom>
          <a:noFill/>
          <a:ln w="28575" algn="ctr">
            <a:solidFill>
              <a:schemeClr val="tx1"/>
            </a:solidFill>
            <a:round/>
            <a:headEnd/>
            <a:tailEnd/>
          </a:ln>
        </p:spPr>
      </p:cxnSp>
      <p:cxnSp>
        <p:nvCxnSpPr>
          <p:cNvPr id="1058" name="直接连接符 99"/>
          <p:cNvCxnSpPr>
            <a:cxnSpLocks noChangeShapeType="1"/>
          </p:cNvCxnSpPr>
          <p:nvPr/>
        </p:nvCxnSpPr>
        <p:spPr bwMode="auto">
          <a:xfrm flipV="1">
            <a:off x="7456304" y="3791943"/>
            <a:ext cx="980105" cy="0"/>
          </a:xfrm>
          <a:prstGeom prst="line">
            <a:avLst/>
          </a:prstGeom>
          <a:noFill/>
          <a:ln w="28575" algn="ctr">
            <a:solidFill>
              <a:schemeClr val="tx1"/>
            </a:solidFill>
            <a:round/>
            <a:headEnd/>
            <a:tailEnd/>
          </a:ln>
        </p:spPr>
      </p:cxnSp>
      <p:cxnSp>
        <p:nvCxnSpPr>
          <p:cNvPr id="1057" name="直接连接符 97"/>
          <p:cNvCxnSpPr>
            <a:cxnSpLocks noChangeShapeType="1"/>
          </p:cNvCxnSpPr>
          <p:nvPr/>
        </p:nvCxnSpPr>
        <p:spPr bwMode="auto">
          <a:xfrm flipH="1">
            <a:off x="7438046" y="3105414"/>
            <a:ext cx="998363" cy="644219"/>
          </a:xfrm>
          <a:prstGeom prst="line">
            <a:avLst/>
          </a:prstGeom>
          <a:noFill/>
          <a:ln w="28575" algn="ctr">
            <a:solidFill>
              <a:schemeClr val="tx1"/>
            </a:solidFill>
            <a:round/>
            <a:headEnd/>
            <a:tailEnd/>
          </a:ln>
        </p:spPr>
      </p:cxnSp>
      <p:cxnSp>
        <p:nvCxnSpPr>
          <p:cNvPr id="1052" name="直接连接符 92"/>
          <p:cNvCxnSpPr>
            <a:cxnSpLocks noChangeShapeType="1"/>
          </p:cNvCxnSpPr>
          <p:nvPr/>
        </p:nvCxnSpPr>
        <p:spPr bwMode="auto">
          <a:xfrm flipH="1" flipV="1">
            <a:off x="3571974" y="3076181"/>
            <a:ext cx="1110907" cy="344118"/>
          </a:xfrm>
          <a:prstGeom prst="line">
            <a:avLst/>
          </a:prstGeom>
          <a:noFill/>
          <a:ln w="28575" algn="ctr">
            <a:solidFill>
              <a:schemeClr val="tx1"/>
            </a:solidFill>
            <a:round/>
            <a:headEnd/>
            <a:tailEnd/>
          </a:ln>
        </p:spPr>
      </p:cxnSp>
      <p:cxnSp>
        <p:nvCxnSpPr>
          <p:cNvPr id="1055" name="直接连接符 95"/>
          <p:cNvCxnSpPr>
            <a:cxnSpLocks noChangeShapeType="1"/>
          </p:cNvCxnSpPr>
          <p:nvPr/>
        </p:nvCxnSpPr>
        <p:spPr bwMode="auto">
          <a:xfrm flipH="1">
            <a:off x="3571974" y="4269785"/>
            <a:ext cx="1284421" cy="205938"/>
          </a:xfrm>
          <a:prstGeom prst="line">
            <a:avLst/>
          </a:prstGeom>
          <a:noFill/>
          <a:ln w="28575" algn="ctr">
            <a:solidFill>
              <a:schemeClr val="tx1"/>
            </a:solidFill>
            <a:round/>
            <a:headEnd/>
            <a:tailEnd/>
          </a:ln>
        </p:spPr>
      </p:cxnSp>
      <p:cxnSp>
        <p:nvCxnSpPr>
          <p:cNvPr id="1054" name="直接连接符 94"/>
          <p:cNvCxnSpPr>
            <a:cxnSpLocks noChangeShapeType="1"/>
          </p:cNvCxnSpPr>
          <p:nvPr/>
        </p:nvCxnSpPr>
        <p:spPr bwMode="auto">
          <a:xfrm flipV="1">
            <a:off x="4862751" y="3970431"/>
            <a:ext cx="1293962" cy="286614"/>
          </a:xfrm>
          <a:prstGeom prst="line">
            <a:avLst/>
          </a:prstGeom>
          <a:noFill/>
          <a:ln w="28575" algn="ctr">
            <a:solidFill>
              <a:schemeClr val="tx1"/>
            </a:solidFill>
            <a:round/>
            <a:headEnd/>
            <a:tailEnd/>
          </a:ln>
        </p:spPr>
      </p:cxnSp>
      <p:cxnSp>
        <p:nvCxnSpPr>
          <p:cNvPr id="1056" name="直接连接符 96"/>
          <p:cNvCxnSpPr>
            <a:cxnSpLocks noChangeShapeType="1"/>
          </p:cNvCxnSpPr>
          <p:nvPr/>
        </p:nvCxnSpPr>
        <p:spPr bwMode="auto">
          <a:xfrm>
            <a:off x="5958244" y="3824358"/>
            <a:ext cx="1115912" cy="0"/>
          </a:xfrm>
          <a:prstGeom prst="line">
            <a:avLst/>
          </a:prstGeom>
          <a:noFill/>
          <a:ln w="28575" algn="ctr">
            <a:solidFill>
              <a:schemeClr val="tx1"/>
            </a:solidFill>
            <a:round/>
            <a:headEnd/>
            <a:tailEnd/>
          </a:ln>
        </p:spPr>
      </p:cxnSp>
      <p:cxnSp>
        <p:nvCxnSpPr>
          <p:cNvPr id="94" name="直接连接符 93"/>
          <p:cNvCxnSpPr/>
          <p:nvPr/>
        </p:nvCxnSpPr>
        <p:spPr bwMode="auto">
          <a:xfrm>
            <a:off x="4856163" y="3441701"/>
            <a:ext cx="1217612" cy="35242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6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015520" y="3571296"/>
            <a:ext cx="628652" cy="514351"/>
          </a:xfrm>
          <a:prstGeom prst="rect">
            <a:avLst/>
          </a:prstGeom>
          <a:noFill/>
        </p:spPr>
      </p:pic>
      <p:pic>
        <p:nvPicPr>
          <p:cNvPr id="6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73032" y="3552723"/>
            <a:ext cx="628652" cy="514351"/>
          </a:xfrm>
          <a:prstGeom prst="rect">
            <a:avLst/>
          </a:prstGeom>
          <a:noFill/>
        </p:spPr>
      </p:pic>
      <p:pic>
        <p:nvPicPr>
          <p:cNvPr id="6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478865" y="3991857"/>
            <a:ext cx="628652" cy="514351"/>
          </a:xfrm>
          <a:prstGeom prst="rect">
            <a:avLst/>
          </a:prstGeom>
          <a:noFill/>
        </p:spPr>
      </p:pic>
      <p:pic>
        <p:nvPicPr>
          <p:cNvPr id="6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471151" y="3224786"/>
            <a:ext cx="628652" cy="514351"/>
          </a:xfrm>
          <a:prstGeom prst="rect">
            <a:avLst/>
          </a:prstGeom>
          <a:noFill/>
        </p:spPr>
      </p:pic>
      <p:sp>
        <p:nvSpPr>
          <p:cNvPr id="6" name="文本占位符 5"/>
          <p:cNvSpPr>
            <a:spLocks noGrp="1"/>
          </p:cNvSpPr>
          <p:nvPr>
            <p:ph type="body" sz="quarter" idx="12"/>
          </p:nvPr>
        </p:nvSpPr>
        <p:spPr/>
        <p:txBody>
          <a:bodyPr/>
          <a:lstStyle/>
          <a:p>
            <a:r>
              <a:rPr lang="en-US" altLang="zh-CN" dirty="0"/>
              <a:t>Route-Policy </a:t>
            </a:r>
            <a:r>
              <a:rPr lang="en-US" altLang="zh-CN" dirty="0" smtClean="0"/>
              <a:t>Configuration (2)</a:t>
            </a:r>
            <a:endParaRPr lang="zh-CN" altLang="en-US" dirty="0"/>
          </a:p>
        </p:txBody>
      </p:sp>
      <p:cxnSp>
        <p:nvCxnSpPr>
          <p:cNvPr id="1029" name="直接连接符 77"/>
          <p:cNvCxnSpPr>
            <a:cxnSpLocks noChangeShapeType="1"/>
          </p:cNvCxnSpPr>
          <p:nvPr/>
        </p:nvCxnSpPr>
        <p:spPr bwMode="auto">
          <a:xfrm flipV="1">
            <a:off x="6019801" y="3787775"/>
            <a:ext cx="1268413" cy="1549400"/>
          </a:xfrm>
          <a:prstGeom prst="line">
            <a:avLst/>
          </a:prstGeom>
          <a:noFill/>
          <a:ln w="28575" algn="ctr">
            <a:solidFill>
              <a:srgbClr val="C00000"/>
            </a:solidFill>
            <a:prstDash val="sysDot"/>
            <a:round/>
            <a:headEnd/>
            <a:tailEnd/>
          </a:ln>
        </p:spPr>
      </p:cxnSp>
      <p:cxnSp>
        <p:nvCxnSpPr>
          <p:cNvPr id="1030" name="直接连接符 80"/>
          <p:cNvCxnSpPr>
            <a:cxnSpLocks noChangeShapeType="1"/>
          </p:cNvCxnSpPr>
          <p:nvPr/>
        </p:nvCxnSpPr>
        <p:spPr bwMode="auto">
          <a:xfrm flipV="1">
            <a:off x="4886326" y="2241550"/>
            <a:ext cx="1071563" cy="1169988"/>
          </a:xfrm>
          <a:prstGeom prst="line">
            <a:avLst/>
          </a:prstGeom>
          <a:noFill/>
          <a:ln w="28575" algn="ctr">
            <a:solidFill>
              <a:srgbClr val="C00000"/>
            </a:solidFill>
            <a:prstDash val="sysDot"/>
            <a:round/>
            <a:headEnd/>
            <a:tailEnd/>
          </a:ln>
        </p:spPr>
      </p:cxnSp>
      <p:sp>
        <p:nvSpPr>
          <p:cNvPr id="131" name="AutoShape 17"/>
          <p:cNvSpPr>
            <a:spLocks noChangeArrowheads="1"/>
          </p:cNvSpPr>
          <p:nvPr/>
        </p:nvSpPr>
        <p:spPr bwMode="auto">
          <a:xfrm>
            <a:off x="4708526" y="1672729"/>
            <a:ext cx="3572299" cy="923330"/>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acl 2000</a:t>
            </a:r>
          </a:p>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 rule 5 deny source 10.1.1.0 0.0.0.255</a:t>
            </a:r>
          </a:p>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 rule 10 permit source any</a:t>
            </a:r>
          </a:p>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ospf 1</a:t>
            </a:r>
          </a:p>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 </a:t>
            </a:r>
            <a:r>
              <a:rPr lang="en-US" altLang="zh-CN" sz="1200" b="1" dirty="0">
                <a:solidFill>
                  <a:srgbClr val="C00000"/>
                </a:solidFill>
                <a:latin typeface="+mn-lt"/>
                <a:ea typeface="+mn-ea"/>
                <a:cs typeface="Courier New" panose="02070309020205020404" pitchFamily="49" charset="0"/>
                <a:sym typeface="FrutigerNext LT Regular" pitchFamily="34" charset="0"/>
              </a:rPr>
              <a:t>filter-policy 2000 import</a:t>
            </a:r>
          </a:p>
        </p:txBody>
      </p:sp>
      <p:sp>
        <p:nvSpPr>
          <p:cNvPr id="47" name="圆角矩形 46"/>
          <p:cNvSpPr/>
          <p:nvPr/>
        </p:nvSpPr>
        <p:spPr bwMode="auto">
          <a:xfrm>
            <a:off x="8296232" y="3488794"/>
            <a:ext cx="1829949" cy="665162"/>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48" name="圆角矩形 47"/>
          <p:cNvSpPr/>
          <p:nvPr/>
        </p:nvSpPr>
        <p:spPr bwMode="auto">
          <a:xfrm>
            <a:off x="8272015" y="2773466"/>
            <a:ext cx="1872308" cy="652463"/>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56" name="圆角矩形 55"/>
          <p:cNvSpPr/>
          <p:nvPr/>
        </p:nvSpPr>
        <p:spPr bwMode="auto">
          <a:xfrm>
            <a:off x="8287890" y="4251326"/>
            <a:ext cx="1840558" cy="72390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79" name="圆角矩形 78"/>
          <p:cNvSpPr/>
          <p:nvPr/>
        </p:nvSpPr>
        <p:spPr bwMode="auto">
          <a:xfrm>
            <a:off x="2279650" y="4019551"/>
            <a:ext cx="1712913" cy="74930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91" name="圆角矩形 90"/>
          <p:cNvSpPr/>
          <p:nvPr/>
        </p:nvSpPr>
        <p:spPr bwMode="auto">
          <a:xfrm>
            <a:off x="2279650" y="2781301"/>
            <a:ext cx="1662113"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1051" name="矩形 91"/>
          <p:cNvSpPr>
            <a:spLocks noChangeArrowheads="1"/>
          </p:cNvSpPr>
          <p:nvPr/>
        </p:nvSpPr>
        <p:spPr bwMode="auto">
          <a:xfrm>
            <a:off x="8937315" y="2859324"/>
            <a:ext cx="1227137" cy="461665"/>
          </a:xfrm>
          <a:prstGeom prst="rect">
            <a:avLst/>
          </a:prstGeom>
          <a:noFill/>
          <a:ln w="9525">
            <a:noFill/>
            <a:miter lim="800000"/>
            <a:headEnd/>
            <a:tailEnd/>
          </a:ln>
        </p:spPr>
        <p:txBody>
          <a:bodyPr wrap="square">
            <a:spAutoFit/>
          </a:bodyPr>
          <a:lstStyle/>
          <a:p>
            <a:pPr eaLnBrk="0" fontAlgn="t" hangingPunct="0">
              <a:buSzPct val="100000"/>
            </a:pPr>
            <a:r>
              <a:rPr lang="en-US" altLang="zh-CN" sz="1200" b="1" dirty="0">
                <a:solidFill>
                  <a:srgbClr val="000000"/>
                </a:solidFill>
                <a:latin typeface="+mn-lt"/>
                <a:ea typeface="+mn-ea"/>
                <a:sym typeface="FrutigerNext LT Regular" pitchFamily="34" charset="0"/>
              </a:rPr>
              <a:t>Financial department</a:t>
            </a:r>
          </a:p>
        </p:txBody>
      </p:sp>
      <p:sp>
        <p:nvSpPr>
          <p:cNvPr id="1060" name="矩形 101"/>
          <p:cNvSpPr>
            <a:spLocks noChangeArrowheads="1"/>
          </p:cNvSpPr>
          <p:nvPr/>
        </p:nvSpPr>
        <p:spPr bwMode="auto">
          <a:xfrm>
            <a:off x="2279576" y="4052889"/>
            <a:ext cx="1247586" cy="276999"/>
          </a:xfrm>
          <a:prstGeom prst="rect">
            <a:avLst/>
          </a:prstGeom>
          <a:noFill/>
          <a:ln w="9525">
            <a:noFill/>
            <a:miter lim="800000"/>
            <a:headEnd/>
            <a:tailEnd/>
          </a:ln>
        </p:spPr>
        <p:txBody>
          <a:bodyPr wrap="none">
            <a:spAutoFit/>
          </a:bodyPr>
          <a:lstStyle/>
          <a:p>
            <a:pPr eaLnBrk="0" fontAlgn="t" hangingPunct="0">
              <a:buSzPct val="100000"/>
            </a:pPr>
            <a:r>
              <a:rPr lang="en-US" altLang="zh-CN" sz="1200" b="1" dirty="0">
                <a:solidFill>
                  <a:srgbClr val="000000"/>
                </a:solidFill>
                <a:latin typeface="+mn-lt"/>
                <a:ea typeface="+mn-ea"/>
                <a:sym typeface="FrutigerNext LT Regular" pitchFamily="34" charset="0"/>
              </a:rPr>
              <a:t>Headquarters</a:t>
            </a:r>
          </a:p>
        </p:txBody>
      </p:sp>
      <p:sp>
        <p:nvSpPr>
          <p:cNvPr id="1061" name="矩形 102"/>
          <p:cNvSpPr>
            <a:spLocks noChangeArrowheads="1"/>
          </p:cNvSpPr>
          <p:nvPr/>
        </p:nvSpPr>
        <p:spPr bwMode="auto">
          <a:xfrm>
            <a:off x="8937626" y="3615408"/>
            <a:ext cx="1108074" cy="461665"/>
          </a:xfrm>
          <a:prstGeom prst="rect">
            <a:avLst/>
          </a:prstGeom>
          <a:noFill/>
          <a:ln w="9525">
            <a:noFill/>
            <a:miter lim="800000"/>
            <a:headEnd/>
            <a:tailEnd/>
          </a:ln>
        </p:spPr>
        <p:txBody>
          <a:bodyPr wrap="square">
            <a:spAutoFit/>
          </a:bodyPr>
          <a:lstStyle/>
          <a:p>
            <a:pPr eaLnBrk="0" fontAlgn="t" hangingPunct="0">
              <a:buSzPct val="100000"/>
            </a:pPr>
            <a:r>
              <a:rPr lang="en-US" altLang="zh-CN" sz="1200" b="1" dirty="0">
                <a:solidFill>
                  <a:srgbClr val="000000"/>
                </a:solidFill>
                <a:latin typeface="+mn-lt"/>
                <a:ea typeface="+mn-ea"/>
                <a:sym typeface="FrutigerNext LT Regular" pitchFamily="34" charset="0"/>
              </a:rPr>
              <a:t>R&amp;D department</a:t>
            </a:r>
          </a:p>
        </p:txBody>
      </p:sp>
      <p:sp>
        <p:nvSpPr>
          <p:cNvPr id="1062" name="矩形 103"/>
          <p:cNvSpPr>
            <a:spLocks noChangeArrowheads="1"/>
          </p:cNvSpPr>
          <p:nvPr/>
        </p:nvSpPr>
        <p:spPr bwMode="auto">
          <a:xfrm>
            <a:off x="8940316" y="4407496"/>
            <a:ext cx="1332148" cy="400110"/>
          </a:xfrm>
          <a:prstGeom prst="rect">
            <a:avLst/>
          </a:prstGeom>
          <a:noFill/>
          <a:ln w="9525">
            <a:noFill/>
            <a:miter lim="800000"/>
            <a:headEnd/>
            <a:tailEnd/>
          </a:ln>
        </p:spPr>
        <p:txBody>
          <a:bodyPr wrap="square">
            <a:spAutoFit/>
          </a:bodyPr>
          <a:lstStyle/>
          <a:p>
            <a:pPr eaLnBrk="0" fontAlgn="t" hangingPunct="0">
              <a:buSzPct val="100000"/>
            </a:pPr>
            <a:r>
              <a:rPr lang="en-US" altLang="zh-CN" b="1" dirty="0">
                <a:solidFill>
                  <a:srgbClr val="000000"/>
                </a:solidFill>
                <a:latin typeface="+mn-lt"/>
                <a:ea typeface="+mn-ea"/>
                <a:sym typeface="FrutigerNext LT Regular" pitchFamily="34" charset="0"/>
              </a:rPr>
              <a:t>Documentation department</a:t>
            </a:r>
          </a:p>
        </p:txBody>
      </p:sp>
      <p:sp>
        <p:nvSpPr>
          <p:cNvPr id="1063" name="文本框 108"/>
          <p:cNvSpPr txBox="1">
            <a:spLocks noChangeArrowheads="1"/>
          </p:cNvSpPr>
          <p:nvPr/>
        </p:nvSpPr>
        <p:spPr bwMode="auto">
          <a:xfrm>
            <a:off x="6064250" y="2925764"/>
            <a:ext cx="787400" cy="31639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C00000"/>
                </a:solidFill>
                <a:latin typeface="+mn-lt"/>
                <a:ea typeface="+mn-ea"/>
                <a:cs typeface="Arial" charset="0"/>
                <a:sym typeface="FrutigerNext LT Regular" pitchFamily="34" charset="0"/>
              </a:rPr>
              <a:t>OSPF</a:t>
            </a:r>
          </a:p>
        </p:txBody>
      </p:sp>
      <p:sp>
        <p:nvSpPr>
          <p:cNvPr id="1064" name="文本框 109"/>
          <p:cNvSpPr txBox="1">
            <a:spLocks noChangeArrowheads="1"/>
          </p:cNvSpPr>
          <p:nvPr/>
        </p:nvSpPr>
        <p:spPr bwMode="auto">
          <a:xfrm>
            <a:off x="2049500" y="2922717"/>
            <a:ext cx="1346200" cy="470280"/>
          </a:xfrm>
          <a:prstGeom prst="rect">
            <a:avLst/>
          </a:prstGeom>
          <a:noFill/>
          <a:ln w="9525">
            <a:noFill/>
            <a:miter lim="800000"/>
            <a:headEnd/>
            <a:tailEnd/>
          </a:ln>
        </p:spPr>
        <p:txBody>
          <a:bodyPr wrap="square"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Marketing department</a:t>
            </a:r>
          </a:p>
        </p:txBody>
      </p:sp>
      <p:sp>
        <p:nvSpPr>
          <p:cNvPr id="1070" name="文本框 115"/>
          <p:cNvSpPr txBox="1">
            <a:spLocks noChangeArrowheads="1"/>
          </p:cNvSpPr>
          <p:nvPr/>
        </p:nvSpPr>
        <p:spPr bwMode="auto">
          <a:xfrm>
            <a:off x="4424302" y="4544953"/>
            <a:ext cx="772001"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1071" name="文本框 116"/>
          <p:cNvSpPr txBox="1">
            <a:spLocks noChangeArrowheads="1"/>
          </p:cNvSpPr>
          <p:nvPr/>
        </p:nvSpPr>
        <p:spPr bwMode="auto">
          <a:xfrm>
            <a:off x="4404278" y="2889483"/>
            <a:ext cx="772001"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1072" name="文本框 117"/>
          <p:cNvSpPr txBox="1">
            <a:spLocks noChangeArrowheads="1"/>
          </p:cNvSpPr>
          <p:nvPr/>
        </p:nvSpPr>
        <p:spPr bwMode="auto">
          <a:xfrm>
            <a:off x="5664319" y="4043862"/>
            <a:ext cx="772001"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1073" name="文本框 118"/>
          <p:cNvSpPr txBox="1">
            <a:spLocks noChangeArrowheads="1"/>
          </p:cNvSpPr>
          <p:nvPr/>
        </p:nvSpPr>
        <p:spPr bwMode="auto">
          <a:xfrm>
            <a:off x="6973530" y="4079240"/>
            <a:ext cx="772001"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sp>
        <p:nvSpPr>
          <p:cNvPr id="1074" name="文本框 119"/>
          <p:cNvSpPr txBox="1">
            <a:spLocks noChangeArrowheads="1"/>
          </p:cNvSpPr>
          <p:nvPr/>
        </p:nvSpPr>
        <p:spPr bwMode="auto">
          <a:xfrm rot="1032180">
            <a:off x="3635375" y="3322463"/>
            <a:ext cx="833438"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dirty="0">
                <a:solidFill>
                  <a:srgbClr val="000000"/>
                </a:solidFill>
                <a:latin typeface="+mn-lt"/>
                <a:ea typeface="+mn-ea"/>
                <a:cs typeface="Arial" charset="0"/>
                <a:sym typeface="FrutigerNext LT Regular" pitchFamily="34" charset="0"/>
              </a:rPr>
              <a:t>10.1.4.0</a:t>
            </a:r>
          </a:p>
        </p:txBody>
      </p:sp>
      <p:sp>
        <p:nvSpPr>
          <p:cNvPr id="1075" name="文本框 122"/>
          <p:cNvSpPr txBox="1">
            <a:spLocks noChangeAspect="1"/>
          </p:cNvSpPr>
          <p:nvPr/>
        </p:nvSpPr>
        <p:spPr bwMode="auto">
          <a:xfrm rot="21097595">
            <a:off x="3800475" y="4378151"/>
            <a:ext cx="831850"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dirty="0">
                <a:solidFill>
                  <a:srgbClr val="000000"/>
                </a:solidFill>
                <a:latin typeface="+mn-lt"/>
                <a:ea typeface="+mn-ea"/>
                <a:cs typeface="Arial" charset="0"/>
                <a:sym typeface="FrutigerNext LT Regular" pitchFamily="34" charset="0"/>
              </a:rPr>
              <a:t>10.1.5.0</a:t>
            </a:r>
          </a:p>
        </p:txBody>
      </p:sp>
      <p:sp>
        <p:nvSpPr>
          <p:cNvPr id="1076" name="文本框 124"/>
          <p:cNvSpPr txBox="1">
            <a:spLocks noChangeArrowheads="1"/>
          </p:cNvSpPr>
          <p:nvPr/>
        </p:nvSpPr>
        <p:spPr bwMode="auto">
          <a:xfrm rot="19651937">
            <a:off x="7377113" y="3098626"/>
            <a:ext cx="831850"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dirty="0">
                <a:solidFill>
                  <a:srgbClr val="000000"/>
                </a:solidFill>
                <a:latin typeface="+mn-lt"/>
                <a:ea typeface="+mn-ea"/>
                <a:cs typeface="Arial" charset="0"/>
                <a:sym typeface="FrutigerNext LT Regular" pitchFamily="34" charset="0"/>
              </a:rPr>
              <a:t>10.1.1.0</a:t>
            </a:r>
          </a:p>
        </p:txBody>
      </p:sp>
      <p:sp>
        <p:nvSpPr>
          <p:cNvPr id="1077" name="文本框 125"/>
          <p:cNvSpPr txBox="1">
            <a:spLocks noChangeArrowheads="1"/>
          </p:cNvSpPr>
          <p:nvPr/>
        </p:nvSpPr>
        <p:spPr bwMode="auto">
          <a:xfrm>
            <a:off x="7643813" y="3540126"/>
            <a:ext cx="833437"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dirty="0">
                <a:solidFill>
                  <a:srgbClr val="000000"/>
                </a:solidFill>
                <a:latin typeface="+mn-lt"/>
                <a:ea typeface="+mn-ea"/>
                <a:cs typeface="Arial" charset="0"/>
                <a:sym typeface="FrutigerNext LT Regular" pitchFamily="34" charset="0"/>
              </a:rPr>
              <a:t>10.1.2.0</a:t>
            </a:r>
          </a:p>
        </p:txBody>
      </p:sp>
      <p:sp>
        <p:nvSpPr>
          <p:cNvPr id="1078" name="文本框 126"/>
          <p:cNvSpPr txBox="1">
            <a:spLocks noChangeArrowheads="1"/>
          </p:cNvSpPr>
          <p:nvPr/>
        </p:nvSpPr>
        <p:spPr bwMode="auto">
          <a:xfrm rot="2018709">
            <a:off x="7443788" y="4235276"/>
            <a:ext cx="831850"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dirty="0">
                <a:solidFill>
                  <a:srgbClr val="000000"/>
                </a:solidFill>
                <a:latin typeface="+mn-lt"/>
                <a:ea typeface="+mn-ea"/>
                <a:cs typeface="Arial" charset="0"/>
                <a:sym typeface="FrutigerNext LT Regular" pitchFamily="34" charset="0"/>
              </a:rPr>
              <a:t>10.1.3.0</a:t>
            </a:r>
          </a:p>
        </p:txBody>
      </p:sp>
      <p:sp>
        <p:nvSpPr>
          <p:cNvPr id="135" name="AutoShape 17"/>
          <p:cNvSpPr>
            <a:spLocks noChangeArrowheads="1"/>
          </p:cNvSpPr>
          <p:nvPr/>
        </p:nvSpPr>
        <p:spPr bwMode="auto">
          <a:xfrm>
            <a:off x="3565526" y="5106437"/>
            <a:ext cx="3991513" cy="738664"/>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ip ip-prefix ab index 10 permit 10.1.1.0 24</a:t>
            </a:r>
          </a:p>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ip ip-prefix ab index 20 permit 10.1.3.0 24</a:t>
            </a:r>
          </a:p>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ospf 1</a:t>
            </a:r>
          </a:p>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 </a:t>
            </a:r>
            <a:r>
              <a:rPr lang="en-US" altLang="zh-CN" sz="1200" b="1" dirty="0">
                <a:solidFill>
                  <a:srgbClr val="C00000"/>
                </a:solidFill>
                <a:latin typeface="+mn-lt"/>
                <a:ea typeface="+mn-ea"/>
                <a:cs typeface="Courier New" panose="02070309020205020404" pitchFamily="49" charset="0"/>
                <a:sym typeface="FrutigerNext LT Regular" pitchFamily="34" charset="0"/>
              </a:rPr>
              <a:t>filter-policy ip-prefix ab export direct</a:t>
            </a:r>
          </a:p>
        </p:txBody>
      </p:sp>
      <p:sp>
        <p:nvSpPr>
          <p:cNvPr id="1035" name="任意多边形 137"/>
          <p:cNvSpPr>
            <a:spLocks/>
          </p:cNvSpPr>
          <p:nvPr/>
        </p:nvSpPr>
        <p:spPr bwMode="auto">
          <a:xfrm>
            <a:off x="3565525" y="3141664"/>
            <a:ext cx="5194300" cy="739775"/>
          </a:xfrm>
          <a:custGeom>
            <a:avLst/>
            <a:gdLst>
              <a:gd name="T0" fmla="*/ 0 w 5194111"/>
              <a:gd name="T1" fmla="*/ 0 h 741255"/>
              <a:gd name="T2" fmla="*/ 1213204 w 5194111"/>
              <a:gd name="T3" fmla="*/ 374005 h 741255"/>
              <a:gd name="T4" fmla="*/ 2530830 w 5194111"/>
              <a:gd name="T5" fmla="*/ 713028 h 741255"/>
              <a:gd name="T6" fmla="*/ 3832717 w 5194111"/>
              <a:gd name="T7" fmla="*/ 730399 h 741255"/>
              <a:gd name="T8" fmla="*/ 5194300 w 5194111"/>
              <a:gd name="T9" fmla="*/ 728323 h 741255"/>
              <a:gd name="T10" fmla="*/ 0 60000 65536"/>
              <a:gd name="T11" fmla="*/ 0 60000 65536"/>
              <a:gd name="T12" fmla="*/ 0 60000 65536"/>
              <a:gd name="T13" fmla="*/ 0 60000 65536"/>
              <a:gd name="T14" fmla="*/ 0 60000 65536"/>
              <a:gd name="T15" fmla="*/ 0 w 5194111"/>
              <a:gd name="T16" fmla="*/ 0 h 741255"/>
              <a:gd name="T17" fmla="*/ 5194111 w 5194111"/>
              <a:gd name="T18" fmla="*/ 741255 h 741255"/>
            </a:gdLst>
            <a:ahLst/>
            <a:cxnLst>
              <a:cxn ang="T10">
                <a:pos x="T0" y="T1"/>
              </a:cxn>
              <a:cxn ang="T11">
                <a:pos x="T2" y="T3"/>
              </a:cxn>
              <a:cxn ang="T12">
                <a:pos x="T4" y="T5"/>
              </a:cxn>
              <a:cxn ang="T13">
                <a:pos x="T6" y="T7"/>
              </a:cxn>
              <a:cxn ang="T14">
                <a:pos x="T8" y="T9"/>
              </a:cxn>
            </a:cxnLst>
            <a:rect l="T15" t="T16" r="T17" b="T18"/>
            <a:pathLst>
              <a:path w="5194111" h="741255">
                <a:moveTo>
                  <a:pt x="0" y="0"/>
                </a:moveTo>
                <a:cubicBezTo>
                  <a:pt x="456866" y="148561"/>
                  <a:pt x="791369" y="255677"/>
                  <a:pt x="1213158" y="374753"/>
                </a:cubicBezTo>
                <a:cubicBezTo>
                  <a:pt x="1634947" y="493829"/>
                  <a:pt x="2026434" y="688802"/>
                  <a:pt x="2530736" y="714454"/>
                </a:cubicBezTo>
                <a:cubicBezTo>
                  <a:pt x="3035038" y="740106"/>
                  <a:pt x="3265778" y="750282"/>
                  <a:pt x="3832574" y="731860"/>
                </a:cubicBezTo>
                <a:cubicBezTo>
                  <a:pt x="4501541" y="738111"/>
                  <a:pt x="4722872" y="719193"/>
                  <a:pt x="5194111" y="729780"/>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sz="900" dirty="0">
              <a:latin typeface="+mn-lt"/>
              <a:ea typeface="+mn-ea"/>
            </a:endParaRPr>
          </a:p>
        </p:txBody>
      </p:sp>
      <p:sp>
        <p:nvSpPr>
          <p:cNvPr id="1036" name="任意多边形 138"/>
          <p:cNvSpPr>
            <a:spLocks/>
          </p:cNvSpPr>
          <p:nvPr/>
        </p:nvSpPr>
        <p:spPr bwMode="auto">
          <a:xfrm>
            <a:off x="3765551" y="3959225"/>
            <a:ext cx="4989513" cy="419100"/>
          </a:xfrm>
          <a:custGeom>
            <a:avLst/>
            <a:gdLst>
              <a:gd name="T0" fmla="*/ 0 w 5000141"/>
              <a:gd name="T1" fmla="*/ 355568 h 493789"/>
              <a:gd name="T2" fmla="*/ 1019523 w 5000141"/>
              <a:gd name="T3" fmla="*/ 191763 h 493789"/>
              <a:gd name="T4" fmla="*/ 2218762 w 5000141"/>
              <a:gd name="T5" fmla="*/ 3 h 493789"/>
              <a:gd name="T6" fmla="*/ 3601168 w 5000141"/>
              <a:gd name="T7" fmla="*/ 39260 h 493789"/>
              <a:gd name="T8" fmla="*/ 4978872 w 5000141"/>
              <a:gd name="T9" fmla="*/ 59381 h 493789"/>
              <a:gd name="T10" fmla="*/ 0 60000 65536"/>
              <a:gd name="T11" fmla="*/ 0 60000 65536"/>
              <a:gd name="T12" fmla="*/ 0 60000 65536"/>
              <a:gd name="T13" fmla="*/ 0 60000 65536"/>
              <a:gd name="T14" fmla="*/ 0 60000 65536"/>
              <a:gd name="T15" fmla="*/ 0 w 5000141"/>
              <a:gd name="T16" fmla="*/ 0 h 493789"/>
              <a:gd name="T17" fmla="*/ 5000141 w 5000141"/>
              <a:gd name="T18" fmla="*/ 493789 h 493789"/>
            </a:gdLst>
            <a:ahLst/>
            <a:cxnLst>
              <a:cxn ang="T10">
                <a:pos x="T0" y="T1"/>
              </a:cxn>
              <a:cxn ang="T11">
                <a:pos x="T2" y="T3"/>
              </a:cxn>
              <a:cxn ang="T12">
                <a:pos x="T4" y="T5"/>
              </a:cxn>
              <a:cxn ang="T13">
                <a:pos x="T6" y="T7"/>
              </a:cxn>
              <a:cxn ang="T14">
                <a:pos x="T8" y="T9"/>
              </a:cxn>
            </a:cxnLst>
            <a:rect l="T15" t="T16" r="T17" b="T18"/>
            <a:pathLst>
              <a:path w="5000141" h="493789">
                <a:moveTo>
                  <a:pt x="0" y="493789"/>
                </a:moveTo>
                <a:lnTo>
                  <a:pt x="1023879" y="266308"/>
                </a:lnTo>
                <a:cubicBezTo>
                  <a:pt x="1395252" y="184011"/>
                  <a:pt x="1775537" y="-1027"/>
                  <a:pt x="2228241" y="5"/>
                </a:cubicBezTo>
                <a:cubicBezTo>
                  <a:pt x="2680945" y="1037"/>
                  <a:pt x="3157013" y="53208"/>
                  <a:pt x="3616553" y="54522"/>
                </a:cubicBezTo>
                <a:cubicBezTo>
                  <a:pt x="4243391" y="110540"/>
                  <a:pt x="4485253" y="110790"/>
                  <a:pt x="5000141" y="82464"/>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sz="900" dirty="0">
              <a:latin typeface="+mn-lt"/>
              <a:ea typeface="+mn-ea"/>
            </a:endParaRPr>
          </a:p>
        </p:txBody>
      </p:sp>
      <p:grpSp>
        <p:nvGrpSpPr>
          <p:cNvPr id="1037" name="组合 49"/>
          <p:cNvGrpSpPr>
            <a:grpSpLocks noChangeAspect="1"/>
          </p:cNvGrpSpPr>
          <p:nvPr/>
        </p:nvGrpSpPr>
        <p:grpSpPr bwMode="auto">
          <a:xfrm>
            <a:off x="7827963" y="3284539"/>
            <a:ext cx="139700" cy="142875"/>
            <a:chOff x="389239" y="2587273"/>
            <a:chExt cx="192358" cy="194586"/>
          </a:xfrm>
        </p:grpSpPr>
        <p:cxnSp>
          <p:nvCxnSpPr>
            <p:cNvPr id="1044" name="直接连接符 50"/>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1045" name="直接连接符 51"/>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1038" name="组合 52"/>
          <p:cNvGrpSpPr>
            <a:grpSpLocks noChangeAspect="1"/>
          </p:cNvGrpSpPr>
          <p:nvPr/>
        </p:nvGrpSpPr>
        <p:grpSpPr bwMode="auto">
          <a:xfrm>
            <a:off x="7859713" y="3789364"/>
            <a:ext cx="139700" cy="141287"/>
            <a:chOff x="389239" y="2587273"/>
            <a:chExt cx="192358" cy="194586"/>
          </a:xfrm>
        </p:grpSpPr>
        <p:cxnSp>
          <p:nvCxnSpPr>
            <p:cNvPr id="1042" name="直接连接符 53"/>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1043" name="直接连接符 54"/>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1039" name="组合 56"/>
          <p:cNvGrpSpPr>
            <a:grpSpLocks noChangeAspect="1"/>
          </p:cNvGrpSpPr>
          <p:nvPr/>
        </p:nvGrpSpPr>
        <p:grpSpPr bwMode="auto">
          <a:xfrm>
            <a:off x="7859713" y="3971925"/>
            <a:ext cx="139700" cy="141288"/>
            <a:chOff x="389239" y="2587273"/>
            <a:chExt cx="192358" cy="194586"/>
          </a:xfrm>
        </p:grpSpPr>
        <p:cxnSp>
          <p:nvCxnSpPr>
            <p:cNvPr id="1040" name="直接连接符 57"/>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1041" name="直接连接符 58"/>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pic>
        <p:nvPicPr>
          <p:cNvPr id="66" name="图片 65"/>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3203006" y="4312051"/>
            <a:ext cx="540000" cy="442800"/>
          </a:xfrm>
          <a:prstGeom prst="rect">
            <a:avLst/>
          </a:prstGeom>
        </p:spPr>
      </p:pic>
      <p:pic>
        <p:nvPicPr>
          <p:cNvPr id="67" name="图片 66"/>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8428155" y="2840539"/>
            <a:ext cx="540000" cy="442800"/>
          </a:xfrm>
          <a:prstGeom prst="rect">
            <a:avLst/>
          </a:prstGeom>
        </p:spPr>
      </p:pic>
      <p:pic>
        <p:nvPicPr>
          <p:cNvPr id="68" name="图片 67"/>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8430895" y="4403072"/>
            <a:ext cx="540000" cy="442800"/>
          </a:xfrm>
          <a:prstGeom prst="rect">
            <a:avLst/>
          </a:prstGeom>
        </p:spPr>
      </p:pic>
      <p:pic>
        <p:nvPicPr>
          <p:cNvPr id="69" name="图片 68" descr="研发部.png"/>
          <p:cNvPicPr>
            <a:picLocks noChangeAspect="1"/>
          </p:cNvPicPr>
          <p:nvPr/>
        </p:nvPicPr>
        <p:blipFill>
          <a:blip r:embed="rId6" cstate="print"/>
          <a:stretch>
            <a:fillRect/>
          </a:stretch>
        </p:blipFill>
        <p:spPr>
          <a:xfrm>
            <a:off x="8461233" y="3636083"/>
            <a:ext cx="540000" cy="441818"/>
          </a:xfrm>
          <a:prstGeom prst="rect">
            <a:avLst/>
          </a:prstGeom>
        </p:spPr>
      </p:pic>
      <p:pic>
        <p:nvPicPr>
          <p:cNvPr id="70" name="图片 69" descr="市场部.png"/>
          <p:cNvPicPr>
            <a:picLocks noChangeAspect="1"/>
          </p:cNvPicPr>
          <p:nvPr/>
        </p:nvPicPr>
        <p:blipFill>
          <a:blip r:embed="rId7" cstate="print"/>
          <a:stretch>
            <a:fillRect/>
          </a:stretch>
        </p:blipFill>
        <p:spPr>
          <a:xfrm>
            <a:off x="3226660" y="2913179"/>
            <a:ext cx="540000" cy="441818"/>
          </a:xfrm>
          <a:prstGeom prst="rect">
            <a:avLst/>
          </a:prstGeom>
        </p:spPr>
      </p:pic>
      <p:sp>
        <p:nvSpPr>
          <p:cNvPr id="1034" name="任意多边形 136"/>
          <p:cNvSpPr>
            <a:spLocks/>
          </p:cNvSpPr>
          <p:nvPr/>
        </p:nvSpPr>
        <p:spPr bwMode="auto">
          <a:xfrm>
            <a:off x="3652838" y="2959101"/>
            <a:ext cx="4775200" cy="790575"/>
          </a:xfrm>
          <a:custGeom>
            <a:avLst/>
            <a:gdLst>
              <a:gd name="T0" fmla="*/ 0 w 4775419"/>
              <a:gd name="T1" fmla="*/ 0 h 790366"/>
              <a:gd name="T2" fmla="*/ 1104623 w 4775419"/>
              <a:gd name="T3" fmla="*/ 349570 h 790366"/>
              <a:gd name="T4" fmla="*/ 2442419 w 4775419"/>
              <a:gd name="T5" fmla="*/ 740169 h 790366"/>
              <a:gd name="T6" fmla="*/ 3670035 w 4775419"/>
              <a:gd name="T7" fmla="*/ 746367 h 790366"/>
              <a:gd name="T8" fmla="*/ 4775200 w 4775419"/>
              <a:gd name="T9" fmla="*/ 48823 h 790366"/>
              <a:gd name="T10" fmla="*/ 0 60000 65536"/>
              <a:gd name="T11" fmla="*/ 0 60000 65536"/>
              <a:gd name="T12" fmla="*/ 0 60000 65536"/>
              <a:gd name="T13" fmla="*/ 0 60000 65536"/>
              <a:gd name="T14" fmla="*/ 0 60000 65536"/>
              <a:gd name="T15" fmla="*/ 0 w 4775419"/>
              <a:gd name="T16" fmla="*/ 0 h 790366"/>
              <a:gd name="T17" fmla="*/ 4775419 w 4775419"/>
              <a:gd name="T18" fmla="*/ 790366 h 790366"/>
            </a:gdLst>
            <a:ahLst/>
            <a:cxnLst>
              <a:cxn ang="T10">
                <a:pos x="T0" y="T1"/>
              </a:cxn>
              <a:cxn ang="T11">
                <a:pos x="T2" y="T3"/>
              </a:cxn>
              <a:cxn ang="T12">
                <a:pos x="T4" y="T5"/>
              </a:cxn>
              <a:cxn ang="T13">
                <a:pos x="T6" y="T7"/>
              </a:cxn>
              <a:cxn ang="T14">
                <a:pos x="T8" y="T9"/>
              </a:cxn>
            </a:cxnLst>
            <a:rect l="T15" t="T16" r="T17" b="T18"/>
            <a:pathLst>
              <a:path w="4775419" h="790366">
                <a:moveTo>
                  <a:pt x="0" y="0"/>
                </a:moveTo>
                <a:cubicBezTo>
                  <a:pt x="456867" y="164059"/>
                  <a:pt x="697584" y="226149"/>
                  <a:pt x="1104672" y="349478"/>
                </a:cubicBezTo>
                <a:cubicBezTo>
                  <a:pt x="1511760" y="472807"/>
                  <a:pt x="2014940" y="673858"/>
                  <a:pt x="2442528" y="739973"/>
                </a:cubicBezTo>
                <a:cubicBezTo>
                  <a:pt x="2870116" y="806088"/>
                  <a:pt x="3209316" y="806098"/>
                  <a:pt x="3670201" y="746170"/>
                </a:cubicBezTo>
                <a:cubicBezTo>
                  <a:pt x="4452426" y="277697"/>
                  <a:pt x="4444858" y="304317"/>
                  <a:pt x="4775419" y="48810"/>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sz="900" dirty="0">
              <a:latin typeface="+mn-lt"/>
              <a:ea typeface="+mn-ea"/>
            </a:endParaRPr>
          </a:p>
        </p:txBody>
      </p:sp>
      <p:graphicFrame>
        <p:nvGraphicFramePr>
          <p:cNvPr id="57" name="对象 56"/>
          <p:cNvGraphicFramePr>
            <a:graphicFrameLocks noChangeAspect="1"/>
          </p:cNvGraphicFramePr>
          <p:nvPr>
            <p:extLst>
              <p:ext uri="{D42A27DB-BD31-4B8C-83A1-F6EECF244321}">
                <p14:modId xmlns:p14="http://schemas.microsoft.com/office/powerpoint/2010/main" val="316314838"/>
              </p:ext>
            </p:extLst>
          </p:nvPr>
        </p:nvGraphicFramePr>
        <p:xfrm>
          <a:off x="7687689" y="5551835"/>
          <a:ext cx="1333603" cy="828675"/>
        </p:xfrm>
        <a:graphic>
          <a:graphicData uri="http://schemas.openxmlformats.org/presentationml/2006/ole">
            <mc:AlternateContent xmlns:mc="http://schemas.openxmlformats.org/markup-compatibility/2006">
              <mc:Choice xmlns:v="urn:schemas-microsoft-com:vml" Requires="v">
                <p:oleObj spid="_x0000_s1052" name="包装程序外壳对象" showAsIcon="1" r:id="rId8" imgW="914400" imgH="828720" progId="Package">
                  <p:embed/>
                </p:oleObj>
              </mc:Choice>
              <mc:Fallback>
                <p:oleObj name="包装程序外壳对象" showAsIcon="1" r:id="rId8" imgW="914400" imgH="828720" progId="Package">
                  <p:embed/>
                  <p:pic>
                    <p:nvPicPr>
                      <p:cNvPr id="0" name=""/>
                      <p:cNvPicPr/>
                      <p:nvPr/>
                    </p:nvPicPr>
                    <p:blipFill>
                      <a:blip r:embed="rId9"/>
                      <a:stretch>
                        <a:fillRect/>
                      </a:stretch>
                    </p:blipFill>
                    <p:spPr>
                      <a:xfrm>
                        <a:off x="7687689" y="5551835"/>
                        <a:ext cx="1333603" cy="828675"/>
                      </a:xfrm>
                      <a:prstGeom prst="rect">
                        <a:avLst/>
                      </a:prstGeom>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1336904934"/>
              </p:ext>
            </p:extLst>
          </p:nvPr>
        </p:nvGraphicFramePr>
        <p:xfrm>
          <a:off x="9029414" y="5553075"/>
          <a:ext cx="1375241" cy="828675"/>
        </p:xfrm>
        <a:graphic>
          <a:graphicData uri="http://schemas.openxmlformats.org/presentationml/2006/ole">
            <mc:AlternateContent xmlns:mc="http://schemas.openxmlformats.org/markup-compatibility/2006">
              <mc:Choice xmlns:v="urn:schemas-microsoft-com:vml" Requires="v">
                <p:oleObj spid="_x0000_s1053" name="包装程序外壳对象" showAsIcon="1" r:id="rId10" imgW="914400" imgH="828720" progId="Package">
                  <p:embed/>
                </p:oleObj>
              </mc:Choice>
              <mc:Fallback>
                <p:oleObj name="包装程序外壳对象" showAsIcon="1" r:id="rId10" imgW="914400" imgH="828720" progId="Package">
                  <p:embed/>
                  <p:pic>
                    <p:nvPicPr>
                      <p:cNvPr id="0" name=""/>
                      <p:cNvPicPr/>
                      <p:nvPr/>
                    </p:nvPicPr>
                    <p:blipFill>
                      <a:blip r:embed="rId11"/>
                      <a:stretch>
                        <a:fillRect/>
                      </a:stretch>
                    </p:blipFill>
                    <p:spPr>
                      <a:xfrm>
                        <a:off x="9029414" y="5553075"/>
                        <a:ext cx="1375241" cy="828675"/>
                      </a:xfrm>
                      <a:prstGeom prst="rect">
                        <a:avLst/>
                      </a:prstGeom>
                    </p:spPr>
                  </p:pic>
                </p:oleObj>
              </mc:Fallback>
            </mc:AlternateContent>
          </a:graphicData>
        </a:graphic>
      </p:graphicFrame>
    </p:spTree>
    <p:extLst>
      <p:ext uri="{BB962C8B-B14F-4D97-AF65-F5344CB8AC3E}">
        <p14:creationId xmlns:p14="http://schemas.microsoft.com/office/powerpoint/2010/main" val="6875682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t>Route-Policy </a:t>
            </a:r>
            <a:r>
              <a:rPr lang="en-US" altLang="zh-CN" dirty="0" smtClean="0"/>
              <a:t>Configuration (3)</a:t>
            </a:r>
            <a:endParaRPr lang="zh-CN" altLang="en-US" dirty="0"/>
          </a:p>
        </p:txBody>
      </p:sp>
      <p:sp>
        <p:nvSpPr>
          <p:cNvPr id="7" name="矩形 6"/>
          <p:cNvSpPr/>
          <p:nvPr/>
        </p:nvSpPr>
        <p:spPr bwMode="auto">
          <a:xfrm>
            <a:off x="1955540" y="1556793"/>
            <a:ext cx="8280920" cy="2122103"/>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200" b="1" dirty="0">
                <a:latin typeface="+mn-lt"/>
                <a:ea typeface="+mn-ea"/>
                <a:cs typeface="Courier New" panose="02070309020205020404" pitchFamily="49" charset="0"/>
              </a:rPr>
              <a:t>&lt;RTC&gt;dis </a:t>
            </a:r>
            <a:r>
              <a:rPr lang="en-US" altLang="zh-CN" sz="1200" b="1" dirty="0" err="1">
                <a:latin typeface="+mn-lt"/>
                <a:ea typeface="+mn-ea"/>
                <a:cs typeface="Courier New" panose="02070309020205020404" pitchFamily="49" charset="0"/>
              </a:rPr>
              <a:t>ip</a:t>
            </a:r>
            <a:r>
              <a:rPr lang="en-US" altLang="zh-CN" sz="1200" b="1" dirty="0">
                <a:latin typeface="+mn-lt"/>
                <a:ea typeface="+mn-ea"/>
                <a:cs typeface="Courier New" panose="02070309020205020404" pitchFamily="49" charset="0"/>
              </a:rPr>
              <a:t> routing-table </a:t>
            </a:r>
            <a:endParaRPr lang="zh-CN" altLang="en-US" sz="1200" b="1" dirty="0">
              <a:latin typeface="+mn-lt"/>
              <a:ea typeface="+mn-ea"/>
              <a:cs typeface="Courier New" panose="02070309020205020404" pitchFamily="49" charset="0"/>
            </a:endParaRPr>
          </a:p>
          <a:p>
            <a:r>
              <a:rPr lang="en-US" altLang="zh-CN" sz="1200" b="1" dirty="0">
                <a:latin typeface="+mn-lt"/>
                <a:ea typeface="+mn-ea"/>
                <a:cs typeface="Courier New" panose="02070309020205020404" pitchFamily="49" charset="0"/>
              </a:rPr>
              <a:t>Route Flags: R - relay, D - download to fib</a:t>
            </a:r>
            <a:endParaRPr lang="zh-CN" altLang="en-US" sz="1200" b="1" dirty="0">
              <a:latin typeface="+mn-lt"/>
              <a:ea typeface="+mn-ea"/>
              <a:cs typeface="Courier New" panose="02070309020205020404" pitchFamily="49" charset="0"/>
            </a:endParaRPr>
          </a:p>
          <a:p>
            <a:r>
              <a:rPr lang="en-US" altLang="zh-CN" sz="1200" b="1" dirty="0">
                <a:latin typeface="+mn-lt"/>
                <a:ea typeface="+mn-ea"/>
                <a:cs typeface="Courier New" panose="02070309020205020404" pitchFamily="49" charset="0"/>
              </a:rPr>
              <a:t>------------------------------------------------------------------------------</a:t>
            </a:r>
            <a:endParaRPr lang="zh-CN" altLang="en-US" sz="1200" b="1" dirty="0">
              <a:latin typeface="+mn-lt"/>
              <a:ea typeface="+mn-ea"/>
              <a:cs typeface="Courier New" panose="02070309020205020404" pitchFamily="49" charset="0"/>
            </a:endParaRPr>
          </a:p>
          <a:p>
            <a:r>
              <a:rPr lang="en-US" altLang="zh-CN" sz="1200" b="1" dirty="0">
                <a:latin typeface="+mn-lt"/>
                <a:ea typeface="+mn-ea"/>
                <a:cs typeface="Courier New" panose="02070309020205020404" pitchFamily="49" charset="0"/>
              </a:rPr>
              <a:t>Routing Tables: Public</a:t>
            </a:r>
            <a:endParaRPr lang="zh-CN" altLang="en-US" sz="1200" b="1" dirty="0">
              <a:latin typeface="+mn-lt"/>
              <a:ea typeface="+mn-ea"/>
              <a:cs typeface="Courier New" panose="02070309020205020404" pitchFamily="49" charset="0"/>
            </a:endParaRPr>
          </a:p>
          <a:p>
            <a:r>
              <a:rPr lang="zh-CN" altLang="en-US" sz="1200" b="1" dirty="0">
                <a:latin typeface="+mn-lt"/>
                <a:ea typeface="+mn-ea"/>
                <a:cs typeface="Courier New" panose="02070309020205020404" pitchFamily="49" charset="0"/>
              </a:rPr>
              <a:t>         </a:t>
            </a:r>
            <a:r>
              <a:rPr lang="en-US" altLang="zh-CN" sz="1200" b="1" dirty="0">
                <a:latin typeface="+mn-lt"/>
                <a:ea typeface="+mn-ea"/>
                <a:cs typeface="Courier New" panose="02070309020205020404" pitchFamily="49" charset="0"/>
              </a:rPr>
              <a:t>Destinations : 14       Routes : 14       </a:t>
            </a:r>
            <a:endParaRPr lang="zh-CN" altLang="en-US" sz="1200" b="1" dirty="0">
              <a:latin typeface="+mn-lt"/>
              <a:ea typeface="+mn-ea"/>
              <a:cs typeface="Courier New" panose="02070309020205020404" pitchFamily="49" charset="0"/>
            </a:endParaRPr>
          </a:p>
          <a:p>
            <a:endParaRPr lang="zh-CN" altLang="en-US" sz="1200" b="1" dirty="0">
              <a:latin typeface="+mn-lt"/>
              <a:ea typeface="+mn-ea"/>
              <a:cs typeface="Courier New" panose="02070309020205020404" pitchFamily="49" charset="0"/>
            </a:endParaRPr>
          </a:p>
          <a:p>
            <a:r>
              <a:rPr lang="en-US" altLang="zh-CN" sz="1200" b="1" dirty="0" smtClean="0">
                <a:latin typeface="+mn-lt"/>
                <a:ea typeface="+mn-ea"/>
                <a:cs typeface="Courier New" panose="02070309020205020404" pitchFamily="49" charset="0"/>
              </a:rPr>
              <a:t>Destination/Mask	Proto	Pre	Cost	Flags	</a:t>
            </a:r>
            <a:r>
              <a:rPr lang="en-US" altLang="zh-CN" sz="1200" b="1" dirty="0" err="1" smtClean="0">
                <a:latin typeface="+mn-lt"/>
                <a:ea typeface="+mn-ea"/>
                <a:cs typeface="Courier New" panose="02070309020205020404" pitchFamily="49" charset="0"/>
              </a:rPr>
              <a:t>NextHop</a:t>
            </a:r>
            <a:r>
              <a:rPr lang="en-US" altLang="zh-CN" sz="1200" b="1" dirty="0" smtClean="0">
                <a:latin typeface="+mn-lt"/>
                <a:ea typeface="+mn-ea"/>
                <a:cs typeface="Courier New" panose="02070309020205020404" pitchFamily="49" charset="0"/>
              </a:rPr>
              <a:t>	Interface</a:t>
            </a:r>
            <a:endParaRPr lang="zh-CN" altLang="en-US" sz="1200" b="1" dirty="0">
              <a:latin typeface="+mn-lt"/>
              <a:ea typeface="+mn-ea"/>
              <a:cs typeface="Courier New" panose="02070309020205020404" pitchFamily="49" charset="0"/>
            </a:endParaRPr>
          </a:p>
          <a:p>
            <a:endParaRPr lang="zh-CN" altLang="en-US" sz="1200" b="1" dirty="0">
              <a:latin typeface="+mn-lt"/>
              <a:ea typeface="+mn-ea"/>
              <a:cs typeface="Courier New" panose="02070309020205020404" pitchFamily="49" charset="0"/>
            </a:endParaRPr>
          </a:p>
          <a:p>
            <a:r>
              <a:rPr lang="zh-CN" altLang="en-US" sz="1200" b="1" dirty="0" smtClean="0">
                <a:latin typeface="+mn-lt"/>
                <a:ea typeface="+mn-ea"/>
                <a:cs typeface="Courier New" panose="02070309020205020404" pitchFamily="49" charset="0"/>
              </a:rPr>
              <a:t>   </a:t>
            </a:r>
            <a:r>
              <a:rPr lang="pt-BR" altLang="zh-CN" sz="1200" b="1" dirty="0" smtClean="0">
                <a:solidFill>
                  <a:srgbClr val="C00000"/>
                </a:solidFill>
                <a:latin typeface="+mn-lt"/>
                <a:ea typeface="+mn-ea"/>
                <a:cs typeface="Courier New" panose="02070309020205020404" pitchFamily="49" charset="0"/>
              </a:rPr>
              <a:t>10.1.3.0/24	</a:t>
            </a:r>
            <a:r>
              <a:rPr lang="pt-BR" altLang="zh-CN" sz="1200" b="1" dirty="0" smtClean="0">
                <a:latin typeface="+mn-lt"/>
                <a:ea typeface="+mn-ea"/>
                <a:cs typeface="Courier New" panose="02070309020205020404" pitchFamily="49" charset="0"/>
              </a:rPr>
              <a:t>O_ASE	150 	1	D	12.1.2.1      </a:t>
            </a:r>
            <a:r>
              <a:rPr lang="pt-BR" altLang="zh-CN" sz="1200" b="1" dirty="0">
                <a:latin typeface="+mn-lt"/>
                <a:ea typeface="+mn-ea"/>
                <a:cs typeface="Courier New" panose="02070309020205020404" pitchFamily="49" charset="0"/>
              </a:rPr>
              <a:t>GigabitEthernet </a:t>
            </a:r>
            <a:r>
              <a:rPr lang="en-US" altLang="zh-CN" sz="1200" b="1" dirty="0">
                <a:latin typeface="+mn-lt"/>
                <a:ea typeface="+mn-ea"/>
                <a:cs typeface="Courier New" panose="02070309020205020404" pitchFamily="49" charset="0"/>
              </a:rPr>
              <a:t>0/0/0</a:t>
            </a:r>
            <a:endParaRPr lang="zh-CN" altLang="en-US" sz="1200" b="1" dirty="0">
              <a:latin typeface="+mn-lt"/>
              <a:ea typeface="+mn-ea"/>
              <a:cs typeface="Courier New" panose="02070309020205020404" pitchFamily="49" charset="0"/>
            </a:endParaRPr>
          </a:p>
          <a:p>
            <a:r>
              <a:rPr lang="zh-CN" altLang="en-US" sz="1200" b="1" dirty="0">
                <a:latin typeface="+mn-lt"/>
                <a:ea typeface="+mn-ea"/>
                <a:cs typeface="Courier New" panose="02070309020205020404" pitchFamily="49" charset="0"/>
              </a:rPr>
              <a:t>   </a:t>
            </a:r>
            <a:r>
              <a:rPr lang="en-US" altLang="zh-CN" sz="1200" b="1" dirty="0" smtClean="0">
                <a:latin typeface="+mn-lt"/>
                <a:ea typeface="+mn-ea"/>
                <a:cs typeface="Courier New" panose="02070309020205020404" pitchFamily="49" charset="0"/>
              </a:rPr>
              <a:t>10.1.4.0/24	Direct	0	0	D	10.1.4.2      </a:t>
            </a:r>
            <a:r>
              <a:rPr lang="en-US" altLang="zh-CN" sz="1200" b="1" dirty="0" err="1">
                <a:latin typeface="+mn-lt"/>
                <a:ea typeface="+mn-ea"/>
                <a:cs typeface="Courier New" panose="02070309020205020404" pitchFamily="49" charset="0"/>
              </a:rPr>
              <a:t>GigabitEthernet</a:t>
            </a:r>
            <a:r>
              <a:rPr lang="en-US" altLang="zh-CN" sz="1200" b="1" dirty="0">
                <a:latin typeface="+mn-lt"/>
                <a:ea typeface="+mn-ea"/>
                <a:cs typeface="Courier New" panose="02070309020205020404" pitchFamily="49" charset="0"/>
              </a:rPr>
              <a:t> 0/0/1</a:t>
            </a:r>
            <a:endParaRPr lang="zh-CN" altLang="en-US" sz="1200" b="1" dirty="0">
              <a:latin typeface="+mn-lt"/>
              <a:ea typeface="+mn-ea"/>
              <a:cs typeface="Courier New" panose="02070309020205020404" pitchFamily="49" charset="0"/>
            </a:endParaRPr>
          </a:p>
          <a:p>
            <a:r>
              <a:rPr lang="en-US" altLang="zh-CN" sz="1200" b="1" dirty="0">
                <a:solidFill>
                  <a:srgbClr val="C00000"/>
                </a:solidFill>
                <a:latin typeface="+mn-lt"/>
                <a:ea typeface="+mn-ea"/>
                <a:cs typeface="Courier New" panose="02070309020205020404" pitchFamily="49" charset="0"/>
              </a:rPr>
              <a:t>   </a:t>
            </a:r>
            <a:r>
              <a:rPr lang="en-US" altLang="zh-CN" sz="1200" b="1" dirty="0" smtClean="0">
                <a:solidFill>
                  <a:srgbClr val="C00000"/>
                </a:solidFill>
                <a:latin typeface="+mn-lt"/>
                <a:ea typeface="+mn-ea"/>
                <a:cs typeface="Courier New" panose="02070309020205020404" pitchFamily="49" charset="0"/>
              </a:rPr>
              <a:t>10.1.5.0/24	</a:t>
            </a:r>
            <a:r>
              <a:rPr lang="en-US" altLang="zh-CN" sz="1200" b="1" dirty="0" smtClean="0">
                <a:latin typeface="+mn-lt"/>
                <a:ea typeface="+mn-ea"/>
                <a:cs typeface="Courier New" panose="02070309020205020404" pitchFamily="49" charset="0"/>
              </a:rPr>
              <a:t>OSPF	10	3	D	12.1.2.1      </a:t>
            </a:r>
            <a:r>
              <a:rPr lang="en-US" altLang="zh-CN" sz="1200" b="1" dirty="0" err="1">
                <a:latin typeface="+mn-lt"/>
                <a:ea typeface="+mn-ea"/>
                <a:cs typeface="Courier New" panose="02070309020205020404" pitchFamily="49" charset="0"/>
              </a:rPr>
              <a:t>GigabitEthernet</a:t>
            </a:r>
            <a:r>
              <a:rPr lang="en-US" altLang="zh-CN" sz="1200" b="1" dirty="0">
                <a:latin typeface="+mn-lt"/>
                <a:ea typeface="+mn-ea"/>
                <a:cs typeface="Courier New" panose="02070309020205020404" pitchFamily="49" charset="0"/>
              </a:rPr>
              <a:t> 0/0/0</a:t>
            </a:r>
            <a:endParaRPr lang="zh-CN" altLang="en-US" sz="1200" b="1" dirty="0">
              <a:latin typeface="+mn-lt"/>
              <a:ea typeface="+mn-ea"/>
              <a:cs typeface="Courier New" panose="02070309020205020404" pitchFamily="49" charset="0"/>
            </a:endParaRPr>
          </a:p>
        </p:txBody>
      </p:sp>
      <p:sp>
        <p:nvSpPr>
          <p:cNvPr id="8" name="矩形 7"/>
          <p:cNvSpPr/>
          <p:nvPr/>
        </p:nvSpPr>
        <p:spPr bwMode="auto">
          <a:xfrm>
            <a:off x="1955540" y="3825044"/>
            <a:ext cx="8280920" cy="2268252"/>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200" b="1" dirty="0">
                <a:latin typeface="+mn-lt"/>
                <a:ea typeface="+mn-ea"/>
                <a:cs typeface="Courier New" panose="02070309020205020404" pitchFamily="49" charset="0"/>
              </a:rPr>
              <a:t>&lt;RTD&gt;dis </a:t>
            </a:r>
            <a:r>
              <a:rPr lang="en-US" altLang="zh-CN" sz="1200" b="1" dirty="0" err="1">
                <a:latin typeface="+mn-lt"/>
                <a:ea typeface="+mn-ea"/>
                <a:cs typeface="Courier New" panose="02070309020205020404" pitchFamily="49" charset="0"/>
              </a:rPr>
              <a:t>ip</a:t>
            </a:r>
            <a:r>
              <a:rPr lang="en-US" altLang="zh-CN" sz="1200" b="1" dirty="0">
                <a:latin typeface="+mn-lt"/>
                <a:ea typeface="+mn-ea"/>
                <a:cs typeface="Courier New" panose="02070309020205020404" pitchFamily="49" charset="0"/>
              </a:rPr>
              <a:t> routing-table </a:t>
            </a:r>
            <a:endParaRPr lang="zh-CN" altLang="en-US" sz="1200" b="1" dirty="0">
              <a:latin typeface="+mn-lt"/>
              <a:ea typeface="+mn-ea"/>
              <a:cs typeface="Courier New" panose="02070309020205020404" pitchFamily="49" charset="0"/>
            </a:endParaRPr>
          </a:p>
          <a:p>
            <a:r>
              <a:rPr lang="en-US" altLang="zh-CN" sz="1200" b="1" dirty="0">
                <a:latin typeface="+mn-lt"/>
                <a:ea typeface="+mn-ea"/>
                <a:cs typeface="Courier New" panose="02070309020205020404" pitchFamily="49" charset="0"/>
              </a:rPr>
              <a:t>Route Flags: R - relay, D - download to fib</a:t>
            </a:r>
            <a:endParaRPr lang="zh-CN" altLang="en-US" sz="1200" b="1" dirty="0">
              <a:latin typeface="+mn-lt"/>
              <a:ea typeface="+mn-ea"/>
              <a:cs typeface="Courier New" panose="02070309020205020404" pitchFamily="49" charset="0"/>
            </a:endParaRPr>
          </a:p>
          <a:p>
            <a:r>
              <a:rPr lang="en-US" altLang="zh-CN" sz="1200" b="1" dirty="0">
                <a:latin typeface="+mn-lt"/>
                <a:ea typeface="+mn-ea"/>
                <a:cs typeface="Courier New" panose="02070309020205020404" pitchFamily="49" charset="0"/>
              </a:rPr>
              <a:t>------------------------------------------------------------------------------</a:t>
            </a:r>
            <a:endParaRPr lang="zh-CN" altLang="en-US" sz="1200" b="1" dirty="0">
              <a:latin typeface="+mn-lt"/>
              <a:ea typeface="+mn-ea"/>
              <a:cs typeface="Courier New" panose="02070309020205020404" pitchFamily="49" charset="0"/>
            </a:endParaRPr>
          </a:p>
          <a:p>
            <a:r>
              <a:rPr lang="en-US" altLang="zh-CN" sz="1200" b="1" dirty="0">
                <a:latin typeface="+mn-lt"/>
                <a:ea typeface="+mn-ea"/>
                <a:cs typeface="Courier New" panose="02070309020205020404" pitchFamily="49" charset="0"/>
              </a:rPr>
              <a:t>Routing Tables: Public</a:t>
            </a:r>
            <a:endParaRPr lang="zh-CN" altLang="en-US" sz="1200" b="1" dirty="0">
              <a:latin typeface="+mn-lt"/>
              <a:ea typeface="+mn-ea"/>
              <a:cs typeface="Courier New" panose="02070309020205020404" pitchFamily="49" charset="0"/>
            </a:endParaRPr>
          </a:p>
          <a:p>
            <a:r>
              <a:rPr lang="zh-CN" altLang="en-US" sz="1200" b="1" dirty="0">
                <a:latin typeface="+mn-lt"/>
                <a:ea typeface="+mn-ea"/>
                <a:cs typeface="Courier New" panose="02070309020205020404" pitchFamily="49" charset="0"/>
              </a:rPr>
              <a:t>         </a:t>
            </a:r>
            <a:r>
              <a:rPr lang="en-US" altLang="zh-CN" sz="1200" b="1" dirty="0">
                <a:latin typeface="+mn-lt"/>
                <a:ea typeface="+mn-ea"/>
                <a:cs typeface="Courier New" panose="02070309020205020404" pitchFamily="49" charset="0"/>
              </a:rPr>
              <a:t>Destinations : 15       Routes : 15       </a:t>
            </a:r>
            <a:endParaRPr lang="zh-CN" altLang="en-US" sz="1200" b="1" dirty="0">
              <a:latin typeface="+mn-lt"/>
              <a:ea typeface="+mn-ea"/>
              <a:cs typeface="Courier New" panose="02070309020205020404" pitchFamily="49" charset="0"/>
            </a:endParaRPr>
          </a:p>
          <a:p>
            <a:endParaRPr lang="zh-CN" altLang="en-US" sz="1200" b="1" dirty="0">
              <a:latin typeface="+mn-lt"/>
              <a:ea typeface="+mn-ea"/>
              <a:cs typeface="Courier New" panose="02070309020205020404" pitchFamily="49" charset="0"/>
            </a:endParaRPr>
          </a:p>
          <a:p>
            <a:r>
              <a:rPr lang="en-US" altLang="zh-CN" sz="1200" b="1" dirty="0" smtClean="0">
                <a:latin typeface="+mn-lt"/>
                <a:ea typeface="+mn-ea"/>
                <a:cs typeface="Courier New" panose="02070309020205020404" pitchFamily="49" charset="0"/>
              </a:rPr>
              <a:t>Destination/Mask	Proto	Pre	Cost	Flags	</a:t>
            </a:r>
            <a:r>
              <a:rPr lang="en-US" altLang="zh-CN" sz="1200" b="1" dirty="0" err="1" smtClean="0">
                <a:latin typeface="+mn-lt"/>
                <a:ea typeface="+mn-ea"/>
                <a:cs typeface="Courier New" panose="02070309020205020404" pitchFamily="49" charset="0"/>
              </a:rPr>
              <a:t>NextHop</a:t>
            </a:r>
            <a:r>
              <a:rPr lang="en-US" altLang="zh-CN" sz="1200" b="1" dirty="0" smtClean="0">
                <a:latin typeface="+mn-lt"/>
                <a:ea typeface="+mn-ea"/>
                <a:cs typeface="Courier New" panose="02070309020205020404" pitchFamily="49" charset="0"/>
              </a:rPr>
              <a:t>	Interface</a:t>
            </a:r>
            <a:endParaRPr lang="zh-CN" altLang="en-US" sz="1200" b="1" dirty="0">
              <a:latin typeface="+mn-lt"/>
              <a:ea typeface="+mn-ea"/>
              <a:cs typeface="Courier New" panose="02070309020205020404" pitchFamily="49" charset="0"/>
            </a:endParaRPr>
          </a:p>
          <a:p>
            <a:endParaRPr lang="zh-CN" altLang="en-US" sz="1200" b="1" dirty="0">
              <a:latin typeface="+mn-lt"/>
              <a:ea typeface="+mn-ea"/>
              <a:cs typeface="Courier New" panose="02070309020205020404" pitchFamily="49" charset="0"/>
            </a:endParaRPr>
          </a:p>
          <a:p>
            <a:r>
              <a:rPr lang="zh-CN" altLang="en-US" sz="1200" b="1" dirty="0">
                <a:solidFill>
                  <a:srgbClr val="C00000"/>
                </a:solidFill>
                <a:latin typeface="+mn-lt"/>
                <a:ea typeface="+mn-ea"/>
                <a:cs typeface="Courier New" panose="02070309020205020404" pitchFamily="49" charset="0"/>
              </a:rPr>
              <a:t>   </a:t>
            </a:r>
            <a:r>
              <a:rPr lang="pt-BR" altLang="zh-CN" sz="1200" b="1" dirty="0" smtClean="0">
                <a:solidFill>
                  <a:srgbClr val="C00000"/>
                </a:solidFill>
                <a:latin typeface="+mn-lt"/>
                <a:ea typeface="+mn-ea"/>
                <a:cs typeface="Courier New" panose="02070309020205020404" pitchFamily="49" charset="0"/>
              </a:rPr>
              <a:t>10.1.1.0/24	</a:t>
            </a:r>
            <a:r>
              <a:rPr lang="pt-BR" altLang="zh-CN" sz="1200" b="1" dirty="0" smtClean="0">
                <a:latin typeface="+mn-lt"/>
                <a:ea typeface="+mn-ea"/>
                <a:cs typeface="Courier New" panose="02070309020205020404" pitchFamily="49" charset="0"/>
              </a:rPr>
              <a:t>O_ASE	150	1	D	12.1.3.1      </a:t>
            </a:r>
            <a:r>
              <a:rPr lang="pt-BR" altLang="zh-CN" sz="1200" b="1" dirty="0">
                <a:latin typeface="+mn-lt"/>
                <a:ea typeface="+mn-ea"/>
                <a:cs typeface="Courier New" panose="02070309020205020404" pitchFamily="49" charset="0"/>
              </a:rPr>
              <a:t>GigabitEthernet </a:t>
            </a:r>
            <a:r>
              <a:rPr lang="en-US" altLang="zh-CN" sz="1200" b="1" dirty="0">
                <a:latin typeface="+mn-lt"/>
                <a:ea typeface="+mn-ea"/>
                <a:cs typeface="Courier New" panose="02070309020205020404" pitchFamily="49" charset="0"/>
              </a:rPr>
              <a:t>0/0/0</a:t>
            </a:r>
            <a:endParaRPr lang="zh-CN" altLang="en-US" sz="1200" b="1" dirty="0">
              <a:latin typeface="+mn-lt"/>
              <a:ea typeface="+mn-ea"/>
              <a:cs typeface="Courier New" panose="02070309020205020404" pitchFamily="49" charset="0"/>
            </a:endParaRPr>
          </a:p>
          <a:p>
            <a:r>
              <a:rPr lang="zh-CN" altLang="en-US" sz="1200" b="1" dirty="0">
                <a:solidFill>
                  <a:srgbClr val="C00000"/>
                </a:solidFill>
                <a:latin typeface="+mn-lt"/>
                <a:ea typeface="+mn-ea"/>
                <a:cs typeface="Courier New" panose="02070309020205020404" pitchFamily="49" charset="0"/>
              </a:rPr>
              <a:t>   </a:t>
            </a:r>
            <a:r>
              <a:rPr lang="pt-BR" altLang="zh-CN" sz="1200" b="1" dirty="0" smtClean="0">
                <a:solidFill>
                  <a:srgbClr val="C00000"/>
                </a:solidFill>
                <a:latin typeface="+mn-lt"/>
                <a:ea typeface="+mn-ea"/>
                <a:cs typeface="Courier New" panose="02070309020205020404" pitchFamily="49" charset="0"/>
              </a:rPr>
              <a:t>10.1.3.0/24	</a:t>
            </a:r>
            <a:r>
              <a:rPr lang="pt-BR" altLang="zh-CN" sz="1200" b="1" dirty="0" smtClean="0">
                <a:latin typeface="+mn-lt"/>
                <a:ea typeface="+mn-ea"/>
                <a:cs typeface="Courier New" panose="02070309020205020404" pitchFamily="49" charset="0"/>
              </a:rPr>
              <a:t>O_ASE	150	1	D	12.1.3.1      </a:t>
            </a:r>
            <a:r>
              <a:rPr lang="pt-BR" altLang="zh-CN" sz="1200" b="1" dirty="0">
                <a:latin typeface="+mn-lt"/>
                <a:ea typeface="+mn-ea"/>
                <a:cs typeface="Courier New" panose="02070309020205020404" pitchFamily="49" charset="0"/>
              </a:rPr>
              <a:t>GigabitEthernet </a:t>
            </a:r>
            <a:r>
              <a:rPr lang="en-US" altLang="zh-CN" sz="1200" b="1" dirty="0">
                <a:latin typeface="+mn-lt"/>
                <a:ea typeface="+mn-ea"/>
                <a:cs typeface="Courier New" panose="02070309020205020404" pitchFamily="49" charset="0"/>
              </a:rPr>
              <a:t>0/0/0</a:t>
            </a:r>
            <a:endParaRPr lang="zh-CN" altLang="en-US" sz="1200" b="1" dirty="0">
              <a:latin typeface="+mn-lt"/>
              <a:ea typeface="+mn-ea"/>
              <a:cs typeface="Courier New" panose="02070309020205020404" pitchFamily="49" charset="0"/>
            </a:endParaRPr>
          </a:p>
          <a:p>
            <a:r>
              <a:rPr lang="zh-CN" altLang="en-US" sz="1200" b="1" dirty="0">
                <a:solidFill>
                  <a:srgbClr val="C00000"/>
                </a:solidFill>
                <a:latin typeface="+mn-lt"/>
                <a:ea typeface="+mn-ea"/>
                <a:cs typeface="Courier New" panose="02070309020205020404" pitchFamily="49" charset="0"/>
              </a:rPr>
              <a:t>   </a:t>
            </a:r>
            <a:r>
              <a:rPr lang="en-US" altLang="zh-CN" sz="1200" b="1" dirty="0" smtClean="0">
                <a:solidFill>
                  <a:srgbClr val="C00000"/>
                </a:solidFill>
                <a:latin typeface="+mn-lt"/>
                <a:ea typeface="+mn-ea"/>
                <a:cs typeface="Courier New" panose="02070309020205020404" pitchFamily="49" charset="0"/>
              </a:rPr>
              <a:t>10.1.4.0/24	</a:t>
            </a:r>
            <a:r>
              <a:rPr lang="en-US" altLang="zh-CN" sz="1200" b="1" dirty="0" smtClean="0">
                <a:latin typeface="+mn-lt"/>
                <a:ea typeface="+mn-ea"/>
                <a:cs typeface="Courier New" panose="02070309020205020404" pitchFamily="49" charset="0"/>
              </a:rPr>
              <a:t>OSPF	10	3	D	12.1.3.1      </a:t>
            </a:r>
            <a:r>
              <a:rPr lang="en-US" altLang="zh-CN" sz="1200" b="1" dirty="0" err="1">
                <a:latin typeface="+mn-lt"/>
                <a:ea typeface="+mn-ea"/>
                <a:cs typeface="Courier New" panose="02070309020205020404" pitchFamily="49" charset="0"/>
              </a:rPr>
              <a:t>GigabitEthernet</a:t>
            </a:r>
            <a:r>
              <a:rPr lang="en-US" altLang="zh-CN" sz="1200" b="1" dirty="0">
                <a:latin typeface="+mn-lt"/>
                <a:ea typeface="+mn-ea"/>
                <a:cs typeface="Courier New" panose="02070309020205020404" pitchFamily="49" charset="0"/>
              </a:rPr>
              <a:t> 0/0/0</a:t>
            </a:r>
            <a:endParaRPr lang="zh-CN" altLang="en-US" sz="1200" b="1" dirty="0">
              <a:latin typeface="+mn-lt"/>
              <a:ea typeface="+mn-ea"/>
              <a:cs typeface="Courier New" panose="02070309020205020404" pitchFamily="49" charset="0"/>
            </a:endParaRPr>
          </a:p>
          <a:p>
            <a:r>
              <a:rPr lang="zh-CN" altLang="en-US" sz="1200" b="1" dirty="0">
                <a:latin typeface="+mn-lt"/>
                <a:ea typeface="+mn-ea"/>
                <a:cs typeface="Courier New" panose="02070309020205020404" pitchFamily="49" charset="0"/>
              </a:rPr>
              <a:t>   </a:t>
            </a:r>
            <a:r>
              <a:rPr lang="en-US" altLang="zh-CN" sz="1200" b="1" dirty="0" smtClean="0">
                <a:latin typeface="+mn-lt"/>
                <a:ea typeface="+mn-ea"/>
                <a:cs typeface="Courier New" panose="02070309020205020404" pitchFamily="49" charset="0"/>
              </a:rPr>
              <a:t>10.1.5.0/24	Direct	0	0	D	10.1.5.2      </a:t>
            </a:r>
            <a:r>
              <a:rPr lang="en-US" altLang="zh-CN" sz="1200" b="1" dirty="0" err="1">
                <a:latin typeface="+mn-lt"/>
                <a:ea typeface="+mn-ea"/>
                <a:cs typeface="Courier New" panose="02070309020205020404" pitchFamily="49" charset="0"/>
              </a:rPr>
              <a:t>GigabitEthernet</a:t>
            </a:r>
            <a:r>
              <a:rPr lang="en-US" altLang="zh-CN" sz="1200" b="1" dirty="0">
                <a:latin typeface="+mn-lt"/>
                <a:ea typeface="+mn-ea"/>
                <a:cs typeface="Courier New" panose="02070309020205020404" pitchFamily="49" charset="0"/>
              </a:rPr>
              <a:t> 0/0/1</a:t>
            </a:r>
            <a:endParaRPr lang="zh-CN" altLang="en-US" sz="1200" b="1" dirty="0">
              <a:latin typeface="+mn-lt"/>
              <a:ea typeface="+mn-ea"/>
              <a:cs typeface="Courier New" panose="02070309020205020404" pitchFamily="49" charset="0"/>
            </a:endParaRPr>
          </a:p>
        </p:txBody>
      </p:sp>
    </p:spTree>
    <p:extLst>
      <p:ext uri="{BB962C8B-B14F-4D97-AF65-F5344CB8AC3E}">
        <p14:creationId xmlns:p14="http://schemas.microsoft.com/office/powerpoint/2010/main" val="41142865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文本占位符 3"/>
          <p:cNvSpPr>
            <a:spLocks noGrp="1"/>
          </p:cNvSpPr>
          <p:nvPr>
            <p:ph type="body" sz="quarter" idx="10"/>
          </p:nvPr>
        </p:nvSpPr>
        <p:spPr/>
        <p:txBody>
          <a:bodyPr/>
          <a:lstStyle/>
          <a:p>
            <a:r>
              <a:rPr lang="en-US" altLang="zh-CN" dirty="0" smtClean="0">
                <a:solidFill>
                  <a:schemeClr val="bg1">
                    <a:lumMod val="50000"/>
                  </a:schemeClr>
                </a:solidFill>
                <a:sym typeface="FrutigerNext LT Regular" pitchFamily="34" charset="0"/>
              </a:rPr>
              <a:t>Traffic Behavior Control Requirement</a:t>
            </a:r>
          </a:p>
          <a:p>
            <a:r>
              <a:rPr lang="en-US" altLang="zh-CN" b="1" dirty="0" smtClean="0">
                <a:sym typeface="FrutigerNext LT Regular" pitchFamily="34" charset="0"/>
              </a:rPr>
              <a:t>Control Reachability</a:t>
            </a:r>
          </a:p>
          <a:p>
            <a:pPr lvl="1"/>
            <a:r>
              <a:rPr lang="en-US" altLang="zh-CN" dirty="0" smtClean="0">
                <a:solidFill>
                  <a:schemeClr val="bg1">
                    <a:lumMod val="50000"/>
                  </a:schemeClr>
                </a:solidFill>
                <a:sym typeface="FrutigerNext LT Regular" pitchFamily="34" charset="0"/>
              </a:rPr>
              <a:t>Routing Policy</a:t>
            </a:r>
          </a:p>
          <a:p>
            <a:pPr lvl="1">
              <a:buSzPct val="60000"/>
              <a:buFont typeface="Wingdings" panose="05000000000000000000" pitchFamily="2" charset="2"/>
              <a:buChar char="n"/>
            </a:pPr>
            <a:r>
              <a:rPr lang="en-US" altLang="zh-CN" dirty="0" smtClean="0">
                <a:sym typeface="FrutigerNext LT Regular" pitchFamily="34" charset="0"/>
              </a:rPr>
              <a:t>Traffic Filter</a:t>
            </a:r>
            <a:endParaRPr lang="en-US" altLang="zh-CN" dirty="0" smtClean="0">
              <a:sym typeface="FrutigerNext LT Regular" pitchFamily="34" charset="0"/>
            </a:endParaRPr>
          </a:p>
          <a:p>
            <a:r>
              <a:rPr lang="en-US" altLang="zh-CN" dirty="0" smtClean="0">
                <a:solidFill>
                  <a:schemeClr val="bg1">
                    <a:lumMod val="50000"/>
                  </a:schemeClr>
                </a:solidFill>
                <a:sym typeface="FrutigerNext LT Regular" pitchFamily="34" charset="0"/>
              </a:rPr>
              <a:t>Adjust Network Traffic Path</a:t>
            </a:r>
          </a:p>
          <a:p>
            <a:r>
              <a:rPr lang="en-US" altLang="zh-CN" dirty="0" smtClean="0">
                <a:solidFill>
                  <a:schemeClr val="bg1">
                    <a:lumMod val="50000"/>
                  </a:schemeClr>
                </a:solidFill>
                <a:sym typeface="FrutigerNext LT Regular" pitchFamily="34" charset="0"/>
              </a:rPr>
              <a:t>Problems Caused by Route Importing and Solutions</a:t>
            </a:r>
          </a:p>
        </p:txBody>
      </p:sp>
    </p:spTree>
    <p:extLst>
      <p:ext uri="{BB962C8B-B14F-4D97-AF65-F5344CB8AC3E}">
        <p14:creationId xmlns:p14="http://schemas.microsoft.com/office/powerpoint/2010/main" val="46486825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51" name="直接连接符 95"/>
          <p:cNvCxnSpPr>
            <a:cxnSpLocks noChangeShapeType="1"/>
          </p:cNvCxnSpPr>
          <p:nvPr/>
        </p:nvCxnSpPr>
        <p:spPr bwMode="auto">
          <a:xfrm flipH="1" flipV="1">
            <a:off x="4883151" y="4733926"/>
            <a:ext cx="1103313" cy="758825"/>
          </a:xfrm>
          <a:prstGeom prst="line">
            <a:avLst/>
          </a:prstGeom>
          <a:noFill/>
          <a:ln w="28575" algn="ctr">
            <a:solidFill>
              <a:srgbClr val="C00000"/>
            </a:solidFill>
            <a:prstDash val="sysDot"/>
            <a:round/>
            <a:headEnd/>
            <a:tailEnd/>
          </a:ln>
        </p:spPr>
      </p:cxnSp>
      <p:cxnSp>
        <p:nvCxnSpPr>
          <p:cNvPr id="2052" name="直接连接符 93"/>
          <p:cNvCxnSpPr>
            <a:cxnSpLocks noChangeShapeType="1"/>
          </p:cNvCxnSpPr>
          <p:nvPr/>
        </p:nvCxnSpPr>
        <p:spPr bwMode="auto">
          <a:xfrm flipV="1">
            <a:off x="4945063" y="2547939"/>
            <a:ext cx="1071562" cy="1169987"/>
          </a:xfrm>
          <a:prstGeom prst="line">
            <a:avLst/>
          </a:prstGeom>
          <a:noFill/>
          <a:ln w="28575" algn="ctr">
            <a:solidFill>
              <a:srgbClr val="C00000"/>
            </a:solidFill>
            <a:prstDash val="sysDot"/>
            <a:round/>
            <a:headEnd/>
            <a:tailEnd/>
          </a:ln>
        </p:spPr>
      </p:cxnSp>
      <p:sp>
        <p:nvSpPr>
          <p:cNvPr id="2054" name="文本占位符 3"/>
          <p:cNvSpPr>
            <a:spLocks noGrp="1"/>
          </p:cNvSpPr>
          <p:nvPr>
            <p:ph type="body" sz="quarter" idx="10"/>
          </p:nvPr>
        </p:nvSpPr>
        <p:spPr/>
        <p:txBody>
          <a:bodyPr/>
          <a:lstStyle/>
          <a:p>
            <a:r>
              <a:rPr lang="en-US" altLang="zh-CN" dirty="0" smtClean="0">
                <a:sym typeface="FrutigerNext LT Regular" pitchFamily="34" charset="0"/>
              </a:rPr>
              <a:t>Based on customized policy: uses the traffic filter.</a:t>
            </a:r>
          </a:p>
        </p:txBody>
      </p:sp>
      <p:sp>
        <p:nvSpPr>
          <p:cNvPr id="4" name="文本占位符 3"/>
          <p:cNvSpPr>
            <a:spLocks noGrp="1"/>
          </p:cNvSpPr>
          <p:nvPr>
            <p:ph type="body" sz="quarter" idx="12"/>
          </p:nvPr>
        </p:nvSpPr>
        <p:spPr/>
        <p:txBody>
          <a:bodyPr/>
          <a:lstStyle/>
          <a:p>
            <a:r>
              <a:rPr lang="en-US" altLang="zh-CN" dirty="0"/>
              <a:t>Solution 2: </a:t>
            </a:r>
            <a:r>
              <a:rPr lang="en-US" altLang="zh-CN" dirty="0" smtClean="0"/>
              <a:t>Traffic Filter(1</a:t>
            </a:r>
            <a:r>
              <a:rPr lang="en-US" altLang="zh-CN" dirty="0" smtClean="0"/>
              <a:t>)</a:t>
            </a:r>
            <a:endParaRPr lang="zh-CN" altLang="en-US" dirty="0"/>
          </a:p>
        </p:txBody>
      </p:sp>
      <p:sp>
        <p:nvSpPr>
          <p:cNvPr id="50" name="圆角矩形 49"/>
          <p:cNvSpPr/>
          <p:nvPr/>
        </p:nvSpPr>
        <p:spPr bwMode="auto">
          <a:xfrm>
            <a:off x="8220076" y="3844925"/>
            <a:ext cx="1816100" cy="6635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51" name="圆角矩形 50"/>
          <p:cNvSpPr/>
          <p:nvPr/>
        </p:nvSpPr>
        <p:spPr bwMode="auto">
          <a:xfrm>
            <a:off x="8150225" y="3136900"/>
            <a:ext cx="1848391" cy="652463"/>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52" name="圆角矩形 51"/>
          <p:cNvSpPr/>
          <p:nvPr/>
        </p:nvSpPr>
        <p:spPr bwMode="auto">
          <a:xfrm>
            <a:off x="8215313" y="4652963"/>
            <a:ext cx="1805124" cy="6127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54" name="圆角矩形 53"/>
          <p:cNvSpPr/>
          <p:nvPr/>
        </p:nvSpPr>
        <p:spPr bwMode="auto">
          <a:xfrm>
            <a:off x="2279650" y="4384675"/>
            <a:ext cx="1751013" cy="74930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55" name="圆角矩形 54"/>
          <p:cNvSpPr/>
          <p:nvPr/>
        </p:nvSpPr>
        <p:spPr bwMode="auto">
          <a:xfrm>
            <a:off x="2279650" y="3146425"/>
            <a:ext cx="1698625"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2077" name="矩形 55"/>
          <p:cNvSpPr>
            <a:spLocks noChangeArrowheads="1"/>
          </p:cNvSpPr>
          <p:nvPr/>
        </p:nvSpPr>
        <p:spPr bwMode="auto">
          <a:xfrm>
            <a:off x="8939213" y="3194050"/>
            <a:ext cx="1189037" cy="461665"/>
          </a:xfrm>
          <a:prstGeom prst="rect">
            <a:avLst/>
          </a:prstGeom>
          <a:noFill/>
          <a:ln w="9525">
            <a:noFill/>
            <a:miter lim="800000"/>
            <a:headEnd/>
            <a:tailEnd/>
          </a:ln>
        </p:spPr>
        <p:txBody>
          <a:bodyPr wrap="square">
            <a:spAutoFit/>
          </a:bodyPr>
          <a:lstStyle/>
          <a:p>
            <a:pPr eaLnBrk="0" fontAlgn="t" hangingPunct="0">
              <a:buSzPct val="100000"/>
            </a:pPr>
            <a:r>
              <a:rPr lang="en-US" altLang="zh-CN" sz="1200" b="1" dirty="0">
                <a:solidFill>
                  <a:srgbClr val="000000"/>
                </a:solidFill>
                <a:latin typeface="+mn-lt"/>
                <a:ea typeface="+mn-ea"/>
                <a:sym typeface="FrutigerNext LT Regular" pitchFamily="34" charset="0"/>
              </a:rPr>
              <a:t>Financial department</a:t>
            </a:r>
          </a:p>
        </p:txBody>
      </p:sp>
      <p:cxnSp>
        <p:nvCxnSpPr>
          <p:cNvPr id="2078" name="直接连接符 56"/>
          <p:cNvCxnSpPr>
            <a:cxnSpLocks noChangeShapeType="1"/>
          </p:cNvCxnSpPr>
          <p:nvPr/>
        </p:nvCxnSpPr>
        <p:spPr bwMode="auto">
          <a:xfrm flipH="1" flipV="1">
            <a:off x="3598611" y="3420909"/>
            <a:ext cx="1111080" cy="344118"/>
          </a:xfrm>
          <a:prstGeom prst="line">
            <a:avLst/>
          </a:prstGeom>
          <a:noFill/>
          <a:ln w="28575" algn="ctr">
            <a:solidFill>
              <a:schemeClr val="tx1"/>
            </a:solidFill>
            <a:round/>
            <a:headEnd/>
            <a:tailEnd/>
          </a:ln>
        </p:spPr>
      </p:cxnSp>
      <p:cxnSp>
        <p:nvCxnSpPr>
          <p:cNvPr id="58" name="直接连接符 57"/>
          <p:cNvCxnSpPr/>
          <p:nvPr/>
        </p:nvCxnSpPr>
        <p:spPr bwMode="auto">
          <a:xfrm>
            <a:off x="4892675" y="3806825"/>
            <a:ext cx="1219200" cy="35242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80" name="直接连接符 60"/>
          <p:cNvCxnSpPr>
            <a:cxnSpLocks noChangeShapeType="1"/>
          </p:cNvCxnSpPr>
          <p:nvPr/>
        </p:nvCxnSpPr>
        <p:spPr bwMode="auto">
          <a:xfrm flipV="1">
            <a:off x="4980177" y="4317556"/>
            <a:ext cx="1080379" cy="263120"/>
          </a:xfrm>
          <a:prstGeom prst="line">
            <a:avLst/>
          </a:prstGeom>
          <a:noFill/>
          <a:ln w="28575" algn="ctr">
            <a:solidFill>
              <a:schemeClr val="tx1"/>
            </a:solidFill>
            <a:round/>
            <a:headEnd/>
            <a:tailEnd/>
          </a:ln>
        </p:spPr>
      </p:cxnSp>
      <p:cxnSp>
        <p:nvCxnSpPr>
          <p:cNvPr id="2081" name="直接连接符 61"/>
          <p:cNvCxnSpPr>
            <a:cxnSpLocks noChangeShapeType="1"/>
          </p:cNvCxnSpPr>
          <p:nvPr/>
        </p:nvCxnSpPr>
        <p:spPr bwMode="auto">
          <a:xfrm flipH="1">
            <a:off x="3608707" y="4634909"/>
            <a:ext cx="1284621" cy="205938"/>
          </a:xfrm>
          <a:prstGeom prst="line">
            <a:avLst/>
          </a:prstGeom>
          <a:noFill/>
          <a:ln w="28575" algn="ctr">
            <a:solidFill>
              <a:schemeClr val="tx1"/>
            </a:solidFill>
            <a:round/>
            <a:headEnd/>
            <a:tailEnd/>
          </a:ln>
        </p:spPr>
      </p:cxnSp>
      <p:cxnSp>
        <p:nvCxnSpPr>
          <p:cNvPr id="2082" name="直接连接符 63"/>
          <p:cNvCxnSpPr>
            <a:cxnSpLocks noChangeShapeType="1"/>
          </p:cNvCxnSpPr>
          <p:nvPr/>
        </p:nvCxnSpPr>
        <p:spPr bwMode="auto">
          <a:xfrm>
            <a:off x="6096511" y="4184804"/>
            <a:ext cx="1116086" cy="0"/>
          </a:xfrm>
          <a:prstGeom prst="line">
            <a:avLst/>
          </a:prstGeom>
          <a:noFill/>
          <a:ln w="28575" algn="ctr">
            <a:solidFill>
              <a:schemeClr val="tx1"/>
            </a:solidFill>
            <a:round/>
            <a:headEnd/>
            <a:tailEnd/>
          </a:ln>
        </p:spPr>
      </p:cxnSp>
      <p:cxnSp>
        <p:nvCxnSpPr>
          <p:cNvPr id="2083" name="直接连接符 64"/>
          <p:cNvCxnSpPr>
            <a:cxnSpLocks noChangeShapeType="1"/>
          </p:cNvCxnSpPr>
          <p:nvPr/>
        </p:nvCxnSpPr>
        <p:spPr bwMode="auto">
          <a:xfrm flipH="1">
            <a:off x="7475382" y="3470538"/>
            <a:ext cx="998518" cy="644219"/>
          </a:xfrm>
          <a:prstGeom prst="line">
            <a:avLst/>
          </a:prstGeom>
          <a:noFill/>
          <a:ln w="28575" algn="ctr">
            <a:solidFill>
              <a:schemeClr val="tx1"/>
            </a:solidFill>
            <a:round/>
            <a:headEnd/>
            <a:tailEnd/>
          </a:ln>
        </p:spPr>
      </p:cxnSp>
      <p:cxnSp>
        <p:nvCxnSpPr>
          <p:cNvPr id="2084" name="直接连接符 67"/>
          <p:cNvCxnSpPr>
            <a:cxnSpLocks noChangeShapeType="1"/>
          </p:cNvCxnSpPr>
          <p:nvPr/>
        </p:nvCxnSpPr>
        <p:spPr bwMode="auto">
          <a:xfrm flipV="1">
            <a:off x="7348033" y="4078809"/>
            <a:ext cx="1373298" cy="90661"/>
          </a:xfrm>
          <a:prstGeom prst="line">
            <a:avLst/>
          </a:prstGeom>
          <a:noFill/>
          <a:ln w="28575" algn="ctr">
            <a:solidFill>
              <a:schemeClr val="tx1"/>
            </a:solidFill>
            <a:round/>
            <a:headEnd/>
            <a:tailEnd/>
          </a:ln>
        </p:spPr>
      </p:cxnSp>
      <p:cxnSp>
        <p:nvCxnSpPr>
          <p:cNvPr id="2085" name="直接连接符 68"/>
          <p:cNvCxnSpPr>
            <a:cxnSpLocks noChangeShapeType="1"/>
          </p:cNvCxnSpPr>
          <p:nvPr/>
        </p:nvCxnSpPr>
        <p:spPr bwMode="auto">
          <a:xfrm>
            <a:off x="7395194" y="4265032"/>
            <a:ext cx="1153298" cy="736098"/>
          </a:xfrm>
          <a:prstGeom prst="line">
            <a:avLst/>
          </a:prstGeom>
          <a:noFill/>
          <a:ln w="28575" algn="ctr">
            <a:solidFill>
              <a:schemeClr val="tx1"/>
            </a:solidFill>
            <a:round/>
            <a:headEnd/>
            <a:tailEnd/>
          </a:ln>
        </p:spPr>
      </p:cxnSp>
      <p:sp>
        <p:nvSpPr>
          <p:cNvPr id="2086" name="矩形 69"/>
          <p:cNvSpPr>
            <a:spLocks noChangeArrowheads="1"/>
          </p:cNvSpPr>
          <p:nvPr/>
        </p:nvSpPr>
        <p:spPr bwMode="auto">
          <a:xfrm>
            <a:off x="2207568" y="4628165"/>
            <a:ext cx="1247586" cy="276999"/>
          </a:xfrm>
          <a:prstGeom prst="rect">
            <a:avLst/>
          </a:prstGeom>
          <a:noFill/>
          <a:ln w="9525">
            <a:noFill/>
            <a:miter lim="800000"/>
            <a:headEnd/>
            <a:tailEnd/>
          </a:ln>
        </p:spPr>
        <p:txBody>
          <a:bodyPr wrap="none">
            <a:spAutoFit/>
          </a:bodyPr>
          <a:lstStyle/>
          <a:p>
            <a:pPr eaLnBrk="0" fontAlgn="t" hangingPunct="0">
              <a:buSzPct val="100000"/>
            </a:pPr>
            <a:r>
              <a:rPr lang="en-US" altLang="zh-CN" sz="1200" b="1" dirty="0">
                <a:solidFill>
                  <a:srgbClr val="000000"/>
                </a:solidFill>
                <a:latin typeface="+mn-lt"/>
                <a:ea typeface="+mn-ea"/>
                <a:sym typeface="FrutigerNext LT Regular" pitchFamily="34" charset="0"/>
              </a:rPr>
              <a:t>Headquarters</a:t>
            </a:r>
          </a:p>
        </p:txBody>
      </p:sp>
      <p:sp>
        <p:nvSpPr>
          <p:cNvPr id="2087" name="矩形 70"/>
          <p:cNvSpPr>
            <a:spLocks noChangeArrowheads="1"/>
          </p:cNvSpPr>
          <p:nvPr/>
        </p:nvSpPr>
        <p:spPr bwMode="auto">
          <a:xfrm>
            <a:off x="8974138" y="4037002"/>
            <a:ext cx="1046298" cy="400110"/>
          </a:xfrm>
          <a:prstGeom prst="rect">
            <a:avLst/>
          </a:prstGeom>
          <a:noFill/>
          <a:ln w="9525">
            <a:noFill/>
            <a:miter lim="800000"/>
            <a:headEnd/>
            <a:tailEnd/>
          </a:ln>
        </p:spPr>
        <p:txBody>
          <a:bodyPr wrap="square">
            <a:spAutoFit/>
          </a:bodyPr>
          <a:lstStyle/>
          <a:p>
            <a:pPr eaLnBrk="0" fontAlgn="t" hangingPunct="0">
              <a:buSzPct val="100000"/>
            </a:pPr>
            <a:r>
              <a:rPr lang="en-US" altLang="zh-CN" b="1" dirty="0">
                <a:solidFill>
                  <a:srgbClr val="000000"/>
                </a:solidFill>
                <a:latin typeface="+mn-lt"/>
                <a:ea typeface="+mn-ea"/>
                <a:sym typeface="FrutigerNext LT Regular" pitchFamily="34" charset="0"/>
              </a:rPr>
              <a:t>R&amp;D department</a:t>
            </a:r>
          </a:p>
        </p:txBody>
      </p:sp>
      <p:sp>
        <p:nvSpPr>
          <p:cNvPr id="2088" name="矩形 71"/>
          <p:cNvSpPr>
            <a:spLocks noChangeArrowheads="1"/>
          </p:cNvSpPr>
          <p:nvPr/>
        </p:nvSpPr>
        <p:spPr bwMode="auto">
          <a:xfrm>
            <a:off x="8905305" y="4793086"/>
            <a:ext cx="1439167" cy="400110"/>
          </a:xfrm>
          <a:prstGeom prst="rect">
            <a:avLst/>
          </a:prstGeom>
          <a:noFill/>
          <a:ln w="9525">
            <a:noFill/>
            <a:miter lim="800000"/>
            <a:headEnd/>
            <a:tailEnd/>
          </a:ln>
        </p:spPr>
        <p:txBody>
          <a:bodyPr wrap="square">
            <a:spAutoFit/>
          </a:bodyPr>
          <a:lstStyle/>
          <a:p>
            <a:pPr eaLnBrk="0" fontAlgn="t" hangingPunct="0">
              <a:buSzPct val="100000"/>
            </a:pPr>
            <a:r>
              <a:rPr lang="en-US" altLang="zh-CN" b="1" dirty="0">
                <a:solidFill>
                  <a:srgbClr val="000000"/>
                </a:solidFill>
                <a:latin typeface="+mn-lt"/>
                <a:ea typeface="+mn-ea"/>
                <a:sym typeface="FrutigerNext LT Regular" pitchFamily="34" charset="0"/>
              </a:rPr>
              <a:t>Documentation department</a:t>
            </a:r>
          </a:p>
        </p:txBody>
      </p:sp>
      <p:sp>
        <p:nvSpPr>
          <p:cNvPr id="2089" name="文本框 72"/>
          <p:cNvSpPr txBox="1">
            <a:spLocks noChangeArrowheads="1"/>
          </p:cNvSpPr>
          <p:nvPr/>
        </p:nvSpPr>
        <p:spPr bwMode="auto">
          <a:xfrm>
            <a:off x="6102349" y="3290888"/>
            <a:ext cx="787400" cy="31639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C00000"/>
                </a:solidFill>
                <a:latin typeface="+mn-lt"/>
                <a:ea typeface="+mn-ea"/>
                <a:cs typeface="Arial" charset="0"/>
                <a:sym typeface="FrutigerNext LT Regular" pitchFamily="34" charset="0"/>
              </a:rPr>
              <a:t>OSPF</a:t>
            </a:r>
          </a:p>
        </p:txBody>
      </p:sp>
      <p:sp>
        <p:nvSpPr>
          <p:cNvPr id="2090" name="文本框 73"/>
          <p:cNvSpPr txBox="1">
            <a:spLocks noChangeArrowheads="1"/>
          </p:cNvSpPr>
          <p:nvPr/>
        </p:nvSpPr>
        <p:spPr bwMode="auto">
          <a:xfrm>
            <a:off x="2063552" y="3246752"/>
            <a:ext cx="1347787" cy="470280"/>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Marketing department</a:t>
            </a:r>
          </a:p>
        </p:txBody>
      </p:sp>
      <p:sp>
        <p:nvSpPr>
          <p:cNvPr id="2096" name="文本框 80"/>
          <p:cNvSpPr txBox="1">
            <a:spLocks noChangeArrowheads="1"/>
          </p:cNvSpPr>
          <p:nvPr/>
        </p:nvSpPr>
        <p:spPr bwMode="auto">
          <a:xfrm>
            <a:off x="4461167" y="4910077"/>
            <a:ext cx="772122"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2097" name="文本框 81"/>
          <p:cNvSpPr txBox="1">
            <a:spLocks noChangeArrowheads="1"/>
          </p:cNvSpPr>
          <p:nvPr/>
        </p:nvSpPr>
        <p:spPr bwMode="auto">
          <a:xfrm>
            <a:off x="4441140" y="3254607"/>
            <a:ext cx="772122"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2098" name="文本框 82"/>
          <p:cNvSpPr txBox="1">
            <a:spLocks noChangeArrowheads="1"/>
          </p:cNvSpPr>
          <p:nvPr/>
        </p:nvSpPr>
        <p:spPr bwMode="auto">
          <a:xfrm>
            <a:off x="5700312" y="4444364"/>
            <a:ext cx="772122"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2099" name="文本框 83"/>
          <p:cNvSpPr txBox="1">
            <a:spLocks noChangeArrowheads="1"/>
          </p:cNvSpPr>
          <p:nvPr/>
        </p:nvSpPr>
        <p:spPr bwMode="auto">
          <a:xfrm>
            <a:off x="7010793" y="4444364"/>
            <a:ext cx="772122"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sp>
        <p:nvSpPr>
          <p:cNvPr id="2100" name="文本框 84"/>
          <p:cNvSpPr txBox="1">
            <a:spLocks noChangeArrowheads="1"/>
          </p:cNvSpPr>
          <p:nvPr/>
        </p:nvSpPr>
        <p:spPr bwMode="auto">
          <a:xfrm rot="1032180">
            <a:off x="3671887" y="3687587"/>
            <a:ext cx="833437"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dirty="0">
                <a:solidFill>
                  <a:srgbClr val="000000"/>
                </a:solidFill>
                <a:latin typeface="+mn-lt"/>
                <a:ea typeface="+mn-ea"/>
                <a:cs typeface="Arial" charset="0"/>
                <a:sym typeface="FrutigerNext LT Regular" pitchFamily="34" charset="0"/>
              </a:rPr>
              <a:t>10.1.4.0</a:t>
            </a:r>
          </a:p>
        </p:txBody>
      </p:sp>
      <p:sp>
        <p:nvSpPr>
          <p:cNvPr id="2101" name="文本框 85"/>
          <p:cNvSpPr txBox="1">
            <a:spLocks noChangeAspect="1"/>
          </p:cNvSpPr>
          <p:nvPr/>
        </p:nvSpPr>
        <p:spPr bwMode="auto">
          <a:xfrm rot="21097595">
            <a:off x="3879849" y="4719462"/>
            <a:ext cx="833438"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dirty="0">
                <a:solidFill>
                  <a:srgbClr val="000000"/>
                </a:solidFill>
                <a:latin typeface="+mn-lt"/>
                <a:ea typeface="+mn-ea"/>
                <a:cs typeface="Arial" charset="0"/>
                <a:sym typeface="FrutigerNext LT Regular" pitchFamily="34" charset="0"/>
              </a:rPr>
              <a:t>10.1.5.0</a:t>
            </a:r>
          </a:p>
        </p:txBody>
      </p:sp>
      <p:sp>
        <p:nvSpPr>
          <p:cNvPr id="2102" name="文本框 86"/>
          <p:cNvSpPr txBox="1">
            <a:spLocks noChangeArrowheads="1"/>
          </p:cNvSpPr>
          <p:nvPr/>
        </p:nvSpPr>
        <p:spPr bwMode="auto">
          <a:xfrm rot="19651937">
            <a:off x="7367588" y="3489944"/>
            <a:ext cx="833437"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dirty="0">
                <a:solidFill>
                  <a:srgbClr val="000000"/>
                </a:solidFill>
                <a:latin typeface="+mn-lt"/>
                <a:ea typeface="+mn-ea"/>
                <a:cs typeface="Arial" charset="0"/>
                <a:sym typeface="FrutigerNext LT Regular" pitchFamily="34" charset="0"/>
              </a:rPr>
              <a:t>10.1.1.0</a:t>
            </a:r>
          </a:p>
        </p:txBody>
      </p:sp>
      <p:sp>
        <p:nvSpPr>
          <p:cNvPr id="2103" name="文本框 87"/>
          <p:cNvSpPr txBox="1">
            <a:spLocks noChangeArrowheads="1"/>
          </p:cNvSpPr>
          <p:nvPr/>
        </p:nvSpPr>
        <p:spPr bwMode="auto">
          <a:xfrm rot="21408131">
            <a:off x="7615238" y="3906662"/>
            <a:ext cx="833437"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dirty="0">
                <a:solidFill>
                  <a:srgbClr val="000000"/>
                </a:solidFill>
                <a:latin typeface="+mn-lt"/>
                <a:ea typeface="+mn-ea"/>
                <a:cs typeface="Arial" charset="0"/>
                <a:sym typeface="FrutigerNext LT Regular" pitchFamily="34" charset="0"/>
              </a:rPr>
              <a:t>10.1.2.0</a:t>
            </a:r>
          </a:p>
        </p:txBody>
      </p:sp>
      <p:sp>
        <p:nvSpPr>
          <p:cNvPr id="2104" name="文本框 88"/>
          <p:cNvSpPr txBox="1">
            <a:spLocks noChangeArrowheads="1"/>
          </p:cNvSpPr>
          <p:nvPr/>
        </p:nvSpPr>
        <p:spPr bwMode="auto">
          <a:xfrm rot="2018709">
            <a:off x="7481888" y="4600400"/>
            <a:ext cx="831850" cy="2702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dirty="0">
                <a:solidFill>
                  <a:srgbClr val="000000"/>
                </a:solidFill>
                <a:latin typeface="+mn-lt"/>
                <a:ea typeface="+mn-ea"/>
                <a:cs typeface="Arial" charset="0"/>
                <a:sym typeface="FrutigerNext LT Regular" pitchFamily="34" charset="0"/>
              </a:rPr>
              <a:t>10.1.3.0</a:t>
            </a:r>
          </a:p>
        </p:txBody>
      </p:sp>
      <p:sp>
        <p:nvSpPr>
          <p:cNvPr id="95" name="AutoShape 17"/>
          <p:cNvSpPr>
            <a:spLocks noChangeArrowheads="1"/>
          </p:cNvSpPr>
          <p:nvPr/>
        </p:nvSpPr>
        <p:spPr bwMode="auto">
          <a:xfrm>
            <a:off x="3750588" y="1922669"/>
            <a:ext cx="5723773" cy="1015663"/>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acl number 3000</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rule 0 deny ip source 10.1.4.0 0.0.0.255 dest 10.1.1.0 0.0.0.255</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rule 5 deny ip source 10.1.4.0 0.0.0.255 dest 10.1.2.0 0.0.0.255</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rule 10 permit ip source  any</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int g0/0/1</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a:t>
            </a:r>
            <a:r>
              <a:rPr lang="en-US" altLang="zh-CN" sz="1100" b="1" dirty="0">
                <a:solidFill>
                  <a:srgbClr val="C00000"/>
                </a:solidFill>
                <a:latin typeface="+mn-lt"/>
                <a:ea typeface="+mn-ea"/>
                <a:cs typeface="Courier New" panose="02070309020205020404" pitchFamily="49" charset="0"/>
                <a:sym typeface="FrutigerNext LT Regular" pitchFamily="34" charset="0"/>
              </a:rPr>
              <a:t>traffic-filter inbound acl 3000 </a:t>
            </a:r>
          </a:p>
        </p:txBody>
      </p:sp>
      <p:sp>
        <p:nvSpPr>
          <p:cNvPr id="97" name="AutoShape 17"/>
          <p:cNvSpPr>
            <a:spLocks noChangeArrowheads="1"/>
          </p:cNvSpPr>
          <p:nvPr/>
        </p:nvSpPr>
        <p:spPr bwMode="auto">
          <a:xfrm>
            <a:off x="2891645" y="5395496"/>
            <a:ext cx="5504481" cy="677108"/>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acl 3000</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rule 0 deny ip source 10.1.5.0 0.0.0.255 dest 10.1.2.0 0.0.0.255</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int g0/0/1</a:t>
            </a:r>
          </a:p>
          <a:p>
            <a:pPr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a:t>
            </a:r>
            <a:r>
              <a:rPr lang="en-US" altLang="zh-CN" sz="1100" b="1" dirty="0">
                <a:solidFill>
                  <a:srgbClr val="C00000"/>
                </a:solidFill>
                <a:latin typeface="+mn-lt"/>
                <a:ea typeface="+mn-ea"/>
                <a:cs typeface="Courier New" panose="02070309020205020404" pitchFamily="49" charset="0"/>
                <a:sym typeface="FrutigerNext LT Regular" pitchFamily="34" charset="0"/>
              </a:rPr>
              <a:t>traffic-filter inbound acl 3000</a:t>
            </a:r>
          </a:p>
        </p:txBody>
      </p:sp>
      <p:cxnSp>
        <p:nvCxnSpPr>
          <p:cNvPr id="2070" name="直接连接符 58"/>
          <p:cNvCxnSpPr>
            <a:cxnSpLocks noChangeShapeType="1"/>
          </p:cNvCxnSpPr>
          <p:nvPr/>
        </p:nvCxnSpPr>
        <p:spPr bwMode="auto">
          <a:xfrm>
            <a:off x="7852987" y="3648075"/>
            <a:ext cx="135313" cy="141288"/>
          </a:xfrm>
          <a:prstGeom prst="line">
            <a:avLst/>
          </a:prstGeom>
          <a:noFill/>
          <a:ln w="28575" algn="ctr">
            <a:solidFill>
              <a:srgbClr val="540000"/>
            </a:solidFill>
            <a:round/>
            <a:headEnd/>
            <a:tailEnd/>
          </a:ln>
        </p:spPr>
      </p:cxnSp>
      <p:cxnSp>
        <p:nvCxnSpPr>
          <p:cNvPr id="2071" name="直接连接符 59"/>
          <p:cNvCxnSpPr>
            <a:cxnSpLocks noChangeShapeType="1"/>
          </p:cNvCxnSpPr>
          <p:nvPr/>
        </p:nvCxnSpPr>
        <p:spPr bwMode="auto">
          <a:xfrm flipV="1">
            <a:off x="7848600" y="3655710"/>
            <a:ext cx="135313" cy="130025"/>
          </a:xfrm>
          <a:prstGeom prst="line">
            <a:avLst/>
          </a:prstGeom>
          <a:noFill/>
          <a:ln w="28575" algn="ctr">
            <a:solidFill>
              <a:srgbClr val="540000"/>
            </a:solidFill>
            <a:round/>
            <a:headEnd/>
            <a:tailEnd/>
          </a:ln>
        </p:spPr>
      </p:cxnSp>
      <p:cxnSp>
        <p:nvCxnSpPr>
          <p:cNvPr id="2068" name="直接连接符 65"/>
          <p:cNvCxnSpPr>
            <a:cxnSpLocks noChangeShapeType="1"/>
          </p:cNvCxnSpPr>
          <p:nvPr/>
        </p:nvCxnSpPr>
        <p:spPr bwMode="auto">
          <a:xfrm>
            <a:off x="7957762" y="4138614"/>
            <a:ext cx="135313" cy="141287"/>
          </a:xfrm>
          <a:prstGeom prst="line">
            <a:avLst/>
          </a:prstGeom>
          <a:noFill/>
          <a:ln w="28575" algn="ctr">
            <a:solidFill>
              <a:srgbClr val="540000"/>
            </a:solidFill>
            <a:round/>
            <a:headEnd/>
            <a:tailEnd/>
          </a:ln>
        </p:spPr>
      </p:cxnSp>
      <p:cxnSp>
        <p:nvCxnSpPr>
          <p:cNvPr id="2069" name="直接连接符 66"/>
          <p:cNvCxnSpPr>
            <a:cxnSpLocks noChangeShapeType="1"/>
          </p:cNvCxnSpPr>
          <p:nvPr/>
        </p:nvCxnSpPr>
        <p:spPr bwMode="auto">
          <a:xfrm flipV="1">
            <a:off x="7953375" y="4146249"/>
            <a:ext cx="135313" cy="130024"/>
          </a:xfrm>
          <a:prstGeom prst="line">
            <a:avLst/>
          </a:prstGeom>
          <a:noFill/>
          <a:ln w="28575" algn="ctr">
            <a:solidFill>
              <a:srgbClr val="540000"/>
            </a:solidFill>
            <a:round/>
            <a:headEnd/>
            <a:tailEnd/>
          </a:ln>
        </p:spPr>
      </p:cxnSp>
      <p:cxnSp>
        <p:nvCxnSpPr>
          <p:cNvPr id="2066" name="直接连接符 100"/>
          <p:cNvCxnSpPr>
            <a:cxnSpLocks noChangeShapeType="1"/>
          </p:cNvCxnSpPr>
          <p:nvPr/>
        </p:nvCxnSpPr>
        <p:spPr bwMode="auto">
          <a:xfrm>
            <a:off x="7960937" y="4283075"/>
            <a:ext cx="135313" cy="141288"/>
          </a:xfrm>
          <a:prstGeom prst="line">
            <a:avLst/>
          </a:prstGeom>
          <a:noFill/>
          <a:ln w="28575" algn="ctr">
            <a:solidFill>
              <a:srgbClr val="540000"/>
            </a:solidFill>
            <a:round/>
            <a:headEnd/>
            <a:tailEnd/>
          </a:ln>
        </p:spPr>
      </p:cxnSp>
      <p:cxnSp>
        <p:nvCxnSpPr>
          <p:cNvPr id="2067" name="直接连接符 101"/>
          <p:cNvCxnSpPr>
            <a:cxnSpLocks noChangeShapeType="1"/>
          </p:cNvCxnSpPr>
          <p:nvPr/>
        </p:nvCxnSpPr>
        <p:spPr bwMode="auto">
          <a:xfrm flipV="1">
            <a:off x="7956550" y="4290710"/>
            <a:ext cx="135313" cy="130025"/>
          </a:xfrm>
          <a:prstGeom prst="line">
            <a:avLst/>
          </a:prstGeom>
          <a:noFill/>
          <a:ln w="28575" algn="ctr">
            <a:solidFill>
              <a:srgbClr val="540000"/>
            </a:solidFill>
            <a:round/>
            <a:headEnd/>
            <a:tailEnd/>
          </a:ln>
        </p:spPr>
      </p:cxnSp>
      <p:sp>
        <p:nvSpPr>
          <p:cNvPr id="2064" name="文本框 102"/>
          <p:cNvSpPr txBox="1">
            <a:spLocks noChangeArrowheads="1"/>
          </p:cNvSpPr>
          <p:nvPr/>
        </p:nvSpPr>
        <p:spPr bwMode="auto">
          <a:xfrm rot="1032180">
            <a:off x="4016375" y="3381021"/>
            <a:ext cx="831850" cy="208670"/>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700" dirty="0">
                <a:solidFill>
                  <a:srgbClr val="000000"/>
                </a:solidFill>
                <a:latin typeface="+mn-lt"/>
                <a:ea typeface="+mn-ea"/>
                <a:cs typeface="Arial" charset="0"/>
                <a:sym typeface="FrutigerNext LT Regular" pitchFamily="34" charset="0"/>
              </a:rPr>
              <a:t>G0/0/1</a:t>
            </a:r>
          </a:p>
        </p:txBody>
      </p:sp>
      <p:sp>
        <p:nvSpPr>
          <p:cNvPr id="2065" name="文本框 103"/>
          <p:cNvSpPr txBox="1">
            <a:spLocks noChangeArrowheads="1"/>
          </p:cNvSpPr>
          <p:nvPr/>
        </p:nvSpPr>
        <p:spPr bwMode="auto">
          <a:xfrm rot="-686732">
            <a:off x="3952875" y="4464490"/>
            <a:ext cx="831850" cy="208670"/>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700" dirty="0">
                <a:solidFill>
                  <a:srgbClr val="000000"/>
                </a:solidFill>
                <a:latin typeface="+mn-lt"/>
                <a:ea typeface="+mn-ea"/>
                <a:cs typeface="Arial" charset="0"/>
                <a:sym typeface="FrutigerNext LT Regular" pitchFamily="34" charset="0"/>
              </a:rPr>
              <a:t>G0/0/1</a:t>
            </a:r>
          </a:p>
        </p:txBody>
      </p:sp>
      <p:pic>
        <p:nvPicPr>
          <p:cNvPr id="64" name="图片 63"/>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450741" y="3296130"/>
            <a:ext cx="540000" cy="442800"/>
          </a:xfrm>
          <a:prstGeom prst="rect">
            <a:avLst/>
          </a:prstGeom>
        </p:spPr>
      </p:pic>
      <p:pic>
        <p:nvPicPr>
          <p:cNvPr id="65" name="图片 64"/>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444064" y="4819595"/>
            <a:ext cx="540000" cy="442800"/>
          </a:xfrm>
          <a:prstGeom prst="rect">
            <a:avLst/>
          </a:prstGeom>
        </p:spPr>
      </p:pic>
      <p:pic>
        <p:nvPicPr>
          <p:cNvPr id="66"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4496953" y="3612918"/>
            <a:ext cx="628652" cy="514351"/>
          </a:xfrm>
          <a:prstGeom prst="rect">
            <a:avLst/>
          </a:prstGeom>
          <a:noFill/>
        </p:spPr>
      </p:pic>
      <p:pic>
        <p:nvPicPr>
          <p:cNvPr id="67"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4495841" y="4317930"/>
            <a:ext cx="628652" cy="514351"/>
          </a:xfrm>
          <a:prstGeom prst="rect">
            <a:avLst/>
          </a:prstGeom>
          <a:noFill/>
        </p:spPr>
      </p:pic>
      <p:pic>
        <p:nvPicPr>
          <p:cNvPr id="68"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5837551" y="3947935"/>
            <a:ext cx="628652" cy="514351"/>
          </a:xfrm>
          <a:prstGeom prst="rect">
            <a:avLst/>
          </a:prstGeom>
          <a:noFill/>
        </p:spPr>
      </p:pic>
      <p:pic>
        <p:nvPicPr>
          <p:cNvPr id="69"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7011078" y="3903983"/>
            <a:ext cx="628652" cy="514351"/>
          </a:xfrm>
          <a:prstGeom prst="rect">
            <a:avLst/>
          </a:prstGeom>
          <a:noFill/>
        </p:spPr>
      </p:pic>
      <p:pic>
        <p:nvPicPr>
          <p:cNvPr id="70" name="图片 6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268766" y="4677243"/>
            <a:ext cx="540000" cy="442800"/>
          </a:xfrm>
          <a:prstGeom prst="rect">
            <a:avLst/>
          </a:prstGeom>
        </p:spPr>
      </p:pic>
      <p:pic>
        <p:nvPicPr>
          <p:cNvPr id="71" name="图片 70" descr="研发部.png"/>
          <p:cNvPicPr>
            <a:picLocks noChangeAspect="1"/>
          </p:cNvPicPr>
          <p:nvPr/>
        </p:nvPicPr>
        <p:blipFill>
          <a:blip r:embed="rId6" cstate="print"/>
          <a:stretch>
            <a:fillRect/>
          </a:stretch>
        </p:blipFill>
        <p:spPr>
          <a:xfrm>
            <a:off x="8463714" y="4039056"/>
            <a:ext cx="540000" cy="441818"/>
          </a:xfrm>
          <a:prstGeom prst="rect">
            <a:avLst/>
          </a:prstGeom>
        </p:spPr>
      </p:pic>
      <p:pic>
        <p:nvPicPr>
          <p:cNvPr id="72" name="图片 71" descr="市场部.png"/>
          <p:cNvPicPr>
            <a:picLocks noChangeAspect="1"/>
          </p:cNvPicPr>
          <p:nvPr/>
        </p:nvPicPr>
        <p:blipFill>
          <a:blip r:embed="rId7" cstate="print"/>
          <a:stretch>
            <a:fillRect/>
          </a:stretch>
        </p:blipFill>
        <p:spPr>
          <a:xfrm>
            <a:off x="3216925" y="3228402"/>
            <a:ext cx="540000" cy="441818"/>
          </a:xfrm>
          <a:prstGeom prst="rect">
            <a:avLst/>
          </a:prstGeom>
        </p:spPr>
      </p:pic>
      <p:sp>
        <p:nvSpPr>
          <p:cNvPr id="2058" name="任意多边形 97"/>
          <p:cNvSpPr>
            <a:spLocks/>
          </p:cNvSpPr>
          <p:nvPr/>
        </p:nvSpPr>
        <p:spPr bwMode="auto">
          <a:xfrm>
            <a:off x="3679825" y="3330576"/>
            <a:ext cx="4775200" cy="790575"/>
          </a:xfrm>
          <a:custGeom>
            <a:avLst/>
            <a:gdLst>
              <a:gd name="T0" fmla="*/ 0 w 4775419"/>
              <a:gd name="T1" fmla="*/ 0 h 790366"/>
              <a:gd name="T2" fmla="*/ 1104623 w 4775419"/>
              <a:gd name="T3" fmla="*/ 349570 h 790366"/>
              <a:gd name="T4" fmla="*/ 2442419 w 4775419"/>
              <a:gd name="T5" fmla="*/ 740169 h 790366"/>
              <a:gd name="T6" fmla="*/ 3670035 w 4775419"/>
              <a:gd name="T7" fmla="*/ 746367 h 790366"/>
              <a:gd name="T8" fmla="*/ 4775200 w 4775419"/>
              <a:gd name="T9" fmla="*/ 48823 h 790366"/>
              <a:gd name="T10" fmla="*/ 0 60000 65536"/>
              <a:gd name="T11" fmla="*/ 0 60000 65536"/>
              <a:gd name="T12" fmla="*/ 0 60000 65536"/>
              <a:gd name="T13" fmla="*/ 0 60000 65536"/>
              <a:gd name="T14" fmla="*/ 0 60000 65536"/>
              <a:gd name="T15" fmla="*/ 0 w 4775419"/>
              <a:gd name="T16" fmla="*/ 0 h 790366"/>
              <a:gd name="T17" fmla="*/ 4775419 w 4775419"/>
              <a:gd name="T18" fmla="*/ 790366 h 790366"/>
            </a:gdLst>
            <a:ahLst/>
            <a:cxnLst>
              <a:cxn ang="T10">
                <a:pos x="T0" y="T1"/>
              </a:cxn>
              <a:cxn ang="T11">
                <a:pos x="T2" y="T3"/>
              </a:cxn>
              <a:cxn ang="T12">
                <a:pos x="T4" y="T5"/>
              </a:cxn>
              <a:cxn ang="T13">
                <a:pos x="T6" y="T7"/>
              </a:cxn>
              <a:cxn ang="T14">
                <a:pos x="T8" y="T9"/>
              </a:cxn>
            </a:cxnLst>
            <a:rect l="T15" t="T16" r="T17" b="T18"/>
            <a:pathLst>
              <a:path w="4775419" h="790366">
                <a:moveTo>
                  <a:pt x="0" y="0"/>
                </a:moveTo>
                <a:cubicBezTo>
                  <a:pt x="456867" y="164059"/>
                  <a:pt x="697584" y="226149"/>
                  <a:pt x="1104672" y="349478"/>
                </a:cubicBezTo>
                <a:cubicBezTo>
                  <a:pt x="1511760" y="472807"/>
                  <a:pt x="2014940" y="673858"/>
                  <a:pt x="2442528" y="739973"/>
                </a:cubicBezTo>
                <a:cubicBezTo>
                  <a:pt x="2870116" y="806088"/>
                  <a:pt x="3209316" y="806098"/>
                  <a:pt x="3670201" y="746170"/>
                </a:cubicBezTo>
                <a:cubicBezTo>
                  <a:pt x="4452426" y="277697"/>
                  <a:pt x="4444858" y="304317"/>
                  <a:pt x="4775419" y="48810"/>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sz="900" dirty="0">
              <a:latin typeface="+mn-lt"/>
              <a:ea typeface="+mn-ea"/>
            </a:endParaRPr>
          </a:p>
        </p:txBody>
      </p:sp>
      <p:sp>
        <p:nvSpPr>
          <p:cNvPr id="2059" name="任意多边形 98"/>
          <p:cNvSpPr>
            <a:spLocks/>
          </p:cNvSpPr>
          <p:nvPr/>
        </p:nvSpPr>
        <p:spPr bwMode="auto">
          <a:xfrm>
            <a:off x="3565526" y="3465514"/>
            <a:ext cx="5184775" cy="771525"/>
          </a:xfrm>
          <a:custGeom>
            <a:avLst/>
            <a:gdLst>
              <a:gd name="T0" fmla="*/ 0 w 5183720"/>
              <a:gd name="T1" fmla="*/ 0 h 771977"/>
              <a:gd name="T2" fmla="*/ 1213405 w 5183720"/>
              <a:gd name="T3" fmla="*/ 374534 h 771977"/>
              <a:gd name="T4" fmla="*/ 2504038 w 5183720"/>
              <a:gd name="T5" fmla="*/ 710993 h 771977"/>
              <a:gd name="T6" fmla="*/ 3843630 w 5183720"/>
              <a:gd name="T7" fmla="*/ 762236 h 771977"/>
              <a:gd name="T8" fmla="*/ 5184775 w 5183720"/>
              <a:gd name="T9" fmla="*/ 739738 h 771977"/>
              <a:gd name="T10" fmla="*/ 0 60000 65536"/>
              <a:gd name="T11" fmla="*/ 0 60000 65536"/>
              <a:gd name="T12" fmla="*/ 0 60000 65536"/>
              <a:gd name="T13" fmla="*/ 0 60000 65536"/>
              <a:gd name="T14" fmla="*/ 0 60000 65536"/>
              <a:gd name="T15" fmla="*/ 0 w 5183720"/>
              <a:gd name="T16" fmla="*/ 0 h 771977"/>
              <a:gd name="T17" fmla="*/ 5183720 w 5183720"/>
              <a:gd name="T18" fmla="*/ 771977 h 771977"/>
            </a:gdLst>
            <a:ahLst/>
            <a:cxnLst>
              <a:cxn ang="T10">
                <a:pos x="T0" y="T1"/>
              </a:cxn>
              <a:cxn ang="T11">
                <a:pos x="T2" y="T3"/>
              </a:cxn>
              <a:cxn ang="T12">
                <a:pos x="T4" y="T5"/>
              </a:cxn>
              <a:cxn ang="T13">
                <a:pos x="T6" y="T7"/>
              </a:cxn>
              <a:cxn ang="T14">
                <a:pos x="T8" y="T9"/>
              </a:cxn>
            </a:cxnLst>
            <a:rect l="T15" t="T16" r="T17" b="T18"/>
            <a:pathLst>
              <a:path w="5183720" h="771977">
                <a:moveTo>
                  <a:pt x="0" y="0"/>
                </a:moveTo>
                <a:cubicBezTo>
                  <a:pt x="456866" y="148561"/>
                  <a:pt x="795903" y="256185"/>
                  <a:pt x="1213158" y="374753"/>
                </a:cubicBezTo>
                <a:cubicBezTo>
                  <a:pt x="1630413" y="493321"/>
                  <a:pt x="2065247" y="646755"/>
                  <a:pt x="2503529" y="711410"/>
                </a:cubicBezTo>
                <a:cubicBezTo>
                  <a:pt x="2941811" y="776065"/>
                  <a:pt x="3265778" y="781105"/>
                  <a:pt x="3842848" y="762683"/>
                </a:cubicBezTo>
                <a:lnTo>
                  <a:pt x="5183720" y="740171"/>
                </a:lnTo>
              </a:path>
            </a:pathLst>
          </a:custGeom>
          <a:noFill/>
          <a:ln w="28575" cap="flat" cmpd="sng" algn="ctr">
            <a:solidFill>
              <a:srgbClr val="C00000"/>
            </a:solidFill>
            <a:prstDash val="dash"/>
            <a:round/>
            <a:headEnd type="none" w="med" len="med"/>
            <a:tailEnd type="stealth" w="lg" len="lg"/>
          </a:ln>
        </p:spPr>
        <p:txBody>
          <a:bodyPr/>
          <a:lstStyle/>
          <a:p>
            <a:endParaRPr lang="en-US" altLang="zh-CN" sz="900" dirty="0">
              <a:latin typeface="+mn-lt"/>
              <a:ea typeface="+mn-ea"/>
            </a:endParaRPr>
          </a:p>
        </p:txBody>
      </p:sp>
      <p:sp>
        <p:nvSpPr>
          <p:cNvPr id="2060" name="任意多边形 99"/>
          <p:cNvSpPr>
            <a:spLocks/>
          </p:cNvSpPr>
          <p:nvPr/>
        </p:nvSpPr>
        <p:spPr bwMode="auto">
          <a:xfrm>
            <a:off x="3756025" y="4292600"/>
            <a:ext cx="4999038" cy="495300"/>
          </a:xfrm>
          <a:custGeom>
            <a:avLst/>
            <a:gdLst>
              <a:gd name="T0" fmla="*/ 0 w 5010788"/>
              <a:gd name="T1" fmla="*/ 420216 h 582574"/>
              <a:gd name="T2" fmla="*/ 1029548 w 5010788"/>
              <a:gd name="T3" fmla="*/ 212458 h 582574"/>
              <a:gd name="T4" fmla="*/ 2283950 w 5010788"/>
              <a:gd name="T5" fmla="*/ 315 h 582574"/>
              <a:gd name="T6" fmla="*/ 3640804 w 5010788"/>
              <a:gd name="T7" fmla="*/ 33490 h 582574"/>
              <a:gd name="T8" fmla="*/ 4988375 w 5010788"/>
              <a:gd name="T9" fmla="*/ 18408 h 582574"/>
              <a:gd name="T10" fmla="*/ 0 60000 65536"/>
              <a:gd name="T11" fmla="*/ 0 60000 65536"/>
              <a:gd name="T12" fmla="*/ 0 60000 65536"/>
              <a:gd name="T13" fmla="*/ 0 60000 65536"/>
              <a:gd name="T14" fmla="*/ 0 60000 65536"/>
              <a:gd name="T15" fmla="*/ 0 w 5010788"/>
              <a:gd name="T16" fmla="*/ 0 h 582574"/>
              <a:gd name="T17" fmla="*/ 5010788 w 5010788"/>
              <a:gd name="T18" fmla="*/ 582574 h 582574"/>
            </a:gdLst>
            <a:ahLst/>
            <a:cxnLst>
              <a:cxn ang="T10">
                <a:pos x="T0" y="T1"/>
              </a:cxn>
              <a:cxn ang="T11">
                <a:pos x="T2" y="T3"/>
              </a:cxn>
              <a:cxn ang="T12">
                <a:pos x="T4" y="T5"/>
              </a:cxn>
              <a:cxn ang="T13">
                <a:pos x="T6" y="T7"/>
              </a:cxn>
              <a:cxn ang="T14">
                <a:pos x="T8" y="T9"/>
              </a:cxn>
            </a:cxnLst>
            <a:rect l="T15" t="T16" r="T17" b="T18"/>
            <a:pathLst>
              <a:path w="5010788" h="582574">
                <a:moveTo>
                  <a:pt x="0" y="582574"/>
                </a:moveTo>
                <a:cubicBezTo>
                  <a:pt x="344725" y="486564"/>
                  <a:pt x="651805" y="391568"/>
                  <a:pt x="1034174" y="294545"/>
                </a:cubicBezTo>
                <a:cubicBezTo>
                  <a:pt x="1416543" y="197522"/>
                  <a:pt x="1857047" y="5460"/>
                  <a:pt x="2294212" y="437"/>
                </a:cubicBezTo>
                <a:cubicBezTo>
                  <a:pt x="2731377" y="-4586"/>
                  <a:pt x="3209711" y="35135"/>
                  <a:pt x="3657165" y="46429"/>
                </a:cubicBezTo>
                <a:lnTo>
                  <a:pt x="5010788" y="25520"/>
                </a:lnTo>
              </a:path>
            </a:pathLst>
          </a:custGeom>
          <a:noFill/>
          <a:ln w="28575" cap="flat" cmpd="sng" algn="ctr">
            <a:solidFill>
              <a:srgbClr val="C00000"/>
            </a:solidFill>
            <a:prstDash val="dash"/>
            <a:round/>
            <a:headEnd type="none" w="med" len="med"/>
            <a:tailEnd type="stealth" w="lg" len="lg"/>
          </a:ln>
        </p:spPr>
        <p:txBody>
          <a:bodyPr/>
          <a:lstStyle/>
          <a:p>
            <a:endParaRPr lang="en-US" altLang="zh-CN" sz="900" dirty="0">
              <a:latin typeface="+mn-lt"/>
              <a:ea typeface="+mn-ea"/>
            </a:endParaRPr>
          </a:p>
        </p:txBody>
      </p:sp>
      <p:graphicFrame>
        <p:nvGraphicFramePr>
          <p:cNvPr id="56" name="对象 55"/>
          <p:cNvGraphicFramePr>
            <a:graphicFrameLocks noChangeAspect="1"/>
          </p:cNvGraphicFramePr>
          <p:nvPr>
            <p:extLst>
              <p:ext uri="{D42A27DB-BD31-4B8C-83A1-F6EECF244321}">
                <p14:modId xmlns:p14="http://schemas.microsoft.com/office/powerpoint/2010/main" val="526167275"/>
              </p:ext>
            </p:extLst>
          </p:nvPr>
        </p:nvGraphicFramePr>
        <p:xfrm>
          <a:off x="9800614" y="5641444"/>
          <a:ext cx="1087715" cy="828675"/>
        </p:xfrm>
        <a:graphic>
          <a:graphicData uri="http://schemas.openxmlformats.org/presentationml/2006/ole">
            <mc:AlternateContent xmlns:mc="http://schemas.openxmlformats.org/markup-compatibility/2006">
              <mc:Choice xmlns:v="urn:schemas-microsoft-com:vml" Requires="v">
                <p:oleObj spid="_x0000_s2062" name="包装程序外壳对象" showAsIcon="1" r:id="rId8" imgW="914400" imgH="828720" progId="Package">
                  <p:embed/>
                </p:oleObj>
              </mc:Choice>
              <mc:Fallback>
                <p:oleObj name="包装程序外壳对象" showAsIcon="1" r:id="rId8" imgW="914400" imgH="828720" progId="Package">
                  <p:embed/>
                  <p:pic>
                    <p:nvPicPr>
                      <p:cNvPr id="0" name=""/>
                      <p:cNvPicPr/>
                      <p:nvPr/>
                    </p:nvPicPr>
                    <p:blipFill>
                      <a:blip r:embed="rId9"/>
                      <a:stretch>
                        <a:fillRect/>
                      </a:stretch>
                    </p:blipFill>
                    <p:spPr>
                      <a:xfrm>
                        <a:off x="9800614" y="5641444"/>
                        <a:ext cx="1087715" cy="828675"/>
                      </a:xfrm>
                      <a:prstGeom prst="rect">
                        <a:avLst/>
                      </a:prstGeom>
                    </p:spPr>
                  </p:pic>
                </p:oleObj>
              </mc:Fallback>
            </mc:AlternateContent>
          </a:graphicData>
        </a:graphic>
      </p:graphicFrame>
    </p:spTree>
    <p:extLst>
      <p:ext uri="{BB962C8B-B14F-4D97-AF65-F5344CB8AC3E}">
        <p14:creationId xmlns:p14="http://schemas.microsoft.com/office/powerpoint/2010/main" val="431965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latin typeface="+mn-lt"/>
              </a:rPr>
              <a:t>Solution 2: </a:t>
            </a:r>
            <a:r>
              <a:rPr lang="en-US" altLang="zh-CN" dirty="0"/>
              <a:t>Traffic Filter </a:t>
            </a:r>
            <a:r>
              <a:rPr lang="en-US" altLang="zh-CN" dirty="0" smtClean="0">
                <a:latin typeface="+mn-lt"/>
              </a:rPr>
              <a:t>(</a:t>
            </a:r>
            <a:r>
              <a:rPr lang="en-US" altLang="zh-CN" dirty="0" smtClean="0">
                <a:latin typeface="+mn-lt"/>
              </a:rPr>
              <a:t>2)</a:t>
            </a:r>
            <a:endParaRPr lang="zh-CN" altLang="en-US" dirty="0">
              <a:latin typeface="+mn-lt"/>
            </a:endParaRPr>
          </a:p>
        </p:txBody>
      </p:sp>
      <p:sp>
        <p:nvSpPr>
          <p:cNvPr id="40964" name="矩形 5"/>
          <p:cNvSpPr>
            <a:spLocks noChangeArrowheads="1"/>
          </p:cNvSpPr>
          <p:nvPr/>
        </p:nvSpPr>
        <p:spPr bwMode="auto">
          <a:xfrm>
            <a:off x="2214386" y="4004780"/>
            <a:ext cx="7884876" cy="2124521"/>
          </a:xfrm>
          <a:prstGeom prst="rect">
            <a:avLst/>
          </a:prstGeom>
          <a:noFill/>
          <a:ln w="9525" algn="ctr">
            <a:solidFill>
              <a:schemeClr val="tx1"/>
            </a:solidFill>
            <a:prstDash val="dash"/>
            <a:round/>
            <a:headEnd/>
            <a:tailEnd/>
          </a:ln>
        </p:spPr>
        <p:txBody>
          <a:bodyPr/>
          <a:lstStyle/>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PC-Marketing department&gt;ping 10.1.1.1</a:t>
            </a:r>
          </a:p>
          <a:p>
            <a:pPr eaLnBrk="0" fontAlgn="t" hangingPunct="0">
              <a:buSzPct val="100000"/>
            </a:pPr>
            <a:endParaRPr lang="en-US" altLang="zh-CN" sz="1100" b="1" dirty="0">
              <a:solidFill>
                <a:srgbClr val="000000"/>
              </a:solidFill>
              <a:latin typeface="+mn-lt"/>
              <a:ea typeface="+mn-ea"/>
              <a:cs typeface="Courier New" panose="02070309020205020404" pitchFamily="49" charset="0"/>
              <a:sym typeface="FrutigerNext LT Regular" pitchFamily="34" charset="0"/>
            </a:endParaRP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Ping 10.1.1.1: 32 data bytes, Press Ctrl_C to break</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Request timeout!</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Request timeout!</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Request timeout!</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Request timeout!</a:t>
            </a:r>
          </a:p>
          <a:p>
            <a:pPr eaLnBrk="0" fontAlgn="t" hangingPunct="0">
              <a:buSzPct val="100000"/>
            </a:pPr>
            <a:endParaRPr lang="en-US" altLang="zh-CN" sz="1100" b="1" dirty="0">
              <a:solidFill>
                <a:srgbClr val="000000"/>
              </a:solidFill>
              <a:latin typeface="+mn-lt"/>
              <a:ea typeface="+mn-ea"/>
              <a:cs typeface="Courier New" panose="02070309020205020404" pitchFamily="49" charset="0"/>
              <a:sym typeface="FrutigerNext LT Regular" pitchFamily="34" charset="0"/>
            </a:endParaRP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--- 10.1.1.1 ping statistics ---	</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4 packet(s) transmitted</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0 packet(s) received</a:t>
            </a:r>
          </a:p>
          <a:p>
            <a:pPr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100.00% packet loss</a:t>
            </a:r>
          </a:p>
        </p:txBody>
      </p:sp>
      <p:sp>
        <p:nvSpPr>
          <p:cNvPr id="7" name="矩形 6"/>
          <p:cNvSpPr/>
          <p:nvPr/>
        </p:nvSpPr>
        <p:spPr bwMode="auto">
          <a:xfrm>
            <a:off x="2214386" y="1327720"/>
            <a:ext cx="7884876" cy="246132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200" b="1" dirty="0">
                <a:latin typeface="Courier New" panose="02070309020205020404" pitchFamily="49" charset="0"/>
                <a:cs typeface="Courier New" panose="02070309020205020404" pitchFamily="49" charset="0"/>
              </a:rPr>
              <a:t>[RTC]dis </a:t>
            </a:r>
            <a:r>
              <a:rPr lang="en-US" altLang="zh-CN" sz="1200" b="1" dirty="0" err="1">
                <a:latin typeface="Courier New" panose="02070309020205020404" pitchFamily="49" charset="0"/>
                <a:cs typeface="Courier New" panose="02070309020205020404" pitchFamily="49" charset="0"/>
              </a:rPr>
              <a:t>ip</a:t>
            </a:r>
            <a:r>
              <a:rPr lang="en-US" altLang="zh-CN" sz="1200" b="1" dirty="0">
                <a:latin typeface="Courier New" panose="02070309020205020404" pitchFamily="49" charset="0"/>
                <a:cs typeface="Courier New" panose="02070309020205020404" pitchFamily="49" charset="0"/>
              </a:rPr>
              <a:t> routing-table </a:t>
            </a:r>
            <a:endParaRPr lang="zh-CN" altLang="en-US" sz="1200" b="1" dirty="0">
              <a:latin typeface="Courier New" panose="02070309020205020404" pitchFamily="49" charset="0"/>
              <a:cs typeface="Courier New" panose="02070309020205020404" pitchFamily="49" charset="0"/>
            </a:endParaRPr>
          </a:p>
          <a:p>
            <a:r>
              <a:rPr lang="en-US" altLang="zh-CN" sz="1200" b="1" dirty="0">
                <a:latin typeface="Courier New" panose="02070309020205020404" pitchFamily="49" charset="0"/>
                <a:cs typeface="Courier New" panose="02070309020205020404" pitchFamily="49" charset="0"/>
              </a:rPr>
              <a:t>Route Flags: R - relay, D - download to fib</a:t>
            </a:r>
            <a:endParaRPr lang="zh-CN" altLang="en-US" sz="1200" b="1" dirty="0">
              <a:latin typeface="Courier New" panose="02070309020205020404" pitchFamily="49" charset="0"/>
              <a:cs typeface="Courier New" panose="02070309020205020404" pitchFamily="49" charset="0"/>
            </a:endParaRPr>
          </a:p>
          <a:p>
            <a:r>
              <a:rPr lang="en-US" altLang="zh-CN" sz="1200" b="1" dirty="0">
                <a:latin typeface="Courier New" panose="02070309020205020404" pitchFamily="49" charset="0"/>
                <a:cs typeface="Courier New" panose="02070309020205020404" pitchFamily="49" charset="0"/>
              </a:rPr>
              <a:t>------------------------------------------------------------------------------</a:t>
            </a:r>
            <a:endParaRPr lang="zh-CN" altLang="en-US" sz="1200" b="1" dirty="0">
              <a:latin typeface="Courier New" panose="02070309020205020404" pitchFamily="49" charset="0"/>
              <a:cs typeface="Courier New" panose="02070309020205020404" pitchFamily="49" charset="0"/>
            </a:endParaRPr>
          </a:p>
          <a:p>
            <a:r>
              <a:rPr lang="en-US" altLang="zh-CN" sz="1200" b="1" dirty="0">
                <a:latin typeface="Courier New" panose="02070309020205020404" pitchFamily="49" charset="0"/>
                <a:cs typeface="Courier New" panose="02070309020205020404" pitchFamily="49" charset="0"/>
              </a:rPr>
              <a:t>Routing Tables: Public</a:t>
            </a:r>
            <a:endParaRPr lang="zh-CN" altLang="en-US" sz="1200" b="1" dirty="0">
              <a:latin typeface="Courier New" panose="02070309020205020404" pitchFamily="49" charset="0"/>
              <a:cs typeface="Courier New" panose="02070309020205020404" pitchFamily="49" charset="0"/>
            </a:endParaRPr>
          </a:p>
          <a:p>
            <a:r>
              <a:rPr lang="zh-CN" altLang="en-US" sz="1200" b="1" dirty="0">
                <a:latin typeface="Courier New" panose="02070309020205020404" pitchFamily="49" charset="0"/>
                <a:cs typeface="Courier New" panose="02070309020205020404" pitchFamily="49" charset="0"/>
              </a:rPr>
              <a:t>         </a:t>
            </a:r>
            <a:r>
              <a:rPr lang="en-US" altLang="zh-CN" sz="1200" b="1" dirty="0">
                <a:latin typeface="Courier New" panose="02070309020205020404" pitchFamily="49" charset="0"/>
                <a:cs typeface="Courier New" panose="02070309020205020404" pitchFamily="49" charset="0"/>
              </a:rPr>
              <a:t>Destinations : 16       Routes : 16       </a:t>
            </a:r>
            <a:endParaRPr lang="zh-CN" altLang="en-US" sz="1200" b="1" dirty="0">
              <a:latin typeface="Courier New" panose="02070309020205020404" pitchFamily="49" charset="0"/>
              <a:cs typeface="Courier New" panose="02070309020205020404" pitchFamily="49" charset="0"/>
            </a:endParaRPr>
          </a:p>
          <a:p>
            <a:endParaRPr lang="zh-CN" altLang="en-US" sz="1200" b="1" dirty="0">
              <a:latin typeface="Courier New" panose="02070309020205020404" pitchFamily="49" charset="0"/>
              <a:cs typeface="Courier New" panose="02070309020205020404" pitchFamily="49" charset="0"/>
            </a:endParaRPr>
          </a:p>
          <a:p>
            <a:r>
              <a:rPr lang="en-US" altLang="zh-CN" sz="1200" b="1" dirty="0">
                <a:latin typeface="Courier New" panose="02070309020205020404" pitchFamily="49" charset="0"/>
                <a:cs typeface="Courier New" panose="02070309020205020404" pitchFamily="49" charset="0"/>
              </a:rPr>
              <a:t>Destination/Mask    Proto   Pre  Cost   Flags  </a:t>
            </a:r>
            <a:r>
              <a:rPr lang="en-US" altLang="zh-CN" sz="1200" b="1" dirty="0" err="1">
                <a:latin typeface="Courier New" panose="02070309020205020404" pitchFamily="49" charset="0"/>
                <a:cs typeface="Courier New" panose="02070309020205020404" pitchFamily="49" charset="0"/>
              </a:rPr>
              <a:t>NextHop</a:t>
            </a:r>
            <a:r>
              <a:rPr lang="en-US" altLang="zh-CN" sz="1200" b="1" dirty="0">
                <a:latin typeface="Courier New" panose="02070309020205020404" pitchFamily="49" charset="0"/>
                <a:cs typeface="Courier New" panose="02070309020205020404" pitchFamily="49" charset="0"/>
              </a:rPr>
              <a:t>       Interface</a:t>
            </a:r>
            <a:endParaRPr lang="zh-CN" altLang="en-US" sz="1200" b="1" dirty="0">
              <a:latin typeface="Courier New" panose="02070309020205020404" pitchFamily="49" charset="0"/>
              <a:cs typeface="Courier New" panose="02070309020205020404" pitchFamily="49" charset="0"/>
            </a:endParaRPr>
          </a:p>
          <a:p>
            <a:endParaRPr lang="zh-CN" altLang="en-US" sz="1200" b="1" dirty="0">
              <a:latin typeface="Courier New" panose="02070309020205020404" pitchFamily="49" charset="0"/>
              <a:cs typeface="Courier New" panose="02070309020205020404" pitchFamily="49" charset="0"/>
            </a:endParaRPr>
          </a:p>
          <a:p>
            <a:r>
              <a:rPr lang="zh-CN" altLang="en-US" sz="1200" b="1" dirty="0">
                <a:solidFill>
                  <a:srgbClr val="C00000"/>
                </a:solidFill>
                <a:latin typeface="Courier New" panose="02070309020205020404" pitchFamily="49" charset="0"/>
                <a:cs typeface="Courier New" panose="02070309020205020404" pitchFamily="49" charset="0"/>
              </a:rPr>
              <a:t>   </a:t>
            </a:r>
            <a:r>
              <a:rPr lang="pt-BR" altLang="zh-CN" sz="1200" b="1" dirty="0">
                <a:solidFill>
                  <a:srgbClr val="C00000"/>
                </a:solidFill>
                <a:latin typeface="Courier New" panose="02070309020205020404" pitchFamily="49" charset="0"/>
                <a:cs typeface="Courier New" panose="02070309020205020404" pitchFamily="49" charset="0"/>
              </a:rPr>
              <a:t>10.1.1.0/24      </a:t>
            </a:r>
            <a:r>
              <a:rPr lang="pt-BR" altLang="zh-CN" sz="1200" b="1" dirty="0">
                <a:latin typeface="Courier New" panose="02070309020205020404" pitchFamily="49" charset="0"/>
                <a:cs typeface="Courier New" panose="02070309020205020404" pitchFamily="49" charset="0"/>
              </a:rPr>
              <a:t>O_ASE   150   1      D    12.1.2.1       GigabitEthernet </a:t>
            </a:r>
            <a:r>
              <a:rPr lang="en-US" altLang="zh-CN" sz="1200" b="1" dirty="0">
                <a:latin typeface="Courier New" panose="02070309020205020404" pitchFamily="49" charset="0"/>
                <a:cs typeface="Courier New" panose="02070309020205020404" pitchFamily="49" charset="0"/>
              </a:rPr>
              <a:t>0/0/0</a:t>
            </a:r>
            <a:endParaRPr lang="zh-CN" altLang="en-US" sz="1200" b="1" dirty="0">
              <a:latin typeface="Courier New" panose="02070309020205020404" pitchFamily="49" charset="0"/>
              <a:cs typeface="Courier New" panose="02070309020205020404" pitchFamily="49" charset="0"/>
            </a:endParaRPr>
          </a:p>
          <a:p>
            <a:r>
              <a:rPr lang="zh-CN" altLang="en-US" sz="1200" b="1" dirty="0">
                <a:solidFill>
                  <a:srgbClr val="C00000"/>
                </a:solidFill>
                <a:latin typeface="Courier New" panose="02070309020205020404" pitchFamily="49" charset="0"/>
                <a:cs typeface="Courier New" panose="02070309020205020404" pitchFamily="49" charset="0"/>
              </a:rPr>
              <a:t>   </a:t>
            </a:r>
            <a:r>
              <a:rPr lang="pt-BR" altLang="zh-CN" sz="1200" b="1" dirty="0">
                <a:solidFill>
                  <a:srgbClr val="C00000"/>
                </a:solidFill>
                <a:latin typeface="Courier New" panose="02070309020205020404" pitchFamily="49" charset="0"/>
                <a:cs typeface="Courier New" panose="02070309020205020404" pitchFamily="49" charset="0"/>
              </a:rPr>
              <a:t>10.1.2.0/24      </a:t>
            </a:r>
            <a:r>
              <a:rPr lang="pt-BR" altLang="zh-CN" sz="1200" b="1" dirty="0">
                <a:latin typeface="Courier New" panose="02070309020205020404" pitchFamily="49" charset="0"/>
                <a:cs typeface="Courier New" panose="02070309020205020404" pitchFamily="49" charset="0"/>
              </a:rPr>
              <a:t>O_ASE   150   1      D    12.1.2.1       GigabitEthernet </a:t>
            </a:r>
            <a:r>
              <a:rPr lang="en-US" altLang="zh-CN" sz="1200" b="1" dirty="0">
                <a:latin typeface="Courier New" panose="02070309020205020404" pitchFamily="49" charset="0"/>
                <a:cs typeface="Courier New" panose="02070309020205020404" pitchFamily="49" charset="0"/>
              </a:rPr>
              <a:t>0/0/0</a:t>
            </a:r>
            <a:endParaRPr lang="zh-CN" altLang="en-US" sz="1200" b="1" dirty="0">
              <a:latin typeface="Courier New" panose="02070309020205020404" pitchFamily="49" charset="0"/>
              <a:cs typeface="Courier New" panose="02070309020205020404" pitchFamily="49" charset="0"/>
            </a:endParaRPr>
          </a:p>
          <a:p>
            <a:r>
              <a:rPr lang="zh-CN" altLang="en-US" sz="1200" b="1" dirty="0">
                <a:solidFill>
                  <a:srgbClr val="C00000"/>
                </a:solidFill>
                <a:latin typeface="Courier New" panose="02070309020205020404" pitchFamily="49" charset="0"/>
                <a:cs typeface="Courier New" panose="02070309020205020404" pitchFamily="49" charset="0"/>
              </a:rPr>
              <a:t>   </a:t>
            </a:r>
            <a:r>
              <a:rPr lang="pt-BR" altLang="zh-CN" sz="1200" b="1" dirty="0">
                <a:solidFill>
                  <a:srgbClr val="C00000"/>
                </a:solidFill>
                <a:latin typeface="Courier New" panose="02070309020205020404" pitchFamily="49" charset="0"/>
                <a:cs typeface="Courier New" panose="02070309020205020404" pitchFamily="49" charset="0"/>
              </a:rPr>
              <a:t>10.1.3.0/24 </a:t>
            </a:r>
            <a:r>
              <a:rPr lang="pt-BR" altLang="zh-CN" sz="1200" b="1" dirty="0">
                <a:latin typeface="Courier New" panose="02070309020205020404" pitchFamily="49" charset="0"/>
                <a:cs typeface="Courier New" panose="02070309020205020404" pitchFamily="49" charset="0"/>
              </a:rPr>
              <a:t>     O_ASE   150   1      D    12.1.2.1       GigabitEthernet 0</a:t>
            </a:r>
            <a:r>
              <a:rPr lang="en-US" altLang="zh-CN" sz="1200" b="1" dirty="0">
                <a:latin typeface="Courier New" panose="02070309020205020404" pitchFamily="49" charset="0"/>
                <a:cs typeface="Courier New" panose="02070309020205020404" pitchFamily="49" charset="0"/>
              </a:rPr>
              <a:t>/0/0</a:t>
            </a:r>
            <a:endParaRPr lang="zh-CN" altLang="en-US" sz="1200" b="1" dirty="0">
              <a:latin typeface="Courier New" panose="02070309020205020404" pitchFamily="49" charset="0"/>
              <a:cs typeface="Courier New" panose="02070309020205020404" pitchFamily="49" charset="0"/>
            </a:endParaRPr>
          </a:p>
          <a:p>
            <a:r>
              <a:rPr lang="zh-CN" altLang="en-US" sz="1200" b="1" dirty="0">
                <a:solidFill>
                  <a:srgbClr val="C00000"/>
                </a:solidFill>
                <a:latin typeface="Courier New" panose="02070309020205020404" pitchFamily="49" charset="0"/>
                <a:cs typeface="Courier New" panose="02070309020205020404" pitchFamily="49" charset="0"/>
              </a:rPr>
              <a:t>   </a:t>
            </a:r>
            <a:r>
              <a:rPr lang="en-US" altLang="zh-CN" sz="1200" b="1" dirty="0">
                <a:solidFill>
                  <a:srgbClr val="C00000"/>
                </a:solidFill>
                <a:latin typeface="Courier New" panose="02070309020205020404" pitchFamily="49" charset="0"/>
                <a:cs typeface="Courier New" panose="02070309020205020404" pitchFamily="49" charset="0"/>
              </a:rPr>
              <a:t>10.1.4.0/24      </a:t>
            </a:r>
            <a:r>
              <a:rPr lang="en-US" altLang="zh-CN" sz="1200" b="1" dirty="0">
                <a:latin typeface="Courier New" panose="02070309020205020404" pitchFamily="49" charset="0"/>
                <a:cs typeface="Courier New" panose="02070309020205020404" pitchFamily="49" charset="0"/>
              </a:rPr>
              <a:t>Direct  0     0      D    10.1.4.2       </a:t>
            </a:r>
            <a:r>
              <a:rPr lang="en-US" altLang="zh-CN" sz="1200" b="1" dirty="0" err="1">
                <a:latin typeface="Courier New" panose="02070309020205020404" pitchFamily="49" charset="0"/>
                <a:cs typeface="Courier New" panose="02070309020205020404" pitchFamily="49" charset="0"/>
              </a:rPr>
              <a:t>GigabitEthernet</a:t>
            </a:r>
            <a:r>
              <a:rPr lang="en-US" altLang="zh-CN" sz="1200" b="1" dirty="0">
                <a:latin typeface="Courier New" panose="02070309020205020404" pitchFamily="49" charset="0"/>
                <a:cs typeface="Courier New" panose="02070309020205020404" pitchFamily="49" charset="0"/>
              </a:rPr>
              <a:t> 0/0/1</a:t>
            </a:r>
            <a:endParaRPr lang="zh-CN" altLang="en-US" sz="1200" b="1" dirty="0">
              <a:latin typeface="Courier New" panose="02070309020205020404" pitchFamily="49" charset="0"/>
              <a:cs typeface="Courier New" panose="02070309020205020404" pitchFamily="49" charset="0"/>
            </a:endParaRPr>
          </a:p>
          <a:p>
            <a:r>
              <a:rPr lang="en-US" altLang="zh-CN" sz="1200" b="1" dirty="0">
                <a:solidFill>
                  <a:srgbClr val="C00000"/>
                </a:solidFill>
                <a:latin typeface="Courier New" panose="02070309020205020404" pitchFamily="49" charset="0"/>
                <a:cs typeface="Courier New" panose="02070309020205020404" pitchFamily="49" charset="0"/>
              </a:rPr>
              <a:t>   10.1.5.0/24      </a:t>
            </a:r>
            <a:r>
              <a:rPr lang="en-US" altLang="zh-CN" sz="1200" b="1" dirty="0">
                <a:latin typeface="Courier New" panose="02070309020205020404" pitchFamily="49" charset="0"/>
                <a:cs typeface="Courier New" panose="02070309020205020404" pitchFamily="49" charset="0"/>
              </a:rPr>
              <a:t>OSPF    10    3      D    12.1.2.1       </a:t>
            </a:r>
            <a:r>
              <a:rPr lang="en-US" altLang="zh-CN" sz="1200" b="1" dirty="0" err="1">
                <a:latin typeface="Courier New" panose="02070309020205020404" pitchFamily="49" charset="0"/>
                <a:cs typeface="Courier New" panose="02070309020205020404" pitchFamily="49" charset="0"/>
              </a:rPr>
              <a:t>GigabitEthernet</a:t>
            </a:r>
            <a:r>
              <a:rPr lang="en-US" altLang="zh-CN" sz="1200" b="1" dirty="0">
                <a:latin typeface="Courier New" panose="02070309020205020404" pitchFamily="49" charset="0"/>
                <a:cs typeface="Courier New" panose="02070309020205020404" pitchFamily="49" charset="0"/>
              </a:rPr>
              <a:t> 0/0/0</a:t>
            </a:r>
            <a:endParaRPr lang="zh-CN" altLang="en-US" sz="12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822702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文本占位符 3"/>
          <p:cNvSpPr>
            <a:spLocks noGrp="1"/>
          </p:cNvSpPr>
          <p:nvPr>
            <p:ph type="body" sz="quarter" idx="10"/>
          </p:nvPr>
        </p:nvSpPr>
        <p:spPr/>
        <p:txBody>
          <a:bodyPr/>
          <a:lstStyle/>
          <a:p>
            <a:r>
              <a:rPr lang="en-US" altLang="zh-CN" dirty="0" smtClean="0">
                <a:solidFill>
                  <a:schemeClr val="bg1">
                    <a:lumMod val="50000"/>
                  </a:schemeClr>
                </a:solidFill>
                <a:sym typeface="FrutigerNext LT Regular" pitchFamily="34" charset="0"/>
              </a:rPr>
              <a:t>Traffic Behavior Control Requirement</a:t>
            </a:r>
          </a:p>
          <a:p>
            <a:r>
              <a:rPr lang="en-US" altLang="zh-CN" dirty="0" smtClean="0">
                <a:solidFill>
                  <a:schemeClr val="bg1">
                    <a:lumMod val="50000"/>
                  </a:schemeClr>
                </a:solidFill>
                <a:sym typeface="FrutigerNext LT Regular" pitchFamily="34" charset="0"/>
              </a:rPr>
              <a:t>Control Reachability</a:t>
            </a:r>
          </a:p>
          <a:p>
            <a:r>
              <a:rPr lang="en-US" altLang="zh-CN" b="1" dirty="0" smtClean="0">
                <a:sym typeface="FrutigerNext LT Regular" pitchFamily="34" charset="0"/>
              </a:rPr>
              <a:t>Adjust Network Traffic Path</a:t>
            </a:r>
          </a:p>
          <a:p>
            <a:pPr lvl="1">
              <a:buSzPct val="60000"/>
              <a:buFont typeface="Wingdings" panose="05000000000000000000" pitchFamily="2" charset="2"/>
              <a:buChar char="n"/>
            </a:pPr>
            <a:r>
              <a:rPr lang="en-US" altLang="zh-CN" dirty="0" smtClean="0">
                <a:sym typeface="FrutigerNext LT Regular" pitchFamily="34" charset="0"/>
              </a:rPr>
              <a:t>Routing Policy</a:t>
            </a:r>
          </a:p>
          <a:p>
            <a:pPr lvl="1"/>
            <a:r>
              <a:rPr lang="en-US" altLang="zh-CN" dirty="0" smtClean="0">
                <a:solidFill>
                  <a:schemeClr val="bg1">
                    <a:lumMod val="50000"/>
                  </a:schemeClr>
                </a:solidFill>
                <a:sym typeface="FrutigerNext LT Regular" pitchFamily="34" charset="0"/>
              </a:rPr>
              <a:t>Policy-based Routing</a:t>
            </a:r>
          </a:p>
          <a:p>
            <a:r>
              <a:rPr lang="en-US" altLang="zh-CN" dirty="0" smtClean="0">
                <a:solidFill>
                  <a:schemeClr val="bg1">
                    <a:lumMod val="50000"/>
                  </a:schemeClr>
                </a:solidFill>
                <a:sym typeface="FrutigerNext LT Regular" pitchFamily="34" charset="0"/>
              </a:rPr>
              <a:t>Problems Caused by Route Importing and Solutions</a:t>
            </a:r>
          </a:p>
        </p:txBody>
      </p:sp>
    </p:spTree>
    <p:extLst>
      <p:ext uri="{BB962C8B-B14F-4D97-AF65-F5344CB8AC3E}">
        <p14:creationId xmlns:p14="http://schemas.microsoft.com/office/powerpoint/2010/main" val="25899913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smtClean="0">
                <a:sym typeface="FrutigerNext LT Regular" pitchFamily="34" charset="0"/>
              </a:rPr>
              <a:t>In network optimization stage, network traffic paths may need to be adjusted.</a:t>
            </a:r>
            <a:endParaRPr lang="en-US" altLang="zh-CN" dirty="0">
              <a:sym typeface="FrutigerNext LT Regular" pitchFamily="34" charset="0"/>
            </a:endParaRPr>
          </a:p>
        </p:txBody>
      </p:sp>
      <p:sp>
        <p:nvSpPr>
          <p:cNvPr id="5" name="文本占位符 4"/>
          <p:cNvSpPr>
            <a:spLocks noGrp="1"/>
          </p:cNvSpPr>
          <p:nvPr>
            <p:ph type="body" sz="quarter" idx="12"/>
          </p:nvPr>
        </p:nvSpPr>
        <p:spPr>
          <a:xfrm>
            <a:off x="1595500" y="410400"/>
            <a:ext cx="10297144" cy="639559"/>
          </a:xfrm>
        </p:spPr>
        <p:txBody>
          <a:bodyPr/>
          <a:lstStyle/>
          <a:p>
            <a:r>
              <a:rPr lang="en-US" altLang="zh-CN" dirty="0" smtClean="0"/>
              <a:t>Adjust Network Traffic Path - Single Protocol</a:t>
            </a:r>
            <a:endParaRPr lang="zh-CN" altLang="en-US" dirty="0"/>
          </a:p>
        </p:txBody>
      </p:sp>
      <p:sp>
        <p:nvSpPr>
          <p:cNvPr id="37" name="文本占位符 2"/>
          <p:cNvSpPr txBox="1">
            <a:spLocks/>
          </p:cNvSpPr>
          <p:nvPr/>
        </p:nvSpPr>
        <p:spPr bwMode="auto">
          <a:xfrm>
            <a:off x="2216150" y="4653137"/>
            <a:ext cx="7918450" cy="90011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zh-CN"/>
            </a:defPPr>
            <a:lvl1pPr marL="301625" indent="-301625" defTabSz="801688" eaLnBrk="1" hangingPunct="1">
              <a:lnSpc>
                <a:spcPct val="140000"/>
              </a:lnSpc>
              <a:spcBef>
                <a:spcPct val="30000"/>
              </a:spcBef>
              <a:buClr>
                <a:srgbClr val="808080"/>
              </a:buClr>
              <a:buSzPct val="60000"/>
              <a:buFont typeface="Wingdings" pitchFamily="2" charset="2"/>
              <a:buChar char="l"/>
              <a:defRPr sz="1800">
                <a:latin typeface="+mn-lt"/>
                <a:ea typeface="+mn-ea"/>
              </a:defRPr>
            </a:lvl1pPr>
            <a:lvl2pPr marL="654050" indent="-252413" defTabSz="801688" eaLnBrk="1" hangingPunct="1">
              <a:lnSpc>
                <a:spcPct val="140000"/>
              </a:lnSpc>
              <a:spcBef>
                <a:spcPct val="30000"/>
              </a:spcBef>
              <a:buClr>
                <a:schemeClr val="tx1"/>
              </a:buClr>
              <a:buSzPct val="50000"/>
              <a:buFont typeface="Wingdings" pitchFamily="2" charset="2"/>
              <a:buChar char="p"/>
              <a:defRPr sz="2000">
                <a:latin typeface="+mn-lt"/>
                <a:ea typeface="+mn-ea"/>
              </a:defRPr>
            </a:lvl2pPr>
            <a:lvl3pPr marL="1003300" indent="-201613" defTabSz="801688" eaLnBrk="1" hangingPunct="1">
              <a:lnSpc>
                <a:spcPct val="140000"/>
              </a:lnSpc>
              <a:spcBef>
                <a:spcPct val="30000"/>
              </a:spcBef>
              <a:buSzPct val="50000"/>
              <a:buFont typeface="Wingdings" pitchFamily="2" charset="2"/>
              <a:buChar char="n"/>
              <a:defRPr>
                <a:latin typeface="FrutigerNext LT Light" pitchFamily="34" charset="0"/>
                <a:ea typeface="+mn-ea"/>
              </a:defRPr>
            </a:lvl3pPr>
            <a:lvl4pPr marL="1400175" indent="-198438" defTabSz="801688" eaLnBrk="1" hangingPunct="1">
              <a:lnSpc>
                <a:spcPct val="140000"/>
              </a:lnSpc>
              <a:spcBef>
                <a:spcPct val="30000"/>
              </a:spcBef>
              <a:buChar char="–"/>
              <a:defRPr sz="1600">
                <a:latin typeface="+mj-lt"/>
                <a:ea typeface="+mn-ea"/>
              </a:defRPr>
            </a:lvl4pPr>
            <a:lvl5pPr marL="1801813" indent="-201613" defTabSz="801688" eaLnBrk="1" hangingPunct="1">
              <a:lnSpc>
                <a:spcPct val="140000"/>
              </a:lnSpc>
              <a:spcBef>
                <a:spcPct val="30000"/>
              </a:spcBef>
              <a:buFont typeface="FrutigerNext LT Medium" pitchFamily="34" charset="0"/>
              <a:buChar char="~"/>
              <a:defRPr sz="1600">
                <a:latin typeface="+mj-lt"/>
                <a:ea typeface="+mn-ea"/>
              </a:defRPr>
            </a:lvl5pPr>
            <a:lvl6pPr marL="2259013" indent="-201613" defTabSz="801688" fontAlgn="base">
              <a:lnSpc>
                <a:spcPct val="140000"/>
              </a:lnSpc>
              <a:spcBef>
                <a:spcPct val="30000"/>
              </a:spcBef>
              <a:spcAft>
                <a:spcPct val="0"/>
              </a:spcAft>
              <a:buFont typeface="FrutigerNext LT Medium" pitchFamily="34" charset="0"/>
              <a:buChar char="~"/>
              <a:defRPr sz="1600">
                <a:latin typeface="+mj-lt"/>
                <a:ea typeface="+mn-ea"/>
              </a:defRPr>
            </a:lvl6pPr>
            <a:lvl7pPr marL="2716213" indent="-201613" defTabSz="801688" fontAlgn="base">
              <a:lnSpc>
                <a:spcPct val="140000"/>
              </a:lnSpc>
              <a:spcBef>
                <a:spcPct val="30000"/>
              </a:spcBef>
              <a:spcAft>
                <a:spcPct val="0"/>
              </a:spcAft>
              <a:buFont typeface="FrutigerNext LT Medium" pitchFamily="34" charset="0"/>
              <a:buChar char="~"/>
              <a:defRPr sz="1600">
                <a:latin typeface="+mj-lt"/>
                <a:ea typeface="+mn-ea"/>
              </a:defRPr>
            </a:lvl7pPr>
            <a:lvl8pPr marL="3173413" indent="-201613" defTabSz="801688" fontAlgn="base">
              <a:lnSpc>
                <a:spcPct val="140000"/>
              </a:lnSpc>
              <a:spcBef>
                <a:spcPct val="30000"/>
              </a:spcBef>
              <a:spcAft>
                <a:spcPct val="0"/>
              </a:spcAft>
              <a:buFont typeface="FrutigerNext LT Medium" pitchFamily="34" charset="0"/>
              <a:buChar char="~"/>
              <a:defRPr sz="1600">
                <a:latin typeface="+mj-lt"/>
                <a:ea typeface="+mn-ea"/>
              </a:defRPr>
            </a:lvl8pPr>
            <a:lvl9pPr marL="3630613" indent="-201613" defTabSz="801688" fontAlgn="base">
              <a:lnSpc>
                <a:spcPct val="140000"/>
              </a:lnSpc>
              <a:spcBef>
                <a:spcPct val="30000"/>
              </a:spcBef>
              <a:spcAft>
                <a:spcPct val="0"/>
              </a:spcAft>
              <a:buFont typeface="FrutigerNext LT Medium" pitchFamily="34" charset="0"/>
              <a:buChar char="~"/>
              <a:defRPr sz="1600">
                <a:latin typeface="+mj-lt"/>
                <a:ea typeface="+mn-ea"/>
              </a:defRPr>
            </a:lvl9pPr>
          </a:lstStyle>
          <a:p>
            <a:r>
              <a:rPr lang="en-US" altLang="zh-CN" dirty="0">
                <a:sym typeface="FrutigerNext LT Regular" pitchFamily="34" charset="0"/>
              </a:rPr>
              <a:t>Solution 1: uses route policy to change the protocol attribute to control routing table entries and adjust traffic path.</a:t>
            </a:r>
          </a:p>
        </p:txBody>
      </p:sp>
      <p:sp>
        <p:nvSpPr>
          <p:cNvPr id="38" name="文本占位符 2"/>
          <p:cNvSpPr txBox="1">
            <a:spLocks/>
          </p:cNvSpPr>
          <p:nvPr/>
        </p:nvSpPr>
        <p:spPr bwMode="auto">
          <a:xfrm>
            <a:off x="2216151" y="5373216"/>
            <a:ext cx="7768282" cy="53816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defTabSz="801688" eaLnBrk="1" hangingPunct="1">
              <a:lnSpc>
                <a:spcPct val="140000"/>
              </a:lnSpc>
              <a:spcBef>
                <a:spcPct val="30000"/>
              </a:spcBef>
              <a:buClr>
                <a:srgbClr val="808080"/>
              </a:buClr>
              <a:buSzPct val="60000"/>
              <a:buFont typeface="Wingdings" pitchFamily="2" charset="2"/>
              <a:buChar char="l"/>
              <a:defRPr sz="1800">
                <a:latin typeface="+mn-lt"/>
                <a:ea typeface="+mn-ea"/>
              </a:defRPr>
            </a:lvl1pPr>
            <a:lvl2pPr marL="654050" indent="-252413" defTabSz="801688" eaLnBrk="1" hangingPunct="1">
              <a:lnSpc>
                <a:spcPct val="140000"/>
              </a:lnSpc>
              <a:spcBef>
                <a:spcPct val="30000"/>
              </a:spcBef>
              <a:buClr>
                <a:schemeClr val="tx1"/>
              </a:buClr>
              <a:buSzPct val="50000"/>
              <a:buFont typeface="Wingdings" pitchFamily="2" charset="2"/>
              <a:buChar char="p"/>
              <a:defRPr sz="2000">
                <a:latin typeface="+mn-lt"/>
                <a:ea typeface="+mn-ea"/>
              </a:defRPr>
            </a:lvl2pPr>
            <a:lvl3pPr marL="1003300" indent="-201613" defTabSz="801688" eaLnBrk="1" hangingPunct="1">
              <a:lnSpc>
                <a:spcPct val="140000"/>
              </a:lnSpc>
              <a:spcBef>
                <a:spcPct val="30000"/>
              </a:spcBef>
              <a:buSzPct val="50000"/>
              <a:buFont typeface="Wingdings" pitchFamily="2" charset="2"/>
              <a:buChar char="n"/>
              <a:defRPr>
                <a:latin typeface="FrutigerNext LT Light" pitchFamily="34" charset="0"/>
                <a:ea typeface="+mn-ea"/>
              </a:defRPr>
            </a:lvl3pPr>
            <a:lvl4pPr marL="1400175" indent="-198438" defTabSz="801688" eaLnBrk="1" hangingPunct="1">
              <a:lnSpc>
                <a:spcPct val="140000"/>
              </a:lnSpc>
              <a:spcBef>
                <a:spcPct val="30000"/>
              </a:spcBef>
              <a:buChar char="–"/>
              <a:defRPr sz="1600">
                <a:latin typeface="+mj-lt"/>
                <a:ea typeface="+mn-ea"/>
              </a:defRPr>
            </a:lvl4pPr>
            <a:lvl5pPr marL="1801813" indent="-201613" defTabSz="801688" eaLnBrk="1" hangingPunct="1">
              <a:lnSpc>
                <a:spcPct val="140000"/>
              </a:lnSpc>
              <a:spcBef>
                <a:spcPct val="30000"/>
              </a:spcBef>
              <a:buFont typeface="FrutigerNext LT Medium" pitchFamily="34" charset="0"/>
              <a:buChar char="~"/>
              <a:defRPr sz="1600">
                <a:latin typeface="+mj-lt"/>
                <a:ea typeface="+mn-ea"/>
              </a:defRPr>
            </a:lvl5pPr>
            <a:lvl6pPr marL="2259013" indent="-201613" defTabSz="801688" fontAlgn="base">
              <a:lnSpc>
                <a:spcPct val="140000"/>
              </a:lnSpc>
              <a:spcBef>
                <a:spcPct val="30000"/>
              </a:spcBef>
              <a:spcAft>
                <a:spcPct val="0"/>
              </a:spcAft>
              <a:buFont typeface="FrutigerNext LT Medium" pitchFamily="34" charset="0"/>
              <a:buChar char="~"/>
              <a:defRPr sz="1600">
                <a:latin typeface="+mj-lt"/>
                <a:ea typeface="+mn-ea"/>
              </a:defRPr>
            </a:lvl6pPr>
            <a:lvl7pPr marL="2716213" indent="-201613" defTabSz="801688" fontAlgn="base">
              <a:lnSpc>
                <a:spcPct val="140000"/>
              </a:lnSpc>
              <a:spcBef>
                <a:spcPct val="30000"/>
              </a:spcBef>
              <a:spcAft>
                <a:spcPct val="0"/>
              </a:spcAft>
              <a:buFont typeface="FrutigerNext LT Medium" pitchFamily="34" charset="0"/>
              <a:buChar char="~"/>
              <a:defRPr sz="1600">
                <a:latin typeface="+mj-lt"/>
                <a:ea typeface="+mn-ea"/>
              </a:defRPr>
            </a:lvl7pPr>
            <a:lvl8pPr marL="3173413" indent="-201613" defTabSz="801688" fontAlgn="base">
              <a:lnSpc>
                <a:spcPct val="140000"/>
              </a:lnSpc>
              <a:spcBef>
                <a:spcPct val="30000"/>
              </a:spcBef>
              <a:spcAft>
                <a:spcPct val="0"/>
              </a:spcAft>
              <a:buFont typeface="FrutigerNext LT Medium" pitchFamily="34" charset="0"/>
              <a:buChar char="~"/>
              <a:defRPr sz="1600">
                <a:latin typeface="+mj-lt"/>
                <a:ea typeface="+mn-ea"/>
              </a:defRPr>
            </a:lvl8pPr>
            <a:lvl9pPr marL="3630613" indent="-201613" defTabSz="801688" fontAlgn="base">
              <a:lnSpc>
                <a:spcPct val="140000"/>
              </a:lnSpc>
              <a:spcBef>
                <a:spcPct val="30000"/>
              </a:spcBef>
              <a:spcAft>
                <a:spcPct val="0"/>
              </a:spcAft>
              <a:buFont typeface="FrutigerNext LT Medium" pitchFamily="34" charset="0"/>
              <a:buChar char="~"/>
              <a:defRPr sz="1600">
                <a:latin typeface="+mj-lt"/>
                <a:ea typeface="+mn-ea"/>
              </a:defRPr>
            </a:lvl9pPr>
          </a:lstStyle>
          <a:p>
            <a:r>
              <a:rPr lang="en-US" altLang="zh-CN" dirty="0">
                <a:sym typeface="FrutigerNext LT Regular" pitchFamily="34" charset="0"/>
              </a:rPr>
              <a:t>Solution 2: uses policy-based routing to control traffic behavior before searching the routing table.</a:t>
            </a:r>
          </a:p>
        </p:txBody>
      </p:sp>
      <p:grpSp>
        <p:nvGrpSpPr>
          <p:cNvPr id="8" name="组合 7"/>
          <p:cNvGrpSpPr/>
          <p:nvPr/>
        </p:nvGrpSpPr>
        <p:grpSpPr>
          <a:xfrm>
            <a:off x="2171825" y="2241551"/>
            <a:ext cx="7967664" cy="2584931"/>
            <a:chOff x="2171825" y="2241551"/>
            <a:chExt cx="7967664" cy="2584931"/>
          </a:xfrm>
        </p:grpSpPr>
        <p:sp>
          <p:nvSpPr>
            <p:cNvPr id="43015" name="文本框 44"/>
            <p:cNvSpPr txBox="1">
              <a:spLocks noChangeArrowheads="1"/>
            </p:cNvSpPr>
            <p:nvPr/>
          </p:nvSpPr>
          <p:spPr bwMode="auto">
            <a:xfrm>
              <a:off x="5597526" y="4510089"/>
              <a:ext cx="876300" cy="31639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mn-ea"/>
                  <a:cs typeface="Arial" charset="0"/>
                  <a:sym typeface="FrutigerNext LT Regular" pitchFamily="34" charset="0"/>
                </a:rPr>
                <a:t>RTC</a:t>
              </a:r>
            </a:p>
          </p:txBody>
        </p:sp>
        <p:sp>
          <p:nvSpPr>
            <p:cNvPr id="43" name="圆角矩形 42"/>
            <p:cNvSpPr/>
            <p:nvPr/>
          </p:nvSpPr>
          <p:spPr bwMode="auto">
            <a:xfrm>
              <a:off x="8335963" y="3138489"/>
              <a:ext cx="1779587" cy="85248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sp>
          <p:nvSpPr>
            <p:cNvPr id="49" name="圆角矩形 48"/>
            <p:cNvSpPr/>
            <p:nvPr/>
          </p:nvSpPr>
          <p:spPr bwMode="auto">
            <a:xfrm>
              <a:off x="2320925" y="3548064"/>
              <a:ext cx="1863725" cy="85090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sp>
          <p:nvSpPr>
            <p:cNvPr id="50" name="圆角矩形 49"/>
            <p:cNvSpPr/>
            <p:nvPr/>
          </p:nvSpPr>
          <p:spPr bwMode="auto">
            <a:xfrm>
              <a:off x="2290762" y="2603501"/>
              <a:ext cx="1862138" cy="85090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mn-ea"/>
              </a:endParaRPr>
            </a:p>
          </p:txBody>
        </p:sp>
        <p:cxnSp>
          <p:nvCxnSpPr>
            <p:cNvPr id="43023" name="直接连接符 51"/>
            <p:cNvCxnSpPr>
              <a:cxnSpLocks noChangeShapeType="1"/>
            </p:cNvCxnSpPr>
            <p:nvPr/>
          </p:nvCxnSpPr>
          <p:spPr bwMode="auto">
            <a:xfrm flipH="1" flipV="1">
              <a:off x="3387056" y="3039332"/>
              <a:ext cx="1450807" cy="514778"/>
            </a:xfrm>
            <a:prstGeom prst="line">
              <a:avLst/>
            </a:prstGeom>
            <a:noFill/>
            <a:ln w="28575" algn="ctr">
              <a:solidFill>
                <a:schemeClr val="tx1"/>
              </a:solidFill>
              <a:round/>
              <a:headEnd/>
              <a:tailEnd/>
            </a:ln>
          </p:spPr>
        </p:cxnSp>
        <p:cxnSp>
          <p:nvCxnSpPr>
            <p:cNvPr id="53" name="直接连接符 52"/>
            <p:cNvCxnSpPr/>
            <p:nvPr/>
          </p:nvCxnSpPr>
          <p:spPr bwMode="auto">
            <a:xfrm flipV="1">
              <a:off x="4895849" y="2662238"/>
              <a:ext cx="1166814" cy="893762"/>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025" name="直接连接符 53"/>
            <p:cNvCxnSpPr>
              <a:cxnSpLocks noChangeShapeType="1"/>
            </p:cNvCxnSpPr>
            <p:nvPr/>
          </p:nvCxnSpPr>
          <p:spPr bwMode="auto">
            <a:xfrm>
              <a:off x="4765261" y="3637853"/>
              <a:ext cx="1312718" cy="683043"/>
            </a:xfrm>
            <a:prstGeom prst="line">
              <a:avLst/>
            </a:prstGeom>
            <a:noFill/>
            <a:ln w="28575" algn="ctr">
              <a:solidFill>
                <a:schemeClr val="tx1"/>
              </a:solidFill>
              <a:round/>
              <a:headEnd/>
              <a:tailEnd/>
            </a:ln>
          </p:spPr>
        </p:cxnSp>
        <p:cxnSp>
          <p:nvCxnSpPr>
            <p:cNvPr id="43026" name="直接连接符 54"/>
            <p:cNvCxnSpPr>
              <a:cxnSpLocks noChangeShapeType="1"/>
            </p:cNvCxnSpPr>
            <p:nvPr/>
          </p:nvCxnSpPr>
          <p:spPr bwMode="auto">
            <a:xfrm flipH="1">
              <a:off x="3509543" y="3537277"/>
              <a:ext cx="1505180" cy="463157"/>
            </a:xfrm>
            <a:prstGeom prst="line">
              <a:avLst/>
            </a:prstGeom>
            <a:noFill/>
            <a:ln w="28575" algn="ctr">
              <a:solidFill>
                <a:schemeClr val="tx1"/>
              </a:solidFill>
              <a:round/>
              <a:headEnd/>
              <a:tailEnd/>
            </a:ln>
          </p:spPr>
        </p:cxnSp>
        <p:cxnSp>
          <p:nvCxnSpPr>
            <p:cNvPr id="43027" name="直接连接符 55"/>
            <p:cNvCxnSpPr>
              <a:cxnSpLocks noChangeShapeType="1"/>
            </p:cNvCxnSpPr>
            <p:nvPr/>
          </p:nvCxnSpPr>
          <p:spPr bwMode="auto">
            <a:xfrm>
              <a:off x="5954581" y="2679265"/>
              <a:ext cx="1282496" cy="887307"/>
            </a:xfrm>
            <a:prstGeom prst="line">
              <a:avLst/>
            </a:prstGeom>
            <a:noFill/>
            <a:ln w="28575" algn="ctr">
              <a:solidFill>
                <a:schemeClr val="tx1"/>
              </a:solidFill>
              <a:round/>
              <a:headEnd/>
              <a:tailEnd/>
            </a:ln>
          </p:spPr>
        </p:cxnSp>
        <p:cxnSp>
          <p:nvCxnSpPr>
            <p:cNvPr id="43028" name="直接连接符 56"/>
            <p:cNvCxnSpPr>
              <a:cxnSpLocks noChangeShapeType="1"/>
            </p:cNvCxnSpPr>
            <p:nvPr/>
          </p:nvCxnSpPr>
          <p:spPr bwMode="auto">
            <a:xfrm flipV="1">
              <a:off x="7443444" y="3592301"/>
              <a:ext cx="1128966" cy="0"/>
            </a:xfrm>
            <a:prstGeom prst="line">
              <a:avLst/>
            </a:prstGeom>
            <a:noFill/>
            <a:ln w="28575" algn="ctr">
              <a:solidFill>
                <a:schemeClr val="tx1"/>
              </a:solidFill>
              <a:round/>
              <a:headEnd/>
              <a:tailEnd/>
            </a:ln>
          </p:spPr>
        </p:cxnSp>
        <p:sp>
          <p:nvSpPr>
            <p:cNvPr id="43029" name="矩形 57"/>
            <p:cNvSpPr>
              <a:spLocks noChangeArrowheads="1"/>
            </p:cNvSpPr>
            <p:nvPr/>
          </p:nvSpPr>
          <p:spPr bwMode="auto">
            <a:xfrm>
              <a:off x="2279577" y="3723420"/>
              <a:ext cx="1110270" cy="461665"/>
            </a:xfrm>
            <a:prstGeom prst="rect">
              <a:avLst/>
            </a:prstGeom>
            <a:noFill/>
            <a:ln w="9525">
              <a:noFill/>
              <a:miter lim="800000"/>
              <a:headEnd/>
              <a:tailEnd/>
            </a:ln>
          </p:spPr>
          <p:txBody>
            <a:bodyPr wrap="square">
              <a:spAutoFit/>
            </a:bodyPr>
            <a:lstStyle/>
            <a:p>
              <a:pPr algn="ctr" eaLnBrk="0" fontAlgn="t" hangingPunct="0">
                <a:buSzPct val="100000"/>
              </a:pPr>
              <a:r>
                <a:rPr lang="en-US" altLang="zh-CN" sz="1200" b="1" dirty="0">
                  <a:solidFill>
                    <a:srgbClr val="000000"/>
                  </a:solidFill>
                  <a:latin typeface="+mn-lt"/>
                  <a:ea typeface="+mn-ea"/>
                  <a:sym typeface="FrutigerNext LT Regular" pitchFamily="34" charset="0"/>
                </a:rPr>
                <a:t>Financial department</a:t>
              </a:r>
            </a:p>
          </p:txBody>
        </p:sp>
        <p:sp>
          <p:nvSpPr>
            <p:cNvPr id="43030" name="矩形 58"/>
            <p:cNvSpPr>
              <a:spLocks noChangeArrowheads="1"/>
            </p:cNvSpPr>
            <p:nvPr/>
          </p:nvSpPr>
          <p:spPr bwMode="auto">
            <a:xfrm>
              <a:off x="9073171" y="3418210"/>
              <a:ext cx="1066318" cy="246221"/>
            </a:xfrm>
            <a:prstGeom prst="rect">
              <a:avLst/>
            </a:prstGeom>
            <a:noFill/>
            <a:ln w="9525">
              <a:noFill/>
              <a:miter lim="800000"/>
              <a:headEnd/>
              <a:tailEnd/>
            </a:ln>
          </p:spPr>
          <p:txBody>
            <a:bodyPr wrap="none">
              <a:spAutoFit/>
            </a:bodyPr>
            <a:lstStyle/>
            <a:p>
              <a:pPr eaLnBrk="0" fontAlgn="t" hangingPunct="0">
                <a:buSzPct val="100000"/>
              </a:pPr>
              <a:r>
                <a:rPr lang="en-US" altLang="zh-CN" b="1" dirty="0">
                  <a:solidFill>
                    <a:srgbClr val="000000"/>
                  </a:solidFill>
                  <a:latin typeface="+mn-lt"/>
                  <a:ea typeface="+mn-ea"/>
                  <a:sym typeface="FrutigerNext LT Regular" pitchFamily="34" charset="0"/>
                </a:rPr>
                <a:t>Headquarters</a:t>
              </a:r>
            </a:p>
          </p:txBody>
        </p:sp>
        <p:sp>
          <p:nvSpPr>
            <p:cNvPr id="43031" name="文本框 59"/>
            <p:cNvSpPr txBox="1">
              <a:spLocks noChangeArrowheads="1"/>
            </p:cNvSpPr>
            <p:nvPr/>
          </p:nvSpPr>
          <p:spPr bwMode="auto">
            <a:xfrm>
              <a:off x="5546726" y="3348039"/>
              <a:ext cx="862013" cy="347170"/>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600" b="1" dirty="0">
                  <a:solidFill>
                    <a:srgbClr val="C00000"/>
                  </a:solidFill>
                  <a:latin typeface="+mn-lt"/>
                  <a:ea typeface="+mn-ea"/>
                  <a:cs typeface="Arial" charset="0"/>
                  <a:sym typeface="FrutigerNext LT Regular" pitchFamily="34" charset="0"/>
                </a:rPr>
                <a:t>OSPF</a:t>
              </a:r>
            </a:p>
          </p:txBody>
        </p:sp>
        <p:sp>
          <p:nvSpPr>
            <p:cNvPr id="43032" name="文本框 60"/>
            <p:cNvSpPr txBox="1">
              <a:spLocks noChangeArrowheads="1"/>
            </p:cNvSpPr>
            <p:nvPr/>
          </p:nvSpPr>
          <p:spPr bwMode="auto">
            <a:xfrm>
              <a:off x="2171825" y="2850709"/>
              <a:ext cx="1223876" cy="470280"/>
            </a:xfrm>
            <a:prstGeom prst="rect">
              <a:avLst/>
            </a:prstGeom>
            <a:noFill/>
            <a:ln w="9525">
              <a:noFill/>
              <a:miter lim="800000"/>
              <a:headEnd/>
              <a:tailEnd/>
            </a:ln>
          </p:spPr>
          <p:txBody>
            <a:bodyPr wrap="square"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Marketing department</a:t>
              </a:r>
            </a:p>
          </p:txBody>
        </p:sp>
        <p:cxnSp>
          <p:nvCxnSpPr>
            <p:cNvPr id="43038" name="直接连接符 66"/>
            <p:cNvCxnSpPr>
              <a:cxnSpLocks noChangeShapeType="1"/>
            </p:cNvCxnSpPr>
            <p:nvPr/>
          </p:nvCxnSpPr>
          <p:spPr bwMode="auto">
            <a:xfrm flipV="1">
              <a:off x="6050976" y="3651801"/>
              <a:ext cx="1163297" cy="634674"/>
            </a:xfrm>
            <a:prstGeom prst="line">
              <a:avLst/>
            </a:prstGeom>
            <a:noFill/>
            <a:ln w="28575" algn="ctr">
              <a:solidFill>
                <a:schemeClr val="tx1"/>
              </a:solidFill>
              <a:round/>
              <a:headEnd/>
              <a:tailEnd/>
            </a:ln>
          </p:spPr>
        </p:cxnSp>
        <p:sp>
          <p:nvSpPr>
            <p:cNvPr id="43041" name="AutoShape 21"/>
            <p:cNvSpPr>
              <a:spLocks noChangeArrowheads="1"/>
            </p:cNvSpPr>
            <p:nvPr/>
          </p:nvSpPr>
          <p:spPr bwMode="auto">
            <a:xfrm>
              <a:off x="6650038" y="4267200"/>
              <a:ext cx="868362" cy="280988"/>
            </a:xfrm>
            <a:prstGeom prst="wedgeRectCallout">
              <a:avLst>
                <a:gd name="adj1" fmla="val -55861"/>
                <a:gd name="adj2" fmla="val -112389"/>
              </a:avLst>
            </a:prstGeom>
            <a:noFill/>
            <a:ln w="3175" algn="ctr">
              <a:solidFill>
                <a:srgbClr val="999999"/>
              </a:solidFill>
              <a:miter lim="800000"/>
              <a:headEnd/>
              <a:tailEnd/>
            </a:ln>
          </p:spPr>
          <p:txBody>
            <a:bodyPr lIns="0" tIns="0" rIns="0" bIns="0" anchor="ctr" anchorCtr="1"/>
            <a:lstStyle/>
            <a:p>
              <a:pPr eaLnBrk="0" fontAlgn="t" hangingPunct="0">
                <a:spcBef>
                  <a:spcPct val="20000"/>
                </a:spcBef>
                <a:buSzPct val="100000"/>
              </a:pPr>
              <a:r>
                <a:rPr lang="en-US" altLang="zh-CN" sz="1400" dirty="0">
                  <a:solidFill>
                    <a:srgbClr val="000000"/>
                  </a:solidFill>
                  <a:latin typeface="+mn-lt"/>
                  <a:ea typeface="+mn-ea"/>
                  <a:sym typeface="FrutigerNext LT Regular" pitchFamily="34" charset="0"/>
                </a:rPr>
                <a:t>Idle link</a:t>
              </a:r>
            </a:p>
          </p:txBody>
        </p:sp>
        <p:sp>
          <p:nvSpPr>
            <p:cNvPr id="43042" name="文本框 70"/>
            <p:cNvSpPr txBox="1">
              <a:spLocks noChangeArrowheads="1"/>
            </p:cNvSpPr>
            <p:nvPr/>
          </p:nvSpPr>
          <p:spPr bwMode="auto">
            <a:xfrm>
              <a:off x="5183188" y="3140076"/>
              <a:ext cx="693736"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43043" name="文本框 71"/>
            <p:cNvSpPr txBox="1">
              <a:spLocks noChangeArrowheads="1"/>
            </p:cNvSpPr>
            <p:nvPr/>
          </p:nvSpPr>
          <p:spPr bwMode="auto">
            <a:xfrm>
              <a:off x="6162676" y="3143251"/>
              <a:ext cx="695325"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43044" name="文本框 72"/>
            <p:cNvSpPr txBox="1">
              <a:spLocks noChangeArrowheads="1"/>
            </p:cNvSpPr>
            <p:nvPr/>
          </p:nvSpPr>
          <p:spPr bwMode="auto">
            <a:xfrm>
              <a:off x="6262687" y="3752851"/>
              <a:ext cx="554035"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43045" name="文本框 73"/>
            <p:cNvSpPr txBox="1">
              <a:spLocks noChangeArrowheads="1"/>
            </p:cNvSpPr>
            <p:nvPr/>
          </p:nvSpPr>
          <p:spPr bwMode="auto">
            <a:xfrm>
              <a:off x="5143501" y="3752851"/>
              <a:ext cx="693736"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5M</a:t>
              </a:r>
            </a:p>
          </p:txBody>
        </p:sp>
        <p:sp>
          <p:nvSpPr>
            <p:cNvPr id="43017" name="文本框 75"/>
            <p:cNvSpPr txBox="1">
              <a:spLocks noChangeArrowheads="1"/>
            </p:cNvSpPr>
            <p:nvPr/>
          </p:nvSpPr>
          <p:spPr bwMode="auto">
            <a:xfrm>
              <a:off x="4354514" y="3857627"/>
              <a:ext cx="876300" cy="31639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mn-ea"/>
                  <a:cs typeface="Arial" charset="0"/>
                  <a:sym typeface="FrutigerNext LT Regular" pitchFamily="34" charset="0"/>
                </a:rPr>
                <a:t>RTA</a:t>
              </a:r>
            </a:p>
          </p:txBody>
        </p:sp>
        <p:sp>
          <p:nvSpPr>
            <p:cNvPr id="43018" name="文本框 76"/>
            <p:cNvSpPr txBox="1">
              <a:spLocks noChangeArrowheads="1"/>
            </p:cNvSpPr>
            <p:nvPr/>
          </p:nvSpPr>
          <p:spPr bwMode="auto">
            <a:xfrm>
              <a:off x="5597526" y="2241551"/>
              <a:ext cx="876300" cy="31639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mn-ea"/>
                  <a:cs typeface="Arial" charset="0"/>
                  <a:sym typeface="FrutigerNext LT Regular" pitchFamily="34" charset="0"/>
                </a:rPr>
                <a:t>RTB</a:t>
              </a:r>
            </a:p>
          </p:txBody>
        </p:sp>
        <p:sp>
          <p:nvSpPr>
            <p:cNvPr id="43019" name="文本框 77"/>
            <p:cNvSpPr txBox="1">
              <a:spLocks noChangeArrowheads="1"/>
            </p:cNvSpPr>
            <p:nvPr/>
          </p:nvSpPr>
          <p:spPr bwMode="auto">
            <a:xfrm>
              <a:off x="6845300" y="3848101"/>
              <a:ext cx="874713" cy="31639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mn-ea"/>
                  <a:cs typeface="Arial" charset="0"/>
                  <a:sym typeface="FrutigerNext LT Regular" pitchFamily="34" charset="0"/>
                </a:rPr>
                <a:t>RTD</a:t>
              </a:r>
            </a:p>
          </p:txBody>
        </p:sp>
        <p:pic>
          <p:nvPicPr>
            <p:cNvPr id="54" name="图片 5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77991" y="3756932"/>
              <a:ext cx="540000" cy="442800"/>
            </a:xfrm>
            <a:prstGeom prst="rect">
              <a:avLst/>
            </a:prstGeom>
          </p:spPr>
        </p:pic>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584070" y="3361391"/>
              <a:ext cx="540000" cy="442800"/>
            </a:xfrm>
            <a:prstGeom prst="rect">
              <a:avLst/>
            </a:prstGeom>
          </p:spPr>
        </p:pic>
        <p:pic>
          <p:nvPicPr>
            <p:cNvPr id="5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65604" y="2557500"/>
              <a:ext cx="628652" cy="514351"/>
            </a:xfrm>
            <a:prstGeom prst="rect">
              <a:avLst/>
            </a:prstGeom>
            <a:noFill/>
          </p:spPr>
        </p:pic>
        <p:pic>
          <p:nvPicPr>
            <p:cNvPr id="5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66627" y="4015314"/>
              <a:ext cx="628652" cy="514351"/>
            </a:xfrm>
            <a:prstGeom prst="rect">
              <a:avLst/>
            </a:prstGeom>
            <a:noFill/>
          </p:spPr>
        </p:pic>
        <p:pic>
          <p:nvPicPr>
            <p:cNvPr id="5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900824" y="3341969"/>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24599" y="3279902"/>
              <a:ext cx="628652" cy="514351"/>
            </a:xfrm>
            <a:prstGeom prst="rect">
              <a:avLst/>
            </a:prstGeom>
            <a:noFill/>
          </p:spPr>
        </p:pic>
        <p:pic>
          <p:nvPicPr>
            <p:cNvPr id="60" name="图片 59" descr="市场部.png"/>
            <p:cNvPicPr>
              <a:picLocks noChangeAspect="1"/>
            </p:cNvPicPr>
            <p:nvPr/>
          </p:nvPicPr>
          <p:blipFill>
            <a:blip r:embed="rId5" cstate="print"/>
            <a:stretch>
              <a:fillRect/>
            </a:stretch>
          </p:blipFill>
          <p:spPr>
            <a:xfrm>
              <a:off x="3278328" y="2792059"/>
              <a:ext cx="540000" cy="441818"/>
            </a:xfrm>
            <a:prstGeom prst="rect">
              <a:avLst/>
            </a:prstGeom>
          </p:spPr>
        </p:pic>
        <p:sp>
          <p:nvSpPr>
            <p:cNvPr id="43046" name="任意多边形 74"/>
            <p:cNvSpPr>
              <a:spLocks/>
            </p:cNvSpPr>
            <p:nvPr/>
          </p:nvSpPr>
          <p:spPr bwMode="auto">
            <a:xfrm>
              <a:off x="4775260" y="2673071"/>
              <a:ext cx="3826041" cy="859033"/>
            </a:xfrm>
            <a:custGeom>
              <a:avLst/>
              <a:gdLst>
                <a:gd name="T0" fmla="*/ 0 w 4757928"/>
                <a:gd name="T1" fmla="*/ 757808 h 757808"/>
                <a:gd name="T2" fmla="*/ 214370 w 4757928"/>
                <a:gd name="T3" fmla="*/ 502853 h 757808"/>
                <a:gd name="T4" fmla="*/ 665280 w 4757928"/>
                <a:gd name="T5" fmla="*/ 40942 h 757808"/>
                <a:gd name="T6" fmla="*/ 850137 w 4757928"/>
                <a:gd name="T7" fmla="*/ 13027 h 757808"/>
                <a:gd name="T8" fmla="*/ 1515163 w 4757928"/>
                <a:gd name="T9" fmla="*/ 651571 h 757808"/>
                <a:gd name="T10" fmla="*/ 2392396 w 4757928"/>
                <a:gd name="T11" fmla="*/ 698134 h 757808"/>
                <a:gd name="T12" fmla="*/ 0 60000 65536"/>
                <a:gd name="T13" fmla="*/ 0 60000 65536"/>
                <a:gd name="T14" fmla="*/ 0 60000 65536"/>
                <a:gd name="T15" fmla="*/ 0 60000 65536"/>
                <a:gd name="T16" fmla="*/ 0 60000 65536"/>
                <a:gd name="T17" fmla="*/ 0 60000 65536"/>
                <a:gd name="T18" fmla="*/ 0 w 4757928"/>
                <a:gd name="T19" fmla="*/ 0 h 757808"/>
                <a:gd name="T20" fmla="*/ 4757928 w 4757928"/>
                <a:gd name="T21" fmla="*/ 757808 h 757808"/>
              </a:gdLst>
              <a:ahLst/>
              <a:cxnLst>
                <a:cxn ang="T12">
                  <a:pos x="T0" y="T1"/>
                </a:cxn>
                <a:cxn ang="T13">
                  <a:pos x="T2" y="T3"/>
                </a:cxn>
                <a:cxn ang="T14">
                  <a:pos x="T4" y="T5"/>
                </a:cxn>
                <a:cxn ang="T15">
                  <a:pos x="T6" y="T7"/>
                </a:cxn>
                <a:cxn ang="T16">
                  <a:pos x="T8" y="T9"/>
                </a:cxn>
                <a:cxn ang="T17">
                  <a:pos x="T10" y="T11"/>
                </a:cxn>
              </a:cxnLst>
              <a:rect l="T18" t="T19" r="T20" b="T21"/>
              <a:pathLst>
                <a:path w="4757928" h="757808">
                  <a:moveTo>
                    <a:pt x="0" y="757808"/>
                  </a:moveTo>
                  <a:cubicBezTo>
                    <a:pt x="458855" y="472416"/>
                    <a:pt x="205817" y="622331"/>
                    <a:pt x="426332" y="502853"/>
                  </a:cubicBezTo>
                  <a:cubicBezTo>
                    <a:pt x="646847" y="383375"/>
                    <a:pt x="1112357" y="122580"/>
                    <a:pt x="1323089" y="40942"/>
                  </a:cubicBezTo>
                  <a:cubicBezTo>
                    <a:pt x="1533821" y="-40696"/>
                    <a:pt x="1488699" y="27493"/>
                    <a:pt x="1690727" y="13027"/>
                  </a:cubicBezTo>
                  <a:cubicBezTo>
                    <a:pt x="1892755" y="91551"/>
                    <a:pt x="2708555" y="477977"/>
                    <a:pt x="3013312" y="651571"/>
                  </a:cubicBezTo>
                  <a:cubicBezTo>
                    <a:pt x="3314296" y="787533"/>
                    <a:pt x="4124954" y="721167"/>
                    <a:pt x="4757928" y="698134"/>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dirty="0">
                <a:latin typeface="+mn-lt"/>
                <a:ea typeface="+mn-ea"/>
              </a:endParaRPr>
            </a:p>
          </p:txBody>
        </p:sp>
      </p:grpSp>
    </p:spTree>
    <p:extLst>
      <p:ext uri="{BB962C8B-B14F-4D97-AF65-F5344CB8AC3E}">
        <p14:creationId xmlns:p14="http://schemas.microsoft.com/office/powerpoint/2010/main" val="3648854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left)">
                                      <p:cBhvr>
                                        <p:cTn id="1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75" name="直接连接符 64"/>
          <p:cNvCxnSpPr>
            <a:cxnSpLocks noChangeShapeType="1"/>
          </p:cNvCxnSpPr>
          <p:nvPr/>
        </p:nvCxnSpPr>
        <p:spPr bwMode="auto">
          <a:xfrm>
            <a:off x="4991100" y="3455989"/>
            <a:ext cx="763588" cy="2155825"/>
          </a:xfrm>
          <a:prstGeom prst="line">
            <a:avLst/>
          </a:prstGeom>
          <a:noFill/>
          <a:ln w="28575" algn="ctr">
            <a:solidFill>
              <a:srgbClr val="C00000"/>
            </a:solidFill>
            <a:prstDash val="sysDot"/>
            <a:round/>
            <a:headEnd/>
            <a:tailEnd/>
          </a:ln>
        </p:spPr>
      </p:cxnSp>
      <p:cxnSp>
        <p:nvCxnSpPr>
          <p:cNvPr id="3077" name="直接连接符 58"/>
          <p:cNvCxnSpPr>
            <a:cxnSpLocks noChangeShapeType="1"/>
          </p:cNvCxnSpPr>
          <p:nvPr/>
        </p:nvCxnSpPr>
        <p:spPr bwMode="auto">
          <a:xfrm flipH="1" flipV="1">
            <a:off x="4156075" y="1628776"/>
            <a:ext cx="846138" cy="1871663"/>
          </a:xfrm>
          <a:prstGeom prst="line">
            <a:avLst/>
          </a:prstGeom>
          <a:noFill/>
          <a:ln w="28575" algn="ctr">
            <a:solidFill>
              <a:srgbClr val="C00000"/>
            </a:solidFill>
            <a:prstDash val="sysDot"/>
            <a:round/>
            <a:headEnd/>
            <a:tailEnd/>
          </a:ln>
        </p:spPr>
      </p:cxnSp>
      <p:sp>
        <p:nvSpPr>
          <p:cNvPr id="3" name="文本占位符 2"/>
          <p:cNvSpPr>
            <a:spLocks noGrp="1"/>
          </p:cNvSpPr>
          <p:nvPr>
            <p:ph type="body" sz="quarter" idx="12"/>
          </p:nvPr>
        </p:nvSpPr>
        <p:spPr/>
        <p:txBody>
          <a:bodyPr/>
          <a:lstStyle/>
          <a:p>
            <a:r>
              <a:rPr lang="en-US" altLang="zh-CN" dirty="0"/>
              <a:t>Solution 1: Routing Policy</a:t>
            </a:r>
            <a:endParaRPr lang="zh-CN" altLang="en-US" dirty="0"/>
          </a:p>
        </p:txBody>
      </p:sp>
      <p:grpSp>
        <p:nvGrpSpPr>
          <p:cNvPr id="5" name="组合 4"/>
          <p:cNvGrpSpPr/>
          <p:nvPr/>
        </p:nvGrpSpPr>
        <p:grpSpPr>
          <a:xfrm>
            <a:off x="2027548" y="2257425"/>
            <a:ext cx="8100702" cy="2704794"/>
            <a:chOff x="2027548" y="2257425"/>
            <a:chExt cx="8100702" cy="2704794"/>
          </a:xfrm>
        </p:grpSpPr>
        <p:cxnSp>
          <p:nvCxnSpPr>
            <p:cNvPr id="3076" name="直接连接符 60"/>
            <p:cNvCxnSpPr>
              <a:cxnSpLocks noChangeShapeType="1"/>
            </p:cNvCxnSpPr>
            <p:nvPr/>
          </p:nvCxnSpPr>
          <p:spPr bwMode="auto">
            <a:xfrm flipH="1">
              <a:off x="4022725" y="3475038"/>
              <a:ext cx="877888" cy="1281112"/>
            </a:xfrm>
            <a:prstGeom prst="line">
              <a:avLst/>
            </a:prstGeom>
            <a:noFill/>
            <a:ln w="28575" algn="ctr">
              <a:solidFill>
                <a:srgbClr val="C00000"/>
              </a:solidFill>
              <a:prstDash val="sysDot"/>
              <a:round/>
              <a:headEnd/>
              <a:tailEnd/>
            </a:ln>
          </p:spPr>
        </p:cxnSp>
        <p:sp>
          <p:nvSpPr>
            <p:cNvPr id="57" name="圆角矩形 56"/>
            <p:cNvSpPr/>
            <p:nvPr/>
          </p:nvSpPr>
          <p:spPr bwMode="auto">
            <a:xfrm>
              <a:off x="2279651" y="3465514"/>
              <a:ext cx="1730375" cy="85248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56" name="圆角矩形 55"/>
            <p:cNvSpPr/>
            <p:nvPr/>
          </p:nvSpPr>
          <p:spPr bwMode="auto">
            <a:xfrm>
              <a:off x="2279650" y="2449513"/>
              <a:ext cx="1716088" cy="90805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sp>
          <p:nvSpPr>
            <p:cNvPr id="55" name="圆角矩形 54"/>
            <p:cNvSpPr/>
            <p:nvPr/>
          </p:nvSpPr>
          <p:spPr bwMode="auto">
            <a:xfrm>
              <a:off x="8428038" y="2889250"/>
              <a:ext cx="1700212" cy="99060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900" dirty="0">
                <a:latin typeface="+mn-lt"/>
                <a:ea typeface="+mn-ea"/>
              </a:endParaRPr>
            </a:p>
          </p:txBody>
        </p:sp>
        <p:cxnSp>
          <p:nvCxnSpPr>
            <p:cNvPr id="3082" name="直接连接符 7"/>
            <p:cNvCxnSpPr>
              <a:cxnSpLocks noChangeShapeType="1"/>
            </p:cNvCxnSpPr>
            <p:nvPr/>
          </p:nvCxnSpPr>
          <p:spPr bwMode="auto">
            <a:xfrm flipH="1" flipV="1">
              <a:off x="3392488" y="2840039"/>
              <a:ext cx="1676400" cy="593725"/>
            </a:xfrm>
            <a:prstGeom prst="line">
              <a:avLst/>
            </a:prstGeom>
            <a:noFill/>
            <a:ln w="28575" algn="ctr">
              <a:solidFill>
                <a:schemeClr val="tx1"/>
              </a:solidFill>
              <a:round/>
              <a:headEnd/>
              <a:tailEnd/>
            </a:ln>
          </p:spPr>
        </p:cxnSp>
        <p:cxnSp>
          <p:nvCxnSpPr>
            <p:cNvPr id="9" name="直接连接符 8"/>
            <p:cNvCxnSpPr>
              <a:cxnSpLocks noChangeAspect="1"/>
            </p:cNvCxnSpPr>
            <p:nvPr/>
          </p:nvCxnSpPr>
          <p:spPr bwMode="auto">
            <a:xfrm rot="60000" flipV="1">
              <a:off x="5094289" y="2566988"/>
              <a:ext cx="884237" cy="7175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84" name="直接连接符 9"/>
            <p:cNvCxnSpPr>
              <a:cxnSpLocks noChangeShapeType="1"/>
            </p:cNvCxnSpPr>
            <p:nvPr/>
          </p:nvCxnSpPr>
          <p:spPr bwMode="auto">
            <a:xfrm flipH="1">
              <a:off x="3432176" y="3414714"/>
              <a:ext cx="1738313" cy="534987"/>
            </a:xfrm>
            <a:prstGeom prst="line">
              <a:avLst/>
            </a:prstGeom>
            <a:noFill/>
            <a:ln w="28575" algn="ctr">
              <a:solidFill>
                <a:schemeClr val="tx1"/>
              </a:solidFill>
              <a:round/>
              <a:headEnd/>
              <a:tailEnd/>
            </a:ln>
          </p:spPr>
        </p:cxnSp>
        <p:cxnSp>
          <p:nvCxnSpPr>
            <p:cNvPr id="3085" name="直接连接符 10"/>
            <p:cNvCxnSpPr>
              <a:cxnSpLocks noChangeShapeType="1"/>
            </p:cNvCxnSpPr>
            <p:nvPr/>
          </p:nvCxnSpPr>
          <p:spPr bwMode="auto">
            <a:xfrm>
              <a:off x="6143625" y="2474913"/>
              <a:ext cx="1104900" cy="908050"/>
            </a:xfrm>
            <a:prstGeom prst="line">
              <a:avLst/>
            </a:prstGeom>
            <a:noFill/>
            <a:ln w="28575" algn="ctr">
              <a:solidFill>
                <a:schemeClr val="tx1"/>
              </a:solidFill>
              <a:round/>
              <a:headEnd/>
              <a:tailEnd/>
            </a:ln>
          </p:spPr>
        </p:cxnSp>
        <p:cxnSp>
          <p:nvCxnSpPr>
            <p:cNvPr id="3086" name="直接连接符 11"/>
            <p:cNvCxnSpPr>
              <a:cxnSpLocks noChangeShapeType="1"/>
            </p:cNvCxnSpPr>
            <p:nvPr/>
          </p:nvCxnSpPr>
          <p:spPr bwMode="auto">
            <a:xfrm flipV="1">
              <a:off x="7204076" y="3419475"/>
              <a:ext cx="1304925" cy="0"/>
            </a:xfrm>
            <a:prstGeom prst="line">
              <a:avLst/>
            </a:prstGeom>
            <a:noFill/>
            <a:ln w="28575" algn="ctr">
              <a:solidFill>
                <a:schemeClr val="tx1"/>
              </a:solidFill>
              <a:round/>
              <a:headEnd/>
              <a:tailEnd/>
            </a:ln>
          </p:spPr>
        </p:cxnSp>
        <p:sp>
          <p:nvSpPr>
            <p:cNvPr id="3087" name="矩形 12"/>
            <p:cNvSpPr>
              <a:spLocks noChangeArrowheads="1"/>
            </p:cNvSpPr>
            <p:nvPr/>
          </p:nvSpPr>
          <p:spPr bwMode="auto">
            <a:xfrm>
              <a:off x="2063553" y="3574758"/>
              <a:ext cx="1379747" cy="646331"/>
            </a:xfrm>
            <a:prstGeom prst="rect">
              <a:avLst/>
            </a:prstGeom>
            <a:noFill/>
            <a:ln w="9525">
              <a:noFill/>
              <a:miter lim="800000"/>
              <a:headEnd/>
              <a:tailEnd/>
            </a:ln>
          </p:spPr>
          <p:txBody>
            <a:bodyPr wrap="square">
              <a:spAutoFit/>
            </a:bodyPr>
            <a:lstStyle/>
            <a:p>
              <a:pPr algn="ctr" eaLnBrk="0" fontAlgn="t" hangingPunct="0">
                <a:buSzPct val="100000"/>
              </a:pPr>
              <a:r>
                <a:rPr lang="en-US" altLang="zh-CN" sz="1200" b="1" dirty="0">
                  <a:solidFill>
                    <a:srgbClr val="000000"/>
                  </a:solidFill>
                  <a:latin typeface="+mn-lt"/>
                  <a:ea typeface="+mn-ea"/>
                  <a:sym typeface="FrutigerNext LT Regular" pitchFamily="34" charset="0"/>
                </a:rPr>
                <a:t>Financial department</a:t>
              </a:r>
            </a:p>
            <a:p>
              <a:pPr algn="ctr" eaLnBrk="0" fontAlgn="t" hangingPunct="0">
                <a:buSzPct val="100000"/>
              </a:pPr>
              <a:r>
                <a:rPr lang="en-US" altLang="zh-CN" sz="1200" b="1" dirty="0">
                  <a:solidFill>
                    <a:srgbClr val="000000"/>
                  </a:solidFill>
                  <a:latin typeface="+mn-lt"/>
                  <a:ea typeface="+mn-ea"/>
                  <a:cs typeface="Arial" charset="0"/>
                  <a:sym typeface="FrutigerNext LT Regular" pitchFamily="34" charset="0"/>
                </a:rPr>
                <a:t>10</a:t>
              </a:r>
              <a:r>
                <a:rPr lang="en-US" altLang="zh-CN" sz="1200" b="1" dirty="0">
                  <a:solidFill>
                    <a:srgbClr val="000000"/>
                  </a:solidFill>
                  <a:latin typeface="+mn-lt"/>
                  <a:ea typeface="+mn-ea"/>
                  <a:sym typeface="FrutigerNext LT Regular" pitchFamily="34" charset="0"/>
                </a:rPr>
                <a:t> persons</a:t>
              </a:r>
            </a:p>
          </p:txBody>
        </p:sp>
        <p:sp>
          <p:nvSpPr>
            <p:cNvPr id="3088" name="矩形 13"/>
            <p:cNvSpPr>
              <a:spLocks noChangeArrowheads="1"/>
            </p:cNvSpPr>
            <p:nvPr/>
          </p:nvSpPr>
          <p:spPr bwMode="auto">
            <a:xfrm>
              <a:off x="9012325" y="2908301"/>
              <a:ext cx="1066318" cy="246221"/>
            </a:xfrm>
            <a:prstGeom prst="rect">
              <a:avLst/>
            </a:prstGeom>
            <a:noFill/>
            <a:ln w="9525">
              <a:noFill/>
              <a:miter lim="800000"/>
              <a:headEnd/>
              <a:tailEnd/>
            </a:ln>
          </p:spPr>
          <p:txBody>
            <a:bodyPr wrap="none">
              <a:spAutoFit/>
            </a:bodyPr>
            <a:lstStyle/>
            <a:p>
              <a:pPr eaLnBrk="0" fontAlgn="t" hangingPunct="0">
                <a:buSzPct val="100000"/>
              </a:pPr>
              <a:r>
                <a:rPr lang="en-US" altLang="zh-CN" b="1" dirty="0">
                  <a:solidFill>
                    <a:srgbClr val="000000"/>
                  </a:solidFill>
                  <a:latin typeface="+mn-lt"/>
                  <a:ea typeface="+mn-ea"/>
                  <a:sym typeface="FrutigerNext LT Regular" pitchFamily="34" charset="0"/>
                </a:rPr>
                <a:t>Headquarters</a:t>
              </a:r>
            </a:p>
          </p:txBody>
        </p:sp>
        <p:sp>
          <p:nvSpPr>
            <p:cNvPr id="3089" name="文本框 14"/>
            <p:cNvSpPr txBox="1">
              <a:spLocks noChangeArrowheads="1"/>
            </p:cNvSpPr>
            <p:nvPr/>
          </p:nvSpPr>
          <p:spPr bwMode="auto">
            <a:xfrm>
              <a:off x="5697538" y="3271838"/>
              <a:ext cx="793750" cy="31639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C00000"/>
                  </a:solidFill>
                  <a:latin typeface="+mn-lt"/>
                  <a:ea typeface="+mn-ea"/>
                  <a:cs typeface="Arial" charset="0"/>
                  <a:sym typeface="FrutigerNext LT Regular" pitchFamily="34" charset="0"/>
                </a:rPr>
                <a:t>OSPF</a:t>
              </a:r>
            </a:p>
          </p:txBody>
        </p:sp>
        <p:sp>
          <p:nvSpPr>
            <p:cNvPr id="3090" name="文本框 15"/>
            <p:cNvSpPr txBox="1">
              <a:spLocks noChangeArrowheads="1"/>
            </p:cNvSpPr>
            <p:nvPr/>
          </p:nvSpPr>
          <p:spPr bwMode="auto">
            <a:xfrm>
              <a:off x="2027548" y="2558030"/>
              <a:ext cx="1423988" cy="654946"/>
            </a:xfrm>
            <a:prstGeom prst="rect">
              <a:avLst/>
            </a:prstGeom>
            <a:noFill/>
            <a:ln w="9525">
              <a:noFill/>
              <a:miter lim="800000"/>
              <a:headEnd/>
              <a:tailEnd/>
            </a:ln>
          </p:spPr>
          <p:txBody>
            <a:bodyPr wrap="square"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Marketing department</a:t>
              </a:r>
            </a:p>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20 persons</a:t>
              </a:r>
            </a:p>
          </p:txBody>
        </p:sp>
        <p:sp>
          <p:nvSpPr>
            <p:cNvPr id="3095" name="文本框 28"/>
            <p:cNvSpPr txBox="1">
              <a:spLocks noChangeArrowheads="1"/>
            </p:cNvSpPr>
            <p:nvPr/>
          </p:nvSpPr>
          <p:spPr bwMode="auto">
            <a:xfrm>
              <a:off x="5224464" y="2924176"/>
              <a:ext cx="979487" cy="224059"/>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800" dirty="0">
                  <a:solidFill>
                    <a:srgbClr val="000000"/>
                  </a:solidFill>
                  <a:latin typeface="+mn-lt"/>
                  <a:ea typeface="+mn-ea"/>
                  <a:cs typeface="Arial" charset="0"/>
                  <a:sym typeface="FrutigerNext LT Regular" pitchFamily="34" charset="0"/>
                </a:rPr>
                <a:t>10M(cost 1)</a:t>
              </a:r>
            </a:p>
          </p:txBody>
        </p:sp>
        <p:sp>
          <p:nvSpPr>
            <p:cNvPr id="3096" name="文本框 29"/>
            <p:cNvSpPr txBox="1">
              <a:spLocks noChangeArrowheads="1"/>
            </p:cNvSpPr>
            <p:nvPr/>
          </p:nvSpPr>
          <p:spPr bwMode="auto">
            <a:xfrm>
              <a:off x="5886451" y="2865439"/>
              <a:ext cx="1001713" cy="224059"/>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800" dirty="0">
                  <a:solidFill>
                    <a:srgbClr val="000000"/>
                  </a:solidFill>
                  <a:latin typeface="+mn-lt"/>
                  <a:ea typeface="+mn-ea"/>
                  <a:cs typeface="Arial" charset="0"/>
                  <a:sym typeface="FrutigerNext LT Regular" pitchFamily="34" charset="0"/>
                </a:rPr>
                <a:t>10M(cost 1)</a:t>
              </a:r>
            </a:p>
          </p:txBody>
        </p:sp>
        <p:sp>
          <p:nvSpPr>
            <p:cNvPr id="3097" name="文本框 30"/>
            <p:cNvSpPr txBox="1">
              <a:spLocks noChangeArrowheads="1"/>
            </p:cNvSpPr>
            <p:nvPr/>
          </p:nvSpPr>
          <p:spPr bwMode="auto">
            <a:xfrm>
              <a:off x="5916614" y="3644901"/>
              <a:ext cx="1150937" cy="224059"/>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800" dirty="0">
                  <a:solidFill>
                    <a:srgbClr val="000000"/>
                  </a:solidFill>
                  <a:latin typeface="+mn-lt"/>
                  <a:ea typeface="+mn-ea"/>
                  <a:cs typeface="Arial" charset="0"/>
                  <a:sym typeface="FrutigerNext LT Regular" pitchFamily="34" charset="0"/>
                </a:rPr>
                <a:t>10M(cost 1)</a:t>
              </a:r>
            </a:p>
          </p:txBody>
        </p:sp>
        <p:sp>
          <p:nvSpPr>
            <p:cNvPr id="3098" name="文本框 31"/>
            <p:cNvSpPr txBox="1">
              <a:spLocks noChangeArrowheads="1"/>
            </p:cNvSpPr>
            <p:nvPr/>
          </p:nvSpPr>
          <p:spPr bwMode="auto">
            <a:xfrm>
              <a:off x="5141914" y="3657601"/>
              <a:ext cx="1062037" cy="224059"/>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800" dirty="0">
                  <a:solidFill>
                    <a:srgbClr val="000000"/>
                  </a:solidFill>
                  <a:latin typeface="+mn-lt"/>
                  <a:ea typeface="+mn-ea"/>
                  <a:cs typeface="Arial" charset="0"/>
                  <a:sym typeface="FrutigerNext LT Regular" pitchFamily="34" charset="0"/>
                </a:rPr>
                <a:t>5M(cost 2)</a:t>
              </a:r>
            </a:p>
          </p:txBody>
        </p:sp>
        <p:cxnSp>
          <p:nvCxnSpPr>
            <p:cNvPr id="39" name="直接连接符 38"/>
            <p:cNvCxnSpPr>
              <a:cxnSpLocks noChangeAspect="1"/>
            </p:cNvCxnSpPr>
            <p:nvPr/>
          </p:nvCxnSpPr>
          <p:spPr bwMode="auto">
            <a:xfrm rot="20880000">
              <a:off x="5083176" y="3422650"/>
              <a:ext cx="823913" cy="871538"/>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直接连接符 41"/>
            <p:cNvCxnSpPr>
              <a:cxnSpLocks noChangeAspect="1"/>
            </p:cNvCxnSpPr>
            <p:nvPr/>
          </p:nvCxnSpPr>
          <p:spPr bwMode="auto">
            <a:xfrm rot="17340000">
              <a:off x="6093619" y="3426619"/>
              <a:ext cx="1258888" cy="8699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103" name="文本框 43"/>
            <p:cNvSpPr txBox="1">
              <a:spLocks noChangeArrowheads="1"/>
            </p:cNvSpPr>
            <p:nvPr/>
          </p:nvSpPr>
          <p:spPr bwMode="auto">
            <a:xfrm>
              <a:off x="6996114" y="3644900"/>
              <a:ext cx="771525"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3104" name="文本框 44"/>
            <p:cNvSpPr txBox="1">
              <a:spLocks noChangeArrowheads="1"/>
            </p:cNvSpPr>
            <p:nvPr/>
          </p:nvSpPr>
          <p:spPr bwMode="auto">
            <a:xfrm>
              <a:off x="6210301" y="4192588"/>
              <a:ext cx="771525"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3105" name="文本框 45"/>
            <p:cNvSpPr txBox="1">
              <a:spLocks noChangeArrowheads="1"/>
            </p:cNvSpPr>
            <p:nvPr/>
          </p:nvSpPr>
          <p:spPr bwMode="auto">
            <a:xfrm>
              <a:off x="6186488" y="2257425"/>
              <a:ext cx="773112"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3106" name="文本框 46"/>
            <p:cNvSpPr txBox="1">
              <a:spLocks noChangeArrowheads="1"/>
            </p:cNvSpPr>
            <p:nvPr/>
          </p:nvSpPr>
          <p:spPr bwMode="auto">
            <a:xfrm>
              <a:off x="4511676" y="3681413"/>
              <a:ext cx="771525"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sp>
          <p:nvSpPr>
            <p:cNvPr id="3107" name="文本框 1"/>
            <p:cNvSpPr txBox="1">
              <a:spLocks noChangeArrowheads="1"/>
            </p:cNvSpPr>
            <p:nvPr/>
          </p:nvSpPr>
          <p:spPr bwMode="auto">
            <a:xfrm rot="19380000">
              <a:off x="4552950" y="2744126"/>
              <a:ext cx="1473200"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12.1.1.0</a:t>
              </a:r>
            </a:p>
          </p:txBody>
        </p:sp>
        <p:sp>
          <p:nvSpPr>
            <p:cNvPr id="3108" name="文本框 40"/>
            <p:cNvSpPr txBox="1">
              <a:spLocks noChangeArrowheads="1"/>
            </p:cNvSpPr>
            <p:nvPr/>
          </p:nvSpPr>
          <p:spPr bwMode="auto">
            <a:xfrm rot="2520000">
              <a:off x="6162676" y="2715551"/>
              <a:ext cx="1471613"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12.1.2.0</a:t>
              </a:r>
            </a:p>
          </p:txBody>
        </p:sp>
        <p:sp>
          <p:nvSpPr>
            <p:cNvPr id="3109" name="文本框 42"/>
            <p:cNvSpPr txBox="1">
              <a:spLocks noChangeArrowheads="1"/>
            </p:cNvSpPr>
            <p:nvPr/>
          </p:nvSpPr>
          <p:spPr bwMode="auto">
            <a:xfrm rot="2160000">
              <a:off x="4702175" y="3883157"/>
              <a:ext cx="1473200"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12.1.3.0</a:t>
              </a:r>
            </a:p>
          </p:txBody>
        </p:sp>
        <p:sp>
          <p:nvSpPr>
            <p:cNvPr id="3110" name="文本框 48"/>
            <p:cNvSpPr txBox="1">
              <a:spLocks noChangeArrowheads="1"/>
            </p:cNvSpPr>
            <p:nvPr/>
          </p:nvSpPr>
          <p:spPr bwMode="auto">
            <a:xfrm rot="19462497">
              <a:off x="6086475" y="3887126"/>
              <a:ext cx="1473200"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12.1.4.0</a:t>
              </a:r>
            </a:p>
          </p:txBody>
        </p:sp>
        <p:sp>
          <p:nvSpPr>
            <p:cNvPr id="3111" name="文本框 49"/>
            <p:cNvSpPr txBox="1">
              <a:spLocks noChangeArrowheads="1"/>
            </p:cNvSpPr>
            <p:nvPr/>
          </p:nvSpPr>
          <p:spPr bwMode="auto">
            <a:xfrm rot="1233254">
              <a:off x="3814971" y="2987048"/>
              <a:ext cx="1196975"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10.1.1.0</a:t>
              </a:r>
            </a:p>
          </p:txBody>
        </p:sp>
        <p:sp>
          <p:nvSpPr>
            <p:cNvPr id="3112" name="文本框 51"/>
            <p:cNvSpPr txBox="1">
              <a:spLocks noChangeArrowheads="1"/>
            </p:cNvSpPr>
            <p:nvPr/>
          </p:nvSpPr>
          <p:spPr bwMode="auto">
            <a:xfrm rot="20526802">
              <a:off x="3509963" y="3483901"/>
              <a:ext cx="1473200"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10.1.2.0</a:t>
              </a:r>
            </a:p>
          </p:txBody>
        </p:sp>
        <p:sp>
          <p:nvSpPr>
            <p:cNvPr id="3113" name="文本框 52"/>
            <p:cNvSpPr txBox="1">
              <a:spLocks noChangeArrowheads="1"/>
            </p:cNvSpPr>
            <p:nvPr/>
          </p:nvSpPr>
          <p:spPr bwMode="auto">
            <a:xfrm>
              <a:off x="7294563" y="3576638"/>
              <a:ext cx="1473200" cy="239448"/>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mn-ea"/>
                  <a:cs typeface="Arial" charset="0"/>
                  <a:sym typeface="FrutigerNext LT Regular" pitchFamily="34" charset="0"/>
                </a:rPr>
                <a:t>10.1.3.0</a:t>
              </a:r>
            </a:p>
          </p:txBody>
        </p:sp>
        <p:sp>
          <p:nvSpPr>
            <p:cNvPr id="3114" name="文本框 2"/>
            <p:cNvSpPr txBox="1">
              <a:spLocks noChangeArrowheads="1"/>
            </p:cNvSpPr>
            <p:nvPr/>
          </p:nvSpPr>
          <p:spPr bwMode="auto">
            <a:xfrm>
              <a:off x="4884738" y="3101976"/>
              <a:ext cx="1052512" cy="224059"/>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800" dirty="0">
                  <a:solidFill>
                    <a:srgbClr val="000000"/>
                  </a:solidFill>
                  <a:latin typeface="+mn-lt"/>
                  <a:ea typeface="+mn-ea"/>
                  <a:cs typeface="Arial" charset="0"/>
                  <a:sym typeface="FrutigerNext LT Regular" pitchFamily="34" charset="0"/>
                </a:rPr>
                <a:t>G0/0/0</a:t>
              </a:r>
            </a:p>
          </p:txBody>
        </p:sp>
        <p:sp>
          <p:nvSpPr>
            <p:cNvPr id="62" name="AutoShape 17"/>
            <p:cNvSpPr>
              <a:spLocks noChangeArrowheads="1"/>
            </p:cNvSpPr>
            <p:nvPr/>
          </p:nvSpPr>
          <p:spPr bwMode="auto">
            <a:xfrm>
              <a:off x="3523412" y="4592887"/>
              <a:ext cx="1220534" cy="369332"/>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int g0/0/0</a:t>
              </a:r>
            </a:p>
            <a:p>
              <a:pPr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 ospf cost 2</a:t>
              </a:r>
            </a:p>
          </p:txBody>
        </p:sp>
        <p:sp>
          <p:nvSpPr>
            <p:cNvPr id="3121" name="文本框 50"/>
            <p:cNvSpPr txBox="1">
              <a:spLocks noChangeArrowheads="1"/>
            </p:cNvSpPr>
            <p:nvPr/>
          </p:nvSpPr>
          <p:spPr bwMode="auto">
            <a:xfrm>
              <a:off x="4881564" y="3492501"/>
              <a:ext cx="1050925" cy="224059"/>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800" dirty="0">
                  <a:solidFill>
                    <a:srgbClr val="000000"/>
                  </a:solidFill>
                  <a:latin typeface="+mn-lt"/>
                  <a:ea typeface="+mn-ea"/>
                  <a:cs typeface="Arial" charset="0"/>
                  <a:sym typeface="FrutigerNext LT Regular" pitchFamily="34" charset="0"/>
                </a:rPr>
                <a:t>G0/0/1</a:t>
              </a:r>
            </a:p>
          </p:txBody>
        </p:sp>
        <p:pic>
          <p:nvPicPr>
            <p:cNvPr id="52" name="图片 51"/>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198686" y="3746828"/>
              <a:ext cx="540000" cy="442800"/>
            </a:xfrm>
            <a:prstGeom prst="rect">
              <a:avLst/>
            </a:prstGeom>
          </p:spPr>
        </p:pic>
        <p:pic>
          <p:nvPicPr>
            <p:cNvPr id="53" name="图片 52"/>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774584" y="3214680"/>
              <a:ext cx="540000" cy="442800"/>
            </a:xfrm>
            <a:prstGeom prst="rect">
              <a:avLst/>
            </a:prstGeom>
          </p:spPr>
        </p:pic>
        <p:pic>
          <p:nvPicPr>
            <p:cNvPr id="54"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5757834" y="2287731"/>
              <a:ext cx="628652" cy="514351"/>
            </a:xfrm>
            <a:prstGeom prst="rect">
              <a:avLst/>
            </a:prstGeom>
            <a:noFill/>
          </p:spPr>
        </p:pic>
        <p:pic>
          <p:nvPicPr>
            <p:cNvPr id="58"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5757834" y="4046511"/>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4656908" y="3148635"/>
              <a:ext cx="628652" cy="514351"/>
            </a:xfrm>
            <a:prstGeom prst="rect">
              <a:avLst/>
            </a:prstGeom>
            <a:noFill/>
          </p:spPr>
        </p:pic>
        <p:pic>
          <p:nvPicPr>
            <p:cNvPr id="61" name="图片 60" descr="市场部.png"/>
            <p:cNvPicPr>
              <a:picLocks noChangeAspect="1"/>
            </p:cNvPicPr>
            <p:nvPr/>
          </p:nvPicPr>
          <p:blipFill>
            <a:blip r:embed="rId6" cstate="print"/>
            <a:stretch>
              <a:fillRect/>
            </a:stretch>
          </p:blipFill>
          <p:spPr>
            <a:xfrm>
              <a:off x="3228993" y="2603439"/>
              <a:ext cx="540000" cy="441818"/>
            </a:xfrm>
            <a:prstGeom prst="rect">
              <a:avLst/>
            </a:prstGeom>
          </p:spPr>
        </p:pic>
        <p:pic>
          <p:nvPicPr>
            <p:cNvPr id="63"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6957500" y="3166677"/>
              <a:ext cx="628652" cy="514351"/>
            </a:xfrm>
            <a:prstGeom prst="rect">
              <a:avLst/>
            </a:prstGeom>
            <a:noFill/>
          </p:spPr>
        </p:pic>
        <p:sp>
          <p:nvSpPr>
            <p:cNvPr id="3116" name="任意多边形 57"/>
            <p:cNvSpPr>
              <a:spLocks/>
            </p:cNvSpPr>
            <p:nvPr/>
          </p:nvSpPr>
          <p:spPr bwMode="auto">
            <a:xfrm>
              <a:off x="4835526" y="2460625"/>
              <a:ext cx="3825875" cy="915988"/>
            </a:xfrm>
            <a:custGeom>
              <a:avLst/>
              <a:gdLst>
                <a:gd name="T0" fmla="*/ 0 w 4757928"/>
                <a:gd name="T1" fmla="*/ 1038731 h 807796"/>
                <a:gd name="T2" fmla="*/ 275665 w 4757928"/>
                <a:gd name="T3" fmla="*/ 710889 h 807796"/>
                <a:gd name="T4" fmla="*/ 867968 w 4757928"/>
                <a:gd name="T5" fmla="*/ 64201 h 807796"/>
                <a:gd name="T6" fmla="*/ 1068295 w 4757928"/>
                <a:gd name="T7" fmla="*/ 10734 h 807796"/>
                <a:gd name="T8" fmla="*/ 1985785 w 4757928"/>
                <a:gd name="T9" fmla="*/ 937271 h 807796"/>
                <a:gd name="T10" fmla="*/ 3076463 w 4757928"/>
                <a:gd name="T11" fmla="*/ 961997 h 807796"/>
                <a:gd name="T12" fmla="*/ 0 60000 65536"/>
                <a:gd name="T13" fmla="*/ 0 60000 65536"/>
                <a:gd name="T14" fmla="*/ 0 60000 65536"/>
                <a:gd name="T15" fmla="*/ 0 60000 65536"/>
                <a:gd name="T16" fmla="*/ 0 60000 65536"/>
                <a:gd name="T17" fmla="*/ 0 60000 65536"/>
                <a:gd name="T18" fmla="*/ 0 w 4757928"/>
                <a:gd name="T19" fmla="*/ 0 h 807796"/>
                <a:gd name="T20" fmla="*/ 4757928 w 4757928"/>
                <a:gd name="T21" fmla="*/ 807796 h 807796"/>
              </a:gdLst>
              <a:ahLst/>
              <a:cxnLst>
                <a:cxn ang="T12">
                  <a:pos x="T0" y="T1"/>
                </a:cxn>
                <a:cxn ang="T13">
                  <a:pos x="T2" y="T3"/>
                </a:cxn>
                <a:cxn ang="T14">
                  <a:pos x="T4" y="T5"/>
                </a:cxn>
                <a:cxn ang="T15">
                  <a:pos x="T6" y="T7"/>
                </a:cxn>
                <a:cxn ang="T16">
                  <a:pos x="T8" y="T9"/>
                </a:cxn>
                <a:cxn ang="T17">
                  <a:pos x="T10" y="T11"/>
                </a:cxn>
              </a:cxnLst>
              <a:rect l="T18" t="T19" r="T20" b="T21"/>
              <a:pathLst>
                <a:path w="4757928" h="807796">
                  <a:moveTo>
                    <a:pt x="0" y="807796"/>
                  </a:moveTo>
                  <a:cubicBezTo>
                    <a:pt x="458855" y="522404"/>
                    <a:pt x="202605" y="679152"/>
                    <a:pt x="426332" y="552841"/>
                  </a:cubicBezTo>
                  <a:cubicBezTo>
                    <a:pt x="650059" y="426530"/>
                    <a:pt x="1138055" y="140677"/>
                    <a:pt x="1342363" y="49928"/>
                  </a:cubicBezTo>
                  <a:cubicBezTo>
                    <a:pt x="1546671" y="-40821"/>
                    <a:pt x="1450152" y="22813"/>
                    <a:pt x="1652180" y="8347"/>
                  </a:cubicBezTo>
                  <a:cubicBezTo>
                    <a:pt x="1854208" y="86871"/>
                    <a:pt x="2766376" y="555299"/>
                    <a:pt x="3071133" y="728893"/>
                  </a:cubicBezTo>
                  <a:cubicBezTo>
                    <a:pt x="3449212" y="810188"/>
                    <a:pt x="4124954" y="771155"/>
                    <a:pt x="4757928" y="748122"/>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sz="900" dirty="0">
                <a:latin typeface="+mn-lt"/>
                <a:ea typeface="+mn-ea"/>
              </a:endParaRPr>
            </a:p>
          </p:txBody>
        </p:sp>
        <p:sp>
          <p:nvSpPr>
            <p:cNvPr id="3120" name="任意多边形 47"/>
            <p:cNvSpPr>
              <a:spLocks/>
            </p:cNvSpPr>
            <p:nvPr/>
          </p:nvSpPr>
          <p:spPr bwMode="auto">
            <a:xfrm>
              <a:off x="4764089" y="3413126"/>
              <a:ext cx="3913187" cy="879475"/>
            </a:xfrm>
            <a:custGeom>
              <a:avLst/>
              <a:gdLst>
                <a:gd name="T0" fmla="*/ 8785 w 4865789"/>
                <a:gd name="T1" fmla="*/ 13572 h 775833"/>
                <a:gd name="T2" fmla="*/ 111680 w 4865789"/>
                <a:gd name="T3" fmla="*/ 96448 h 775833"/>
                <a:gd name="T4" fmla="*/ 955604 w 4865789"/>
                <a:gd name="T5" fmla="*/ 942576 h 775833"/>
                <a:gd name="T6" fmla="*/ 1182575 w 4865789"/>
                <a:gd name="T7" fmla="*/ 934240 h 775833"/>
                <a:gd name="T8" fmla="*/ 1580891 w 4865789"/>
                <a:gd name="T9" fmla="*/ 567951 h 775833"/>
                <a:gd name="T10" fmla="*/ 1989705 w 4865789"/>
                <a:gd name="T11" fmla="*/ 150508 h 775833"/>
                <a:gd name="T12" fmla="*/ 2147228 w 4865789"/>
                <a:gd name="T13" fmla="*/ 114141 h 775833"/>
                <a:gd name="T14" fmla="*/ 2468968 w 4865789"/>
                <a:gd name="T15" fmla="*/ 129773 h 775833"/>
                <a:gd name="T16" fmla="*/ 2736405 w 4865789"/>
                <a:gd name="T17" fmla="*/ 135753 h 775833"/>
                <a:gd name="T18" fmla="*/ 3146672 w 4865789"/>
                <a:gd name="T19" fmla="*/ 134366 h 7758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865789"/>
                <a:gd name="T31" fmla="*/ 0 h 775833"/>
                <a:gd name="T32" fmla="*/ 4865789 w 4865789"/>
                <a:gd name="T33" fmla="*/ 775833 h 7758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865789" h="775833">
                  <a:moveTo>
                    <a:pt x="13585" y="10558"/>
                  </a:moveTo>
                  <a:cubicBezTo>
                    <a:pt x="15251" y="16899"/>
                    <a:pt x="-71321" y="-45419"/>
                    <a:pt x="172694" y="75028"/>
                  </a:cubicBezTo>
                  <a:cubicBezTo>
                    <a:pt x="416709" y="195475"/>
                    <a:pt x="1243288" y="644287"/>
                    <a:pt x="1477677" y="733242"/>
                  </a:cubicBezTo>
                  <a:cubicBezTo>
                    <a:pt x="1712066" y="822197"/>
                    <a:pt x="1702169" y="747466"/>
                    <a:pt x="1828650" y="726757"/>
                  </a:cubicBezTo>
                  <a:cubicBezTo>
                    <a:pt x="1968999" y="686381"/>
                    <a:pt x="2221389" y="556339"/>
                    <a:pt x="2444577" y="441817"/>
                  </a:cubicBezTo>
                  <a:cubicBezTo>
                    <a:pt x="2657214" y="341843"/>
                    <a:pt x="2944648" y="171003"/>
                    <a:pt x="3076738" y="117082"/>
                  </a:cubicBezTo>
                  <a:cubicBezTo>
                    <a:pt x="3208828" y="63161"/>
                    <a:pt x="3199118" y="84924"/>
                    <a:pt x="3320323" y="88792"/>
                  </a:cubicBezTo>
                  <a:cubicBezTo>
                    <a:pt x="3583485" y="85737"/>
                    <a:pt x="3690030" y="91430"/>
                    <a:pt x="3817836" y="100952"/>
                  </a:cubicBezTo>
                  <a:lnTo>
                    <a:pt x="4231380" y="105604"/>
                  </a:lnTo>
                  <a:cubicBezTo>
                    <a:pt x="4890102" y="89173"/>
                    <a:pt x="4341985" y="93622"/>
                    <a:pt x="4865789" y="104525"/>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sz="900" dirty="0">
                <a:latin typeface="+mn-lt"/>
                <a:ea typeface="+mn-ea"/>
              </a:endParaRPr>
            </a:p>
          </p:txBody>
        </p:sp>
      </p:grpSp>
      <p:sp>
        <p:nvSpPr>
          <p:cNvPr id="65" name="AutoShape 17"/>
          <p:cNvSpPr>
            <a:spLocks noChangeArrowheads="1"/>
          </p:cNvSpPr>
          <p:nvPr/>
        </p:nvSpPr>
        <p:spPr bwMode="auto">
          <a:xfrm>
            <a:off x="1647959" y="5176762"/>
            <a:ext cx="8568952" cy="923330"/>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r>
              <a:rPr lang="en-US" altLang="zh-CN" sz="1400" b="1" dirty="0" smtClean="0">
                <a:latin typeface="+mn-lt"/>
                <a:ea typeface="+mn-ea"/>
                <a:cs typeface="Courier New" panose="02070309020205020404" pitchFamily="49" charset="0"/>
              </a:rPr>
              <a:t>display </a:t>
            </a:r>
            <a:r>
              <a:rPr lang="en-US" altLang="zh-CN" sz="1400" b="1" dirty="0" err="1">
                <a:latin typeface="+mn-lt"/>
                <a:ea typeface="+mn-ea"/>
                <a:cs typeface="Courier New" panose="02070309020205020404" pitchFamily="49" charset="0"/>
              </a:rPr>
              <a:t>ip</a:t>
            </a:r>
            <a:r>
              <a:rPr lang="en-US" altLang="zh-CN" sz="1400" b="1" dirty="0">
                <a:latin typeface="+mn-lt"/>
                <a:ea typeface="+mn-ea"/>
                <a:cs typeface="Courier New" panose="02070309020205020404" pitchFamily="49" charset="0"/>
              </a:rPr>
              <a:t> routing-table </a:t>
            </a:r>
            <a:endParaRPr lang="zh-CN" altLang="en-US" sz="1400" b="1" dirty="0">
              <a:latin typeface="+mn-lt"/>
              <a:ea typeface="+mn-ea"/>
              <a:cs typeface="Courier New" panose="02070309020205020404" pitchFamily="49" charset="0"/>
            </a:endParaRPr>
          </a:p>
          <a:p>
            <a:r>
              <a:rPr lang="en-US" altLang="zh-CN" sz="1400" dirty="0" smtClean="0">
                <a:latin typeface="+mn-lt"/>
                <a:ea typeface="+mn-ea"/>
                <a:cs typeface="Courier New" panose="02070309020205020404" pitchFamily="49" charset="0"/>
              </a:rPr>
              <a:t>Destination/Mask	Proto	Pre	Cost	Flags	</a:t>
            </a:r>
            <a:r>
              <a:rPr lang="en-US" altLang="zh-CN" sz="1400" dirty="0" err="1" smtClean="0">
                <a:latin typeface="+mn-lt"/>
                <a:ea typeface="+mn-ea"/>
                <a:cs typeface="Courier New" panose="02070309020205020404" pitchFamily="49" charset="0"/>
              </a:rPr>
              <a:t>NextHop</a:t>
            </a:r>
            <a:r>
              <a:rPr lang="en-US" altLang="zh-CN" sz="1400" dirty="0" smtClean="0">
                <a:latin typeface="+mn-lt"/>
                <a:ea typeface="+mn-ea"/>
                <a:cs typeface="Courier New" panose="02070309020205020404" pitchFamily="49" charset="0"/>
              </a:rPr>
              <a:t>	Interface</a:t>
            </a:r>
            <a:endParaRPr lang="zh-CN" altLang="en-US" sz="1400" dirty="0">
              <a:latin typeface="+mn-lt"/>
              <a:ea typeface="+mn-ea"/>
              <a:cs typeface="Courier New" panose="02070309020205020404" pitchFamily="49" charset="0"/>
            </a:endParaRPr>
          </a:p>
          <a:p>
            <a:r>
              <a:rPr lang="en-US" altLang="zh-CN" sz="1800" dirty="0">
                <a:solidFill>
                  <a:srgbClr val="C00000"/>
                </a:solidFill>
                <a:latin typeface="+mn-lt"/>
                <a:ea typeface="+mn-ea"/>
                <a:cs typeface="Courier New" panose="02070309020205020404" pitchFamily="49" charset="0"/>
              </a:rPr>
              <a:t> </a:t>
            </a:r>
            <a:r>
              <a:rPr lang="en-US" altLang="zh-CN" sz="1400" dirty="0" smtClean="0">
                <a:solidFill>
                  <a:srgbClr val="C00000"/>
                </a:solidFill>
                <a:latin typeface="+mn-lt"/>
                <a:ea typeface="+mn-ea"/>
                <a:cs typeface="Courier New" panose="02070309020205020404" pitchFamily="49" charset="0"/>
              </a:rPr>
              <a:t>10.1.3.0/24</a:t>
            </a:r>
            <a:r>
              <a:rPr lang="en-US" altLang="zh-CN" sz="1800" dirty="0" smtClean="0">
                <a:solidFill>
                  <a:srgbClr val="C00000"/>
                </a:solidFill>
                <a:latin typeface="+mn-lt"/>
                <a:ea typeface="+mn-ea"/>
                <a:cs typeface="Courier New" panose="02070309020205020404" pitchFamily="49" charset="0"/>
              </a:rPr>
              <a:t>	</a:t>
            </a:r>
            <a:r>
              <a:rPr lang="en-US" altLang="zh-CN" sz="1400" dirty="0" smtClean="0">
                <a:latin typeface="+mn-lt"/>
                <a:ea typeface="+mn-ea"/>
                <a:cs typeface="Courier New" panose="02070309020205020404" pitchFamily="49" charset="0"/>
              </a:rPr>
              <a:t>OSPF	10	4	D	</a:t>
            </a:r>
            <a:r>
              <a:rPr lang="en-US" altLang="zh-CN" sz="1400" dirty="0" smtClean="0">
                <a:solidFill>
                  <a:srgbClr val="C00000"/>
                </a:solidFill>
                <a:latin typeface="+mn-lt"/>
                <a:ea typeface="+mn-ea"/>
                <a:cs typeface="Courier New" panose="02070309020205020404" pitchFamily="49" charset="0"/>
              </a:rPr>
              <a:t>12.1.1.2</a:t>
            </a:r>
            <a:r>
              <a:rPr lang="en-US" altLang="zh-CN" sz="1400" dirty="0" smtClean="0">
                <a:solidFill>
                  <a:srgbClr val="C81F1F"/>
                </a:solidFill>
                <a:latin typeface="+mn-lt"/>
                <a:ea typeface="+mn-ea"/>
                <a:cs typeface="Courier New" panose="02070309020205020404" pitchFamily="49" charset="0"/>
              </a:rPr>
              <a:t>	</a:t>
            </a:r>
            <a:r>
              <a:rPr lang="en-US" altLang="zh-CN" sz="1400" dirty="0" err="1" smtClean="0">
                <a:latin typeface="+mn-lt"/>
                <a:ea typeface="+mn-ea"/>
                <a:cs typeface="Courier New" panose="02070309020205020404" pitchFamily="49" charset="0"/>
              </a:rPr>
              <a:t>GigabitEthernet</a:t>
            </a:r>
            <a:r>
              <a:rPr lang="en-US" altLang="zh-CN" sz="1400" dirty="0" smtClean="0">
                <a:latin typeface="+mn-lt"/>
                <a:ea typeface="+mn-ea"/>
                <a:cs typeface="Courier New" panose="02070309020205020404" pitchFamily="49" charset="0"/>
              </a:rPr>
              <a:t> </a:t>
            </a:r>
            <a:r>
              <a:rPr lang="en-US" altLang="zh-CN" sz="1400" dirty="0">
                <a:latin typeface="+mn-lt"/>
                <a:ea typeface="+mn-ea"/>
                <a:cs typeface="Courier New" panose="02070309020205020404" pitchFamily="49" charset="0"/>
              </a:rPr>
              <a:t>0/0/0</a:t>
            </a:r>
            <a:endParaRPr lang="zh-CN" altLang="en-US" sz="1400" dirty="0">
              <a:latin typeface="+mn-lt"/>
              <a:ea typeface="+mn-ea"/>
              <a:cs typeface="Courier New" panose="02070309020205020404" pitchFamily="49" charset="0"/>
            </a:endParaRPr>
          </a:p>
          <a:p>
            <a:pPr lvl="2"/>
            <a:r>
              <a:rPr lang="en-US" altLang="zh-CN" sz="1400" dirty="0" smtClean="0">
                <a:latin typeface="+mn-lt"/>
                <a:ea typeface="+mn-ea"/>
                <a:cs typeface="Courier New" panose="02070309020205020404" pitchFamily="49" charset="0"/>
              </a:rPr>
              <a:t>	OSPF	10	4	D	</a:t>
            </a:r>
            <a:r>
              <a:rPr lang="en-US" altLang="zh-CN" sz="1400" dirty="0" smtClean="0">
                <a:solidFill>
                  <a:srgbClr val="C00000"/>
                </a:solidFill>
                <a:latin typeface="+mn-lt"/>
                <a:ea typeface="+mn-ea"/>
                <a:cs typeface="Courier New" panose="02070309020205020404" pitchFamily="49" charset="0"/>
              </a:rPr>
              <a:t>12.1.3.2</a:t>
            </a:r>
            <a:r>
              <a:rPr lang="en-US" altLang="zh-CN" sz="1400" dirty="0" smtClean="0">
                <a:solidFill>
                  <a:srgbClr val="C81F1F"/>
                </a:solidFill>
                <a:latin typeface="+mn-lt"/>
                <a:ea typeface="+mn-ea"/>
                <a:cs typeface="Courier New" panose="02070309020205020404" pitchFamily="49" charset="0"/>
              </a:rPr>
              <a:t>	</a:t>
            </a:r>
            <a:r>
              <a:rPr lang="en-US" altLang="zh-CN" sz="1400" dirty="0" err="1" smtClean="0">
                <a:latin typeface="+mn-lt"/>
                <a:ea typeface="+mn-ea"/>
                <a:cs typeface="Courier New" panose="02070309020205020404" pitchFamily="49" charset="0"/>
              </a:rPr>
              <a:t>GigabitEthernet</a:t>
            </a:r>
            <a:r>
              <a:rPr lang="en-US" altLang="zh-CN" sz="1400" dirty="0" smtClean="0">
                <a:latin typeface="+mn-lt"/>
                <a:ea typeface="+mn-ea"/>
                <a:cs typeface="Courier New" panose="02070309020205020404" pitchFamily="49" charset="0"/>
              </a:rPr>
              <a:t> </a:t>
            </a:r>
            <a:r>
              <a:rPr lang="en-US" altLang="zh-CN" sz="1400" dirty="0">
                <a:latin typeface="+mn-lt"/>
                <a:ea typeface="+mn-ea"/>
                <a:cs typeface="Courier New" panose="02070309020205020404" pitchFamily="49" charset="0"/>
              </a:rPr>
              <a:t>0/0/1</a:t>
            </a:r>
            <a:endParaRPr lang="zh-CN" altLang="en-US" sz="1400" dirty="0">
              <a:latin typeface="+mn-lt"/>
              <a:ea typeface="+mn-ea"/>
              <a:cs typeface="Courier New" panose="02070309020205020404" pitchFamily="49" charset="0"/>
            </a:endParaRPr>
          </a:p>
        </p:txBody>
      </p:sp>
      <p:sp>
        <p:nvSpPr>
          <p:cNvPr id="66" name="AutoShape 17"/>
          <p:cNvSpPr>
            <a:spLocks noChangeArrowheads="1"/>
          </p:cNvSpPr>
          <p:nvPr/>
        </p:nvSpPr>
        <p:spPr bwMode="auto">
          <a:xfrm>
            <a:off x="1644878" y="1478372"/>
            <a:ext cx="8627586" cy="707886"/>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r>
              <a:rPr lang="en-US" altLang="zh-CN" sz="1400" b="1" dirty="0" smtClean="0">
                <a:latin typeface="+mn-lt"/>
                <a:ea typeface="+mn-ea"/>
                <a:cs typeface="Courier New" panose="02070309020205020404" pitchFamily="49" charset="0"/>
              </a:rPr>
              <a:t>display </a:t>
            </a:r>
            <a:r>
              <a:rPr lang="en-US" altLang="zh-CN" sz="1400" b="1" dirty="0" err="1">
                <a:latin typeface="+mn-lt"/>
                <a:ea typeface="+mn-ea"/>
                <a:cs typeface="Courier New" panose="02070309020205020404" pitchFamily="49" charset="0"/>
              </a:rPr>
              <a:t>ip</a:t>
            </a:r>
            <a:r>
              <a:rPr lang="en-US" altLang="zh-CN" sz="1400" b="1" dirty="0">
                <a:latin typeface="+mn-lt"/>
                <a:ea typeface="+mn-ea"/>
                <a:cs typeface="Courier New" panose="02070309020205020404" pitchFamily="49" charset="0"/>
              </a:rPr>
              <a:t> routing-table </a:t>
            </a:r>
            <a:endParaRPr lang="zh-CN" altLang="en-US" sz="1400" b="1" dirty="0">
              <a:latin typeface="+mn-lt"/>
              <a:ea typeface="+mn-ea"/>
              <a:cs typeface="Courier New" panose="02070309020205020404" pitchFamily="49" charset="0"/>
            </a:endParaRPr>
          </a:p>
          <a:p>
            <a:r>
              <a:rPr lang="en-US" altLang="zh-CN" sz="1400" dirty="0" smtClean="0">
                <a:latin typeface="+mn-lt"/>
                <a:ea typeface="+mn-ea"/>
                <a:cs typeface="Courier New" panose="02070309020205020404" pitchFamily="49" charset="0"/>
              </a:rPr>
              <a:t>Destination/Mask	Proto	Pre	 Cost	Flags	</a:t>
            </a:r>
            <a:r>
              <a:rPr lang="en-US" altLang="zh-CN" sz="1400" dirty="0" err="1" smtClean="0">
                <a:latin typeface="+mn-lt"/>
                <a:ea typeface="+mn-ea"/>
                <a:cs typeface="Courier New" panose="02070309020205020404" pitchFamily="49" charset="0"/>
              </a:rPr>
              <a:t>NextHop</a:t>
            </a:r>
            <a:r>
              <a:rPr lang="en-US" altLang="zh-CN" sz="1400" dirty="0" smtClean="0">
                <a:latin typeface="+mn-lt"/>
                <a:ea typeface="+mn-ea"/>
                <a:cs typeface="Courier New" panose="02070309020205020404" pitchFamily="49" charset="0"/>
              </a:rPr>
              <a:t>	Interface</a:t>
            </a:r>
            <a:endParaRPr lang="zh-CN" altLang="en-US" sz="1400" dirty="0">
              <a:latin typeface="+mn-lt"/>
              <a:ea typeface="+mn-ea"/>
              <a:cs typeface="Courier New" panose="02070309020205020404" pitchFamily="49" charset="0"/>
            </a:endParaRPr>
          </a:p>
          <a:p>
            <a:r>
              <a:rPr lang="en-US" altLang="zh-CN" sz="1800" dirty="0">
                <a:solidFill>
                  <a:srgbClr val="C00000"/>
                </a:solidFill>
                <a:latin typeface="+mn-lt"/>
                <a:ea typeface="+mn-ea"/>
              </a:rPr>
              <a:t> </a:t>
            </a:r>
            <a:r>
              <a:rPr lang="en-US" altLang="zh-CN" sz="1400" dirty="0" smtClean="0">
                <a:solidFill>
                  <a:srgbClr val="C00000"/>
                </a:solidFill>
                <a:latin typeface="+mn-lt"/>
                <a:ea typeface="+mn-ea"/>
              </a:rPr>
              <a:t>10.1.3.0/24	</a:t>
            </a:r>
            <a:r>
              <a:rPr lang="en-US" altLang="zh-CN" sz="1400" dirty="0" smtClean="0">
                <a:latin typeface="+mn-lt"/>
                <a:ea typeface="+mn-ea"/>
                <a:cs typeface="Courier New" panose="02070309020205020404" pitchFamily="49" charset="0"/>
              </a:rPr>
              <a:t>OSPF	10	 3	D	</a:t>
            </a:r>
            <a:r>
              <a:rPr lang="en-US" altLang="zh-CN" sz="1400" dirty="0" smtClean="0">
                <a:solidFill>
                  <a:srgbClr val="C00000"/>
                </a:solidFill>
                <a:latin typeface="+mn-lt"/>
                <a:ea typeface="+mn-ea"/>
              </a:rPr>
              <a:t>12.1.1.2	</a:t>
            </a:r>
            <a:r>
              <a:rPr lang="en-US" altLang="zh-CN" sz="1400" dirty="0" err="1" smtClean="0">
                <a:latin typeface="+mn-lt"/>
                <a:ea typeface="+mn-ea"/>
                <a:cs typeface="Courier New" panose="02070309020205020404" pitchFamily="49" charset="0"/>
              </a:rPr>
              <a:t>GigabitEthernet</a:t>
            </a:r>
            <a:r>
              <a:rPr lang="en-US" altLang="zh-CN" sz="1400" dirty="0" smtClean="0">
                <a:latin typeface="+mn-lt"/>
                <a:ea typeface="+mn-ea"/>
                <a:cs typeface="Courier New" panose="02070309020205020404" pitchFamily="49" charset="0"/>
              </a:rPr>
              <a:t> </a:t>
            </a:r>
            <a:r>
              <a:rPr lang="en-US" altLang="zh-CN" sz="1400" dirty="0">
                <a:latin typeface="+mn-lt"/>
                <a:ea typeface="+mn-ea"/>
                <a:cs typeface="Courier New" panose="02070309020205020404" pitchFamily="49" charset="0"/>
              </a:rPr>
              <a:t>0/0/0</a:t>
            </a:r>
            <a:endParaRPr lang="zh-CN" altLang="en-US" sz="1400" dirty="0">
              <a:latin typeface="+mn-lt"/>
              <a:ea typeface="+mn-ea"/>
              <a:cs typeface="Courier New" panose="02070309020205020404" pitchFamily="49" charset="0"/>
            </a:endParaRPr>
          </a:p>
        </p:txBody>
      </p:sp>
      <p:graphicFrame>
        <p:nvGraphicFramePr>
          <p:cNvPr id="50" name="对象 49"/>
          <p:cNvGraphicFramePr>
            <a:graphicFrameLocks noChangeAspect="1"/>
          </p:cNvGraphicFramePr>
          <p:nvPr>
            <p:extLst>
              <p:ext uri="{D42A27DB-BD31-4B8C-83A1-F6EECF244321}">
                <p14:modId xmlns:p14="http://schemas.microsoft.com/office/powerpoint/2010/main" val="27182745"/>
              </p:ext>
            </p:extLst>
          </p:nvPr>
        </p:nvGraphicFramePr>
        <p:xfrm>
          <a:off x="8515557" y="4150044"/>
          <a:ext cx="1619249" cy="886437"/>
        </p:xfrm>
        <a:graphic>
          <a:graphicData uri="http://schemas.openxmlformats.org/presentationml/2006/ole">
            <mc:AlternateContent xmlns:mc="http://schemas.openxmlformats.org/markup-compatibility/2006">
              <mc:Choice xmlns:v="urn:schemas-microsoft-com:vml" Requires="v">
                <p:oleObj spid="_x0000_s3085" name="包装程序外壳对象" showAsIcon="1" r:id="rId7" imgW="914400" imgH="828720" progId="Package">
                  <p:embed/>
                </p:oleObj>
              </mc:Choice>
              <mc:Fallback>
                <p:oleObj name="包装程序外壳对象" showAsIcon="1" r:id="rId7" imgW="914400" imgH="828720" progId="Package">
                  <p:embed/>
                  <p:pic>
                    <p:nvPicPr>
                      <p:cNvPr id="0" name=""/>
                      <p:cNvPicPr/>
                      <p:nvPr/>
                    </p:nvPicPr>
                    <p:blipFill>
                      <a:blip r:embed="rId8"/>
                      <a:stretch>
                        <a:fillRect/>
                      </a:stretch>
                    </p:blipFill>
                    <p:spPr>
                      <a:xfrm>
                        <a:off x="8515557" y="4150044"/>
                        <a:ext cx="1619249" cy="886437"/>
                      </a:xfrm>
                      <a:prstGeom prst="rect">
                        <a:avLst/>
                      </a:prstGeom>
                    </p:spPr>
                  </p:pic>
                </p:oleObj>
              </mc:Fallback>
            </mc:AlternateContent>
          </a:graphicData>
        </a:graphic>
      </p:graphicFrame>
    </p:spTree>
    <p:extLst>
      <p:ext uri="{BB962C8B-B14F-4D97-AF65-F5344CB8AC3E}">
        <p14:creationId xmlns:p14="http://schemas.microsoft.com/office/powerpoint/2010/main" val="36660046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912285" y="1233488"/>
            <a:ext cx="10560048" cy="5148262"/>
          </a:xfrm>
        </p:spPr>
        <p:txBody>
          <a:bodyPr/>
          <a:lstStyle/>
          <a:p>
            <a:r>
              <a:rPr lang="en-US" altLang="zh-CN" sz="2000" dirty="0" smtClean="0">
                <a:sym typeface="FrutigerNext LT Regular" pitchFamily="34" charset="0"/>
              </a:rPr>
              <a:t>The traffic path from the marketing department to headquarters is RTA-RTB-RTD, and the traffic path from the financial department to headquarters is RTA-RTC-RTD.</a:t>
            </a:r>
          </a:p>
          <a:p>
            <a:endParaRPr lang="en-US" altLang="zh-CN" sz="2000" dirty="0" smtClean="0"/>
          </a:p>
          <a:p>
            <a:endParaRPr lang="en-US" altLang="zh-CN" sz="2000" dirty="0"/>
          </a:p>
          <a:p>
            <a:pPr marL="0" indent="0">
              <a:buNone/>
            </a:pPr>
            <a:endParaRPr lang="en-US" altLang="zh-CN" sz="2000" dirty="0" smtClean="0"/>
          </a:p>
          <a:p>
            <a:pPr marL="0" indent="0">
              <a:buNone/>
            </a:pPr>
            <a:endParaRPr lang="en-US" altLang="zh-CN" sz="2000" dirty="0" smtClean="0"/>
          </a:p>
          <a:p>
            <a:pPr marL="0" indent="0">
              <a:buNone/>
            </a:pPr>
            <a:endParaRPr lang="en-US" altLang="zh-CN" sz="2000" dirty="0"/>
          </a:p>
          <a:p>
            <a:r>
              <a:rPr lang="en-US" altLang="zh-CN" sz="1800" dirty="0"/>
              <a:t>As shown in the figure, solution 1 cannot meet the requirement because packets are forwarded based on destination address. It cannot meet the requirements of source address-based, destination address-based, or application layer-based forwarding</a:t>
            </a:r>
            <a:endParaRPr lang="zh-CN" altLang="en-US" sz="1800" dirty="0"/>
          </a:p>
        </p:txBody>
      </p:sp>
      <p:sp>
        <p:nvSpPr>
          <p:cNvPr id="5" name="文本占位符 4"/>
          <p:cNvSpPr>
            <a:spLocks noGrp="1"/>
          </p:cNvSpPr>
          <p:nvPr>
            <p:ph type="body" sz="quarter" idx="12"/>
          </p:nvPr>
        </p:nvSpPr>
        <p:spPr/>
        <p:txBody>
          <a:bodyPr/>
          <a:lstStyle/>
          <a:p>
            <a:r>
              <a:rPr lang="en-US" altLang="zh-CN" smtClean="0"/>
              <a:t>Limitation of Solution 1</a:t>
            </a:r>
            <a:endParaRPr lang="zh-CN" altLang="en-US" dirty="0"/>
          </a:p>
        </p:txBody>
      </p:sp>
      <p:grpSp>
        <p:nvGrpSpPr>
          <p:cNvPr id="8" name="组合 7"/>
          <p:cNvGrpSpPr/>
          <p:nvPr/>
        </p:nvGrpSpPr>
        <p:grpSpPr>
          <a:xfrm>
            <a:off x="2319555" y="2646363"/>
            <a:ext cx="7770435" cy="2273131"/>
            <a:chOff x="2319555" y="2646363"/>
            <a:chExt cx="7770435" cy="2273131"/>
          </a:xfrm>
        </p:grpSpPr>
        <p:cxnSp>
          <p:nvCxnSpPr>
            <p:cNvPr id="44034" name="直接连接符 10"/>
            <p:cNvCxnSpPr>
              <a:cxnSpLocks noChangeShapeType="1"/>
            </p:cNvCxnSpPr>
            <p:nvPr/>
          </p:nvCxnSpPr>
          <p:spPr bwMode="auto">
            <a:xfrm>
              <a:off x="6356351" y="2840038"/>
              <a:ext cx="1103313" cy="908050"/>
            </a:xfrm>
            <a:prstGeom prst="line">
              <a:avLst/>
            </a:prstGeom>
            <a:noFill/>
            <a:ln w="28575" algn="ctr">
              <a:solidFill>
                <a:schemeClr val="tx1"/>
              </a:solidFill>
              <a:round/>
              <a:headEnd/>
              <a:tailEnd/>
            </a:ln>
          </p:spPr>
        </p:cxnSp>
        <p:cxnSp>
          <p:nvCxnSpPr>
            <p:cNvPr id="9" name="直接连接符 8"/>
            <p:cNvCxnSpPr>
              <a:cxnSpLocks noChangeAspect="1"/>
            </p:cNvCxnSpPr>
            <p:nvPr/>
          </p:nvCxnSpPr>
          <p:spPr bwMode="auto">
            <a:xfrm rot="60000" flipV="1">
              <a:off x="5305425" y="2932113"/>
              <a:ext cx="884238" cy="7175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直接连接符 41"/>
            <p:cNvCxnSpPr>
              <a:cxnSpLocks noChangeAspect="1"/>
            </p:cNvCxnSpPr>
            <p:nvPr/>
          </p:nvCxnSpPr>
          <p:spPr bwMode="auto">
            <a:xfrm rot="17520000">
              <a:off x="6303963" y="3709988"/>
              <a:ext cx="1260475" cy="8699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040" name="文本框 44"/>
            <p:cNvSpPr txBox="1">
              <a:spLocks noChangeArrowheads="1"/>
            </p:cNvSpPr>
            <p:nvPr/>
          </p:nvSpPr>
          <p:spPr bwMode="auto">
            <a:xfrm>
              <a:off x="6426201" y="4589463"/>
              <a:ext cx="773113" cy="3159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RTC</a:t>
              </a:r>
            </a:p>
          </p:txBody>
        </p:sp>
        <p:sp>
          <p:nvSpPr>
            <p:cNvPr id="44042" name="文本框 45"/>
            <p:cNvSpPr txBox="1">
              <a:spLocks noChangeArrowheads="1"/>
            </p:cNvSpPr>
            <p:nvPr/>
          </p:nvSpPr>
          <p:spPr bwMode="auto">
            <a:xfrm>
              <a:off x="6402388" y="2646363"/>
              <a:ext cx="773112" cy="3159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RTB</a:t>
              </a:r>
            </a:p>
          </p:txBody>
        </p:sp>
        <p:sp>
          <p:nvSpPr>
            <p:cNvPr id="40" name="圆角矩形 39"/>
            <p:cNvSpPr/>
            <p:nvPr/>
          </p:nvSpPr>
          <p:spPr bwMode="auto">
            <a:xfrm>
              <a:off x="2459597" y="3814763"/>
              <a:ext cx="1786967" cy="90805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宋体" pitchFamily="2" charset="-122"/>
              </a:endParaRPr>
            </a:p>
          </p:txBody>
        </p:sp>
        <p:sp>
          <p:nvSpPr>
            <p:cNvPr id="38" name="圆角矩形 37"/>
            <p:cNvSpPr/>
            <p:nvPr/>
          </p:nvSpPr>
          <p:spPr bwMode="auto">
            <a:xfrm>
              <a:off x="2459597" y="2774951"/>
              <a:ext cx="1782204" cy="906463"/>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宋体" pitchFamily="2" charset="-122"/>
              </a:endParaRPr>
            </a:p>
          </p:txBody>
        </p:sp>
        <p:sp>
          <p:nvSpPr>
            <p:cNvPr id="37" name="圆角矩形 36"/>
            <p:cNvSpPr/>
            <p:nvPr/>
          </p:nvSpPr>
          <p:spPr bwMode="auto">
            <a:xfrm>
              <a:off x="8366126" y="3213101"/>
              <a:ext cx="1617663" cy="9683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宋体" pitchFamily="2" charset="-122"/>
              </a:endParaRPr>
            </a:p>
          </p:txBody>
        </p:sp>
        <p:cxnSp>
          <p:nvCxnSpPr>
            <p:cNvPr id="44046" name="直接连接符 7"/>
            <p:cNvCxnSpPr>
              <a:cxnSpLocks noChangeShapeType="1"/>
            </p:cNvCxnSpPr>
            <p:nvPr/>
          </p:nvCxnSpPr>
          <p:spPr bwMode="auto">
            <a:xfrm flipH="1" flipV="1">
              <a:off x="3603625" y="3205163"/>
              <a:ext cx="1676400" cy="595312"/>
            </a:xfrm>
            <a:prstGeom prst="line">
              <a:avLst/>
            </a:prstGeom>
            <a:noFill/>
            <a:ln w="28575" algn="ctr">
              <a:solidFill>
                <a:schemeClr val="tx1"/>
              </a:solidFill>
              <a:round/>
              <a:headEnd/>
              <a:tailEnd/>
            </a:ln>
          </p:spPr>
        </p:cxnSp>
        <p:cxnSp>
          <p:nvCxnSpPr>
            <p:cNvPr id="44047" name="直接连接符 9"/>
            <p:cNvCxnSpPr>
              <a:cxnSpLocks noChangeShapeType="1"/>
            </p:cNvCxnSpPr>
            <p:nvPr/>
          </p:nvCxnSpPr>
          <p:spPr bwMode="auto">
            <a:xfrm flipH="1">
              <a:off x="3714750" y="3751264"/>
              <a:ext cx="1392238" cy="528637"/>
            </a:xfrm>
            <a:prstGeom prst="line">
              <a:avLst/>
            </a:prstGeom>
            <a:noFill/>
            <a:ln w="28575" algn="ctr">
              <a:solidFill>
                <a:schemeClr val="tx1"/>
              </a:solidFill>
              <a:round/>
              <a:headEnd/>
              <a:tailEnd/>
            </a:ln>
          </p:spPr>
        </p:cxnSp>
        <p:cxnSp>
          <p:nvCxnSpPr>
            <p:cNvPr id="44048" name="直接连接符 11"/>
            <p:cNvCxnSpPr>
              <a:cxnSpLocks noChangeShapeType="1"/>
            </p:cNvCxnSpPr>
            <p:nvPr/>
          </p:nvCxnSpPr>
          <p:spPr bwMode="auto">
            <a:xfrm flipV="1">
              <a:off x="7415214" y="3784600"/>
              <a:ext cx="1304925" cy="0"/>
            </a:xfrm>
            <a:prstGeom prst="line">
              <a:avLst/>
            </a:prstGeom>
            <a:noFill/>
            <a:ln w="28575" algn="ctr">
              <a:solidFill>
                <a:schemeClr val="tx1"/>
              </a:solidFill>
              <a:round/>
              <a:headEnd/>
              <a:tailEnd/>
            </a:ln>
          </p:spPr>
        </p:cxnSp>
        <p:sp>
          <p:nvSpPr>
            <p:cNvPr id="44049" name="矩形 12"/>
            <p:cNvSpPr>
              <a:spLocks noChangeArrowheads="1"/>
            </p:cNvSpPr>
            <p:nvPr/>
          </p:nvSpPr>
          <p:spPr bwMode="auto">
            <a:xfrm>
              <a:off x="2319555" y="3943493"/>
              <a:ext cx="1212413" cy="600164"/>
            </a:xfrm>
            <a:prstGeom prst="rect">
              <a:avLst/>
            </a:prstGeom>
            <a:noFill/>
            <a:ln w="9525">
              <a:noFill/>
              <a:miter lim="800000"/>
              <a:headEnd/>
              <a:tailEnd/>
            </a:ln>
          </p:spPr>
          <p:txBody>
            <a:bodyPr wrap="square">
              <a:spAutoFit/>
            </a:bodyPr>
            <a:lstStyle/>
            <a:p>
              <a:pPr algn="ctr" eaLnBrk="0" fontAlgn="t" hangingPunct="0">
                <a:buSzPct val="100000"/>
              </a:pPr>
              <a:r>
                <a:rPr lang="en-US" altLang="zh-CN" sz="1100" b="1" dirty="0">
                  <a:solidFill>
                    <a:srgbClr val="000000"/>
                  </a:solidFill>
                  <a:latin typeface="+mn-lt"/>
                  <a:ea typeface="华文细黑" pitchFamily="2" charset="-122"/>
                  <a:sym typeface="FrutigerNext LT Regular" pitchFamily="34" charset="0"/>
                </a:rPr>
                <a:t>Financial department</a:t>
              </a:r>
            </a:p>
            <a:p>
              <a:pPr algn="ctr" eaLnBrk="0" fontAlgn="t" hangingPunct="0">
                <a:buSzPct val="100000"/>
              </a:pPr>
              <a:r>
                <a:rPr lang="en-US" altLang="zh-CN" sz="1100" b="1" dirty="0">
                  <a:solidFill>
                    <a:srgbClr val="000000"/>
                  </a:solidFill>
                  <a:latin typeface="+mn-lt"/>
                  <a:ea typeface="华文细黑" pitchFamily="2" charset="-122"/>
                  <a:sym typeface="FrutigerNext LT Regular" pitchFamily="34" charset="0"/>
                </a:rPr>
                <a:t>10 persons</a:t>
              </a:r>
            </a:p>
          </p:txBody>
        </p:sp>
        <p:sp>
          <p:nvSpPr>
            <p:cNvPr id="44050" name="矩形 13"/>
            <p:cNvSpPr>
              <a:spLocks noChangeArrowheads="1"/>
            </p:cNvSpPr>
            <p:nvPr/>
          </p:nvSpPr>
          <p:spPr bwMode="auto">
            <a:xfrm>
              <a:off x="8940316" y="3273425"/>
              <a:ext cx="1149674" cy="261610"/>
            </a:xfrm>
            <a:prstGeom prst="rect">
              <a:avLst/>
            </a:prstGeom>
            <a:noFill/>
            <a:ln w="9525">
              <a:noFill/>
              <a:miter lim="800000"/>
              <a:headEnd/>
              <a:tailEnd/>
            </a:ln>
          </p:spPr>
          <p:txBody>
            <a:bodyPr wrap="none">
              <a:spAutoFit/>
            </a:bodyPr>
            <a:lstStyle/>
            <a:p>
              <a:pPr eaLnBrk="0" fontAlgn="t" hangingPunct="0">
                <a:buSzPct val="100000"/>
              </a:pPr>
              <a:r>
                <a:rPr lang="en-US" altLang="zh-CN" sz="1100" b="1" dirty="0">
                  <a:solidFill>
                    <a:srgbClr val="000000"/>
                  </a:solidFill>
                  <a:latin typeface="+mn-lt"/>
                  <a:ea typeface="华文细黑" pitchFamily="2" charset="-122"/>
                  <a:sym typeface="FrutigerNext LT Regular" pitchFamily="34" charset="0"/>
                </a:rPr>
                <a:t>Headquarters</a:t>
              </a:r>
            </a:p>
          </p:txBody>
        </p:sp>
        <p:sp>
          <p:nvSpPr>
            <p:cNvPr id="44051" name="文本框 14"/>
            <p:cNvSpPr txBox="1">
              <a:spLocks noChangeArrowheads="1"/>
            </p:cNvSpPr>
            <p:nvPr/>
          </p:nvSpPr>
          <p:spPr bwMode="auto">
            <a:xfrm>
              <a:off x="5843588" y="3636963"/>
              <a:ext cx="793750" cy="34766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600" b="1" dirty="0">
                  <a:solidFill>
                    <a:srgbClr val="C00000"/>
                  </a:solidFill>
                  <a:latin typeface="+mn-lt"/>
                  <a:ea typeface="华文细黑" pitchFamily="2" charset="-122"/>
                  <a:cs typeface="Arial" charset="0"/>
                  <a:sym typeface="FrutigerNext LT Regular" pitchFamily="34" charset="0"/>
                </a:rPr>
                <a:t>OSPF</a:t>
              </a:r>
            </a:p>
          </p:txBody>
        </p:sp>
        <p:sp>
          <p:nvSpPr>
            <p:cNvPr id="44052" name="文本框 15"/>
            <p:cNvSpPr txBox="1">
              <a:spLocks noChangeArrowheads="1"/>
            </p:cNvSpPr>
            <p:nvPr/>
          </p:nvSpPr>
          <p:spPr bwMode="auto">
            <a:xfrm>
              <a:off x="2351585" y="2928232"/>
              <a:ext cx="1152525" cy="608780"/>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b="1" dirty="0">
                  <a:solidFill>
                    <a:srgbClr val="000000"/>
                  </a:solidFill>
                  <a:latin typeface="+mn-lt"/>
                  <a:ea typeface="华文细黑" pitchFamily="2" charset="-122"/>
                  <a:cs typeface="Arial" charset="0"/>
                  <a:sym typeface="FrutigerNext LT Regular" pitchFamily="34" charset="0"/>
                </a:rPr>
                <a:t>Marketing department</a:t>
              </a:r>
            </a:p>
            <a:p>
              <a:pPr algn="ctr" defTabSz="1000125" eaLnBrk="0" hangingPunct="0">
                <a:buSzPct val="100000"/>
              </a:pPr>
              <a:r>
                <a:rPr lang="en-US" altLang="zh-CN" sz="1100" b="1" dirty="0">
                  <a:solidFill>
                    <a:srgbClr val="000000"/>
                  </a:solidFill>
                  <a:latin typeface="+mn-lt"/>
                  <a:ea typeface="华文细黑" pitchFamily="2" charset="-122"/>
                  <a:cs typeface="Arial" charset="0"/>
                  <a:sym typeface="FrutigerNext LT Regular" pitchFamily="34" charset="0"/>
                </a:rPr>
                <a:t>20 persons</a:t>
              </a:r>
            </a:p>
          </p:txBody>
        </p:sp>
        <p:sp>
          <p:nvSpPr>
            <p:cNvPr id="44056" name="文本框 28"/>
            <p:cNvSpPr txBox="1">
              <a:spLocks noChangeArrowheads="1"/>
            </p:cNvSpPr>
            <p:nvPr/>
          </p:nvSpPr>
          <p:spPr bwMode="auto">
            <a:xfrm>
              <a:off x="5365750" y="3225801"/>
              <a:ext cx="979488" cy="23971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4057" name="文本框 29"/>
            <p:cNvSpPr txBox="1">
              <a:spLocks noChangeArrowheads="1"/>
            </p:cNvSpPr>
            <p:nvPr/>
          </p:nvSpPr>
          <p:spPr bwMode="auto">
            <a:xfrm>
              <a:off x="6235701" y="3227389"/>
              <a:ext cx="1001713" cy="2381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4058" name="文本框 30"/>
            <p:cNvSpPr txBox="1">
              <a:spLocks noChangeArrowheads="1"/>
            </p:cNvSpPr>
            <p:nvPr/>
          </p:nvSpPr>
          <p:spPr bwMode="auto">
            <a:xfrm>
              <a:off x="6164264" y="3973513"/>
              <a:ext cx="1150937" cy="2397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4059" name="文本框 31"/>
            <p:cNvSpPr txBox="1">
              <a:spLocks noChangeArrowheads="1"/>
            </p:cNvSpPr>
            <p:nvPr/>
          </p:nvSpPr>
          <p:spPr bwMode="auto">
            <a:xfrm>
              <a:off x="5335588" y="3973513"/>
              <a:ext cx="1060450" cy="2397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5M</a:t>
              </a:r>
            </a:p>
          </p:txBody>
        </p:sp>
        <p:cxnSp>
          <p:nvCxnSpPr>
            <p:cNvPr id="39" name="直接连接符 38"/>
            <p:cNvCxnSpPr>
              <a:cxnSpLocks noChangeAspect="1"/>
            </p:cNvCxnSpPr>
            <p:nvPr/>
          </p:nvCxnSpPr>
          <p:spPr bwMode="auto">
            <a:xfrm rot="180000">
              <a:off x="5297489" y="3851276"/>
              <a:ext cx="998537" cy="66357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063" name="文本框 43"/>
            <p:cNvSpPr txBox="1">
              <a:spLocks noChangeArrowheads="1"/>
            </p:cNvSpPr>
            <p:nvPr/>
          </p:nvSpPr>
          <p:spPr bwMode="auto">
            <a:xfrm>
              <a:off x="7185026" y="4038600"/>
              <a:ext cx="773113" cy="317500"/>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RTD</a:t>
              </a:r>
            </a:p>
          </p:txBody>
        </p:sp>
        <p:sp>
          <p:nvSpPr>
            <p:cNvPr id="44064" name="文本框 46"/>
            <p:cNvSpPr txBox="1">
              <a:spLocks noChangeArrowheads="1"/>
            </p:cNvSpPr>
            <p:nvPr/>
          </p:nvSpPr>
          <p:spPr bwMode="auto">
            <a:xfrm>
              <a:off x="4727576" y="4041776"/>
              <a:ext cx="773113" cy="31591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RTA</a:t>
              </a:r>
            </a:p>
          </p:txBody>
        </p:sp>
        <p:pic>
          <p:nvPicPr>
            <p:cNvPr id="41" name="图片 4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372405" y="4105460"/>
              <a:ext cx="540000" cy="442800"/>
            </a:xfrm>
            <a:prstGeom prst="rect">
              <a:avLst/>
            </a:prstGeom>
          </p:spPr>
        </p:pic>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948303" y="3573312"/>
              <a:ext cx="540000" cy="442800"/>
            </a:xfrm>
            <a:prstGeom prst="rect">
              <a:avLst/>
            </a:prstGeom>
          </p:spPr>
        </p:pic>
        <p:pic>
          <p:nvPicPr>
            <p:cNvPr id="4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931553" y="2646363"/>
              <a:ext cx="628652" cy="514351"/>
            </a:xfrm>
            <a:prstGeom prst="rect">
              <a:avLst/>
            </a:prstGeom>
            <a:noFill/>
          </p:spPr>
        </p:pic>
        <p:pic>
          <p:nvPicPr>
            <p:cNvPr id="4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931553" y="4405143"/>
              <a:ext cx="628652" cy="514351"/>
            </a:xfrm>
            <a:prstGeom prst="rect">
              <a:avLst/>
            </a:prstGeom>
            <a:noFill/>
          </p:spPr>
        </p:pic>
        <p:pic>
          <p:nvPicPr>
            <p:cNvPr id="4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131219" y="3525309"/>
              <a:ext cx="628652" cy="514351"/>
            </a:xfrm>
            <a:prstGeom prst="rect">
              <a:avLst/>
            </a:prstGeom>
            <a:noFill/>
          </p:spPr>
        </p:pic>
        <p:pic>
          <p:nvPicPr>
            <p:cNvPr id="4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830627" y="3507267"/>
              <a:ext cx="628652" cy="514351"/>
            </a:xfrm>
            <a:prstGeom prst="rect">
              <a:avLst/>
            </a:prstGeom>
            <a:noFill/>
          </p:spPr>
        </p:pic>
        <p:pic>
          <p:nvPicPr>
            <p:cNvPr id="48" name="图片 47" descr="市场部.png"/>
            <p:cNvPicPr>
              <a:picLocks noChangeAspect="1"/>
            </p:cNvPicPr>
            <p:nvPr/>
          </p:nvPicPr>
          <p:blipFill>
            <a:blip r:embed="rId5" cstate="print"/>
            <a:stretch>
              <a:fillRect/>
            </a:stretch>
          </p:blipFill>
          <p:spPr>
            <a:xfrm>
              <a:off x="3362050" y="2961358"/>
              <a:ext cx="540000" cy="441818"/>
            </a:xfrm>
            <a:prstGeom prst="rect">
              <a:avLst/>
            </a:prstGeom>
          </p:spPr>
        </p:pic>
        <p:sp>
          <p:nvSpPr>
            <p:cNvPr id="44066" name="任意多边形 40"/>
            <p:cNvSpPr>
              <a:spLocks/>
            </p:cNvSpPr>
            <p:nvPr/>
          </p:nvSpPr>
          <p:spPr bwMode="auto">
            <a:xfrm>
              <a:off x="3937001" y="2755900"/>
              <a:ext cx="4894263" cy="979488"/>
            </a:xfrm>
            <a:custGeom>
              <a:avLst/>
              <a:gdLst>
                <a:gd name="T0" fmla="*/ 0 w 6087808"/>
                <a:gd name="T1" fmla="*/ 526123 h 863137"/>
                <a:gd name="T2" fmla="*/ 973358 w 6087808"/>
                <a:gd name="T3" fmla="*/ 919120 h 863137"/>
                <a:gd name="T4" fmla="*/ 1752440 w 6087808"/>
                <a:gd name="T5" fmla="*/ 78477 h 863137"/>
                <a:gd name="T6" fmla="*/ 2015026 w 6087808"/>
                <a:gd name="T7" fmla="*/ 95320 h 863137"/>
                <a:gd name="T8" fmla="*/ 2732974 w 6087808"/>
                <a:gd name="T9" fmla="*/ 864275 h 863137"/>
                <a:gd name="T10" fmla="*/ 3081683 w 6087808"/>
                <a:gd name="T11" fmla="*/ 1110740 h 863137"/>
                <a:gd name="T12" fmla="*/ 3935575 w 6087808"/>
                <a:gd name="T13" fmla="*/ 1100071 h 863137"/>
                <a:gd name="T14" fmla="*/ 0 60000 65536"/>
                <a:gd name="T15" fmla="*/ 0 60000 65536"/>
                <a:gd name="T16" fmla="*/ 0 60000 65536"/>
                <a:gd name="T17" fmla="*/ 0 60000 65536"/>
                <a:gd name="T18" fmla="*/ 0 60000 65536"/>
                <a:gd name="T19" fmla="*/ 0 60000 65536"/>
                <a:gd name="T20" fmla="*/ 0 60000 65536"/>
                <a:gd name="T21" fmla="*/ 0 w 6087808"/>
                <a:gd name="T22" fmla="*/ 0 h 863137"/>
                <a:gd name="T23" fmla="*/ 6087808 w 6087808"/>
                <a:gd name="T24" fmla="*/ 863137 h 8631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87808" h="863137">
                  <a:moveTo>
                    <a:pt x="0" y="408841"/>
                  </a:moveTo>
                  <a:cubicBezTo>
                    <a:pt x="651593" y="615458"/>
                    <a:pt x="1053856" y="772208"/>
                    <a:pt x="1505654" y="714232"/>
                  </a:cubicBezTo>
                  <a:cubicBezTo>
                    <a:pt x="1957452" y="656256"/>
                    <a:pt x="2442236" y="167677"/>
                    <a:pt x="2710790" y="60983"/>
                  </a:cubicBezTo>
                  <a:cubicBezTo>
                    <a:pt x="2979344" y="-45711"/>
                    <a:pt x="2972770" y="6535"/>
                    <a:pt x="3116976" y="74071"/>
                  </a:cubicBezTo>
                  <a:cubicBezTo>
                    <a:pt x="3319004" y="152595"/>
                    <a:pt x="3922790" y="498019"/>
                    <a:pt x="4227547" y="671613"/>
                  </a:cubicBezTo>
                  <a:cubicBezTo>
                    <a:pt x="4492906" y="805402"/>
                    <a:pt x="4460123" y="793875"/>
                    <a:pt x="4766954" y="863137"/>
                  </a:cubicBezTo>
                  <a:cubicBezTo>
                    <a:pt x="5425676" y="846706"/>
                    <a:pt x="5564004" y="843943"/>
                    <a:pt x="6087808" y="854846"/>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dirty="0">
                <a:solidFill>
                  <a:srgbClr val="C00000"/>
                </a:solidFill>
                <a:latin typeface="+mn-lt"/>
              </a:endParaRPr>
            </a:p>
          </p:txBody>
        </p:sp>
        <p:sp>
          <p:nvSpPr>
            <p:cNvPr id="44067" name="任意多边形 48"/>
            <p:cNvSpPr>
              <a:spLocks/>
            </p:cNvSpPr>
            <p:nvPr/>
          </p:nvSpPr>
          <p:spPr bwMode="auto">
            <a:xfrm>
              <a:off x="3995738" y="3879850"/>
              <a:ext cx="4849812" cy="679450"/>
            </a:xfrm>
            <a:custGeom>
              <a:avLst/>
              <a:gdLst>
                <a:gd name="T0" fmla="*/ 0 w 6030952"/>
                <a:gd name="T1" fmla="*/ 409345 h 599852"/>
                <a:gd name="T2" fmla="*/ 936846 w 6030952"/>
                <a:gd name="T3" fmla="*/ 24808 h 599852"/>
                <a:gd name="T4" fmla="*/ 1789660 w 6030952"/>
                <a:gd name="T5" fmla="*/ 756593 h 599852"/>
                <a:gd name="T6" fmla="*/ 2334188 w 6030952"/>
                <a:gd name="T7" fmla="*/ 445419 h 599852"/>
                <a:gd name="T8" fmla="*/ 2954280 w 6030952"/>
                <a:gd name="T9" fmla="*/ 4594 h 599852"/>
                <a:gd name="T10" fmla="*/ 3293924 w 6030952"/>
                <a:gd name="T11" fmla="*/ 7585 h 599852"/>
                <a:gd name="T12" fmla="*/ 3597208 w 6030952"/>
                <a:gd name="T13" fmla="*/ 26190 h 599852"/>
                <a:gd name="T14" fmla="*/ 3899830 w 6030952"/>
                <a:gd name="T15" fmla="*/ 50065 h 599852"/>
                <a:gd name="T16" fmla="*/ 0 60000 65536"/>
                <a:gd name="T17" fmla="*/ 0 60000 65536"/>
                <a:gd name="T18" fmla="*/ 0 60000 65536"/>
                <a:gd name="T19" fmla="*/ 0 60000 65536"/>
                <a:gd name="T20" fmla="*/ 0 60000 65536"/>
                <a:gd name="T21" fmla="*/ 0 60000 65536"/>
                <a:gd name="T22" fmla="*/ 0 60000 65536"/>
                <a:gd name="T23" fmla="*/ 0 60000 65536"/>
                <a:gd name="T24" fmla="*/ 0 w 6030952"/>
                <a:gd name="T25" fmla="*/ 0 h 599852"/>
                <a:gd name="T26" fmla="*/ 6030952 w 6030952"/>
                <a:gd name="T27" fmla="*/ 599852 h 5998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030952" h="599852">
                  <a:moveTo>
                    <a:pt x="0" y="318685"/>
                  </a:moveTo>
                  <a:cubicBezTo>
                    <a:pt x="916927" y="108689"/>
                    <a:pt x="987524" y="-25743"/>
                    <a:pt x="1448799" y="19314"/>
                  </a:cubicBezTo>
                  <a:cubicBezTo>
                    <a:pt x="1910074" y="64371"/>
                    <a:pt x="2407491" y="534451"/>
                    <a:pt x="2767648" y="589027"/>
                  </a:cubicBezTo>
                  <a:cubicBezTo>
                    <a:pt x="3127805" y="643603"/>
                    <a:pt x="3257058" y="480820"/>
                    <a:pt x="3609740" y="346770"/>
                  </a:cubicBezTo>
                  <a:cubicBezTo>
                    <a:pt x="4171864" y="49000"/>
                    <a:pt x="4017555" y="98766"/>
                    <a:pt x="4568693" y="3577"/>
                  </a:cubicBezTo>
                  <a:cubicBezTo>
                    <a:pt x="4831855" y="522"/>
                    <a:pt x="4966134" y="-3617"/>
                    <a:pt x="5093940" y="5905"/>
                  </a:cubicBezTo>
                  <a:lnTo>
                    <a:pt x="5562956" y="20390"/>
                  </a:lnTo>
                  <a:cubicBezTo>
                    <a:pt x="6221678" y="3959"/>
                    <a:pt x="5507148" y="28074"/>
                    <a:pt x="6030952" y="38977"/>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dirty="0">
                <a:latin typeface="+mn-lt"/>
              </a:endParaRPr>
            </a:p>
          </p:txBody>
        </p:sp>
      </p:grpSp>
    </p:spTree>
    <p:extLst>
      <p:ext uri="{BB962C8B-B14F-4D97-AF65-F5344CB8AC3E}">
        <p14:creationId xmlns:p14="http://schemas.microsoft.com/office/powerpoint/2010/main" val="38290121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占位符 3"/>
          <p:cNvSpPr>
            <a:spLocks noGrp="1"/>
          </p:cNvSpPr>
          <p:nvPr>
            <p:ph type="body" sz="quarter" idx="10"/>
          </p:nvPr>
        </p:nvSpPr>
        <p:spPr/>
        <p:txBody>
          <a:bodyPr/>
          <a:lstStyle/>
          <a:p>
            <a:r>
              <a:rPr lang="en-US" altLang="zh-CN" dirty="0" smtClean="0">
                <a:solidFill>
                  <a:schemeClr val="bg1">
                    <a:lumMod val="50000"/>
                  </a:schemeClr>
                </a:solidFill>
                <a:sym typeface="FrutigerNext LT Regular" pitchFamily="34" charset="0"/>
              </a:rPr>
              <a:t>Traffic Behavior Control Requirement</a:t>
            </a:r>
          </a:p>
          <a:p>
            <a:r>
              <a:rPr lang="en-US" altLang="zh-CN" dirty="0" smtClean="0">
                <a:solidFill>
                  <a:schemeClr val="bg1">
                    <a:lumMod val="50000"/>
                  </a:schemeClr>
                </a:solidFill>
                <a:sym typeface="FrutigerNext LT Regular" pitchFamily="34" charset="0"/>
              </a:rPr>
              <a:t>Control Reachability</a:t>
            </a:r>
          </a:p>
          <a:p>
            <a:r>
              <a:rPr lang="en-US" altLang="zh-CN" b="1" dirty="0" smtClean="0">
                <a:sym typeface="FrutigerNext LT Regular" pitchFamily="34" charset="0"/>
              </a:rPr>
              <a:t>Adjust Network Traffic Path</a:t>
            </a:r>
          </a:p>
          <a:p>
            <a:pPr lvl="1"/>
            <a:r>
              <a:rPr lang="en-US" altLang="zh-CN" dirty="0" smtClean="0">
                <a:solidFill>
                  <a:schemeClr val="bg1">
                    <a:lumMod val="50000"/>
                  </a:schemeClr>
                </a:solidFill>
                <a:sym typeface="FrutigerNext LT Regular" pitchFamily="34" charset="0"/>
              </a:rPr>
              <a:t>Routing Policy</a:t>
            </a:r>
          </a:p>
          <a:p>
            <a:pPr lvl="1">
              <a:buSzPct val="60000"/>
              <a:buFont typeface="Wingdings" panose="05000000000000000000" pitchFamily="2" charset="2"/>
              <a:buChar char="n"/>
            </a:pPr>
            <a:r>
              <a:rPr lang="en-US" altLang="zh-CN" dirty="0" smtClean="0">
                <a:sym typeface="FrutigerNext LT Regular" pitchFamily="34" charset="0"/>
              </a:rPr>
              <a:t>Policy-based Routing</a:t>
            </a:r>
          </a:p>
          <a:p>
            <a:r>
              <a:rPr lang="en-US" altLang="zh-CN" dirty="0" smtClean="0">
                <a:solidFill>
                  <a:schemeClr val="bg1">
                    <a:lumMod val="50000"/>
                  </a:schemeClr>
                </a:solidFill>
                <a:sym typeface="FrutigerNext LT Regular" pitchFamily="34" charset="0"/>
              </a:rPr>
              <a:t>Problems Caused by Route Importing and Solutions</a:t>
            </a:r>
          </a:p>
        </p:txBody>
      </p:sp>
    </p:spTree>
    <p:extLst>
      <p:ext uri="{BB962C8B-B14F-4D97-AF65-F5344CB8AC3E}">
        <p14:creationId xmlns:p14="http://schemas.microsoft.com/office/powerpoint/2010/main" val="34847094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2"/>
          </p:nvPr>
        </p:nvSpPr>
        <p:spPr/>
        <p:txBody>
          <a:bodyPr/>
          <a:lstStyle/>
          <a:p>
            <a:r>
              <a:rPr lang="en-US" altLang="zh-CN" dirty="0" smtClean="0"/>
              <a:t>Solution 2: Policy-based Routing (1)</a:t>
            </a:r>
            <a:endParaRPr lang="zh-CN" altLang="en-US" dirty="0"/>
          </a:p>
        </p:txBody>
      </p:sp>
      <p:sp>
        <p:nvSpPr>
          <p:cNvPr id="80" name="文本占位符 2"/>
          <p:cNvSpPr txBox="1">
            <a:spLocks/>
          </p:cNvSpPr>
          <p:nvPr/>
        </p:nvSpPr>
        <p:spPr bwMode="auto">
          <a:xfrm>
            <a:off x="2216151" y="4810126"/>
            <a:ext cx="7115175" cy="1355725"/>
          </a:xfrm>
          <a:prstGeom prst="rect">
            <a:avLst/>
          </a:prstGeom>
          <a:noFill/>
          <a:ln w="9525">
            <a:noFill/>
            <a:miter lim="800000"/>
            <a:headEnd/>
            <a:tailEnd/>
          </a:ln>
        </p:spPr>
        <p:txBody>
          <a:bodyPr/>
          <a:lstStyle/>
          <a:p>
            <a:pPr marL="360363" indent="-360363" defTabSz="801688" eaLnBrk="0" hangingPunct="0">
              <a:lnSpc>
                <a:spcPct val="140000"/>
              </a:lnSpc>
              <a:spcBef>
                <a:spcPct val="30000"/>
              </a:spcBef>
              <a:buClr>
                <a:srgbClr val="808080"/>
              </a:buClr>
              <a:buSzPct val="60000"/>
              <a:buFont typeface="Wingdings" pitchFamily="2" charset="2"/>
              <a:buChar char="l"/>
            </a:pPr>
            <a:r>
              <a:rPr lang="en-US" altLang="zh-CN" sz="1800" dirty="0">
                <a:solidFill>
                  <a:srgbClr val="000000"/>
                </a:solidFill>
                <a:latin typeface="+mn-lt"/>
                <a:ea typeface="华文细黑" pitchFamily="2" charset="-122"/>
                <a:sym typeface="FrutigerNext LT Regular" pitchFamily="34" charset="0"/>
              </a:rPr>
              <a:t>Policy-based routing is implemented using traffic policy:</a:t>
            </a:r>
          </a:p>
          <a:p>
            <a:pPr marL="646112" lvl="1" indent="-285750" defTabSz="801688" eaLnBrk="0" hangingPunct="0">
              <a:lnSpc>
                <a:spcPct val="140000"/>
              </a:lnSpc>
              <a:spcBef>
                <a:spcPct val="30000"/>
              </a:spcBef>
              <a:buClr>
                <a:schemeClr val="bg1">
                  <a:lumMod val="50000"/>
                </a:schemeClr>
              </a:buClr>
              <a:buSzPct val="60000"/>
              <a:buFont typeface="Wingdings" panose="05000000000000000000" pitchFamily="2" charset="2"/>
              <a:buChar char="p"/>
            </a:pPr>
            <a:r>
              <a:rPr lang="en-US" altLang="zh-CN" sz="1600" dirty="0">
                <a:solidFill>
                  <a:srgbClr val="000000"/>
                </a:solidFill>
                <a:latin typeface="+mn-lt"/>
                <a:ea typeface="华文细黑" pitchFamily="2" charset="-122"/>
                <a:sym typeface="FrutigerNext LT Regular" pitchFamily="34" charset="0"/>
              </a:rPr>
              <a:t>Use ACL to match traffic;</a:t>
            </a:r>
          </a:p>
          <a:p>
            <a:pPr marL="628650" lvl="1" indent="-268288" defTabSz="801688" eaLnBrk="0" hangingPunct="0">
              <a:lnSpc>
                <a:spcPct val="140000"/>
              </a:lnSpc>
              <a:spcBef>
                <a:spcPct val="30000"/>
              </a:spcBef>
              <a:buClr>
                <a:schemeClr val="bg1">
                  <a:lumMod val="50000"/>
                </a:schemeClr>
              </a:buClr>
              <a:buSzPct val="60000"/>
              <a:buFont typeface="Wingdings" pitchFamily="2" charset="2"/>
              <a:buChar char="p"/>
            </a:pPr>
            <a:r>
              <a:rPr lang="en-US" altLang="zh-CN" sz="1600" dirty="0">
                <a:solidFill>
                  <a:srgbClr val="000000"/>
                </a:solidFill>
                <a:latin typeface="+mn-lt"/>
                <a:ea typeface="华文细黑" pitchFamily="2" charset="-122"/>
                <a:sym typeface="FrutigerNext LT Regular" pitchFamily="34" charset="0"/>
              </a:rPr>
              <a:t>Define behavior for traffic, for example, change the next hop.</a:t>
            </a:r>
          </a:p>
        </p:txBody>
      </p:sp>
      <p:grpSp>
        <p:nvGrpSpPr>
          <p:cNvPr id="7" name="组合 6"/>
          <p:cNvGrpSpPr/>
          <p:nvPr/>
        </p:nvGrpSpPr>
        <p:grpSpPr>
          <a:xfrm>
            <a:off x="2219353" y="1611982"/>
            <a:ext cx="7656486" cy="3198143"/>
            <a:chOff x="2219353" y="1611982"/>
            <a:chExt cx="7656486" cy="3198143"/>
          </a:xfrm>
        </p:grpSpPr>
        <p:cxnSp>
          <p:nvCxnSpPr>
            <p:cNvPr id="46082" name="直接连接符 76"/>
            <p:cNvCxnSpPr>
              <a:cxnSpLocks noChangeShapeType="1"/>
            </p:cNvCxnSpPr>
            <p:nvPr/>
          </p:nvCxnSpPr>
          <p:spPr bwMode="auto">
            <a:xfrm>
              <a:off x="6248401" y="2744789"/>
              <a:ext cx="1103313" cy="909637"/>
            </a:xfrm>
            <a:prstGeom prst="line">
              <a:avLst/>
            </a:prstGeom>
            <a:noFill/>
            <a:ln w="28575" algn="ctr">
              <a:solidFill>
                <a:schemeClr val="tx1"/>
              </a:solidFill>
              <a:round/>
              <a:headEnd/>
              <a:tailEnd/>
            </a:ln>
          </p:spPr>
        </p:cxnSp>
        <p:cxnSp>
          <p:nvCxnSpPr>
            <p:cNvPr id="69" name="直接连接符 68"/>
            <p:cNvCxnSpPr>
              <a:cxnSpLocks noChangeAspect="1"/>
            </p:cNvCxnSpPr>
            <p:nvPr/>
          </p:nvCxnSpPr>
          <p:spPr bwMode="auto">
            <a:xfrm rot="60000" flipV="1">
              <a:off x="5197475" y="2836864"/>
              <a:ext cx="884238" cy="719137"/>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 name="AutoShape 21"/>
            <p:cNvSpPr>
              <a:spLocks noChangeArrowheads="1"/>
            </p:cNvSpPr>
            <p:nvPr/>
          </p:nvSpPr>
          <p:spPr bwMode="auto">
            <a:xfrm>
              <a:off x="3049589" y="1611982"/>
              <a:ext cx="5098639" cy="758157"/>
            </a:xfrm>
            <a:prstGeom prst="wedgeRectCallout">
              <a:avLst>
                <a:gd name="adj1" fmla="val -10528"/>
                <a:gd name="adj2" fmla="val 222759"/>
              </a:avLst>
            </a:prstGeom>
            <a:noFill/>
            <a:ln w="3175" algn="ctr">
              <a:solidFill>
                <a:srgbClr val="999999"/>
              </a:solidFill>
              <a:miter lim="800000"/>
              <a:headEnd/>
              <a:tailEnd/>
            </a:ln>
          </p:spPr>
          <p:txBody>
            <a:bodyPr lIns="0" tIns="0" rIns="0" bIns="0" anchor="ctr" anchorCtr="1"/>
            <a:lstStyle/>
            <a:p>
              <a:pPr eaLnBrk="0" fontAlgn="t" hangingPunct="0">
                <a:buSzPct val="100000"/>
              </a:pPr>
              <a:r>
                <a:rPr lang="en-US" altLang="zh-CN" sz="1400" dirty="0">
                  <a:solidFill>
                    <a:srgbClr val="000000"/>
                  </a:solidFill>
                  <a:latin typeface="+mn-lt"/>
                  <a:ea typeface="华文细黑" pitchFamily="2" charset="-122"/>
                  <a:sym typeface="FrutigerNext LT Regular" pitchFamily="34" charset="0"/>
                </a:rPr>
                <a:t>The routing is based on source address. That is, the next hop of traffic from the marketing department is RTB and the next hop of traffic from the financial department is RTC.</a:t>
              </a:r>
            </a:p>
          </p:txBody>
        </p:sp>
        <p:cxnSp>
          <p:nvCxnSpPr>
            <p:cNvPr id="46" name="直接连接符 45"/>
            <p:cNvCxnSpPr>
              <a:cxnSpLocks noChangeAspect="1"/>
            </p:cNvCxnSpPr>
            <p:nvPr/>
          </p:nvCxnSpPr>
          <p:spPr bwMode="auto">
            <a:xfrm rot="17520000">
              <a:off x="6196807" y="3615532"/>
              <a:ext cx="1258887" cy="8699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6088" name="文本框 46"/>
            <p:cNvSpPr txBox="1">
              <a:spLocks noChangeArrowheads="1"/>
            </p:cNvSpPr>
            <p:nvPr/>
          </p:nvSpPr>
          <p:spPr bwMode="auto">
            <a:xfrm>
              <a:off x="6318251" y="4494213"/>
              <a:ext cx="771525" cy="3159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RTC</a:t>
              </a:r>
            </a:p>
          </p:txBody>
        </p:sp>
        <p:sp>
          <p:nvSpPr>
            <p:cNvPr id="46090" name="文本框 58"/>
            <p:cNvSpPr txBox="1">
              <a:spLocks noChangeArrowheads="1"/>
            </p:cNvSpPr>
            <p:nvPr/>
          </p:nvSpPr>
          <p:spPr bwMode="auto">
            <a:xfrm>
              <a:off x="6294438" y="2551113"/>
              <a:ext cx="773112" cy="3159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RTB</a:t>
              </a:r>
            </a:p>
          </p:txBody>
        </p:sp>
        <p:sp>
          <p:nvSpPr>
            <p:cNvPr id="72" name="圆角矩形 71"/>
            <p:cNvSpPr/>
            <p:nvPr/>
          </p:nvSpPr>
          <p:spPr bwMode="auto">
            <a:xfrm>
              <a:off x="2387589" y="3719513"/>
              <a:ext cx="1751025" cy="90805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宋体" pitchFamily="2" charset="-122"/>
              </a:endParaRPr>
            </a:p>
          </p:txBody>
        </p:sp>
        <p:sp>
          <p:nvSpPr>
            <p:cNvPr id="73" name="圆角矩形 72"/>
            <p:cNvSpPr/>
            <p:nvPr/>
          </p:nvSpPr>
          <p:spPr bwMode="auto">
            <a:xfrm>
              <a:off x="2387589" y="2679700"/>
              <a:ext cx="1746262" cy="90805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宋体" pitchFamily="2" charset="-122"/>
              </a:endParaRPr>
            </a:p>
          </p:txBody>
        </p:sp>
        <p:sp>
          <p:nvSpPr>
            <p:cNvPr id="74" name="圆角矩形 73"/>
            <p:cNvSpPr/>
            <p:nvPr/>
          </p:nvSpPr>
          <p:spPr bwMode="auto">
            <a:xfrm>
              <a:off x="8258176" y="3117851"/>
              <a:ext cx="1617663" cy="9683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dirty="0">
                <a:latin typeface="+mn-lt"/>
                <a:ea typeface="宋体" pitchFamily="2" charset="-122"/>
              </a:endParaRPr>
            </a:p>
          </p:txBody>
        </p:sp>
        <p:cxnSp>
          <p:nvCxnSpPr>
            <p:cNvPr id="46094" name="直接连接符 74"/>
            <p:cNvCxnSpPr>
              <a:cxnSpLocks noChangeShapeType="1"/>
            </p:cNvCxnSpPr>
            <p:nvPr/>
          </p:nvCxnSpPr>
          <p:spPr bwMode="auto">
            <a:xfrm flipH="1" flipV="1">
              <a:off x="3495675" y="3109913"/>
              <a:ext cx="1676400" cy="595312"/>
            </a:xfrm>
            <a:prstGeom prst="line">
              <a:avLst/>
            </a:prstGeom>
            <a:noFill/>
            <a:ln w="28575" algn="ctr">
              <a:solidFill>
                <a:schemeClr val="tx1"/>
              </a:solidFill>
              <a:round/>
              <a:headEnd/>
              <a:tailEnd/>
            </a:ln>
          </p:spPr>
        </p:cxnSp>
        <p:cxnSp>
          <p:nvCxnSpPr>
            <p:cNvPr id="46095" name="直接连接符 75"/>
            <p:cNvCxnSpPr>
              <a:cxnSpLocks noChangeShapeType="1"/>
            </p:cNvCxnSpPr>
            <p:nvPr/>
          </p:nvCxnSpPr>
          <p:spPr bwMode="auto">
            <a:xfrm flipH="1">
              <a:off x="3606800" y="3657600"/>
              <a:ext cx="1392238" cy="527050"/>
            </a:xfrm>
            <a:prstGeom prst="line">
              <a:avLst/>
            </a:prstGeom>
            <a:noFill/>
            <a:ln w="28575" algn="ctr">
              <a:solidFill>
                <a:schemeClr val="tx1"/>
              </a:solidFill>
              <a:round/>
              <a:headEnd/>
              <a:tailEnd/>
            </a:ln>
          </p:spPr>
        </p:cxnSp>
        <p:cxnSp>
          <p:nvCxnSpPr>
            <p:cNvPr id="46096" name="直接连接符 77"/>
            <p:cNvCxnSpPr>
              <a:cxnSpLocks noChangeShapeType="1"/>
            </p:cNvCxnSpPr>
            <p:nvPr/>
          </p:nvCxnSpPr>
          <p:spPr bwMode="auto">
            <a:xfrm flipV="1">
              <a:off x="7307264" y="3689350"/>
              <a:ext cx="1304925" cy="0"/>
            </a:xfrm>
            <a:prstGeom prst="line">
              <a:avLst/>
            </a:prstGeom>
            <a:noFill/>
            <a:ln w="28575" algn="ctr">
              <a:solidFill>
                <a:schemeClr val="tx1"/>
              </a:solidFill>
              <a:round/>
              <a:headEnd/>
              <a:tailEnd/>
            </a:ln>
          </p:spPr>
        </p:cxnSp>
        <p:sp>
          <p:nvSpPr>
            <p:cNvPr id="46097" name="矩形 78"/>
            <p:cNvSpPr>
              <a:spLocks noChangeArrowheads="1"/>
            </p:cNvSpPr>
            <p:nvPr/>
          </p:nvSpPr>
          <p:spPr bwMode="auto">
            <a:xfrm>
              <a:off x="2219353" y="3872952"/>
              <a:ext cx="1140343" cy="553998"/>
            </a:xfrm>
            <a:prstGeom prst="rect">
              <a:avLst/>
            </a:prstGeom>
            <a:noFill/>
            <a:ln w="9525">
              <a:noFill/>
              <a:miter lim="800000"/>
              <a:headEnd/>
              <a:tailEnd/>
            </a:ln>
          </p:spPr>
          <p:txBody>
            <a:bodyPr wrap="square">
              <a:spAutoFit/>
            </a:bodyPr>
            <a:lstStyle/>
            <a:p>
              <a:pPr algn="ctr" eaLnBrk="0" fontAlgn="t" hangingPunct="0">
                <a:buSzPct val="100000"/>
              </a:pPr>
              <a:r>
                <a:rPr lang="en-US" altLang="zh-CN" b="1" dirty="0">
                  <a:solidFill>
                    <a:srgbClr val="000000"/>
                  </a:solidFill>
                  <a:latin typeface="+mn-lt"/>
                  <a:ea typeface="华文细黑" pitchFamily="2" charset="-122"/>
                  <a:sym typeface="FrutigerNext LT Regular" pitchFamily="34" charset="0"/>
                </a:rPr>
                <a:t>Financial department</a:t>
              </a:r>
            </a:p>
            <a:p>
              <a:pPr algn="ctr" eaLnBrk="0" fontAlgn="t" hangingPunct="0">
                <a:buSzPct val="100000"/>
              </a:pPr>
              <a:r>
                <a:rPr lang="en-US" altLang="zh-CN" b="1" dirty="0">
                  <a:solidFill>
                    <a:srgbClr val="000000"/>
                  </a:solidFill>
                  <a:latin typeface="+mn-lt"/>
                  <a:ea typeface="华文细黑" pitchFamily="2" charset="-122"/>
                  <a:sym typeface="FrutigerNext LT Regular" pitchFamily="34" charset="0"/>
                </a:rPr>
                <a:t>10 persons</a:t>
              </a:r>
            </a:p>
          </p:txBody>
        </p:sp>
        <p:sp>
          <p:nvSpPr>
            <p:cNvPr id="46098" name="矩形 80"/>
            <p:cNvSpPr>
              <a:spLocks noChangeArrowheads="1"/>
            </p:cNvSpPr>
            <p:nvPr/>
          </p:nvSpPr>
          <p:spPr bwMode="auto">
            <a:xfrm>
              <a:off x="8724292" y="3140968"/>
              <a:ext cx="1149674" cy="261610"/>
            </a:xfrm>
            <a:prstGeom prst="rect">
              <a:avLst/>
            </a:prstGeom>
            <a:noFill/>
            <a:ln w="9525">
              <a:noFill/>
              <a:miter lim="800000"/>
              <a:headEnd/>
              <a:tailEnd/>
            </a:ln>
          </p:spPr>
          <p:txBody>
            <a:bodyPr wrap="none">
              <a:spAutoFit/>
            </a:bodyPr>
            <a:lstStyle/>
            <a:p>
              <a:pPr eaLnBrk="0" fontAlgn="t" hangingPunct="0">
                <a:buSzPct val="100000"/>
              </a:pPr>
              <a:r>
                <a:rPr lang="en-US" altLang="zh-CN" sz="1100" b="1" dirty="0">
                  <a:solidFill>
                    <a:srgbClr val="000000"/>
                  </a:solidFill>
                  <a:latin typeface="+mn-lt"/>
                  <a:ea typeface="华文细黑" pitchFamily="2" charset="-122"/>
                  <a:sym typeface="FrutigerNext LT Regular" pitchFamily="34" charset="0"/>
                </a:rPr>
                <a:t>Headquarters</a:t>
              </a:r>
            </a:p>
          </p:txBody>
        </p:sp>
        <p:sp>
          <p:nvSpPr>
            <p:cNvPr id="46099" name="文本框 81"/>
            <p:cNvSpPr txBox="1">
              <a:spLocks noChangeArrowheads="1"/>
            </p:cNvSpPr>
            <p:nvPr/>
          </p:nvSpPr>
          <p:spPr bwMode="auto">
            <a:xfrm>
              <a:off x="5735638" y="3541713"/>
              <a:ext cx="793750" cy="34766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600" b="1" dirty="0">
                  <a:solidFill>
                    <a:srgbClr val="C00000"/>
                  </a:solidFill>
                  <a:latin typeface="+mn-lt"/>
                  <a:ea typeface="华文细黑" pitchFamily="2" charset="-122"/>
                  <a:cs typeface="Arial" charset="0"/>
                  <a:sym typeface="FrutigerNext LT Regular" pitchFamily="34" charset="0"/>
                </a:rPr>
                <a:t>OSPF</a:t>
              </a:r>
            </a:p>
          </p:txBody>
        </p:sp>
        <p:sp>
          <p:nvSpPr>
            <p:cNvPr id="46100" name="文本框 82"/>
            <p:cNvSpPr txBox="1">
              <a:spLocks noChangeArrowheads="1"/>
            </p:cNvSpPr>
            <p:nvPr/>
          </p:nvSpPr>
          <p:spPr bwMode="auto">
            <a:xfrm>
              <a:off x="2279577" y="2820220"/>
              <a:ext cx="1152525" cy="608780"/>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100" b="1" dirty="0">
                  <a:solidFill>
                    <a:srgbClr val="000000"/>
                  </a:solidFill>
                  <a:latin typeface="+mn-lt"/>
                  <a:ea typeface="华文细黑" pitchFamily="2" charset="-122"/>
                  <a:cs typeface="Arial" charset="0"/>
                  <a:sym typeface="FrutigerNext LT Regular" pitchFamily="34" charset="0"/>
                </a:rPr>
                <a:t>Marketing department</a:t>
              </a:r>
            </a:p>
            <a:p>
              <a:pPr algn="ctr" defTabSz="1000125" eaLnBrk="0" hangingPunct="0">
                <a:buSzPct val="100000"/>
              </a:pPr>
              <a:r>
                <a:rPr lang="en-US" altLang="zh-CN" sz="1100" b="1" dirty="0">
                  <a:solidFill>
                    <a:srgbClr val="000000"/>
                  </a:solidFill>
                  <a:latin typeface="+mn-lt"/>
                  <a:ea typeface="华文细黑" pitchFamily="2" charset="-122"/>
                  <a:cs typeface="Arial" charset="0"/>
                  <a:sym typeface="FrutigerNext LT Regular" pitchFamily="34" charset="0"/>
                </a:rPr>
                <a:t>20 persons</a:t>
              </a:r>
            </a:p>
          </p:txBody>
        </p:sp>
        <p:sp>
          <p:nvSpPr>
            <p:cNvPr id="46104" name="文本框 86"/>
            <p:cNvSpPr txBox="1">
              <a:spLocks noChangeArrowheads="1"/>
            </p:cNvSpPr>
            <p:nvPr/>
          </p:nvSpPr>
          <p:spPr bwMode="auto">
            <a:xfrm>
              <a:off x="5256214" y="3130551"/>
              <a:ext cx="981075" cy="23971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6105" name="文本框 87"/>
            <p:cNvSpPr txBox="1">
              <a:spLocks noChangeArrowheads="1"/>
            </p:cNvSpPr>
            <p:nvPr/>
          </p:nvSpPr>
          <p:spPr bwMode="auto">
            <a:xfrm>
              <a:off x="6127751" y="3132138"/>
              <a:ext cx="1001713" cy="2397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6106" name="文本框 88"/>
            <p:cNvSpPr txBox="1">
              <a:spLocks noChangeArrowheads="1"/>
            </p:cNvSpPr>
            <p:nvPr/>
          </p:nvSpPr>
          <p:spPr bwMode="auto">
            <a:xfrm>
              <a:off x="6056314" y="3879851"/>
              <a:ext cx="1150937" cy="2381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6107" name="文本框 89"/>
            <p:cNvSpPr txBox="1">
              <a:spLocks noChangeArrowheads="1"/>
            </p:cNvSpPr>
            <p:nvPr/>
          </p:nvSpPr>
          <p:spPr bwMode="auto">
            <a:xfrm>
              <a:off x="5227638" y="3879851"/>
              <a:ext cx="1060450" cy="238125"/>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5M</a:t>
              </a:r>
            </a:p>
          </p:txBody>
        </p:sp>
        <p:cxnSp>
          <p:nvCxnSpPr>
            <p:cNvPr id="91" name="直接连接符 90"/>
            <p:cNvCxnSpPr>
              <a:cxnSpLocks noChangeAspect="1"/>
            </p:cNvCxnSpPr>
            <p:nvPr/>
          </p:nvCxnSpPr>
          <p:spPr bwMode="auto">
            <a:xfrm rot="180000">
              <a:off x="5189539" y="3756026"/>
              <a:ext cx="998537" cy="66357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6111" name="文本框 93"/>
            <p:cNvSpPr txBox="1">
              <a:spLocks noChangeArrowheads="1"/>
            </p:cNvSpPr>
            <p:nvPr/>
          </p:nvSpPr>
          <p:spPr bwMode="auto">
            <a:xfrm>
              <a:off x="7077076" y="3944938"/>
              <a:ext cx="773113" cy="315912"/>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RTD</a:t>
              </a:r>
            </a:p>
          </p:txBody>
        </p:sp>
        <p:sp>
          <p:nvSpPr>
            <p:cNvPr id="46112" name="文本框 94"/>
            <p:cNvSpPr txBox="1">
              <a:spLocks noChangeArrowheads="1"/>
            </p:cNvSpPr>
            <p:nvPr/>
          </p:nvSpPr>
          <p:spPr bwMode="auto">
            <a:xfrm>
              <a:off x="4619626" y="3946526"/>
              <a:ext cx="771525" cy="31591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RTA</a:t>
              </a:r>
            </a:p>
          </p:txBody>
        </p:sp>
        <p:sp>
          <p:nvSpPr>
            <p:cNvPr id="46116" name="文本框 4"/>
            <p:cNvSpPr txBox="1">
              <a:spLocks noChangeArrowheads="1"/>
            </p:cNvSpPr>
            <p:nvPr/>
          </p:nvSpPr>
          <p:spPr bwMode="auto">
            <a:xfrm rot="1002396">
              <a:off x="3890963" y="3451226"/>
              <a:ext cx="1223962" cy="23971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G0/0/2</a:t>
              </a:r>
            </a:p>
          </p:txBody>
        </p:sp>
        <p:sp>
          <p:nvSpPr>
            <p:cNvPr id="46117" name="文本框 98"/>
            <p:cNvSpPr txBox="1">
              <a:spLocks noChangeArrowheads="1"/>
            </p:cNvSpPr>
            <p:nvPr/>
          </p:nvSpPr>
          <p:spPr bwMode="auto">
            <a:xfrm rot="-1189032">
              <a:off x="3967163" y="3889376"/>
              <a:ext cx="1223962" cy="239713"/>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G4/0/0</a:t>
              </a:r>
            </a:p>
          </p:txBody>
        </p:sp>
        <p:sp>
          <p:nvSpPr>
            <p:cNvPr id="46118" name="文本框 37"/>
            <p:cNvSpPr txBox="1">
              <a:spLocks noChangeArrowheads="1"/>
            </p:cNvSpPr>
            <p:nvPr/>
          </p:nvSpPr>
          <p:spPr bwMode="auto">
            <a:xfrm rot="-2220000">
              <a:off x="4689475" y="3024564"/>
              <a:ext cx="1473200" cy="254837"/>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12.1.1.0</a:t>
              </a:r>
            </a:p>
          </p:txBody>
        </p:sp>
        <p:sp>
          <p:nvSpPr>
            <p:cNvPr id="46119" name="文本框 38"/>
            <p:cNvSpPr txBox="1">
              <a:spLocks noChangeArrowheads="1"/>
            </p:cNvSpPr>
            <p:nvPr/>
          </p:nvSpPr>
          <p:spPr bwMode="auto">
            <a:xfrm rot="2520000">
              <a:off x="6235700" y="2958683"/>
              <a:ext cx="1473200" cy="254837"/>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12.1.2.0</a:t>
              </a:r>
            </a:p>
          </p:txBody>
        </p:sp>
        <p:sp>
          <p:nvSpPr>
            <p:cNvPr id="46120" name="文本框 39"/>
            <p:cNvSpPr txBox="1">
              <a:spLocks noChangeArrowheads="1"/>
            </p:cNvSpPr>
            <p:nvPr/>
          </p:nvSpPr>
          <p:spPr bwMode="auto">
            <a:xfrm rot="2160000">
              <a:off x="4775200" y="4122320"/>
              <a:ext cx="1473200" cy="254837"/>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12.1.3.0</a:t>
              </a:r>
            </a:p>
          </p:txBody>
        </p:sp>
        <p:sp>
          <p:nvSpPr>
            <p:cNvPr id="46121" name="文本框 40"/>
            <p:cNvSpPr txBox="1">
              <a:spLocks noChangeArrowheads="1"/>
            </p:cNvSpPr>
            <p:nvPr/>
          </p:nvSpPr>
          <p:spPr bwMode="auto">
            <a:xfrm rot="-2137503">
              <a:off x="6159500" y="4127083"/>
              <a:ext cx="1473200" cy="254837"/>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12.1.4.0</a:t>
              </a:r>
            </a:p>
          </p:txBody>
        </p:sp>
        <p:sp>
          <p:nvSpPr>
            <p:cNvPr id="46122" name="文本框 41"/>
            <p:cNvSpPr txBox="1">
              <a:spLocks noChangeArrowheads="1"/>
            </p:cNvSpPr>
            <p:nvPr/>
          </p:nvSpPr>
          <p:spPr bwMode="auto">
            <a:xfrm rot="1516141">
              <a:off x="3825876" y="3132139"/>
              <a:ext cx="1198563" cy="261937"/>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10.1.1.0</a:t>
              </a:r>
            </a:p>
          </p:txBody>
        </p:sp>
        <p:sp>
          <p:nvSpPr>
            <p:cNvPr id="46123" name="文本框 42"/>
            <p:cNvSpPr txBox="1">
              <a:spLocks noChangeArrowheads="1"/>
            </p:cNvSpPr>
            <p:nvPr/>
          </p:nvSpPr>
          <p:spPr bwMode="auto">
            <a:xfrm rot="-1213741">
              <a:off x="3541713" y="3712745"/>
              <a:ext cx="1471612" cy="254837"/>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10.1.2.0</a:t>
              </a:r>
            </a:p>
          </p:txBody>
        </p:sp>
        <p:sp>
          <p:nvSpPr>
            <p:cNvPr id="46124" name="文本框 43"/>
            <p:cNvSpPr txBox="1">
              <a:spLocks noChangeArrowheads="1"/>
            </p:cNvSpPr>
            <p:nvPr/>
          </p:nvSpPr>
          <p:spPr bwMode="auto">
            <a:xfrm>
              <a:off x="7359650" y="3806826"/>
              <a:ext cx="1473200" cy="254837"/>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10.1.3.0</a:t>
              </a:r>
            </a:p>
          </p:txBody>
        </p:sp>
        <p:pic>
          <p:nvPicPr>
            <p:cNvPr id="50" name="图片 4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36377" y="3945651"/>
              <a:ext cx="540000" cy="442800"/>
            </a:xfrm>
            <a:prstGeom prst="rect">
              <a:avLst/>
            </a:prstGeom>
          </p:spPr>
        </p:pic>
        <p:pic>
          <p:nvPicPr>
            <p:cNvPr id="51" name="图片 5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812275" y="3413503"/>
              <a:ext cx="540000" cy="442800"/>
            </a:xfrm>
            <a:prstGeom prst="rect">
              <a:avLst/>
            </a:prstGeom>
          </p:spPr>
        </p:pic>
        <p:pic>
          <p:nvPicPr>
            <p:cNvPr id="5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95525" y="2486554"/>
              <a:ext cx="628652" cy="514351"/>
            </a:xfrm>
            <a:prstGeom prst="rect">
              <a:avLst/>
            </a:prstGeom>
            <a:noFill/>
          </p:spPr>
        </p:pic>
        <p:pic>
          <p:nvPicPr>
            <p:cNvPr id="5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95525" y="4245334"/>
              <a:ext cx="628652" cy="514351"/>
            </a:xfrm>
            <a:prstGeom prst="rect">
              <a:avLst/>
            </a:prstGeom>
            <a:noFill/>
          </p:spPr>
        </p:pic>
        <p:pic>
          <p:nvPicPr>
            <p:cNvPr id="5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995191" y="3365500"/>
              <a:ext cx="628652" cy="514351"/>
            </a:xfrm>
            <a:prstGeom prst="rect">
              <a:avLst/>
            </a:prstGeom>
            <a:noFill/>
          </p:spPr>
        </p:pic>
        <p:pic>
          <p:nvPicPr>
            <p:cNvPr id="5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694599" y="3347458"/>
              <a:ext cx="628652" cy="514351"/>
            </a:xfrm>
            <a:prstGeom prst="rect">
              <a:avLst/>
            </a:prstGeom>
            <a:noFill/>
          </p:spPr>
        </p:pic>
        <p:pic>
          <p:nvPicPr>
            <p:cNvPr id="56" name="图片 55" descr="市场部.png"/>
            <p:cNvPicPr>
              <a:picLocks noChangeAspect="1"/>
            </p:cNvPicPr>
            <p:nvPr/>
          </p:nvPicPr>
          <p:blipFill>
            <a:blip r:embed="rId5" cstate="print"/>
            <a:stretch>
              <a:fillRect/>
            </a:stretch>
          </p:blipFill>
          <p:spPr>
            <a:xfrm>
              <a:off x="3278205" y="2852742"/>
              <a:ext cx="540000" cy="441818"/>
            </a:xfrm>
            <a:prstGeom prst="rect">
              <a:avLst/>
            </a:prstGeom>
          </p:spPr>
        </p:pic>
        <p:sp>
          <p:nvSpPr>
            <p:cNvPr id="46114" name="任意多边形 96"/>
            <p:cNvSpPr>
              <a:spLocks/>
            </p:cNvSpPr>
            <p:nvPr/>
          </p:nvSpPr>
          <p:spPr bwMode="auto">
            <a:xfrm>
              <a:off x="3829051" y="2660650"/>
              <a:ext cx="4894263" cy="979488"/>
            </a:xfrm>
            <a:custGeom>
              <a:avLst/>
              <a:gdLst>
                <a:gd name="T0" fmla="*/ 0 w 6087808"/>
                <a:gd name="T1" fmla="*/ 526123 h 863137"/>
                <a:gd name="T2" fmla="*/ 973358 w 6087808"/>
                <a:gd name="T3" fmla="*/ 919120 h 863137"/>
                <a:gd name="T4" fmla="*/ 1752440 w 6087808"/>
                <a:gd name="T5" fmla="*/ 78477 h 863137"/>
                <a:gd name="T6" fmla="*/ 2015026 w 6087808"/>
                <a:gd name="T7" fmla="*/ 95320 h 863137"/>
                <a:gd name="T8" fmla="*/ 2732974 w 6087808"/>
                <a:gd name="T9" fmla="*/ 864275 h 863137"/>
                <a:gd name="T10" fmla="*/ 3081683 w 6087808"/>
                <a:gd name="T11" fmla="*/ 1110740 h 863137"/>
                <a:gd name="T12" fmla="*/ 3935575 w 6087808"/>
                <a:gd name="T13" fmla="*/ 1100071 h 863137"/>
                <a:gd name="T14" fmla="*/ 0 60000 65536"/>
                <a:gd name="T15" fmla="*/ 0 60000 65536"/>
                <a:gd name="T16" fmla="*/ 0 60000 65536"/>
                <a:gd name="T17" fmla="*/ 0 60000 65536"/>
                <a:gd name="T18" fmla="*/ 0 60000 65536"/>
                <a:gd name="T19" fmla="*/ 0 60000 65536"/>
                <a:gd name="T20" fmla="*/ 0 60000 65536"/>
                <a:gd name="T21" fmla="*/ 0 w 6087808"/>
                <a:gd name="T22" fmla="*/ 0 h 863137"/>
                <a:gd name="T23" fmla="*/ 6087808 w 6087808"/>
                <a:gd name="T24" fmla="*/ 863137 h 8631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87808" h="863137">
                  <a:moveTo>
                    <a:pt x="0" y="408841"/>
                  </a:moveTo>
                  <a:cubicBezTo>
                    <a:pt x="651593" y="615458"/>
                    <a:pt x="1053856" y="772208"/>
                    <a:pt x="1505654" y="714232"/>
                  </a:cubicBezTo>
                  <a:cubicBezTo>
                    <a:pt x="1957452" y="656256"/>
                    <a:pt x="2442236" y="167677"/>
                    <a:pt x="2710790" y="60983"/>
                  </a:cubicBezTo>
                  <a:cubicBezTo>
                    <a:pt x="2979344" y="-45711"/>
                    <a:pt x="2972770" y="6535"/>
                    <a:pt x="3116976" y="74071"/>
                  </a:cubicBezTo>
                  <a:cubicBezTo>
                    <a:pt x="3319004" y="152595"/>
                    <a:pt x="3922790" y="498019"/>
                    <a:pt x="4227547" y="671613"/>
                  </a:cubicBezTo>
                  <a:cubicBezTo>
                    <a:pt x="4492906" y="805402"/>
                    <a:pt x="4460123" y="793875"/>
                    <a:pt x="4766954" y="863137"/>
                  </a:cubicBezTo>
                  <a:cubicBezTo>
                    <a:pt x="5425676" y="846706"/>
                    <a:pt x="5564004" y="843943"/>
                    <a:pt x="6087808" y="854846"/>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dirty="0">
                <a:latin typeface="+mn-lt"/>
              </a:endParaRPr>
            </a:p>
          </p:txBody>
        </p:sp>
        <p:sp>
          <p:nvSpPr>
            <p:cNvPr id="46115" name="任意多边形 97"/>
            <p:cNvSpPr>
              <a:spLocks/>
            </p:cNvSpPr>
            <p:nvPr/>
          </p:nvSpPr>
          <p:spPr bwMode="auto">
            <a:xfrm>
              <a:off x="3887788" y="3784600"/>
              <a:ext cx="4849812" cy="679450"/>
            </a:xfrm>
            <a:custGeom>
              <a:avLst/>
              <a:gdLst>
                <a:gd name="T0" fmla="*/ 0 w 6030952"/>
                <a:gd name="T1" fmla="*/ 409345 h 599852"/>
                <a:gd name="T2" fmla="*/ 936846 w 6030952"/>
                <a:gd name="T3" fmla="*/ 24808 h 599852"/>
                <a:gd name="T4" fmla="*/ 1789660 w 6030952"/>
                <a:gd name="T5" fmla="*/ 756593 h 599852"/>
                <a:gd name="T6" fmla="*/ 2334188 w 6030952"/>
                <a:gd name="T7" fmla="*/ 445419 h 599852"/>
                <a:gd name="T8" fmla="*/ 2954280 w 6030952"/>
                <a:gd name="T9" fmla="*/ 4594 h 599852"/>
                <a:gd name="T10" fmla="*/ 3293924 w 6030952"/>
                <a:gd name="T11" fmla="*/ 7585 h 599852"/>
                <a:gd name="T12" fmla="*/ 3597208 w 6030952"/>
                <a:gd name="T13" fmla="*/ 26190 h 599852"/>
                <a:gd name="T14" fmla="*/ 3899830 w 6030952"/>
                <a:gd name="T15" fmla="*/ 50065 h 599852"/>
                <a:gd name="T16" fmla="*/ 0 60000 65536"/>
                <a:gd name="T17" fmla="*/ 0 60000 65536"/>
                <a:gd name="T18" fmla="*/ 0 60000 65536"/>
                <a:gd name="T19" fmla="*/ 0 60000 65536"/>
                <a:gd name="T20" fmla="*/ 0 60000 65536"/>
                <a:gd name="T21" fmla="*/ 0 60000 65536"/>
                <a:gd name="T22" fmla="*/ 0 60000 65536"/>
                <a:gd name="T23" fmla="*/ 0 60000 65536"/>
                <a:gd name="T24" fmla="*/ 0 w 6030952"/>
                <a:gd name="T25" fmla="*/ 0 h 599852"/>
                <a:gd name="T26" fmla="*/ 6030952 w 6030952"/>
                <a:gd name="T27" fmla="*/ 599852 h 5998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030952" h="599852">
                  <a:moveTo>
                    <a:pt x="0" y="318685"/>
                  </a:moveTo>
                  <a:cubicBezTo>
                    <a:pt x="916927" y="108689"/>
                    <a:pt x="987524" y="-25743"/>
                    <a:pt x="1448799" y="19314"/>
                  </a:cubicBezTo>
                  <a:cubicBezTo>
                    <a:pt x="1910074" y="64371"/>
                    <a:pt x="2407491" y="534451"/>
                    <a:pt x="2767648" y="589027"/>
                  </a:cubicBezTo>
                  <a:cubicBezTo>
                    <a:pt x="3127805" y="643603"/>
                    <a:pt x="3257058" y="480820"/>
                    <a:pt x="3609740" y="346770"/>
                  </a:cubicBezTo>
                  <a:cubicBezTo>
                    <a:pt x="4171864" y="49000"/>
                    <a:pt x="4017555" y="98766"/>
                    <a:pt x="4568693" y="3577"/>
                  </a:cubicBezTo>
                  <a:cubicBezTo>
                    <a:pt x="4831855" y="522"/>
                    <a:pt x="4966134" y="-3617"/>
                    <a:pt x="5093940" y="5905"/>
                  </a:cubicBezTo>
                  <a:lnTo>
                    <a:pt x="5562956" y="20390"/>
                  </a:lnTo>
                  <a:cubicBezTo>
                    <a:pt x="6221678" y="3959"/>
                    <a:pt x="5507148" y="28074"/>
                    <a:pt x="6030952" y="38977"/>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dirty="0">
                <a:latin typeface="+mn-lt"/>
              </a:endParaRPr>
            </a:p>
          </p:txBody>
        </p:sp>
      </p:grpSp>
    </p:spTree>
    <p:extLst>
      <p:ext uri="{BB962C8B-B14F-4D97-AF65-F5344CB8AC3E}">
        <p14:creationId xmlns:p14="http://schemas.microsoft.com/office/powerpoint/2010/main" val="355414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1000"/>
                                        <p:tgtEl>
                                          <p:spTgt spid="80"/>
                                        </p:tgtEl>
                                      </p:cBhvr>
                                    </p:animEffect>
                                    <p:anim calcmode="lin" valueType="num">
                                      <p:cBhvr>
                                        <p:cTn id="8" dur="1000" fill="hold"/>
                                        <p:tgtEl>
                                          <p:spTgt spid="80"/>
                                        </p:tgtEl>
                                        <p:attrNameLst>
                                          <p:attrName>ppt_x</p:attrName>
                                        </p:attrNameLst>
                                      </p:cBhvr>
                                      <p:tavLst>
                                        <p:tav tm="0">
                                          <p:val>
                                            <p:strVal val="#ppt_x"/>
                                          </p:val>
                                        </p:tav>
                                        <p:tav tm="100000">
                                          <p:val>
                                            <p:strVal val="#ppt_x"/>
                                          </p:val>
                                        </p:tav>
                                      </p:tavLst>
                                    </p:anim>
                                    <p:anim calcmode="lin" valueType="num">
                                      <p:cBhvr>
                                        <p:cTn id="9"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r>
              <a:rPr lang="en-US" altLang="zh-CN" dirty="0"/>
              <a:t>Solution 2: Policy-based </a:t>
            </a:r>
            <a:r>
              <a:rPr lang="en-US" altLang="zh-CN" dirty="0" smtClean="0"/>
              <a:t>Routing (2)</a:t>
            </a:r>
            <a:endParaRPr lang="zh-CN" altLang="en-US" dirty="0"/>
          </a:p>
        </p:txBody>
      </p:sp>
      <p:sp>
        <p:nvSpPr>
          <p:cNvPr id="9" name="矩形 8"/>
          <p:cNvSpPr/>
          <p:nvPr/>
        </p:nvSpPr>
        <p:spPr bwMode="auto">
          <a:xfrm>
            <a:off x="2351584" y="4005064"/>
            <a:ext cx="6984776" cy="2052228"/>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300" b="1" dirty="0">
                <a:latin typeface="+mn-lt"/>
                <a:ea typeface="+mn-ea"/>
                <a:cs typeface="Courier New" panose="02070309020205020404" pitchFamily="49" charset="0"/>
              </a:rPr>
              <a:t>[RTA]</a:t>
            </a:r>
            <a:r>
              <a:rPr lang="en-US" altLang="zh-CN" sz="1300" b="1" dirty="0" err="1">
                <a:latin typeface="+mn-lt"/>
                <a:ea typeface="+mn-ea"/>
                <a:cs typeface="Courier New" panose="02070309020205020404" pitchFamily="49" charset="0"/>
              </a:rPr>
              <a:t>acl</a:t>
            </a:r>
            <a:r>
              <a:rPr lang="en-US" altLang="zh-CN" sz="1300" b="1" dirty="0">
                <a:latin typeface="+mn-lt"/>
                <a:ea typeface="+mn-ea"/>
                <a:cs typeface="Courier New" panose="02070309020205020404" pitchFamily="49" charset="0"/>
              </a:rPr>
              <a:t> 3001	</a:t>
            </a:r>
          </a:p>
          <a:p>
            <a:r>
              <a:rPr lang="en-US" altLang="zh-CN" sz="1300" b="1" dirty="0">
                <a:latin typeface="+mn-lt"/>
                <a:ea typeface="+mn-ea"/>
                <a:cs typeface="Courier New" panose="02070309020205020404" pitchFamily="49" charset="0"/>
              </a:rPr>
              <a:t> rule 5 permit </a:t>
            </a:r>
            <a:r>
              <a:rPr lang="en-US" altLang="zh-CN" sz="1300" b="1" dirty="0" err="1">
                <a:latin typeface="+mn-lt"/>
                <a:ea typeface="+mn-ea"/>
                <a:cs typeface="Courier New" panose="02070309020205020404" pitchFamily="49" charset="0"/>
              </a:rPr>
              <a:t>ip</a:t>
            </a:r>
            <a:r>
              <a:rPr lang="en-US" altLang="zh-CN" sz="1300" b="1" dirty="0">
                <a:latin typeface="+mn-lt"/>
                <a:ea typeface="+mn-ea"/>
                <a:cs typeface="Courier New" panose="02070309020205020404" pitchFamily="49" charset="0"/>
              </a:rPr>
              <a:t> source 10.1.2.0 0.0.0.255 </a:t>
            </a:r>
            <a:r>
              <a:rPr lang="en-US" altLang="zh-CN" sz="1300" b="1" dirty="0" err="1">
                <a:latin typeface="+mn-lt"/>
                <a:ea typeface="+mn-ea"/>
                <a:cs typeface="Courier New" panose="02070309020205020404" pitchFamily="49" charset="0"/>
              </a:rPr>
              <a:t>dest</a:t>
            </a:r>
            <a:r>
              <a:rPr lang="en-US" altLang="zh-CN" sz="1300" b="1" dirty="0">
                <a:latin typeface="+mn-lt"/>
                <a:ea typeface="+mn-ea"/>
                <a:cs typeface="Courier New" panose="02070309020205020404" pitchFamily="49" charset="0"/>
              </a:rPr>
              <a:t> 10.1.3.0 0.0.0.255</a:t>
            </a:r>
          </a:p>
          <a:p>
            <a:r>
              <a:rPr lang="en-US" altLang="zh-CN" sz="1300" b="1" dirty="0">
                <a:latin typeface="+mn-lt"/>
                <a:ea typeface="+mn-ea"/>
                <a:cs typeface="Courier New" panose="02070309020205020404" pitchFamily="49" charset="0"/>
              </a:rPr>
              <a:t>traffic classifier huawei-control2</a:t>
            </a:r>
          </a:p>
          <a:p>
            <a:r>
              <a:rPr lang="en-US" altLang="zh-CN" sz="1300" b="1" dirty="0">
                <a:latin typeface="+mn-lt"/>
                <a:ea typeface="+mn-ea"/>
                <a:cs typeface="Courier New" panose="02070309020205020404" pitchFamily="49" charset="0"/>
              </a:rPr>
              <a:t> </a:t>
            </a:r>
            <a:r>
              <a:rPr lang="en-US" altLang="zh-CN" sz="1300" b="1" dirty="0">
                <a:solidFill>
                  <a:srgbClr val="C00000"/>
                </a:solidFill>
                <a:latin typeface="+mn-lt"/>
                <a:ea typeface="+mn-ea"/>
                <a:cs typeface="Courier New" panose="02070309020205020404" pitchFamily="49" charset="0"/>
              </a:rPr>
              <a:t>if-match </a:t>
            </a:r>
            <a:r>
              <a:rPr lang="en-US" altLang="zh-CN" sz="1300" b="1" dirty="0" err="1">
                <a:solidFill>
                  <a:srgbClr val="C00000"/>
                </a:solidFill>
                <a:latin typeface="+mn-lt"/>
                <a:ea typeface="+mn-ea"/>
                <a:cs typeface="Courier New" panose="02070309020205020404" pitchFamily="49" charset="0"/>
              </a:rPr>
              <a:t>acl</a:t>
            </a:r>
            <a:r>
              <a:rPr lang="en-US" altLang="zh-CN" sz="1300" b="1" dirty="0">
                <a:solidFill>
                  <a:srgbClr val="C00000"/>
                </a:solidFill>
                <a:latin typeface="+mn-lt"/>
                <a:ea typeface="+mn-ea"/>
                <a:cs typeface="Courier New" panose="02070309020205020404" pitchFamily="49" charset="0"/>
              </a:rPr>
              <a:t> 3001</a:t>
            </a:r>
          </a:p>
          <a:p>
            <a:r>
              <a:rPr lang="en-US" altLang="zh-CN" sz="1300" b="1" dirty="0">
                <a:latin typeface="+mn-lt"/>
                <a:ea typeface="+mn-ea"/>
                <a:cs typeface="Courier New" panose="02070309020205020404" pitchFamily="49" charset="0"/>
              </a:rPr>
              <a:t>traffic behavior huawei-control2</a:t>
            </a:r>
          </a:p>
          <a:p>
            <a:r>
              <a:rPr lang="en-US" altLang="zh-CN" sz="1300" b="1" dirty="0">
                <a:latin typeface="+mn-lt"/>
                <a:ea typeface="+mn-ea"/>
                <a:cs typeface="Courier New" panose="02070309020205020404" pitchFamily="49" charset="0"/>
              </a:rPr>
              <a:t> </a:t>
            </a:r>
            <a:r>
              <a:rPr lang="en-US" altLang="zh-CN" sz="1300" b="1" dirty="0">
                <a:solidFill>
                  <a:srgbClr val="C00000"/>
                </a:solidFill>
                <a:latin typeface="+mn-lt"/>
                <a:ea typeface="+mn-ea"/>
                <a:cs typeface="Courier New" panose="02070309020205020404" pitchFamily="49" charset="0"/>
              </a:rPr>
              <a:t>redirect </a:t>
            </a:r>
            <a:r>
              <a:rPr lang="en-US" altLang="zh-CN" sz="1300" b="1" dirty="0" err="1">
                <a:solidFill>
                  <a:srgbClr val="C00000"/>
                </a:solidFill>
                <a:latin typeface="+mn-lt"/>
                <a:ea typeface="+mn-ea"/>
                <a:cs typeface="Courier New" panose="02070309020205020404" pitchFamily="49" charset="0"/>
              </a:rPr>
              <a:t>ip-nexthop</a:t>
            </a:r>
            <a:r>
              <a:rPr lang="en-US" altLang="zh-CN" sz="1300" b="1" dirty="0">
                <a:solidFill>
                  <a:srgbClr val="C00000"/>
                </a:solidFill>
                <a:latin typeface="+mn-lt"/>
                <a:ea typeface="+mn-ea"/>
                <a:cs typeface="Courier New" panose="02070309020205020404" pitchFamily="49" charset="0"/>
              </a:rPr>
              <a:t> 12.1.3.2</a:t>
            </a:r>
          </a:p>
          <a:p>
            <a:r>
              <a:rPr lang="en-US" altLang="zh-CN" sz="1300" b="1" dirty="0">
                <a:latin typeface="+mn-lt"/>
                <a:ea typeface="+mn-ea"/>
                <a:cs typeface="Courier New" panose="02070309020205020404" pitchFamily="49" charset="0"/>
              </a:rPr>
              <a:t>traffic policy huawei-control2 </a:t>
            </a:r>
          </a:p>
          <a:p>
            <a:r>
              <a:rPr lang="en-US" altLang="zh-CN" sz="1300" b="1" dirty="0">
                <a:latin typeface="+mn-lt"/>
                <a:ea typeface="+mn-ea"/>
                <a:cs typeface="Courier New" panose="02070309020205020404" pitchFamily="49" charset="0"/>
              </a:rPr>
              <a:t> classifier huawei-control2 behavior huawei-control2</a:t>
            </a:r>
          </a:p>
          <a:p>
            <a:r>
              <a:rPr lang="en-US" altLang="zh-CN" sz="1300" b="1" dirty="0" err="1">
                <a:latin typeface="+mn-lt"/>
                <a:ea typeface="+mn-ea"/>
                <a:cs typeface="Courier New" panose="02070309020205020404" pitchFamily="49" charset="0"/>
              </a:rPr>
              <a:t>int</a:t>
            </a:r>
            <a:r>
              <a:rPr lang="en-US" altLang="zh-CN" sz="1300" b="1" dirty="0">
                <a:latin typeface="+mn-lt"/>
                <a:ea typeface="+mn-ea"/>
                <a:cs typeface="Courier New" panose="02070309020205020404" pitchFamily="49" charset="0"/>
              </a:rPr>
              <a:t> g4/0/0</a:t>
            </a:r>
          </a:p>
          <a:p>
            <a:r>
              <a:rPr lang="en-US" altLang="zh-CN" sz="1300" b="1" dirty="0">
                <a:latin typeface="+mn-lt"/>
                <a:ea typeface="+mn-ea"/>
                <a:cs typeface="Courier New" panose="02070309020205020404" pitchFamily="49" charset="0"/>
              </a:rPr>
              <a:t> traffic-policy huawei-control2 inbound</a:t>
            </a:r>
          </a:p>
        </p:txBody>
      </p:sp>
      <p:sp>
        <p:nvSpPr>
          <p:cNvPr id="10" name="矩形 9"/>
          <p:cNvSpPr/>
          <p:nvPr/>
        </p:nvSpPr>
        <p:spPr bwMode="auto">
          <a:xfrm>
            <a:off x="2351584" y="1736812"/>
            <a:ext cx="6948772" cy="2088232"/>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300" b="1" dirty="0">
                <a:latin typeface="+mn-lt"/>
                <a:ea typeface="+mn-ea"/>
                <a:cs typeface="Courier New" panose="02070309020205020404" pitchFamily="49" charset="0"/>
              </a:rPr>
              <a:t>[RTA]</a:t>
            </a:r>
            <a:r>
              <a:rPr lang="en-US" altLang="zh-CN" sz="1300" b="1" dirty="0" err="1">
                <a:latin typeface="+mn-lt"/>
                <a:ea typeface="+mn-ea"/>
                <a:cs typeface="Courier New" panose="02070309020205020404" pitchFamily="49" charset="0"/>
              </a:rPr>
              <a:t>acl</a:t>
            </a:r>
            <a:r>
              <a:rPr lang="en-US" altLang="zh-CN" sz="1300" b="1" dirty="0">
                <a:latin typeface="+mn-lt"/>
                <a:ea typeface="+mn-ea"/>
                <a:cs typeface="Courier New" panose="02070309020205020404" pitchFamily="49" charset="0"/>
              </a:rPr>
              <a:t> 3000</a:t>
            </a:r>
          </a:p>
          <a:p>
            <a:r>
              <a:rPr lang="en-US" altLang="zh-CN" sz="1300" b="1" dirty="0">
                <a:latin typeface="+mn-lt"/>
                <a:ea typeface="+mn-ea"/>
                <a:cs typeface="Courier New" panose="02070309020205020404" pitchFamily="49" charset="0"/>
              </a:rPr>
              <a:t>  rule 5 permit </a:t>
            </a:r>
            <a:r>
              <a:rPr lang="en-US" altLang="zh-CN" sz="1300" b="1" dirty="0" err="1">
                <a:latin typeface="+mn-lt"/>
                <a:ea typeface="+mn-ea"/>
                <a:cs typeface="Courier New" panose="02070309020205020404" pitchFamily="49" charset="0"/>
              </a:rPr>
              <a:t>ip</a:t>
            </a:r>
            <a:r>
              <a:rPr lang="en-US" altLang="zh-CN" sz="1300" b="1" dirty="0">
                <a:latin typeface="+mn-lt"/>
                <a:ea typeface="+mn-ea"/>
                <a:cs typeface="Courier New" panose="02070309020205020404" pitchFamily="49" charset="0"/>
              </a:rPr>
              <a:t> source 10.1.1.0 0.0.0.255 </a:t>
            </a:r>
            <a:r>
              <a:rPr lang="en-US" altLang="zh-CN" sz="1300" b="1" dirty="0" err="1">
                <a:latin typeface="+mn-lt"/>
                <a:ea typeface="+mn-ea"/>
                <a:cs typeface="Courier New" panose="02070309020205020404" pitchFamily="49" charset="0"/>
              </a:rPr>
              <a:t>dest</a:t>
            </a:r>
            <a:r>
              <a:rPr lang="en-US" altLang="zh-CN" sz="1300" b="1" dirty="0">
                <a:latin typeface="+mn-lt"/>
                <a:ea typeface="+mn-ea"/>
                <a:cs typeface="Courier New" panose="02070309020205020404" pitchFamily="49" charset="0"/>
              </a:rPr>
              <a:t> 10.1.3.0 0.0.0.255</a:t>
            </a:r>
          </a:p>
          <a:p>
            <a:r>
              <a:rPr lang="en-US" altLang="zh-CN" sz="1300" b="1" dirty="0">
                <a:latin typeface="+mn-lt"/>
                <a:ea typeface="+mn-ea"/>
                <a:cs typeface="Courier New" panose="02070309020205020404" pitchFamily="49" charset="0"/>
              </a:rPr>
              <a:t>traffic classifier huawei-control1</a:t>
            </a:r>
          </a:p>
          <a:p>
            <a:r>
              <a:rPr lang="en-US" altLang="zh-CN" sz="1300" b="1" dirty="0">
                <a:solidFill>
                  <a:srgbClr val="C00000"/>
                </a:solidFill>
                <a:latin typeface="+mn-lt"/>
                <a:ea typeface="+mn-ea"/>
                <a:cs typeface="Courier New" panose="02070309020205020404" pitchFamily="49" charset="0"/>
              </a:rPr>
              <a:t> if-match </a:t>
            </a:r>
            <a:r>
              <a:rPr lang="en-US" altLang="zh-CN" sz="1300" b="1" dirty="0" err="1">
                <a:solidFill>
                  <a:srgbClr val="C00000"/>
                </a:solidFill>
                <a:latin typeface="+mn-lt"/>
                <a:ea typeface="+mn-ea"/>
                <a:cs typeface="Courier New" panose="02070309020205020404" pitchFamily="49" charset="0"/>
              </a:rPr>
              <a:t>acl</a:t>
            </a:r>
            <a:r>
              <a:rPr lang="en-US" altLang="zh-CN" sz="1300" b="1" dirty="0">
                <a:solidFill>
                  <a:srgbClr val="C00000"/>
                </a:solidFill>
                <a:latin typeface="+mn-lt"/>
                <a:ea typeface="+mn-ea"/>
                <a:cs typeface="Courier New" panose="02070309020205020404" pitchFamily="49" charset="0"/>
              </a:rPr>
              <a:t> 3000</a:t>
            </a:r>
          </a:p>
          <a:p>
            <a:r>
              <a:rPr lang="en-US" altLang="zh-CN" sz="1300" b="1" dirty="0">
                <a:latin typeface="+mn-lt"/>
                <a:ea typeface="+mn-ea"/>
                <a:cs typeface="Courier New" panose="02070309020205020404" pitchFamily="49" charset="0"/>
              </a:rPr>
              <a:t>traffic behavior huawei-control1</a:t>
            </a:r>
          </a:p>
          <a:p>
            <a:r>
              <a:rPr lang="en-US" altLang="zh-CN" sz="1300" b="1" dirty="0">
                <a:solidFill>
                  <a:srgbClr val="C00000"/>
                </a:solidFill>
                <a:latin typeface="+mn-lt"/>
                <a:ea typeface="+mn-ea"/>
                <a:cs typeface="Courier New" panose="02070309020205020404" pitchFamily="49" charset="0"/>
              </a:rPr>
              <a:t> redirect </a:t>
            </a:r>
            <a:r>
              <a:rPr lang="en-US" altLang="zh-CN" sz="1300" b="1" dirty="0" err="1">
                <a:solidFill>
                  <a:srgbClr val="C00000"/>
                </a:solidFill>
                <a:latin typeface="+mn-lt"/>
                <a:ea typeface="+mn-ea"/>
                <a:cs typeface="Courier New" panose="02070309020205020404" pitchFamily="49" charset="0"/>
              </a:rPr>
              <a:t>ip-nexthop</a:t>
            </a:r>
            <a:r>
              <a:rPr lang="en-US" altLang="zh-CN" sz="1300" b="1" dirty="0">
                <a:solidFill>
                  <a:srgbClr val="C00000"/>
                </a:solidFill>
                <a:latin typeface="+mn-lt"/>
                <a:ea typeface="+mn-ea"/>
                <a:cs typeface="Courier New" panose="02070309020205020404" pitchFamily="49" charset="0"/>
              </a:rPr>
              <a:t> 12.1.1.2</a:t>
            </a:r>
          </a:p>
          <a:p>
            <a:r>
              <a:rPr lang="en-US" altLang="zh-CN" sz="1300" b="1" dirty="0">
                <a:latin typeface="+mn-lt"/>
                <a:ea typeface="+mn-ea"/>
                <a:cs typeface="Courier New" panose="02070309020205020404" pitchFamily="49" charset="0"/>
              </a:rPr>
              <a:t>traffic policy huawei-control1</a:t>
            </a:r>
          </a:p>
          <a:p>
            <a:r>
              <a:rPr lang="en-US" altLang="zh-CN" sz="1300" b="1" dirty="0">
                <a:latin typeface="+mn-lt"/>
                <a:ea typeface="+mn-ea"/>
                <a:cs typeface="Courier New" panose="02070309020205020404" pitchFamily="49" charset="0"/>
              </a:rPr>
              <a:t> classifier huawei-control1 behavior huawei-control1</a:t>
            </a:r>
          </a:p>
          <a:p>
            <a:r>
              <a:rPr lang="en-US" altLang="zh-CN" sz="1300" b="1" dirty="0" err="1">
                <a:latin typeface="+mn-lt"/>
                <a:ea typeface="+mn-ea"/>
                <a:cs typeface="Courier New" panose="02070309020205020404" pitchFamily="49" charset="0"/>
              </a:rPr>
              <a:t>int</a:t>
            </a:r>
            <a:r>
              <a:rPr lang="en-US" altLang="zh-CN" sz="1300" b="1" dirty="0">
                <a:latin typeface="+mn-lt"/>
                <a:ea typeface="+mn-ea"/>
                <a:cs typeface="Courier New" panose="02070309020205020404" pitchFamily="49" charset="0"/>
              </a:rPr>
              <a:t> g0/0/2</a:t>
            </a:r>
          </a:p>
          <a:p>
            <a:r>
              <a:rPr lang="en-US" altLang="zh-CN" sz="1300" b="1" dirty="0">
                <a:latin typeface="+mn-lt"/>
                <a:ea typeface="+mn-ea"/>
                <a:cs typeface="Courier New" panose="02070309020205020404" pitchFamily="49" charset="0"/>
              </a:rPr>
              <a:t> traffic-policy huawei-control1 inbound</a:t>
            </a:r>
          </a:p>
        </p:txBody>
      </p:sp>
      <p:graphicFrame>
        <p:nvGraphicFramePr>
          <p:cNvPr id="5" name="对象 4"/>
          <p:cNvGraphicFramePr>
            <a:graphicFrameLocks noChangeAspect="1"/>
          </p:cNvGraphicFramePr>
          <p:nvPr>
            <p:extLst>
              <p:ext uri="{D42A27DB-BD31-4B8C-83A1-F6EECF244321}">
                <p14:modId xmlns:p14="http://schemas.microsoft.com/office/powerpoint/2010/main" val="2398452372"/>
              </p:ext>
            </p:extLst>
          </p:nvPr>
        </p:nvGraphicFramePr>
        <p:xfrm>
          <a:off x="9552384" y="5209246"/>
          <a:ext cx="1476164" cy="848046"/>
        </p:xfrm>
        <a:graphic>
          <a:graphicData uri="http://schemas.openxmlformats.org/presentationml/2006/ole">
            <mc:AlternateContent xmlns:mc="http://schemas.openxmlformats.org/markup-compatibility/2006">
              <mc:Choice xmlns:v="urn:schemas-microsoft-com:vml" Requires="v">
                <p:oleObj spid="_x0000_s4108" name="包装程序外壳对象" showAsIcon="1" r:id="rId4" imgW="914400" imgH="828720" progId="Package">
                  <p:embed/>
                </p:oleObj>
              </mc:Choice>
              <mc:Fallback>
                <p:oleObj name="包装程序外壳对象" showAsIcon="1" r:id="rId4" imgW="914400" imgH="828720" progId="Package">
                  <p:embed/>
                  <p:pic>
                    <p:nvPicPr>
                      <p:cNvPr id="0" name=""/>
                      <p:cNvPicPr/>
                      <p:nvPr/>
                    </p:nvPicPr>
                    <p:blipFill>
                      <a:blip r:embed="rId5"/>
                      <a:stretch>
                        <a:fillRect/>
                      </a:stretch>
                    </p:blipFill>
                    <p:spPr>
                      <a:xfrm>
                        <a:off x="9552384" y="5209246"/>
                        <a:ext cx="1476164" cy="848046"/>
                      </a:xfrm>
                      <a:prstGeom prst="rect">
                        <a:avLst/>
                      </a:prstGeom>
                    </p:spPr>
                  </p:pic>
                </p:oleObj>
              </mc:Fallback>
            </mc:AlternateContent>
          </a:graphicData>
        </a:graphic>
      </p:graphicFrame>
    </p:spTree>
    <p:extLst>
      <p:ext uri="{BB962C8B-B14F-4D97-AF65-F5344CB8AC3E}">
        <p14:creationId xmlns:p14="http://schemas.microsoft.com/office/powerpoint/2010/main" val="39879508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t>Solution 2: Policy-based Routing (3)</a:t>
            </a:r>
            <a:endParaRPr lang="zh-CN" altLang="en-US" dirty="0"/>
          </a:p>
        </p:txBody>
      </p:sp>
      <p:sp>
        <p:nvSpPr>
          <p:cNvPr id="47107" name="矩形 157"/>
          <p:cNvSpPr>
            <a:spLocks noChangeArrowheads="1"/>
          </p:cNvSpPr>
          <p:nvPr/>
        </p:nvSpPr>
        <p:spPr bwMode="auto">
          <a:xfrm>
            <a:off x="1996970" y="4148138"/>
            <a:ext cx="3476625" cy="1693130"/>
          </a:xfrm>
          <a:prstGeom prst="rect">
            <a:avLst/>
          </a:prstGeom>
          <a:noFill/>
          <a:ln w="9525" algn="ctr">
            <a:solidFill>
              <a:schemeClr val="tx1"/>
            </a:solidFill>
            <a:prstDash val="dash"/>
            <a:round/>
            <a:headEnd/>
            <a:tailEnd/>
          </a:ln>
        </p:spPr>
        <p:txBody>
          <a:bodyPr/>
          <a:lstStyle/>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PC-Marketing department&gt;tracert 10.1.3.1</a:t>
            </a:r>
          </a:p>
          <a:p>
            <a:pPr eaLnBrk="0" fontAlgn="t" hangingPunct="0">
              <a:buSzPct val="100000"/>
            </a:pPr>
            <a:endParaRPr lang="en-US" altLang="zh-CN" sz="1200" b="1" dirty="0">
              <a:solidFill>
                <a:srgbClr val="000000"/>
              </a:solidFill>
              <a:latin typeface="+mn-lt"/>
              <a:ea typeface="+mn-ea"/>
              <a:cs typeface="Courier New" panose="02070309020205020404" pitchFamily="49" charset="0"/>
              <a:sym typeface="FrutigerNext LT Regular" pitchFamily="34" charset="0"/>
            </a:endParaRP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traceroute to 10.1.3.1, 8 hops max</a:t>
            </a: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(ICMP), press Ctrl+C to stop</a:t>
            </a: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 1  10.1.1.2   47 ms  31 ms  15 ms</a:t>
            </a: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 2  </a:t>
            </a:r>
            <a:r>
              <a:rPr lang="en-US" altLang="zh-CN" sz="1200" b="1" dirty="0">
                <a:solidFill>
                  <a:srgbClr val="C00000"/>
                </a:solidFill>
                <a:latin typeface="+mn-lt"/>
                <a:ea typeface="+mn-ea"/>
                <a:cs typeface="Courier New" panose="02070309020205020404" pitchFamily="49" charset="0"/>
                <a:sym typeface="FrutigerNext LT Regular" pitchFamily="34" charset="0"/>
              </a:rPr>
              <a:t>12.1.1.2</a:t>
            </a:r>
            <a:r>
              <a:rPr lang="en-US" altLang="zh-CN" sz="1200" b="1" dirty="0">
                <a:solidFill>
                  <a:srgbClr val="000000"/>
                </a:solidFill>
                <a:latin typeface="+mn-lt"/>
                <a:ea typeface="+mn-ea"/>
                <a:cs typeface="Courier New" panose="02070309020205020404" pitchFamily="49" charset="0"/>
                <a:sym typeface="FrutigerNext LT Regular" pitchFamily="34" charset="0"/>
              </a:rPr>
              <a:t>   47 ms  31 ms  32 ms</a:t>
            </a: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 3  12.1.2.2   93 ms  63 ms  46 ms</a:t>
            </a: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 4  *10.1.3.1   62 ms  31 ms</a:t>
            </a:r>
          </a:p>
        </p:txBody>
      </p:sp>
      <p:sp>
        <p:nvSpPr>
          <p:cNvPr id="47109" name="矩形 5"/>
          <p:cNvSpPr>
            <a:spLocks noChangeArrowheads="1"/>
          </p:cNvSpPr>
          <p:nvPr/>
        </p:nvSpPr>
        <p:spPr bwMode="auto">
          <a:xfrm>
            <a:off x="6664430" y="4148138"/>
            <a:ext cx="3530600" cy="1693130"/>
          </a:xfrm>
          <a:prstGeom prst="rect">
            <a:avLst/>
          </a:prstGeom>
          <a:noFill/>
          <a:ln w="9525" algn="ctr">
            <a:solidFill>
              <a:schemeClr val="tx1"/>
            </a:solidFill>
            <a:prstDash val="dash"/>
            <a:round/>
            <a:headEnd/>
            <a:tailEnd/>
          </a:ln>
        </p:spPr>
        <p:txBody>
          <a:bodyPr/>
          <a:lstStyle/>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PC-Financial department&gt;tracert 10.1.3.1</a:t>
            </a:r>
          </a:p>
          <a:p>
            <a:pPr eaLnBrk="0" fontAlgn="t" hangingPunct="0">
              <a:buSzPct val="100000"/>
            </a:pPr>
            <a:endParaRPr lang="en-US" altLang="zh-CN" sz="1200" b="1" dirty="0">
              <a:solidFill>
                <a:srgbClr val="000000"/>
              </a:solidFill>
              <a:latin typeface="+mn-lt"/>
              <a:ea typeface="+mn-ea"/>
              <a:cs typeface="Courier New" panose="02070309020205020404" pitchFamily="49" charset="0"/>
              <a:sym typeface="FrutigerNext LT Regular" pitchFamily="34" charset="0"/>
            </a:endParaRP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traceroute to 10.1.3.1, 8 hops max</a:t>
            </a: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(ICMP), press Ctrl+C to stop</a:t>
            </a: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 1  10.1.2.2   16 ms  31 ms  16 ms</a:t>
            </a: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 2  </a:t>
            </a:r>
            <a:r>
              <a:rPr lang="en-US" altLang="zh-CN" sz="1200" b="1" dirty="0">
                <a:solidFill>
                  <a:srgbClr val="C00000"/>
                </a:solidFill>
                <a:latin typeface="+mn-lt"/>
                <a:ea typeface="+mn-ea"/>
                <a:cs typeface="Courier New" panose="02070309020205020404" pitchFamily="49" charset="0"/>
                <a:sym typeface="FrutigerNext LT Regular" pitchFamily="34" charset="0"/>
              </a:rPr>
              <a:t>12.1.3.2 </a:t>
            </a:r>
            <a:r>
              <a:rPr lang="en-US" altLang="zh-CN" sz="1200" b="1" dirty="0">
                <a:solidFill>
                  <a:srgbClr val="000000"/>
                </a:solidFill>
                <a:latin typeface="+mn-lt"/>
                <a:ea typeface="+mn-ea"/>
                <a:cs typeface="Courier New" panose="02070309020205020404" pitchFamily="49" charset="0"/>
                <a:sym typeface="FrutigerNext LT Regular" pitchFamily="34" charset="0"/>
              </a:rPr>
              <a:t>  62 ms  47 ms  31 ms</a:t>
            </a: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 3  12.1.4.2   47 ms  47 ms  31 ms</a:t>
            </a:r>
          </a:p>
          <a:p>
            <a:pPr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 4  10.1.3.1   32 ms  46 ms  32 ms</a:t>
            </a:r>
          </a:p>
        </p:txBody>
      </p:sp>
      <p:sp>
        <p:nvSpPr>
          <p:cNvPr id="8" name="矩形 7"/>
          <p:cNvSpPr/>
          <p:nvPr/>
        </p:nvSpPr>
        <p:spPr bwMode="auto">
          <a:xfrm>
            <a:off x="1996970" y="1772816"/>
            <a:ext cx="8198060" cy="2124236"/>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200" b="1" dirty="0">
                <a:latin typeface="+mn-lt"/>
                <a:ea typeface="+mn-ea"/>
                <a:cs typeface="Courier New" panose="02070309020205020404" pitchFamily="49" charset="0"/>
              </a:rPr>
              <a:t>&lt;RTA&gt;dis </a:t>
            </a:r>
            <a:r>
              <a:rPr lang="en-US" altLang="zh-CN" sz="1200" b="1" dirty="0" err="1">
                <a:latin typeface="+mn-lt"/>
                <a:ea typeface="+mn-ea"/>
                <a:cs typeface="Courier New" panose="02070309020205020404" pitchFamily="49" charset="0"/>
              </a:rPr>
              <a:t>ip</a:t>
            </a:r>
            <a:r>
              <a:rPr lang="en-US" altLang="zh-CN" sz="1200" b="1" dirty="0">
                <a:latin typeface="+mn-lt"/>
                <a:ea typeface="+mn-ea"/>
                <a:cs typeface="Courier New" panose="02070309020205020404" pitchFamily="49" charset="0"/>
              </a:rPr>
              <a:t> routing-table </a:t>
            </a:r>
            <a:endParaRPr lang="zh-CN" altLang="en-US" sz="1200" b="1" dirty="0">
              <a:latin typeface="+mn-lt"/>
              <a:ea typeface="+mn-ea"/>
              <a:cs typeface="Courier New" panose="02070309020205020404" pitchFamily="49" charset="0"/>
            </a:endParaRPr>
          </a:p>
          <a:p>
            <a:r>
              <a:rPr lang="en-US" altLang="zh-CN" sz="1200" b="1" dirty="0">
                <a:latin typeface="+mn-lt"/>
                <a:ea typeface="+mn-ea"/>
                <a:cs typeface="Courier New" panose="02070309020205020404" pitchFamily="49" charset="0"/>
              </a:rPr>
              <a:t>Route Flags: R - relay, D - download to fib</a:t>
            </a:r>
            <a:endParaRPr lang="zh-CN" altLang="en-US" sz="1200" b="1" dirty="0">
              <a:latin typeface="+mn-lt"/>
              <a:ea typeface="+mn-ea"/>
              <a:cs typeface="Courier New" panose="02070309020205020404" pitchFamily="49" charset="0"/>
            </a:endParaRPr>
          </a:p>
          <a:p>
            <a:r>
              <a:rPr lang="en-US" altLang="zh-CN" sz="1200" b="1" dirty="0">
                <a:latin typeface="+mn-lt"/>
                <a:ea typeface="+mn-ea"/>
                <a:cs typeface="Courier New" panose="02070309020205020404" pitchFamily="49" charset="0"/>
              </a:rPr>
              <a:t>-------------------------------------------------------------------------</a:t>
            </a:r>
            <a:endParaRPr lang="zh-CN" altLang="en-US" sz="1200" b="1" dirty="0">
              <a:latin typeface="+mn-lt"/>
              <a:ea typeface="+mn-ea"/>
              <a:cs typeface="Courier New" panose="02070309020205020404" pitchFamily="49" charset="0"/>
            </a:endParaRPr>
          </a:p>
          <a:p>
            <a:r>
              <a:rPr lang="en-US" altLang="zh-CN" sz="1200" b="1" dirty="0">
                <a:latin typeface="+mn-lt"/>
                <a:ea typeface="+mn-ea"/>
                <a:cs typeface="Courier New" panose="02070309020205020404" pitchFamily="49" charset="0"/>
              </a:rPr>
              <a:t>Routing Tables: Public</a:t>
            </a:r>
            <a:endParaRPr lang="zh-CN" altLang="en-US" sz="1200" b="1" dirty="0">
              <a:latin typeface="+mn-lt"/>
              <a:ea typeface="+mn-ea"/>
              <a:cs typeface="Courier New" panose="02070309020205020404" pitchFamily="49" charset="0"/>
            </a:endParaRPr>
          </a:p>
          <a:p>
            <a:r>
              <a:rPr lang="zh-CN" altLang="en-US" sz="1200" b="1" dirty="0">
                <a:latin typeface="+mn-lt"/>
                <a:ea typeface="+mn-ea"/>
                <a:cs typeface="Courier New" panose="02070309020205020404" pitchFamily="49" charset="0"/>
              </a:rPr>
              <a:t>         </a:t>
            </a:r>
            <a:r>
              <a:rPr lang="en-US" altLang="zh-CN" sz="1200" b="1" dirty="0">
                <a:latin typeface="+mn-lt"/>
                <a:ea typeface="+mn-ea"/>
                <a:cs typeface="Courier New" panose="02070309020205020404" pitchFamily="49" charset="0"/>
              </a:rPr>
              <a:t>Destinations : 19       Routes : 20       </a:t>
            </a:r>
            <a:endParaRPr lang="zh-CN" altLang="en-US" sz="1200" b="1" dirty="0">
              <a:latin typeface="+mn-lt"/>
              <a:ea typeface="+mn-ea"/>
              <a:cs typeface="Courier New" panose="02070309020205020404" pitchFamily="49" charset="0"/>
            </a:endParaRPr>
          </a:p>
          <a:p>
            <a:endParaRPr lang="zh-CN" altLang="en-US" sz="1200" b="1" dirty="0">
              <a:latin typeface="+mn-lt"/>
              <a:ea typeface="+mn-ea"/>
              <a:cs typeface="Courier New" panose="02070309020205020404" pitchFamily="49" charset="0"/>
            </a:endParaRPr>
          </a:p>
          <a:p>
            <a:r>
              <a:rPr lang="en-US" altLang="zh-CN" sz="1200" b="1" dirty="0" smtClean="0">
                <a:latin typeface="+mn-lt"/>
                <a:ea typeface="+mn-ea"/>
                <a:cs typeface="Courier New" panose="02070309020205020404" pitchFamily="49" charset="0"/>
              </a:rPr>
              <a:t>Destination/Mask	Proto	Pre	Cost	Flags	</a:t>
            </a:r>
            <a:r>
              <a:rPr lang="en-US" altLang="zh-CN" sz="1200" b="1" dirty="0" err="1" smtClean="0">
                <a:latin typeface="+mn-lt"/>
                <a:ea typeface="+mn-ea"/>
                <a:cs typeface="Courier New" panose="02070309020205020404" pitchFamily="49" charset="0"/>
              </a:rPr>
              <a:t>NextHop</a:t>
            </a:r>
            <a:r>
              <a:rPr lang="en-US" altLang="zh-CN" sz="1200" b="1" dirty="0" smtClean="0">
                <a:latin typeface="+mn-lt"/>
                <a:ea typeface="+mn-ea"/>
                <a:cs typeface="Courier New" panose="02070309020205020404" pitchFamily="49" charset="0"/>
              </a:rPr>
              <a:t>   Interface</a:t>
            </a:r>
            <a:endParaRPr lang="zh-CN" altLang="en-US" sz="1200" b="1" dirty="0">
              <a:latin typeface="+mn-lt"/>
              <a:ea typeface="+mn-ea"/>
              <a:cs typeface="Courier New" panose="02070309020205020404" pitchFamily="49" charset="0"/>
            </a:endParaRPr>
          </a:p>
          <a:p>
            <a:r>
              <a:rPr lang="zh-CN" altLang="en-US" sz="1200" b="1" dirty="0">
                <a:latin typeface="+mn-lt"/>
                <a:ea typeface="+mn-ea"/>
                <a:cs typeface="Courier New" panose="02070309020205020404" pitchFamily="49" charset="0"/>
              </a:rPr>
              <a:t>   </a:t>
            </a:r>
            <a:r>
              <a:rPr lang="en-US" altLang="zh-CN" sz="1200" b="1" dirty="0" smtClean="0">
                <a:latin typeface="+mn-lt"/>
                <a:ea typeface="+mn-ea"/>
                <a:cs typeface="Courier New" panose="02070309020205020404" pitchFamily="49" charset="0"/>
              </a:rPr>
              <a:t>10.1.1.0/24	Direct	0	0	D	10.1.1.2   </a:t>
            </a:r>
            <a:r>
              <a:rPr lang="en-US" altLang="zh-CN" sz="1200" b="1" dirty="0" err="1">
                <a:latin typeface="+mn-lt"/>
                <a:ea typeface="+mn-ea"/>
                <a:cs typeface="Courier New" panose="02070309020205020404" pitchFamily="49" charset="0"/>
              </a:rPr>
              <a:t>GigabitEthernet</a:t>
            </a:r>
            <a:r>
              <a:rPr lang="en-US" altLang="zh-CN" sz="1200" b="1" dirty="0">
                <a:latin typeface="+mn-lt"/>
                <a:ea typeface="+mn-ea"/>
                <a:cs typeface="Courier New" panose="02070309020205020404" pitchFamily="49" charset="0"/>
              </a:rPr>
              <a:t> 0/0/2</a:t>
            </a:r>
            <a:endParaRPr lang="zh-CN" altLang="en-US" sz="1200" b="1" dirty="0">
              <a:latin typeface="+mn-lt"/>
              <a:ea typeface="+mn-ea"/>
              <a:cs typeface="Courier New" panose="02070309020205020404" pitchFamily="49" charset="0"/>
            </a:endParaRPr>
          </a:p>
          <a:p>
            <a:r>
              <a:rPr lang="en-US" altLang="zh-CN" sz="1200" b="1" dirty="0">
                <a:latin typeface="+mn-lt"/>
                <a:ea typeface="+mn-ea"/>
                <a:cs typeface="Courier New" panose="02070309020205020404" pitchFamily="49" charset="0"/>
              </a:rPr>
              <a:t>   </a:t>
            </a:r>
            <a:r>
              <a:rPr lang="en-US" altLang="zh-CN" sz="1200" b="1" dirty="0" smtClean="0">
                <a:latin typeface="+mn-lt"/>
                <a:ea typeface="+mn-ea"/>
                <a:cs typeface="Courier New" panose="02070309020205020404" pitchFamily="49" charset="0"/>
              </a:rPr>
              <a:t>10.1.2.0/24	Direct	0 	0	D	10.1.2.2   </a:t>
            </a:r>
            <a:r>
              <a:rPr lang="en-US" altLang="zh-CN" sz="1200" b="1" dirty="0" err="1">
                <a:latin typeface="+mn-lt"/>
                <a:ea typeface="+mn-ea"/>
                <a:cs typeface="Courier New" panose="02070309020205020404" pitchFamily="49" charset="0"/>
              </a:rPr>
              <a:t>GigabitEthernet</a:t>
            </a:r>
            <a:r>
              <a:rPr lang="en-US" altLang="zh-CN" sz="1200" b="1" dirty="0">
                <a:latin typeface="+mn-lt"/>
                <a:ea typeface="+mn-ea"/>
                <a:cs typeface="Courier New" panose="02070309020205020404" pitchFamily="49" charset="0"/>
              </a:rPr>
              <a:t> 4/0/0</a:t>
            </a:r>
            <a:endParaRPr lang="zh-CN" altLang="en-US" sz="1200" b="1" dirty="0">
              <a:latin typeface="+mn-lt"/>
              <a:ea typeface="+mn-ea"/>
              <a:cs typeface="Courier New" panose="02070309020205020404" pitchFamily="49" charset="0"/>
            </a:endParaRPr>
          </a:p>
          <a:p>
            <a:r>
              <a:rPr lang="en-US" altLang="zh-CN" sz="1200" b="1" dirty="0">
                <a:solidFill>
                  <a:srgbClr val="C00000"/>
                </a:solidFill>
                <a:latin typeface="+mn-lt"/>
                <a:ea typeface="+mn-ea"/>
                <a:cs typeface="Courier New" panose="02070309020205020404" pitchFamily="49" charset="0"/>
              </a:rPr>
              <a:t>   </a:t>
            </a:r>
            <a:r>
              <a:rPr lang="en-US" altLang="zh-CN" sz="1200" b="1" dirty="0" smtClean="0">
                <a:solidFill>
                  <a:srgbClr val="C00000"/>
                </a:solidFill>
                <a:latin typeface="+mn-lt"/>
                <a:ea typeface="+mn-ea"/>
                <a:cs typeface="Courier New" panose="02070309020205020404" pitchFamily="49" charset="0"/>
              </a:rPr>
              <a:t>10.1.3.0/24	</a:t>
            </a:r>
            <a:r>
              <a:rPr lang="en-US" altLang="zh-CN" sz="1200" b="1" dirty="0" smtClean="0">
                <a:latin typeface="+mn-lt"/>
                <a:ea typeface="+mn-ea"/>
                <a:cs typeface="Courier New" panose="02070309020205020404" pitchFamily="49" charset="0"/>
              </a:rPr>
              <a:t>OSPF	10	3	D	</a:t>
            </a:r>
            <a:r>
              <a:rPr lang="en-US" altLang="zh-CN" sz="1200" b="1" dirty="0" smtClean="0">
                <a:solidFill>
                  <a:srgbClr val="C00000"/>
                </a:solidFill>
                <a:latin typeface="+mn-lt"/>
                <a:ea typeface="+mn-ea"/>
                <a:cs typeface="Courier New" panose="02070309020205020404" pitchFamily="49" charset="0"/>
              </a:rPr>
              <a:t>12.1.1.2 </a:t>
            </a:r>
            <a:r>
              <a:rPr lang="en-US" altLang="zh-CN" sz="1200" b="1" dirty="0" smtClean="0">
                <a:latin typeface="+mn-lt"/>
                <a:ea typeface="+mn-ea"/>
                <a:cs typeface="Courier New" panose="02070309020205020404" pitchFamily="49" charset="0"/>
              </a:rPr>
              <a:t>  </a:t>
            </a:r>
            <a:r>
              <a:rPr lang="en-US" altLang="zh-CN" sz="1200" b="1" dirty="0" err="1">
                <a:latin typeface="+mn-lt"/>
                <a:ea typeface="+mn-ea"/>
                <a:cs typeface="Courier New" panose="02070309020205020404" pitchFamily="49" charset="0"/>
              </a:rPr>
              <a:t>GigabitEthernet</a:t>
            </a:r>
            <a:r>
              <a:rPr lang="en-US" altLang="zh-CN" sz="1200" b="1" dirty="0">
                <a:latin typeface="+mn-lt"/>
                <a:ea typeface="+mn-ea"/>
                <a:cs typeface="Courier New" panose="02070309020205020404" pitchFamily="49" charset="0"/>
              </a:rPr>
              <a:t> 0/0/0</a:t>
            </a:r>
            <a:endParaRPr lang="zh-CN" altLang="en-US" sz="1200" b="1" dirty="0">
              <a:latin typeface="+mn-lt"/>
              <a:ea typeface="+mn-ea"/>
              <a:cs typeface="Courier New" panose="02070309020205020404" pitchFamily="49" charset="0"/>
            </a:endParaRPr>
          </a:p>
        </p:txBody>
      </p:sp>
    </p:spTree>
    <p:extLst>
      <p:ext uri="{BB962C8B-B14F-4D97-AF65-F5344CB8AC3E}">
        <p14:creationId xmlns:p14="http://schemas.microsoft.com/office/powerpoint/2010/main" val="24284871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a:xfrm>
            <a:off x="1595500" y="44624"/>
            <a:ext cx="9831600" cy="1178168"/>
          </a:xfrm>
        </p:spPr>
        <p:txBody>
          <a:bodyPr/>
          <a:lstStyle/>
          <a:p>
            <a:r>
              <a:rPr lang="en-US" altLang="zh-CN" dirty="0"/>
              <a:t>Differences Between the Routing Policy and PBR</a:t>
            </a:r>
            <a:endParaRPr lang="zh-CN" altLang="en-US" dirty="0"/>
          </a:p>
        </p:txBody>
      </p:sp>
      <p:graphicFrame>
        <p:nvGraphicFramePr>
          <p:cNvPr id="2" name="表格 1"/>
          <p:cNvGraphicFramePr>
            <a:graphicFrameLocks noGrp="1"/>
          </p:cNvGraphicFramePr>
          <p:nvPr>
            <p:extLst>
              <p:ext uri="{D42A27DB-BD31-4B8C-83A1-F6EECF244321}">
                <p14:modId xmlns:p14="http://schemas.microsoft.com/office/powerpoint/2010/main" val="188963047"/>
              </p:ext>
            </p:extLst>
          </p:nvPr>
        </p:nvGraphicFramePr>
        <p:xfrm>
          <a:off x="2423592" y="1304764"/>
          <a:ext cx="7560840" cy="4850916"/>
        </p:xfrm>
        <a:graphic>
          <a:graphicData uri="http://schemas.openxmlformats.org/drawingml/2006/table">
            <a:tbl>
              <a:tblPr/>
              <a:tblGrid>
                <a:gridCol w="3020232"/>
                <a:gridCol w="4540608"/>
              </a:tblGrid>
              <a:tr h="569865">
                <a:tc>
                  <a:txBody>
                    <a:bodyPr/>
                    <a:lstStyle/>
                    <a:p>
                      <a:pPr marL="0" marR="0" lvl="0" indent="0" algn="ctr" defTabSz="914400" rtl="0" eaLnBrk="0" fontAlgn="t" latinLnBrk="0" hangingPunct="0">
                        <a:lnSpc>
                          <a:spcPct val="100000"/>
                        </a:lnSpc>
                        <a:spcBef>
                          <a:spcPct val="0"/>
                        </a:spcBef>
                        <a:spcAft>
                          <a:spcPct val="0"/>
                        </a:spcAft>
                        <a:buClrTx/>
                        <a:buSzPct val="100000"/>
                        <a:buFontTx/>
                        <a:buNone/>
                        <a:tabLst/>
                      </a:pPr>
                      <a:r>
                        <a:rPr kumimoji="0" lang="zh-CN" altLang="zh-CN" sz="2000" b="1" u="none" strike="noStrike" cap="none" normalizeH="0" baseline="0" dirty="0" smtClean="0">
                          <a:ln>
                            <a:noFill/>
                          </a:ln>
                          <a:effectLst/>
                          <a:latin typeface="+mn-lt"/>
                          <a:sym typeface="FrutigerNext LT Regular" pitchFamily="34" charset="0"/>
                        </a:rPr>
                        <a:t>Routing Policy</a:t>
                      </a:r>
                      <a:endParaRPr kumimoji="0" lang="zh-CN" altLang="zh-CN" sz="2000" b="1" i="0" u="none" strike="noStrike" cap="none" normalizeH="0" baseline="0" dirty="0" smtClean="0">
                        <a:ln>
                          <a:noFill/>
                        </a:ln>
                        <a:solidFill>
                          <a:srgbClr val="000000"/>
                        </a:solidFill>
                        <a:effectLst/>
                        <a:latin typeface="+mn-lt"/>
                        <a:ea typeface="华文细黑" pitchFamily="2" charset="-122"/>
                        <a:sym typeface="FrutigerNext LT Regular"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400" rtl="0" eaLnBrk="0" fontAlgn="t" latinLnBrk="0" hangingPunct="0">
                        <a:lnSpc>
                          <a:spcPct val="100000"/>
                        </a:lnSpc>
                        <a:spcBef>
                          <a:spcPct val="0"/>
                        </a:spcBef>
                        <a:spcAft>
                          <a:spcPct val="0"/>
                        </a:spcAft>
                        <a:buClrTx/>
                        <a:buSzPct val="100000"/>
                        <a:buFontTx/>
                        <a:buNone/>
                        <a:tabLst/>
                      </a:pPr>
                      <a:r>
                        <a:rPr kumimoji="0" lang="zh-CN" altLang="zh-CN" sz="2000" b="1" u="none" strike="noStrike" cap="none" normalizeH="0" baseline="0" dirty="0" smtClean="0">
                          <a:ln>
                            <a:noFill/>
                          </a:ln>
                          <a:effectLst/>
                          <a:latin typeface="+mn-lt"/>
                          <a:sym typeface="FrutigerNext LT Regular" pitchFamily="34" charset="0"/>
                        </a:rPr>
                        <a:t>Policy-based Routing</a:t>
                      </a:r>
                      <a:endParaRPr kumimoji="0" lang="zh-CN" altLang="zh-CN" sz="2000" b="1" i="0" u="none" strike="noStrike" cap="none" normalizeH="0" baseline="0" dirty="0" smtClean="0">
                        <a:ln>
                          <a:noFill/>
                        </a:ln>
                        <a:solidFill>
                          <a:srgbClr val="000000"/>
                        </a:solidFill>
                        <a:effectLst/>
                        <a:latin typeface="+mn-lt"/>
                        <a:ea typeface="华文细黑" pitchFamily="2" charset="-122"/>
                        <a:sym typeface="FrutigerNext LT Regular"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1250725">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smtClean="0">
                          <a:ln>
                            <a:noFill/>
                          </a:ln>
                          <a:effectLst/>
                          <a:latin typeface="+mn-lt"/>
                          <a:sym typeface="FrutigerNext LT Regular" pitchFamily="34" charset="0"/>
                        </a:rPr>
                        <a:t>Based on the control plane, affect routing entries.</a:t>
                      </a:r>
                      <a:endParaRPr kumimoji="0" lang="zh-CN" altLang="zh-CN" sz="1800" b="0" i="0" u="none" strike="noStrike" cap="none" normalizeH="0" baseline="0" dirty="0" smtClean="0">
                        <a:ln>
                          <a:noFill/>
                        </a:ln>
                        <a:solidFill>
                          <a:srgbClr val="000000"/>
                        </a:solidFill>
                        <a:effectLst/>
                        <a:latin typeface="+mn-lt"/>
                        <a:ea typeface="华文细黑" pitchFamily="2" charset="-122"/>
                        <a:sym typeface="FrutigerNext LT Regular"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smtClean="0">
                          <a:ln>
                            <a:noFill/>
                          </a:ln>
                          <a:effectLst/>
                          <a:latin typeface="+mn-lt"/>
                          <a:sym typeface="FrutigerNext LT Regular" pitchFamily="34" charset="0"/>
                        </a:rPr>
                        <a:t>Based on the forwarding plane, </a:t>
                      </a:r>
                      <a:r>
                        <a:rPr kumimoji="0" lang="en-US" altLang="zh-CN" sz="1800" u="none" strike="noStrike" cap="none" normalizeH="0" baseline="0" dirty="0" smtClean="0">
                          <a:ln>
                            <a:noFill/>
                          </a:ln>
                          <a:effectLst/>
                          <a:latin typeface="+mn-lt"/>
                          <a:sym typeface="FrutigerNext LT Regular" pitchFamily="34" charset="0"/>
                        </a:rPr>
                        <a:t>do </a:t>
                      </a:r>
                      <a:r>
                        <a:rPr kumimoji="0" lang="zh-CN" altLang="zh-CN" sz="1800" u="none" strike="noStrike" cap="none" normalizeH="0" baseline="0" dirty="0" smtClean="0">
                          <a:ln>
                            <a:noFill/>
                          </a:ln>
                          <a:effectLst/>
                          <a:latin typeface="+mn-lt"/>
                          <a:sym typeface="FrutigerNext LT Regular" pitchFamily="34" charset="0"/>
                        </a:rPr>
                        <a:t>not affect routing entries. Packets are forwarded based on policy first, and then based on routing table if policy-based forwarding fails.</a:t>
                      </a:r>
                      <a:endParaRPr kumimoji="0" lang="zh-CN" altLang="zh-CN" sz="1800" b="0" i="0" u="none" strike="noStrike" cap="none" normalizeH="0" baseline="0" dirty="0" smtClean="0">
                        <a:ln>
                          <a:noFill/>
                        </a:ln>
                        <a:solidFill>
                          <a:srgbClr val="000000"/>
                        </a:solidFill>
                        <a:effectLst/>
                        <a:latin typeface="+mn-lt"/>
                        <a:ea typeface="华文细黑" pitchFamily="2" charset="-122"/>
                        <a:sym typeface="FrutigerNext LT Regular"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4891">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smtClean="0">
                          <a:ln>
                            <a:noFill/>
                          </a:ln>
                          <a:effectLst/>
                          <a:latin typeface="+mn-lt"/>
                          <a:sym typeface="FrutigerNext LT Regular" pitchFamily="34" charset="0"/>
                        </a:rPr>
                        <a:t>Policy based on destination address.</a:t>
                      </a:r>
                      <a:endParaRPr kumimoji="0" lang="zh-CN" altLang="zh-CN" sz="1800" b="0" i="0" u="none" strike="noStrike" cap="none" normalizeH="0" baseline="0" dirty="0" smtClean="0">
                        <a:ln>
                          <a:noFill/>
                        </a:ln>
                        <a:solidFill>
                          <a:srgbClr val="000000"/>
                        </a:solidFill>
                        <a:effectLst/>
                        <a:latin typeface="+mn-lt"/>
                        <a:ea typeface="华文细黑" pitchFamily="2" charset="-122"/>
                        <a:sym typeface="FrutigerNext LT Regular"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smtClean="0">
                          <a:ln>
                            <a:noFill/>
                          </a:ln>
                          <a:effectLst/>
                          <a:latin typeface="+mn-lt"/>
                          <a:sym typeface="FrutigerNext LT Regular" pitchFamily="34" charset="0"/>
                        </a:rPr>
                        <a:t>Policy based on source address, destination address, protocol type, and packet size.</a:t>
                      </a:r>
                      <a:endParaRPr kumimoji="0" lang="zh-CN" altLang="zh-CN" sz="1800" b="0" i="0" u="none" strike="noStrike" cap="none" normalizeH="0" baseline="0" dirty="0" smtClean="0">
                        <a:ln>
                          <a:noFill/>
                        </a:ln>
                        <a:solidFill>
                          <a:srgbClr val="000000"/>
                        </a:solidFill>
                        <a:effectLst/>
                        <a:latin typeface="+mn-lt"/>
                        <a:ea typeface="华文细黑" pitchFamily="2" charset="-122"/>
                        <a:sym typeface="FrutigerNext LT Regular"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62096">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smtClean="0">
                          <a:ln>
                            <a:noFill/>
                          </a:ln>
                          <a:effectLst/>
                          <a:latin typeface="+mn-lt"/>
                          <a:sym typeface="FrutigerNext LT Regular" pitchFamily="34" charset="0"/>
                        </a:rPr>
                        <a:t>Used with routing protocol.</a:t>
                      </a:r>
                      <a:endParaRPr kumimoji="0" lang="zh-CN" altLang="zh-CN" sz="1800" b="0" i="0" u="none" strike="noStrike" cap="none" normalizeH="0" baseline="0" dirty="0" smtClean="0">
                        <a:ln>
                          <a:noFill/>
                        </a:ln>
                        <a:solidFill>
                          <a:srgbClr val="000000"/>
                        </a:solidFill>
                        <a:effectLst/>
                        <a:latin typeface="+mn-lt"/>
                        <a:ea typeface="华文细黑" pitchFamily="2" charset="-122"/>
                        <a:sym typeface="FrutigerNext LT Regular"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smtClean="0">
                          <a:ln>
                            <a:noFill/>
                          </a:ln>
                          <a:effectLst/>
                          <a:latin typeface="+mn-lt"/>
                          <a:sym typeface="FrutigerNext LT Regular" pitchFamily="34" charset="0"/>
                        </a:rPr>
                        <a:t>A routing policy needs to be manually configured hop by hop to ensure that packets are forwarded according to the policy.</a:t>
                      </a:r>
                      <a:endParaRPr kumimoji="0" lang="zh-CN" altLang="zh-CN" sz="1800" b="0" i="0" u="none" strike="noStrike" cap="none" normalizeH="0" baseline="0" dirty="0" smtClean="0">
                        <a:ln>
                          <a:noFill/>
                        </a:ln>
                        <a:solidFill>
                          <a:srgbClr val="000000"/>
                        </a:solidFill>
                        <a:effectLst/>
                        <a:latin typeface="+mn-lt"/>
                        <a:ea typeface="华文细黑" pitchFamily="2" charset="-122"/>
                        <a:sym typeface="FrutigerNext LT Regular"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4891">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smtClean="0">
                          <a:ln>
                            <a:noFill/>
                          </a:ln>
                          <a:effectLst/>
                          <a:latin typeface="+mn-lt"/>
                          <a:sym typeface="FrutigerNext LT Regular" pitchFamily="34" charset="0"/>
                        </a:rPr>
                        <a:t>Tools: Route-Policy, Filter-Policy, etc</a:t>
                      </a:r>
                      <a:r>
                        <a:rPr kumimoji="0" lang="en-US" altLang="zh-CN" sz="1800" u="none" strike="noStrike" cap="none" normalizeH="0" baseline="0" dirty="0" smtClean="0">
                          <a:ln>
                            <a:noFill/>
                          </a:ln>
                          <a:effectLst/>
                          <a:latin typeface="+mn-lt"/>
                          <a:sym typeface="FrutigerNext LT Regular" pitchFamily="34" charset="0"/>
                        </a:rPr>
                        <a:t>.</a:t>
                      </a:r>
                      <a:endParaRPr kumimoji="0" lang="zh-CN" altLang="zh-CN" sz="1800" b="0" i="0" u="none" strike="noStrike" cap="none" normalizeH="0" baseline="0" dirty="0" smtClean="0">
                        <a:ln>
                          <a:noFill/>
                        </a:ln>
                        <a:solidFill>
                          <a:srgbClr val="000000"/>
                        </a:solidFill>
                        <a:effectLst/>
                        <a:latin typeface="+mn-lt"/>
                        <a:ea typeface="华文细黑" pitchFamily="2" charset="-122"/>
                        <a:sym typeface="FrutigerNext LT Regular"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smtClean="0">
                          <a:ln>
                            <a:noFill/>
                          </a:ln>
                          <a:effectLst/>
                          <a:latin typeface="+mn-lt"/>
                          <a:sym typeface="FrutigerNext LT Regular" pitchFamily="34" charset="0"/>
                        </a:rPr>
                        <a:t>Tools: Traffic-Filter, Traffic-Policy, Policy-Based-Route, etc</a:t>
                      </a:r>
                      <a:r>
                        <a:rPr kumimoji="0" lang="en-US" altLang="zh-CN" sz="1800" u="none" strike="noStrike" cap="none" normalizeH="0" baseline="0" dirty="0" smtClean="0">
                          <a:ln>
                            <a:noFill/>
                          </a:ln>
                          <a:effectLst/>
                          <a:latin typeface="+mn-lt"/>
                          <a:sym typeface="FrutigerNext LT Regular" pitchFamily="34" charset="0"/>
                        </a:rPr>
                        <a:t>.</a:t>
                      </a:r>
                      <a:endParaRPr kumimoji="0" lang="zh-CN" altLang="zh-CN" sz="1800" b="0" i="0" u="none" strike="noStrike" cap="none" normalizeH="0" baseline="0" dirty="0" smtClean="0">
                        <a:ln>
                          <a:noFill/>
                        </a:ln>
                        <a:solidFill>
                          <a:srgbClr val="000000"/>
                        </a:solidFill>
                        <a:effectLst/>
                        <a:latin typeface="+mn-lt"/>
                        <a:ea typeface="华文细黑" pitchFamily="2" charset="-122"/>
                        <a:sym typeface="FrutigerNext LT Regular"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7211826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本占位符 3"/>
          <p:cNvSpPr>
            <a:spLocks noGrp="1"/>
          </p:cNvSpPr>
          <p:nvPr>
            <p:ph type="body" sz="quarter" idx="10"/>
          </p:nvPr>
        </p:nvSpPr>
        <p:spPr/>
        <p:txBody>
          <a:bodyPr/>
          <a:lstStyle/>
          <a:p>
            <a:r>
              <a:rPr lang="en-US" altLang="zh-CN" dirty="0" smtClean="0">
                <a:solidFill>
                  <a:schemeClr val="bg1">
                    <a:lumMod val="50000"/>
                  </a:schemeClr>
                </a:solidFill>
                <a:sym typeface="FrutigerNext LT Regular" pitchFamily="34" charset="0"/>
              </a:rPr>
              <a:t>Traffic Behavior Control Requirement</a:t>
            </a:r>
          </a:p>
          <a:p>
            <a:r>
              <a:rPr lang="en-US" altLang="zh-CN" dirty="0" smtClean="0">
                <a:solidFill>
                  <a:schemeClr val="bg1">
                    <a:lumMod val="50000"/>
                  </a:schemeClr>
                </a:solidFill>
                <a:sym typeface="FrutigerNext LT Regular" pitchFamily="34" charset="0"/>
              </a:rPr>
              <a:t>Control Reachability</a:t>
            </a:r>
          </a:p>
          <a:p>
            <a:r>
              <a:rPr lang="en-US" altLang="zh-CN" dirty="0" smtClean="0">
                <a:solidFill>
                  <a:schemeClr val="bg1">
                    <a:lumMod val="50000"/>
                  </a:schemeClr>
                </a:solidFill>
                <a:sym typeface="FrutigerNext LT Regular" pitchFamily="34" charset="0"/>
              </a:rPr>
              <a:t>Adjust Network Traffic Path</a:t>
            </a:r>
          </a:p>
          <a:p>
            <a:r>
              <a:rPr lang="en-US" altLang="zh-CN" b="1" dirty="0" smtClean="0">
                <a:sym typeface="FrutigerNext LT Regular" pitchFamily="34" charset="0"/>
              </a:rPr>
              <a:t>Problems Caused by Route Importing and Solutions</a:t>
            </a:r>
            <a:endParaRPr lang="en-US" altLang="zh-CN" b="1" dirty="0">
              <a:sym typeface="FrutigerNext LT Regular" pitchFamily="34" charset="0"/>
            </a:endParaRPr>
          </a:p>
        </p:txBody>
      </p:sp>
    </p:spTree>
    <p:extLst>
      <p:ext uri="{BB962C8B-B14F-4D97-AF65-F5344CB8AC3E}">
        <p14:creationId xmlns:p14="http://schemas.microsoft.com/office/powerpoint/2010/main" val="20552274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smtClean="0">
                <a:latin typeface="+mn-lt"/>
                <a:sym typeface="FrutigerNext LT Regular" pitchFamily="34" charset="0"/>
              </a:rPr>
              <a:t>In the preceding example, four routers run the same protocol. If they run different protocols, what will happen?</a:t>
            </a:r>
            <a:endParaRPr lang="en-US" altLang="zh-CN" dirty="0">
              <a:latin typeface="+mn-lt"/>
              <a:sym typeface="FrutigerNext LT Regular" pitchFamily="34" charset="0"/>
            </a:endParaRPr>
          </a:p>
        </p:txBody>
      </p:sp>
      <p:sp>
        <p:nvSpPr>
          <p:cNvPr id="5" name="文本占位符 4"/>
          <p:cNvSpPr>
            <a:spLocks noGrp="1"/>
          </p:cNvSpPr>
          <p:nvPr>
            <p:ph type="body" sz="quarter" idx="12"/>
          </p:nvPr>
        </p:nvSpPr>
        <p:spPr>
          <a:xfrm>
            <a:off x="1595500" y="54588"/>
            <a:ext cx="9831600" cy="1178168"/>
          </a:xfrm>
        </p:spPr>
        <p:txBody>
          <a:bodyPr/>
          <a:lstStyle/>
          <a:p>
            <a:r>
              <a:rPr lang="en-US" altLang="zh-CN" dirty="0"/>
              <a:t>Adjust Network Traffic Path - Multiple Protocols</a:t>
            </a:r>
            <a:endParaRPr lang="zh-CN" altLang="en-US" dirty="0"/>
          </a:p>
        </p:txBody>
      </p:sp>
      <p:grpSp>
        <p:nvGrpSpPr>
          <p:cNvPr id="6" name="组合 5"/>
          <p:cNvGrpSpPr/>
          <p:nvPr/>
        </p:nvGrpSpPr>
        <p:grpSpPr>
          <a:xfrm>
            <a:off x="2198188" y="2241068"/>
            <a:ext cx="7838840" cy="3916071"/>
            <a:chOff x="2198188" y="2241068"/>
            <a:chExt cx="7838840" cy="3916071"/>
          </a:xfrm>
        </p:grpSpPr>
        <p:sp>
          <p:nvSpPr>
            <p:cNvPr id="45" name="圆角矩形 44"/>
            <p:cNvSpPr/>
            <p:nvPr/>
          </p:nvSpPr>
          <p:spPr bwMode="auto">
            <a:xfrm>
              <a:off x="2402808" y="4200526"/>
              <a:ext cx="1578642" cy="9683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800" dirty="0">
                <a:latin typeface="+mn-lt"/>
                <a:ea typeface="+mn-ea"/>
              </a:endParaRPr>
            </a:p>
          </p:txBody>
        </p:sp>
        <p:sp>
          <p:nvSpPr>
            <p:cNvPr id="44" name="圆角矩形 43"/>
            <p:cNvSpPr/>
            <p:nvPr/>
          </p:nvSpPr>
          <p:spPr bwMode="auto">
            <a:xfrm>
              <a:off x="2402809" y="3024189"/>
              <a:ext cx="1584991" cy="9683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800" dirty="0">
                <a:latin typeface="+mn-lt"/>
                <a:ea typeface="+mn-ea"/>
              </a:endParaRPr>
            </a:p>
          </p:txBody>
        </p:sp>
        <p:sp>
          <p:nvSpPr>
            <p:cNvPr id="42" name="圆角矩形 41"/>
            <p:cNvSpPr/>
            <p:nvPr/>
          </p:nvSpPr>
          <p:spPr bwMode="auto">
            <a:xfrm>
              <a:off x="8858250" y="3621089"/>
              <a:ext cx="1099216" cy="108902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fontAlgn="t">
                <a:defRPr/>
              </a:pPr>
              <a:endParaRPr lang="en-US" altLang="zh-CN" sz="800" dirty="0">
                <a:latin typeface="+mn-lt"/>
                <a:ea typeface="+mn-ea"/>
              </a:endParaRPr>
            </a:p>
          </p:txBody>
        </p:sp>
        <p:sp>
          <p:nvSpPr>
            <p:cNvPr id="72" name="AutoShape 21"/>
            <p:cNvSpPr>
              <a:spLocks noChangeArrowheads="1"/>
            </p:cNvSpPr>
            <p:nvPr/>
          </p:nvSpPr>
          <p:spPr bwMode="auto">
            <a:xfrm>
              <a:off x="6069806" y="5676127"/>
              <a:ext cx="2241550" cy="481012"/>
            </a:xfrm>
            <a:prstGeom prst="wedgeRectCallout">
              <a:avLst>
                <a:gd name="adj1" fmla="val -26889"/>
                <a:gd name="adj2" fmla="val -111403"/>
              </a:avLst>
            </a:prstGeom>
            <a:noFill/>
            <a:ln w="3175" algn="ctr">
              <a:solidFill>
                <a:srgbClr val="999999"/>
              </a:solidFill>
              <a:miter lim="800000"/>
              <a:headEnd/>
              <a:tailEnd/>
            </a:ln>
          </p:spPr>
          <p:txBody>
            <a:bodyPr lIns="0" tIns="0" rIns="0" bIns="0" anchor="ctr" anchorCtr="1"/>
            <a:lstStyle/>
            <a:p>
              <a:pPr marL="228600" indent="-228600" eaLnBrk="0" hangingPunct="0">
                <a:buSzPct val="80000"/>
                <a:buFont typeface="+mj-ea"/>
                <a:buAutoNum type="circleNumDbPlain" startAt="2"/>
              </a:pPr>
              <a:r>
                <a:rPr lang="en-US" altLang="zh-CN" sz="1100" dirty="0">
                  <a:solidFill>
                    <a:srgbClr val="000000"/>
                  </a:solidFill>
                  <a:latin typeface="+mn-lt"/>
                  <a:ea typeface="+mn-ea"/>
                  <a:cs typeface="Courier New" panose="02070309020205020404" pitchFamily="49" charset="0"/>
                  <a:sym typeface="FrutigerNext LT Regular" pitchFamily="34" charset="0"/>
                </a:rPr>
                <a:t>ospf 1</a:t>
              </a:r>
            </a:p>
            <a:p>
              <a:pPr eaLnBrk="0" fontAlgn="t" hangingPunct="0">
                <a:buSzPct val="80000"/>
              </a:pPr>
              <a:r>
                <a:rPr lang="en-US" altLang="zh-CN" sz="1100" dirty="0">
                  <a:solidFill>
                    <a:srgbClr val="000000"/>
                  </a:solidFill>
                  <a:latin typeface="+mn-lt"/>
                  <a:ea typeface="+mn-ea"/>
                  <a:cs typeface="Courier New" panose="02070309020205020404" pitchFamily="49" charset="0"/>
                  <a:sym typeface="FrutigerNext LT Regular" pitchFamily="34" charset="0"/>
                </a:rPr>
                <a:t>import-route rip 1 type 1</a:t>
              </a:r>
            </a:p>
          </p:txBody>
        </p:sp>
        <p:sp>
          <p:nvSpPr>
            <p:cNvPr id="71" name="AutoShape 21"/>
            <p:cNvSpPr>
              <a:spLocks noChangeArrowheads="1"/>
            </p:cNvSpPr>
            <p:nvPr/>
          </p:nvSpPr>
          <p:spPr bwMode="auto">
            <a:xfrm>
              <a:off x="6069806" y="2241068"/>
              <a:ext cx="2241550" cy="436562"/>
            </a:xfrm>
            <a:prstGeom prst="wedgeRectCallout">
              <a:avLst>
                <a:gd name="adj1" fmla="val -28412"/>
                <a:gd name="adj2" fmla="val 108269"/>
              </a:avLst>
            </a:prstGeom>
            <a:noFill/>
            <a:ln w="3175" algn="ctr">
              <a:solidFill>
                <a:srgbClr val="999999"/>
              </a:solidFill>
              <a:miter lim="800000"/>
              <a:headEnd/>
              <a:tailEnd/>
            </a:ln>
          </p:spPr>
          <p:txBody>
            <a:bodyPr lIns="0" tIns="0" rIns="0" bIns="0" anchor="ctr" anchorCtr="1"/>
            <a:lstStyle/>
            <a:p>
              <a:pPr eaLnBrk="0" fontAlgn="t" hangingPunct="0">
                <a:buSzPct val="80000"/>
                <a:buFont typeface="黑体" pitchFamily="49" charset="-122"/>
                <a:buAutoNum type="circleNumDbPlain"/>
              </a:pPr>
              <a:r>
                <a:rPr lang="en-US" altLang="zh-CN" sz="1100" dirty="0">
                  <a:solidFill>
                    <a:srgbClr val="000000"/>
                  </a:solidFill>
                  <a:latin typeface="+mn-lt"/>
                  <a:ea typeface="+mn-ea"/>
                  <a:cs typeface="Courier New" panose="02070309020205020404" pitchFamily="49" charset="0"/>
                  <a:sym typeface="FrutigerNext LT Regular" pitchFamily="34" charset="0"/>
                </a:rPr>
                <a:t> ospf 1</a:t>
              </a:r>
            </a:p>
            <a:p>
              <a:pPr eaLnBrk="0" fontAlgn="t" hangingPunct="0">
                <a:buSzPct val="100000"/>
              </a:pPr>
              <a:r>
                <a:rPr lang="en-US" altLang="zh-CN" sz="1100" dirty="0">
                  <a:solidFill>
                    <a:srgbClr val="000000"/>
                  </a:solidFill>
                  <a:latin typeface="+mn-lt"/>
                  <a:ea typeface="+mn-ea"/>
                  <a:cs typeface="Courier New" panose="02070309020205020404" pitchFamily="49" charset="0"/>
                  <a:sym typeface="FrutigerNext LT Regular" pitchFamily="34" charset="0"/>
                </a:rPr>
                <a:t>import-route rip 1 type 1</a:t>
              </a:r>
            </a:p>
          </p:txBody>
        </p:sp>
        <p:cxnSp>
          <p:nvCxnSpPr>
            <p:cNvPr id="50184" name="直接连接符 37"/>
            <p:cNvCxnSpPr>
              <a:cxnSpLocks noChangeShapeType="1"/>
            </p:cNvCxnSpPr>
            <p:nvPr/>
          </p:nvCxnSpPr>
          <p:spPr bwMode="auto">
            <a:xfrm flipH="1" flipV="1">
              <a:off x="3603625" y="3621088"/>
              <a:ext cx="1676400" cy="595312"/>
            </a:xfrm>
            <a:prstGeom prst="line">
              <a:avLst/>
            </a:prstGeom>
            <a:noFill/>
            <a:ln w="28575" algn="ctr">
              <a:solidFill>
                <a:schemeClr val="tx1"/>
              </a:solidFill>
              <a:round/>
              <a:headEnd/>
              <a:tailEnd/>
            </a:ln>
          </p:spPr>
        </p:cxnSp>
        <p:cxnSp>
          <p:nvCxnSpPr>
            <p:cNvPr id="40" name="直接连接符 39"/>
            <p:cNvCxnSpPr>
              <a:cxnSpLocks noChangeAspect="1"/>
            </p:cNvCxnSpPr>
            <p:nvPr/>
          </p:nvCxnSpPr>
          <p:spPr bwMode="auto">
            <a:xfrm rot="60000" flipV="1">
              <a:off x="5383213" y="3228975"/>
              <a:ext cx="1033462" cy="839788"/>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0186" name="直接连接符 40"/>
            <p:cNvCxnSpPr>
              <a:cxnSpLocks noChangeShapeType="1"/>
            </p:cNvCxnSpPr>
            <p:nvPr/>
          </p:nvCxnSpPr>
          <p:spPr bwMode="auto">
            <a:xfrm flipH="1">
              <a:off x="3643313" y="4138614"/>
              <a:ext cx="1738312" cy="534987"/>
            </a:xfrm>
            <a:prstGeom prst="line">
              <a:avLst/>
            </a:prstGeom>
            <a:noFill/>
            <a:ln w="28575" algn="ctr">
              <a:solidFill>
                <a:schemeClr val="tx1"/>
              </a:solidFill>
              <a:round/>
              <a:headEnd/>
              <a:tailEnd/>
            </a:ln>
          </p:spPr>
        </p:cxnSp>
        <p:cxnSp>
          <p:nvCxnSpPr>
            <p:cNvPr id="50187" name="直接连接符 42"/>
            <p:cNvCxnSpPr>
              <a:cxnSpLocks noChangeShapeType="1"/>
            </p:cNvCxnSpPr>
            <p:nvPr/>
          </p:nvCxnSpPr>
          <p:spPr bwMode="auto">
            <a:xfrm>
              <a:off x="6684963" y="3213101"/>
              <a:ext cx="1308100" cy="1057275"/>
            </a:xfrm>
            <a:prstGeom prst="line">
              <a:avLst/>
            </a:prstGeom>
            <a:noFill/>
            <a:ln w="28575" algn="ctr">
              <a:solidFill>
                <a:schemeClr val="tx1"/>
              </a:solidFill>
              <a:round/>
              <a:headEnd/>
              <a:tailEnd/>
            </a:ln>
          </p:spPr>
        </p:cxnSp>
        <p:cxnSp>
          <p:nvCxnSpPr>
            <p:cNvPr id="50188" name="直接连接符 47"/>
            <p:cNvCxnSpPr>
              <a:cxnSpLocks noChangeShapeType="1"/>
            </p:cNvCxnSpPr>
            <p:nvPr/>
          </p:nvCxnSpPr>
          <p:spPr bwMode="auto">
            <a:xfrm flipV="1">
              <a:off x="7851776" y="4292600"/>
              <a:ext cx="1304925" cy="0"/>
            </a:xfrm>
            <a:prstGeom prst="line">
              <a:avLst/>
            </a:prstGeom>
            <a:noFill/>
            <a:ln w="28575" algn="ctr">
              <a:solidFill>
                <a:schemeClr val="tx1"/>
              </a:solidFill>
              <a:round/>
              <a:headEnd/>
              <a:tailEnd/>
            </a:ln>
          </p:spPr>
        </p:cxnSp>
        <p:sp>
          <p:nvSpPr>
            <p:cNvPr id="50189" name="矩形 48"/>
            <p:cNvSpPr>
              <a:spLocks noChangeArrowheads="1"/>
            </p:cNvSpPr>
            <p:nvPr/>
          </p:nvSpPr>
          <p:spPr bwMode="auto">
            <a:xfrm>
              <a:off x="2247258" y="4257092"/>
              <a:ext cx="1076434" cy="553998"/>
            </a:xfrm>
            <a:prstGeom prst="rect">
              <a:avLst/>
            </a:prstGeom>
            <a:noFill/>
            <a:ln w="9525">
              <a:noFill/>
              <a:miter lim="800000"/>
              <a:headEnd/>
              <a:tailEnd/>
            </a:ln>
          </p:spPr>
          <p:txBody>
            <a:bodyPr wrap="square">
              <a:spAutoFit/>
            </a:bodyPr>
            <a:lstStyle/>
            <a:p>
              <a:pPr algn="ctr" eaLnBrk="0" fontAlgn="t" hangingPunct="0">
                <a:buSzPct val="100000"/>
              </a:pPr>
              <a:r>
                <a:rPr lang="en-US" altLang="zh-CN" b="1" dirty="0">
                  <a:solidFill>
                    <a:srgbClr val="000000"/>
                  </a:solidFill>
                  <a:latin typeface="+mn-lt"/>
                  <a:ea typeface="+mn-ea"/>
                  <a:sym typeface="FrutigerNext LT Regular" pitchFamily="34" charset="0"/>
                </a:rPr>
                <a:t>Financial department</a:t>
              </a:r>
            </a:p>
            <a:p>
              <a:pPr algn="ctr" eaLnBrk="0" fontAlgn="t" hangingPunct="0">
                <a:buSzPct val="100000"/>
              </a:pPr>
              <a:r>
                <a:rPr lang="en-US" altLang="zh-CN" b="1" dirty="0">
                  <a:solidFill>
                    <a:srgbClr val="000000"/>
                  </a:solidFill>
                  <a:latin typeface="+mn-lt"/>
                  <a:ea typeface="+mn-ea"/>
                  <a:sym typeface="FrutigerNext LT Regular" pitchFamily="34" charset="0"/>
                </a:rPr>
                <a:t>10 persons</a:t>
              </a:r>
            </a:p>
          </p:txBody>
        </p:sp>
        <p:sp>
          <p:nvSpPr>
            <p:cNvPr id="50190" name="矩形 49"/>
            <p:cNvSpPr>
              <a:spLocks noChangeArrowheads="1"/>
            </p:cNvSpPr>
            <p:nvPr/>
          </p:nvSpPr>
          <p:spPr bwMode="auto">
            <a:xfrm>
              <a:off x="8887354" y="3657134"/>
              <a:ext cx="1149674" cy="261610"/>
            </a:xfrm>
            <a:prstGeom prst="rect">
              <a:avLst/>
            </a:prstGeom>
            <a:noFill/>
            <a:ln w="9525">
              <a:noFill/>
              <a:miter lim="800000"/>
              <a:headEnd/>
              <a:tailEnd/>
            </a:ln>
          </p:spPr>
          <p:txBody>
            <a:bodyPr wrap="none">
              <a:spAutoFit/>
            </a:bodyPr>
            <a:lstStyle/>
            <a:p>
              <a:pPr eaLnBrk="0" fontAlgn="t" hangingPunct="0">
                <a:buSzPct val="100000"/>
              </a:pPr>
              <a:r>
                <a:rPr lang="en-US" altLang="zh-CN" sz="1100" b="1" dirty="0">
                  <a:solidFill>
                    <a:srgbClr val="000000"/>
                  </a:solidFill>
                  <a:latin typeface="+mn-lt"/>
                  <a:ea typeface="+mn-ea"/>
                  <a:sym typeface="FrutigerNext LT Regular" pitchFamily="34" charset="0"/>
                </a:rPr>
                <a:t>Headquarters</a:t>
              </a:r>
            </a:p>
          </p:txBody>
        </p:sp>
        <p:sp>
          <p:nvSpPr>
            <p:cNvPr id="50191" name="文本框 51"/>
            <p:cNvSpPr txBox="1">
              <a:spLocks noChangeArrowheads="1"/>
            </p:cNvSpPr>
            <p:nvPr/>
          </p:nvSpPr>
          <p:spPr bwMode="auto">
            <a:xfrm>
              <a:off x="2198188" y="3058475"/>
              <a:ext cx="1185040" cy="562613"/>
            </a:xfrm>
            <a:prstGeom prst="rect">
              <a:avLst/>
            </a:prstGeom>
            <a:noFill/>
            <a:ln w="9525">
              <a:noFill/>
              <a:miter lim="800000"/>
              <a:headEnd/>
              <a:tailEnd/>
            </a:ln>
          </p:spPr>
          <p:txBody>
            <a:bodyPr wrap="square" lIns="99980" tIns="49986" rIns="99980" bIns="49986">
              <a:spAutoFit/>
            </a:bodyPr>
            <a:lstStyle/>
            <a:p>
              <a:pPr algn="ctr" defTabSz="1000125" eaLnBrk="0" hangingPunct="0">
                <a:buSzPct val="100000"/>
              </a:pPr>
              <a:r>
                <a:rPr lang="en-US" altLang="zh-CN" b="1" dirty="0">
                  <a:solidFill>
                    <a:srgbClr val="000000"/>
                  </a:solidFill>
                  <a:latin typeface="+mn-lt"/>
                  <a:ea typeface="+mn-ea"/>
                  <a:cs typeface="Arial" charset="0"/>
                  <a:sym typeface="FrutigerNext LT Regular" pitchFamily="34" charset="0"/>
                </a:rPr>
                <a:t>Marketing department</a:t>
              </a:r>
            </a:p>
            <a:p>
              <a:pPr algn="ctr" defTabSz="1000125" eaLnBrk="0" hangingPunct="0">
                <a:buSzPct val="100000"/>
              </a:pPr>
              <a:r>
                <a:rPr lang="en-US" altLang="zh-CN" b="1" dirty="0">
                  <a:solidFill>
                    <a:srgbClr val="000000"/>
                  </a:solidFill>
                  <a:latin typeface="+mn-lt"/>
                  <a:ea typeface="+mn-ea"/>
                  <a:cs typeface="Arial" charset="0"/>
                  <a:sym typeface="FrutigerNext LT Regular" pitchFamily="34" charset="0"/>
                </a:rPr>
                <a:t>20 persons</a:t>
              </a:r>
            </a:p>
          </p:txBody>
        </p:sp>
        <p:sp>
          <p:nvSpPr>
            <p:cNvPr id="50196" name="文本框 56"/>
            <p:cNvSpPr txBox="1">
              <a:spLocks noChangeArrowheads="1"/>
            </p:cNvSpPr>
            <p:nvPr/>
          </p:nvSpPr>
          <p:spPr bwMode="auto">
            <a:xfrm>
              <a:off x="5691189" y="3463926"/>
              <a:ext cx="979487" cy="224059"/>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800" dirty="0">
                  <a:solidFill>
                    <a:srgbClr val="C00000"/>
                  </a:solidFill>
                  <a:latin typeface="+mn-lt"/>
                  <a:ea typeface="+mn-ea"/>
                  <a:cs typeface="Arial" charset="0"/>
                  <a:sym typeface="FrutigerNext LT Regular" pitchFamily="34" charset="0"/>
                </a:rPr>
                <a:t>10M</a:t>
              </a:r>
            </a:p>
          </p:txBody>
        </p:sp>
        <p:sp>
          <p:nvSpPr>
            <p:cNvPr id="50197" name="文本框 59"/>
            <p:cNvSpPr txBox="1">
              <a:spLocks noChangeArrowheads="1"/>
            </p:cNvSpPr>
            <p:nvPr/>
          </p:nvSpPr>
          <p:spPr bwMode="auto">
            <a:xfrm>
              <a:off x="5610225" y="4670426"/>
              <a:ext cx="1062038" cy="224059"/>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800" dirty="0">
                  <a:solidFill>
                    <a:srgbClr val="C00000"/>
                  </a:solidFill>
                  <a:latin typeface="+mn-lt"/>
                  <a:ea typeface="+mn-ea"/>
                  <a:cs typeface="Arial" charset="0"/>
                  <a:sym typeface="FrutigerNext LT Regular" pitchFamily="34" charset="0"/>
                </a:rPr>
                <a:t>5M</a:t>
              </a:r>
            </a:p>
          </p:txBody>
        </p:sp>
        <p:cxnSp>
          <p:nvCxnSpPr>
            <p:cNvPr id="61" name="直接连接符 60"/>
            <p:cNvCxnSpPr>
              <a:cxnSpLocks noChangeAspect="1"/>
            </p:cNvCxnSpPr>
            <p:nvPr/>
          </p:nvCxnSpPr>
          <p:spPr bwMode="auto">
            <a:xfrm rot="240000">
              <a:off x="5326063" y="4367213"/>
              <a:ext cx="1116012" cy="741362"/>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2" name="直接连接符 61"/>
            <p:cNvCxnSpPr>
              <a:cxnSpLocks noChangeAspect="1"/>
            </p:cNvCxnSpPr>
            <p:nvPr/>
          </p:nvCxnSpPr>
          <p:spPr bwMode="auto">
            <a:xfrm rot="17520000">
              <a:off x="6771482" y="4317207"/>
              <a:ext cx="1258887" cy="8699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0202" name="文本框 64"/>
            <p:cNvSpPr txBox="1">
              <a:spLocks noChangeArrowheads="1"/>
            </p:cNvSpPr>
            <p:nvPr/>
          </p:nvSpPr>
          <p:spPr bwMode="auto">
            <a:xfrm>
              <a:off x="8005764" y="3819525"/>
              <a:ext cx="771525"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50203" name="文本框 65"/>
            <p:cNvSpPr txBox="1">
              <a:spLocks noChangeArrowheads="1"/>
            </p:cNvSpPr>
            <p:nvPr/>
          </p:nvSpPr>
          <p:spPr bwMode="auto">
            <a:xfrm>
              <a:off x="5683251" y="5121275"/>
              <a:ext cx="773113"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50204" name="文本框 66"/>
            <p:cNvSpPr txBox="1">
              <a:spLocks noChangeArrowheads="1"/>
            </p:cNvSpPr>
            <p:nvPr/>
          </p:nvSpPr>
          <p:spPr bwMode="auto">
            <a:xfrm>
              <a:off x="5648326" y="2913063"/>
              <a:ext cx="771525"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50205" name="文本框 67"/>
            <p:cNvSpPr txBox="1">
              <a:spLocks noChangeArrowheads="1"/>
            </p:cNvSpPr>
            <p:nvPr/>
          </p:nvSpPr>
          <p:spPr bwMode="auto">
            <a:xfrm>
              <a:off x="4478338" y="3716338"/>
              <a:ext cx="773112" cy="285614"/>
            </a:xfrm>
            <a:prstGeom prst="rect">
              <a:avLst/>
            </a:prstGeom>
            <a:noFill/>
            <a:ln w="9525">
              <a:noFill/>
              <a:miter lim="800000"/>
              <a:headEnd/>
              <a:tailEnd/>
            </a:ln>
          </p:spPr>
          <p:txBody>
            <a:bodyPr lIns="99980" tIns="49986" rIns="99980" bIns="49986">
              <a:spAutoFit/>
            </a:bodyPr>
            <a:lstStyle/>
            <a:p>
              <a:pPr algn="ctr" defTabSz="1000125"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sp>
          <p:nvSpPr>
            <p:cNvPr id="86" name="AutoShape 21"/>
            <p:cNvSpPr>
              <a:spLocks noChangeArrowheads="1"/>
            </p:cNvSpPr>
            <p:nvPr/>
          </p:nvSpPr>
          <p:spPr bwMode="auto">
            <a:xfrm>
              <a:off x="4121020" y="3363528"/>
              <a:ext cx="1470925" cy="317500"/>
            </a:xfrm>
            <a:prstGeom prst="wedgeRectCallout">
              <a:avLst>
                <a:gd name="adj1" fmla="val 22722"/>
                <a:gd name="adj2" fmla="val 180185"/>
              </a:avLst>
            </a:prstGeom>
            <a:noFill/>
            <a:ln w="3175" algn="ctr">
              <a:solidFill>
                <a:srgbClr val="999999"/>
              </a:solidFill>
              <a:miter lim="800000"/>
              <a:headEnd/>
              <a:tailEnd/>
            </a:ln>
          </p:spPr>
          <p:txBody>
            <a:bodyPr lIns="0" tIns="0" rIns="0" bIns="0" anchor="ctr" anchorCtr="1"/>
            <a:lstStyle/>
            <a:p>
              <a:pPr eaLnBrk="0" fontAlgn="t" hangingPunct="0">
                <a:buSzPct val="80000"/>
                <a:buFont typeface="黑体" pitchFamily="49" charset="-122"/>
                <a:buAutoNum type="circleNumDbPlain" startAt="3"/>
              </a:pPr>
              <a:r>
                <a:rPr lang="en-US" altLang="zh-CN" sz="1100" dirty="0">
                  <a:solidFill>
                    <a:srgbClr val="000000"/>
                  </a:solidFill>
                  <a:latin typeface="+mn-lt"/>
                  <a:ea typeface="+mn-ea"/>
                  <a:sym typeface="FrutigerNext LT Regular" pitchFamily="34" charset="0"/>
                </a:rPr>
                <a:t> 10.1.3.0/24 150 3</a:t>
              </a:r>
            </a:p>
          </p:txBody>
        </p:sp>
        <p:sp>
          <p:nvSpPr>
            <p:cNvPr id="87" name="AutoShape 21"/>
            <p:cNvSpPr>
              <a:spLocks noChangeArrowheads="1"/>
            </p:cNvSpPr>
            <p:nvPr/>
          </p:nvSpPr>
          <p:spPr bwMode="auto">
            <a:xfrm>
              <a:off x="4043363" y="4724400"/>
              <a:ext cx="1662112" cy="317500"/>
            </a:xfrm>
            <a:prstGeom prst="wedgeRectCallout">
              <a:avLst>
                <a:gd name="adj1" fmla="val 25338"/>
                <a:gd name="adj2" fmla="val -190167"/>
              </a:avLst>
            </a:prstGeom>
            <a:noFill/>
            <a:ln w="3175" algn="ctr">
              <a:solidFill>
                <a:srgbClr val="999999"/>
              </a:solidFill>
              <a:miter lim="800000"/>
              <a:headEnd/>
              <a:tailEnd/>
            </a:ln>
          </p:spPr>
          <p:txBody>
            <a:bodyPr lIns="0" tIns="0" rIns="0" bIns="0" anchor="ctr" anchorCtr="1"/>
            <a:lstStyle/>
            <a:p>
              <a:pPr eaLnBrk="0" fontAlgn="t" hangingPunct="0">
                <a:buSzPct val="80000"/>
                <a:buFont typeface="黑体" pitchFamily="49" charset="-122"/>
                <a:buAutoNum type="circleNumDbPlain" startAt="4"/>
              </a:pPr>
              <a:r>
                <a:rPr lang="en-US" altLang="zh-CN" sz="1100" dirty="0">
                  <a:solidFill>
                    <a:srgbClr val="000000"/>
                  </a:solidFill>
                  <a:latin typeface="+mn-lt"/>
                  <a:ea typeface="+mn-ea"/>
                  <a:sym typeface="FrutigerNext LT Regular" pitchFamily="34" charset="0"/>
                </a:rPr>
                <a:t> 10.1.3.0/24 150 4</a:t>
              </a:r>
            </a:p>
          </p:txBody>
        </p:sp>
        <p:sp>
          <p:nvSpPr>
            <p:cNvPr id="89" name="AutoShape 21"/>
            <p:cNvSpPr>
              <a:spLocks noChangeArrowheads="1"/>
            </p:cNvSpPr>
            <p:nvPr/>
          </p:nvSpPr>
          <p:spPr bwMode="auto">
            <a:xfrm>
              <a:off x="7251700" y="5146676"/>
              <a:ext cx="2605088" cy="352425"/>
            </a:xfrm>
            <a:prstGeom prst="wedgeRectCallout">
              <a:avLst>
                <a:gd name="adj1" fmla="val -41347"/>
                <a:gd name="adj2" fmla="val -156769"/>
              </a:avLst>
            </a:prstGeom>
            <a:noFill/>
            <a:ln w="3175" algn="ctr">
              <a:solidFill>
                <a:srgbClr val="999999"/>
              </a:solidFill>
              <a:miter lim="800000"/>
              <a:headEnd/>
              <a:tailEnd/>
            </a:ln>
          </p:spPr>
          <p:txBody>
            <a:bodyPr lIns="0" tIns="0" rIns="0" bIns="0" anchor="ctr" anchorCtr="1"/>
            <a:lstStyle/>
            <a:p>
              <a:pPr eaLnBrk="0" fontAlgn="t" hangingPunct="0">
                <a:buSzPct val="80000"/>
                <a:buFont typeface="黑体" pitchFamily="49" charset="-122"/>
                <a:buAutoNum type="circleNumDbPlain" startAt="5"/>
              </a:pPr>
              <a:r>
                <a:rPr lang="en-US" altLang="zh-CN" sz="1100" dirty="0">
                  <a:solidFill>
                    <a:srgbClr val="000000"/>
                  </a:solidFill>
                  <a:latin typeface="+mn-lt"/>
                  <a:ea typeface="+mn-ea"/>
                  <a:sym typeface="FrutigerNext LT Regular" pitchFamily="34" charset="0"/>
                </a:rPr>
                <a:t> The link is idle. Low link use efficiency.</a:t>
              </a:r>
            </a:p>
          </p:txBody>
        </p:sp>
        <p:sp>
          <p:nvSpPr>
            <p:cNvPr id="69" name="AutoShape 21"/>
            <p:cNvSpPr>
              <a:spLocks noChangeArrowheads="1"/>
            </p:cNvSpPr>
            <p:nvPr/>
          </p:nvSpPr>
          <p:spPr bwMode="auto">
            <a:xfrm>
              <a:off x="3157538" y="5260976"/>
              <a:ext cx="2398712" cy="544513"/>
            </a:xfrm>
            <a:prstGeom prst="wedgeRectCallout">
              <a:avLst>
                <a:gd name="adj1" fmla="val 31889"/>
                <a:gd name="adj2" fmla="val -90000"/>
              </a:avLst>
            </a:prstGeom>
            <a:noFill/>
            <a:ln w="3175" algn="ctr">
              <a:solidFill>
                <a:srgbClr val="999999"/>
              </a:solidFill>
              <a:miter lim="800000"/>
              <a:headEnd/>
              <a:tailEnd/>
            </a:ln>
          </p:spPr>
          <p:txBody>
            <a:bodyPr lIns="0" tIns="0" rIns="0" bIns="0" anchor="ctr" anchorCtr="1"/>
            <a:lstStyle/>
            <a:p>
              <a:pPr eaLnBrk="0" fontAlgn="t" hangingPunct="0">
                <a:buSzPct val="80000"/>
                <a:buFont typeface="黑体" pitchFamily="49" charset="-122"/>
                <a:buAutoNum type="circleNumDbPlain" startAt="6"/>
              </a:pPr>
              <a:r>
                <a:rPr lang="en-US" altLang="zh-CN" sz="1100" dirty="0">
                  <a:solidFill>
                    <a:srgbClr val="000000"/>
                  </a:solidFill>
                  <a:latin typeface="+mn-lt"/>
                  <a:ea typeface="+mn-ea"/>
                  <a:sym typeface="FrutigerNext LT Regular" pitchFamily="34" charset="0"/>
                </a:rPr>
                <a:t>  Solution: Change the OSPF cost on interface to implement load balancing.</a:t>
              </a:r>
            </a:p>
          </p:txBody>
        </p:sp>
        <p:sp>
          <p:nvSpPr>
            <p:cNvPr id="50212" name="WordArt 10"/>
            <p:cNvSpPr>
              <a:spLocks noChangeAspect="1" noChangeArrowheads="1" noChangeShapeType="1" noTextEdit="1"/>
            </p:cNvSpPr>
            <p:nvPr/>
          </p:nvSpPr>
          <p:spPr bwMode="auto">
            <a:xfrm>
              <a:off x="6888164" y="4041776"/>
              <a:ext cx="530225" cy="276225"/>
            </a:xfrm>
            <a:prstGeom prst="rect">
              <a:avLst/>
            </a:prstGeom>
          </p:spPr>
          <p:txBody>
            <a:bodyPr wrap="none" fromWordArt="1">
              <a:prstTxWarp prst="textPlain">
                <a:avLst>
                  <a:gd name="adj" fmla="val 50000"/>
                </a:avLst>
              </a:prstTxWarp>
            </a:bodyPr>
            <a:lstStyle/>
            <a:p>
              <a:pPr algn="ctr"/>
              <a:r>
                <a:rPr lang="en-US" altLang="zh-CN" sz="700" kern="10" dirty="0">
                  <a:ln w="9525">
                    <a:solidFill>
                      <a:srgbClr val="000000"/>
                    </a:solidFill>
                    <a:round/>
                    <a:headEnd/>
                    <a:tailEnd/>
                  </a:ln>
                  <a:solidFill>
                    <a:srgbClr val="FFFFFF"/>
                  </a:solidFill>
                  <a:latin typeface="+mn-lt"/>
                  <a:ea typeface="+mn-ea"/>
                </a:rPr>
                <a:t>RIP</a:t>
              </a:r>
            </a:p>
          </p:txBody>
        </p:sp>
        <p:sp>
          <p:nvSpPr>
            <p:cNvPr id="50213" name="WordArt 11"/>
            <p:cNvSpPr>
              <a:spLocks noChangeAspect="1" noChangeArrowheads="1" noChangeShapeType="1" noTextEdit="1"/>
            </p:cNvSpPr>
            <p:nvPr/>
          </p:nvSpPr>
          <p:spPr bwMode="auto">
            <a:xfrm>
              <a:off x="5843589" y="4041775"/>
              <a:ext cx="549275" cy="292100"/>
            </a:xfrm>
            <a:prstGeom prst="rect">
              <a:avLst/>
            </a:prstGeom>
          </p:spPr>
          <p:txBody>
            <a:bodyPr wrap="none" fromWordArt="1">
              <a:prstTxWarp prst="textPlain">
                <a:avLst>
                  <a:gd name="adj" fmla="val 50000"/>
                </a:avLst>
              </a:prstTxWarp>
            </a:bodyPr>
            <a:lstStyle/>
            <a:p>
              <a:pPr algn="ctr"/>
              <a:r>
                <a:rPr lang="en-US" altLang="zh-CN" sz="2800" kern="10" dirty="0">
                  <a:ln w="9525">
                    <a:solidFill>
                      <a:srgbClr val="000000"/>
                    </a:solidFill>
                    <a:round/>
                    <a:headEnd/>
                    <a:tailEnd/>
                  </a:ln>
                  <a:solidFill>
                    <a:srgbClr val="FFFFFF"/>
                  </a:solidFill>
                  <a:latin typeface="+mn-lt"/>
                  <a:ea typeface="+mn-ea"/>
                </a:rPr>
                <a:t>OSPF</a:t>
              </a:r>
            </a:p>
          </p:txBody>
        </p:sp>
        <p:sp>
          <p:nvSpPr>
            <p:cNvPr id="50214" name="Line 9"/>
            <p:cNvSpPr>
              <a:spLocks noChangeShapeType="1"/>
            </p:cNvSpPr>
            <p:nvPr/>
          </p:nvSpPr>
          <p:spPr bwMode="auto">
            <a:xfrm>
              <a:off x="6600825" y="2852739"/>
              <a:ext cx="0" cy="2592387"/>
            </a:xfrm>
            <a:prstGeom prst="line">
              <a:avLst/>
            </a:prstGeom>
            <a:noFill/>
            <a:ln w="19050">
              <a:solidFill>
                <a:schemeClr val="tx1"/>
              </a:solidFill>
              <a:prstDash val="dash"/>
              <a:round/>
              <a:headEnd/>
              <a:tailEnd/>
            </a:ln>
          </p:spPr>
          <p:txBody>
            <a:bodyPr/>
            <a:lstStyle/>
            <a:p>
              <a:endParaRPr lang="en-US" altLang="zh-CN" sz="800" dirty="0">
                <a:latin typeface="+mn-lt"/>
                <a:ea typeface="+mn-ea"/>
              </a:endParaRPr>
            </a:p>
          </p:txBody>
        </p:sp>
        <p:pic>
          <p:nvPicPr>
            <p:cNvPr id="58" name="图片 5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161487" y="4524699"/>
              <a:ext cx="540000" cy="442800"/>
            </a:xfrm>
            <a:prstGeom prst="rect">
              <a:avLst/>
            </a:prstGeom>
          </p:spPr>
        </p:pic>
        <p:pic>
          <p:nvPicPr>
            <p:cNvPr id="59" name="图片 5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174324" y="4059138"/>
              <a:ext cx="540000" cy="442800"/>
            </a:xfrm>
            <a:prstGeom prst="rect">
              <a:avLst/>
            </a:prstGeom>
          </p:spPr>
        </p:pic>
        <p:pic>
          <p:nvPicPr>
            <p:cNvPr id="6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285669" y="2985707"/>
              <a:ext cx="628652" cy="514351"/>
            </a:xfrm>
            <a:prstGeom prst="rect">
              <a:avLst/>
            </a:prstGeom>
            <a:noFill/>
          </p:spPr>
        </p:pic>
        <p:pic>
          <p:nvPicPr>
            <p:cNvPr id="6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279142" y="4857301"/>
              <a:ext cx="628652" cy="514351"/>
            </a:xfrm>
            <a:prstGeom prst="rect">
              <a:avLst/>
            </a:prstGeom>
            <a:noFill/>
          </p:spPr>
        </p:pic>
        <p:pic>
          <p:nvPicPr>
            <p:cNvPr id="6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962967" y="3927630"/>
              <a:ext cx="628652" cy="514351"/>
            </a:xfrm>
            <a:prstGeom prst="rect">
              <a:avLst/>
            </a:prstGeom>
            <a:noFill/>
          </p:spPr>
        </p:pic>
        <p:pic>
          <p:nvPicPr>
            <p:cNvPr id="65" name="图片 64" descr="市场部.png"/>
            <p:cNvPicPr>
              <a:picLocks noChangeAspect="1"/>
            </p:cNvPicPr>
            <p:nvPr/>
          </p:nvPicPr>
          <p:blipFill>
            <a:blip r:embed="rId5" cstate="print"/>
            <a:stretch>
              <a:fillRect/>
            </a:stretch>
          </p:blipFill>
          <p:spPr>
            <a:xfrm>
              <a:off x="3199822" y="3304888"/>
              <a:ext cx="540000" cy="441818"/>
            </a:xfrm>
            <a:prstGeom prst="rect">
              <a:avLst/>
            </a:prstGeom>
          </p:spPr>
        </p:pic>
        <p:pic>
          <p:nvPicPr>
            <p:cNvPr id="6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680485" y="4018117"/>
              <a:ext cx="628652" cy="514351"/>
            </a:xfrm>
            <a:prstGeom prst="rect">
              <a:avLst/>
            </a:prstGeom>
            <a:noFill/>
          </p:spPr>
        </p:pic>
        <p:sp>
          <p:nvSpPr>
            <p:cNvPr id="46" name="任意多边形 45"/>
            <p:cNvSpPr>
              <a:spLocks noChangeAspect="1"/>
            </p:cNvSpPr>
            <p:nvPr/>
          </p:nvSpPr>
          <p:spPr bwMode="auto">
            <a:xfrm>
              <a:off x="5159375" y="3140076"/>
              <a:ext cx="4311650" cy="1103313"/>
            </a:xfrm>
            <a:custGeom>
              <a:avLst/>
              <a:gdLst>
                <a:gd name="T0" fmla="*/ 0 w 4791807"/>
                <a:gd name="T1" fmla="*/ 1245231 h 860399"/>
                <a:gd name="T2" fmla="*/ 345121 w 4791807"/>
                <a:gd name="T3" fmla="*/ 826288 h 860399"/>
                <a:gd name="T4" fmla="*/ 1071055 w 4791807"/>
                <a:gd name="T5" fmla="*/ 67276 h 860399"/>
                <a:gd name="T6" fmla="*/ 1368662 w 4791807"/>
                <a:gd name="T7" fmla="*/ 21406 h 860399"/>
                <a:gd name="T8" fmla="*/ 2590150 w 4791807"/>
                <a:gd name="T9" fmla="*/ 1285632 h 860399"/>
                <a:gd name="T10" fmla="*/ 3879017 w 4791807"/>
                <a:gd name="T11" fmla="*/ 1342602 h 860399"/>
                <a:gd name="T12" fmla="*/ 0 60000 65536"/>
                <a:gd name="T13" fmla="*/ 0 60000 65536"/>
                <a:gd name="T14" fmla="*/ 0 60000 65536"/>
                <a:gd name="T15" fmla="*/ 0 60000 65536"/>
                <a:gd name="T16" fmla="*/ 0 60000 65536"/>
                <a:gd name="T17" fmla="*/ 0 60000 65536"/>
                <a:gd name="T18" fmla="*/ 0 w 4791807"/>
                <a:gd name="T19" fmla="*/ 0 h 860399"/>
                <a:gd name="T20" fmla="*/ 4791807 w 4791807"/>
                <a:gd name="T21" fmla="*/ 860399 h 860399"/>
              </a:gdLst>
              <a:ahLst/>
              <a:cxnLst>
                <a:cxn ang="T12">
                  <a:pos x="T0" y="T1"/>
                </a:cxn>
                <a:cxn ang="T13">
                  <a:pos x="T2" y="T3"/>
                </a:cxn>
                <a:cxn ang="T14">
                  <a:pos x="T4" y="T5"/>
                </a:cxn>
                <a:cxn ang="T15">
                  <a:pos x="T6" y="T7"/>
                </a:cxn>
                <a:cxn ang="T16">
                  <a:pos x="T8" y="T9"/>
                </a:cxn>
                <a:cxn ang="T17">
                  <a:pos x="T10" y="T11"/>
                </a:cxn>
              </a:cxnLst>
              <a:rect l="T18" t="T19" r="T20" b="T21"/>
              <a:pathLst>
                <a:path w="4791807" h="860399">
                  <a:moveTo>
                    <a:pt x="0" y="757808"/>
                  </a:moveTo>
                  <a:cubicBezTo>
                    <a:pt x="458855" y="472416"/>
                    <a:pt x="205817" y="622331"/>
                    <a:pt x="426332" y="502853"/>
                  </a:cubicBezTo>
                  <a:cubicBezTo>
                    <a:pt x="646847" y="383375"/>
                    <a:pt x="1112357" y="122580"/>
                    <a:pt x="1323089" y="40942"/>
                  </a:cubicBezTo>
                  <a:cubicBezTo>
                    <a:pt x="1533821" y="-40696"/>
                    <a:pt x="1488699" y="27493"/>
                    <a:pt x="1690727" y="13027"/>
                  </a:cubicBezTo>
                  <a:cubicBezTo>
                    <a:pt x="1892755" y="91551"/>
                    <a:pt x="2894892" y="608801"/>
                    <a:pt x="3199649" y="782395"/>
                  </a:cubicBezTo>
                  <a:cubicBezTo>
                    <a:pt x="3500633" y="918357"/>
                    <a:pt x="4158833" y="840098"/>
                    <a:pt x="4791807" y="817065"/>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sz="800" dirty="0">
                <a:latin typeface="+mn-lt"/>
                <a:ea typeface="+mn-ea"/>
              </a:endParaRPr>
            </a:p>
          </p:txBody>
        </p:sp>
      </p:grpSp>
    </p:spTree>
    <p:extLst>
      <p:ext uri="{BB962C8B-B14F-4D97-AF65-F5344CB8AC3E}">
        <p14:creationId xmlns:p14="http://schemas.microsoft.com/office/powerpoint/2010/main" val="31241068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a:xfrm>
            <a:off x="1595500" y="54588"/>
            <a:ext cx="9831600" cy="1178168"/>
          </a:xfrm>
        </p:spPr>
        <p:txBody>
          <a:bodyPr/>
          <a:lstStyle/>
          <a:p>
            <a:r>
              <a:rPr lang="en-US" altLang="zh-CN" dirty="0"/>
              <a:t>Other Problems Caused by </a:t>
            </a:r>
            <a:r>
              <a:rPr lang="en-US" altLang="zh-CN" dirty="0" smtClean="0"/>
              <a:t>Multi-Protocol - Sub-Optimal </a:t>
            </a:r>
            <a:r>
              <a:rPr lang="en-US" altLang="zh-CN" dirty="0"/>
              <a:t>Route</a:t>
            </a:r>
            <a:endParaRPr lang="zh-CN" altLang="en-US" dirty="0"/>
          </a:p>
        </p:txBody>
      </p:sp>
      <p:sp>
        <p:nvSpPr>
          <p:cNvPr id="51203" name="Line 3"/>
          <p:cNvSpPr>
            <a:spLocks noChangeShapeType="1"/>
          </p:cNvSpPr>
          <p:nvPr/>
        </p:nvSpPr>
        <p:spPr bwMode="auto">
          <a:xfrm flipV="1">
            <a:off x="3602038" y="2605089"/>
            <a:ext cx="1295400" cy="739775"/>
          </a:xfrm>
          <a:prstGeom prst="line">
            <a:avLst/>
          </a:prstGeom>
          <a:noFill/>
          <a:ln w="28575">
            <a:solidFill>
              <a:schemeClr val="tx1"/>
            </a:solidFill>
            <a:round/>
            <a:headEnd/>
            <a:tailEnd/>
          </a:ln>
        </p:spPr>
        <p:txBody>
          <a:bodyPr/>
          <a:lstStyle/>
          <a:p>
            <a:endParaRPr lang="en-US" altLang="zh-CN" dirty="0">
              <a:latin typeface="+mn-lt"/>
            </a:endParaRPr>
          </a:p>
        </p:txBody>
      </p:sp>
      <p:sp>
        <p:nvSpPr>
          <p:cNvPr id="51204" name="Line 4"/>
          <p:cNvSpPr>
            <a:spLocks noChangeShapeType="1"/>
          </p:cNvSpPr>
          <p:nvPr/>
        </p:nvSpPr>
        <p:spPr bwMode="auto">
          <a:xfrm>
            <a:off x="5576888" y="2605088"/>
            <a:ext cx="1357312" cy="679450"/>
          </a:xfrm>
          <a:prstGeom prst="line">
            <a:avLst/>
          </a:prstGeom>
          <a:noFill/>
          <a:ln w="28575">
            <a:solidFill>
              <a:schemeClr val="tx1"/>
            </a:solidFill>
            <a:round/>
            <a:headEnd/>
            <a:tailEnd/>
          </a:ln>
        </p:spPr>
        <p:txBody>
          <a:bodyPr/>
          <a:lstStyle/>
          <a:p>
            <a:endParaRPr lang="en-US" altLang="zh-CN" dirty="0">
              <a:latin typeface="+mn-lt"/>
            </a:endParaRPr>
          </a:p>
        </p:txBody>
      </p:sp>
      <p:sp>
        <p:nvSpPr>
          <p:cNvPr id="51205" name="Line 5"/>
          <p:cNvSpPr>
            <a:spLocks noChangeShapeType="1"/>
          </p:cNvSpPr>
          <p:nvPr/>
        </p:nvSpPr>
        <p:spPr bwMode="auto">
          <a:xfrm flipV="1">
            <a:off x="5576889" y="3530601"/>
            <a:ext cx="1419225" cy="739775"/>
          </a:xfrm>
          <a:prstGeom prst="line">
            <a:avLst/>
          </a:prstGeom>
          <a:noFill/>
          <a:ln w="28575">
            <a:solidFill>
              <a:schemeClr val="tx1"/>
            </a:solidFill>
            <a:round/>
            <a:headEnd/>
            <a:tailEnd/>
          </a:ln>
        </p:spPr>
        <p:txBody>
          <a:bodyPr/>
          <a:lstStyle/>
          <a:p>
            <a:endParaRPr lang="en-US" altLang="zh-CN" dirty="0">
              <a:latin typeface="+mn-lt"/>
            </a:endParaRPr>
          </a:p>
        </p:txBody>
      </p:sp>
      <p:sp>
        <p:nvSpPr>
          <p:cNvPr id="51206" name="Line 6"/>
          <p:cNvSpPr>
            <a:spLocks noChangeShapeType="1"/>
          </p:cNvSpPr>
          <p:nvPr/>
        </p:nvSpPr>
        <p:spPr bwMode="auto">
          <a:xfrm>
            <a:off x="3541714" y="3590925"/>
            <a:ext cx="1330325" cy="630238"/>
          </a:xfrm>
          <a:prstGeom prst="line">
            <a:avLst/>
          </a:prstGeom>
          <a:noFill/>
          <a:ln w="28575">
            <a:solidFill>
              <a:schemeClr val="tx1"/>
            </a:solidFill>
            <a:round/>
            <a:headEnd/>
            <a:tailEnd/>
          </a:ln>
        </p:spPr>
        <p:txBody>
          <a:bodyPr/>
          <a:lstStyle/>
          <a:p>
            <a:endParaRPr lang="en-US" altLang="zh-CN" dirty="0">
              <a:latin typeface="+mn-lt"/>
            </a:endParaRPr>
          </a:p>
        </p:txBody>
      </p:sp>
      <p:sp>
        <p:nvSpPr>
          <p:cNvPr id="51207" name="Line 7"/>
          <p:cNvSpPr>
            <a:spLocks noChangeShapeType="1"/>
          </p:cNvSpPr>
          <p:nvPr/>
        </p:nvSpPr>
        <p:spPr bwMode="auto">
          <a:xfrm>
            <a:off x="7535863" y="3379788"/>
            <a:ext cx="468312" cy="0"/>
          </a:xfrm>
          <a:prstGeom prst="line">
            <a:avLst/>
          </a:prstGeom>
          <a:noFill/>
          <a:ln w="28575">
            <a:solidFill>
              <a:schemeClr val="tx1"/>
            </a:solidFill>
            <a:round/>
            <a:headEnd/>
            <a:tailEnd/>
          </a:ln>
        </p:spPr>
        <p:txBody>
          <a:bodyPr/>
          <a:lstStyle/>
          <a:p>
            <a:endParaRPr lang="en-US" altLang="zh-CN" dirty="0">
              <a:latin typeface="+mn-lt"/>
            </a:endParaRPr>
          </a:p>
        </p:txBody>
      </p:sp>
      <p:sp>
        <p:nvSpPr>
          <p:cNvPr id="51208" name="Text Box 8"/>
          <p:cNvSpPr txBox="1">
            <a:spLocks noChangeArrowheads="1"/>
          </p:cNvSpPr>
          <p:nvPr/>
        </p:nvSpPr>
        <p:spPr bwMode="auto">
          <a:xfrm>
            <a:off x="8048626" y="3162300"/>
            <a:ext cx="1719263" cy="338138"/>
          </a:xfrm>
          <a:prstGeom prst="rect">
            <a:avLst/>
          </a:prstGeom>
          <a:noFill/>
          <a:ln w="9525">
            <a:noFill/>
            <a:miter lim="800000"/>
            <a:headEnd/>
            <a:tailEnd/>
          </a:ln>
        </p:spPr>
        <p:txBody>
          <a:bodyPr lIns="91424" tIns="45712" rIns="91424" bIns="45712">
            <a:spAutoFit/>
          </a:bodyPr>
          <a:lstStyle/>
          <a:p>
            <a:pPr eaLnBrk="0" fontAlgn="t" hangingPunct="0">
              <a:spcBef>
                <a:spcPct val="50000"/>
              </a:spcBef>
              <a:buSzPct val="100000"/>
            </a:pPr>
            <a:r>
              <a:rPr lang="en-US" altLang="zh-CN" sz="1600" b="1" dirty="0">
                <a:solidFill>
                  <a:srgbClr val="000000"/>
                </a:solidFill>
                <a:latin typeface="+mn-lt"/>
                <a:sym typeface="FrutigerNext LT Regular" pitchFamily="34" charset="0"/>
              </a:rPr>
              <a:t>Lo0:2.2.2.2</a:t>
            </a:r>
          </a:p>
        </p:txBody>
      </p:sp>
      <p:sp>
        <p:nvSpPr>
          <p:cNvPr id="99" name="AutoShape 12"/>
          <p:cNvSpPr>
            <a:spLocks noChangeArrowheads="1"/>
          </p:cNvSpPr>
          <p:nvPr/>
        </p:nvSpPr>
        <p:spPr bwMode="auto">
          <a:xfrm rot="1469401">
            <a:off x="5521325" y="2327275"/>
            <a:ext cx="1727200" cy="552450"/>
          </a:xfrm>
          <a:prstGeom prst="leftArrow">
            <a:avLst>
              <a:gd name="adj1" fmla="val 50000"/>
              <a:gd name="adj2" fmla="val 78161"/>
            </a:avLst>
          </a:prstGeom>
          <a:noFill/>
          <a:ln w="9525" algn="ctr">
            <a:solidFill>
              <a:schemeClr val="tx1"/>
            </a:solidFill>
            <a:miter lim="800000"/>
            <a:headEnd/>
            <a:tailEnd/>
          </a:ln>
        </p:spPr>
        <p:txBody>
          <a:bodyPr wrap="none" lIns="78355" tIns="39177" rIns="78355" bIns="39177" anchor="ctr"/>
          <a:lstStyle/>
          <a:p>
            <a:pPr algn="ctr" defTabSz="784225" eaLnBrk="0" hangingPunct="0">
              <a:buFont typeface="黑体" pitchFamily="49" charset="-122"/>
              <a:buAutoNum type="circleNumDbPlain"/>
            </a:pPr>
            <a:r>
              <a:rPr lang="en-US" altLang="zh-CN" sz="1400" dirty="0">
                <a:solidFill>
                  <a:srgbClr val="000000"/>
                </a:solidFill>
                <a:latin typeface="+mn-lt"/>
                <a:ea typeface="MS PGothic" pitchFamily="34" charset="-128"/>
                <a:sym typeface="FrutigerNext LT Regular" pitchFamily="34" charset="0"/>
              </a:rPr>
              <a:t> Dest. RIP 100</a:t>
            </a:r>
          </a:p>
        </p:txBody>
      </p:sp>
      <p:sp>
        <p:nvSpPr>
          <p:cNvPr id="100" name="AutoShape 13"/>
          <p:cNvSpPr>
            <a:spLocks noChangeArrowheads="1"/>
          </p:cNvSpPr>
          <p:nvPr/>
        </p:nvSpPr>
        <p:spPr bwMode="auto">
          <a:xfrm rot="-1668039">
            <a:off x="5589588" y="3940175"/>
            <a:ext cx="1541462" cy="528638"/>
          </a:xfrm>
          <a:prstGeom prst="leftArrow">
            <a:avLst>
              <a:gd name="adj1" fmla="val 50000"/>
              <a:gd name="adj2" fmla="val 81700"/>
            </a:avLst>
          </a:prstGeom>
          <a:noFill/>
          <a:ln w="9525" algn="ctr">
            <a:solidFill>
              <a:schemeClr val="tx1"/>
            </a:solidFill>
            <a:miter lim="800000"/>
            <a:headEnd/>
            <a:tailEnd/>
          </a:ln>
        </p:spPr>
        <p:txBody>
          <a:bodyPr wrap="none" lIns="78355" tIns="39177" rIns="78355" bIns="39177" anchor="ctr"/>
          <a:lstStyle/>
          <a:p>
            <a:pPr algn="ctr" defTabSz="784225" eaLnBrk="0" hangingPunct="0">
              <a:buFont typeface="黑体" pitchFamily="49" charset="-122"/>
              <a:buAutoNum type="circleNumDbPlain"/>
            </a:pPr>
            <a:r>
              <a:rPr lang="en-US" altLang="zh-CN" sz="1400" b="1" dirty="0">
                <a:solidFill>
                  <a:srgbClr val="000000"/>
                </a:solidFill>
                <a:latin typeface="+mn-lt"/>
                <a:ea typeface="MS PGothic" pitchFamily="34" charset="-128"/>
                <a:sym typeface="FrutigerNext LT Regular" pitchFamily="34" charset="0"/>
              </a:rPr>
              <a:t> </a:t>
            </a:r>
            <a:r>
              <a:rPr lang="en-US" altLang="zh-CN" sz="1400" dirty="0">
                <a:solidFill>
                  <a:srgbClr val="000000"/>
                </a:solidFill>
                <a:latin typeface="+mn-lt"/>
                <a:ea typeface="MS PGothic" pitchFamily="34" charset="-128"/>
                <a:sym typeface="FrutigerNext LT Regular" pitchFamily="34" charset="0"/>
              </a:rPr>
              <a:t>Dest. RIP 100</a:t>
            </a:r>
          </a:p>
        </p:txBody>
      </p:sp>
      <p:sp>
        <p:nvSpPr>
          <p:cNvPr id="101" name="AutoShape 14"/>
          <p:cNvSpPr>
            <a:spLocks noChangeArrowheads="1"/>
          </p:cNvSpPr>
          <p:nvPr/>
        </p:nvSpPr>
        <p:spPr bwMode="auto">
          <a:xfrm>
            <a:off x="4281488" y="1555750"/>
            <a:ext cx="1727200" cy="554038"/>
          </a:xfrm>
          <a:prstGeom prst="leftArrow">
            <a:avLst>
              <a:gd name="adj1" fmla="val 50000"/>
              <a:gd name="adj2" fmla="val 77937"/>
            </a:avLst>
          </a:prstGeom>
          <a:noFill/>
          <a:ln w="9525" algn="ctr">
            <a:solidFill>
              <a:schemeClr val="tx1"/>
            </a:solidFill>
            <a:miter lim="800000"/>
            <a:headEnd/>
            <a:tailEnd/>
          </a:ln>
        </p:spPr>
        <p:txBody>
          <a:bodyPr wrap="none" lIns="78355" tIns="39177" rIns="78355" bIns="39177" anchor="ctr"/>
          <a:lstStyle/>
          <a:p>
            <a:pPr algn="ctr" defTabSz="784225" eaLnBrk="0" hangingPunct="0">
              <a:buFont typeface="黑体" pitchFamily="49" charset="-122"/>
              <a:buAutoNum type="circleNumDbPlain" startAt="2"/>
            </a:pPr>
            <a:r>
              <a:rPr lang="en-US" altLang="zh-CN" sz="1400" dirty="0">
                <a:solidFill>
                  <a:srgbClr val="000000"/>
                </a:solidFill>
                <a:latin typeface="+mn-lt"/>
                <a:ea typeface="MS PGothic" pitchFamily="34" charset="-128"/>
                <a:cs typeface="Courier New" panose="02070309020205020404" pitchFamily="49" charset="0"/>
                <a:sym typeface="FrutigerNext LT Regular" pitchFamily="34" charset="0"/>
              </a:rPr>
              <a:t> import rip</a:t>
            </a:r>
          </a:p>
        </p:txBody>
      </p:sp>
      <p:sp>
        <p:nvSpPr>
          <p:cNvPr id="102" name="AutoShape 15"/>
          <p:cNvSpPr>
            <a:spLocks noChangeArrowheads="1"/>
          </p:cNvSpPr>
          <p:nvPr/>
        </p:nvSpPr>
        <p:spPr bwMode="auto">
          <a:xfrm rot="-1595261">
            <a:off x="3013075" y="2352676"/>
            <a:ext cx="1727200" cy="538163"/>
          </a:xfrm>
          <a:prstGeom prst="leftArrow">
            <a:avLst>
              <a:gd name="adj1" fmla="val 50000"/>
              <a:gd name="adj2" fmla="val 80236"/>
            </a:avLst>
          </a:prstGeom>
          <a:noFill/>
          <a:ln w="9525" algn="ctr">
            <a:solidFill>
              <a:schemeClr val="tx1"/>
            </a:solidFill>
            <a:miter lim="800000"/>
            <a:headEnd/>
            <a:tailEnd/>
          </a:ln>
        </p:spPr>
        <p:txBody>
          <a:bodyPr wrap="none" lIns="78355" tIns="39177" rIns="78355" bIns="39177" anchor="ctr"/>
          <a:lstStyle/>
          <a:p>
            <a:pPr algn="ctr" defTabSz="784225" eaLnBrk="0" hangingPunct="0">
              <a:buFont typeface="黑体" pitchFamily="49" charset="-122"/>
              <a:buAutoNum type="circleNumDbPlain" startAt="3"/>
            </a:pPr>
            <a:r>
              <a:rPr lang="en-US" altLang="zh-CN" sz="1400" dirty="0">
                <a:solidFill>
                  <a:srgbClr val="000000"/>
                </a:solidFill>
                <a:latin typeface="+mn-lt"/>
                <a:ea typeface="MS PGothic" pitchFamily="34" charset="-128"/>
                <a:sym typeface="FrutigerNext LT Regular" pitchFamily="34" charset="0"/>
              </a:rPr>
              <a:t> Dest. ISIS 15</a:t>
            </a:r>
          </a:p>
        </p:txBody>
      </p:sp>
      <p:sp>
        <p:nvSpPr>
          <p:cNvPr id="103" name="AutoShape 16"/>
          <p:cNvSpPr>
            <a:spLocks noChangeArrowheads="1"/>
          </p:cNvSpPr>
          <p:nvPr/>
        </p:nvSpPr>
        <p:spPr bwMode="auto">
          <a:xfrm rot="1612353">
            <a:off x="3233739" y="4027488"/>
            <a:ext cx="1722437" cy="506412"/>
          </a:xfrm>
          <a:prstGeom prst="rightArrow">
            <a:avLst>
              <a:gd name="adj1" fmla="val 50000"/>
              <a:gd name="adj2" fmla="val 85031"/>
            </a:avLst>
          </a:prstGeom>
          <a:noFill/>
          <a:ln w="9525" algn="ctr">
            <a:solidFill>
              <a:schemeClr val="tx1"/>
            </a:solidFill>
            <a:miter lim="800000"/>
            <a:headEnd/>
            <a:tailEnd/>
          </a:ln>
        </p:spPr>
        <p:txBody>
          <a:bodyPr wrap="none" lIns="78355" tIns="39177" rIns="78355" bIns="39177" anchor="ctr"/>
          <a:lstStyle/>
          <a:p>
            <a:pPr algn="ctr" defTabSz="784225" eaLnBrk="0" hangingPunct="0">
              <a:buFont typeface="黑体" pitchFamily="49" charset="-122"/>
              <a:buAutoNum type="circleNumDbPlain" startAt="4"/>
            </a:pPr>
            <a:r>
              <a:rPr lang="en-US" altLang="zh-CN" sz="1400" dirty="0">
                <a:solidFill>
                  <a:srgbClr val="000000"/>
                </a:solidFill>
                <a:latin typeface="+mn-lt"/>
                <a:ea typeface="MS PGothic" pitchFamily="34" charset="-128"/>
                <a:sym typeface="FrutigerNext LT Regular" pitchFamily="34" charset="0"/>
              </a:rPr>
              <a:t> Dest. ISIS 15</a:t>
            </a:r>
          </a:p>
        </p:txBody>
      </p:sp>
      <p:sp>
        <p:nvSpPr>
          <p:cNvPr id="51214" name="Rectangle 17"/>
          <p:cNvSpPr>
            <a:spLocks noChangeArrowheads="1"/>
          </p:cNvSpPr>
          <p:nvPr/>
        </p:nvSpPr>
        <p:spPr bwMode="auto">
          <a:xfrm>
            <a:off x="2495550" y="3284538"/>
            <a:ext cx="590642"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RTA</a:t>
            </a:r>
          </a:p>
        </p:txBody>
      </p:sp>
      <p:sp>
        <p:nvSpPr>
          <p:cNvPr id="51215" name="Rectangle 18"/>
          <p:cNvSpPr>
            <a:spLocks noChangeArrowheads="1"/>
          </p:cNvSpPr>
          <p:nvPr/>
        </p:nvSpPr>
        <p:spPr bwMode="auto">
          <a:xfrm>
            <a:off x="4478339" y="2771775"/>
            <a:ext cx="582178"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RTC</a:t>
            </a:r>
          </a:p>
        </p:txBody>
      </p:sp>
      <p:sp>
        <p:nvSpPr>
          <p:cNvPr id="51216" name="Rectangle 19"/>
          <p:cNvSpPr>
            <a:spLocks noChangeArrowheads="1"/>
          </p:cNvSpPr>
          <p:nvPr/>
        </p:nvSpPr>
        <p:spPr bwMode="auto">
          <a:xfrm>
            <a:off x="5226051" y="3708400"/>
            <a:ext cx="605903"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RTB</a:t>
            </a:r>
          </a:p>
        </p:txBody>
      </p:sp>
      <p:sp>
        <p:nvSpPr>
          <p:cNvPr id="51217" name="Rectangle 20"/>
          <p:cNvSpPr>
            <a:spLocks noChangeArrowheads="1"/>
          </p:cNvSpPr>
          <p:nvPr/>
        </p:nvSpPr>
        <p:spPr bwMode="auto">
          <a:xfrm>
            <a:off x="7612064" y="3530600"/>
            <a:ext cx="614238"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RTD</a:t>
            </a:r>
          </a:p>
        </p:txBody>
      </p:sp>
      <p:sp>
        <p:nvSpPr>
          <p:cNvPr id="51220" name="Rectangle 28"/>
          <p:cNvSpPr>
            <a:spLocks noChangeArrowheads="1"/>
          </p:cNvSpPr>
          <p:nvPr/>
        </p:nvSpPr>
        <p:spPr bwMode="auto">
          <a:xfrm>
            <a:off x="4603750" y="3930651"/>
            <a:ext cx="341408" cy="246847"/>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b="1" dirty="0">
                <a:solidFill>
                  <a:srgbClr val="000000"/>
                </a:solidFill>
                <a:latin typeface="+mn-lt"/>
                <a:sym typeface="FrutigerNext LT Regular" pitchFamily="34" charset="0"/>
              </a:rPr>
              <a:t>S0</a:t>
            </a:r>
          </a:p>
        </p:txBody>
      </p:sp>
      <p:sp>
        <p:nvSpPr>
          <p:cNvPr id="51221" name="Line 7"/>
          <p:cNvSpPr>
            <a:spLocks noChangeShapeType="1"/>
          </p:cNvSpPr>
          <p:nvPr/>
        </p:nvSpPr>
        <p:spPr bwMode="auto">
          <a:xfrm>
            <a:off x="8004175" y="3213100"/>
            <a:ext cx="0" cy="287338"/>
          </a:xfrm>
          <a:prstGeom prst="line">
            <a:avLst/>
          </a:prstGeom>
          <a:noFill/>
          <a:ln w="28575">
            <a:solidFill>
              <a:schemeClr val="tx1"/>
            </a:solidFill>
            <a:round/>
            <a:headEnd/>
            <a:tailEnd/>
          </a:ln>
        </p:spPr>
        <p:txBody>
          <a:bodyPr/>
          <a:lstStyle/>
          <a:p>
            <a:endParaRPr lang="en-US" altLang="zh-CN" dirty="0">
              <a:latin typeface="+mn-lt"/>
            </a:endParaRPr>
          </a:p>
        </p:txBody>
      </p:sp>
      <p:sp>
        <p:nvSpPr>
          <p:cNvPr id="51222" name="Rectangle 9"/>
          <p:cNvSpPr>
            <a:spLocks noChangeArrowheads="1"/>
          </p:cNvSpPr>
          <p:nvPr/>
        </p:nvSpPr>
        <p:spPr bwMode="auto">
          <a:xfrm>
            <a:off x="3719514" y="3511551"/>
            <a:ext cx="835723" cy="262371"/>
          </a:xfrm>
          <a:prstGeom prst="rect">
            <a:avLst/>
          </a:prstGeom>
          <a:noFill/>
          <a:ln w="9525">
            <a:noFill/>
            <a:miter lim="800000"/>
            <a:headEnd/>
            <a:tailEnd/>
          </a:ln>
        </p:spPr>
        <p:txBody>
          <a:bodyPr wrap="none" lIns="107433" tIns="53717" rIns="107433" bIns="53717">
            <a:spAutoFit/>
          </a:bodyPr>
          <a:lstStyle/>
          <a:p>
            <a:pPr defTabSz="1066800" eaLnBrk="0" hangingPunct="0">
              <a:buSzPct val="100000"/>
            </a:pPr>
            <a:r>
              <a:rPr lang="en-US" altLang="zh-CN" dirty="0">
                <a:solidFill>
                  <a:srgbClr val="000000"/>
                </a:solidFill>
                <a:latin typeface="+mn-lt"/>
                <a:sym typeface="FrutigerNext LT Regular" pitchFamily="34" charset="0"/>
              </a:rPr>
              <a:t>12.12.12.1</a:t>
            </a:r>
          </a:p>
        </p:txBody>
      </p:sp>
      <p:sp>
        <p:nvSpPr>
          <p:cNvPr id="51227" name="WordArt 9"/>
          <p:cNvSpPr>
            <a:spLocks noChangeAspect="1" noChangeArrowheads="1" noChangeShapeType="1" noTextEdit="1"/>
          </p:cNvSpPr>
          <p:nvPr/>
        </p:nvSpPr>
        <p:spPr bwMode="auto">
          <a:xfrm>
            <a:off x="5570538" y="3249613"/>
            <a:ext cx="563562" cy="252412"/>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lt"/>
                <a:ea typeface="宋体"/>
              </a:rPr>
              <a:t>RIP</a:t>
            </a:r>
          </a:p>
        </p:txBody>
      </p:sp>
      <p:sp>
        <p:nvSpPr>
          <p:cNvPr id="51228" name="WordArt 10"/>
          <p:cNvSpPr>
            <a:spLocks noChangeAspect="1" noChangeArrowheads="1" noChangeShapeType="1" noTextEdit="1"/>
          </p:cNvSpPr>
          <p:nvPr/>
        </p:nvSpPr>
        <p:spPr bwMode="auto">
          <a:xfrm>
            <a:off x="4346575" y="3249614"/>
            <a:ext cx="585788" cy="263525"/>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lt"/>
                <a:ea typeface="宋体"/>
              </a:rPr>
              <a:t>ISIS</a:t>
            </a:r>
          </a:p>
        </p:txBody>
      </p:sp>
      <p:sp>
        <p:nvSpPr>
          <p:cNvPr id="51229" name="Line 9"/>
          <p:cNvSpPr>
            <a:spLocks noChangeShapeType="1"/>
          </p:cNvSpPr>
          <p:nvPr/>
        </p:nvSpPr>
        <p:spPr bwMode="auto">
          <a:xfrm>
            <a:off x="5256213" y="2133601"/>
            <a:ext cx="0" cy="2555875"/>
          </a:xfrm>
          <a:prstGeom prst="line">
            <a:avLst/>
          </a:prstGeom>
          <a:noFill/>
          <a:ln w="28575">
            <a:solidFill>
              <a:schemeClr val="tx1"/>
            </a:solidFill>
            <a:prstDash val="dash"/>
            <a:round/>
            <a:headEnd/>
            <a:tailEnd/>
          </a:ln>
        </p:spPr>
        <p:txBody>
          <a:bodyPr/>
          <a:lstStyle/>
          <a:p>
            <a:endParaRPr lang="en-US" altLang="zh-CN" dirty="0">
              <a:latin typeface="+mn-lt"/>
            </a:endParaRPr>
          </a:p>
        </p:txBody>
      </p:sp>
      <p:pic>
        <p:nvPicPr>
          <p:cNvPr id="3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941888" y="2237968"/>
            <a:ext cx="628652" cy="514351"/>
          </a:xfrm>
          <a:prstGeom prst="rect">
            <a:avLst/>
          </a:prstGeom>
          <a:noFill/>
        </p:spPr>
      </p:pic>
      <p:pic>
        <p:nvPicPr>
          <p:cNvPr id="3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047021" y="3200053"/>
            <a:ext cx="628652" cy="514351"/>
          </a:xfrm>
          <a:prstGeom prst="rect">
            <a:avLst/>
          </a:prstGeom>
          <a:noFill/>
        </p:spPr>
      </p:pic>
      <p:pic>
        <p:nvPicPr>
          <p:cNvPr id="3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920801" y="4011669"/>
            <a:ext cx="628652" cy="514351"/>
          </a:xfrm>
          <a:prstGeom prst="rect">
            <a:avLst/>
          </a:prstGeom>
          <a:noFill/>
        </p:spPr>
      </p:pic>
      <p:pic>
        <p:nvPicPr>
          <p:cNvPr id="3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947399" y="3188824"/>
            <a:ext cx="628652" cy="514351"/>
          </a:xfrm>
          <a:prstGeom prst="rect">
            <a:avLst/>
          </a:prstGeom>
          <a:noFill/>
        </p:spPr>
      </p:pic>
      <p:sp>
        <p:nvSpPr>
          <p:cNvPr id="31" name="任意多边形 30"/>
          <p:cNvSpPr>
            <a:spLocks noChangeAspect="1"/>
          </p:cNvSpPr>
          <p:nvPr/>
        </p:nvSpPr>
        <p:spPr bwMode="auto">
          <a:xfrm>
            <a:off x="3455988" y="2355851"/>
            <a:ext cx="4506912" cy="2106613"/>
          </a:xfrm>
          <a:custGeom>
            <a:avLst/>
            <a:gdLst>
              <a:gd name="T0" fmla="*/ 1602565 w 5010353"/>
              <a:gd name="T1" fmla="*/ 2699458 h 1643952"/>
              <a:gd name="T2" fmla="*/ 944 w 5010353"/>
              <a:gd name="T3" fmla="*/ 1441059 h 1643952"/>
              <a:gd name="T4" fmla="*/ 1384673 w 5010353"/>
              <a:gd name="T5" fmla="*/ 77177 h 1643952"/>
              <a:gd name="T6" fmla="*/ 1737022 w 5010353"/>
              <a:gd name="T7" fmla="*/ 31339 h 1643952"/>
              <a:gd name="T8" fmla="*/ 3314560 w 5010353"/>
              <a:gd name="T9" fmla="*/ 1216567 h 1643952"/>
              <a:gd name="T10" fmla="*/ 4054684 w 5010353"/>
              <a:gd name="T11" fmla="*/ 1234439 h 1643952"/>
              <a:gd name="T12" fmla="*/ 0 60000 65536"/>
              <a:gd name="T13" fmla="*/ 0 60000 65536"/>
              <a:gd name="T14" fmla="*/ 0 60000 65536"/>
              <a:gd name="T15" fmla="*/ 0 60000 65536"/>
              <a:gd name="T16" fmla="*/ 0 60000 65536"/>
              <a:gd name="T17" fmla="*/ 0 60000 65536"/>
              <a:gd name="T18" fmla="*/ 0 w 5010353"/>
              <a:gd name="T19" fmla="*/ 0 h 1643952"/>
              <a:gd name="T20" fmla="*/ 5010353 w 5010353"/>
              <a:gd name="T21" fmla="*/ 1643952 h 1643952"/>
            </a:gdLst>
            <a:ahLst/>
            <a:cxnLst>
              <a:cxn ang="T12">
                <a:pos x="T0" y="T1"/>
              </a:cxn>
              <a:cxn ang="T13">
                <a:pos x="T2" y="T3"/>
              </a:cxn>
              <a:cxn ang="T14">
                <a:pos x="T4" y="T5"/>
              </a:cxn>
              <a:cxn ang="T15">
                <a:pos x="T6" y="T7"/>
              </a:cxn>
              <a:cxn ang="T16">
                <a:pos x="T8" y="T9"/>
              </a:cxn>
              <a:cxn ang="T17">
                <a:pos x="T10" y="T11"/>
              </a:cxn>
            </a:cxnLst>
            <a:rect l="T18" t="T19" r="T20" b="T21"/>
            <a:pathLst>
              <a:path w="5010353" h="1643952">
                <a:moveTo>
                  <a:pt x="1980280" y="1643952"/>
                </a:moveTo>
                <a:cubicBezTo>
                  <a:pt x="1626028" y="1536957"/>
                  <a:pt x="46041" y="1143754"/>
                  <a:pt x="1167" y="877595"/>
                </a:cubicBezTo>
                <a:cubicBezTo>
                  <a:pt x="-43707" y="611436"/>
                  <a:pt x="1217970" y="142513"/>
                  <a:pt x="1711033" y="47000"/>
                </a:cubicBezTo>
                <a:cubicBezTo>
                  <a:pt x="2204096" y="-48513"/>
                  <a:pt x="1944401" y="33551"/>
                  <a:pt x="2146429" y="19085"/>
                </a:cubicBezTo>
                <a:cubicBezTo>
                  <a:pt x="2348457" y="97609"/>
                  <a:pt x="3689389" y="567287"/>
                  <a:pt x="4095784" y="740881"/>
                </a:cubicBezTo>
                <a:cubicBezTo>
                  <a:pt x="4633925" y="781699"/>
                  <a:pt x="4377379" y="739119"/>
                  <a:pt x="5010353" y="751765"/>
                </a:cubicBezTo>
              </a:path>
            </a:pathLst>
          </a:custGeom>
          <a:noFill/>
          <a:ln w="28575" cap="flat" cmpd="sng" algn="ctr">
            <a:solidFill>
              <a:srgbClr val="C00000"/>
            </a:solidFill>
            <a:prstDash val="dash"/>
            <a:round/>
            <a:headEnd type="none" w="med" len="med"/>
            <a:tailEnd type="stealth" w="lg" len="lg"/>
          </a:ln>
        </p:spPr>
        <p:txBody>
          <a:bodyPr/>
          <a:lstStyle/>
          <a:p>
            <a:endParaRPr lang="en-US" altLang="zh-CN" dirty="0">
              <a:latin typeface="+mn-lt"/>
            </a:endParaRPr>
          </a:p>
        </p:txBody>
      </p:sp>
      <p:grpSp>
        <p:nvGrpSpPr>
          <p:cNvPr id="2" name="组合 1"/>
          <p:cNvGrpSpPr/>
          <p:nvPr/>
        </p:nvGrpSpPr>
        <p:grpSpPr>
          <a:xfrm>
            <a:off x="5256214" y="1625885"/>
            <a:ext cx="4097684" cy="612083"/>
            <a:chOff x="5256214" y="1625885"/>
            <a:chExt cx="4097684" cy="612083"/>
          </a:xfrm>
        </p:grpSpPr>
        <p:sp>
          <p:nvSpPr>
            <p:cNvPr id="114" name="AutoShape 27"/>
            <p:cNvSpPr>
              <a:spLocks/>
            </p:cNvSpPr>
            <p:nvPr/>
          </p:nvSpPr>
          <p:spPr bwMode="auto">
            <a:xfrm>
              <a:off x="6977410" y="1625885"/>
              <a:ext cx="2376488" cy="573087"/>
            </a:xfrm>
            <a:prstGeom prst="rect">
              <a:avLst/>
            </a:prstGeom>
            <a:solidFill>
              <a:schemeClr val="bg1">
                <a:lumMod val="85000"/>
              </a:schemeClr>
            </a:solidFill>
            <a:ln w="9525" algn="ctr">
              <a:noFill/>
              <a:miter lim="800000"/>
              <a:headEnd/>
              <a:tailEnd/>
            </a:ln>
          </p:spPr>
          <p:txBody>
            <a:bodyPr anchor="ctr"/>
            <a:lstStyle/>
            <a:p>
              <a:pPr defTabSz="784225" eaLnBrk="0" hangingPunct="0">
                <a:lnSpc>
                  <a:spcPct val="60000"/>
                </a:lnSpc>
                <a:spcBef>
                  <a:spcPct val="20000"/>
                </a:spcBef>
                <a:spcAft>
                  <a:spcPct val="20000"/>
                </a:spcAft>
                <a:buSzPct val="100000"/>
                <a:buFont typeface="黑体" pitchFamily="49" charset="-122"/>
                <a:buAutoNum type="circleNumDbPlain" startAt="2"/>
              </a:pPr>
              <a:r>
                <a:rPr lang="en-US" altLang="zh-CN" sz="1400" dirty="0">
                  <a:solidFill>
                    <a:srgbClr val="000000"/>
                  </a:solidFill>
                  <a:latin typeface="+mn-lt"/>
                  <a:cs typeface="Courier New" panose="02070309020205020404" pitchFamily="49" charset="0"/>
                  <a:sym typeface="FrutigerNext LT Regular" pitchFamily="34" charset="0"/>
                </a:rPr>
                <a:t> isis 1      </a:t>
              </a:r>
            </a:p>
            <a:p>
              <a:pPr defTabSz="784225" eaLnBrk="0" hangingPunct="0">
                <a:lnSpc>
                  <a:spcPct val="60000"/>
                </a:lnSpc>
                <a:spcBef>
                  <a:spcPct val="20000"/>
                </a:spcBef>
                <a:spcAft>
                  <a:spcPct val="20000"/>
                </a:spcAft>
                <a:buSzPct val="100000"/>
              </a:pPr>
              <a:r>
                <a:rPr lang="en-US" altLang="zh-CN" sz="1400" dirty="0">
                  <a:solidFill>
                    <a:srgbClr val="000000"/>
                  </a:solidFill>
                  <a:latin typeface="+mn-lt"/>
                  <a:cs typeface="Courier New" panose="02070309020205020404" pitchFamily="49" charset="0"/>
                  <a:sym typeface="FrutigerNext LT Regular" pitchFamily="34" charset="0"/>
                </a:rPr>
                <a:t> </a:t>
              </a:r>
              <a:r>
                <a:rPr lang="en-US" altLang="zh-CN" sz="1400" b="1" dirty="0">
                  <a:solidFill>
                    <a:srgbClr val="C00000"/>
                  </a:solidFill>
                  <a:latin typeface="+mn-lt"/>
                  <a:cs typeface="Courier New" panose="02070309020205020404" pitchFamily="49" charset="0"/>
                  <a:sym typeface="FrutigerNext LT Regular" pitchFamily="34" charset="0"/>
                </a:rPr>
                <a:t>import-route rip 1</a:t>
              </a:r>
            </a:p>
          </p:txBody>
        </p:sp>
        <p:cxnSp>
          <p:nvCxnSpPr>
            <p:cNvPr id="37" name="直接连接符 36"/>
            <p:cNvCxnSpPr/>
            <p:nvPr/>
          </p:nvCxnSpPr>
          <p:spPr bwMode="auto">
            <a:xfrm flipV="1">
              <a:off x="5256214" y="1887351"/>
              <a:ext cx="1739453" cy="350617"/>
            </a:xfrm>
            <a:prstGeom prst="line">
              <a:avLst/>
            </a:prstGeom>
            <a:solidFill>
              <a:schemeClr val="accent1"/>
            </a:solidFill>
            <a:ln w="28575" cap="flat" cmpd="sng" algn="ctr">
              <a:solidFill>
                <a:srgbClr val="C00000"/>
              </a:solidFill>
              <a:prstDash val="sysDot"/>
              <a:round/>
              <a:headEnd type="none" w="med" len="med"/>
              <a:tailEnd type="none" w="med" len="med"/>
            </a:ln>
            <a:effectLst/>
          </p:spPr>
        </p:cxnSp>
      </p:grpSp>
      <p:grpSp>
        <p:nvGrpSpPr>
          <p:cNvPr id="4" name="组合 3"/>
          <p:cNvGrpSpPr/>
          <p:nvPr/>
        </p:nvGrpSpPr>
        <p:grpSpPr>
          <a:xfrm>
            <a:off x="3486908" y="4541418"/>
            <a:ext cx="6461521" cy="1407777"/>
            <a:chOff x="3486908" y="4541418"/>
            <a:chExt cx="6461521" cy="1407777"/>
          </a:xfrm>
        </p:grpSpPr>
        <p:cxnSp>
          <p:nvCxnSpPr>
            <p:cNvPr id="38" name="直接连接符 37"/>
            <p:cNvCxnSpPr/>
            <p:nvPr/>
          </p:nvCxnSpPr>
          <p:spPr bwMode="auto">
            <a:xfrm flipV="1">
              <a:off x="4603095" y="4541418"/>
              <a:ext cx="505791" cy="643518"/>
            </a:xfrm>
            <a:prstGeom prst="line">
              <a:avLst/>
            </a:prstGeom>
            <a:solidFill>
              <a:schemeClr val="accent1"/>
            </a:solidFill>
            <a:ln w="28575" cap="flat" cmpd="sng" algn="ctr">
              <a:solidFill>
                <a:srgbClr val="C00000"/>
              </a:solidFill>
              <a:prstDash val="sysDot"/>
              <a:round/>
              <a:headEnd type="none" w="med" len="med"/>
              <a:tailEnd type="none" w="med" len="med"/>
            </a:ln>
            <a:effectLst/>
          </p:spPr>
        </p:cxnSp>
        <p:sp>
          <p:nvSpPr>
            <p:cNvPr id="39" name="AutoShape 26"/>
            <p:cNvSpPr>
              <a:spLocks/>
            </p:cNvSpPr>
            <p:nvPr/>
          </p:nvSpPr>
          <p:spPr bwMode="auto">
            <a:xfrm>
              <a:off x="3486908" y="5193195"/>
              <a:ext cx="6461521" cy="756000"/>
            </a:xfrm>
            <a:prstGeom prst="rect">
              <a:avLst/>
            </a:prstGeom>
            <a:solidFill>
              <a:schemeClr val="bg1">
                <a:lumMod val="85000"/>
              </a:schemeClr>
            </a:solidFill>
            <a:ln w="9525" algn="ctr">
              <a:noFill/>
              <a:miter lim="800000"/>
              <a:headEnd/>
              <a:tailEnd/>
            </a:ln>
          </p:spPr>
          <p:txBody>
            <a:bodyPr anchor="ctr"/>
            <a:lstStyle/>
            <a:p>
              <a:pPr defTabSz="784225" fontAlgn="base">
                <a:lnSpc>
                  <a:spcPct val="60000"/>
                </a:lnSpc>
                <a:spcBef>
                  <a:spcPct val="20000"/>
                </a:spcBef>
                <a:spcAft>
                  <a:spcPct val="20000"/>
                </a:spcAft>
                <a:buSzPct val="100000"/>
                <a:buFont typeface="+mj-ea"/>
                <a:buAutoNum type="circleNumDbPlain" startAt="5"/>
              </a:pPr>
              <a:r>
                <a:rPr lang="en-US" altLang="zh-CN" sz="1400" dirty="0">
                  <a:latin typeface="+mn-lt"/>
                  <a:ea typeface="+mn-ea"/>
                </a:rPr>
                <a:t> [RTB]display </a:t>
              </a:r>
              <a:r>
                <a:rPr lang="en-US" altLang="zh-CN" sz="1400" dirty="0" err="1">
                  <a:latin typeface="+mn-lt"/>
                  <a:ea typeface="+mn-ea"/>
                </a:rPr>
                <a:t>ip</a:t>
              </a:r>
              <a:r>
                <a:rPr lang="en-US" altLang="zh-CN" sz="1400" dirty="0">
                  <a:latin typeface="+mn-lt"/>
                  <a:ea typeface="+mn-ea"/>
                </a:rPr>
                <a:t> routing-table</a:t>
              </a:r>
            </a:p>
            <a:p>
              <a:pPr defTabSz="784225" fontAlgn="base">
                <a:lnSpc>
                  <a:spcPct val="60000"/>
                </a:lnSpc>
                <a:spcBef>
                  <a:spcPct val="20000"/>
                </a:spcBef>
                <a:spcAft>
                  <a:spcPct val="20000"/>
                </a:spcAft>
                <a:buClr>
                  <a:srgbClr val="990000"/>
                </a:buClr>
                <a:buSzPct val="85000"/>
              </a:pPr>
              <a:r>
                <a:rPr lang="en-US" altLang="zh-CN" sz="1400" dirty="0" smtClean="0">
                  <a:latin typeface="+mn-lt"/>
                  <a:ea typeface="+mn-ea"/>
                </a:rPr>
                <a:t>Destination/Mask	Proto	Pre	Cost	</a:t>
              </a:r>
              <a:r>
                <a:rPr lang="en-US" altLang="zh-CN" sz="1400" dirty="0" err="1" smtClean="0">
                  <a:latin typeface="+mn-lt"/>
                  <a:ea typeface="+mn-ea"/>
                </a:rPr>
                <a:t>NextHop</a:t>
              </a:r>
              <a:r>
                <a:rPr lang="en-US" altLang="zh-CN" sz="1400" dirty="0" smtClean="0">
                  <a:latin typeface="+mn-lt"/>
                  <a:ea typeface="+mn-ea"/>
                </a:rPr>
                <a:t>		Interface</a:t>
              </a:r>
              <a:endParaRPr lang="en-US" altLang="zh-CN" sz="1400" dirty="0">
                <a:latin typeface="+mn-lt"/>
                <a:ea typeface="+mn-ea"/>
              </a:endParaRPr>
            </a:p>
            <a:p>
              <a:pPr defTabSz="784225" fontAlgn="base">
                <a:lnSpc>
                  <a:spcPct val="60000"/>
                </a:lnSpc>
                <a:spcBef>
                  <a:spcPct val="20000"/>
                </a:spcBef>
                <a:spcAft>
                  <a:spcPct val="20000"/>
                </a:spcAft>
                <a:buClr>
                  <a:srgbClr val="990000"/>
                </a:buClr>
                <a:buSzPct val="85000"/>
              </a:pPr>
              <a:r>
                <a:rPr lang="en-US" altLang="zh-CN" sz="1400" b="1" dirty="0" smtClean="0">
                  <a:solidFill>
                    <a:srgbClr val="C00000"/>
                  </a:solidFill>
                  <a:latin typeface="+mn-lt"/>
                  <a:ea typeface="+mn-ea"/>
                </a:rPr>
                <a:t>2.0.0.0/8	</a:t>
              </a:r>
              <a:r>
                <a:rPr lang="zh-CN" altLang="en-US" sz="1400" b="1" dirty="0" smtClean="0">
                  <a:solidFill>
                    <a:srgbClr val="C00000"/>
                  </a:solidFill>
                  <a:latin typeface="+mn-lt"/>
                  <a:ea typeface="+mn-ea"/>
                </a:rPr>
                <a:t> </a:t>
              </a:r>
              <a:r>
                <a:rPr lang="en-US" altLang="zh-CN" sz="1400" b="1" dirty="0" smtClean="0">
                  <a:solidFill>
                    <a:srgbClr val="C00000"/>
                  </a:solidFill>
                  <a:latin typeface="+mn-lt"/>
                  <a:ea typeface="+mn-ea"/>
                </a:rPr>
                <a:t>ISIS	15	84	12.12.12.1	Serial0</a:t>
              </a:r>
              <a:endParaRPr lang="en-US" altLang="zh-CN" sz="1400" b="1" dirty="0">
                <a:solidFill>
                  <a:srgbClr val="C00000"/>
                </a:solidFill>
                <a:latin typeface="+mn-lt"/>
                <a:ea typeface="+mn-ea"/>
              </a:endParaRPr>
            </a:p>
          </p:txBody>
        </p:sp>
      </p:grpSp>
    </p:spTree>
    <p:extLst>
      <p:ext uri="{BB962C8B-B14F-4D97-AF65-F5344CB8AC3E}">
        <p14:creationId xmlns:p14="http://schemas.microsoft.com/office/powerpoint/2010/main" val="4252682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right)">
                                      <p:cBhvr>
                                        <p:cTn id="7" dur="500"/>
                                        <p:tgtEl>
                                          <p:spTgt spid="99"/>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00"/>
                                        </p:tgtEl>
                                        <p:attrNameLst>
                                          <p:attrName>style.visibility</p:attrName>
                                        </p:attrNameLst>
                                      </p:cBhvr>
                                      <p:to>
                                        <p:strVal val="visible"/>
                                      </p:to>
                                    </p:set>
                                    <p:animEffect transition="in" filter="wipe(right)">
                                      <p:cBhvr>
                                        <p:cTn id="10" dur="500"/>
                                        <p:tgtEl>
                                          <p:spTgt spid="10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101"/>
                                        </p:tgtEl>
                                        <p:attrNameLst>
                                          <p:attrName>style.visibility</p:attrName>
                                        </p:attrNameLst>
                                      </p:cBhvr>
                                      <p:to>
                                        <p:strVal val="visible"/>
                                      </p:to>
                                    </p:set>
                                    <p:animEffect transition="in" filter="wipe(right)">
                                      <p:cBhvr>
                                        <p:cTn id="15" dur="500"/>
                                        <p:tgtEl>
                                          <p:spTgt spid="101"/>
                                        </p:tgtEl>
                                      </p:cBhvr>
                                    </p:animEffect>
                                  </p:childTnLst>
                                </p:cTn>
                              </p:par>
                              <p:par>
                                <p:cTn id="16" presetID="22" presetClass="entr" presetSubtype="8"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102"/>
                                        </p:tgtEl>
                                        <p:attrNameLst>
                                          <p:attrName>style.visibility</p:attrName>
                                        </p:attrNameLst>
                                      </p:cBhvr>
                                      <p:to>
                                        <p:strVal val="visible"/>
                                      </p:to>
                                    </p:set>
                                    <p:animEffect transition="in" filter="wipe(right)">
                                      <p:cBhvr>
                                        <p:cTn id="23" dur="500"/>
                                        <p:tgtEl>
                                          <p:spTgt spid="10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3"/>
                                        </p:tgtEl>
                                        <p:attrNameLst>
                                          <p:attrName>style.visibility</p:attrName>
                                        </p:attrNameLst>
                                      </p:cBhvr>
                                      <p:to>
                                        <p:strVal val="visible"/>
                                      </p:to>
                                    </p:set>
                                    <p:animEffect transition="in" filter="wipe(left)">
                                      <p:cBhvr>
                                        <p:cTn id="28" dur="500"/>
                                        <p:tgtEl>
                                          <p:spTgt spid="10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left)">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left)">
                                      <p:cBhvr>
                                        <p:cTn id="3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P spid="101" grpId="0" animBg="1"/>
      <p:bldP spid="102" grpId="0" animBg="1"/>
      <p:bldP spid="103" grpId="0" animBg="1"/>
      <p:bldP spid="3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226" name="直接连接符 41"/>
          <p:cNvCxnSpPr>
            <a:cxnSpLocks noChangeShapeType="1"/>
          </p:cNvCxnSpPr>
          <p:nvPr/>
        </p:nvCxnSpPr>
        <p:spPr bwMode="auto">
          <a:xfrm flipH="1">
            <a:off x="5610672" y="1587402"/>
            <a:ext cx="1528762" cy="288925"/>
          </a:xfrm>
          <a:prstGeom prst="line">
            <a:avLst/>
          </a:prstGeom>
          <a:noFill/>
          <a:ln w="28575" algn="ctr">
            <a:solidFill>
              <a:srgbClr val="C00000"/>
            </a:solidFill>
            <a:prstDash val="sysDot"/>
            <a:round/>
            <a:headEnd/>
            <a:tailEnd/>
          </a:ln>
        </p:spPr>
      </p:cxnSp>
      <p:cxnSp>
        <p:nvCxnSpPr>
          <p:cNvPr id="52227" name="直接连接符 40"/>
          <p:cNvCxnSpPr>
            <a:cxnSpLocks noChangeShapeType="1"/>
          </p:cNvCxnSpPr>
          <p:nvPr/>
        </p:nvCxnSpPr>
        <p:spPr bwMode="auto">
          <a:xfrm>
            <a:off x="5796410" y="3690838"/>
            <a:ext cx="1863725" cy="2025650"/>
          </a:xfrm>
          <a:prstGeom prst="line">
            <a:avLst/>
          </a:prstGeom>
          <a:noFill/>
          <a:ln w="28575" algn="ctr">
            <a:solidFill>
              <a:srgbClr val="C00000"/>
            </a:solidFill>
            <a:prstDash val="sysDot"/>
            <a:round/>
            <a:headEnd/>
            <a:tailEnd/>
          </a:ln>
        </p:spPr>
      </p:cxnSp>
      <p:cxnSp>
        <p:nvCxnSpPr>
          <p:cNvPr id="52228" name="直接连接符 23"/>
          <p:cNvCxnSpPr>
            <a:cxnSpLocks noChangeShapeType="1"/>
          </p:cNvCxnSpPr>
          <p:nvPr/>
        </p:nvCxnSpPr>
        <p:spPr bwMode="auto">
          <a:xfrm flipH="1">
            <a:off x="4572447" y="3652739"/>
            <a:ext cx="1219200" cy="942975"/>
          </a:xfrm>
          <a:prstGeom prst="line">
            <a:avLst/>
          </a:prstGeom>
          <a:noFill/>
          <a:ln w="28575" algn="ctr">
            <a:solidFill>
              <a:srgbClr val="C00000"/>
            </a:solidFill>
            <a:prstDash val="sysDot"/>
            <a:round/>
            <a:headEnd/>
            <a:tailEnd/>
          </a:ln>
        </p:spPr>
      </p:cxnSp>
      <p:sp>
        <p:nvSpPr>
          <p:cNvPr id="3" name="文本占位符 2"/>
          <p:cNvSpPr>
            <a:spLocks noGrp="1"/>
          </p:cNvSpPr>
          <p:nvPr>
            <p:ph type="body" sz="quarter" idx="12"/>
          </p:nvPr>
        </p:nvSpPr>
        <p:spPr/>
        <p:txBody>
          <a:bodyPr/>
          <a:lstStyle/>
          <a:p>
            <a:r>
              <a:rPr lang="en-US" altLang="zh-CN" dirty="0"/>
              <a:t>Solution 1: Filter Routes</a:t>
            </a:r>
            <a:endParaRPr lang="zh-CN" altLang="en-US" dirty="0"/>
          </a:p>
        </p:txBody>
      </p:sp>
      <p:sp>
        <p:nvSpPr>
          <p:cNvPr id="52230" name="Line 3"/>
          <p:cNvSpPr>
            <a:spLocks noChangeShapeType="1"/>
          </p:cNvSpPr>
          <p:nvPr/>
        </p:nvSpPr>
        <p:spPr bwMode="auto">
          <a:xfrm flipV="1">
            <a:off x="4126359" y="1987452"/>
            <a:ext cx="1295400" cy="739775"/>
          </a:xfrm>
          <a:prstGeom prst="line">
            <a:avLst/>
          </a:prstGeom>
          <a:noFill/>
          <a:ln w="28575">
            <a:solidFill>
              <a:schemeClr val="tx1"/>
            </a:solidFill>
            <a:round/>
            <a:headEnd/>
            <a:tailEnd/>
          </a:ln>
        </p:spPr>
        <p:txBody>
          <a:bodyPr/>
          <a:lstStyle/>
          <a:p>
            <a:endParaRPr lang="en-US" altLang="zh-CN" dirty="0">
              <a:latin typeface="+mn-lt"/>
            </a:endParaRPr>
          </a:p>
        </p:txBody>
      </p:sp>
      <p:sp>
        <p:nvSpPr>
          <p:cNvPr id="52231" name="Line 4"/>
          <p:cNvSpPr>
            <a:spLocks noChangeShapeType="1"/>
          </p:cNvSpPr>
          <p:nvPr/>
        </p:nvSpPr>
        <p:spPr bwMode="auto">
          <a:xfrm>
            <a:off x="5967860" y="1947763"/>
            <a:ext cx="1490663" cy="719138"/>
          </a:xfrm>
          <a:prstGeom prst="line">
            <a:avLst/>
          </a:prstGeom>
          <a:noFill/>
          <a:ln w="28575">
            <a:solidFill>
              <a:schemeClr val="tx1"/>
            </a:solidFill>
            <a:round/>
            <a:headEnd/>
            <a:tailEnd/>
          </a:ln>
        </p:spPr>
        <p:txBody>
          <a:bodyPr/>
          <a:lstStyle/>
          <a:p>
            <a:endParaRPr lang="en-US" altLang="zh-CN" dirty="0">
              <a:latin typeface="+mn-lt"/>
            </a:endParaRPr>
          </a:p>
        </p:txBody>
      </p:sp>
      <p:sp>
        <p:nvSpPr>
          <p:cNvPr id="52232" name="Line 5"/>
          <p:cNvSpPr>
            <a:spLocks noChangeShapeType="1"/>
          </p:cNvSpPr>
          <p:nvPr/>
        </p:nvSpPr>
        <p:spPr bwMode="auto">
          <a:xfrm flipV="1">
            <a:off x="5956748" y="2912964"/>
            <a:ext cx="1563687" cy="815975"/>
          </a:xfrm>
          <a:prstGeom prst="line">
            <a:avLst/>
          </a:prstGeom>
          <a:noFill/>
          <a:ln w="28575">
            <a:solidFill>
              <a:schemeClr val="tx1"/>
            </a:solidFill>
            <a:round/>
            <a:headEnd/>
            <a:tailEnd/>
          </a:ln>
        </p:spPr>
        <p:txBody>
          <a:bodyPr/>
          <a:lstStyle/>
          <a:p>
            <a:endParaRPr lang="en-US" altLang="zh-CN" dirty="0">
              <a:latin typeface="+mn-lt"/>
            </a:endParaRPr>
          </a:p>
        </p:txBody>
      </p:sp>
      <p:sp>
        <p:nvSpPr>
          <p:cNvPr id="52233" name="Line 6"/>
          <p:cNvSpPr>
            <a:spLocks noChangeShapeType="1"/>
          </p:cNvSpPr>
          <p:nvPr/>
        </p:nvSpPr>
        <p:spPr bwMode="auto">
          <a:xfrm>
            <a:off x="4066035" y="2973288"/>
            <a:ext cx="1293813" cy="679450"/>
          </a:xfrm>
          <a:prstGeom prst="line">
            <a:avLst/>
          </a:prstGeom>
          <a:noFill/>
          <a:ln w="28575">
            <a:solidFill>
              <a:schemeClr val="tx1"/>
            </a:solidFill>
            <a:round/>
            <a:headEnd/>
            <a:tailEnd/>
          </a:ln>
        </p:spPr>
        <p:txBody>
          <a:bodyPr/>
          <a:lstStyle/>
          <a:p>
            <a:endParaRPr lang="en-US" altLang="zh-CN" dirty="0">
              <a:latin typeface="+mn-lt"/>
            </a:endParaRPr>
          </a:p>
        </p:txBody>
      </p:sp>
      <p:sp>
        <p:nvSpPr>
          <p:cNvPr id="52234" name="Line 7"/>
          <p:cNvSpPr>
            <a:spLocks noChangeShapeType="1"/>
          </p:cNvSpPr>
          <p:nvPr/>
        </p:nvSpPr>
        <p:spPr bwMode="auto">
          <a:xfrm>
            <a:off x="8055422" y="2852638"/>
            <a:ext cx="360362" cy="0"/>
          </a:xfrm>
          <a:prstGeom prst="line">
            <a:avLst/>
          </a:prstGeom>
          <a:noFill/>
          <a:ln w="28575">
            <a:solidFill>
              <a:schemeClr val="tx1"/>
            </a:solidFill>
            <a:round/>
            <a:headEnd/>
            <a:tailEnd/>
          </a:ln>
        </p:spPr>
        <p:txBody>
          <a:bodyPr/>
          <a:lstStyle/>
          <a:p>
            <a:endParaRPr lang="en-US" altLang="zh-CN" dirty="0">
              <a:latin typeface="+mn-lt"/>
            </a:endParaRPr>
          </a:p>
        </p:txBody>
      </p:sp>
      <p:sp>
        <p:nvSpPr>
          <p:cNvPr id="52235" name="Text Box 8"/>
          <p:cNvSpPr txBox="1">
            <a:spLocks noChangeArrowheads="1"/>
          </p:cNvSpPr>
          <p:nvPr/>
        </p:nvSpPr>
        <p:spPr bwMode="auto">
          <a:xfrm>
            <a:off x="8388798" y="2660551"/>
            <a:ext cx="1558925" cy="336550"/>
          </a:xfrm>
          <a:prstGeom prst="rect">
            <a:avLst/>
          </a:prstGeom>
          <a:noFill/>
          <a:ln w="9525">
            <a:noFill/>
            <a:miter lim="800000"/>
            <a:headEnd/>
            <a:tailEnd/>
          </a:ln>
        </p:spPr>
        <p:txBody>
          <a:bodyPr lIns="91424" tIns="45712" rIns="91424" bIns="45712">
            <a:spAutoFit/>
          </a:bodyPr>
          <a:lstStyle/>
          <a:p>
            <a:pPr eaLnBrk="0" fontAlgn="t" hangingPunct="0">
              <a:spcBef>
                <a:spcPct val="50000"/>
              </a:spcBef>
              <a:buSzPct val="100000"/>
            </a:pPr>
            <a:r>
              <a:rPr lang="en-US" altLang="zh-CN" sz="1600" b="1" dirty="0">
                <a:solidFill>
                  <a:srgbClr val="000000"/>
                </a:solidFill>
                <a:latin typeface="+mn-lt"/>
                <a:sym typeface="FrutigerNext LT Regular" pitchFamily="34" charset="0"/>
              </a:rPr>
              <a:t>Lo0:2.2.2.2</a:t>
            </a:r>
          </a:p>
        </p:txBody>
      </p:sp>
      <p:sp>
        <p:nvSpPr>
          <p:cNvPr id="52236" name="WordArt 9"/>
          <p:cNvSpPr>
            <a:spLocks noChangeAspect="1" noChangeArrowheads="1" noChangeShapeType="1" noTextEdit="1"/>
          </p:cNvSpPr>
          <p:nvPr/>
        </p:nvSpPr>
        <p:spPr bwMode="auto">
          <a:xfrm>
            <a:off x="6112322" y="2709764"/>
            <a:ext cx="563562" cy="252413"/>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lt"/>
                <a:ea typeface="宋体"/>
              </a:rPr>
              <a:t>RIP</a:t>
            </a:r>
          </a:p>
        </p:txBody>
      </p:sp>
      <p:sp>
        <p:nvSpPr>
          <p:cNvPr id="52237" name="WordArt 10"/>
          <p:cNvSpPr>
            <a:spLocks noChangeAspect="1" noChangeArrowheads="1" noChangeShapeType="1" noTextEdit="1"/>
          </p:cNvSpPr>
          <p:nvPr/>
        </p:nvSpPr>
        <p:spPr bwMode="auto">
          <a:xfrm>
            <a:off x="4888359" y="2709764"/>
            <a:ext cx="585788" cy="263525"/>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lt"/>
                <a:ea typeface="宋体"/>
              </a:rPr>
              <a:t>ISIS</a:t>
            </a:r>
          </a:p>
        </p:txBody>
      </p:sp>
      <p:sp>
        <p:nvSpPr>
          <p:cNvPr id="52238" name="Rectangle 11"/>
          <p:cNvSpPr>
            <a:spLocks noChangeArrowheads="1"/>
          </p:cNvSpPr>
          <p:nvPr/>
        </p:nvSpPr>
        <p:spPr bwMode="auto">
          <a:xfrm>
            <a:off x="3753205" y="2249361"/>
            <a:ext cx="590642"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RTA</a:t>
            </a:r>
          </a:p>
        </p:txBody>
      </p:sp>
      <p:sp>
        <p:nvSpPr>
          <p:cNvPr id="52239" name="Rectangle 12"/>
          <p:cNvSpPr>
            <a:spLocks noChangeArrowheads="1"/>
          </p:cNvSpPr>
          <p:nvPr/>
        </p:nvSpPr>
        <p:spPr bwMode="auto">
          <a:xfrm>
            <a:off x="7491860" y="2292251"/>
            <a:ext cx="614238"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RTD</a:t>
            </a:r>
          </a:p>
        </p:txBody>
      </p:sp>
      <p:sp>
        <p:nvSpPr>
          <p:cNvPr id="52240" name="Rectangle 18"/>
          <p:cNvSpPr>
            <a:spLocks noChangeArrowheads="1"/>
          </p:cNvSpPr>
          <p:nvPr/>
        </p:nvSpPr>
        <p:spPr bwMode="auto">
          <a:xfrm>
            <a:off x="5171195" y="2200449"/>
            <a:ext cx="582178"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RTC</a:t>
            </a:r>
          </a:p>
        </p:txBody>
      </p:sp>
      <p:sp>
        <p:nvSpPr>
          <p:cNvPr id="52241" name="Rectangle 19"/>
          <p:cNvSpPr>
            <a:spLocks noChangeArrowheads="1"/>
          </p:cNvSpPr>
          <p:nvPr/>
        </p:nvSpPr>
        <p:spPr bwMode="auto">
          <a:xfrm>
            <a:off x="5718623" y="3084413"/>
            <a:ext cx="605903"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RTB</a:t>
            </a:r>
          </a:p>
        </p:txBody>
      </p:sp>
      <p:sp>
        <p:nvSpPr>
          <p:cNvPr id="52242" name="Line 7"/>
          <p:cNvSpPr>
            <a:spLocks noChangeShapeType="1"/>
          </p:cNvSpPr>
          <p:nvPr/>
        </p:nvSpPr>
        <p:spPr bwMode="auto">
          <a:xfrm>
            <a:off x="8415784" y="2709763"/>
            <a:ext cx="0" cy="287338"/>
          </a:xfrm>
          <a:prstGeom prst="line">
            <a:avLst/>
          </a:prstGeom>
          <a:noFill/>
          <a:ln w="28575">
            <a:solidFill>
              <a:schemeClr val="tx1"/>
            </a:solidFill>
            <a:round/>
            <a:headEnd/>
            <a:tailEnd/>
          </a:ln>
        </p:spPr>
        <p:txBody>
          <a:bodyPr/>
          <a:lstStyle/>
          <a:p>
            <a:endParaRPr lang="en-US" altLang="zh-CN" dirty="0">
              <a:latin typeface="+mn-lt"/>
            </a:endParaRPr>
          </a:p>
        </p:txBody>
      </p:sp>
      <p:sp>
        <p:nvSpPr>
          <p:cNvPr id="52243" name="Rectangle 9"/>
          <p:cNvSpPr>
            <a:spLocks noChangeArrowheads="1"/>
          </p:cNvSpPr>
          <p:nvPr/>
        </p:nvSpPr>
        <p:spPr bwMode="auto">
          <a:xfrm>
            <a:off x="6855272" y="3171317"/>
            <a:ext cx="955949" cy="293149"/>
          </a:xfrm>
          <a:prstGeom prst="rect">
            <a:avLst/>
          </a:prstGeom>
          <a:noFill/>
          <a:ln w="9525">
            <a:noFill/>
            <a:miter lim="800000"/>
            <a:headEnd/>
            <a:tailEnd/>
          </a:ln>
        </p:spPr>
        <p:txBody>
          <a:bodyPr wrap="none" lIns="107433" tIns="53717" rIns="107433" bIns="53717">
            <a:spAutoFit/>
          </a:bodyPr>
          <a:lstStyle/>
          <a:p>
            <a:pPr defTabSz="1066800" eaLnBrk="0" hangingPunct="0">
              <a:buSzPct val="100000"/>
            </a:pPr>
            <a:r>
              <a:rPr lang="en-US" altLang="zh-CN" sz="1200" dirty="0">
                <a:solidFill>
                  <a:srgbClr val="000000"/>
                </a:solidFill>
                <a:latin typeface="+mn-lt"/>
                <a:sym typeface="FrutigerNext LT Regular" pitchFamily="34" charset="0"/>
              </a:rPr>
              <a:t>24.24.24.2</a:t>
            </a:r>
          </a:p>
        </p:txBody>
      </p:sp>
      <p:sp>
        <p:nvSpPr>
          <p:cNvPr id="52248" name="Line 17"/>
          <p:cNvSpPr>
            <a:spLocks noChangeShapeType="1"/>
          </p:cNvSpPr>
          <p:nvPr/>
        </p:nvSpPr>
        <p:spPr bwMode="auto">
          <a:xfrm>
            <a:off x="5751959" y="1412776"/>
            <a:ext cx="0" cy="2736850"/>
          </a:xfrm>
          <a:prstGeom prst="line">
            <a:avLst/>
          </a:prstGeom>
          <a:noFill/>
          <a:ln w="28575">
            <a:solidFill>
              <a:schemeClr val="tx1"/>
            </a:solidFill>
            <a:prstDash val="dash"/>
            <a:round/>
            <a:headEnd/>
            <a:tailEnd/>
          </a:ln>
        </p:spPr>
        <p:txBody>
          <a:bodyPr/>
          <a:lstStyle/>
          <a:p>
            <a:endParaRPr lang="en-US" altLang="zh-CN" dirty="0">
              <a:latin typeface="+mn-lt"/>
            </a:endParaRPr>
          </a:p>
        </p:txBody>
      </p:sp>
      <p:sp>
        <p:nvSpPr>
          <p:cNvPr id="43" name="AutoShape 17"/>
          <p:cNvSpPr>
            <a:spLocks noChangeArrowheads="1"/>
          </p:cNvSpPr>
          <p:nvPr/>
        </p:nvSpPr>
        <p:spPr bwMode="auto">
          <a:xfrm>
            <a:off x="6839398" y="1471709"/>
            <a:ext cx="1848891" cy="442816"/>
          </a:xfrm>
          <a:prstGeom prst="roundRect">
            <a:avLst>
              <a:gd name="adj" fmla="val 0"/>
            </a:avLst>
          </a:prstGeom>
          <a:solidFill>
            <a:schemeClr val="bg1">
              <a:lumMod val="85000"/>
            </a:schemeClr>
          </a:solidFill>
          <a:ln w="12700" algn="ctr">
            <a:noFill/>
            <a:round/>
            <a:headEnd/>
            <a:tailEnd/>
          </a:ln>
          <a:effectLst/>
        </p:spPr>
        <p:txBody>
          <a:bodyPr lIns="0" tIns="0" rIns="0" bIns="0" anchor="ctr" anchorCtr="1">
            <a:noAutofit/>
          </a:bodyPr>
          <a:lstStyle/>
          <a:p>
            <a:pPr defTabSz="784225" eaLnBrk="0" hangingPunct="0">
              <a:lnSpc>
                <a:spcPct val="60000"/>
              </a:lnSpc>
              <a:spcBef>
                <a:spcPct val="20000"/>
              </a:spcBef>
              <a:spcAft>
                <a:spcPct val="20000"/>
              </a:spcAft>
              <a:buSzPct val="100000"/>
              <a:defRPr/>
            </a:pPr>
            <a:r>
              <a:rPr lang="en-US" altLang="zh-CN" sz="1200" b="1" dirty="0">
                <a:solidFill>
                  <a:srgbClr val="000000"/>
                </a:solidFill>
                <a:latin typeface="+mn-lt"/>
                <a:cs typeface="Courier New" panose="02070309020205020404" pitchFamily="49" charset="0"/>
                <a:sym typeface="FrutigerNext LT Regular" pitchFamily="34" charset="0"/>
              </a:rPr>
              <a:t>isis 1      </a:t>
            </a:r>
          </a:p>
          <a:p>
            <a:pPr defTabSz="784225" eaLnBrk="0" hangingPunct="0">
              <a:lnSpc>
                <a:spcPct val="60000"/>
              </a:lnSpc>
              <a:spcBef>
                <a:spcPct val="20000"/>
              </a:spcBef>
              <a:spcAft>
                <a:spcPct val="20000"/>
              </a:spcAft>
              <a:buSzPct val="100000"/>
              <a:defRPr/>
            </a:pPr>
            <a:r>
              <a:rPr lang="en-US" altLang="zh-CN" sz="1200" b="1" dirty="0">
                <a:solidFill>
                  <a:srgbClr val="000000"/>
                </a:solidFill>
                <a:latin typeface="+mn-lt"/>
                <a:cs typeface="Courier New" panose="02070309020205020404" pitchFamily="49" charset="0"/>
                <a:sym typeface="FrutigerNext LT Regular" pitchFamily="34" charset="0"/>
              </a:rPr>
              <a:t> </a:t>
            </a:r>
            <a:r>
              <a:rPr lang="en-US" altLang="zh-CN" sz="1200" b="1" dirty="0">
                <a:solidFill>
                  <a:srgbClr val="C00000"/>
                </a:solidFill>
                <a:latin typeface="+mn-lt"/>
                <a:cs typeface="Courier New" panose="02070309020205020404" pitchFamily="49" charset="0"/>
                <a:sym typeface="FrutigerNext LT Regular" pitchFamily="34" charset="0"/>
              </a:rPr>
              <a:t>import-route rip 1</a:t>
            </a:r>
          </a:p>
        </p:txBody>
      </p:sp>
      <p:pic>
        <p:nvPicPr>
          <p:cNvPr id="3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739548" y="2607524"/>
            <a:ext cx="628652" cy="514351"/>
          </a:xfrm>
          <a:prstGeom prst="rect">
            <a:avLst/>
          </a:prstGeom>
          <a:noFill/>
        </p:spPr>
      </p:pic>
      <p:pic>
        <p:nvPicPr>
          <p:cNvPr id="3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387420" y="1665198"/>
            <a:ext cx="628652" cy="514351"/>
          </a:xfrm>
          <a:prstGeom prst="rect">
            <a:avLst/>
          </a:prstGeom>
          <a:noFill/>
        </p:spPr>
      </p:pic>
      <p:pic>
        <p:nvPicPr>
          <p:cNvPr id="3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387420" y="3453643"/>
            <a:ext cx="628652" cy="514351"/>
          </a:xfrm>
          <a:prstGeom prst="rect">
            <a:avLst/>
          </a:prstGeom>
          <a:noFill/>
        </p:spPr>
      </p:pic>
      <p:pic>
        <p:nvPicPr>
          <p:cNvPr id="3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397563" y="2560736"/>
            <a:ext cx="628652" cy="514351"/>
          </a:xfrm>
          <a:prstGeom prst="rect">
            <a:avLst/>
          </a:prstGeom>
          <a:noFill/>
        </p:spPr>
      </p:pic>
      <p:sp>
        <p:nvSpPr>
          <p:cNvPr id="34" name="AutoShape 17"/>
          <p:cNvSpPr>
            <a:spLocks noChangeArrowheads="1"/>
          </p:cNvSpPr>
          <p:nvPr/>
        </p:nvSpPr>
        <p:spPr bwMode="auto">
          <a:xfrm>
            <a:off x="4013614" y="5495968"/>
            <a:ext cx="6510878" cy="654667"/>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defTabSz="784225" fontAlgn="base">
              <a:lnSpc>
                <a:spcPct val="60000"/>
              </a:lnSpc>
              <a:spcBef>
                <a:spcPct val="20000"/>
              </a:spcBef>
              <a:spcAft>
                <a:spcPct val="20000"/>
              </a:spcAft>
              <a:buClr>
                <a:srgbClr val="990000"/>
              </a:buClr>
              <a:buSzPct val="85000"/>
            </a:pPr>
            <a:r>
              <a:rPr lang="en-US" altLang="zh-CN" sz="1400" b="1" dirty="0">
                <a:latin typeface="+mn-lt"/>
                <a:ea typeface="+mn-ea"/>
              </a:rPr>
              <a:t>display </a:t>
            </a:r>
            <a:r>
              <a:rPr lang="en-US" altLang="zh-CN" sz="1400" b="1" dirty="0" err="1">
                <a:latin typeface="+mn-lt"/>
                <a:ea typeface="+mn-ea"/>
              </a:rPr>
              <a:t>ip</a:t>
            </a:r>
            <a:r>
              <a:rPr lang="en-US" altLang="zh-CN" sz="1400" b="1" dirty="0">
                <a:latin typeface="+mn-lt"/>
                <a:ea typeface="+mn-ea"/>
              </a:rPr>
              <a:t> routing-table</a:t>
            </a:r>
          </a:p>
          <a:p>
            <a:pPr defTabSz="784225" fontAlgn="base">
              <a:lnSpc>
                <a:spcPct val="60000"/>
              </a:lnSpc>
              <a:spcBef>
                <a:spcPct val="20000"/>
              </a:spcBef>
              <a:spcAft>
                <a:spcPct val="20000"/>
              </a:spcAft>
              <a:buClr>
                <a:srgbClr val="990000"/>
              </a:buClr>
              <a:buSzPct val="85000"/>
            </a:pPr>
            <a:r>
              <a:rPr lang="en-US" altLang="zh-CN" sz="1400" dirty="0" smtClean="0">
                <a:latin typeface="+mn-lt"/>
                <a:ea typeface="+mn-ea"/>
              </a:rPr>
              <a:t>Destination/Mask	Proto	Pre	Cost	</a:t>
            </a:r>
            <a:r>
              <a:rPr lang="en-US" altLang="zh-CN" sz="1400" dirty="0" err="1" smtClean="0">
                <a:latin typeface="+mn-lt"/>
                <a:ea typeface="+mn-ea"/>
              </a:rPr>
              <a:t>NextHop</a:t>
            </a:r>
            <a:r>
              <a:rPr lang="en-US" altLang="zh-CN" sz="1400" dirty="0" smtClean="0">
                <a:latin typeface="+mn-lt"/>
                <a:ea typeface="+mn-ea"/>
              </a:rPr>
              <a:t>		Interface</a:t>
            </a:r>
            <a:endParaRPr lang="en-US" altLang="zh-CN" sz="1400" dirty="0">
              <a:latin typeface="+mn-lt"/>
              <a:ea typeface="+mn-ea"/>
            </a:endParaRPr>
          </a:p>
          <a:p>
            <a:pPr defTabSz="784225" fontAlgn="base">
              <a:lnSpc>
                <a:spcPct val="60000"/>
              </a:lnSpc>
              <a:spcBef>
                <a:spcPct val="20000"/>
              </a:spcBef>
              <a:spcAft>
                <a:spcPct val="20000"/>
              </a:spcAft>
              <a:buClr>
                <a:srgbClr val="990000"/>
              </a:buClr>
              <a:buSzPct val="85000"/>
            </a:pPr>
            <a:r>
              <a:rPr lang="en-US" altLang="zh-CN" sz="1400" dirty="0" smtClean="0">
                <a:solidFill>
                  <a:srgbClr val="C00000"/>
                </a:solidFill>
                <a:latin typeface="+mn-lt"/>
                <a:ea typeface="+mn-ea"/>
              </a:rPr>
              <a:t>2.0.0.0/8		RIP	100	1	24.24.24.2	Serial1</a:t>
            </a:r>
            <a:endParaRPr lang="en-US" altLang="zh-CN" sz="1400" dirty="0">
              <a:solidFill>
                <a:srgbClr val="C00000"/>
              </a:solidFill>
              <a:latin typeface="+mn-lt"/>
              <a:ea typeface="+mn-ea"/>
            </a:endParaRPr>
          </a:p>
        </p:txBody>
      </p:sp>
      <p:sp>
        <p:nvSpPr>
          <p:cNvPr id="35" name="AutoShape 17"/>
          <p:cNvSpPr>
            <a:spLocks noChangeArrowheads="1"/>
          </p:cNvSpPr>
          <p:nvPr/>
        </p:nvSpPr>
        <p:spPr bwMode="auto">
          <a:xfrm>
            <a:off x="1799222" y="4339041"/>
            <a:ext cx="4404791" cy="1085555"/>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defTabSz="784225" fontAlgn="base">
              <a:lnSpc>
                <a:spcPct val="60000"/>
              </a:lnSpc>
              <a:spcBef>
                <a:spcPct val="20000"/>
              </a:spcBef>
              <a:spcAft>
                <a:spcPct val="20000"/>
              </a:spcAft>
              <a:buClr>
                <a:srgbClr val="990000"/>
              </a:buClr>
              <a:buSzPct val="85000"/>
            </a:pPr>
            <a:r>
              <a:rPr lang="en-US" altLang="zh-CN" sz="1400" b="1" dirty="0" err="1">
                <a:latin typeface="+mn-lt"/>
                <a:ea typeface="+mn-ea"/>
              </a:rPr>
              <a:t>acl</a:t>
            </a:r>
            <a:r>
              <a:rPr lang="en-US" altLang="zh-CN" sz="1400" b="1" dirty="0">
                <a:latin typeface="+mn-lt"/>
                <a:ea typeface="+mn-ea"/>
              </a:rPr>
              <a:t> 2001</a:t>
            </a:r>
          </a:p>
          <a:p>
            <a:pPr defTabSz="784225" fontAlgn="base">
              <a:lnSpc>
                <a:spcPct val="60000"/>
              </a:lnSpc>
              <a:spcBef>
                <a:spcPct val="20000"/>
              </a:spcBef>
              <a:spcAft>
                <a:spcPct val="20000"/>
              </a:spcAft>
              <a:buClr>
                <a:srgbClr val="990000"/>
              </a:buClr>
              <a:buSzPct val="85000"/>
            </a:pPr>
            <a:r>
              <a:rPr lang="en-US" altLang="zh-CN" sz="1400" b="1" dirty="0">
                <a:latin typeface="+mn-lt"/>
                <a:ea typeface="+mn-ea"/>
              </a:rPr>
              <a:t> rule 5 </a:t>
            </a:r>
            <a:r>
              <a:rPr lang="en-US" altLang="zh-CN" sz="1400" b="1" dirty="0">
                <a:solidFill>
                  <a:srgbClr val="C00000"/>
                </a:solidFill>
                <a:latin typeface="+mn-lt"/>
                <a:ea typeface="+mn-ea"/>
              </a:rPr>
              <a:t>deny</a:t>
            </a:r>
            <a:r>
              <a:rPr lang="en-US" altLang="zh-CN" sz="1400" b="1" dirty="0">
                <a:latin typeface="+mn-lt"/>
                <a:ea typeface="+mn-ea"/>
              </a:rPr>
              <a:t> source 2.0.0.0 0.255.255.255</a:t>
            </a:r>
          </a:p>
          <a:p>
            <a:pPr defTabSz="784225" fontAlgn="base">
              <a:lnSpc>
                <a:spcPct val="60000"/>
              </a:lnSpc>
              <a:spcBef>
                <a:spcPct val="20000"/>
              </a:spcBef>
              <a:spcAft>
                <a:spcPct val="20000"/>
              </a:spcAft>
              <a:buClr>
                <a:srgbClr val="990000"/>
              </a:buClr>
              <a:buSzPct val="85000"/>
            </a:pPr>
            <a:r>
              <a:rPr lang="en-US" altLang="zh-CN" sz="1400" b="1" dirty="0">
                <a:latin typeface="+mn-lt"/>
                <a:ea typeface="+mn-ea"/>
              </a:rPr>
              <a:t> rule 10 permit</a:t>
            </a:r>
          </a:p>
          <a:p>
            <a:pPr defTabSz="784225" fontAlgn="base">
              <a:lnSpc>
                <a:spcPct val="60000"/>
              </a:lnSpc>
              <a:spcBef>
                <a:spcPct val="20000"/>
              </a:spcBef>
              <a:spcAft>
                <a:spcPct val="20000"/>
              </a:spcAft>
              <a:buClr>
                <a:srgbClr val="990000"/>
              </a:buClr>
              <a:buSzPct val="85000"/>
            </a:pPr>
            <a:r>
              <a:rPr lang="en-US" altLang="zh-CN" sz="1400" b="1" dirty="0">
                <a:latin typeface="+mn-lt"/>
                <a:ea typeface="+mn-ea"/>
              </a:rPr>
              <a:t>isis 1</a:t>
            </a:r>
          </a:p>
          <a:p>
            <a:pPr defTabSz="784225" fontAlgn="base">
              <a:lnSpc>
                <a:spcPct val="60000"/>
              </a:lnSpc>
              <a:spcBef>
                <a:spcPct val="20000"/>
              </a:spcBef>
              <a:spcAft>
                <a:spcPct val="20000"/>
              </a:spcAft>
              <a:buClr>
                <a:srgbClr val="990000"/>
              </a:buClr>
              <a:buSzPct val="85000"/>
            </a:pPr>
            <a:r>
              <a:rPr lang="en-US" altLang="zh-CN" sz="1400" b="1" dirty="0">
                <a:solidFill>
                  <a:srgbClr val="C00000"/>
                </a:solidFill>
                <a:latin typeface="+mn-lt"/>
                <a:ea typeface="+mn-ea"/>
              </a:rPr>
              <a:t> filter-policy 2001 import</a:t>
            </a:r>
          </a:p>
        </p:txBody>
      </p:sp>
    </p:spTree>
    <p:extLst>
      <p:ext uri="{BB962C8B-B14F-4D97-AF65-F5344CB8AC3E}">
        <p14:creationId xmlns:p14="http://schemas.microsoft.com/office/powerpoint/2010/main" val="35779101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t>Solution 2: Adjust Protocol Priorities</a:t>
            </a:r>
            <a:endParaRPr lang="zh-CN" altLang="en-US" dirty="0"/>
          </a:p>
        </p:txBody>
      </p:sp>
      <p:grpSp>
        <p:nvGrpSpPr>
          <p:cNvPr id="30" name="组合 29"/>
          <p:cNvGrpSpPr/>
          <p:nvPr/>
        </p:nvGrpSpPr>
        <p:grpSpPr>
          <a:xfrm>
            <a:off x="2801867" y="1605654"/>
            <a:ext cx="7398589" cy="4228791"/>
            <a:chOff x="2801867" y="1605654"/>
            <a:chExt cx="7398589" cy="4228791"/>
          </a:xfrm>
        </p:grpSpPr>
        <p:cxnSp>
          <p:nvCxnSpPr>
            <p:cNvPr id="33" name="直接连接符 32"/>
            <p:cNvCxnSpPr/>
            <p:nvPr/>
          </p:nvCxnSpPr>
          <p:spPr bwMode="auto">
            <a:xfrm flipH="1">
              <a:off x="5212667" y="1842367"/>
              <a:ext cx="1371841" cy="267791"/>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4" name="直接连接符 33"/>
            <p:cNvCxnSpPr/>
            <p:nvPr/>
          </p:nvCxnSpPr>
          <p:spPr bwMode="auto">
            <a:xfrm>
              <a:off x="5026085" y="3753512"/>
              <a:ext cx="1323436" cy="1430933"/>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6" name="直接连接符 35"/>
            <p:cNvCxnSpPr/>
            <p:nvPr/>
          </p:nvCxnSpPr>
          <p:spPr bwMode="auto">
            <a:xfrm flipH="1">
              <a:off x="3915971" y="3938293"/>
              <a:ext cx="1218705" cy="942575"/>
            </a:xfrm>
            <a:prstGeom prst="line">
              <a:avLst/>
            </a:prstGeom>
            <a:solidFill>
              <a:schemeClr val="accent1"/>
            </a:solidFill>
            <a:ln w="28575" cap="flat" cmpd="sng" algn="ctr">
              <a:solidFill>
                <a:srgbClr val="C00000"/>
              </a:solidFill>
              <a:prstDash val="sysDot"/>
              <a:round/>
              <a:headEnd type="none" w="med" len="med"/>
              <a:tailEnd type="none" w="med" len="med"/>
            </a:ln>
            <a:effectLst/>
          </p:spPr>
        </p:cxnSp>
        <p:sp>
          <p:nvSpPr>
            <p:cNvPr id="37" name="Line 3"/>
            <p:cNvSpPr>
              <a:spLocks noChangeShapeType="1"/>
            </p:cNvSpPr>
            <p:nvPr/>
          </p:nvSpPr>
          <p:spPr bwMode="auto">
            <a:xfrm flipV="1">
              <a:off x="3568397" y="2239132"/>
              <a:ext cx="1295400" cy="739775"/>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38" name="Line 4"/>
            <p:cNvSpPr>
              <a:spLocks noChangeShapeType="1"/>
            </p:cNvSpPr>
            <p:nvPr/>
          </p:nvSpPr>
          <p:spPr bwMode="auto">
            <a:xfrm>
              <a:off x="5438161" y="2203419"/>
              <a:ext cx="1462399" cy="715163"/>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39" name="Line 5"/>
            <p:cNvSpPr>
              <a:spLocks noChangeShapeType="1"/>
            </p:cNvSpPr>
            <p:nvPr/>
          </p:nvSpPr>
          <p:spPr bwMode="auto">
            <a:xfrm flipV="1">
              <a:off x="5438161" y="3164642"/>
              <a:ext cx="1524312" cy="788378"/>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0" name="Line 6"/>
            <p:cNvSpPr>
              <a:spLocks noChangeShapeType="1"/>
            </p:cNvSpPr>
            <p:nvPr/>
          </p:nvSpPr>
          <p:spPr bwMode="auto">
            <a:xfrm>
              <a:off x="3508072" y="3224968"/>
              <a:ext cx="1293812" cy="679450"/>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1" name="Line 7"/>
            <p:cNvSpPr>
              <a:spLocks noChangeShapeType="1"/>
            </p:cNvSpPr>
            <p:nvPr/>
          </p:nvSpPr>
          <p:spPr bwMode="auto">
            <a:xfrm>
              <a:off x="7500836" y="3104963"/>
              <a:ext cx="324000" cy="0"/>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2" name="Text Box 8"/>
            <p:cNvSpPr txBox="1">
              <a:spLocks noChangeArrowheads="1"/>
            </p:cNvSpPr>
            <p:nvPr/>
          </p:nvSpPr>
          <p:spPr bwMode="auto">
            <a:xfrm>
              <a:off x="7831579" y="2912429"/>
              <a:ext cx="1558925" cy="336550"/>
            </a:xfrm>
            <a:prstGeom prst="rect">
              <a:avLst/>
            </a:prstGeom>
            <a:noFill/>
            <a:ln w="9525">
              <a:noFill/>
              <a:miter lim="800000"/>
              <a:headEnd/>
              <a:tailEnd/>
            </a:ln>
          </p:spPr>
          <p:txBody>
            <a:bodyPr lIns="91424" tIns="45712" rIns="91424" bIns="45712">
              <a:spAutoFit/>
            </a:bodyPr>
            <a:lstStyle/>
            <a:p>
              <a:pPr fontAlgn="base">
                <a:spcBef>
                  <a:spcPct val="50000"/>
                </a:spcBef>
              </a:pPr>
              <a:r>
                <a:rPr lang="en-US" altLang="zh-CN" sz="1600" b="1" dirty="0">
                  <a:latin typeface="+mn-ea"/>
                  <a:ea typeface="+mn-ea"/>
                </a:rPr>
                <a:t>Lo0:2.2.2.2</a:t>
              </a:r>
            </a:p>
          </p:txBody>
        </p:sp>
        <p:sp>
          <p:nvSpPr>
            <p:cNvPr id="43" name="Rectangle 11"/>
            <p:cNvSpPr>
              <a:spLocks noChangeArrowheads="1"/>
            </p:cNvSpPr>
            <p:nvPr/>
          </p:nvSpPr>
          <p:spPr bwMode="auto">
            <a:xfrm>
              <a:off x="3079050" y="2528899"/>
              <a:ext cx="590642"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RTA</a:t>
              </a:r>
            </a:p>
          </p:txBody>
        </p:sp>
        <p:sp>
          <p:nvSpPr>
            <p:cNvPr id="44" name="Rectangle 12"/>
            <p:cNvSpPr>
              <a:spLocks noChangeArrowheads="1"/>
            </p:cNvSpPr>
            <p:nvPr/>
          </p:nvSpPr>
          <p:spPr bwMode="auto">
            <a:xfrm>
              <a:off x="6933167" y="2492895"/>
              <a:ext cx="614238"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RTD</a:t>
              </a:r>
            </a:p>
          </p:txBody>
        </p:sp>
        <p:sp>
          <p:nvSpPr>
            <p:cNvPr id="45" name="Rectangle 18"/>
            <p:cNvSpPr>
              <a:spLocks noChangeArrowheads="1"/>
            </p:cNvSpPr>
            <p:nvPr/>
          </p:nvSpPr>
          <p:spPr bwMode="auto">
            <a:xfrm>
              <a:off x="4224107" y="1832756"/>
              <a:ext cx="582178"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RTC</a:t>
              </a:r>
            </a:p>
          </p:txBody>
        </p:sp>
        <p:sp>
          <p:nvSpPr>
            <p:cNvPr id="46" name="Rectangle 19"/>
            <p:cNvSpPr>
              <a:spLocks noChangeArrowheads="1"/>
            </p:cNvSpPr>
            <p:nvPr/>
          </p:nvSpPr>
          <p:spPr bwMode="auto">
            <a:xfrm>
              <a:off x="5300803" y="3401338"/>
              <a:ext cx="605903"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RTB</a:t>
              </a:r>
            </a:p>
          </p:txBody>
        </p:sp>
        <p:sp>
          <p:nvSpPr>
            <p:cNvPr id="47" name="Line 7"/>
            <p:cNvSpPr>
              <a:spLocks noChangeShapeType="1"/>
            </p:cNvSpPr>
            <p:nvPr/>
          </p:nvSpPr>
          <p:spPr bwMode="auto">
            <a:xfrm>
              <a:off x="7831578" y="2960947"/>
              <a:ext cx="0" cy="288032"/>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8" name="Rectangle 9"/>
            <p:cNvSpPr>
              <a:spLocks noChangeArrowheads="1"/>
            </p:cNvSpPr>
            <p:nvPr/>
          </p:nvSpPr>
          <p:spPr bwMode="auto">
            <a:xfrm>
              <a:off x="6344761" y="3393105"/>
              <a:ext cx="1087395" cy="323927"/>
            </a:xfrm>
            <a:prstGeom prst="rect">
              <a:avLst/>
            </a:prstGeom>
            <a:noFill/>
            <a:ln w="9525">
              <a:noFill/>
              <a:miter lim="800000"/>
              <a:headEnd/>
              <a:tailEnd/>
            </a:ln>
          </p:spPr>
          <p:txBody>
            <a:bodyPr wrap="none" lIns="107433" tIns="53717" rIns="107433" bIns="53717">
              <a:spAutoFit/>
            </a:bodyPr>
            <a:lstStyle/>
            <a:p>
              <a:pPr defTabSz="1066800" eaLnBrk="0" fontAlgn="base" hangingPunct="0"/>
              <a:r>
                <a:rPr lang="en-GB" altLang="zh-CN" sz="1400" dirty="0">
                  <a:latin typeface="+mn-ea"/>
                  <a:ea typeface="+mn-ea"/>
                </a:rPr>
                <a:t>24.24.24.2</a:t>
              </a:r>
              <a:endParaRPr lang="zh-CN" altLang="en-GB" sz="1400" dirty="0">
                <a:latin typeface="+mn-ea"/>
                <a:ea typeface="+mn-ea"/>
              </a:endParaRPr>
            </a:p>
          </p:txBody>
        </p:sp>
        <p:sp>
          <p:nvSpPr>
            <p:cNvPr id="49" name="WordArt 9"/>
            <p:cNvSpPr>
              <a:spLocks noChangeAspect="1" noChangeArrowheads="1" noChangeShapeType="1" noTextEdit="1"/>
            </p:cNvSpPr>
            <p:nvPr/>
          </p:nvSpPr>
          <p:spPr bwMode="auto">
            <a:xfrm>
              <a:off x="5496762" y="2877347"/>
              <a:ext cx="563879" cy="253460"/>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ea"/>
                  <a:ea typeface="+mn-ea"/>
                </a:rPr>
                <a:t>RIP</a:t>
              </a:r>
              <a:endParaRPr lang="zh-CN" altLang="en-US" sz="3600" kern="10" dirty="0">
                <a:ln w="9525">
                  <a:solidFill>
                    <a:srgbClr val="000000"/>
                  </a:solidFill>
                  <a:round/>
                  <a:headEnd/>
                  <a:tailEnd/>
                </a:ln>
                <a:solidFill>
                  <a:srgbClr val="FFFFFF"/>
                </a:solidFill>
                <a:latin typeface="+mn-ea"/>
                <a:ea typeface="+mn-ea"/>
              </a:endParaRPr>
            </a:p>
          </p:txBody>
        </p:sp>
        <p:sp>
          <p:nvSpPr>
            <p:cNvPr id="50" name="WordArt 10"/>
            <p:cNvSpPr>
              <a:spLocks noChangeAspect="1" noChangeArrowheads="1" noChangeShapeType="1" noTextEdit="1"/>
            </p:cNvSpPr>
            <p:nvPr/>
          </p:nvSpPr>
          <p:spPr bwMode="auto">
            <a:xfrm>
              <a:off x="4272625" y="2877348"/>
              <a:ext cx="586484" cy="263621"/>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ea"/>
                  <a:ea typeface="+mn-ea"/>
                </a:rPr>
                <a:t>ISIS</a:t>
              </a:r>
              <a:endParaRPr lang="zh-CN" altLang="en-US" sz="3600" kern="10" dirty="0">
                <a:ln w="9525">
                  <a:solidFill>
                    <a:srgbClr val="000000"/>
                  </a:solidFill>
                  <a:round/>
                  <a:headEnd/>
                  <a:tailEnd/>
                </a:ln>
                <a:solidFill>
                  <a:srgbClr val="FFFFFF"/>
                </a:solidFill>
                <a:latin typeface="+mn-ea"/>
                <a:ea typeface="+mn-ea"/>
              </a:endParaRPr>
            </a:p>
          </p:txBody>
        </p:sp>
        <p:sp>
          <p:nvSpPr>
            <p:cNvPr id="51" name="AutoShape 17"/>
            <p:cNvSpPr>
              <a:spLocks noChangeArrowheads="1"/>
            </p:cNvSpPr>
            <p:nvPr/>
          </p:nvSpPr>
          <p:spPr bwMode="auto">
            <a:xfrm>
              <a:off x="2801867" y="4579436"/>
              <a:ext cx="1836000"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fontAlgn="base">
                <a:lnSpc>
                  <a:spcPct val="60000"/>
                </a:lnSpc>
                <a:spcBef>
                  <a:spcPct val="20000"/>
                </a:spcBef>
                <a:spcAft>
                  <a:spcPct val="20000"/>
                </a:spcAft>
              </a:pPr>
              <a:r>
                <a:rPr kumimoji="1" lang="en-US" altLang="zh-CN" sz="1400" b="1" dirty="0">
                  <a:latin typeface="+mn-ea"/>
                  <a:ea typeface="+mn-ea"/>
                </a:rPr>
                <a:t>isis 1</a:t>
              </a:r>
            </a:p>
            <a:p>
              <a:pPr fontAlgn="base">
                <a:lnSpc>
                  <a:spcPct val="60000"/>
                </a:lnSpc>
                <a:spcBef>
                  <a:spcPct val="20000"/>
                </a:spcBef>
                <a:spcAft>
                  <a:spcPct val="20000"/>
                </a:spcAft>
              </a:pPr>
              <a:r>
                <a:rPr kumimoji="1" lang="en-US" altLang="zh-CN" sz="1400" b="1" dirty="0">
                  <a:latin typeface="+mn-ea"/>
                  <a:ea typeface="+mn-ea"/>
                </a:rPr>
                <a:t> </a:t>
              </a:r>
              <a:r>
                <a:rPr kumimoji="1" lang="en-US" altLang="zh-CN" sz="1400" b="1" dirty="0">
                  <a:solidFill>
                    <a:srgbClr val="C00000"/>
                  </a:solidFill>
                  <a:latin typeface="+mn-ea"/>
                  <a:ea typeface="+mn-ea"/>
                </a:rPr>
                <a:t>preference 150</a:t>
              </a:r>
            </a:p>
          </p:txBody>
        </p:sp>
        <p:sp>
          <p:nvSpPr>
            <p:cNvPr id="52" name="AutoShape 17"/>
            <p:cNvSpPr>
              <a:spLocks noChangeArrowheads="1"/>
            </p:cNvSpPr>
            <p:nvPr/>
          </p:nvSpPr>
          <p:spPr bwMode="auto">
            <a:xfrm>
              <a:off x="3648372" y="5179778"/>
              <a:ext cx="6552084" cy="654667"/>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fontAlgn="base">
                <a:lnSpc>
                  <a:spcPct val="60000"/>
                </a:lnSpc>
                <a:spcBef>
                  <a:spcPct val="20000"/>
                </a:spcBef>
                <a:spcAft>
                  <a:spcPct val="20000"/>
                </a:spcAft>
              </a:pPr>
              <a:r>
                <a:rPr kumimoji="1" lang="en-US" altLang="zh-CN" sz="1400" b="1" dirty="0">
                  <a:latin typeface="+mn-ea"/>
                  <a:ea typeface="+mn-ea"/>
                </a:rPr>
                <a:t>display </a:t>
              </a:r>
              <a:r>
                <a:rPr kumimoji="1" lang="en-US" altLang="zh-CN" sz="1400" b="1" dirty="0" err="1">
                  <a:latin typeface="+mn-ea"/>
                  <a:ea typeface="+mn-ea"/>
                </a:rPr>
                <a:t>ip</a:t>
              </a:r>
              <a:r>
                <a:rPr kumimoji="1" lang="en-US" altLang="zh-CN" sz="1400" b="1" dirty="0">
                  <a:latin typeface="+mn-ea"/>
                  <a:ea typeface="+mn-ea"/>
                </a:rPr>
                <a:t> routing-table</a:t>
              </a:r>
            </a:p>
            <a:p>
              <a:pPr fontAlgn="base">
                <a:lnSpc>
                  <a:spcPct val="60000"/>
                </a:lnSpc>
                <a:spcBef>
                  <a:spcPct val="20000"/>
                </a:spcBef>
                <a:spcAft>
                  <a:spcPct val="20000"/>
                </a:spcAft>
              </a:pPr>
              <a:r>
                <a:rPr kumimoji="1" lang="en-US" altLang="zh-CN" sz="1400" dirty="0" smtClean="0">
                  <a:latin typeface="+mn-ea"/>
                  <a:ea typeface="+mn-ea"/>
                </a:rPr>
                <a:t>Destination/Mask	Proto	Pre	Cost	</a:t>
              </a:r>
              <a:r>
                <a:rPr kumimoji="1" lang="en-US" altLang="zh-CN" sz="1400" dirty="0" err="1" smtClean="0">
                  <a:latin typeface="+mn-ea"/>
                  <a:ea typeface="+mn-ea"/>
                </a:rPr>
                <a:t>NextHop</a:t>
              </a:r>
              <a:r>
                <a:rPr kumimoji="1" lang="en-US" altLang="zh-CN" sz="1400" dirty="0" smtClean="0">
                  <a:latin typeface="+mn-ea"/>
                  <a:ea typeface="+mn-ea"/>
                </a:rPr>
                <a:t>     </a:t>
              </a:r>
              <a:r>
                <a:rPr kumimoji="1" lang="en-US" altLang="zh-CN" sz="1400" dirty="0">
                  <a:latin typeface="+mn-ea"/>
                  <a:ea typeface="+mn-ea"/>
                </a:rPr>
                <a:t>Interface</a:t>
              </a:r>
            </a:p>
            <a:p>
              <a:pPr fontAlgn="base">
                <a:lnSpc>
                  <a:spcPct val="60000"/>
                </a:lnSpc>
                <a:spcBef>
                  <a:spcPct val="20000"/>
                </a:spcBef>
                <a:spcAft>
                  <a:spcPct val="20000"/>
                </a:spcAft>
              </a:pPr>
              <a:r>
                <a:rPr kumimoji="1" lang="en-US" altLang="zh-CN" sz="1400" dirty="0" smtClean="0">
                  <a:solidFill>
                    <a:srgbClr val="C00000"/>
                  </a:solidFill>
                  <a:latin typeface="+mn-ea"/>
                  <a:ea typeface="+mn-ea"/>
                </a:rPr>
                <a:t>2.0.0.0/8		RIP	100	1	24.24.24.2	  Serial1</a:t>
              </a:r>
              <a:endParaRPr kumimoji="1" lang="en-US" altLang="zh-CN" sz="1400" dirty="0">
                <a:solidFill>
                  <a:srgbClr val="C00000"/>
                </a:solidFill>
                <a:latin typeface="+mn-ea"/>
                <a:ea typeface="+mn-ea"/>
              </a:endParaRPr>
            </a:p>
          </p:txBody>
        </p:sp>
        <p:sp>
          <p:nvSpPr>
            <p:cNvPr id="53" name="AutoShape 17"/>
            <p:cNvSpPr>
              <a:spLocks noChangeArrowheads="1"/>
            </p:cNvSpPr>
            <p:nvPr/>
          </p:nvSpPr>
          <p:spPr bwMode="auto">
            <a:xfrm>
              <a:off x="6232160" y="1605654"/>
              <a:ext cx="2332808"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isis 1      </a:t>
              </a:r>
            </a:p>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 </a:t>
              </a:r>
              <a:r>
                <a:rPr lang="en-US" altLang="zh-CN" sz="1400" b="1" dirty="0">
                  <a:solidFill>
                    <a:srgbClr val="C00000"/>
                  </a:solidFill>
                  <a:latin typeface="+mn-ea"/>
                  <a:ea typeface="+mn-ea"/>
                </a:rPr>
                <a:t>import-route rip 1</a:t>
              </a:r>
            </a:p>
          </p:txBody>
        </p:sp>
        <p:pic>
          <p:nvPicPr>
            <p:cNvPr id="5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842854" y="1918021"/>
              <a:ext cx="628652" cy="514351"/>
            </a:xfrm>
            <a:prstGeom prst="rect">
              <a:avLst/>
            </a:prstGeom>
            <a:noFill/>
          </p:spPr>
        </p:pic>
        <p:pic>
          <p:nvPicPr>
            <p:cNvPr id="5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009398" y="2936824"/>
              <a:ext cx="628652" cy="514351"/>
            </a:xfrm>
            <a:prstGeom prst="rect">
              <a:avLst/>
            </a:prstGeom>
            <a:noFill/>
          </p:spPr>
        </p:pic>
        <p:pic>
          <p:nvPicPr>
            <p:cNvPr id="5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842854" y="3738433"/>
              <a:ext cx="628652" cy="514351"/>
            </a:xfrm>
            <a:prstGeom prst="rect">
              <a:avLst/>
            </a:prstGeom>
            <a:noFill/>
          </p:spPr>
        </p:pic>
        <p:pic>
          <p:nvPicPr>
            <p:cNvPr id="5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900560" y="2847787"/>
              <a:ext cx="628652" cy="514351"/>
            </a:xfrm>
            <a:prstGeom prst="rect">
              <a:avLst/>
            </a:prstGeom>
            <a:noFill/>
          </p:spPr>
        </p:pic>
        <p:sp>
          <p:nvSpPr>
            <p:cNvPr id="58" name="Line 17"/>
            <p:cNvSpPr>
              <a:spLocks noChangeShapeType="1"/>
            </p:cNvSpPr>
            <p:nvPr/>
          </p:nvSpPr>
          <p:spPr bwMode="auto">
            <a:xfrm>
              <a:off x="5167282" y="1664805"/>
              <a:ext cx="0" cy="2736303"/>
            </a:xfrm>
            <a:prstGeom prst="line">
              <a:avLst/>
            </a:prstGeom>
            <a:noFill/>
            <a:ln w="28575">
              <a:solidFill>
                <a:schemeClr val="tx1"/>
              </a:solidFill>
              <a:prstDash val="dash"/>
              <a:round/>
              <a:headEnd/>
              <a:tailEnd/>
            </a:ln>
          </p:spPr>
          <p:txBody>
            <a:bodyPr/>
            <a:lstStyle/>
            <a:p>
              <a:endParaRPr lang="zh-CN" altLang="en-US">
                <a:latin typeface="+mn-ea"/>
                <a:ea typeface="+mn-ea"/>
              </a:endParaRPr>
            </a:p>
          </p:txBody>
        </p:sp>
      </p:grpSp>
    </p:spTree>
    <p:extLst>
      <p:ext uri="{BB962C8B-B14F-4D97-AF65-F5344CB8AC3E}">
        <p14:creationId xmlns:p14="http://schemas.microsoft.com/office/powerpoint/2010/main" val="15552924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2"/>
          </p:nvPr>
        </p:nvSpPr>
        <p:spPr>
          <a:xfrm>
            <a:off x="1595500" y="44624"/>
            <a:ext cx="9831600" cy="1178168"/>
          </a:xfrm>
        </p:spPr>
        <p:txBody>
          <a:bodyPr/>
          <a:lstStyle/>
          <a:p>
            <a:r>
              <a:rPr lang="en-US" altLang="zh-CN" dirty="0"/>
              <a:t>Other Problems Caused by Multi-Protocol - Loop</a:t>
            </a:r>
            <a:endParaRPr lang="zh-CN" altLang="en-US" dirty="0"/>
          </a:p>
        </p:txBody>
      </p:sp>
      <p:sp>
        <p:nvSpPr>
          <p:cNvPr id="59" name="Line 12"/>
          <p:cNvSpPr>
            <a:spLocks noChangeShapeType="1"/>
          </p:cNvSpPr>
          <p:nvPr/>
        </p:nvSpPr>
        <p:spPr bwMode="auto">
          <a:xfrm flipV="1">
            <a:off x="3683732" y="3762375"/>
            <a:ext cx="0" cy="1295400"/>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60" name="Line 8"/>
          <p:cNvSpPr>
            <a:spLocks noChangeShapeType="1"/>
          </p:cNvSpPr>
          <p:nvPr/>
        </p:nvSpPr>
        <p:spPr bwMode="auto">
          <a:xfrm flipV="1">
            <a:off x="3893840" y="5286027"/>
            <a:ext cx="689694" cy="0"/>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61" name="Line 4"/>
          <p:cNvSpPr>
            <a:spLocks noChangeShapeType="1"/>
          </p:cNvSpPr>
          <p:nvPr/>
        </p:nvSpPr>
        <p:spPr bwMode="auto">
          <a:xfrm flipV="1">
            <a:off x="3987800" y="2204864"/>
            <a:ext cx="2108200" cy="1124124"/>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62" name="Line 5"/>
          <p:cNvSpPr>
            <a:spLocks noChangeShapeType="1"/>
          </p:cNvSpPr>
          <p:nvPr/>
        </p:nvSpPr>
        <p:spPr bwMode="auto">
          <a:xfrm>
            <a:off x="6558704" y="2158832"/>
            <a:ext cx="2460810" cy="1247705"/>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63" name="Line 6"/>
          <p:cNvSpPr>
            <a:spLocks noChangeShapeType="1"/>
          </p:cNvSpPr>
          <p:nvPr/>
        </p:nvSpPr>
        <p:spPr bwMode="auto">
          <a:xfrm flipV="1">
            <a:off x="6565170" y="3698875"/>
            <a:ext cx="2454345" cy="1364056"/>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64" name="Line 7"/>
          <p:cNvSpPr>
            <a:spLocks noChangeShapeType="1"/>
          </p:cNvSpPr>
          <p:nvPr/>
        </p:nvSpPr>
        <p:spPr bwMode="auto">
          <a:xfrm>
            <a:off x="3893841" y="3617021"/>
            <a:ext cx="2160885" cy="1358205"/>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65" name="Text Box 9"/>
          <p:cNvSpPr txBox="1">
            <a:spLocks noChangeArrowheads="1"/>
          </p:cNvSpPr>
          <p:nvPr/>
        </p:nvSpPr>
        <p:spPr bwMode="auto">
          <a:xfrm>
            <a:off x="4043772" y="5394040"/>
            <a:ext cx="1481138" cy="303213"/>
          </a:xfrm>
          <a:prstGeom prst="rect">
            <a:avLst/>
          </a:prstGeom>
          <a:noFill/>
          <a:ln w="9525" algn="ctr">
            <a:noFill/>
            <a:miter lim="800000"/>
            <a:headEnd/>
            <a:tailEnd/>
          </a:ln>
        </p:spPr>
        <p:txBody>
          <a:bodyPr wrap="none" lIns="78355" tIns="39177" rIns="78355" bIns="39177" anchor="ctr"/>
          <a:lstStyle/>
          <a:p>
            <a:pPr algn="ctr" defTabSz="784225" eaLnBrk="0" fontAlgn="base" hangingPunct="0"/>
            <a:r>
              <a:rPr lang="en-US" altLang="zh-CN" sz="1400" b="1" dirty="0">
                <a:latin typeface="+mn-ea"/>
                <a:ea typeface="+mn-ea"/>
              </a:rPr>
              <a:t>Lo0:2.2.2.2/32</a:t>
            </a:r>
          </a:p>
        </p:txBody>
      </p:sp>
      <p:sp>
        <p:nvSpPr>
          <p:cNvPr id="66" name="WordArt 10"/>
          <p:cNvSpPr>
            <a:spLocks noChangeArrowheads="1" noChangeShapeType="1" noTextEdit="1"/>
          </p:cNvSpPr>
          <p:nvPr/>
        </p:nvSpPr>
        <p:spPr bwMode="auto">
          <a:xfrm>
            <a:off x="6816081" y="3576639"/>
            <a:ext cx="534045" cy="284410"/>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ea"/>
                <a:ea typeface="+mn-ea"/>
              </a:rPr>
              <a:t>ISIS</a:t>
            </a:r>
            <a:endParaRPr lang="zh-CN" altLang="en-US" sz="3600" kern="10" dirty="0">
              <a:ln w="9525">
                <a:solidFill>
                  <a:srgbClr val="000000"/>
                </a:solidFill>
                <a:round/>
                <a:headEnd/>
                <a:tailEnd/>
              </a:ln>
              <a:solidFill>
                <a:srgbClr val="FFFFFF"/>
              </a:solidFill>
              <a:latin typeface="+mn-ea"/>
              <a:ea typeface="+mn-ea"/>
            </a:endParaRPr>
          </a:p>
        </p:txBody>
      </p:sp>
      <p:sp>
        <p:nvSpPr>
          <p:cNvPr id="67" name="WordArt 11"/>
          <p:cNvSpPr>
            <a:spLocks noChangeArrowheads="1" noChangeShapeType="1" noTextEdit="1"/>
          </p:cNvSpPr>
          <p:nvPr/>
        </p:nvSpPr>
        <p:spPr bwMode="auto">
          <a:xfrm>
            <a:off x="5447928" y="3576639"/>
            <a:ext cx="546472" cy="284410"/>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ea"/>
                <a:ea typeface="+mn-ea"/>
              </a:rPr>
              <a:t>OSPF</a:t>
            </a:r>
            <a:endParaRPr lang="zh-CN" altLang="en-US" sz="3600" kern="10" dirty="0">
              <a:ln w="9525">
                <a:solidFill>
                  <a:srgbClr val="000000"/>
                </a:solidFill>
                <a:round/>
                <a:headEnd/>
                <a:tailEnd/>
              </a:ln>
              <a:solidFill>
                <a:srgbClr val="FFFFFF"/>
              </a:solidFill>
              <a:latin typeface="+mn-ea"/>
              <a:ea typeface="+mn-ea"/>
            </a:endParaRPr>
          </a:p>
        </p:txBody>
      </p:sp>
      <p:sp>
        <p:nvSpPr>
          <p:cNvPr id="68" name="AutoShape 20"/>
          <p:cNvSpPr>
            <a:spLocks noChangeArrowheads="1"/>
          </p:cNvSpPr>
          <p:nvPr/>
        </p:nvSpPr>
        <p:spPr bwMode="auto">
          <a:xfrm rot="10800000" flipH="1">
            <a:off x="6960096" y="2852936"/>
            <a:ext cx="792088" cy="1595437"/>
          </a:xfrm>
          <a:prstGeom prst="curvedLeftArrow">
            <a:avLst>
              <a:gd name="adj1" fmla="val 40281"/>
              <a:gd name="adj2" fmla="val 80561"/>
              <a:gd name="adj3" fmla="val 33333"/>
            </a:avLst>
          </a:prstGeom>
          <a:noFill/>
          <a:ln w="9525">
            <a:solidFill>
              <a:schemeClr val="tx1"/>
            </a:solidFill>
            <a:miter lim="800000"/>
            <a:headEnd/>
            <a:tailEnd/>
          </a:ln>
        </p:spPr>
        <p:txBody>
          <a:bodyPr wrap="none" anchor="ctr"/>
          <a:lstStyle/>
          <a:p>
            <a:endParaRPr lang="zh-CN" altLang="en-US">
              <a:latin typeface="+mn-ea"/>
              <a:ea typeface="+mn-ea"/>
            </a:endParaRPr>
          </a:p>
        </p:txBody>
      </p:sp>
      <p:sp>
        <p:nvSpPr>
          <p:cNvPr id="69" name="Rectangle 22"/>
          <p:cNvSpPr>
            <a:spLocks noChangeArrowheads="1"/>
          </p:cNvSpPr>
          <p:nvPr/>
        </p:nvSpPr>
        <p:spPr bwMode="auto">
          <a:xfrm>
            <a:off x="2670397" y="5207921"/>
            <a:ext cx="590642"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RTA</a:t>
            </a:r>
          </a:p>
        </p:txBody>
      </p:sp>
      <p:sp>
        <p:nvSpPr>
          <p:cNvPr id="70" name="Rectangle 23"/>
          <p:cNvSpPr>
            <a:spLocks noChangeArrowheads="1"/>
          </p:cNvSpPr>
          <p:nvPr/>
        </p:nvSpPr>
        <p:spPr bwMode="auto">
          <a:xfrm>
            <a:off x="3279923" y="2966017"/>
            <a:ext cx="605903"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RTB</a:t>
            </a:r>
          </a:p>
        </p:txBody>
      </p:sp>
      <p:sp>
        <p:nvSpPr>
          <p:cNvPr id="71" name="Rectangle 24"/>
          <p:cNvSpPr>
            <a:spLocks noChangeArrowheads="1"/>
          </p:cNvSpPr>
          <p:nvPr/>
        </p:nvSpPr>
        <p:spPr bwMode="auto">
          <a:xfrm>
            <a:off x="5699957" y="2384884"/>
            <a:ext cx="582178"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RTC</a:t>
            </a:r>
          </a:p>
        </p:txBody>
      </p:sp>
      <p:sp>
        <p:nvSpPr>
          <p:cNvPr id="72" name="Rectangle 25"/>
          <p:cNvSpPr>
            <a:spLocks noChangeArrowheads="1"/>
          </p:cNvSpPr>
          <p:nvPr/>
        </p:nvSpPr>
        <p:spPr bwMode="auto">
          <a:xfrm>
            <a:off x="9480377" y="3390472"/>
            <a:ext cx="614238"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RTD</a:t>
            </a:r>
          </a:p>
        </p:txBody>
      </p:sp>
      <p:sp>
        <p:nvSpPr>
          <p:cNvPr id="73" name="Rectangle 26"/>
          <p:cNvSpPr>
            <a:spLocks noChangeArrowheads="1"/>
          </p:cNvSpPr>
          <p:nvPr/>
        </p:nvSpPr>
        <p:spPr bwMode="auto">
          <a:xfrm>
            <a:off x="6380112" y="4375134"/>
            <a:ext cx="569354"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RTE</a:t>
            </a:r>
          </a:p>
        </p:txBody>
      </p:sp>
      <p:sp>
        <p:nvSpPr>
          <p:cNvPr id="74" name="Line 7"/>
          <p:cNvSpPr>
            <a:spLocks noChangeShapeType="1"/>
          </p:cNvSpPr>
          <p:nvPr/>
        </p:nvSpPr>
        <p:spPr bwMode="auto">
          <a:xfrm>
            <a:off x="4583534" y="5121188"/>
            <a:ext cx="0" cy="288032"/>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75" name="AutoShape 20"/>
          <p:cNvSpPr>
            <a:spLocks noChangeArrowheads="1"/>
          </p:cNvSpPr>
          <p:nvPr/>
        </p:nvSpPr>
        <p:spPr bwMode="auto">
          <a:xfrm flipH="1">
            <a:off x="5159896" y="2996953"/>
            <a:ext cx="720080" cy="1595437"/>
          </a:xfrm>
          <a:prstGeom prst="curvedLeftArrow">
            <a:avLst>
              <a:gd name="adj1" fmla="val 40281"/>
              <a:gd name="adj2" fmla="val 91371"/>
              <a:gd name="adj3" fmla="val 33333"/>
            </a:avLst>
          </a:prstGeom>
          <a:noFill/>
          <a:ln w="9525">
            <a:solidFill>
              <a:schemeClr val="tx1"/>
            </a:solidFill>
            <a:miter lim="800000"/>
            <a:headEnd/>
            <a:tailEnd/>
          </a:ln>
        </p:spPr>
        <p:txBody>
          <a:bodyPr wrap="none" anchor="ctr"/>
          <a:lstStyle/>
          <a:p>
            <a:endParaRPr lang="zh-CN" altLang="en-US">
              <a:latin typeface="+mn-ea"/>
              <a:ea typeface="+mn-ea"/>
            </a:endParaRPr>
          </a:p>
        </p:txBody>
      </p:sp>
      <p:sp>
        <p:nvSpPr>
          <p:cNvPr id="76" name="AutoShape 13"/>
          <p:cNvSpPr>
            <a:spLocks noChangeArrowheads="1"/>
          </p:cNvSpPr>
          <p:nvPr/>
        </p:nvSpPr>
        <p:spPr bwMode="auto">
          <a:xfrm rot="16200000">
            <a:off x="3513677" y="4699105"/>
            <a:ext cx="592138" cy="2268252"/>
          </a:xfrm>
          <a:prstGeom prst="upArrow">
            <a:avLst>
              <a:gd name="adj1" fmla="val 50000"/>
              <a:gd name="adj2" fmla="val 88204"/>
            </a:avLst>
          </a:prstGeom>
          <a:noFill/>
          <a:ln w="9525" algn="ctr">
            <a:solidFill>
              <a:schemeClr val="tx1"/>
            </a:solidFill>
            <a:miter lim="800000"/>
            <a:headEnd/>
            <a:tailEnd/>
          </a:ln>
        </p:spPr>
        <p:txBody>
          <a:bodyPr vert="eaVert" wrap="none" lIns="78355" tIns="39177" rIns="78355" bIns="39177" anchor="ctr"/>
          <a:lstStyle/>
          <a:p>
            <a:pPr algn="ctr" defTabSz="784225" eaLnBrk="0" fontAlgn="base" hangingPunct="0"/>
            <a:r>
              <a:rPr lang="en-US" altLang="zh-CN" sz="1400" dirty="0">
                <a:latin typeface="+mn-ea"/>
                <a:ea typeface="+mn-ea"/>
              </a:rPr>
              <a:t>  </a:t>
            </a:r>
            <a:r>
              <a:rPr lang="zh-CN" altLang="en-US" sz="1400" dirty="0" smtClean="0">
                <a:latin typeface="+mn-ea"/>
                <a:ea typeface="+mn-ea"/>
              </a:rPr>
              <a:t>①</a:t>
            </a:r>
            <a:r>
              <a:rPr lang="en-US" altLang="zh-CN" sz="1400" dirty="0" smtClean="0">
                <a:latin typeface="+mn-ea"/>
                <a:ea typeface="+mn-ea"/>
              </a:rPr>
              <a:t>import </a:t>
            </a:r>
            <a:r>
              <a:rPr lang="en-US" altLang="zh-CN" sz="1400" dirty="0">
                <a:latin typeface="+mn-ea"/>
                <a:ea typeface="+mn-ea"/>
              </a:rPr>
              <a:t>direct cost 2 </a:t>
            </a:r>
          </a:p>
        </p:txBody>
      </p:sp>
      <p:sp>
        <p:nvSpPr>
          <p:cNvPr id="77" name="AutoShape 14"/>
          <p:cNvSpPr>
            <a:spLocks noChangeArrowheads="1"/>
          </p:cNvSpPr>
          <p:nvPr/>
        </p:nvSpPr>
        <p:spPr bwMode="auto">
          <a:xfrm>
            <a:off x="2790024" y="3335461"/>
            <a:ext cx="535211" cy="1930736"/>
          </a:xfrm>
          <a:prstGeom prst="upArrow">
            <a:avLst>
              <a:gd name="adj1" fmla="val 50000"/>
              <a:gd name="adj2" fmla="val 70997"/>
            </a:avLst>
          </a:prstGeom>
          <a:noFill/>
          <a:ln w="9525" algn="ctr">
            <a:solidFill>
              <a:schemeClr val="tx1"/>
            </a:solidFill>
            <a:miter lim="800000"/>
            <a:headEnd/>
            <a:tailEnd/>
          </a:ln>
        </p:spPr>
        <p:txBody>
          <a:bodyPr vert="eaVert" wrap="none" lIns="78355" tIns="39177" rIns="78355" bIns="39177" anchor="ctr"/>
          <a:lstStyle/>
          <a:p>
            <a:pPr algn="ctr" defTabSz="784225" eaLnBrk="0" fontAlgn="base" hangingPunct="0"/>
            <a:r>
              <a:rPr lang="en-US" altLang="zh-CN" sz="1400" dirty="0">
                <a:latin typeface="+mn-ea"/>
                <a:ea typeface="+mn-ea"/>
              </a:rPr>
              <a:t>  </a:t>
            </a:r>
            <a:r>
              <a:rPr lang="zh-CN" altLang="en-US" sz="1400" dirty="0" smtClean="0">
                <a:latin typeface="+mn-ea"/>
                <a:ea typeface="+mn-ea"/>
              </a:rPr>
              <a:t>②</a:t>
            </a:r>
            <a:r>
              <a:rPr lang="en-US" altLang="zh-CN" sz="1400" dirty="0" err="1" smtClean="0">
                <a:latin typeface="+mn-ea"/>
                <a:ea typeface="+mn-ea"/>
              </a:rPr>
              <a:t>Dest</a:t>
            </a:r>
            <a:r>
              <a:rPr lang="en-US" altLang="zh-CN" sz="1400" dirty="0">
                <a:latin typeface="+mn-ea"/>
                <a:ea typeface="+mn-ea"/>
              </a:rPr>
              <a:t>. ASE 150 </a:t>
            </a:r>
            <a:r>
              <a:rPr lang="en-US" altLang="zh-CN" sz="1400" b="1" dirty="0">
                <a:solidFill>
                  <a:srgbClr val="C00000"/>
                </a:solidFill>
                <a:latin typeface="+mn-ea"/>
                <a:ea typeface="+mn-ea"/>
              </a:rPr>
              <a:t>2</a:t>
            </a:r>
          </a:p>
        </p:txBody>
      </p:sp>
      <p:sp>
        <p:nvSpPr>
          <p:cNvPr id="78" name="AutoShape 15"/>
          <p:cNvSpPr>
            <a:spLocks noChangeArrowheads="1"/>
          </p:cNvSpPr>
          <p:nvPr/>
        </p:nvSpPr>
        <p:spPr bwMode="auto">
          <a:xfrm rot="1897125">
            <a:off x="4016445" y="4520929"/>
            <a:ext cx="1851025" cy="557212"/>
          </a:xfrm>
          <a:prstGeom prst="rightArrow">
            <a:avLst>
              <a:gd name="adj1" fmla="val 50000"/>
              <a:gd name="adj2" fmla="val 83049"/>
            </a:avLst>
          </a:prstGeom>
          <a:noFill/>
          <a:ln w="9525" algn="ctr">
            <a:solidFill>
              <a:schemeClr val="tx1"/>
            </a:solidFill>
            <a:miter lim="800000"/>
            <a:headEnd/>
            <a:tailEnd/>
          </a:ln>
        </p:spPr>
        <p:txBody>
          <a:bodyPr wrap="none" lIns="78355" tIns="39177" rIns="78355" bIns="39177" anchor="ctr"/>
          <a:lstStyle/>
          <a:p>
            <a:pPr algn="ctr" defTabSz="784225" eaLnBrk="0" fontAlgn="base" hangingPunct="0"/>
            <a:r>
              <a:rPr lang="en-US" altLang="zh-CN" sz="1400" dirty="0">
                <a:latin typeface="+mn-ea"/>
                <a:ea typeface="+mn-ea"/>
              </a:rPr>
              <a:t> </a:t>
            </a:r>
            <a:r>
              <a:rPr lang="zh-CN" altLang="en-US" sz="1400" dirty="0" smtClean="0">
                <a:latin typeface="+mn-ea"/>
                <a:ea typeface="+mn-ea"/>
              </a:rPr>
              <a:t>③</a:t>
            </a:r>
            <a:r>
              <a:rPr lang="en-US" altLang="zh-CN" sz="1400" dirty="0" err="1" smtClean="0">
                <a:latin typeface="+mn-ea"/>
                <a:ea typeface="+mn-ea"/>
              </a:rPr>
              <a:t>Dest</a:t>
            </a:r>
            <a:r>
              <a:rPr lang="en-US" altLang="zh-CN" sz="1400" dirty="0">
                <a:latin typeface="+mn-ea"/>
                <a:ea typeface="+mn-ea"/>
              </a:rPr>
              <a:t>. ASE 150</a:t>
            </a:r>
          </a:p>
        </p:txBody>
      </p:sp>
      <p:sp>
        <p:nvSpPr>
          <p:cNvPr id="79" name="AutoShape 32"/>
          <p:cNvSpPr>
            <a:spLocks noChangeArrowheads="1"/>
          </p:cNvSpPr>
          <p:nvPr/>
        </p:nvSpPr>
        <p:spPr bwMode="auto">
          <a:xfrm>
            <a:off x="5765800" y="5301209"/>
            <a:ext cx="1912938" cy="523875"/>
          </a:xfrm>
          <a:prstGeom prst="rightArrow">
            <a:avLst>
              <a:gd name="adj1" fmla="val 50000"/>
              <a:gd name="adj2" fmla="val 91288"/>
            </a:avLst>
          </a:prstGeom>
          <a:noFill/>
          <a:ln w="9525" algn="ctr">
            <a:solidFill>
              <a:schemeClr val="tx1"/>
            </a:solidFill>
            <a:miter lim="800000"/>
            <a:headEnd/>
            <a:tailEnd/>
          </a:ln>
        </p:spPr>
        <p:txBody>
          <a:bodyPr wrap="none" lIns="78355" tIns="39177" rIns="78355" bIns="39177" anchor="ctr"/>
          <a:lstStyle/>
          <a:p>
            <a:pPr algn="ctr" defTabSz="784225" eaLnBrk="0" fontAlgn="base" hangingPunct="0"/>
            <a:r>
              <a:rPr lang="zh-CN" altLang="en-US" sz="1400" dirty="0" smtClean="0">
                <a:latin typeface="+mn-ea"/>
                <a:ea typeface="+mn-ea"/>
              </a:rPr>
              <a:t>④</a:t>
            </a:r>
            <a:r>
              <a:rPr lang="en-US" altLang="zh-CN" sz="1400" dirty="0" smtClean="0">
                <a:latin typeface="+mn-ea"/>
                <a:ea typeface="+mn-ea"/>
              </a:rPr>
              <a:t>import </a:t>
            </a:r>
            <a:r>
              <a:rPr lang="en-US" altLang="zh-CN" sz="1400" dirty="0">
                <a:latin typeface="+mn-ea"/>
                <a:ea typeface="+mn-ea"/>
              </a:rPr>
              <a:t>ospf</a:t>
            </a:r>
          </a:p>
        </p:txBody>
      </p:sp>
      <p:sp>
        <p:nvSpPr>
          <p:cNvPr id="80" name="AutoShape 17"/>
          <p:cNvSpPr>
            <a:spLocks noChangeArrowheads="1"/>
          </p:cNvSpPr>
          <p:nvPr/>
        </p:nvSpPr>
        <p:spPr bwMode="auto">
          <a:xfrm rot="19738618">
            <a:off x="7119888" y="4402489"/>
            <a:ext cx="1912938" cy="592138"/>
          </a:xfrm>
          <a:prstGeom prst="rightArrow">
            <a:avLst>
              <a:gd name="adj1" fmla="val 50000"/>
              <a:gd name="adj2" fmla="val 80764"/>
            </a:avLst>
          </a:prstGeom>
          <a:noFill/>
          <a:ln w="9525" algn="ctr">
            <a:solidFill>
              <a:schemeClr val="tx1"/>
            </a:solidFill>
            <a:miter lim="800000"/>
            <a:headEnd/>
            <a:tailEnd/>
          </a:ln>
        </p:spPr>
        <p:txBody>
          <a:bodyPr wrap="none" lIns="78355" tIns="39177" rIns="78355" bIns="39177" anchor="ctr"/>
          <a:lstStyle/>
          <a:p>
            <a:pPr algn="ctr" defTabSz="784225" eaLnBrk="0" fontAlgn="base" hangingPunct="0"/>
            <a:r>
              <a:rPr lang="zh-CN" altLang="en-US" sz="1400" dirty="0" smtClean="0">
                <a:latin typeface="+mn-ea"/>
                <a:ea typeface="+mn-ea"/>
              </a:rPr>
              <a:t>⑤</a:t>
            </a:r>
            <a:r>
              <a:rPr lang="en-US" altLang="zh-CN" sz="1400" dirty="0" err="1" smtClean="0">
                <a:latin typeface="+mn-ea"/>
                <a:ea typeface="+mn-ea"/>
              </a:rPr>
              <a:t>Dest</a:t>
            </a:r>
            <a:r>
              <a:rPr lang="en-US" altLang="zh-CN" sz="1400" dirty="0">
                <a:latin typeface="+mn-ea"/>
                <a:ea typeface="+mn-ea"/>
              </a:rPr>
              <a:t>. ISIS 15</a:t>
            </a:r>
          </a:p>
        </p:txBody>
      </p:sp>
      <p:sp>
        <p:nvSpPr>
          <p:cNvPr id="81" name="AutoShape 18"/>
          <p:cNvSpPr>
            <a:spLocks noChangeArrowheads="1"/>
          </p:cNvSpPr>
          <p:nvPr/>
        </p:nvSpPr>
        <p:spPr bwMode="auto">
          <a:xfrm rot="17953393">
            <a:off x="7749145" y="1431786"/>
            <a:ext cx="579437" cy="1941512"/>
          </a:xfrm>
          <a:prstGeom prst="upArrow">
            <a:avLst>
              <a:gd name="adj1" fmla="val 50000"/>
              <a:gd name="adj2" fmla="val 83767"/>
            </a:avLst>
          </a:prstGeom>
          <a:noFill/>
          <a:ln w="9525" algn="ctr">
            <a:solidFill>
              <a:schemeClr val="tx1"/>
            </a:solidFill>
            <a:miter lim="800000"/>
            <a:headEnd/>
            <a:tailEnd/>
          </a:ln>
        </p:spPr>
        <p:txBody>
          <a:bodyPr vert="eaVert" wrap="none" lIns="78355" tIns="39177" rIns="78355" bIns="39177" anchor="ctr"/>
          <a:lstStyle/>
          <a:p>
            <a:pPr algn="ctr" defTabSz="784225" eaLnBrk="0" fontAlgn="base" hangingPunct="0"/>
            <a:r>
              <a:rPr lang="en-US" altLang="zh-CN" sz="1400" dirty="0">
                <a:latin typeface="+mn-ea"/>
                <a:ea typeface="+mn-ea"/>
              </a:rPr>
              <a:t> </a:t>
            </a:r>
            <a:r>
              <a:rPr lang="zh-CN" altLang="en-US" sz="1400" dirty="0" smtClean="0">
                <a:latin typeface="+mn-ea"/>
                <a:ea typeface="+mn-ea"/>
              </a:rPr>
              <a:t>⑥</a:t>
            </a:r>
            <a:r>
              <a:rPr lang="en-US" altLang="zh-CN" sz="1400" dirty="0" err="1" smtClean="0">
                <a:latin typeface="+mn-ea"/>
                <a:ea typeface="+mn-ea"/>
              </a:rPr>
              <a:t>Dest</a:t>
            </a:r>
            <a:r>
              <a:rPr lang="en-US" altLang="zh-CN" sz="1400" dirty="0">
                <a:latin typeface="+mn-ea"/>
                <a:ea typeface="+mn-ea"/>
              </a:rPr>
              <a:t>. ISIS 15</a:t>
            </a:r>
          </a:p>
        </p:txBody>
      </p:sp>
      <p:sp>
        <p:nvSpPr>
          <p:cNvPr id="82" name="AutoShape 16"/>
          <p:cNvSpPr>
            <a:spLocks noChangeArrowheads="1"/>
          </p:cNvSpPr>
          <p:nvPr/>
        </p:nvSpPr>
        <p:spPr bwMode="auto">
          <a:xfrm rot="19941620">
            <a:off x="3899756" y="2168861"/>
            <a:ext cx="1911350" cy="530225"/>
          </a:xfrm>
          <a:prstGeom prst="rightArrow">
            <a:avLst>
              <a:gd name="adj1" fmla="val 50000"/>
              <a:gd name="adj2" fmla="val 90120"/>
            </a:avLst>
          </a:prstGeom>
          <a:noFill/>
          <a:ln w="9525" algn="ctr">
            <a:solidFill>
              <a:schemeClr val="tx1"/>
            </a:solidFill>
            <a:miter lim="800000"/>
            <a:headEnd/>
            <a:tailEnd/>
          </a:ln>
        </p:spPr>
        <p:txBody>
          <a:bodyPr wrap="none" lIns="78355" tIns="39177" rIns="78355" bIns="39177" anchor="ctr"/>
          <a:lstStyle/>
          <a:p>
            <a:pPr algn="ctr" defTabSz="784225" eaLnBrk="0" fontAlgn="base" hangingPunct="0"/>
            <a:r>
              <a:rPr lang="en-US" altLang="zh-CN" sz="1400" dirty="0">
                <a:latin typeface="+mn-ea"/>
                <a:ea typeface="+mn-ea"/>
              </a:rPr>
              <a:t>  </a:t>
            </a:r>
            <a:r>
              <a:rPr lang="zh-CN" altLang="en-US" sz="1400" dirty="0" smtClean="0">
                <a:latin typeface="+mn-ea"/>
                <a:ea typeface="+mn-ea"/>
              </a:rPr>
              <a:t>③</a:t>
            </a:r>
            <a:r>
              <a:rPr lang="en-US" altLang="zh-CN" sz="1400" dirty="0" err="1" smtClean="0">
                <a:latin typeface="+mn-ea"/>
                <a:ea typeface="+mn-ea"/>
              </a:rPr>
              <a:t>Dest</a:t>
            </a:r>
            <a:r>
              <a:rPr lang="en-US" altLang="zh-CN" sz="1400" dirty="0">
                <a:latin typeface="+mn-ea"/>
                <a:ea typeface="+mn-ea"/>
              </a:rPr>
              <a:t>. ASE 150</a:t>
            </a:r>
          </a:p>
        </p:txBody>
      </p:sp>
      <p:sp>
        <p:nvSpPr>
          <p:cNvPr id="83" name="AutoShape 19"/>
          <p:cNvSpPr>
            <a:spLocks noChangeArrowheads="1"/>
          </p:cNvSpPr>
          <p:nvPr/>
        </p:nvSpPr>
        <p:spPr bwMode="auto">
          <a:xfrm rot="16200000">
            <a:off x="5988051" y="832570"/>
            <a:ext cx="627063" cy="1541463"/>
          </a:xfrm>
          <a:prstGeom prst="upArrow">
            <a:avLst>
              <a:gd name="adj1" fmla="val 50000"/>
              <a:gd name="adj2" fmla="val 61456"/>
            </a:avLst>
          </a:prstGeom>
          <a:noFill/>
          <a:ln w="9525" algn="ctr">
            <a:solidFill>
              <a:schemeClr val="tx1"/>
            </a:solidFill>
            <a:miter lim="800000"/>
            <a:headEnd/>
            <a:tailEnd/>
          </a:ln>
        </p:spPr>
        <p:txBody>
          <a:bodyPr vert="eaVert" wrap="none" lIns="78355" tIns="39177" rIns="78355" bIns="39177" anchor="ctr"/>
          <a:lstStyle/>
          <a:p>
            <a:pPr algn="ctr" defTabSz="784225" eaLnBrk="0" fontAlgn="base" hangingPunct="0"/>
            <a:r>
              <a:rPr lang="en-US" altLang="zh-CN" sz="1400" dirty="0">
                <a:latin typeface="+mn-ea"/>
                <a:ea typeface="+mn-ea"/>
              </a:rPr>
              <a:t> </a:t>
            </a:r>
            <a:r>
              <a:rPr lang="zh-CN" altLang="en-US" sz="1400" dirty="0" smtClean="0">
                <a:latin typeface="+mn-ea"/>
                <a:ea typeface="+mn-ea"/>
              </a:rPr>
              <a:t>⑦</a:t>
            </a:r>
            <a:r>
              <a:rPr lang="en-US" altLang="zh-CN" sz="1400" dirty="0" smtClean="0">
                <a:latin typeface="+mn-ea"/>
                <a:ea typeface="+mn-ea"/>
              </a:rPr>
              <a:t>import </a:t>
            </a:r>
            <a:r>
              <a:rPr lang="en-US" altLang="zh-CN" sz="1400" dirty="0">
                <a:latin typeface="+mn-ea"/>
                <a:ea typeface="+mn-ea"/>
              </a:rPr>
              <a:t>isis</a:t>
            </a:r>
          </a:p>
        </p:txBody>
      </p:sp>
      <p:sp>
        <p:nvSpPr>
          <p:cNvPr id="84" name="AutoShape 19"/>
          <p:cNvSpPr>
            <a:spLocks noChangeArrowheads="1"/>
          </p:cNvSpPr>
          <p:nvPr/>
        </p:nvSpPr>
        <p:spPr bwMode="auto">
          <a:xfrm rot="14640000">
            <a:off x="4151192" y="1187952"/>
            <a:ext cx="627063" cy="1797194"/>
          </a:xfrm>
          <a:prstGeom prst="upArrow">
            <a:avLst>
              <a:gd name="adj1" fmla="val 50000"/>
              <a:gd name="adj2" fmla="val 61456"/>
            </a:avLst>
          </a:prstGeom>
          <a:noFill/>
          <a:ln w="9525" algn="ctr">
            <a:solidFill>
              <a:schemeClr val="tx1"/>
            </a:solidFill>
            <a:miter lim="800000"/>
            <a:headEnd/>
            <a:tailEnd/>
          </a:ln>
        </p:spPr>
        <p:txBody>
          <a:bodyPr vert="eaVert" wrap="none" lIns="78355" tIns="39177" rIns="78355" bIns="39177" anchor="ctr"/>
          <a:lstStyle/>
          <a:p>
            <a:pPr algn="ctr" defTabSz="784225" eaLnBrk="0" fontAlgn="base" hangingPunct="0"/>
            <a:r>
              <a:rPr lang="en-US" altLang="zh-CN" sz="1400" dirty="0">
                <a:latin typeface="+mn-ea"/>
                <a:ea typeface="+mn-ea"/>
              </a:rPr>
              <a:t> </a:t>
            </a:r>
            <a:r>
              <a:rPr lang="zh-CN" altLang="en-US" sz="1400" dirty="0" smtClean="0">
                <a:latin typeface="+mn-ea"/>
                <a:ea typeface="+mn-ea"/>
              </a:rPr>
              <a:t>⑧</a:t>
            </a:r>
            <a:r>
              <a:rPr lang="en-US" altLang="zh-CN" sz="1400" dirty="0" err="1" smtClean="0">
                <a:latin typeface="+mn-ea"/>
                <a:ea typeface="+mn-ea"/>
              </a:rPr>
              <a:t>Dest</a:t>
            </a:r>
            <a:r>
              <a:rPr lang="en-US" altLang="zh-CN" sz="1400" dirty="0">
                <a:latin typeface="+mn-ea"/>
                <a:ea typeface="+mn-ea"/>
              </a:rPr>
              <a:t>. ASE 150 </a:t>
            </a:r>
            <a:r>
              <a:rPr lang="en-US" altLang="zh-CN" sz="1400" b="1" dirty="0">
                <a:solidFill>
                  <a:srgbClr val="C00000"/>
                </a:solidFill>
                <a:latin typeface="+mn-ea"/>
                <a:ea typeface="+mn-ea"/>
              </a:rPr>
              <a:t>1</a:t>
            </a:r>
          </a:p>
        </p:txBody>
      </p:sp>
      <p:sp>
        <p:nvSpPr>
          <p:cNvPr id="85" name="Line 31"/>
          <p:cNvSpPr>
            <a:spLocks noChangeShapeType="1"/>
          </p:cNvSpPr>
          <p:nvPr/>
        </p:nvSpPr>
        <p:spPr bwMode="auto">
          <a:xfrm flipH="1">
            <a:off x="6384032" y="1806576"/>
            <a:ext cx="31056" cy="3566641"/>
          </a:xfrm>
          <a:prstGeom prst="line">
            <a:avLst/>
          </a:prstGeom>
          <a:noFill/>
          <a:ln w="28575">
            <a:solidFill>
              <a:schemeClr val="tx1"/>
            </a:solidFill>
            <a:prstDash val="dash"/>
            <a:round/>
            <a:headEnd/>
            <a:tailEnd/>
          </a:ln>
        </p:spPr>
        <p:txBody>
          <a:bodyPr/>
          <a:lstStyle/>
          <a:p>
            <a:endParaRPr lang="zh-CN" altLang="en-US">
              <a:latin typeface="+mn-ea"/>
              <a:ea typeface="+mn-ea"/>
            </a:endParaRPr>
          </a:p>
        </p:txBody>
      </p:sp>
      <p:pic>
        <p:nvPicPr>
          <p:cNvPr id="8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114528" y="1891163"/>
            <a:ext cx="628652" cy="514351"/>
          </a:xfrm>
          <a:prstGeom prst="rect">
            <a:avLst/>
          </a:prstGeom>
          <a:noFill/>
        </p:spPr>
      </p:pic>
      <p:pic>
        <p:nvPicPr>
          <p:cNvPr id="8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753268" y="3335461"/>
            <a:ext cx="628652" cy="514351"/>
          </a:xfrm>
          <a:prstGeom prst="rect">
            <a:avLst/>
          </a:prstGeom>
          <a:noFill/>
        </p:spPr>
      </p:pic>
      <p:pic>
        <p:nvPicPr>
          <p:cNvPr id="8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082957" y="4842027"/>
            <a:ext cx="628652" cy="514351"/>
          </a:xfrm>
          <a:prstGeom prst="rect">
            <a:avLst/>
          </a:prstGeom>
          <a:noFill/>
        </p:spPr>
      </p:pic>
      <p:pic>
        <p:nvPicPr>
          <p:cNvPr id="8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352434" y="3244064"/>
            <a:ext cx="628652" cy="514351"/>
          </a:xfrm>
          <a:prstGeom prst="rect">
            <a:avLst/>
          </a:prstGeom>
          <a:noFill/>
        </p:spPr>
      </p:pic>
      <p:pic>
        <p:nvPicPr>
          <p:cNvPr id="9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365002" y="4925858"/>
            <a:ext cx="628652" cy="514351"/>
          </a:xfrm>
          <a:prstGeom prst="rect">
            <a:avLst/>
          </a:prstGeom>
          <a:noFill/>
        </p:spPr>
      </p:pic>
      <p:sp>
        <p:nvSpPr>
          <p:cNvPr id="91" name="任意多边形 90"/>
          <p:cNvSpPr>
            <a:spLocks noChangeAspect="1"/>
          </p:cNvSpPr>
          <p:nvPr/>
        </p:nvSpPr>
        <p:spPr bwMode="auto">
          <a:xfrm rot="11040000">
            <a:off x="3427290" y="2143232"/>
            <a:ext cx="5611481" cy="3032649"/>
          </a:xfrm>
          <a:custGeom>
            <a:avLst/>
            <a:gdLst>
              <a:gd name="connsiteX0" fmla="*/ 0 w 1320800"/>
              <a:gd name="connsiteY0" fmla="*/ 0 h 2006600"/>
              <a:gd name="connsiteX1" fmla="*/ 228600 w 1320800"/>
              <a:gd name="connsiteY1" fmla="*/ 819150 h 2006600"/>
              <a:gd name="connsiteX2" fmla="*/ 1085850 w 1320800"/>
              <a:gd name="connsiteY2" fmla="*/ 1143000 h 2006600"/>
              <a:gd name="connsiteX3" fmla="*/ 1200150 w 1320800"/>
              <a:gd name="connsiteY3" fmla="*/ 1866900 h 2006600"/>
              <a:gd name="connsiteX4" fmla="*/ 361950 w 1320800"/>
              <a:gd name="connsiteY4" fmla="*/ 1981200 h 2006600"/>
              <a:gd name="connsiteX0" fmla="*/ 0 w 1320800"/>
              <a:gd name="connsiteY0" fmla="*/ 0 h 2006600"/>
              <a:gd name="connsiteX1" fmla="*/ 413048 w 1320800"/>
              <a:gd name="connsiteY1" fmla="*/ 730188 h 2006600"/>
              <a:gd name="connsiteX2" fmla="*/ 1085850 w 1320800"/>
              <a:gd name="connsiteY2" fmla="*/ 1143000 h 2006600"/>
              <a:gd name="connsiteX3" fmla="*/ 1200150 w 1320800"/>
              <a:gd name="connsiteY3" fmla="*/ 1866900 h 2006600"/>
              <a:gd name="connsiteX4" fmla="*/ 361950 w 1320800"/>
              <a:gd name="connsiteY4" fmla="*/ 1981200 h 2006600"/>
              <a:gd name="connsiteX0" fmla="*/ 0 w 1339800"/>
              <a:gd name="connsiteY0" fmla="*/ 0 h 2140508"/>
              <a:gd name="connsiteX1" fmla="*/ 432048 w 1339800"/>
              <a:gd name="connsiteY1" fmla="*/ 864096 h 2140508"/>
              <a:gd name="connsiteX2" fmla="*/ 1104850 w 1339800"/>
              <a:gd name="connsiteY2" fmla="*/ 1276908 h 2140508"/>
              <a:gd name="connsiteX3" fmla="*/ 1219150 w 1339800"/>
              <a:gd name="connsiteY3" fmla="*/ 2000808 h 2140508"/>
              <a:gd name="connsiteX4" fmla="*/ 380950 w 1339800"/>
              <a:gd name="connsiteY4" fmla="*/ 2115108 h 2140508"/>
              <a:gd name="connsiteX0" fmla="*/ 0 w 1427328"/>
              <a:gd name="connsiteY0" fmla="*/ 0 h 2131301"/>
              <a:gd name="connsiteX1" fmla="*/ 432048 w 1427328"/>
              <a:gd name="connsiteY1" fmla="*/ 864096 h 2131301"/>
              <a:gd name="connsiteX2" fmla="*/ 1296144 w 1427328"/>
              <a:gd name="connsiteY2" fmla="*/ 1332148 h 2131301"/>
              <a:gd name="connsiteX3" fmla="*/ 1219150 w 1427328"/>
              <a:gd name="connsiteY3" fmla="*/ 2000808 h 2131301"/>
              <a:gd name="connsiteX4" fmla="*/ 380950 w 1427328"/>
              <a:gd name="connsiteY4" fmla="*/ 2115108 h 2131301"/>
              <a:gd name="connsiteX0" fmla="*/ 0 w 1448676"/>
              <a:gd name="connsiteY0" fmla="*/ 0 h 2182722"/>
              <a:gd name="connsiteX1" fmla="*/ 432048 w 1448676"/>
              <a:gd name="connsiteY1" fmla="*/ 864096 h 2182722"/>
              <a:gd name="connsiteX2" fmla="*/ 1296144 w 1448676"/>
              <a:gd name="connsiteY2" fmla="*/ 1332148 h 2182722"/>
              <a:gd name="connsiteX3" fmla="*/ 1296144 w 1448676"/>
              <a:gd name="connsiteY3" fmla="*/ 2052229 h 2182722"/>
              <a:gd name="connsiteX4" fmla="*/ 380950 w 1448676"/>
              <a:gd name="connsiteY4" fmla="*/ 2115108 h 2182722"/>
              <a:gd name="connsiteX0" fmla="*/ 0 w 1430674"/>
              <a:gd name="connsiteY0" fmla="*/ 0 h 2182722"/>
              <a:gd name="connsiteX1" fmla="*/ 432048 w 1430674"/>
              <a:gd name="connsiteY1" fmla="*/ 864096 h 2182722"/>
              <a:gd name="connsiteX2" fmla="*/ 1188132 w 1430674"/>
              <a:gd name="connsiteY2" fmla="*/ 1332148 h 2182722"/>
              <a:gd name="connsiteX3" fmla="*/ 1296144 w 1430674"/>
              <a:gd name="connsiteY3" fmla="*/ 2052229 h 2182722"/>
              <a:gd name="connsiteX4" fmla="*/ 380950 w 1430674"/>
              <a:gd name="connsiteY4" fmla="*/ 2115108 h 2182722"/>
              <a:gd name="connsiteX0" fmla="*/ 0 w 1308145"/>
              <a:gd name="connsiteY0" fmla="*/ 0 h 2146717"/>
              <a:gd name="connsiteX1" fmla="*/ 432048 w 1308145"/>
              <a:gd name="connsiteY1" fmla="*/ 864096 h 2146717"/>
              <a:gd name="connsiteX2" fmla="*/ 1188132 w 1308145"/>
              <a:gd name="connsiteY2" fmla="*/ 1332148 h 2146717"/>
              <a:gd name="connsiteX3" fmla="*/ 1152128 w 1308145"/>
              <a:gd name="connsiteY3" fmla="*/ 2016224 h 2146717"/>
              <a:gd name="connsiteX4" fmla="*/ 380950 w 1308145"/>
              <a:gd name="connsiteY4" fmla="*/ 2115108 h 2146717"/>
              <a:gd name="connsiteX0" fmla="*/ 0 w 1308145"/>
              <a:gd name="connsiteY0" fmla="*/ 0 h 2136237"/>
              <a:gd name="connsiteX1" fmla="*/ 432048 w 1308145"/>
              <a:gd name="connsiteY1" fmla="*/ 864096 h 2136237"/>
              <a:gd name="connsiteX2" fmla="*/ 1188132 w 1308145"/>
              <a:gd name="connsiteY2" fmla="*/ 1332148 h 2136237"/>
              <a:gd name="connsiteX3" fmla="*/ 1152128 w 1308145"/>
              <a:gd name="connsiteY3" fmla="*/ 2016224 h 2136237"/>
              <a:gd name="connsiteX4" fmla="*/ 360041 w 1308145"/>
              <a:gd name="connsiteY4" fmla="*/ 2052229 h 2136237"/>
              <a:gd name="connsiteX0" fmla="*/ 0 w 1302144"/>
              <a:gd name="connsiteY0" fmla="*/ 0 h 2136237"/>
              <a:gd name="connsiteX1" fmla="*/ 468053 w 1302144"/>
              <a:gd name="connsiteY1" fmla="*/ 936105 h 2136237"/>
              <a:gd name="connsiteX2" fmla="*/ 1188132 w 1302144"/>
              <a:gd name="connsiteY2" fmla="*/ 1332148 h 2136237"/>
              <a:gd name="connsiteX3" fmla="*/ 1152128 w 1302144"/>
              <a:gd name="connsiteY3" fmla="*/ 2016224 h 2136237"/>
              <a:gd name="connsiteX4" fmla="*/ 360041 w 1302144"/>
              <a:gd name="connsiteY4" fmla="*/ 2052229 h 2136237"/>
              <a:gd name="connsiteX0" fmla="*/ 0 w 1266139"/>
              <a:gd name="connsiteY0" fmla="*/ 0 h 2208244"/>
              <a:gd name="connsiteX1" fmla="*/ 432048 w 1266139"/>
              <a:gd name="connsiteY1" fmla="*/ 1008112 h 2208244"/>
              <a:gd name="connsiteX2" fmla="*/ 1152127 w 1266139"/>
              <a:gd name="connsiteY2" fmla="*/ 1404155 h 2208244"/>
              <a:gd name="connsiteX3" fmla="*/ 1116123 w 1266139"/>
              <a:gd name="connsiteY3" fmla="*/ 2088231 h 2208244"/>
              <a:gd name="connsiteX4" fmla="*/ 324036 w 1266139"/>
              <a:gd name="connsiteY4" fmla="*/ 2124236 h 2208244"/>
              <a:gd name="connsiteX0" fmla="*/ 0 w 1254138"/>
              <a:gd name="connsiteY0" fmla="*/ 0 h 2208244"/>
              <a:gd name="connsiteX1" fmla="*/ 504056 w 1254138"/>
              <a:gd name="connsiteY1" fmla="*/ 972108 h 2208244"/>
              <a:gd name="connsiteX2" fmla="*/ 1152127 w 1254138"/>
              <a:gd name="connsiteY2" fmla="*/ 1404155 h 2208244"/>
              <a:gd name="connsiteX3" fmla="*/ 1116123 w 1254138"/>
              <a:gd name="connsiteY3" fmla="*/ 2088231 h 2208244"/>
              <a:gd name="connsiteX4" fmla="*/ 324036 w 1254138"/>
              <a:gd name="connsiteY4" fmla="*/ 2124236 h 2208244"/>
              <a:gd name="connsiteX0" fmla="*/ 0 w 5682933"/>
              <a:gd name="connsiteY0" fmla="*/ 35868 h 2128771"/>
              <a:gd name="connsiteX1" fmla="*/ 504056 w 5682933"/>
              <a:gd name="connsiteY1" fmla="*/ 1007976 h 2128771"/>
              <a:gd name="connsiteX2" fmla="*/ 1152127 w 5682933"/>
              <a:gd name="connsiteY2" fmla="*/ 1440023 h 2128771"/>
              <a:gd name="connsiteX3" fmla="*/ 1116123 w 5682933"/>
              <a:gd name="connsiteY3" fmla="*/ 2124099 h 2128771"/>
              <a:gd name="connsiteX4" fmla="*/ 5664662 w 5682933"/>
              <a:gd name="connsiteY4" fmla="*/ 0 h 2128771"/>
              <a:gd name="connsiteX0" fmla="*/ 0 w 5734399"/>
              <a:gd name="connsiteY0" fmla="*/ 35868 h 1451397"/>
              <a:gd name="connsiteX1" fmla="*/ 504056 w 5734399"/>
              <a:gd name="connsiteY1" fmla="*/ 1007976 h 1451397"/>
              <a:gd name="connsiteX2" fmla="*/ 1152127 w 5734399"/>
              <a:gd name="connsiteY2" fmla="*/ 1440023 h 1451397"/>
              <a:gd name="connsiteX3" fmla="*/ 5012263 w 5734399"/>
              <a:gd name="connsiteY3" fmla="*/ 586847 h 1451397"/>
              <a:gd name="connsiteX4" fmla="*/ 5664662 w 5734399"/>
              <a:gd name="connsiteY4" fmla="*/ 0 h 1451397"/>
              <a:gd name="connsiteX0" fmla="*/ 2085 w 5736484"/>
              <a:gd name="connsiteY0" fmla="*/ 35868 h 1023543"/>
              <a:gd name="connsiteX1" fmla="*/ 506141 w 5736484"/>
              <a:gd name="connsiteY1" fmla="*/ 1007976 h 1023543"/>
              <a:gd name="connsiteX2" fmla="*/ 3857655 w 5736484"/>
              <a:gd name="connsiteY2" fmla="*/ 631641 h 1023543"/>
              <a:gd name="connsiteX3" fmla="*/ 5014348 w 5736484"/>
              <a:gd name="connsiteY3" fmla="*/ 586847 h 1023543"/>
              <a:gd name="connsiteX4" fmla="*/ 5666747 w 5736484"/>
              <a:gd name="connsiteY4" fmla="*/ 0 h 1023543"/>
              <a:gd name="connsiteX0" fmla="*/ 0 w 5734399"/>
              <a:gd name="connsiteY0" fmla="*/ 35868 h 634279"/>
              <a:gd name="connsiteX1" fmla="*/ 2717169 w 5734399"/>
              <a:gd name="connsiteY1" fmla="*/ 424880 h 634279"/>
              <a:gd name="connsiteX2" fmla="*/ 3855570 w 5734399"/>
              <a:gd name="connsiteY2" fmla="*/ 631641 h 634279"/>
              <a:gd name="connsiteX3" fmla="*/ 5012263 w 5734399"/>
              <a:gd name="connsiteY3" fmla="*/ 586847 h 634279"/>
              <a:gd name="connsiteX4" fmla="*/ 5664662 w 5734399"/>
              <a:gd name="connsiteY4" fmla="*/ 0 h 634279"/>
              <a:gd name="connsiteX0" fmla="*/ 0 w 4210399"/>
              <a:gd name="connsiteY0" fmla="*/ 194894 h 634279"/>
              <a:gd name="connsiteX1" fmla="*/ 1193169 w 4210399"/>
              <a:gd name="connsiteY1" fmla="*/ 424880 h 634279"/>
              <a:gd name="connsiteX2" fmla="*/ 2331570 w 4210399"/>
              <a:gd name="connsiteY2" fmla="*/ 631641 h 634279"/>
              <a:gd name="connsiteX3" fmla="*/ 3488263 w 4210399"/>
              <a:gd name="connsiteY3" fmla="*/ 586847 h 634279"/>
              <a:gd name="connsiteX4" fmla="*/ 4140662 w 4210399"/>
              <a:gd name="connsiteY4" fmla="*/ 0 h 634279"/>
              <a:gd name="connsiteX0" fmla="*/ 0 w 4210399"/>
              <a:gd name="connsiteY0" fmla="*/ 194894 h 634279"/>
              <a:gd name="connsiteX1" fmla="*/ 1193169 w 4210399"/>
              <a:gd name="connsiteY1" fmla="*/ 424880 h 634279"/>
              <a:gd name="connsiteX2" fmla="*/ 2331570 w 4210399"/>
              <a:gd name="connsiteY2" fmla="*/ 631641 h 634279"/>
              <a:gd name="connsiteX3" fmla="*/ 3488263 w 4210399"/>
              <a:gd name="connsiteY3" fmla="*/ 586847 h 634279"/>
              <a:gd name="connsiteX4" fmla="*/ 4140662 w 4210399"/>
              <a:gd name="connsiteY4" fmla="*/ 0 h 634279"/>
              <a:gd name="connsiteX0" fmla="*/ 0 w 4207819"/>
              <a:gd name="connsiteY0" fmla="*/ 194894 h 634279"/>
              <a:gd name="connsiteX1" fmla="*/ 1193169 w 4207819"/>
              <a:gd name="connsiteY1" fmla="*/ 424880 h 634279"/>
              <a:gd name="connsiteX2" fmla="*/ 2331570 w 4207819"/>
              <a:gd name="connsiteY2" fmla="*/ 631641 h 634279"/>
              <a:gd name="connsiteX3" fmla="*/ 3435254 w 4207819"/>
              <a:gd name="connsiteY3" fmla="*/ 586847 h 634279"/>
              <a:gd name="connsiteX4" fmla="*/ 4140662 w 4207819"/>
              <a:gd name="connsiteY4" fmla="*/ 0 h 634279"/>
              <a:gd name="connsiteX0" fmla="*/ 0 w 4207819"/>
              <a:gd name="connsiteY0" fmla="*/ 194894 h 639853"/>
              <a:gd name="connsiteX1" fmla="*/ 1193169 w 4207819"/>
              <a:gd name="connsiteY1" fmla="*/ 424880 h 639853"/>
              <a:gd name="connsiteX2" fmla="*/ 2331570 w 4207819"/>
              <a:gd name="connsiteY2" fmla="*/ 631641 h 639853"/>
              <a:gd name="connsiteX3" fmla="*/ 3435254 w 4207819"/>
              <a:gd name="connsiteY3" fmla="*/ 586847 h 639853"/>
              <a:gd name="connsiteX4" fmla="*/ 4140662 w 4207819"/>
              <a:gd name="connsiteY4" fmla="*/ 0 h 639853"/>
              <a:gd name="connsiteX0" fmla="*/ 0 w 4207819"/>
              <a:gd name="connsiteY0" fmla="*/ 194894 h 639853"/>
              <a:gd name="connsiteX1" fmla="*/ 1193169 w 4207819"/>
              <a:gd name="connsiteY1" fmla="*/ 424880 h 639853"/>
              <a:gd name="connsiteX2" fmla="*/ 2331570 w 4207819"/>
              <a:gd name="connsiteY2" fmla="*/ 631641 h 639853"/>
              <a:gd name="connsiteX3" fmla="*/ 3435254 w 4207819"/>
              <a:gd name="connsiteY3" fmla="*/ 586847 h 639853"/>
              <a:gd name="connsiteX4" fmla="*/ 4140662 w 4207819"/>
              <a:gd name="connsiteY4" fmla="*/ 0 h 639853"/>
              <a:gd name="connsiteX0" fmla="*/ 0 w 4207819"/>
              <a:gd name="connsiteY0" fmla="*/ 194894 h 651316"/>
              <a:gd name="connsiteX1" fmla="*/ 1193169 w 4207819"/>
              <a:gd name="connsiteY1" fmla="*/ 424880 h 651316"/>
              <a:gd name="connsiteX2" fmla="*/ 2331570 w 4207819"/>
              <a:gd name="connsiteY2" fmla="*/ 631641 h 651316"/>
              <a:gd name="connsiteX3" fmla="*/ 3435254 w 4207819"/>
              <a:gd name="connsiteY3" fmla="*/ 586847 h 651316"/>
              <a:gd name="connsiteX4" fmla="*/ 4140662 w 4207819"/>
              <a:gd name="connsiteY4" fmla="*/ 0 h 651316"/>
              <a:gd name="connsiteX0" fmla="*/ 0 w 4207819"/>
              <a:gd name="connsiteY0" fmla="*/ 194894 h 662576"/>
              <a:gd name="connsiteX1" fmla="*/ 1193169 w 4207819"/>
              <a:gd name="connsiteY1" fmla="*/ 424880 h 662576"/>
              <a:gd name="connsiteX2" fmla="*/ 2225553 w 4207819"/>
              <a:gd name="connsiteY2" fmla="*/ 644893 h 662576"/>
              <a:gd name="connsiteX3" fmla="*/ 3435254 w 4207819"/>
              <a:gd name="connsiteY3" fmla="*/ 586847 h 662576"/>
              <a:gd name="connsiteX4" fmla="*/ 4140662 w 4207819"/>
              <a:gd name="connsiteY4" fmla="*/ 0 h 662576"/>
              <a:gd name="connsiteX0" fmla="*/ 0 w 4207819"/>
              <a:gd name="connsiteY0" fmla="*/ 194894 h 659926"/>
              <a:gd name="connsiteX1" fmla="*/ 1193169 w 4207819"/>
              <a:gd name="connsiteY1" fmla="*/ 424880 h 659926"/>
              <a:gd name="connsiteX2" fmla="*/ 2225553 w 4207819"/>
              <a:gd name="connsiteY2" fmla="*/ 644893 h 659926"/>
              <a:gd name="connsiteX3" fmla="*/ 3435254 w 4207819"/>
              <a:gd name="connsiteY3" fmla="*/ 586847 h 659926"/>
              <a:gd name="connsiteX4" fmla="*/ 4140662 w 4207819"/>
              <a:gd name="connsiteY4" fmla="*/ 0 h 659926"/>
              <a:gd name="connsiteX0" fmla="*/ 0 w 4207819"/>
              <a:gd name="connsiteY0" fmla="*/ 194894 h 653454"/>
              <a:gd name="connsiteX1" fmla="*/ 1193169 w 4207819"/>
              <a:gd name="connsiteY1" fmla="*/ 424880 h 653454"/>
              <a:gd name="connsiteX2" fmla="*/ 2225553 w 4207819"/>
              <a:gd name="connsiteY2" fmla="*/ 644893 h 653454"/>
              <a:gd name="connsiteX3" fmla="*/ 3435254 w 4207819"/>
              <a:gd name="connsiteY3" fmla="*/ 586847 h 653454"/>
              <a:gd name="connsiteX4" fmla="*/ 4140662 w 4207819"/>
              <a:gd name="connsiteY4" fmla="*/ 0 h 653454"/>
              <a:gd name="connsiteX0" fmla="*/ 0 w 4209735"/>
              <a:gd name="connsiteY0" fmla="*/ 194894 h 692061"/>
              <a:gd name="connsiteX1" fmla="*/ 1193169 w 4209735"/>
              <a:gd name="connsiteY1" fmla="*/ 424880 h 692061"/>
              <a:gd name="connsiteX2" fmla="*/ 2225553 w 4209735"/>
              <a:gd name="connsiteY2" fmla="*/ 644893 h 692061"/>
              <a:gd name="connsiteX3" fmla="*/ 3475010 w 4209735"/>
              <a:gd name="connsiteY3" fmla="*/ 679613 h 692061"/>
              <a:gd name="connsiteX4" fmla="*/ 4140662 w 4209735"/>
              <a:gd name="connsiteY4" fmla="*/ 0 h 692061"/>
              <a:gd name="connsiteX0" fmla="*/ 0 w 4203982"/>
              <a:gd name="connsiteY0" fmla="*/ 194894 h 683935"/>
              <a:gd name="connsiteX1" fmla="*/ 1193169 w 4203982"/>
              <a:gd name="connsiteY1" fmla="*/ 424880 h 683935"/>
              <a:gd name="connsiteX2" fmla="*/ 2225553 w 4203982"/>
              <a:gd name="connsiteY2" fmla="*/ 644893 h 683935"/>
              <a:gd name="connsiteX3" fmla="*/ 3475010 w 4203982"/>
              <a:gd name="connsiteY3" fmla="*/ 679613 h 683935"/>
              <a:gd name="connsiteX4" fmla="*/ 4140662 w 4203982"/>
              <a:gd name="connsiteY4" fmla="*/ 0 h 683935"/>
              <a:gd name="connsiteX0" fmla="*/ 0 w 4203982"/>
              <a:gd name="connsiteY0" fmla="*/ 194894 h 683935"/>
              <a:gd name="connsiteX1" fmla="*/ 1193169 w 4203982"/>
              <a:gd name="connsiteY1" fmla="*/ 424880 h 683935"/>
              <a:gd name="connsiteX2" fmla="*/ 2225553 w 4203982"/>
              <a:gd name="connsiteY2" fmla="*/ 644893 h 683935"/>
              <a:gd name="connsiteX3" fmla="*/ 3475010 w 4203982"/>
              <a:gd name="connsiteY3" fmla="*/ 679613 h 683935"/>
              <a:gd name="connsiteX4" fmla="*/ 4140662 w 4203982"/>
              <a:gd name="connsiteY4" fmla="*/ 0 h 683935"/>
              <a:gd name="connsiteX0" fmla="*/ 0 w 4201436"/>
              <a:gd name="connsiteY0" fmla="*/ 194894 h 679613"/>
              <a:gd name="connsiteX1" fmla="*/ 1193169 w 4201436"/>
              <a:gd name="connsiteY1" fmla="*/ 424880 h 679613"/>
              <a:gd name="connsiteX2" fmla="*/ 2225553 w 4201436"/>
              <a:gd name="connsiteY2" fmla="*/ 644893 h 679613"/>
              <a:gd name="connsiteX3" fmla="*/ 3475010 w 4201436"/>
              <a:gd name="connsiteY3" fmla="*/ 679613 h 679613"/>
              <a:gd name="connsiteX4" fmla="*/ 4140662 w 4201436"/>
              <a:gd name="connsiteY4" fmla="*/ 0 h 679613"/>
              <a:gd name="connsiteX0" fmla="*/ 0 w 4201436"/>
              <a:gd name="connsiteY0" fmla="*/ 194894 h 791628"/>
              <a:gd name="connsiteX1" fmla="*/ 1193169 w 4201436"/>
              <a:gd name="connsiteY1" fmla="*/ 424880 h 791628"/>
              <a:gd name="connsiteX2" fmla="*/ 2225553 w 4201436"/>
              <a:gd name="connsiteY2" fmla="*/ 644893 h 791628"/>
              <a:gd name="connsiteX3" fmla="*/ 3475010 w 4201436"/>
              <a:gd name="connsiteY3" fmla="*/ 679613 h 791628"/>
              <a:gd name="connsiteX4" fmla="*/ 4140662 w 4201436"/>
              <a:gd name="connsiteY4" fmla="*/ 0 h 791628"/>
              <a:gd name="connsiteX0" fmla="*/ 0 w 4233636"/>
              <a:gd name="connsiteY0" fmla="*/ 194894 h 791628"/>
              <a:gd name="connsiteX1" fmla="*/ 1193169 w 4233636"/>
              <a:gd name="connsiteY1" fmla="*/ 424880 h 791628"/>
              <a:gd name="connsiteX2" fmla="*/ 2225553 w 4233636"/>
              <a:gd name="connsiteY2" fmla="*/ 644893 h 791628"/>
              <a:gd name="connsiteX3" fmla="*/ 3475010 w 4233636"/>
              <a:gd name="connsiteY3" fmla="*/ 679613 h 791628"/>
              <a:gd name="connsiteX4" fmla="*/ 4140662 w 4233636"/>
              <a:gd name="connsiteY4" fmla="*/ 0 h 791628"/>
              <a:gd name="connsiteX0" fmla="*/ 0 w 4225188"/>
              <a:gd name="connsiteY0" fmla="*/ 194894 h 781360"/>
              <a:gd name="connsiteX1" fmla="*/ 1193169 w 4225188"/>
              <a:gd name="connsiteY1" fmla="*/ 424880 h 781360"/>
              <a:gd name="connsiteX2" fmla="*/ 2225553 w 4225188"/>
              <a:gd name="connsiteY2" fmla="*/ 644893 h 781360"/>
              <a:gd name="connsiteX3" fmla="*/ 3368993 w 4225188"/>
              <a:gd name="connsiteY3" fmla="*/ 666361 h 781360"/>
              <a:gd name="connsiteX4" fmla="*/ 4140662 w 4225188"/>
              <a:gd name="connsiteY4" fmla="*/ 0 h 781360"/>
              <a:gd name="connsiteX0" fmla="*/ 0 w 4221712"/>
              <a:gd name="connsiteY0" fmla="*/ 194894 h 781360"/>
              <a:gd name="connsiteX1" fmla="*/ 1193169 w 4221712"/>
              <a:gd name="connsiteY1" fmla="*/ 424880 h 781360"/>
              <a:gd name="connsiteX2" fmla="*/ 2225553 w 4221712"/>
              <a:gd name="connsiteY2" fmla="*/ 644893 h 781360"/>
              <a:gd name="connsiteX3" fmla="*/ 3368993 w 4221712"/>
              <a:gd name="connsiteY3" fmla="*/ 666361 h 781360"/>
              <a:gd name="connsiteX4" fmla="*/ 4140662 w 4221712"/>
              <a:gd name="connsiteY4" fmla="*/ 0 h 781360"/>
              <a:gd name="connsiteX0" fmla="*/ 0 w 4221712"/>
              <a:gd name="connsiteY0" fmla="*/ 194894 h 734271"/>
              <a:gd name="connsiteX1" fmla="*/ 1193169 w 4221712"/>
              <a:gd name="connsiteY1" fmla="*/ 424880 h 734271"/>
              <a:gd name="connsiteX2" fmla="*/ 2225553 w 4221712"/>
              <a:gd name="connsiteY2" fmla="*/ 644893 h 734271"/>
              <a:gd name="connsiteX3" fmla="*/ 3368993 w 4221712"/>
              <a:gd name="connsiteY3" fmla="*/ 666361 h 734271"/>
              <a:gd name="connsiteX4" fmla="*/ 4140662 w 4221712"/>
              <a:gd name="connsiteY4" fmla="*/ 0 h 734271"/>
              <a:gd name="connsiteX0" fmla="*/ 0 w 4221712"/>
              <a:gd name="connsiteY0" fmla="*/ 194894 h 772236"/>
              <a:gd name="connsiteX1" fmla="*/ 1193169 w 4221712"/>
              <a:gd name="connsiteY1" fmla="*/ 424880 h 772236"/>
              <a:gd name="connsiteX2" fmla="*/ 2265309 w 4221712"/>
              <a:gd name="connsiteY2" fmla="*/ 737658 h 772236"/>
              <a:gd name="connsiteX3" fmla="*/ 3368993 w 4221712"/>
              <a:gd name="connsiteY3" fmla="*/ 666361 h 772236"/>
              <a:gd name="connsiteX4" fmla="*/ 4140662 w 4221712"/>
              <a:gd name="connsiteY4" fmla="*/ 0 h 772236"/>
              <a:gd name="connsiteX0" fmla="*/ 0 w 4221712"/>
              <a:gd name="connsiteY0" fmla="*/ 194894 h 765974"/>
              <a:gd name="connsiteX1" fmla="*/ 1206421 w 4221712"/>
              <a:gd name="connsiteY1" fmla="*/ 517645 h 765974"/>
              <a:gd name="connsiteX2" fmla="*/ 2265309 w 4221712"/>
              <a:gd name="connsiteY2" fmla="*/ 737658 h 765974"/>
              <a:gd name="connsiteX3" fmla="*/ 3368993 w 4221712"/>
              <a:gd name="connsiteY3" fmla="*/ 666361 h 765974"/>
              <a:gd name="connsiteX4" fmla="*/ 4140662 w 4221712"/>
              <a:gd name="connsiteY4" fmla="*/ 0 h 765974"/>
              <a:gd name="connsiteX0" fmla="*/ 0 w 4181956"/>
              <a:gd name="connsiteY0" fmla="*/ 261155 h 765974"/>
              <a:gd name="connsiteX1" fmla="*/ 1166665 w 4181956"/>
              <a:gd name="connsiteY1" fmla="*/ 517645 h 765974"/>
              <a:gd name="connsiteX2" fmla="*/ 2225553 w 4181956"/>
              <a:gd name="connsiteY2" fmla="*/ 737658 h 765974"/>
              <a:gd name="connsiteX3" fmla="*/ 3329237 w 4181956"/>
              <a:gd name="connsiteY3" fmla="*/ 666361 h 765974"/>
              <a:gd name="connsiteX4" fmla="*/ 4100906 w 4181956"/>
              <a:gd name="connsiteY4" fmla="*/ 0 h 765974"/>
              <a:gd name="connsiteX0" fmla="*/ 0 w 4181956"/>
              <a:gd name="connsiteY0" fmla="*/ 261155 h 765974"/>
              <a:gd name="connsiteX1" fmla="*/ 1166665 w 4181956"/>
              <a:gd name="connsiteY1" fmla="*/ 517645 h 765974"/>
              <a:gd name="connsiteX2" fmla="*/ 2225553 w 4181956"/>
              <a:gd name="connsiteY2" fmla="*/ 737658 h 765974"/>
              <a:gd name="connsiteX3" fmla="*/ 3329237 w 4181956"/>
              <a:gd name="connsiteY3" fmla="*/ 666361 h 765974"/>
              <a:gd name="connsiteX4" fmla="*/ 4100906 w 4181956"/>
              <a:gd name="connsiteY4" fmla="*/ 0 h 765974"/>
              <a:gd name="connsiteX0" fmla="*/ 0 w 4256460"/>
              <a:gd name="connsiteY0" fmla="*/ 261155 h 765974"/>
              <a:gd name="connsiteX1" fmla="*/ 1166665 w 4256460"/>
              <a:gd name="connsiteY1" fmla="*/ 517645 h 765974"/>
              <a:gd name="connsiteX2" fmla="*/ 2225553 w 4256460"/>
              <a:gd name="connsiteY2" fmla="*/ 737658 h 765974"/>
              <a:gd name="connsiteX3" fmla="*/ 3329237 w 4256460"/>
              <a:gd name="connsiteY3" fmla="*/ 666361 h 765974"/>
              <a:gd name="connsiteX4" fmla="*/ 4180419 w 4256460"/>
              <a:gd name="connsiteY4" fmla="*/ 0 h 765974"/>
              <a:gd name="connsiteX0" fmla="*/ 0 w 4483074"/>
              <a:gd name="connsiteY0" fmla="*/ 261155 h 765974"/>
              <a:gd name="connsiteX1" fmla="*/ 1166665 w 4483074"/>
              <a:gd name="connsiteY1" fmla="*/ 517645 h 765974"/>
              <a:gd name="connsiteX2" fmla="*/ 2225553 w 4483074"/>
              <a:gd name="connsiteY2" fmla="*/ 737658 h 765974"/>
              <a:gd name="connsiteX3" fmla="*/ 3329237 w 4483074"/>
              <a:gd name="connsiteY3" fmla="*/ 666361 h 765974"/>
              <a:gd name="connsiteX4" fmla="*/ 4418958 w 4483074"/>
              <a:gd name="connsiteY4" fmla="*/ 0 h 765974"/>
              <a:gd name="connsiteX0" fmla="*/ 0 w 4418958"/>
              <a:gd name="connsiteY0" fmla="*/ 261155 h 765974"/>
              <a:gd name="connsiteX1" fmla="*/ 1166665 w 4418958"/>
              <a:gd name="connsiteY1" fmla="*/ 517645 h 765974"/>
              <a:gd name="connsiteX2" fmla="*/ 2225553 w 4418958"/>
              <a:gd name="connsiteY2" fmla="*/ 737658 h 765974"/>
              <a:gd name="connsiteX3" fmla="*/ 3329237 w 4418958"/>
              <a:gd name="connsiteY3" fmla="*/ 666361 h 765974"/>
              <a:gd name="connsiteX4" fmla="*/ 4418958 w 4418958"/>
              <a:gd name="connsiteY4" fmla="*/ 0 h 765974"/>
              <a:gd name="connsiteX0" fmla="*/ 0 w 4418958"/>
              <a:gd name="connsiteY0" fmla="*/ 261155 h 686516"/>
              <a:gd name="connsiteX1" fmla="*/ 1166665 w 4418958"/>
              <a:gd name="connsiteY1" fmla="*/ 517645 h 686516"/>
              <a:gd name="connsiteX2" fmla="*/ 2396035 w 4418958"/>
              <a:gd name="connsiteY2" fmla="*/ 102227 h 686516"/>
              <a:gd name="connsiteX3" fmla="*/ 3329237 w 4418958"/>
              <a:gd name="connsiteY3" fmla="*/ 666361 h 686516"/>
              <a:gd name="connsiteX4" fmla="*/ 4418958 w 4418958"/>
              <a:gd name="connsiteY4" fmla="*/ 0 h 686516"/>
              <a:gd name="connsiteX0" fmla="*/ 0 w 4418958"/>
              <a:gd name="connsiteY0" fmla="*/ 261155 h 687109"/>
              <a:gd name="connsiteX1" fmla="*/ 1399140 w 4418958"/>
              <a:gd name="connsiteY1" fmla="*/ 378160 h 687109"/>
              <a:gd name="connsiteX2" fmla="*/ 2396035 w 4418958"/>
              <a:gd name="connsiteY2" fmla="*/ 102227 h 687109"/>
              <a:gd name="connsiteX3" fmla="*/ 3329237 w 4418958"/>
              <a:gd name="connsiteY3" fmla="*/ 666361 h 687109"/>
              <a:gd name="connsiteX4" fmla="*/ 4418958 w 4418958"/>
              <a:gd name="connsiteY4" fmla="*/ 0 h 687109"/>
              <a:gd name="connsiteX0" fmla="*/ 0 w 4341466"/>
              <a:gd name="connsiteY0" fmla="*/ 447134 h 687109"/>
              <a:gd name="connsiteX1" fmla="*/ 1321648 w 4341466"/>
              <a:gd name="connsiteY1" fmla="*/ 378160 h 687109"/>
              <a:gd name="connsiteX2" fmla="*/ 2318543 w 4341466"/>
              <a:gd name="connsiteY2" fmla="*/ 102227 h 687109"/>
              <a:gd name="connsiteX3" fmla="*/ 3251745 w 4341466"/>
              <a:gd name="connsiteY3" fmla="*/ 666361 h 687109"/>
              <a:gd name="connsiteX4" fmla="*/ 4341466 w 4341466"/>
              <a:gd name="connsiteY4" fmla="*/ 0 h 687109"/>
              <a:gd name="connsiteX0" fmla="*/ 0 w 4341466"/>
              <a:gd name="connsiteY0" fmla="*/ 447134 h 687109"/>
              <a:gd name="connsiteX1" fmla="*/ 1321648 w 4341466"/>
              <a:gd name="connsiteY1" fmla="*/ 378160 h 687109"/>
              <a:gd name="connsiteX2" fmla="*/ 2318543 w 4341466"/>
              <a:gd name="connsiteY2" fmla="*/ 102227 h 687109"/>
              <a:gd name="connsiteX3" fmla="*/ 3251745 w 4341466"/>
              <a:gd name="connsiteY3" fmla="*/ 666361 h 687109"/>
              <a:gd name="connsiteX4" fmla="*/ 4341466 w 4341466"/>
              <a:gd name="connsiteY4" fmla="*/ 0 h 687109"/>
              <a:gd name="connsiteX0" fmla="*/ 0 w 4294971"/>
              <a:gd name="connsiteY0" fmla="*/ 555622 h 687109"/>
              <a:gd name="connsiteX1" fmla="*/ 1275153 w 4294971"/>
              <a:gd name="connsiteY1" fmla="*/ 378160 h 687109"/>
              <a:gd name="connsiteX2" fmla="*/ 2272048 w 4294971"/>
              <a:gd name="connsiteY2" fmla="*/ 102227 h 687109"/>
              <a:gd name="connsiteX3" fmla="*/ 3205250 w 4294971"/>
              <a:gd name="connsiteY3" fmla="*/ 666361 h 687109"/>
              <a:gd name="connsiteX4" fmla="*/ 4294971 w 4294971"/>
              <a:gd name="connsiteY4" fmla="*/ 0 h 687109"/>
              <a:gd name="connsiteX0" fmla="*/ 0 w 4294971"/>
              <a:gd name="connsiteY0" fmla="*/ 555622 h 687245"/>
              <a:gd name="connsiteX1" fmla="*/ 1089173 w 4294971"/>
              <a:gd name="connsiteY1" fmla="*/ 347163 h 687245"/>
              <a:gd name="connsiteX2" fmla="*/ 2272048 w 4294971"/>
              <a:gd name="connsiteY2" fmla="*/ 102227 h 687245"/>
              <a:gd name="connsiteX3" fmla="*/ 3205250 w 4294971"/>
              <a:gd name="connsiteY3" fmla="*/ 666361 h 687245"/>
              <a:gd name="connsiteX4" fmla="*/ 4294971 w 4294971"/>
              <a:gd name="connsiteY4" fmla="*/ 0 h 687245"/>
              <a:gd name="connsiteX0" fmla="*/ 0 w 4294971"/>
              <a:gd name="connsiteY0" fmla="*/ 555622 h 687109"/>
              <a:gd name="connsiteX1" fmla="*/ 1228658 w 4294971"/>
              <a:gd name="connsiteY1" fmla="*/ 378160 h 687109"/>
              <a:gd name="connsiteX2" fmla="*/ 2272048 w 4294971"/>
              <a:gd name="connsiteY2" fmla="*/ 102227 h 687109"/>
              <a:gd name="connsiteX3" fmla="*/ 3205250 w 4294971"/>
              <a:gd name="connsiteY3" fmla="*/ 666361 h 687109"/>
              <a:gd name="connsiteX4" fmla="*/ 4294971 w 4294971"/>
              <a:gd name="connsiteY4" fmla="*/ 0 h 687109"/>
              <a:gd name="connsiteX0" fmla="*/ 0 w 4294971"/>
              <a:gd name="connsiteY0" fmla="*/ 555622 h 687245"/>
              <a:gd name="connsiteX1" fmla="*/ 1275153 w 4294971"/>
              <a:gd name="connsiteY1" fmla="*/ 347163 h 687245"/>
              <a:gd name="connsiteX2" fmla="*/ 2272048 w 4294971"/>
              <a:gd name="connsiteY2" fmla="*/ 102227 h 687245"/>
              <a:gd name="connsiteX3" fmla="*/ 3205250 w 4294971"/>
              <a:gd name="connsiteY3" fmla="*/ 666361 h 687245"/>
              <a:gd name="connsiteX4" fmla="*/ 4294971 w 4294971"/>
              <a:gd name="connsiteY4" fmla="*/ 0 h 687245"/>
              <a:gd name="connsiteX0" fmla="*/ 0 w 4294971"/>
              <a:gd name="connsiteY0" fmla="*/ 555622 h 687245"/>
              <a:gd name="connsiteX1" fmla="*/ 1275153 w 4294971"/>
              <a:gd name="connsiteY1" fmla="*/ 347163 h 687245"/>
              <a:gd name="connsiteX2" fmla="*/ 2272048 w 4294971"/>
              <a:gd name="connsiteY2" fmla="*/ 102227 h 687245"/>
              <a:gd name="connsiteX3" fmla="*/ 3205250 w 4294971"/>
              <a:gd name="connsiteY3" fmla="*/ 666361 h 687245"/>
              <a:gd name="connsiteX4" fmla="*/ 4294971 w 4294971"/>
              <a:gd name="connsiteY4" fmla="*/ 0 h 687245"/>
              <a:gd name="connsiteX0" fmla="*/ 0 w 4294971"/>
              <a:gd name="connsiteY0" fmla="*/ 555622 h 555622"/>
              <a:gd name="connsiteX1" fmla="*/ 1275153 w 4294971"/>
              <a:gd name="connsiteY1" fmla="*/ 347163 h 555622"/>
              <a:gd name="connsiteX2" fmla="*/ 2272048 w 4294971"/>
              <a:gd name="connsiteY2" fmla="*/ 102227 h 555622"/>
              <a:gd name="connsiteX3" fmla="*/ 3484219 w 4294971"/>
              <a:gd name="connsiteY3" fmla="*/ 15432 h 555622"/>
              <a:gd name="connsiteX4" fmla="*/ 4294971 w 4294971"/>
              <a:gd name="connsiteY4" fmla="*/ 0 h 555622"/>
              <a:gd name="connsiteX0" fmla="*/ 0 w 4294971"/>
              <a:gd name="connsiteY0" fmla="*/ 555622 h 555622"/>
              <a:gd name="connsiteX1" fmla="*/ 1275153 w 4294971"/>
              <a:gd name="connsiteY1" fmla="*/ 347163 h 555622"/>
              <a:gd name="connsiteX2" fmla="*/ 2272048 w 4294971"/>
              <a:gd name="connsiteY2" fmla="*/ 102227 h 555622"/>
              <a:gd name="connsiteX3" fmla="*/ 3484219 w 4294971"/>
              <a:gd name="connsiteY3" fmla="*/ 15432 h 555622"/>
              <a:gd name="connsiteX4" fmla="*/ 4294971 w 4294971"/>
              <a:gd name="connsiteY4" fmla="*/ 0 h 555622"/>
              <a:gd name="connsiteX0" fmla="*/ 0 w 4294971"/>
              <a:gd name="connsiteY0" fmla="*/ 555622 h 555622"/>
              <a:gd name="connsiteX1" fmla="*/ 1275153 w 4294971"/>
              <a:gd name="connsiteY1" fmla="*/ 347163 h 555622"/>
              <a:gd name="connsiteX2" fmla="*/ 2272048 w 4294971"/>
              <a:gd name="connsiteY2" fmla="*/ 102227 h 555622"/>
              <a:gd name="connsiteX3" fmla="*/ 3484219 w 4294971"/>
              <a:gd name="connsiteY3" fmla="*/ 15432 h 555622"/>
              <a:gd name="connsiteX4" fmla="*/ 4294971 w 4294971"/>
              <a:gd name="connsiteY4" fmla="*/ 0 h 555622"/>
              <a:gd name="connsiteX0" fmla="*/ 0 w 4294971"/>
              <a:gd name="connsiteY0" fmla="*/ 555622 h 555622"/>
              <a:gd name="connsiteX1" fmla="*/ 1275153 w 4294971"/>
              <a:gd name="connsiteY1" fmla="*/ 347163 h 555622"/>
              <a:gd name="connsiteX2" fmla="*/ 2272048 w 4294971"/>
              <a:gd name="connsiteY2" fmla="*/ 102227 h 555622"/>
              <a:gd name="connsiteX3" fmla="*/ 2621410 w 4294971"/>
              <a:gd name="connsiteY3" fmla="*/ 58815 h 555622"/>
              <a:gd name="connsiteX4" fmla="*/ 3484219 w 4294971"/>
              <a:gd name="connsiteY4" fmla="*/ 15432 h 555622"/>
              <a:gd name="connsiteX5" fmla="*/ 4294971 w 4294971"/>
              <a:gd name="connsiteY5" fmla="*/ 0 h 555622"/>
              <a:gd name="connsiteX0" fmla="*/ 0 w 4294971"/>
              <a:gd name="connsiteY0" fmla="*/ 555622 h 555622"/>
              <a:gd name="connsiteX1" fmla="*/ 1275153 w 4294971"/>
              <a:gd name="connsiteY1" fmla="*/ 347163 h 555622"/>
              <a:gd name="connsiteX2" fmla="*/ 2272048 w 4294971"/>
              <a:gd name="connsiteY2" fmla="*/ 102227 h 555622"/>
              <a:gd name="connsiteX3" fmla="*/ 2621410 w 4294971"/>
              <a:gd name="connsiteY3" fmla="*/ 58815 h 555622"/>
              <a:gd name="connsiteX4" fmla="*/ 3375731 w 4294971"/>
              <a:gd name="connsiteY4" fmla="*/ 92924 h 555622"/>
              <a:gd name="connsiteX5" fmla="*/ 4294971 w 4294971"/>
              <a:gd name="connsiteY5" fmla="*/ 0 h 555622"/>
              <a:gd name="connsiteX0" fmla="*/ 0 w 4697927"/>
              <a:gd name="connsiteY0" fmla="*/ 499043 h 539153"/>
              <a:gd name="connsiteX1" fmla="*/ 1275153 w 4697927"/>
              <a:gd name="connsiteY1" fmla="*/ 290584 h 539153"/>
              <a:gd name="connsiteX2" fmla="*/ 2272048 w 4697927"/>
              <a:gd name="connsiteY2" fmla="*/ 45648 h 539153"/>
              <a:gd name="connsiteX3" fmla="*/ 2621410 w 4697927"/>
              <a:gd name="connsiteY3" fmla="*/ 2236 h 539153"/>
              <a:gd name="connsiteX4" fmla="*/ 3375731 w 4697927"/>
              <a:gd name="connsiteY4" fmla="*/ 36345 h 539153"/>
              <a:gd name="connsiteX5" fmla="*/ 4697927 w 4697927"/>
              <a:gd name="connsiteY5" fmla="*/ 454865 h 539153"/>
              <a:gd name="connsiteX0" fmla="*/ 0 w 4697927"/>
              <a:gd name="connsiteY0" fmla="*/ 499043 h 499043"/>
              <a:gd name="connsiteX1" fmla="*/ 1275153 w 4697927"/>
              <a:gd name="connsiteY1" fmla="*/ 290584 h 499043"/>
              <a:gd name="connsiteX2" fmla="*/ 2272048 w 4697927"/>
              <a:gd name="connsiteY2" fmla="*/ 45648 h 499043"/>
              <a:gd name="connsiteX3" fmla="*/ 2621410 w 4697927"/>
              <a:gd name="connsiteY3" fmla="*/ 2236 h 499043"/>
              <a:gd name="connsiteX4" fmla="*/ 3375731 w 4697927"/>
              <a:gd name="connsiteY4" fmla="*/ 36345 h 499043"/>
              <a:gd name="connsiteX5" fmla="*/ 4697927 w 4697927"/>
              <a:gd name="connsiteY5" fmla="*/ 454865 h 499043"/>
              <a:gd name="connsiteX0" fmla="*/ 0 w 4697927"/>
              <a:gd name="connsiteY0" fmla="*/ 499043 h 733835"/>
              <a:gd name="connsiteX1" fmla="*/ 1275153 w 4697927"/>
              <a:gd name="connsiteY1" fmla="*/ 290584 h 733835"/>
              <a:gd name="connsiteX2" fmla="*/ 2272048 w 4697927"/>
              <a:gd name="connsiteY2" fmla="*/ 45648 h 733835"/>
              <a:gd name="connsiteX3" fmla="*/ 2621410 w 4697927"/>
              <a:gd name="connsiteY3" fmla="*/ 2236 h 733835"/>
              <a:gd name="connsiteX4" fmla="*/ 3375731 w 4697927"/>
              <a:gd name="connsiteY4" fmla="*/ 36345 h 733835"/>
              <a:gd name="connsiteX5" fmla="*/ 4697927 w 4697927"/>
              <a:gd name="connsiteY5" fmla="*/ 733835 h 733835"/>
              <a:gd name="connsiteX0" fmla="*/ 0 w 4697927"/>
              <a:gd name="connsiteY0" fmla="*/ 472472 h 707264"/>
              <a:gd name="connsiteX1" fmla="*/ 1275153 w 4697927"/>
              <a:gd name="connsiteY1" fmla="*/ 264013 h 707264"/>
              <a:gd name="connsiteX2" fmla="*/ 2272048 w 4697927"/>
              <a:gd name="connsiteY2" fmla="*/ 19077 h 707264"/>
              <a:gd name="connsiteX3" fmla="*/ 2760895 w 4697927"/>
              <a:gd name="connsiteY3" fmla="*/ 6661 h 707264"/>
              <a:gd name="connsiteX4" fmla="*/ 3375731 w 4697927"/>
              <a:gd name="connsiteY4" fmla="*/ 9774 h 707264"/>
              <a:gd name="connsiteX5" fmla="*/ 4697927 w 4697927"/>
              <a:gd name="connsiteY5" fmla="*/ 707264 h 707264"/>
              <a:gd name="connsiteX0" fmla="*/ 0 w 4697927"/>
              <a:gd name="connsiteY0" fmla="*/ 493694 h 728486"/>
              <a:gd name="connsiteX1" fmla="*/ 1275153 w 4697927"/>
              <a:gd name="connsiteY1" fmla="*/ 285235 h 728486"/>
              <a:gd name="connsiteX2" fmla="*/ 2272048 w 4697927"/>
              <a:gd name="connsiteY2" fmla="*/ 40299 h 728486"/>
              <a:gd name="connsiteX3" fmla="*/ 2760895 w 4697927"/>
              <a:gd name="connsiteY3" fmla="*/ 27883 h 728486"/>
              <a:gd name="connsiteX4" fmla="*/ 3453222 w 4697927"/>
              <a:gd name="connsiteY4" fmla="*/ 0 h 728486"/>
              <a:gd name="connsiteX5" fmla="*/ 4697927 w 4697927"/>
              <a:gd name="connsiteY5" fmla="*/ 728486 h 728486"/>
              <a:gd name="connsiteX0" fmla="*/ 0 w 4697927"/>
              <a:gd name="connsiteY0" fmla="*/ 515181 h 749973"/>
              <a:gd name="connsiteX1" fmla="*/ 1275153 w 4697927"/>
              <a:gd name="connsiteY1" fmla="*/ 306722 h 749973"/>
              <a:gd name="connsiteX2" fmla="*/ 2272048 w 4697927"/>
              <a:gd name="connsiteY2" fmla="*/ 61786 h 749973"/>
              <a:gd name="connsiteX3" fmla="*/ 2636908 w 4697927"/>
              <a:gd name="connsiteY3" fmla="*/ 2875 h 749973"/>
              <a:gd name="connsiteX4" fmla="*/ 3453222 w 4697927"/>
              <a:gd name="connsiteY4" fmla="*/ 21487 h 749973"/>
              <a:gd name="connsiteX5" fmla="*/ 4697927 w 4697927"/>
              <a:gd name="connsiteY5" fmla="*/ 749973 h 749973"/>
              <a:gd name="connsiteX0" fmla="*/ 0 w 4697927"/>
              <a:gd name="connsiteY0" fmla="*/ 515181 h 749973"/>
              <a:gd name="connsiteX1" fmla="*/ 1275153 w 4697927"/>
              <a:gd name="connsiteY1" fmla="*/ 306722 h 749973"/>
              <a:gd name="connsiteX2" fmla="*/ 2132564 w 4697927"/>
              <a:gd name="connsiteY2" fmla="*/ 30790 h 749973"/>
              <a:gd name="connsiteX3" fmla="*/ 2636908 w 4697927"/>
              <a:gd name="connsiteY3" fmla="*/ 2875 h 749973"/>
              <a:gd name="connsiteX4" fmla="*/ 3453222 w 4697927"/>
              <a:gd name="connsiteY4" fmla="*/ 21487 h 749973"/>
              <a:gd name="connsiteX5" fmla="*/ 4697927 w 4697927"/>
              <a:gd name="connsiteY5" fmla="*/ 749973 h 749973"/>
              <a:gd name="connsiteX0" fmla="*/ 0 w 4697927"/>
              <a:gd name="connsiteY0" fmla="*/ 497680 h 732472"/>
              <a:gd name="connsiteX1" fmla="*/ 1275153 w 4697927"/>
              <a:gd name="connsiteY1" fmla="*/ 289221 h 732472"/>
              <a:gd name="connsiteX2" fmla="*/ 2132564 w 4697927"/>
              <a:gd name="connsiteY2" fmla="*/ 13289 h 732472"/>
              <a:gd name="connsiteX3" fmla="*/ 2683403 w 4697927"/>
              <a:gd name="connsiteY3" fmla="*/ 31869 h 732472"/>
              <a:gd name="connsiteX4" fmla="*/ 3453222 w 4697927"/>
              <a:gd name="connsiteY4" fmla="*/ 3986 h 732472"/>
              <a:gd name="connsiteX5" fmla="*/ 4697927 w 4697927"/>
              <a:gd name="connsiteY5" fmla="*/ 732472 h 732472"/>
              <a:gd name="connsiteX0" fmla="*/ 0 w 4697927"/>
              <a:gd name="connsiteY0" fmla="*/ 493694 h 728486"/>
              <a:gd name="connsiteX1" fmla="*/ 1275153 w 4697927"/>
              <a:gd name="connsiteY1" fmla="*/ 285235 h 728486"/>
              <a:gd name="connsiteX2" fmla="*/ 2241053 w 4697927"/>
              <a:gd name="connsiteY2" fmla="*/ 24801 h 728486"/>
              <a:gd name="connsiteX3" fmla="*/ 2683403 w 4697927"/>
              <a:gd name="connsiteY3" fmla="*/ 27883 h 728486"/>
              <a:gd name="connsiteX4" fmla="*/ 3453222 w 4697927"/>
              <a:gd name="connsiteY4" fmla="*/ 0 h 728486"/>
              <a:gd name="connsiteX5" fmla="*/ 4697927 w 4697927"/>
              <a:gd name="connsiteY5" fmla="*/ 728486 h 728486"/>
              <a:gd name="connsiteX0" fmla="*/ 0 w 4697927"/>
              <a:gd name="connsiteY0" fmla="*/ 493694 h 728486"/>
              <a:gd name="connsiteX1" fmla="*/ 1275153 w 4697927"/>
              <a:gd name="connsiteY1" fmla="*/ 285235 h 728486"/>
              <a:gd name="connsiteX2" fmla="*/ 2241053 w 4697927"/>
              <a:gd name="connsiteY2" fmla="*/ 24801 h 728486"/>
              <a:gd name="connsiteX3" fmla="*/ 2683403 w 4697927"/>
              <a:gd name="connsiteY3" fmla="*/ 27883 h 728486"/>
              <a:gd name="connsiteX4" fmla="*/ 3453222 w 4697927"/>
              <a:gd name="connsiteY4" fmla="*/ 0 h 728486"/>
              <a:gd name="connsiteX5" fmla="*/ 4697927 w 4697927"/>
              <a:gd name="connsiteY5" fmla="*/ 728486 h 728486"/>
              <a:gd name="connsiteX0" fmla="*/ 0 w 4697927"/>
              <a:gd name="connsiteY0" fmla="*/ 501451 h 736243"/>
              <a:gd name="connsiteX1" fmla="*/ 1275153 w 4697927"/>
              <a:gd name="connsiteY1" fmla="*/ 292992 h 736243"/>
              <a:gd name="connsiteX2" fmla="*/ 2272050 w 4697927"/>
              <a:gd name="connsiteY2" fmla="*/ 1561 h 736243"/>
              <a:gd name="connsiteX3" fmla="*/ 2683403 w 4697927"/>
              <a:gd name="connsiteY3" fmla="*/ 35640 h 736243"/>
              <a:gd name="connsiteX4" fmla="*/ 3453222 w 4697927"/>
              <a:gd name="connsiteY4" fmla="*/ 7757 h 736243"/>
              <a:gd name="connsiteX5" fmla="*/ 4697927 w 4697927"/>
              <a:gd name="connsiteY5" fmla="*/ 736243 h 736243"/>
              <a:gd name="connsiteX0" fmla="*/ 0 w 4697927"/>
              <a:gd name="connsiteY0" fmla="*/ 501451 h 736243"/>
              <a:gd name="connsiteX1" fmla="*/ 1275153 w 4697927"/>
              <a:gd name="connsiteY1" fmla="*/ 292992 h 736243"/>
              <a:gd name="connsiteX2" fmla="*/ 2272050 w 4697927"/>
              <a:gd name="connsiteY2" fmla="*/ 1561 h 736243"/>
              <a:gd name="connsiteX3" fmla="*/ 2683403 w 4697927"/>
              <a:gd name="connsiteY3" fmla="*/ 35640 h 736243"/>
              <a:gd name="connsiteX4" fmla="*/ 3422225 w 4697927"/>
              <a:gd name="connsiteY4" fmla="*/ 23255 h 736243"/>
              <a:gd name="connsiteX5" fmla="*/ 4697927 w 4697927"/>
              <a:gd name="connsiteY5" fmla="*/ 736243 h 736243"/>
              <a:gd name="connsiteX0" fmla="*/ 0 w 4697927"/>
              <a:gd name="connsiteY0" fmla="*/ 514229 h 749021"/>
              <a:gd name="connsiteX1" fmla="*/ 1275153 w 4697927"/>
              <a:gd name="connsiteY1" fmla="*/ 305770 h 749021"/>
              <a:gd name="connsiteX2" fmla="*/ 2272050 w 4697927"/>
              <a:gd name="connsiteY2" fmla="*/ 14339 h 749021"/>
              <a:gd name="connsiteX3" fmla="*/ 2667905 w 4697927"/>
              <a:gd name="connsiteY3" fmla="*/ 32920 h 749021"/>
              <a:gd name="connsiteX4" fmla="*/ 3422225 w 4697927"/>
              <a:gd name="connsiteY4" fmla="*/ 36033 h 749021"/>
              <a:gd name="connsiteX5" fmla="*/ 4697927 w 4697927"/>
              <a:gd name="connsiteY5" fmla="*/ 749021 h 749021"/>
              <a:gd name="connsiteX0" fmla="*/ 0 w 4697927"/>
              <a:gd name="connsiteY0" fmla="*/ 514229 h 749021"/>
              <a:gd name="connsiteX1" fmla="*/ 1275153 w 4697927"/>
              <a:gd name="connsiteY1" fmla="*/ 305770 h 749021"/>
              <a:gd name="connsiteX2" fmla="*/ 2272050 w 4697927"/>
              <a:gd name="connsiteY2" fmla="*/ 14339 h 749021"/>
              <a:gd name="connsiteX3" fmla="*/ 2667905 w 4697927"/>
              <a:gd name="connsiteY3" fmla="*/ 32920 h 749021"/>
              <a:gd name="connsiteX4" fmla="*/ 3422225 w 4697927"/>
              <a:gd name="connsiteY4" fmla="*/ 20534 h 749021"/>
              <a:gd name="connsiteX5" fmla="*/ 4697927 w 4697927"/>
              <a:gd name="connsiteY5" fmla="*/ 749021 h 749021"/>
              <a:gd name="connsiteX0" fmla="*/ 0 w 4697927"/>
              <a:gd name="connsiteY0" fmla="*/ 522409 h 757201"/>
              <a:gd name="connsiteX1" fmla="*/ 1275153 w 4697927"/>
              <a:gd name="connsiteY1" fmla="*/ 313950 h 757201"/>
              <a:gd name="connsiteX2" fmla="*/ 2272050 w 4697927"/>
              <a:gd name="connsiteY2" fmla="*/ 22519 h 757201"/>
              <a:gd name="connsiteX3" fmla="*/ 2636909 w 4697927"/>
              <a:gd name="connsiteY3" fmla="*/ 10103 h 757201"/>
              <a:gd name="connsiteX4" fmla="*/ 3422225 w 4697927"/>
              <a:gd name="connsiteY4" fmla="*/ 28714 h 757201"/>
              <a:gd name="connsiteX5" fmla="*/ 4697927 w 4697927"/>
              <a:gd name="connsiteY5" fmla="*/ 757201 h 757201"/>
              <a:gd name="connsiteX0" fmla="*/ 0 w 4697927"/>
              <a:gd name="connsiteY0" fmla="*/ 522409 h 757201"/>
              <a:gd name="connsiteX1" fmla="*/ 1275153 w 4697927"/>
              <a:gd name="connsiteY1" fmla="*/ 313950 h 757201"/>
              <a:gd name="connsiteX2" fmla="*/ 2272050 w 4697927"/>
              <a:gd name="connsiteY2" fmla="*/ 22519 h 757201"/>
              <a:gd name="connsiteX3" fmla="*/ 2636909 w 4697927"/>
              <a:gd name="connsiteY3" fmla="*/ 10103 h 757201"/>
              <a:gd name="connsiteX4" fmla="*/ 3391228 w 4697927"/>
              <a:gd name="connsiteY4" fmla="*/ 28714 h 757201"/>
              <a:gd name="connsiteX5" fmla="*/ 4697927 w 4697927"/>
              <a:gd name="connsiteY5" fmla="*/ 757201 h 757201"/>
              <a:gd name="connsiteX0" fmla="*/ 0 w 4589439"/>
              <a:gd name="connsiteY0" fmla="*/ 522409 h 664212"/>
              <a:gd name="connsiteX1" fmla="*/ 1275153 w 4589439"/>
              <a:gd name="connsiteY1" fmla="*/ 313950 h 664212"/>
              <a:gd name="connsiteX2" fmla="*/ 2272050 w 4589439"/>
              <a:gd name="connsiteY2" fmla="*/ 22519 h 664212"/>
              <a:gd name="connsiteX3" fmla="*/ 2636909 w 4589439"/>
              <a:gd name="connsiteY3" fmla="*/ 10103 h 664212"/>
              <a:gd name="connsiteX4" fmla="*/ 3391228 w 4589439"/>
              <a:gd name="connsiteY4" fmla="*/ 28714 h 664212"/>
              <a:gd name="connsiteX5" fmla="*/ 4589439 w 4589439"/>
              <a:gd name="connsiteY5" fmla="*/ 664212 h 664212"/>
              <a:gd name="connsiteX0" fmla="*/ 0 w 4604937"/>
              <a:gd name="connsiteY0" fmla="*/ 398423 h 664212"/>
              <a:gd name="connsiteX1" fmla="*/ 1290651 w 4604937"/>
              <a:gd name="connsiteY1" fmla="*/ 313950 h 664212"/>
              <a:gd name="connsiteX2" fmla="*/ 2287548 w 4604937"/>
              <a:gd name="connsiteY2" fmla="*/ 22519 h 664212"/>
              <a:gd name="connsiteX3" fmla="*/ 2652407 w 4604937"/>
              <a:gd name="connsiteY3" fmla="*/ 10103 h 664212"/>
              <a:gd name="connsiteX4" fmla="*/ 3406726 w 4604937"/>
              <a:gd name="connsiteY4" fmla="*/ 28714 h 664212"/>
              <a:gd name="connsiteX5" fmla="*/ 4604937 w 4604937"/>
              <a:gd name="connsiteY5" fmla="*/ 664212 h 664212"/>
              <a:gd name="connsiteX0" fmla="*/ 0 w 4604937"/>
              <a:gd name="connsiteY0" fmla="*/ 391196 h 656985"/>
              <a:gd name="connsiteX1" fmla="*/ 1213159 w 4604937"/>
              <a:gd name="connsiteY1" fmla="*/ 198234 h 656985"/>
              <a:gd name="connsiteX2" fmla="*/ 2287548 w 4604937"/>
              <a:gd name="connsiteY2" fmla="*/ 15292 h 656985"/>
              <a:gd name="connsiteX3" fmla="*/ 2652407 w 4604937"/>
              <a:gd name="connsiteY3" fmla="*/ 2876 h 656985"/>
              <a:gd name="connsiteX4" fmla="*/ 3406726 w 4604937"/>
              <a:gd name="connsiteY4" fmla="*/ 21487 h 656985"/>
              <a:gd name="connsiteX5" fmla="*/ 4604937 w 4604937"/>
              <a:gd name="connsiteY5" fmla="*/ 656985 h 656985"/>
              <a:gd name="connsiteX0" fmla="*/ 0 w 4604937"/>
              <a:gd name="connsiteY0" fmla="*/ 391196 h 656985"/>
              <a:gd name="connsiteX1" fmla="*/ 1213159 w 4604937"/>
              <a:gd name="connsiteY1" fmla="*/ 167238 h 656985"/>
              <a:gd name="connsiteX2" fmla="*/ 2287548 w 4604937"/>
              <a:gd name="connsiteY2" fmla="*/ 15292 h 656985"/>
              <a:gd name="connsiteX3" fmla="*/ 2652407 w 4604937"/>
              <a:gd name="connsiteY3" fmla="*/ 2876 h 656985"/>
              <a:gd name="connsiteX4" fmla="*/ 3406726 w 4604937"/>
              <a:gd name="connsiteY4" fmla="*/ 21487 h 656985"/>
              <a:gd name="connsiteX5" fmla="*/ 4604937 w 4604937"/>
              <a:gd name="connsiteY5" fmla="*/ 656985 h 656985"/>
              <a:gd name="connsiteX0" fmla="*/ 0 w 4604937"/>
              <a:gd name="connsiteY0" fmla="*/ 428410 h 694199"/>
              <a:gd name="connsiteX1" fmla="*/ 1213159 w 4604937"/>
              <a:gd name="connsiteY1" fmla="*/ 204452 h 694199"/>
              <a:gd name="connsiteX2" fmla="*/ 2241053 w 4604937"/>
              <a:gd name="connsiteY2" fmla="*/ 6011 h 694199"/>
              <a:gd name="connsiteX3" fmla="*/ 2652407 w 4604937"/>
              <a:gd name="connsiteY3" fmla="*/ 40090 h 694199"/>
              <a:gd name="connsiteX4" fmla="*/ 3406726 w 4604937"/>
              <a:gd name="connsiteY4" fmla="*/ 58701 h 694199"/>
              <a:gd name="connsiteX5" fmla="*/ 4604937 w 4604937"/>
              <a:gd name="connsiteY5" fmla="*/ 694199 h 694199"/>
              <a:gd name="connsiteX0" fmla="*/ 0 w 4604937"/>
              <a:gd name="connsiteY0" fmla="*/ 391196 h 656985"/>
              <a:gd name="connsiteX1" fmla="*/ 1213159 w 4604937"/>
              <a:gd name="connsiteY1" fmla="*/ 167238 h 656985"/>
              <a:gd name="connsiteX2" fmla="*/ 2241053 w 4604937"/>
              <a:gd name="connsiteY2" fmla="*/ 15292 h 656985"/>
              <a:gd name="connsiteX3" fmla="*/ 2652407 w 4604937"/>
              <a:gd name="connsiteY3" fmla="*/ 2876 h 656985"/>
              <a:gd name="connsiteX4" fmla="*/ 3406726 w 4604937"/>
              <a:gd name="connsiteY4" fmla="*/ 21487 h 656985"/>
              <a:gd name="connsiteX5" fmla="*/ 4604937 w 4604937"/>
              <a:gd name="connsiteY5" fmla="*/ 656985 h 656985"/>
              <a:gd name="connsiteX0" fmla="*/ 0 w 3861822"/>
              <a:gd name="connsiteY0" fmla="*/ 561677 h 656985"/>
              <a:gd name="connsiteX1" fmla="*/ 470044 w 3861822"/>
              <a:gd name="connsiteY1" fmla="*/ 167238 h 656985"/>
              <a:gd name="connsiteX2" fmla="*/ 1497938 w 3861822"/>
              <a:gd name="connsiteY2" fmla="*/ 15292 h 656985"/>
              <a:gd name="connsiteX3" fmla="*/ 1909292 w 3861822"/>
              <a:gd name="connsiteY3" fmla="*/ 2876 h 656985"/>
              <a:gd name="connsiteX4" fmla="*/ 2663611 w 3861822"/>
              <a:gd name="connsiteY4" fmla="*/ 21487 h 656985"/>
              <a:gd name="connsiteX5" fmla="*/ 3861822 w 3861822"/>
              <a:gd name="connsiteY5" fmla="*/ 656985 h 656985"/>
              <a:gd name="connsiteX0" fmla="*/ 0 w 3861822"/>
              <a:gd name="connsiteY0" fmla="*/ 561677 h 656985"/>
              <a:gd name="connsiteX1" fmla="*/ 470044 w 3861822"/>
              <a:gd name="connsiteY1" fmla="*/ 167238 h 656985"/>
              <a:gd name="connsiteX2" fmla="*/ 1497938 w 3861822"/>
              <a:gd name="connsiteY2" fmla="*/ 15292 h 656985"/>
              <a:gd name="connsiteX3" fmla="*/ 1909292 w 3861822"/>
              <a:gd name="connsiteY3" fmla="*/ 2876 h 656985"/>
              <a:gd name="connsiteX4" fmla="*/ 2663611 w 3861822"/>
              <a:gd name="connsiteY4" fmla="*/ 21487 h 656985"/>
              <a:gd name="connsiteX5" fmla="*/ 3861822 w 3861822"/>
              <a:gd name="connsiteY5" fmla="*/ 656985 h 656985"/>
              <a:gd name="connsiteX0" fmla="*/ 0 w 3708828"/>
              <a:gd name="connsiteY0" fmla="*/ 499684 h 656985"/>
              <a:gd name="connsiteX1" fmla="*/ 317050 w 3708828"/>
              <a:gd name="connsiteY1" fmla="*/ 167238 h 656985"/>
              <a:gd name="connsiteX2" fmla="*/ 1344944 w 3708828"/>
              <a:gd name="connsiteY2" fmla="*/ 15292 h 656985"/>
              <a:gd name="connsiteX3" fmla="*/ 1756298 w 3708828"/>
              <a:gd name="connsiteY3" fmla="*/ 2876 h 656985"/>
              <a:gd name="connsiteX4" fmla="*/ 2510617 w 3708828"/>
              <a:gd name="connsiteY4" fmla="*/ 21487 h 656985"/>
              <a:gd name="connsiteX5" fmla="*/ 3708828 w 3708828"/>
              <a:gd name="connsiteY5" fmla="*/ 656985 h 656985"/>
              <a:gd name="connsiteX0" fmla="*/ 0 w 3708828"/>
              <a:gd name="connsiteY0" fmla="*/ 672782 h 830083"/>
              <a:gd name="connsiteX1" fmla="*/ 317050 w 3708828"/>
              <a:gd name="connsiteY1" fmla="*/ 340336 h 830083"/>
              <a:gd name="connsiteX2" fmla="*/ 1497939 w 3708828"/>
              <a:gd name="connsiteY2" fmla="*/ 2410 h 830083"/>
              <a:gd name="connsiteX3" fmla="*/ 1756298 w 3708828"/>
              <a:gd name="connsiteY3" fmla="*/ 175974 h 830083"/>
              <a:gd name="connsiteX4" fmla="*/ 2510617 w 3708828"/>
              <a:gd name="connsiteY4" fmla="*/ 194585 h 830083"/>
              <a:gd name="connsiteX5" fmla="*/ 3708828 w 3708828"/>
              <a:gd name="connsiteY5" fmla="*/ 830083 h 830083"/>
              <a:gd name="connsiteX0" fmla="*/ 0 w 3708828"/>
              <a:gd name="connsiteY0" fmla="*/ 674131 h 831432"/>
              <a:gd name="connsiteX1" fmla="*/ 470044 w 3708828"/>
              <a:gd name="connsiteY1" fmla="*/ 388180 h 831432"/>
              <a:gd name="connsiteX2" fmla="*/ 1497939 w 3708828"/>
              <a:gd name="connsiteY2" fmla="*/ 3759 h 831432"/>
              <a:gd name="connsiteX3" fmla="*/ 1756298 w 3708828"/>
              <a:gd name="connsiteY3" fmla="*/ 177323 h 831432"/>
              <a:gd name="connsiteX4" fmla="*/ 2510617 w 3708828"/>
              <a:gd name="connsiteY4" fmla="*/ 195934 h 831432"/>
              <a:gd name="connsiteX5" fmla="*/ 3708828 w 3708828"/>
              <a:gd name="connsiteY5" fmla="*/ 831432 h 831432"/>
              <a:gd name="connsiteX0" fmla="*/ 0 w 3708828"/>
              <a:gd name="connsiteY0" fmla="*/ 735368 h 892669"/>
              <a:gd name="connsiteX1" fmla="*/ 470044 w 3708828"/>
              <a:gd name="connsiteY1" fmla="*/ 449417 h 892669"/>
              <a:gd name="connsiteX2" fmla="*/ 1454227 w 3708828"/>
              <a:gd name="connsiteY2" fmla="*/ 3003 h 892669"/>
              <a:gd name="connsiteX3" fmla="*/ 1756298 w 3708828"/>
              <a:gd name="connsiteY3" fmla="*/ 238560 h 892669"/>
              <a:gd name="connsiteX4" fmla="*/ 2510617 w 3708828"/>
              <a:gd name="connsiteY4" fmla="*/ 257171 h 892669"/>
              <a:gd name="connsiteX5" fmla="*/ 3708828 w 3708828"/>
              <a:gd name="connsiteY5" fmla="*/ 892669 h 892669"/>
              <a:gd name="connsiteX0" fmla="*/ 0 w 3708828"/>
              <a:gd name="connsiteY0" fmla="*/ 757535 h 914836"/>
              <a:gd name="connsiteX1" fmla="*/ 470044 w 3708828"/>
              <a:gd name="connsiteY1" fmla="*/ 471584 h 914836"/>
              <a:gd name="connsiteX2" fmla="*/ 1454227 w 3708828"/>
              <a:gd name="connsiteY2" fmla="*/ 25170 h 914836"/>
              <a:gd name="connsiteX3" fmla="*/ 1734442 w 3708828"/>
              <a:gd name="connsiteY3" fmla="*/ 43751 h 914836"/>
              <a:gd name="connsiteX4" fmla="*/ 2510617 w 3708828"/>
              <a:gd name="connsiteY4" fmla="*/ 279338 h 914836"/>
              <a:gd name="connsiteX5" fmla="*/ 3708828 w 3708828"/>
              <a:gd name="connsiteY5" fmla="*/ 914836 h 914836"/>
              <a:gd name="connsiteX0" fmla="*/ 0 w 3708828"/>
              <a:gd name="connsiteY0" fmla="*/ 772183 h 929484"/>
              <a:gd name="connsiteX1" fmla="*/ 470044 w 3708828"/>
              <a:gd name="connsiteY1" fmla="*/ 486232 h 929484"/>
              <a:gd name="connsiteX2" fmla="*/ 1454227 w 3708828"/>
              <a:gd name="connsiteY2" fmla="*/ 39818 h 929484"/>
              <a:gd name="connsiteX3" fmla="*/ 1778153 w 3708828"/>
              <a:gd name="connsiteY3" fmla="*/ 11904 h 929484"/>
              <a:gd name="connsiteX4" fmla="*/ 2510617 w 3708828"/>
              <a:gd name="connsiteY4" fmla="*/ 293986 h 929484"/>
              <a:gd name="connsiteX5" fmla="*/ 3708828 w 3708828"/>
              <a:gd name="connsiteY5" fmla="*/ 929484 h 929484"/>
              <a:gd name="connsiteX0" fmla="*/ 0 w 3708828"/>
              <a:gd name="connsiteY0" fmla="*/ 772183 h 929484"/>
              <a:gd name="connsiteX1" fmla="*/ 470044 w 3708828"/>
              <a:gd name="connsiteY1" fmla="*/ 486232 h 929484"/>
              <a:gd name="connsiteX2" fmla="*/ 1454227 w 3708828"/>
              <a:gd name="connsiteY2" fmla="*/ 39818 h 929484"/>
              <a:gd name="connsiteX3" fmla="*/ 1778153 w 3708828"/>
              <a:gd name="connsiteY3" fmla="*/ 11904 h 929484"/>
              <a:gd name="connsiteX4" fmla="*/ 2510617 w 3708828"/>
              <a:gd name="connsiteY4" fmla="*/ 293986 h 929484"/>
              <a:gd name="connsiteX5" fmla="*/ 3708828 w 3708828"/>
              <a:gd name="connsiteY5" fmla="*/ 929484 h 929484"/>
              <a:gd name="connsiteX0" fmla="*/ 0 w 3708828"/>
              <a:gd name="connsiteY0" fmla="*/ 772183 h 929484"/>
              <a:gd name="connsiteX1" fmla="*/ 470044 w 3708828"/>
              <a:gd name="connsiteY1" fmla="*/ 486232 h 929484"/>
              <a:gd name="connsiteX2" fmla="*/ 1454227 w 3708828"/>
              <a:gd name="connsiteY2" fmla="*/ 39818 h 929484"/>
              <a:gd name="connsiteX3" fmla="*/ 1778153 w 3708828"/>
              <a:gd name="connsiteY3" fmla="*/ 11904 h 929484"/>
              <a:gd name="connsiteX4" fmla="*/ 2576186 w 3708828"/>
              <a:gd name="connsiteY4" fmla="*/ 340481 h 929484"/>
              <a:gd name="connsiteX5" fmla="*/ 3708828 w 3708828"/>
              <a:gd name="connsiteY5" fmla="*/ 929484 h 929484"/>
              <a:gd name="connsiteX0" fmla="*/ 0 w 3708828"/>
              <a:gd name="connsiteY0" fmla="*/ 772183 h 929484"/>
              <a:gd name="connsiteX1" fmla="*/ 470044 w 3708828"/>
              <a:gd name="connsiteY1" fmla="*/ 486232 h 929484"/>
              <a:gd name="connsiteX2" fmla="*/ 1454227 w 3708828"/>
              <a:gd name="connsiteY2" fmla="*/ 39818 h 929484"/>
              <a:gd name="connsiteX3" fmla="*/ 1778153 w 3708828"/>
              <a:gd name="connsiteY3" fmla="*/ 11904 h 929484"/>
              <a:gd name="connsiteX4" fmla="*/ 2576186 w 3708828"/>
              <a:gd name="connsiteY4" fmla="*/ 340481 h 929484"/>
              <a:gd name="connsiteX5" fmla="*/ 3708828 w 3708828"/>
              <a:gd name="connsiteY5" fmla="*/ 929484 h 929484"/>
              <a:gd name="connsiteX0" fmla="*/ 0 w 3708828"/>
              <a:gd name="connsiteY0" fmla="*/ 772183 h 929484"/>
              <a:gd name="connsiteX1" fmla="*/ 470044 w 3708828"/>
              <a:gd name="connsiteY1" fmla="*/ 486232 h 929484"/>
              <a:gd name="connsiteX2" fmla="*/ 1454227 w 3708828"/>
              <a:gd name="connsiteY2" fmla="*/ 39818 h 929484"/>
              <a:gd name="connsiteX3" fmla="*/ 1778153 w 3708828"/>
              <a:gd name="connsiteY3" fmla="*/ 11904 h 929484"/>
              <a:gd name="connsiteX4" fmla="*/ 2576186 w 3708828"/>
              <a:gd name="connsiteY4" fmla="*/ 340481 h 929484"/>
              <a:gd name="connsiteX5" fmla="*/ 3708828 w 3708828"/>
              <a:gd name="connsiteY5" fmla="*/ 929484 h 929484"/>
              <a:gd name="connsiteX0" fmla="*/ 0 w 3971104"/>
              <a:gd name="connsiteY0" fmla="*/ 772183 h 772183"/>
              <a:gd name="connsiteX1" fmla="*/ 470044 w 3971104"/>
              <a:gd name="connsiteY1" fmla="*/ 486232 h 772183"/>
              <a:gd name="connsiteX2" fmla="*/ 1454227 w 3971104"/>
              <a:gd name="connsiteY2" fmla="*/ 39818 h 772183"/>
              <a:gd name="connsiteX3" fmla="*/ 1778153 w 3971104"/>
              <a:gd name="connsiteY3" fmla="*/ 11904 h 772183"/>
              <a:gd name="connsiteX4" fmla="*/ 2576186 w 3971104"/>
              <a:gd name="connsiteY4" fmla="*/ 340481 h 772183"/>
              <a:gd name="connsiteX5" fmla="*/ 3971104 w 3971104"/>
              <a:gd name="connsiteY5" fmla="*/ 728006 h 772183"/>
              <a:gd name="connsiteX0" fmla="*/ 0 w 3971104"/>
              <a:gd name="connsiteY0" fmla="*/ 772183 h 805813"/>
              <a:gd name="connsiteX1" fmla="*/ 470044 w 3971104"/>
              <a:gd name="connsiteY1" fmla="*/ 486232 h 805813"/>
              <a:gd name="connsiteX2" fmla="*/ 1454227 w 3971104"/>
              <a:gd name="connsiteY2" fmla="*/ 39818 h 805813"/>
              <a:gd name="connsiteX3" fmla="*/ 1778153 w 3971104"/>
              <a:gd name="connsiteY3" fmla="*/ 11904 h 805813"/>
              <a:gd name="connsiteX4" fmla="*/ 3057025 w 3971104"/>
              <a:gd name="connsiteY4" fmla="*/ 774434 h 805813"/>
              <a:gd name="connsiteX5" fmla="*/ 3971104 w 3971104"/>
              <a:gd name="connsiteY5" fmla="*/ 728006 h 805813"/>
              <a:gd name="connsiteX0" fmla="*/ 0 w 3971104"/>
              <a:gd name="connsiteY0" fmla="*/ 772183 h 772183"/>
              <a:gd name="connsiteX1" fmla="*/ 470044 w 3971104"/>
              <a:gd name="connsiteY1" fmla="*/ 486232 h 772183"/>
              <a:gd name="connsiteX2" fmla="*/ 1454227 w 3971104"/>
              <a:gd name="connsiteY2" fmla="*/ 39818 h 772183"/>
              <a:gd name="connsiteX3" fmla="*/ 1778153 w 3971104"/>
              <a:gd name="connsiteY3" fmla="*/ 11904 h 772183"/>
              <a:gd name="connsiteX4" fmla="*/ 3057025 w 3971104"/>
              <a:gd name="connsiteY4" fmla="*/ 681444 h 772183"/>
              <a:gd name="connsiteX5" fmla="*/ 3971104 w 3971104"/>
              <a:gd name="connsiteY5" fmla="*/ 728006 h 772183"/>
              <a:gd name="connsiteX0" fmla="*/ 0 w 3971104"/>
              <a:gd name="connsiteY0" fmla="*/ 807348 h 807348"/>
              <a:gd name="connsiteX1" fmla="*/ 470044 w 3971104"/>
              <a:gd name="connsiteY1" fmla="*/ 521397 h 807348"/>
              <a:gd name="connsiteX2" fmla="*/ 1344945 w 3971104"/>
              <a:gd name="connsiteY2" fmla="*/ 28489 h 807348"/>
              <a:gd name="connsiteX3" fmla="*/ 1778153 w 3971104"/>
              <a:gd name="connsiteY3" fmla="*/ 47069 h 807348"/>
              <a:gd name="connsiteX4" fmla="*/ 3057025 w 3971104"/>
              <a:gd name="connsiteY4" fmla="*/ 716609 h 807348"/>
              <a:gd name="connsiteX5" fmla="*/ 3971104 w 3971104"/>
              <a:gd name="connsiteY5" fmla="*/ 763171 h 807348"/>
              <a:gd name="connsiteX0" fmla="*/ 0 w 3971104"/>
              <a:gd name="connsiteY0" fmla="*/ 807348 h 807348"/>
              <a:gd name="connsiteX1" fmla="*/ 470044 w 3971104"/>
              <a:gd name="connsiteY1" fmla="*/ 521397 h 807348"/>
              <a:gd name="connsiteX2" fmla="*/ 1344945 w 3971104"/>
              <a:gd name="connsiteY2" fmla="*/ 28489 h 807348"/>
              <a:gd name="connsiteX3" fmla="*/ 1690727 w 3971104"/>
              <a:gd name="connsiteY3" fmla="*/ 47069 h 807348"/>
              <a:gd name="connsiteX4" fmla="*/ 3057025 w 3971104"/>
              <a:gd name="connsiteY4" fmla="*/ 716609 h 807348"/>
              <a:gd name="connsiteX5" fmla="*/ 3971104 w 3971104"/>
              <a:gd name="connsiteY5" fmla="*/ 763171 h 807348"/>
              <a:gd name="connsiteX0" fmla="*/ 0 w 4932780"/>
              <a:gd name="connsiteY0" fmla="*/ 807348 h 856161"/>
              <a:gd name="connsiteX1" fmla="*/ 470044 w 4932780"/>
              <a:gd name="connsiteY1" fmla="*/ 521397 h 856161"/>
              <a:gd name="connsiteX2" fmla="*/ 1344945 w 4932780"/>
              <a:gd name="connsiteY2" fmla="*/ 28489 h 856161"/>
              <a:gd name="connsiteX3" fmla="*/ 1690727 w 4932780"/>
              <a:gd name="connsiteY3" fmla="*/ 47069 h 856161"/>
              <a:gd name="connsiteX4" fmla="*/ 3057025 w 4932780"/>
              <a:gd name="connsiteY4" fmla="*/ 716609 h 856161"/>
              <a:gd name="connsiteX5" fmla="*/ 4932780 w 4932780"/>
              <a:gd name="connsiteY5" fmla="*/ 856161 h 856161"/>
              <a:gd name="connsiteX0" fmla="*/ 0 w 4932780"/>
              <a:gd name="connsiteY0" fmla="*/ 807348 h 856161"/>
              <a:gd name="connsiteX1" fmla="*/ 470044 w 4932780"/>
              <a:gd name="connsiteY1" fmla="*/ 521397 h 856161"/>
              <a:gd name="connsiteX2" fmla="*/ 1344945 w 4932780"/>
              <a:gd name="connsiteY2" fmla="*/ 28489 h 856161"/>
              <a:gd name="connsiteX3" fmla="*/ 1690727 w 4932780"/>
              <a:gd name="connsiteY3" fmla="*/ 47069 h 856161"/>
              <a:gd name="connsiteX4" fmla="*/ 3057025 w 4932780"/>
              <a:gd name="connsiteY4" fmla="*/ 716609 h 856161"/>
              <a:gd name="connsiteX5" fmla="*/ 4932780 w 4932780"/>
              <a:gd name="connsiteY5" fmla="*/ 856161 h 856161"/>
              <a:gd name="connsiteX0" fmla="*/ 0 w 5042061"/>
              <a:gd name="connsiteY0" fmla="*/ 807348 h 809667"/>
              <a:gd name="connsiteX1" fmla="*/ 470044 w 5042061"/>
              <a:gd name="connsiteY1" fmla="*/ 521397 h 809667"/>
              <a:gd name="connsiteX2" fmla="*/ 1344945 w 5042061"/>
              <a:gd name="connsiteY2" fmla="*/ 28489 h 809667"/>
              <a:gd name="connsiteX3" fmla="*/ 1690727 w 5042061"/>
              <a:gd name="connsiteY3" fmla="*/ 47069 h 809667"/>
              <a:gd name="connsiteX4" fmla="*/ 3057025 w 5042061"/>
              <a:gd name="connsiteY4" fmla="*/ 716609 h 809667"/>
              <a:gd name="connsiteX5" fmla="*/ 5042061 w 5042061"/>
              <a:gd name="connsiteY5" fmla="*/ 809667 h 809667"/>
              <a:gd name="connsiteX0" fmla="*/ 0 w 5042061"/>
              <a:gd name="connsiteY0" fmla="*/ 807348 h 809667"/>
              <a:gd name="connsiteX1" fmla="*/ 470044 w 5042061"/>
              <a:gd name="connsiteY1" fmla="*/ 521397 h 809667"/>
              <a:gd name="connsiteX2" fmla="*/ 1344945 w 5042061"/>
              <a:gd name="connsiteY2" fmla="*/ 28489 h 809667"/>
              <a:gd name="connsiteX3" fmla="*/ 1690727 w 5042061"/>
              <a:gd name="connsiteY3" fmla="*/ 47069 h 809667"/>
              <a:gd name="connsiteX4" fmla="*/ 3057025 w 5042061"/>
              <a:gd name="connsiteY4" fmla="*/ 716609 h 809667"/>
              <a:gd name="connsiteX5" fmla="*/ 5042061 w 5042061"/>
              <a:gd name="connsiteY5" fmla="*/ 809667 h 809667"/>
              <a:gd name="connsiteX0" fmla="*/ 0 w 4954635"/>
              <a:gd name="connsiteY0" fmla="*/ 807348 h 807348"/>
              <a:gd name="connsiteX1" fmla="*/ 470044 w 4954635"/>
              <a:gd name="connsiteY1" fmla="*/ 521397 h 807348"/>
              <a:gd name="connsiteX2" fmla="*/ 1344945 w 4954635"/>
              <a:gd name="connsiteY2" fmla="*/ 28489 h 807348"/>
              <a:gd name="connsiteX3" fmla="*/ 1690727 w 4954635"/>
              <a:gd name="connsiteY3" fmla="*/ 47069 h 807348"/>
              <a:gd name="connsiteX4" fmla="*/ 3057025 w 4954635"/>
              <a:gd name="connsiteY4" fmla="*/ 716609 h 807348"/>
              <a:gd name="connsiteX5" fmla="*/ 4954635 w 4954635"/>
              <a:gd name="connsiteY5" fmla="*/ 747674 h 807348"/>
              <a:gd name="connsiteX0" fmla="*/ 0 w 4954635"/>
              <a:gd name="connsiteY0" fmla="*/ 807348 h 807348"/>
              <a:gd name="connsiteX1" fmla="*/ 470044 w 4954635"/>
              <a:gd name="connsiteY1" fmla="*/ 521397 h 807348"/>
              <a:gd name="connsiteX2" fmla="*/ 1344945 w 4954635"/>
              <a:gd name="connsiteY2" fmla="*/ 28489 h 807348"/>
              <a:gd name="connsiteX3" fmla="*/ 1690727 w 4954635"/>
              <a:gd name="connsiteY3" fmla="*/ 47069 h 807348"/>
              <a:gd name="connsiteX4" fmla="*/ 3057025 w 4954635"/>
              <a:gd name="connsiteY4" fmla="*/ 716609 h 807348"/>
              <a:gd name="connsiteX5" fmla="*/ 4954635 w 4954635"/>
              <a:gd name="connsiteY5" fmla="*/ 747674 h 807348"/>
              <a:gd name="connsiteX0" fmla="*/ 0 w 4954635"/>
              <a:gd name="connsiteY0" fmla="*/ 807348 h 807348"/>
              <a:gd name="connsiteX1" fmla="*/ 470044 w 4954635"/>
              <a:gd name="connsiteY1" fmla="*/ 521397 h 807348"/>
              <a:gd name="connsiteX2" fmla="*/ 1344945 w 4954635"/>
              <a:gd name="connsiteY2" fmla="*/ 28489 h 807348"/>
              <a:gd name="connsiteX3" fmla="*/ 1690727 w 4954635"/>
              <a:gd name="connsiteY3" fmla="*/ 47069 h 807348"/>
              <a:gd name="connsiteX4" fmla="*/ 2991456 w 4954635"/>
              <a:gd name="connsiteY4" fmla="*/ 732107 h 807348"/>
              <a:gd name="connsiteX5" fmla="*/ 4954635 w 4954635"/>
              <a:gd name="connsiteY5" fmla="*/ 747674 h 807348"/>
              <a:gd name="connsiteX0" fmla="*/ 0 w 4954635"/>
              <a:gd name="connsiteY0" fmla="*/ 783008 h 783008"/>
              <a:gd name="connsiteX1" fmla="*/ 470044 w 4954635"/>
              <a:gd name="connsiteY1" fmla="*/ 497057 h 783008"/>
              <a:gd name="connsiteX2" fmla="*/ 1235664 w 4954635"/>
              <a:gd name="connsiteY2" fmla="*/ 35145 h 783008"/>
              <a:gd name="connsiteX3" fmla="*/ 1690727 w 4954635"/>
              <a:gd name="connsiteY3" fmla="*/ 22729 h 783008"/>
              <a:gd name="connsiteX4" fmla="*/ 2991456 w 4954635"/>
              <a:gd name="connsiteY4" fmla="*/ 707767 h 783008"/>
              <a:gd name="connsiteX5" fmla="*/ 4954635 w 4954635"/>
              <a:gd name="connsiteY5" fmla="*/ 723334 h 783008"/>
              <a:gd name="connsiteX0" fmla="*/ 0 w 4954635"/>
              <a:gd name="connsiteY0" fmla="*/ 785303 h 785303"/>
              <a:gd name="connsiteX1" fmla="*/ 426332 w 4954635"/>
              <a:gd name="connsiteY1" fmla="*/ 530348 h 785303"/>
              <a:gd name="connsiteX2" fmla="*/ 1235664 w 4954635"/>
              <a:gd name="connsiteY2" fmla="*/ 37440 h 785303"/>
              <a:gd name="connsiteX3" fmla="*/ 1690727 w 4954635"/>
              <a:gd name="connsiteY3" fmla="*/ 25024 h 785303"/>
              <a:gd name="connsiteX4" fmla="*/ 2991456 w 4954635"/>
              <a:gd name="connsiteY4" fmla="*/ 710062 h 785303"/>
              <a:gd name="connsiteX5" fmla="*/ 4954635 w 4954635"/>
              <a:gd name="connsiteY5" fmla="*/ 725629 h 785303"/>
              <a:gd name="connsiteX0" fmla="*/ 0 w 4954635"/>
              <a:gd name="connsiteY0" fmla="*/ 785303 h 785303"/>
              <a:gd name="connsiteX1" fmla="*/ 426332 w 4954635"/>
              <a:gd name="connsiteY1" fmla="*/ 530348 h 785303"/>
              <a:gd name="connsiteX2" fmla="*/ 1235664 w 4954635"/>
              <a:gd name="connsiteY2" fmla="*/ 37440 h 785303"/>
              <a:gd name="connsiteX3" fmla="*/ 1690727 w 4954635"/>
              <a:gd name="connsiteY3" fmla="*/ 25024 h 785303"/>
              <a:gd name="connsiteX4" fmla="*/ 2991456 w 4954635"/>
              <a:gd name="connsiteY4" fmla="*/ 710062 h 785303"/>
              <a:gd name="connsiteX5" fmla="*/ 4954635 w 4954635"/>
              <a:gd name="connsiteY5" fmla="*/ 725629 h 785303"/>
              <a:gd name="connsiteX0" fmla="*/ 0 w 4954635"/>
              <a:gd name="connsiteY0" fmla="*/ 785303 h 785303"/>
              <a:gd name="connsiteX1" fmla="*/ 426332 w 4954635"/>
              <a:gd name="connsiteY1" fmla="*/ 530348 h 785303"/>
              <a:gd name="connsiteX2" fmla="*/ 1235664 w 4954635"/>
              <a:gd name="connsiteY2" fmla="*/ 37440 h 785303"/>
              <a:gd name="connsiteX3" fmla="*/ 1690727 w 4954635"/>
              <a:gd name="connsiteY3" fmla="*/ 25024 h 785303"/>
              <a:gd name="connsiteX4" fmla="*/ 2947743 w 4954635"/>
              <a:gd name="connsiteY4" fmla="*/ 617072 h 785303"/>
              <a:gd name="connsiteX5" fmla="*/ 4954635 w 4954635"/>
              <a:gd name="connsiteY5" fmla="*/ 725629 h 785303"/>
              <a:gd name="connsiteX0" fmla="*/ 0 w 4954635"/>
              <a:gd name="connsiteY0" fmla="*/ 764907 h 764907"/>
              <a:gd name="connsiteX1" fmla="*/ 426332 w 4954635"/>
              <a:gd name="connsiteY1" fmla="*/ 509952 h 764907"/>
              <a:gd name="connsiteX2" fmla="*/ 1323089 w 4954635"/>
              <a:gd name="connsiteY2" fmla="*/ 48041 h 764907"/>
              <a:gd name="connsiteX3" fmla="*/ 1690727 w 4954635"/>
              <a:gd name="connsiteY3" fmla="*/ 4628 h 764907"/>
              <a:gd name="connsiteX4" fmla="*/ 2947743 w 4954635"/>
              <a:gd name="connsiteY4" fmla="*/ 596676 h 764907"/>
              <a:gd name="connsiteX5" fmla="*/ 4954635 w 4954635"/>
              <a:gd name="connsiteY5" fmla="*/ 705233 h 764907"/>
              <a:gd name="connsiteX0" fmla="*/ 0 w 4954635"/>
              <a:gd name="connsiteY0" fmla="*/ 757808 h 757808"/>
              <a:gd name="connsiteX1" fmla="*/ 426332 w 4954635"/>
              <a:gd name="connsiteY1" fmla="*/ 502853 h 757808"/>
              <a:gd name="connsiteX2" fmla="*/ 1323089 w 4954635"/>
              <a:gd name="connsiteY2" fmla="*/ 40942 h 757808"/>
              <a:gd name="connsiteX3" fmla="*/ 1690727 w 4954635"/>
              <a:gd name="connsiteY3" fmla="*/ 13027 h 757808"/>
              <a:gd name="connsiteX4" fmla="*/ 2947743 w 4954635"/>
              <a:gd name="connsiteY4" fmla="*/ 589577 h 757808"/>
              <a:gd name="connsiteX5" fmla="*/ 4954635 w 4954635"/>
              <a:gd name="connsiteY5" fmla="*/ 698134 h 757808"/>
              <a:gd name="connsiteX0" fmla="*/ 0 w 4954635"/>
              <a:gd name="connsiteY0" fmla="*/ 757808 h 757808"/>
              <a:gd name="connsiteX1" fmla="*/ 426332 w 4954635"/>
              <a:gd name="connsiteY1" fmla="*/ 502853 h 757808"/>
              <a:gd name="connsiteX2" fmla="*/ 1323089 w 4954635"/>
              <a:gd name="connsiteY2" fmla="*/ 40942 h 757808"/>
              <a:gd name="connsiteX3" fmla="*/ 1690727 w 4954635"/>
              <a:gd name="connsiteY3" fmla="*/ 13027 h 757808"/>
              <a:gd name="connsiteX4" fmla="*/ 3013312 w 4954635"/>
              <a:gd name="connsiteY4" fmla="*/ 651571 h 757808"/>
              <a:gd name="connsiteX5" fmla="*/ 4954635 w 4954635"/>
              <a:gd name="connsiteY5" fmla="*/ 698134 h 757808"/>
              <a:gd name="connsiteX0" fmla="*/ 0 w 4757928"/>
              <a:gd name="connsiteY0" fmla="*/ 757808 h 757808"/>
              <a:gd name="connsiteX1" fmla="*/ 426332 w 4757928"/>
              <a:gd name="connsiteY1" fmla="*/ 502853 h 757808"/>
              <a:gd name="connsiteX2" fmla="*/ 1323089 w 4757928"/>
              <a:gd name="connsiteY2" fmla="*/ 40942 h 757808"/>
              <a:gd name="connsiteX3" fmla="*/ 1690727 w 4757928"/>
              <a:gd name="connsiteY3" fmla="*/ 13027 h 757808"/>
              <a:gd name="connsiteX4" fmla="*/ 3013312 w 4757928"/>
              <a:gd name="connsiteY4" fmla="*/ 651571 h 757808"/>
              <a:gd name="connsiteX5" fmla="*/ 4757928 w 4757928"/>
              <a:gd name="connsiteY5" fmla="*/ 698134 h 757808"/>
              <a:gd name="connsiteX0" fmla="*/ 0 w 4757928"/>
              <a:gd name="connsiteY0" fmla="*/ 757808 h 829831"/>
              <a:gd name="connsiteX1" fmla="*/ 426332 w 4757928"/>
              <a:gd name="connsiteY1" fmla="*/ 502853 h 829831"/>
              <a:gd name="connsiteX2" fmla="*/ 1323089 w 4757928"/>
              <a:gd name="connsiteY2" fmla="*/ 40942 h 829831"/>
              <a:gd name="connsiteX3" fmla="*/ 1690727 w 4757928"/>
              <a:gd name="connsiteY3" fmla="*/ 13027 h 829831"/>
              <a:gd name="connsiteX4" fmla="*/ 3199649 w 4757928"/>
              <a:gd name="connsiteY4" fmla="*/ 782395 h 829831"/>
              <a:gd name="connsiteX5" fmla="*/ 4757928 w 4757928"/>
              <a:gd name="connsiteY5" fmla="*/ 698134 h 829831"/>
              <a:gd name="connsiteX0" fmla="*/ 0 w 4859566"/>
              <a:gd name="connsiteY0" fmla="*/ 757808 h 851687"/>
              <a:gd name="connsiteX1" fmla="*/ 426332 w 4859566"/>
              <a:gd name="connsiteY1" fmla="*/ 502853 h 851687"/>
              <a:gd name="connsiteX2" fmla="*/ 1323089 w 4859566"/>
              <a:gd name="connsiteY2" fmla="*/ 40942 h 851687"/>
              <a:gd name="connsiteX3" fmla="*/ 1690727 w 4859566"/>
              <a:gd name="connsiteY3" fmla="*/ 13027 h 851687"/>
              <a:gd name="connsiteX4" fmla="*/ 3199649 w 4859566"/>
              <a:gd name="connsiteY4" fmla="*/ 782395 h 851687"/>
              <a:gd name="connsiteX5" fmla="*/ 4859566 w 4859566"/>
              <a:gd name="connsiteY5" fmla="*/ 793279 h 851687"/>
              <a:gd name="connsiteX0" fmla="*/ 0 w 4791807"/>
              <a:gd name="connsiteY0" fmla="*/ 757808 h 860399"/>
              <a:gd name="connsiteX1" fmla="*/ 426332 w 4791807"/>
              <a:gd name="connsiteY1" fmla="*/ 502853 h 860399"/>
              <a:gd name="connsiteX2" fmla="*/ 1323089 w 4791807"/>
              <a:gd name="connsiteY2" fmla="*/ 40942 h 860399"/>
              <a:gd name="connsiteX3" fmla="*/ 1690727 w 4791807"/>
              <a:gd name="connsiteY3" fmla="*/ 13027 h 860399"/>
              <a:gd name="connsiteX4" fmla="*/ 3199649 w 4791807"/>
              <a:gd name="connsiteY4" fmla="*/ 782395 h 860399"/>
              <a:gd name="connsiteX5" fmla="*/ 4791807 w 4791807"/>
              <a:gd name="connsiteY5" fmla="*/ 817065 h 860399"/>
              <a:gd name="connsiteX0" fmla="*/ 1150814 w 4367225"/>
              <a:gd name="connsiteY0" fmla="*/ 1721145 h 1721145"/>
              <a:gd name="connsiteX1" fmla="*/ 1750 w 4367225"/>
              <a:gd name="connsiteY1" fmla="*/ 502853 h 1721145"/>
              <a:gd name="connsiteX2" fmla="*/ 898507 w 4367225"/>
              <a:gd name="connsiteY2" fmla="*/ 40942 h 1721145"/>
              <a:gd name="connsiteX3" fmla="*/ 1266145 w 4367225"/>
              <a:gd name="connsiteY3" fmla="*/ 13027 h 1721145"/>
              <a:gd name="connsiteX4" fmla="*/ 2775067 w 4367225"/>
              <a:gd name="connsiteY4" fmla="*/ 782395 h 1721145"/>
              <a:gd name="connsiteX5" fmla="*/ 4367225 w 4367225"/>
              <a:gd name="connsiteY5" fmla="*/ 817065 h 1721145"/>
              <a:gd name="connsiteX0" fmla="*/ 1150814 w 4367225"/>
              <a:gd name="connsiteY0" fmla="*/ 1721145 h 1722812"/>
              <a:gd name="connsiteX1" fmla="*/ 1750 w 4367225"/>
              <a:gd name="connsiteY1" fmla="*/ 502853 h 1722812"/>
              <a:gd name="connsiteX2" fmla="*/ 898507 w 4367225"/>
              <a:gd name="connsiteY2" fmla="*/ 40942 h 1722812"/>
              <a:gd name="connsiteX3" fmla="*/ 1266145 w 4367225"/>
              <a:gd name="connsiteY3" fmla="*/ 13027 h 1722812"/>
              <a:gd name="connsiteX4" fmla="*/ 2775067 w 4367225"/>
              <a:gd name="connsiteY4" fmla="*/ 782395 h 1722812"/>
              <a:gd name="connsiteX5" fmla="*/ 4367225 w 4367225"/>
              <a:gd name="connsiteY5" fmla="*/ 817065 h 1722812"/>
              <a:gd name="connsiteX0" fmla="*/ 1963095 w 5179506"/>
              <a:gd name="connsiteY0" fmla="*/ 1740276 h 1742515"/>
              <a:gd name="connsiteX1" fmla="*/ 923 w 5179506"/>
              <a:gd name="connsiteY1" fmla="*/ 783631 h 1742515"/>
              <a:gd name="connsiteX2" fmla="*/ 1710788 w 5179506"/>
              <a:gd name="connsiteY2" fmla="*/ 60073 h 1742515"/>
              <a:gd name="connsiteX3" fmla="*/ 2078426 w 5179506"/>
              <a:gd name="connsiteY3" fmla="*/ 32158 h 1742515"/>
              <a:gd name="connsiteX4" fmla="*/ 3587348 w 5179506"/>
              <a:gd name="connsiteY4" fmla="*/ 801526 h 1742515"/>
              <a:gd name="connsiteX5" fmla="*/ 5179506 w 5179506"/>
              <a:gd name="connsiteY5" fmla="*/ 836196 h 1742515"/>
              <a:gd name="connsiteX0" fmla="*/ 1793800 w 5010211"/>
              <a:gd name="connsiteY0" fmla="*/ 1749903 h 1752606"/>
              <a:gd name="connsiteX1" fmla="*/ 1025 w 5010211"/>
              <a:gd name="connsiteY1" fmla="*/ 924081 h 1752606"/>
              <a:gd name="connsiteX2" fmla="*/ 1541493 w 5010211"/>
              <a:gd name="connsiteY2" fmla="*/ 69700 h 1752606"/>
              <a:gd name="connsiteX3" fmla="*/ 1909131 w 5010211"/>
              <a:gd name="connsiteY3" fmla="*/ 41785 h 1752606"/>
              <a:gd name="connsiteX4" fmla="*/ 3418053 w 5010211"/>
              <a:gd name="connsiteY4" fmla="*/ 811153 h 1752606"/>
              <a:gd name="connsiteX5" fmla="*/ 5010211 w 5010211"/>
              <a:gd name="connsiteY5" fmla="*/ 845823 h 1752606"/>
              <a:gd name="connsiteX0" fmla="*/ 1792877 w 5009288"/>
              <a:gd name="connsiteY0" fmla="*/ 1734022 h 1736708"/>
              <a:gd name="connsiteX1" fmla="*/ 102 w 5009288"/>
              <a:gd name="connsiteY1" fmla="*/ 908200 h 1736708"/>
              <a:gd name="connsiteX2" fmla="*/ 1709968 w 5009288"/>
              <a:gd name="connsiteY2" fmla="*/ 77605 h 1736708"/>
              <a:gd name="connsiteX3" fmla="*/ 1908208 w 5009288"/>
              <a:gd name="connsiteY3" fmla="*/ 25904 h 1736708"/>
              <a:gd name="connsiteX4" fmla="*/ 3417130 w 5009288"/>
              <a:gd name="connsiteY4" fmla="*/ 795272 h 1736708"/>
              <a:gd name="connsiteX5" fmla="*/ 5009288 w 5009288"/>
              <a:gd name="connsiteY5" fmla="*/ 829942 h 1736708"/>
              <a:gd name="connsiteX0" fmla="*/ 1792879 w 5009290"/>
              <a:gd name="connsiteY0" fmla="*/ 1724366 h 1727052"/>
              <a:gd name="connsiteX1" fmla="*/ 104 w 5009290"/>
              <a:gd name="connsiteY1" fmla="*/ 898544 h 1727052"/>
              <a:gd name="connsiteX2" fmla="*/ 1709970 w 5009290"/>
              <a:gd name="connsiteY2" fmla="*/ 67949 h 1727052"/>
              <a:gd name="connsiteX3" fmla="*/ 2145366 w 5009290"/>
              <a:gd name="connsiteY3" fmla="*/ 40034 h 1727052"/>
              <a:gd name="connsiteX4" fmla="*/ 3417132 w 5009290"/>
              <a:gd name="connsiteY4" fmla="*/ 785616 h 1727052"/>
              <a:gd name="connsiteX5" fmla="*/ 5009290 w 5009290"/>
              <a:gd name="connsiteY5" fmla="*/ 820286 h 1727052"/>
              <a:gd name="connsiteX0" fmla="*/ 1792879 w 5009290"/>
              <a:gd name="connsiteY0" fmla="*/ 1724366 h 1727052"/>
              <a:gd name="connsiteX1" fmla="*/ 104 w 5009290"/>
              <a:gd name="connsiteY1" fmla="*/ 898544 h 1727052"/>
              <a:gd name="connsiteX2" fmla="*/ 1709970 w 5009290"/>
              <a:gd name="connsiteY2" fmla="*/ 67949 h 1727052"/>
              <a:gd name="connsiteX3" fmla="*/ 2145366 w 5009290"/>
              <a:gd name="connsiteY3" fmla="*/ 40034 h 1727052"/>
              <a:gd name="connsiteX4" fmla="*/ 3417132 w 5009290"/>
              <a:gd name="connsiteY4" fmla="*/ 785616 h 1727052"/>
              <a:gd name="connsiteX5" fmla="*/ 5009290 w 5009290"/>
              <a:gd name="connsiteY5" fmla="*/ 820286 h 1727052"/>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3417143 w 5009301"/>
              <a:gd name="connsiteY4" fmla="*/ 764667 h 1706103"/>
              <a:gd name="connsiteX5" fmla="*/ 5009301 w 5009301"/>
              <a:gd name="connsiteY5" fmla="*/ 799337 h 1706103"/>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4026974 w 5009301"/>
              <a:gd name="connsiteY4" fmla="*/ 776560 h 1706103"/>
              <a:gd name="connsiteX5" fmla="*/ 5009301 w 5009301"/>
              <a:gd name="connsiteY5" fmla="*/ 799337 h 1706103"/>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4043913 w 5009301"/>
              <a:gd name="connsiteY4" fmla="*/ 740881 h 1706103"/>
              <a:gd name="connsiteX5" fmla="*/ 5009301 w 5009301"/>
              <a:gd name="connsiteY5" fmla="*/ 799337 h 1706103"/>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4043913 w 5009301"/>
              <a:gd name="connsiteY4" fmla="*/ 740881 h 1706103"/>
              <a:gd name="connsiteX5" fmla="*/ 5009301 w 5009301"/>
              <a:gd name="connsiteY5" fmla="*/ 799337 h 1706103"/>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4043913 w 5009301"/>
              <a:gd name="connsiteY4" fmla="*/ 740881 h 1706103"/>
              <a:gd name="connsiteX5" fmla="*/ 5009301 w 5009301"/>
              <a:gd name="connsiteY5" fmla="*/ 799337 h 1706103"/>
              <a:gd name="connsiteX0" fmla="*/ 1792890 w 4975422"/>
              <a:gd name="connsiteY0" fmla="*/ 1703417 h 1706103"/>
              <a:gd name="connsiteX1" fmla="*/ 115 w 4975422"/>
              <a:gd name="connsiteY1" fmla="*/ 877595 h 1706103"/>
              <a:gd name="connsiteX2" fmla="*/ 1709981 w 4975422"/>
              <a:gd name="connsiteY2" fmla="*/ 47000 h 1706103"/>
              <a:gd name="connsiteX3" fmla="*/ 2145377 w 4975422"/>
              <a:gd name="connsiteY3" fmla="*/ 19085 h 1706103"/>
              <a:gd name="connsiteX4" fmla="*/ 4043913 w 4975422"/>
              <a:gd name="connsiteY4" fmla="*/ 740881 h 1706103"/>
              <a:gd name="connsiteX5" fmla="*/ 4975422 w 4975422"/>
              <a:gd name="connsiteY5" fmla="*/ 751765 h 1706103"/>
              <a:gd name="connsiteX0" fmla="*/ 1792890 w 4975422"/>
              <a:gd name="connsiteY0" fmla="*/ 1703417 h 1706103"/>
              <a:gd name="connsiteX1" fmla="*/ 115 w 4975422"/>
              <a:gd name="connsiteY1" fmla="*/ 877595 h 1706103"/>
              <a:gd name="connsiteX2" fmla="*/ 1709981 w 4975422"/>
              <a:gd name="connsiteY2" fmla="*/ 47000 h 1706103"/>
              <a:gd name="connsiteX3" fmla="*/ 2145377 w 4975422"/>
              <a:gd name="connsiteY3" fmla="*/ 19085 h 1706103"/>
              <a:gd name="connsiteX4" fmla="*/ 4043913 w 4975422"/>
              <a:gd name="connsiteY4" fmla="*/ 740881 h 1706103"/>
              <a:gd name="connsiteX5" fmla="*/ 4975422 w 4975422"/>
              <a:gd name="connsiteY5" fmla="*/ 751765 h 1706103"/>
              <a:gd name="connsiteX0" fmla="*/ 1792890 w 4975422"/>
              <a:gd name="connsiteY0" fmla="*/ 1703417 h 1706103"/>
              <a:gd name="connsiteX1" fmla="*/ 115 w 4975422"/>
              <a:gd name="connsiteY1" fmla="*/ 877595 h 1706103"/>
              <a:gd name="connsiteX2" fmla="*/ 1709981 w 4975422"/>
              <a:gd name="connsiteY2" fmla="*/ 47000 h 1706103"/>
              <a:gd name="connsiteX3" fmla="*/ 2145377 w 4975422"/>
              <a:gd name="connsiteY3" fmla="*/ 19085 h 1706103"/>
              <a:gd name="connsiteX4" fmla="*/ 4094732 w 4975422"/>
              <a:gd name="connsiteY4" fmla="*/ 740881 h 1706103"/>
              <a:gd name="connsiteX5" fmla="*/ 4975422 w 4975422"/>
              <a:gd name="connsiteY5" fmla="*/ 751765 h 1706103"/>
              <a:gd name="connsiteX0" fmla="*/ 1792890 w 4975422"/>
              <a:gd name="connsiteY0" fmla="*/ 1703417 h 1706103"/>
              <a:gd name="connsiteX1" fmla="*/ 115 w 4975422"/>
              <a:gd name="connsiteY1" fmla="*/ 877595 h 1706103"/>
              <a:gd name="connsiteX2" fmla="*/ 1709981 w 4975422"/>
              <a:gd name="connsiteY2" fmla="*/ 47000 h 1706103"/>
              <a:gd name="connsiteX3" fmla="*/ 2145377 w 4975422"/>
              <a:gd name="connsiteY3" fmla="*/ 19085 h 1706103"/>
              <a:gd name="connsiteX4" fmla="*/ 4094732 w 4975422"/>
              <a:gd name="connsiteY4" fmla="*/ 740881 h 1706103"/>
              <a:gd name="connsiteX5" fmla="*/ 4975422 w 4975422"/>
              <a:gd name="connsiteY5" fmla="*/ 751765 h 1706103"/>
              <a:gd name="connsiteX0" fmla="*/ 1792890 w 4975422"/>
              <a:gd name="connsiteY0" fmla="*/ 1703417 h 1706103"/>
              <a:gd name="connsiteX1" fmla="*/ 115 w 4975422"/>
              <a:gd name="connsiteY1" fmla="*/ 877595 h 1706103"/>
              <a:gd name="connsiteX2" fmla="*/ 1709981 w 4975422"/>
              <a:gd name="connsiteY2" fmla="*/ 47000 h 1706103"/>
              <a:gd name="connsiteX3" fmla="*/ 2145377 w 4975422"/>
              <a:gd name="connsiteY3" fmla="*/ 19085 h 1706103"/>
              <a:gd name="connsiteX4" fmla="*/ 4094732 w 4975422"/>
              <a:gd name="connsiteY4" fmla="*/ 740881 h 1706103"/>
              <a:gd name="connsiteX5" fmla="*/ 4975422 w 4975422"/>
              <a:gd name="connsiteY5" fmla="*/ 751765 h 1706103"/>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4094732 w 5009301"/>
              <a:gd name="connsiteY4" fmla="*/ 740881 h 1706103"/>
              <a:gd name="connsiteX5" fmla="*/ 5009301 w 5009301"/>
              <a:gd name="connsiteY5" fmla="*/ 751765 h 1706103"/>
              <a:gd name="connsiteX0" fmla="*/ 1792890 w 5009301"/>
              <a:gd name="connsiteY0" fmla="*/ 1703417 h 1703417"/>
              <a:gd name="connsiteX1" fmla="*/ 115 w 5009301"/>
              <a:gd name="connsiteY1" fmla="*/ 877595 h 1703417"/>
              <a:gd name="connsiteX2" fmla="*/ 1709981 w 5009301"/>
              <a:gd name="connsiteY2" fmla="*/ 47000 h 1703417"/>
              <a:gd name="connsiteX3" fmla="*/ 2145377 w 5009301"/>
              <a:gd name="connsiteY3" fmla="*/ 19085 h 1703417"/>
              <a:gd name="connsiteX4" fmla="*/ 4094732 w 5009301"/>
              <a:gd name="connsiteY4" fmla="*/ 740881 h 1703417"/>
              <a:gd name="connsiteX5" fmla="*/ 5009301 w 5009301"/>
              <a:gd name="connsiteY5" fmla="*/ 751765 h 1703417"/>
              <a:gd name="connsiteX0" fmla="*/ 1980280 w 5010353"/>
              <a:gd name="connsiteY0" fmla="*/ 1643952 h 1643952"/>
              <a:gd name="connsiteX1" fmla="*/ 1167 w 5010353"/>
              <a:gd name="connsiteY1" fmla="*/ 877595 h 1643952"/>
              <a:gd name="connsiteX2" fmla="*/ 1711033 w 5010353"/>
              <a:gd name="connsiteY2" fmla="*/ 47000 h 1643952"/>
              <a:gd name="connsiteX3" fmla="*/ 2146429 w 5010353"/>
              <a:gd name="connsiteY3" fmla="*/ 19085 h 1643952"/>
              <a:gd name="connsiteX4" fmla="*/ 4095784 w 5010353"/>
              <a:gd name="connsiteY4" fmla="*/ 740881 h 1643952"/>
              <a:gd name="connsiteX5" fmla="*/ 5010353 w 5010353"/>
              <a:gd name="connsiteY5" fmla="*/ 751765 h 1643952"/>
              <a:gd name="connsiteX0" fmla="*/ 4148325 w 5071160"/>
              <a:gd name="connsiteY0" fmla="*/ 1063131 h 1063131"/>
              <a:gd name="connsiteX1" fmla="*/ 61974 w 5071160"/>
              <a:gd name="connsiteY1" fmla="*/ 877595 h 1063131"/>
              <a:gd name="connsiteX2" fmla="*/ 1771840 w 5071160"/>
              <a:gd name="connsiteY2" fmla="*/ 47000 h 1063131"/>
              <a:gd name="connsiteX3" fmla="*/ 2207236 w 5071160"/>
              <a:gd name="connsiteY3" fmla="*/ 19085 h 1063131"/>
              <a:gd name="connsiteX4" fmla="*/ 4156591 w 5071160"/>
              <a:gd name="connsiteY4" fmla="*/ 740881 h 1063131"/>
              <a:gd name="connsiteX5" fmla="*/ 5071160 w 5071160"/>
              <a:gd name="connsiteY5" fmla="*/ 751765 h 1063131"/>
              <a:gd name="connsiteX0" fmla="*/ 4148325 w 5071160"/>
              <a:gd name="connsiteY0" fmla="*/ 1063131 h 1104958"/>
              <a:gd name="connsiteX1" fmla="*/ 61974 w 5071160"/>
              <a:gd name="connsiteY1" fmla="*/ 877595 h 1104958"/>
              <a:gd name="connsiteX2" fmla="*/ 1771840 w 5071160"/>
              <a:gd name="connsiteY2" fmla="*/ 47000 h 1104958"/>
              <a:gd name="connsiteX3" fmla="*/ 2207236 w 5071160"/>
              <a:gd name="connsiteY3" fmla="*/ 19085 h 1104958"/>
              <a:gd name="connsiteX4" fmla="*/ 4156591 w 5071160"/>
              <a:gd name="connsiteY4" fmla="*/ 740881 h 1104958"/>
              <a:gd name="connsiteX5" fmla="*/ 5071160 w 5071160"/>
              <a:gd name="connsiteY5" fmla="*/ 751765 h 1104958"/>
              <a:gd name="connsiteX0" fmla="*/ 2377398 w 3300233"/>
              <a:gd name="connsiteY0" fmla="*/ 1133434 h 1648824"/>
              <a:gd name="connsiteX1" fmla="*/ 401391 w 3300233"/>
              <a:gd name="connsiteY1" fmla="*/ 1616263 h 1648824"/>
              <a:gd name="connsiteX2" fmla="*/ 913 w 3300233"/>
              <a:gd name="connsiteY2" fmla="*/ 117303 h 1648824"/>
              <a:gd name="connsiteX3" fmla="*/ 436309 w 3300233"/>
              <a:gd name="connsiteY3" fmla="*/ 89388 h 1648824"/>
              <a:gd name="connsiteX4" fmla="*/ 2385664 w 3300233"/>
              <a:gd name="connsiteY4" fmla="*/ 811184 h 1648824"/>
              <a:gd name="connsiteX5" fmla="*/ 3300233 w 3300233"/>
              <a:gd name="connsiteY5" fmla="*/ 822068 h 1648824"/>
              <a:gd name="connsiteX0" fmla="*/ 2377476 w 3300311"/>
              <a:gd name="connsiteY0" fmla="*/ 1133434 h 1624719"/>
              <a:gd name="connsiteX1" fmla="*/ 401469 w 3300311"/>
              <a:gd name="connsiteY1" fmla="*/ 1616263 h 1624719"/>
              <a:gd name="connsiteX2" fmla="*/ 991 w 3300311"/>
              <a:gd name="connsiteY2" fmla="*/ 117303 h 1624719"/>
              <a:gd name="connsiteX3" fmla="*/ 436387 w 3300311"/>
              <a:gd name="connsiteY3" fmla="*/ 89388 h 1624719"/>
              <a:gd name="connsiteX4" fmla="*/ 2385742 w 3300311"/>
              <a:gd name="connsiteY4" fmla="*/ 811184 h 1624719"/>
              <a:gd name="connsiteX5" fmla="*/ 3300311 w 3300311"/>
              <a:gd name="connsiteY5" fmla="*/ 822068 h 1624719"/>
              <a:gd name="connsiteX0" fmla="*/ 4565127 w 5487962"/>
              <a:gd name="connsiteY0" fmla="*/ 1044046 h 1527661"/>
              <a:gd name="connsiteX1" fmla="*/ 2589120 w 5487962"/>
              <a:gd name="connsiteY1" fmla="*/ 1526875 h 1527661"/>
              <a:gd name="connsiteX2" fmla="*/ 13 w 5487962"/>
              <a:gd name="connsiteY2" fmla="*/ 920050 h 1527661"/>
              <a:gd name="connsiteX3" fmla="*/ 2624038 w 5487962"/>
              <a:gd name="connsiteY3" fmla="*/ 0 h 1527661"/>
              <a:gd name="connsiteX4" fmla="*/ 4573393 w 5487962"/>
              <a:gd name="connsiteY4" fmla="*/ 721796 h 1527661"/>
              <a:gd name="connsiteX5" fmla="*/ 5487962 w 5487962"/>
              <a:gd name="connsiteY5" fmla="*/ 732680 h 1527661"/>
              <a:gd name="connsiteX0" fmla="*/ 4565134 w 5487969"/>
              <a:gd name="connsiteY0" fmla="*/ 1044046 h 1601201"/>
              <a:gd name="connsiteX1" fmla="*/ 2672698 w 5487969"/>
              <a:gd name="connsiteY1" fmla="*/ 1600535 h 1601201"/>
              <a:gd name="connsiteX2" fmla="*/ 20 w 5487969"/>
              <a:gd name="connsiteY2" fmla="*/ 920050 h 1601201"/>
              <a:gd name="connsiteX3" fmla="*/ 2624045 w 5487969"/>
              <a:gd name="connsiteY3" fmla="*/ 0 h 1601201"/>
              <a:gd name="connsiteX4" fmla="*/ 4573400 w 5487969"/>
              <a:gd name="connsiteY4" fmla="*/ 721796 h 1601201"/>
              <a:gd name="connsiteX5" fmla="*/ 5487969 w 5487969"/>
              <a:gd name="connsiteY5" fmla="*/ 732680 h 1601201"/>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573400 w 5487969"/>
              <a:gd name="connsiteY4" fmla="*/ 721796 h 1600598"/>
              <a:gd name="connsiteX5" fmla="*/ 5487969 w 5487969"/>
              <a:gd name="connsiteY5" fmla="*/ 732680 h 1600598"/>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573400 w 5487969"/>
              <a:gd name="connsiteY4" fmla="*/ 721796 h 1600598"/>
              <a:gd name="connsiteX5" fmla="*/ 5487969 w 5487969"/>
              <a:gd name="connsiteY5" fmla="*/ 732680 h 1600598"/>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529175 w 5487969"/>
              <a:gd name="connsiteY4" fmla="*/ 603773 h 1600598"/>
              <a:gd name="connsiteX5" fmla="*/ 5487969 w 5487969"/>
              <a:gd name="connsiteY5" fmla="*/ 732680 h 1600598"/>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529175 w 5487969"/>
              <a:gd name="connsiteY4" fmla="*/ 603773 h 1600598"/>
              <a:gd name="connsiteX5" fmla="*/ 5487969 w 5487969"/>
              <a:gd name="connsiteY5" fmla="*/ 732680 h 1600598"/>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624789 w 5487969"/>
              <a:gd name="connsiteY4" fmla="*/ 531483 h 1600598"/>
              <a:gd name="connsiteX5" fmla="*/ 5487969 w 5487969"/>
              <a:gd name="connsiteY5" fmla="*/ 732680 h 1600598"/>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624789 w 5487969"/>
              <a:gd name="connsiteY4" fmla="*/ 531483 h 1600598"/>
              <a:gd name="connsiteX5" fmla="*/ 5487969 w 5487969"/>
              <a:gd name="connsiteY5" fmla="*/ 732680 h 1600598"/>
              <a:gd name="connsiteX0" fmla="*/ 5142345 w 5479353"/>
              <a:gd name="connsiteY0" fmla="*/ 883984 h 1600598"/>
              <a:gd name="connsiteX1" fmla="*/ 2672698 w 5479353"/>
              <a:gd name="connsiteY1" fmla="*/ 1600535 h 1600598"/>
              <a:gd name="connsiteX2" fmla="*/ 20 w 5479353"/>
              <a:gd name="connsiteY2" fmla="*/ 920050 h 1600598"/>
              <a:gd name="connsiteX3" fmla="*/ 2624045 w 5479353"/>
              <a:gd name="connsiteY3" fmla="*/ 0 h 1600598"/>
              <a:gd name="connsiteX4" fmla="*/ 4624789 w 5479353"/>
              <a:gd name="connsiteY4" fmla="*/ 531483 h 1600598"/>
              <a:gd name="connsiteX5" fmla="*/ 5479353 w 5479353"/>
              <a:gd name="connsiteY5" fmla="*/ 784368 h 1600598"/>
              <a:gd name="connsiteX0" fmla="*/ 5142345 w 5479353"/>
              <a:gd name="connsiteY0" fmla="*/ 883984 h 1600598"/>
              <a:gd name="connsiteX1" fmla="*/ 2672698 w 5479353"/>
              <a:gd name="connsiteY1" fmla="*/ 1600535 h 1600598"/>
              <a:gd name="connsiteX2" fmla="*/ 20 w 5479353"/>
              <a:gd name="connsiteY2" fmla="*/ 920050 h 1600598"/>
              <a:gd name="connsiteX3" fmla="*/ 2624045 w 5479353"/>
              <a:gd name="connsiteY3" fmla="*/ 0 h 1600598"/>
              <a:gd name="connsiteX4" fmla="*/ 4624789 w 5479353"/>
              <a:gd name="connsiteY4" fmla="*/ 531483 h 1600598"/>
              <a:gd name="connsiteX5" fmla="*/ 5479353 w 5479353"/>
              <a:gd name="connsiteY5" fmla="*/ 784368 h 1600598"/>
              <a:gd name="connsiteX0" fmla="*/ 5142345 w 5479353"/>
              <a:gd name="connsiteY0" fmla="*/ 883984 h 1600598"/>
              <a:gd name="connsiteX1" fmla="*/ 2672698 w 5479353"/>
              <a:gd name="connsiteY1" fmla="*/ 1600535 h 1600598"/>
              <a:gd name="connsiteX2" fmla="*/ 20 w 5479353"/>
              <a:gd name="connsiteY2" fmla="*/ 920050 h 1600598"/>
              <a:gd name="connsiteX3" fmla="*/ 2624045 w 5479353"/>
              <a:gd name="connsiteY3" fmla="*/ 0 h 1600598"/>
              <a:gd name="connsiteX4" fmla="*/ 4663098 w 5479353"/>
              <a:gd name="connsiteY4" fmla="*/ 478605 h 1600598"/>
              <a:gd name="connsiteX5" fmla="*/ 5479353 w 5479353"/>
              <a:gd name="connsiteY5" fmla="*/ 784368 h 1600598"/>
              <a:gd name="connsiteX0" fmla="*/ 5142345 w 5479353"/>
              <a:gd name="connsiteY0" fmla="*/ 883984 h 1600598"/>
              <a:gd name="connsiteX1" fmla="*/ 2672698 w 5479353"/>
              <a:gd name="connsiteY1" fmla="*/ 1600535 h 1600598"/>
              <a:gd name="connsiteX2" fmla="*/ 20 w 5479353"/>
              <a:gd name="connsiteY2" fmla="*/ 920050 h 1600598"/>
              <a:gd name="connsiteX3" fmla="*/ 2624045 w 5479353"/>
              <a:gd name="connsiteY3" fmla="*/ 0 h 1600598"/>
              <a:gd name="connsiteX4" fmla="*/ 4663098 w 5479353"/>
              <a:gd name="connsiteY4" fmla="*/ 478605 h 1600598"/>
              <a:gd name="connsiteX5" fmla="*/ 5479353 w 5479353"/>
              <a:gd name="connsiteY5" fmla="*/ 784368 h 1600598"/>
              <a:gd name="connsiteX0" fmla="*/ 5142602 w 5479610"/>
              <a:gd name="connsiteY0" fmla="*/ 955858 h 1672474"/>
              <a:gd name="connsiteX1" fmla="*/ 2672955 w 5479610"/>
              <a:gd name="connsiteY1" fmla="*/ 1672409 h 1672474"/>
              <a:gd name="connsiteX2" fmla="*/ 277 w 5479610"/>
              <a:gd name="connsiteY2" fmla="*/ 991924 h 1672474"/>
              <a:gd name="connsiteX3" fmla="*/ 2496195 w 5479610"/>
              <a:gd name="connsiteY3" fmla="*/ 0 h 1672474"/>
              <a:gd name="connsiteX4" fmla="*/ 4663355 w 5479610"/>
              <a:gd name="connsiteY4" fmla="*/ 550479 h 1672474"/>
              <a:gd name="connsiteX5" fmla="*/ 5479610 w 5479610"/>
              <a:gd name="connsiteY5" fmla="*/ 856242 h 1672474"/>
              <a:gd name="connsiteX0" fmla="*/ 5142328 w 5479336"/>
              <a:gd name="connsiteY0" fmla="*/ 996469 h 1713086"/>
              <a:gd name="connsiteX1" fmla="*/ 2672681 w 5479336"/>
              <a:gd name="connsiteY1" fmla="*/ 1713020 h 1713086"/>
              <a:gd name="connsiteX2" fmla="*/ 3 w 5479336"/>
              <a:gd name="connsiteY2" fmla="*/ 1032535 h 1713086"/>
              <a:gd name="connsiteX3" fmla="*/ 2655069 w 5479336"/>
              <a:gd name="connsiteY3" fmla="*/ 0 h 1713086"/>
              <a:gd name="connsiteX4" fmla="*/ 4663081 w 5479336"/>
              <a:gd name="connsiteY4" fmla="*/ 591090 h 1713086"/>
              <a:gd name="connsiteX5" fmla="*/ 5479336 w 5479336"/>
              <a:gd name="connsiteY5" fmla="*/ 896853 h 1713086"/>
              <a:gd name="connsiteX0" fmla="*/ 5143013 w 5480021"/>
              <a:gd name="connsiteY0" fmla="*/ 1020407 h 1737025"/>
              <a:gd name="connsiteX1" fmla="*/ 2673366 w 5480021"/>
              <a:gd name="connsiteY1" fmla="*/ 1736958 h 1737025"/>
              <a:gd name="connsiteX2" fmla="*/ 688 w 5480021"/>
              <a:gd name="connsiteY2" fmla="*/ 1056473 h 1737025"/>
              <a:gd name="connsiteX3" fmla="*/ 2399227 w 5480021"/>
              <a:gd name="connsiteY3" fmla="*/ 0 h 1737025"/>
              <a:gd name="connsiteX4" fmla="*/ 4663766 w 5480021"/>
              <a:gd name="connsiteY4" fmla="*/ 615028 h 1737025"/>
              <a:gd name="connsiteX5" fmla="*/ 5480021 w 5480021"/>
              <a:gd name="connsiteY5" fmla="*/ 920791 h 1737025"/>
              <a:gd name="connsiteX0" fmla="*/ 5143013 w 5480021"/>
              <a:gd name="connsiteY0" fmla="*/ 1020407 h 1737025"/>
              <a:gd name="connsiteX1" fmla="*/ 2673366 w 5480021"/>
              <a:gd name="connsiteY1" fmla="*/ 1736958 h 1737025"/>
              <a:gd name="connsiteX2" fmla="*/ 688 w 5480021"/>
              <a:gd name="connsiteY2" fmla="*/ 1056473 h 1737025"/>
              <a:gd name="connsiteX3" fmla="*/ 2399227 w 5480021"/>
              <a:gd name="connsiteY3" fmla="*/ 0 h 1737025"/>
              <a:gd name="connsiteX4" fmla="*/ 4663766 w 5480021"/>
              <a:gd name="connsiteY4" fmla="*/ 615028 h 1737025"/>
              <a:gd name="connsiteX5" fmla="*/ 5480021 w 5480021"/>
              <a:gd name="connsiteY5" fmla="*/ 920791 h 1737025"/>
              <a:gd name="connsiteX0" fmla="*/ 5143013 w 5480021"/>
              <a:gd name="connsiteY0" fmla="*/ 1020407 h 1737025"/>
              <a:gd name="connsiteX1" fmla="*/ 2673366 w 5480021"/>
              <a:gd name="connsiteY1" fmla="*/ 1736958 h 1737025"/>
              <a:gd name="connsiteX2" fmla="*/ 688 w 5480021"/>
              <a:gd name="connsiteY2" fmla="*/ 1056473 h 1737025"/>
              <a:gd name="connsiteX3" fmla="*/ 2399227 w 5480021"/>
              <a:gd name="connsiteY3" fmla="*/ 0 h 1737025"/>
              <a:gd name="connsiteX4" fmla="*/ 4663766 w 5480021"/>
              <a:gd name="connsiteY4" fmla="*/ 615028 h 1737025"/>
              <a:gd name="connsiteX5" fmla="*/ 5480021 w 5480021"/>
              <a:gd name="connsiteY5" fmla="*/ 920791 h 1737025"/>
              <a:gd name="connsiteX0" fmla="*/ 5142566 w 5479574"/>
              <a:gd name="connsiteY0" fmla="*/ 981999 h 1698616"/>
              <a:gd name="connsiteX1" fmla="*/ 2672919 w 5479574"/>
              <a:gd name="connsiteY1" fmla="*/ 1698550 h 1698616"/>
              <a:gd name="connsiteX2" fmla="*/ 241 w 5479574"/>
              <a:gd name="connsiteY2" fmla="*/ 1018065 h 1698616"/>
              <a:gd name="connsiteX3" fmla="*/ 2507890 w 5479574"/>
              <a:gd name="connsiteY3" fmla="*/ 0 h 1698616"/>
              <a:gd name="connsiteX4" fmla="*/ 4663319 w 5479574"/>
              <a:gd name="connsiteY4" fmla="*/ 576620 h 1698616"/>
              <a:gd name="connsiteX5" fmla="*/ 5479574 w 5479574"/>
              <a:gd name="connsiteY5" fmla="*/ 882383 h 1698616"/>
              <a:gd name="connsiteX0" fmla="*/ 5142573 w 5479581"/>
              <a:gd name="connsiteY0" fmla="*/ 981999 h 1698616"/>
              <a:gd name="connsiteX1" fmla="*/ 2672926 w 5479581"/>
              <a:gd name="connsiteY1" fmla="*/ 1698550 h 1698616"/>
              <a:gd name="connsiteX2" fmla="*/ 248 w 5479581"/>
              <a:gd name="connsiteY2" fmla="*/ 1018065 h 1698616"/>
              <a:gd name="connsiteX3" fmla="*/ 2507897 w 5479581"/>
              <a:gd name="connsiteY3" fmla="*/ 0 h 1698616"/>
              <a:gd name="connsiteX4" fmla="*/ 4663326 w 5479581"/>
              <a:gd name="connsiteY4" fmla="*/ 576620 h 1698616"/>
              <a:gd name="connsiteX5" fmla="*/ 5479581 w 5479581"/>
              <a:gd name="connsiteY5" fmla="*/ 882383 h 169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79581" h="1698616">
                <a:moveTo>
                  <a:pt x="5142573" y="981999"/>
                </a:moveTo>
                <a:cubicBezTo>
                  <a:pt x="4684816" y="1127305"/>
                  <a:pt x="3529980" y="1692539"/>
                  <a:pt x="2672926" y="1698550"/>
                </a:cubicBezTo>
                <a:cubicBezTo>
                  <a:pt x="1815872" y="1704561"/>
                  <a:pt x="27753" y="1301157"/>
                  <a:pt x="248" y="1018065"/>
                </a:cubicBezTo>
                <a:cubicBezTo>
                  <a:pt x="-27257" y="734973"/>
                  <a:pt x="2232678" y="25959"/>
                  <a:pt x="2507897" y="0"/>
                </a:cubicBezTo>
                <a:cubicBezTo>
                  <a:pt x="2808654" y="31780"/>
                  <a:pt x="4256931" y="403026"/>
                  <a:pt x="4663326" y="576620"/>
                </a:cubicBezTo>
                <a:cubicBezTo>
                  <a:pt x="5188386" y="754873"/>
                  <a:pt x="4980841" y="624759"/>
                  <a:pt x="5479581" y="882383"/>
                </a:cubicBezTo>
              </a:path>
            </a:pathLst>
          </a:custGeom>
          <a:noFill/>
          <a:ln w="28575" cap="flat" cmpd="sng" algn="ctr">
            <a:solidFill>
              <a:srgbClr val="C00000"/>
            </a:solidFill>
            <a:prstDash val="dash"/>
            <a:round/>
            <a:headEnd type="none" w="med" len="med"/>
            <a:tailEnd type="stealth" w="lg" len="lg"/>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spTree>
    <p:extLst>
      <p:ext uri="{BB962C8B-B14F-4D97-AF65-F5344CB8AC3E}">
        <p14:creationId xmlns:p14="http://schemas.microsoft.com/office/powerpoint/2010/main" val="1131075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Line 12"/>
          <p:cNvSpPr>
            <a:spLocks noChangeShapeType="1"/>
          </p:cNvSpPr>
          <p:nvPr/>
        </p:nvSpPr>
        <p:spPr bwMode="auto">
          <a:xfrm flipV="1">
            <a:off x="3683000" y="3762375"/>
            <a:ext cx="0" cy="1295400"/>
          </a:xfrm>
          <a:prstGeom prst="line">
            <a:avLst/>
          </a:prstGeom>
          <a:noFill/>
          <a:ln w="28575">
            <a:solidFill>
              <a:schemeClr val="tx1"/>
            </a:solidFill>
            <a:round/>
            <a:headEnd/>
            <a:tailEnd/>
          </a:ln>
        </p:spPr>
        <p:txBody>
          <a:bodyPr/>
          <a:lstStyle/>
          <a:p>
            <a:endParaRPr lang="en-US" altLang="zh-CN" dirty="0">
              <a:latin typeface="+mn-lt"/>
            </a:endParaRPr>
          </a:p>
        </p:txBody>
      </p:sp>
      <p:sp>
        <p:nvSpPr>
          <p:cNvPr id="54276" name="Line 8"/>
          <p:cNvSpPr>
            <a:spLocks noChangeShapeType="1"/>
          </p:cNvSpPr>
          <p:nvPr/>
        </p:nvSpPr>
        <p:spPr bwMode="auto">
          <a:xfrm flipV="1">
            <a:off x="3894139" y="5286375"/>
            <a:ext cx="688975" cy="0"/>
          </a:xfrm>
          <a:prstGeom prst="line">
            <a:avLst/>
          </a:prstGeom>
          <a:noFill/>
          <a:ln w="28575">
            <a:solidFill>
              <a:schemeClr val="tx1"/>
            </a:solidFill>
            <a:round/>
            <a:headEnd/>
            <a:tailEnd/>
          </a:ln>
        </p:spPr>
        <p:txBody>
          <a:bodyPr/>
          <a:lstStyle/>
          <a:p>
            <a:endParaRPr lang="en-US" altLang="zh-CN" dirty="0">
              <a:latin typeface="+mn-lt"/>
            </a:endParaRPr>
          </a:p>
        </p:txBody>
      </p:sp>
      <p:sp>
        <p:nvSpPr>
          <p:cNvPr id="54277" name="Line 4"/>
          <p:cNvSpPr>
            <a:spLocks noChangeShapeType="1"/>
          </p:cNvSpPr>
          <p:nvPr/>
        </p:nvSpPr>
        <p:spPr bwMode="auto">
          <a:xfrm flipV="1">
            <a:off x="3987800" y="2205038"/>
            <a:ext cx="2108200" cy="1123950"/>
          </a:xfrm>
          <a:prstGeom prst="line">
            <a:avLst/>
          </a:prstGeom>
          <a:noFill/>
          <a:ln w="28575">
            <a:solidFill>
              <a:schemeClr val="tx1"/>
            </a:solidFill>
            <a:round/>
            <a:headEnd/>
            <a:tailEnd/>
          </a:ln>
        </p:spPr>
        <p:txBody>
          <a:bodyPr/>
          <a:lstStyle/>
          <a:p>
            <a:endParaRPr lang="en-US" altLang="zh-CN" dirty="0">
              <a:latin typeface="+mn-lt"/>
            </a:endParaRPr>
          </a:p>
        </p:txBody>
      </p:sp>
      <p:sp>
        <p:nvSpPr>
          <p:cNvPr id="54278" name="Line 5"/>
          <p:cNvSpPr>
            <a:spLocks noChangeShapeType="1"/>
          </p:cNvSpPr>
          <p:nvPr/>
        </p:nvSpPr>
        <p:spPr bwMode="auto">
          <a:xfrm>
            <a:off x="6557963" y="2159001"/>
            <a:ext cx="2462212" cy="1247775"/>
          </a:xfrm>
          <a:prstGeom prst="line">
            <a:avLst/>
          </a:prstGeom>
          <a:noFill/>
          <a:ln w="28575">
            <a:solidFill>
              <a:schemeClr val="tx1"/>
            </a:solidFill>
            <a:round/>
            <a:headEnd/>
            <a:tailEnd/>
          </a:ln>
        </p:spPr>
        <p:txBody>
          <a:bodyPr/>
          <a:lstStyle/>
          <a:p>
            <a:endParaRPr lang="en-US" altLang="zh-CN" dirty="0">
              <a:latin typeface="+mn-lt"/>
            </a:endParaRPr>
          </a:p>
        </p:txBody>
      </p:sp>
      <p:sp>
        <p:nvSpPr>
          <p:cNvPr id="54279" name="Line 6"/>
          <p:cNvSpPr>
            <a:spLocks noChangeShapeType="1"/>
          </p:cNvSpPr>
          <p:nvPr/>
        </p:nvSpPr>
        <p:spPr bwMode="auto">
          <a:xfrm flipV="1">
            <a:off x="6565901" y="3698876"/>
            <a:ext cx="2454275" cy="1363663"/>
          </a:xfrm>
          <a:prstGeom prst="line">
            <a:avLst/>
          </a:prstGeom>
          <a:noFill/>
          <a:ln w="28575">
            <a:solidFill>
              <a:schemeClr val="tx1"/>
            </a:solidFill>
            <a:round/>
            <a:headEnd/>
            <a:tailEnd/>
          </a:ln>
        </p:spPr>
        <p:txBody>
          <a:bodyPr/>
          <a:lstStyle/>
          <a:p>
            <a:endParaRPr lang="en-US" altLang="zh-CN" dirty="0">
              <a:latin typeface="+mn-lt"/>
            </a:endParaRPr>
          </a:p>
        </p:txBody>
      </p:sp>
      <p:sp>
        <p:nvSpPr>
          <p:cNvPr id="54280" name="Line 7"/>
          <p:cNvSpPr>
            <a:spLocks noChangeShapeType="1"/>
          </p:cNvSpPr>
          <p:nvPr/>
        </p:nvSpPr>
        <p:spPr bwMode="auto">
          <a:xfrm>
            <a:off x="3894139" y="3616325"/>
            <a:ext cx="2160587" cy="1358900"/>
          </a:xfrm>
          <a:prstGeom prst="line">
            <a:avLst/>
          </a:prstGeom>
          <a:noFill/>
          <a:ln w="28575">
            <a:solidFill>
              <a:schemeClr val="tx1"/>
            </a:solidFill>
            <a:round/>
            <a:headEnd/>
            <a:tailEnd/>
          </a:ln>
        </p:spPr>
        <p:txBody>
          <a:bodyPr/>
          <a:lstStyle/>
          <a:p>
            <a:endParaRPr lang="en-US" altLang="zh-CN" dirty="0">
              <a:latin typeface="+mn-lt"/>
            </a:endParaRPr>
          </a:p>
        </p:txBody>
      </p:sp>
      <p:pic>
        <p:nvPicPr>
          <p:cNvPr id="5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152587" y="1901772"/>
            <a:ext cx="628652" cy="514351"/>
          </a:xfrm>
          <a:prstGeom prst="rect">
            <a:avLst/>
          </a:prstGeom>
          <a:noFill/>
        </p:spPr>
      </p:pic>
      <p:pic>
        <p:nvPicPr>
          <p:cNvPr id="5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791327" y="3346070"/>
            <a:ext cx="628652" cy="514351"/>
          </a:xfrm>
          <a:prstGeom prst="rect">
            <a:avLst/>
          </a:prstGeom>
          <a:noFill/>
        </p:spPr>
      </p:pic>
      <p:pic>
        <p:nvPicPr>
          <p:cNvPr id="5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121016" y="4852636"/>
            <a:ext cx="628652" cy="514351"/>
          </a:xfrm>
          <a:prstGeom prst="rect">
            <a:avLst/>
          </a:prstGeom>
          <a:noFill/>
        </p:spPr>
      </p:pic>
      <p:pic>
        <p:nvPicPr>
          <p:cNvPr id="5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390493" y="3254673"/>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403061" y="4936467"/>
            <a:ext cx="628652" cy="514351"/>
          </a:xfrm>
          <a:prstGeom prst="rect">
            <a:avLst/>
          </a:prstGeom>
          <a:noFill/>
        </p:spPr>
      </p:pic>
      <p:sp>
        <p:nvSpPr>
          <p:cNvPr id="54274" name="标题 3"/>
          <p:cNvSpPr>
            <a:spLocks noGrp="1"/>
          </p:cNvSpPr>
          <p:nvPr>
            <p:ph type="title"/>
          </p:nvPr>
        </p:nvSpPr>
        <p:spPr/>
        <p:txBody>
          <a:bodyPr/>
          <a:lstStyle/>
          <a:p>
            <a:r>
              <a:rPr lang="en-US" altLang="zh-CN" smtClean="0">
                <a:sym typeface="FrutigerNext LT Regular" pitchFamily="34" charset="0"/>
              </a:rPr>
              <a:t>Other Problems Caused by Multi-Protocol - Loop</a:t>
            </a:r>
            <a:endParaRPr lang="en-US" altLang="zh-CN" dirty="0" smtClean="0">
              <a:sym typeface="FrutigerNext LT Regular" pitchFamily="34" charset="0"/>
            </a:endParaRPr>
          </a:p>
        </p:txBody>
      </p:sp>
      <p:sp>
        <p:nvSpPr>
          <p:cNvPr id="54281" name="Text Box 9"/>
          <p:cNvSpPr txBox="1">
            <a:spLocks noChangeArrowheads="1"/>
          </p:cNvSpPr>
          <p:nvPr/>
        </p:nvSpPr>
        <p:spPr bwMode="auto">
          <a:xfrm>
            <a:off x="4043364" y="5394326"/>
            <a:ext cx="1481137" cy="303213"/>
          </a:xfrm>
          <a:prstGeom prst="rect">
            <a:avLst/>
          </a:prstGeom>
          <a:noFill/>
          <a:ln w="9525" algn="ctr">
            <a:noFill/>
            <a:miter lim="800000"/>
            <a:headEnd/>
            <a:tailEnd/>
          </a:ln>
        </p:spPr>
        <p:txBody>
          <a:bodyPr wrap="none" lIns="78355" tIns="39177" rIns="78355" bIns="39177" anchor="ctr"/>
          <a:lstStyle/>
          <a:p>
            <a:pPr algn="ctr" defTabSz="784225" eaLnBrk="0" hangingPunct="0">
              <a:buSzPct val="100000"/>
            </a:pPr>
            <a:r>
              <a:rPr lang="en-US" altLang="zh-CN" sz="1400" b="1" dirty="0">
                <a:solidFill>
                  <a:srgbClr val="000000"/>
                </a:solidFill>
                <a:latin typeface="+mn-lt"/>
                <a:ea typeface="MS PGothic" pitchFamily="34" charset="-128"/>
                <a:sym typeface="FrutigerNext LT Regular" pitchFamily="34" charset="0"/>
              </a:rPr>
              <a:t>Lo0:2.2.2.2/32</a:t>
            </a:r>
          </a:p>
        </p:txBody>
      </p:sp>
      <p:sp>
        <p:nvSpPr>
          <p:cNvPr id="54282" name="WordArt 10"/>
          <p:cNvSpPr>
            <a:spLocks noChangeArrowheads="1" noChangeShapeType="1" noTextEdit="1"/>
          </p:cNvSpPr>
          <p:nvPr/>
        </p:nvSpPr>
        <p:spPr bwMode="auto">
          <a:xfrm>
            <a:off x="6816725" y="3576638"/>
            <a:ext cx="533400" cy="284162"/>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lt"/>
                <a:ea typeface="宋体"/>
              </a:rPr>
              <a:t>ISIS</a:t>
            </a:r>
          </a:p>
        </p:txBody>
      </p:sp>
      <p:sp>
        <p:nvSpPr>
          <p:cNvPr id="54283" name="WordArt 11"/>
          <p:cNvSpPr>
            <a:spLocks noChangeArrowheads="1" noChangeShapeType="1" noTextEdit="1"/>
          </p:cNvSpPr>
          <p:nvPr/>
        </p:nvSpPr>
        <p:spPr bwMode="auto">
          <a:xfrm>
            <a:off x="5448300" y="3576638"/>
            <a:ext cx="546100" cy="284162"/>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lt"/>
                <a:ea typeface="宋体"/>
              </a:rPr>
              <a:t>OSPF</a:t>
            </a:r>
          </a:p>
        </p:txBody>
      </p:sp>
      <p:sp>
        <p:nvSpPr>
          <p:cNvPr id="54284" name="AutoShape 20"/>
          <p:cNvSpPr>
            <a:spLocks noChangeArrowheads="1"/>
          </p:cNvSpPr>
          <p:nvPr/>
        </p:nvSpPr>
        <p:spPr bwMode="auto">
          <a:xfrm rot="10800000" flipH="1">
            <a:off x="6959601" y="2852739"/>
            <a:ext cx="792163" cy="1595437"/>
          </a:xfrm>
          <a:prstGeom prst="curvedLeftArrow">
            <a:avLst>
              <a:gd name="adj1" fmla="val 40271"/>
              <a:gd name="adj2" fmla="val 80552"/>
              <a:gd name="adj3" fmla="val 33333"/>
            </a:avLst>
          </a:prstGeom>
          <a:noFill/>
          <a:ln w="9525">
            <a:solidFill>
              <a:schemeClr val="tx1"/>
            </a:solidFill>
            <a:miter lim="800000"/>
            <a:headEnd/>
            <a:tailEnd/>
          </a:ln>
        </p:spPr>
        <p:txBody>
          <a:bodyPr wrap="none" anchor="ctr"/>
          <a:lstStyle/>
          <a:p>
            <a:pPr fontAlgn="t"/>
            <a:endParaRPr lang="en-US" altLang="zh-CN" dirty="0">
              <a:latin typeface="+mn-lt"/>
            </a:endParaRPr>
          </a:p>
        </p:txBody>
      </p:sp>
      <p:sp>
        <p:nvSpPr>
          <p:cNvPr id="54285" name="Rectangle 22"/>
          <p:cNvSpPr>
            <a:spLocks noChangeArrowheads="1"/>
          </p:cNvSpPr>
          <p:nvPr/>
        </p:nvSpPr>
        <p:spPr bwMode="auto">
          <a:xfrm>
            <a:off x="2670175" y="5208588"/>
            <a:ext cx="590707"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RTA</a:t>
            </a:r>
          </a:p>
        </p:txBody>
      </p:sp>
      <p:sp>
        <p:nvSpPr>
          <p:cNvPr id="54286" name="Rectangle 23"/>
          <p:cNvSpPr>
            <a:spLocks noChangeArrowheads="1"/>
          </p:cNvSpPr>
          <p:nvPr/>
        </p:nvSpPr>
        <p:spPr bwMode="auto">
          <a:xfrm>
            <a:off x="2782888" y="3319463"/>
            <a:ext cx="593400"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RTB</a:t>
            </a:r>
          </a:p>
        </p:txBody>
      </p:sp>
      <p:sp>
        <p:nvSpPr>
          <p:cNvPr id="54287" name="Rectangle 24"/>
          <p:cNvSpPr>
            <a:spLocks noChangeArrowheads="1"/>
          </p:cNvSpPr>
          <p:nvPr/>
        </p:nvSpPr>
        <p:spPr bwMode="auto">
          <a:xfrm>
            <a:off x="5700713" y="2384425"/>
            <a:ext cx="582178"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RTC</a:t>
            </a:r>
          </a:p>
        </p:txBody>
      </p:sp>
      <p:sp>
        <p:nvSpPr>
          <p:cNvPr id="54288" name="Rectangle 25"/>
          <p:cNvSpPr>
            <a:spLocks noChangeArrowheads="1"/>
          </p:cNvSpPr>
          <p:nvPr/>
        </p:nvSpPr>
        <p:spPr bwMode="auto">
          <a:xfrm>
            <a:off x="9480550" y="3390900"/>
            <a:ext cx="614238"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RTD</a:t>
            </a:r>
          </a:p>
        </p:txBody>
      </p:sp>
      <p:sp>
        <p:nvSpPr>
          <p:cNvPr id="54289" name="Rectangle 26"/>
          <p:cNvSpPr>
            <a:spLocks noChangeArrowheads="1"/>
          </p:cNvSpPr>
          <p:nvPr/>
        </p:nvSpPr>
        <p:spPr bwMode="auto">
          <a:xfrm>
            <a:off x="6380163" y="4375150"/>
            <a:ext cx="569354" cy="339180"/>
          </a:xfrm>
          <a:prstGeom prst="rect">
            <a:avLst/>
          </a:prstGeom>
          <a:noFill/>
          <a:ln w="9525">
            <a:noFill/>
            <a:miter lim="800000"/>
            <a:headEnd/>
            <a:tailEnd/>
          </a:ln>
        </p:spPr>
        <p:txBody>
          <a:bodyPr wrap="none" lIns="92059" tIns="46030" rIns="92059" bIns="46030">
            <a:spAutoFit/>
          </a:bodyPr>
          <a:lstStyle/>
          <a:p>
            <a:pPr eaLnBrk="0" fontAlgn="t" hangingPunct="0">
              <a:buSzPct val="100000"/>
            </a:pPr>
            <a:r>
              <a:rPr lang="en-US" altLang="zh-CN" sz="1600" b="1" dirty="0">
                <a:solidFill>
                  <a:srgbClr val="000000"/>
                </a:solidFill>
                <a:latin typeface="+mn-lt"/>
                <a:sym typeface="FrutigerNext LT Regular" pitchFamily="34" charset="0"/>
              </a:rPr>
              <a:t>RTE</a:t>
            </a:r>
          </a:p>
        </p:txBody>
      </p:sp>
      <p:sp>
        <p:nvSpPr>
          <p:cNvPr id="54290" name="Line 7"/>
          <p:cNvSpPr>
            <a:spLocks noChangeShapeType="1"/>
          </p:cNvSpPr>
          <p:nvPr/>
        </p:nvSpPr>
        <p:spPr bwMode="auto">
          <a:xfrm>
            <a:off x="4583113" y="5121275"/>
            <a:ext cx="0" cy="287338"/>
          </a:xfrm>
          <a:prstGeom prst="line">
            <a:avLst/>
          </a:prstGeom>
          <a:noFill/>
          <a:ln w="28575">
            <a:solidFill>
              <a:schemeClr val="tx1"/>
            </a:solidFill>
            <a:round/>
            <a:headEnd/>
            <a:tailEnd/>
          </a:ln>
        </p:spPr>
        <p:txBody>
          <a:bodyPr/>
          <a:lstStyle/>
          <a:p>
            <a:endParaRPr lang="en-US" altLang="zh-CN" dirty="0">
              <a:latin typeface="+mn-lt"/>
            </a:endParaRPr>
          </a:p>
        </p:txBody>
      </p:sp>
      <p:sp>
        <p:nvSpPr>
          <p:cNvPr id="54291" name="AutoShape 20"/>
          <p:cNvSpPr>
            <a:spLocks noChangeArrowheads="1"/>
          </p:cNvSpPr>
          <p:nvPr/>
        </p:nvSpPr>
        <p:spPr bwMode="auto">
          <a:xfrm flipH="1">
            <a:off x="5159376" y="2997200"/>
            <a:ext cx="720725" cy="1595438"/>
          </a:xfrm>
          <a:prstGeom prst="curvedLeftArrow">
            <a:avLst>
              <a:gd name="adj1" fmla="val 40235"/>
              <a:gd name="adj2" fmla="val 91293"/>
              <a:gd name="adj3" fmla="val 33333"/>
            </a:avLst>
          </a:prstGeom>
          <a:noFill/>
          <a:ln w="9525">
            <a:solidFill>
              <a:schemeClr val="tx1"/>
            </a:solidFill>
            <a:miter lim="800000"/>
            <a:headEnd/>
            <a:tailEnd/>
          </a:ln>
        </p:spPr>
        <p:txBody>
          <a:bodyPr wrap="none" anchor="ctr"/>
          <a:lstStyle/>
          <a:p>
            <a:pPr fontAlgn="t"/>
            <a:endParaRPr lang="en-US" altLang="zh-CN" dirty="0">
              <a:latin typeface="+mn-lt"/>
            </a:endParaRPr>
          </a:p>
        </p:txBody>
      </p:sp>
      <p:grpSp>
        <p:nvGrpSpPr>
          <p:cNvPr id="3" name="组合 2"/>
          <p:cNvGrpSpPr>
            <a:grpSpLocks noChangeAspect="1"/>
          </p:cNvGrpSpPr>
          <p:nvPr/>
        </p:nvGrpSpPr>
        <p:grpSpPr bwMode="auto">
          <a:xfrm rot="-5400000">
            <a:off x="3423444" y="4788694"/>
            <a:ext cx="592138" cy="2089150"/>
            <a:chOff x="969990" y="3579019"/>
            <a:chExt cx="592138" cy="2089150"/>
          </a:xfrm>
        </p:grpSpPr>
        <p:sp>
          <p:nvSpPr>
            <p:cNvPr id="54324" name="AutoShape 13"/>
            <p:cNvSpPr>
              <a:spLocks noChangeArrowheads="1"/>
            </p:cNvSpPr>
            <p:nvPr/>
          </p:nvSpPr>
          <p:spPr bwMode="auto">
            <a:xfrm>
              <a:off x="969990" y="3579019"/>
              <a:ext cx="592138" cy="2089150"/>
            </a:xfrm>
            <a:prstGeom prst="upArrow">
              <a:avLst>
                <a:gd name="adj1" fmla="val 50000"/>
                <a:gd name="adj2" fmla="val 88204"/>
              </a:avLst>
            </a:prstGeom>
            <a:noFill/>
            <a:ln w="9525" algn="ctr">
              <a:solidFill>
                <a:schemeClr val="tx1"/>
              </a:solidFill>
              <a:miter lim="800000"/>
              <a:headEnd/>
              <a:tailEnd/>
            </a:ln>
          </p:spPr>
          <p:txBody>
            <a:bodyPr vert="eaVert" wrap="none" lIns="78355" tIns="39177" rIns="78355" bIns="39177" anchor="ctr"/>
            <a:lstStyle/>
            <a:p>
              <a:pPr algn="ctr" defTabSz="784225" eaLnBrk="0" hangingPunct="0">
                <a:buSzPct val="100000"/>
              </a:pPr>
              <a:r>
                <a:rPr lang="en-US" altLang="zh-CN" sz="1400" dirty="0">
                  <a:solidFill>
                    <a:srgbClr val="000000"/>
                  </a:solidFill>
                  <a:latin typeface="+mn-lt"/>
                  <a:ea typeface="MS PGothic" pitchFamily="34" charset="-128"/>
                  <a:sym typeface="FrutigerNext LT Regular" pitchFamily="34" charset="0"/>
                </a:rPr>
                <a:t>  import direct cost 2 </a:t>
              </a:r>
            </a:p>
          </p:txBody>
        </p:sp>
        <p:sp>
          <p:nvSpPr>
            <p:cNvPr id="2" name="文本框 1"/>
            <p:cNvSpPr txBox="1"/>
            <p:nvPr/>
          </p:nvSpPr>
          <p:spPr bwMode="auto">
            <a:xfrm rot="5400000">
              <a:off x="1000231" y="3723561"/>
              <a:ext cx="417356" cy="360362"/>
            </a:xfrm>
            <a:prstGeom prst="rect">
              <a:avLst/>
            </a:prstGeom>
            <a:noFill/>
            <a:ln w="9525">
              <a:noFill/>
              <a:miter lim="800000"/>
              <a:headEnd/>
              <a:tailEnd/>
            </a:ln>
          </p:spPr>
          <p:txBody>
            <a:bodyPr vert="eaVert" lIns="99980" tIns="49986" rIns="99980" bIns="49986">
              <a:spAutoFit/>
            </a:bodyPr>
            <a:lstStyle/>
            <a:p>
              <a:pPr marL="342900" indent="-342900" algn="ctr" defTabSz="1001649" eaLnBrk="0" hangingPunct="0">
                <a:buFont typeface="+mj-ea"/>
                <a:buAutoNum type="circleNumDbPlain"/>
                <a:defRPr/>
              </a:pPr>
              <a:r>
                <a:rPr lang="en-US" altLang="zh-CN" sz="1400" dirty="0">
                  <a:solidFill>
                    <a:srgbClr val="000000"/>
                  </a:solidFill>
                  <a:latin typeface="+mn-lt"/>
                  <a:ea typeface="+mn-ea"/>
                  <a:cs typeface="Arial" pitchFamily="34" charset="0"/>
                </a:rPr>
                <a:t> </a:t>
              </a:r>
            </a:p>
          </p:txBody>
        </p:sp>
      </p:grpSp>
      <p:grpSp>
        <p:nvGrpSpPr>
          <p:cNvPr id="4" name="组合 4"/>
          <p:cNvGrpSpPr>
            <a:grpSpLocks/>
          </p:cNvGrpSpPr>
          <p:nvPr/>
        </p:nvGrpSpPr>
        <p:grpSpPr bwMode="auto">
          <a:xfrm>
            <a:off x="2789239" y="3578226"/>
            <a:ext cx="536575" cy="1687513"/>
            <a:chOff x="2339752" y="3840262"/>
            <a:chExt cx="535211" cy="1688510"/>
          </a:xfrm>
        </p:grpSpPr>
        <p:sp>
          <p:nvSpPr>
            <p:cNvPr id="54322" name="AutoShape 14"/>
            <p:cNvSpPr>
              <a:spLocks noChangeArrowheads="1"/>
            </p:cNvSpPr>
            <p:nvPr/>
          </p:nvSpPr>
          <p:spPr bwMode="auto">
            <a:xfrm>
              <a:off x="2339752" y="3840262"/>
              <a:ext cx="535211" cy="1688510"/>
            </a:xfrm>
            <a:prstGeom prst="upArrow">
              <a:avLst>
                <a:gd name="adj1" fmla="val 50000"/>
                <a:gd name="adj2" fmla="val 70999"/>
              </a:avLst>
            </a:prstGeom>
            <a:noFill/>
            <a:ln w="9525" algn="ctr">
              <a:solidFill>
                <a:schemeClr val="tx1"/>
              </a:solidFill>
              <a:miter lim="800000"/>
              <a:headEnd/>
              <a:tailEnd/>
            </a:ln>
          </p:spPr>
          <p:txBody>
            <a:bodyPr vert="eaVert" wrap="none" lIns="78355" tIns="39177" rIns="78355" bIns="39177" anchor="ctr"/>
            <a:lstStyle/>
            <a:p>
              <a:pPr algn="ctr" defTabSz="784225" eaLnBrk="0" hangingPunct="0">
                <a:buSzPct val="100000"/>
              </a:pPr>
              <a:r>
                <a:rPr lang="en-US" altLang="zh-CN" sz="1400" dirty="0">
                  <a:solidFill>
                    <a:srgbClr val="000000"/>
                  </a:solidFill>
                  <a:latin typeface="+mn-lt"/>
                  <a:ea typeface="MS PGothic" pitchFamily="34" charset="-128"/>
                  <a:sym typeface="FrutigerNext LT Regular" pitchFamily="34" charset="0"/>
                </a:rPr>
                <a:t>  Dest. ASE 150 </a:t>
              </a:r>
              <a:r>
                <a:rPr lang="en-US" altLang="zh-CN" sz="1400" b="1" dirty="0">
                  <a:solidFill>
                    <a:srgbClr val="C00000"/>
                  </a:solidFill>
                  <a:latin typeface="+mn-lt"/>
                  <a:ea typeface="MS PGothic" pitchFamily="34" charset="-128"/>
                  <a:sym typeface="FrutigerNext LT Regular" pitchFamily="34" charset="0"/>
                </a:rPr>
                <a:t>2</a:t>
              </a:r>
            </a:p>
          </p:txBody>
        </p:sp>
        <p:sp>
          <p:nvSpPr>
            <p:cNvPr id="113" name="文本框 112"/>
            <p:cNvSpPr txBox="1"/>
            <p:nvPr/>
          </p:nvSpPr>
          <p:spPr bwMode="auto">
            <a:xfrm rot="5400000">
              <a:off x="2340760" y="3900393"/>
              <a:ext cx="417603" cy="359447"/>
            </a:xfrm>
            <a:prstGeom prst="rect">
              <a:avLst/>
            </a:prstGeom>
            <a:noFill/>
            <a:ln w="9525">
              <a:noFill/>
              <a:miter lim="800000"/>
              <a:headEnd/>
              <a:tailEnd/>
            </a:ln>
          </p:spPr>
          <p:txBody>
            <a:bodyPr vert="eaVert" lIns="99980" tIns="49986" rIns="99980" bIns="49986">
              <a:spAutoFit/>
            </a:bodyPr>
            <a:lstStyle/>
            <a:p>
              <a:pPr marL="342900" indent="-342900" algn="ctr" defTabSz="1001649" eaLnBrk="0" hangingPunct="0">
                <a:buFont typeface="+mj-ea"/>
                <a:buAutoNum type="circleNumDbPlain" startAt="2"/>
                <a:defRPr/>
              </a:pPr>
              <a:r>
                <a:rPr lang="en-US" altLang="zh-CN" sz="1400" dirty="0">
                  <a:solidFill>
                    <a:srgbClr val="000000"/>
                  </a:solidFill>
                  <a:latin typeface="+mn-lt"/>
                  <a:ea typeface="+mn-ea"/>
                  <a:cs typeface="Arial" pitchFamily="34" charset="0"/>
                </a:rPr>
                <a:t> </a:t>
              </a:r>
            </a:p>
          </p:txBody>
        </p:sp>
      </p:grpSp>
      <p:grpSp>
        <p:nvGrpSpPr>
          <p:cNvPr id="5" name="组合 5"/>
          <p:cNvGrpSpPr>
            <a:grpSpLocks/>
          </p:cNvGrpSpPr>
          <p:nvPr/>
        </p:nvGrpSpPr>
        <p:grpSpPr bwMode="auto">
          <a:xfrm>
            <a:off x="4016376" y="4265613"/>
            <a:ext cx="1851025" cy="812800"/>
            <a:chOff x="2645136" y="4232858"/>
            <a:chExt cx="1851025" cy="812835"/>
          </a:xfrm>
        </p:grpSpPr>
        <p:sp>
          <p:nvSpPr>
            <p:cNvPr id="54320" name="AutoShape 15"/>
            <p:cNvSpPr>
              <a:spLocks noChangeArrowheads="1"/>
            </p:cNvSpPr>
            <p:nvPr/>
          </p:nvSpPr>
          <p:spPr bwMode="auto">
            <a:xfrm rot="1897125">
              <a:off x="2645136" y="4488481"/>
              <a:ext cx="1851025" cy="557212"/>
            </a:xfrm>
            <a:prstGeom prst="rightArrow">
              <a:avLst>
                <a:gd name="adj1" fmla="val 50000"/>
                <a:gd name="adj2" fmla="val 83049"/>
              </a:avLst>
            </a:prstGeom>
            <a:noFill/>
            <a:ln w="9525" algn="ctr">
              <a:solidFill>
                <a:schemeClr val="tx1"/>
              </a:solidFill>
              <a:miter lim="800000"/>
              <a:headEnd/>
              <a:tailEnd/>
            </a:ln>
          </p:spPr>
          <p:txBody>
            <a:bodyPr wrap="none" lIns="78355" tIns="39177" rIns="78355" bIns="39177" anchor="ctr"/>
            <a:lstStyle/>
            <a:p>
              <a:pPr algn="ctr" defTabSz="784225" eaLnBrk="0" hangingPunct="0">
                <a:buSzPct val="100000"/>
              </a:pPr>
              <a:r>
                <a:rPr lang="en-US" altLang="zh-CN" sz="1400" dirty="0">
                  <a:solidFill>
                    <a:srgbClr val="000000"/>
                  </a:solidFill>
                  <a:latin typeface="+mn-lt"/>
                  <a:ea typeface="MS PGothic" pitchFamily="34" charset="-128"/>
                  <a:sym typeface="FrutigerNext LT Regular" pitchFamily="34" charset="0"/>
                </a:rPr>
                <a:t> Dest. ASE 150</a:t>
              </a:r>
            </a:p>
          </p:txBody>
        </p:sp>
        <p:sp>
          <p:nvSpPr>
            <p:cNvPr id="114" name="文本框 113"/>
            <p:cNvSpPr txBox="1"/>
            <p:nvPr/>
          </p:nvSpPr>
          <p:spPr bwMode="auto">
            <a:xfrm rot="1800000">
              <a:off x="2697602" y="4232858"/>
              <a:ext cx="417356" cy="360378"/>
            </a:xfrm>
            <a:prstGeom prst="rect">
              <a:avLst/>
            </a:prstGeom>
            <a:noFill/>
            <a:ln w="9525">
              <a:noFill/>
              <a:miter lim="800000"/>
              <a:headEnd/>
              <a:tailEnd/>
            </a:ln>
          </p:spPr>
          <p:txBody>
            <a:bodyPr vert="eaVert" lIns="99980" tIns="49986" rIns="99980" bIns="49986">
              <a:spAutoFit/>
            </a:bodyPr>
            <a:lstStyle/>
            <a:p>
              <a:pPr marL="342900" indent="-342900" algn="ctr" defTabSz="1001649" eaLnBrk="0" hangingPunct="0">
                <a:buFont typeface="+mj-ea"/>
                <a:buAutoNum type="circleNumDbPlain" startAt="3"/>
                <a:defRPr/>
              </a:pPr>
              <a:r>
                <a:rPr lang="en-US" altLang="zh-CN" sz="1400" dirty="0">
                  <a:solidFill>
                    <a:srgbClr val="000000"/>
                  </a:solidFill>
                  <a:latin typeface="+mn-lt"/>
                  <a:ea typeface="+mn-ea"/>
                  <a:cs typeface="Arial" pitchFamily="34" charset="0"/>
                </a:rPr>
                <a:t> </a:t>
              </a:r>
            </a:p>
          </p:txBody>
        </p:sp>
      </p:grpSp>
      <p:grpSp>
        <p:nvGrpSpPr>
          <p:cNvPr id="6" name="组合 7"/>
          <p:cNvGrpSpPr>
            <a:grpSpLocks/>
          </p:cNvGrpSpPr>
          <p:nvPr/>
        </p:nvGrpSpPr>
        <p:grpSpPr bwMode="auto">
          <a:xfrm>
            <a:off x="5765800" y="5300664"/>
            <a:ext cx="1912938" cy="523875"/>
            <a:chOff x="4241800" y="5301208"/>
            <a:chExt cx="1912938" cy="523875"/>
          </a:xfrm>
        </p:grpSpPr>
        <p:sp>
          <p:nvSpPr>
            <p:cNvPr id="54318" name="AutoShape 32"/>
            <p:cNvSpPr>
              <a:spLocks noChangeArrowheads="1"/>
            </p:cNvSpPr>
            <p:nvPr/>
          </p:nvSpPr>
          <p:spPr bwMode="auto">
            <a:xfrm>
              <a:off x="4241800" y="5301208"/>
              <a:ext cx="1912938" cy="523875"/>
            </a:xfrm>
            <a:prstGeom prst="rightArrow">
              <a:avLst>
                <a:gd name="adj1" fmla="val 50000"/>
                <a:gd name="adj2" fmla="val 91288"/>
              </a:avLst>
            </a:prstGeom>
            <a:noFill/>
            <a:ln w="9525" algn="ctr">
              <a:solidFill>
                <a:schemeClr val="tx1"/>
              </a:solidFill>
              <a:miter lim="800000"/>
              <a:headEnd/>
              <a:tailEnd/>
            </a:ln>
          </p:spPr>
          <p:txBody>
            <a:bodyPr wrap="none" lIns="78355" tIns="39177" rIns="78355" bIns="39177" anchor="ctr"/>
            <a:lstStyle/>
            <a:p>
              <a:pPr algn="ctr" defTabSz="784225" eaLnBrk="0" hangingPunct="0">
                <a:buSzPct val="100000"/>
              </a:pPr>
              <a:r>
                <a:rPr lang="en-US" altLang="zh-CN" sz="1400" dirty="0">
                  <a:solidFill>
                    <a:srgbClr val="000000"/>
                  </a:solidFill>
                  <a:latin typeface="+mn-lt"/>
                  <a:ea typeface="MS PGothic" pitchFamily="34" charset="-128"/>
                  <a:sym typeface="FrutigerNext LT Regular" pitchFamily="34" charset="0"/>
                </a:rPr>
                <a:t>import ospf</a:t>
              </a:r>
            </a:p>
          </p:txBody>
        </p:sp>
        <p:sp>
          <p:nvSpPr>
            <p:cNvPr id="115" name="文本框 114"/>
            <p:cNvSpPr txBox="1"/>
            <p:nvPr/>
          </p:nvSpPr>
          <p:spPr bwMode="auto">
            <a:xfrm>
              <a:off x="4283232" y="5428208"/>
              <a:ext cx="417356" cy="360362"/>
            </a:xfrm>
            <a:prstGeom prst="rect">
              <a:avLst/>
            </a:prstGeom>
            <a:noFill/>
            <a:ln w="9525">
              <a:noFill/>
              <a:miter lim="800000"/>
              <a:headEnd/>
              <a:tailEnd/>
            </a:ln>
          </p:spPr>
          <p:txBody>
            <a:bodyPr vert="eaVert" lIns="99980" tIns="49986" rIns="99980" bIns="49986">
              <a:spAutoFit/>
            </a:bodyPr>
            <a:lstStyle/>
            <a:p>
              <a:pPr marL="342900" indent="-342900" algn="ctr" defTabSz="1001649" eaLnBrk="0" hangingPunct="0">
                <a:buFont typeface="+mj-ea"/>
                <a:buAutoNum type="circleNumDbPlain" startAt="4"/>
                <a:defRPr/>
              </a:pPr>
              <a:r>
                <a:rPr lang="en-US" altLang="zh-CN" sz="1400" dirty="0">
                  <a:solidFill>
                    <a:srgbClr val="000000"/>
                  </a:solidFill>
                  <a:latin typeface="+mn-lt"/>
                  <a:ea typeface="+mn-ea"/>
                  <a:cs typeface="Arial" pitchFamily="34" charset="0"/>
                </a:rPr>
                <a:t> </a:t>
              </a:r>
            </a:p>
          </p:txBody>
        </p:sp>
      </p:grpSp>
      <p:grpSp>
        <p:nvGrpSpPr>
          <p:cNvPr id="7" name="组合 6"/>
          <p:cNvGrpSpPr>
            <a:grpSpLocks/>
          </p:cNvGrpSpPr>
          <p:nvPr/>
        </p:nvGrpSpPr>
        <p:grpSpPr bwMode="auto">
          <a:xfrm>
            <a:off x="7119939" y="4402138"/>
            <a:ext cx="1912937" cy="963612"/>
            <a:chOff x="5595888" y="4402488"/>
            <a:chExt cx="1912938" cy="962485"/>
          </a:xfrm>
        </p:grpSpPr>
        <p:sp>
          <p:nvSpPr>
            <p:cNvPr id="54316" name="AutoShape 17"/>
            <p:cNvSpPr>
              <a:spLocks noChangeArrowheads="1"/>
            </p:cNvSpPr>
            <p:nvPr/>
          </p:nvSpPr>
          <p:spPr bwMode="auto">
            <a:xfrm rot="-1861382">
              <a:off x="5595888" y="4402488"/>
              <a:ext cx="1912938" cy="592138"/>
            </a:xfrm>
            <a:prstGeom prst="rightArrow">
              <a:avLst>
                <a:gd name="adj1" fmla="val 50000"/>
                <a:gd name="adj2" fmla="val 80764"/>
              </a:avLst>
            </a:prstGeom>
            <a:noFill/>
            <a:ln w="9525" algn="ctr">
              <a:solidFill>
                <a:schemeClr val="tx1"/>
              </a:solidFill>
              <a:miter lim="800000"/>
              <a:headEnd/>
              <a:tailEnd/>
            </a:ln>
          </p:spPr>
          <p:txBody>
            <a:bodyPr wrap="none" lIns="78355" tIns="39177" rIns="78355" bIns="39177" anchor="ctr"/>
            <a:lstStyle/>
            <a:p>
              <a:pPr algn="ctr" defTabSz="784225" eaLnBrk="0" hangingPunct="0">
                <a:buSzPct val="100000"/>
              </a:pPr>
              <a:r>
                <a:rPr lang="en-US" altLang="zh-CN" sz="1400" dirty="0">
                  <a:solidFill>
                    <a:srgbClr val="000000"/>
                  </a:solidFill>
                  <a:latin typeface="+mn-lt"/>
                  <a:ea typeface="MS PGothic" pitchFamily="34" charset="-128"/>
                  <a:sym typeface="FrutigerNext LT Regular" pitchFamily="34" charset="0"/>
                </a:rPr>
                <a:t>Dest. ISIS 15</a:t>
              </a:r>
            </a:p>
          </p:txBody>
        </p:sp>
        <p:sp>
          <p:nvSpPr>
            <p:cNvPr id="54317" name="文本框 115"/>
            <p:cNvSpPr txBox="1">
              <a:spLocks noChangeArrowheads="1"/>
            </p:cNvSpPr>
            <p:nvPr/>
          </p:nvSpPr>
          <p:spPr bwMode="auto">
            <a:xfrm rot="19740000">
              <a:off x="5756495" y="4983734"/>
              <a:ext cx="417356" cy="381239"/>
            </a:xfrm>
            <a:prstGeom prst="rect">
              <a:avLst/>
            </a:prstGeom>
            <a:noFill/>
            <a:ln w="9525">
              <a:noFill/>
              <a:miter lim="800000"/>
              <a:headEnd/>
              <a:tailEnd/>
            </a:ln>
          </p:spPr>
          <p:txBody>
            <a:bodyPr vert="eaVert" lIns="99980" tIns="49986" rIns="99980" bIns="49986">
              <a:spAutoFit/>
            </a:bodyPr>
            <a:lstStyle/>
            <a:p>
              <a:pPr marL="342900" indent="-342900" algn="ctr" defTabSz="1000125" eaLnBrk="0" hangingPunct="0">
                <a:buFont typeface="黑体" pitchFamily="49" charset="-122"/>
                <a:buAutoNum type="circleNumDbPlain" startAt="5"/>
              </a:pPr>
              <a:r>
                <a:rPr lang="en-US" altLang="zh-CN" sz="1400" dirty="0">
                  <a:solidFill>
                    <a:srgbClr val="000000"/>
                  </a:solidFill>
                  <a:latin typeface="+mn-lt"/>
                  <a:cs typeface="Arial" charset="0"/>
                </a:rPr>
                <a:t> </a:t>
              </a:r>
            </a:p>
          </p:txBody>
        </p:sp>
      </p:grpSp>
      <p:grpSp>
        <p:nvGrpSpPr>
          <p:cNvPr id="8" name="组合 10"/>
          <p:cNvGrpSpPr>
            <a:grpSpLocks/>
          </p:cNvGrpSpPr>
          <p:nvPr/>
        </p:nvGrpSpPr>
        <p:grpSpPr bwMode="auto">
          <a:xfrm>
            <a:off x="7067551" y="2073276"/>
            <a:ext cx="1941513" cy="619125"/>
            <a:chOff x="5453988" y="2156148"/>
            <a:chExt cx="1941512" cy="619765"/>
          </a:xfrm>
        </p:grpSpPr>
        <p:sp>
          <p:nvSpPr>
            <p:cNvPr id="54314" name="AutoShape 18"/>
            <p:cNvSpPr>
              <a:spLocks noChangeArrowheads="1"/>
            </p:cNvSpPr>
            <p:nvPr/>
          </p:nvSpPr>
          <p:spPr bwMode="auto">
            <a:xfrm rot="-3646607">
              <a:off x="6135025" y="1515439"/>
              <a:ext cx="579437" cy="1941512"/>
            </a:xfrm>
            <a:prstGeom prst="upArrow">
              <a:avLst>
                <a:gd name="adj1" fmla="val 50000"/>
                <a:gd name="adj2" fmla="val 83767"/>
              </a:avLst>
            </a:prstGeom>
            <a:noFill/>
            <a:ln w="9525" algn="ctr">
              <a:solidFill>
                <a:schemeClr val="tx1"/>
              </a:solidFill>
              <a:miter lim="800000"/>
              <a:headEnd/>
              <a:tailEnd/>
            </a:ln>
          </p:spPr>
          <p:txBody>
            <a:bodyPr vert="eaVert" wrap="none" lIns="78355" tIns="39177" rIns="78355" bIns="39177" anchor="ctr"/>
            <a:lstStyle/>
            <a:p>
              <a:pPr algn="ctr" defTabSz="784225" eaLnBrk="0" hangingPunct="0">
                <a:buSzPct val="100000"/>
              </a:pPr>
              <a:r>
                <a:rPr lang="en-US" altLang="zh-CN" sz="1400" dirty="0">
                  <a:solidFill>
                    <a:srgbClr val="000000"/>
                  </a:solidFill>
                  <a:latin typeface="+mn-lt"/>
                  <a:ea typeface="MS PGothic" pitchFamily="34" charset="-128"/>
                  <a:sym typeface="FrutigerNext LT Regular" pitchFamily="34" charset="0"/>
                </a:rPr>
                <a:t> Dest. ISIS 15</a:t>
              </a:r>
            </a:p>
          </p:txBody>
        </p:sp>
        <p:sp>
          <p:nvSpPr>
            <p:cNvPr id="54315" name="文本框 116"/>
            <p:cNvSpPr txBox="1">
              <a:spLocks noChangeArrowheads="1"/>
            </p:cNvSpPr>
            <p:nvPr/>
          </p:nvSpPr>
          <p:spPr bwMode="auto">
            <a:xfrm rot="2017077">
              <a:off x="5758084" y="2156148"/>
              <a:ext cx="417356" cy="381239"/>
            </a:xfrm>
            <a:prstGeom prst="rect">
              <a:avLst/>
            </a:prstGeom>
            <a:noFill/>
            <a:ln w="9525">
              <a:noFill/>
              <a:miter lim="800000"/>
              <a:headEnd/>
              <a:tailEnd/>
            </a:ln>
          </p:spPr>
          <p:txBody>
            <a:bodyPr vert="eaVert" lIns="99980" tIns="49986" rIns="99980" bIns="49986">
              <a:spAutoFit/>
            </a:bodyPr>
            <a:lstStyle/>
            <a:p>
              <a:pPr marL="342900" indent="-342900" algn="ctr" defTabSz="1000125" eaLnBrk="0" hangingPunct="0">
                <a:buFont typeface="黑体" pitchFamily="49" charset="-122"/>
                <a:buAutoNum type="circleNumDbPlain" startAt="6"/>
              </a:pPr>
              <a:r>
                <a:rPr lang="en-US" altLang="zh-CN" sz="1400" dirty="0">
                  <a:solidFill>
                    <a:srgbClr val="000000"/>
                  </a:solidFill>
                  <a:latin typeface="+mn-lt"/>
                  <a:cs typeface="Arial" charset="0"/>
                </a:rPr>
                <a:t> </a:t>
              </a:r>
            </a:p>
          </p:txBody>
        </p:sp>
      </p:grpSp>
      <p:grpSp>
        <p:nvGrpSpPr>
          <p:cNvPr id="9" name="组合 9"/>
          <p:cNvGrpSpPr>
            <a:grpSpLocks/>
          </p:cNvGrpSpPr>
          <p:nvPr/>
        </p:nvGrpSpPr>
        <p:grpSpPr bwMode="auto">
          <a:xfrm>
            <a:off x="3900488" y="2168526"/>
            <a:ext cx="1911350" cy="835025"/>
            <a:chOff x="2430696" y="2269658"/>
            <a:chExt cx="1911350" cy="834623"/>
          </a:xfrm>
        </p:grpSpPr>
        <p:sp>
          <p:nvSpPr>
            <p:cNvPr id="54312" name="AutoShape 16"/>
            <p:cNvSpPr>
              <a:spLocks noChangeArrowheads="1"/>
            </p:cNvSpPr>
            <p:nvPr/>
          </p:nvSpPr>
          <p:spPr bwMode="auto">
            <a:xfrm rot="-1658380">
              <a:off x="2430696" y="2269658"/>
              <a:ext cx="1911350" cy="530225"/>
            </a:xfrm>
            <a:prstGeom prst="rightArrow">
              <a:avLst>
                <a:gd name="adj1" fmla="val 50000"/>
                <a:gd name="adj2" fmla="val 90120"/>
              </a:avLst>
            </a:prstGeom>
            <a:noFill/>
            <a:ln w="9525" algn="ctr">
              <a:solidFill>
                <a:schemeClr val="tx1"/>
              </a:solidFill>
              <a:miter lim="800000"/>
              <a:headEnd/>
              <a:tailEnd/>
            </a:ln>
          </p:spPr>
          <p:txBody>
            <a:bodyPr wrap="none" lIns="78355" tIns="39177" rIns="78355" bIns="39177" anchor="ctr"/>
            <a:lstStyle/>
            <a:p>
              <a:pPr algn="ctr" defTabSz="784225" eaLnBrk="0" hangingPunct="0">
                <a:buSzPct val="100000"/>
              </a:pPr>
              <a:r>
                <a:rPr lang="en-US" altLang="zh-CN" sz="1400" dirty="0">
                  <a:solidFill>
                    <a:srgbClr val="000000"/>
                  </a:solidFill>
                  <a:latin typeface="+mn-lt"/>
                  <a:ea typeface="MS PGothic" pitchFamily="34" charset="-128"/>
                  <a:sym typeface="FrutigerNext LT Regular" pitchFamily="34" charset="0"/>
                </a:rPr>
                <a:t>  Dest. ASE 150</a:t>
              </a:r>
            </a:p>
          </p:txBody>
        </p:sp>
        <p:sp>
          <p:nvSpPr>
            <p:cNvPr id="119" name="文本框 118"/>
            <p:cNvSpPr txBox="1"/>
            <p:nvPr/>
          </p:nvSpPr>
          <p:spPr bwMode="auto">
            <a:xfrm rot="20100000">
              <a:off x="2549836" y="2744092"/>
              <a:ext cx="417356" cy="360189"/>
            </a:xfrm>
            <a:prstGeom prst="rect">
              <a:avLst/>
            </a:prstGeom>
            <a:noFill/>
            <a:ln w="9525">
              <a:noFill/>
              <a:miter lim="800000"/>
              <a:headEnd/>
              <a:tailEnd/>
            </a:ln>
          </p:spPr>
          <p:txBody>
            <a:bodyPr vert="eaVert" lIns="99980" tIns="49986" rIns="99980" bIns="49986">
              <a:spAutoFit/>
            </a:bodyPr>
            <a:lstStyle/>
            <a:p>
              <a:pPr marL="342900" indent="-342900" algn="ctr" defTabSz="1001649" eaLnBrk="0" hangingPunct="0">
                <a:buFont typeface="+mj-ea"/>
                <a:buAutoNum type="circleNumDbPlain" startAt="3"/>
                <a:defRPr/>
              </a:pPr>
              <a:r>
                <a:rPr lang="en-US" altLang="zh-CN" sz="1400" dirty="0">
                  <a:solidFill>
                    <a:srgbClr val="000000"/>
                  </a:solidFill>
                  <a:latin typeface="+mn-lt"/>
                  <a:ea typeface="+mn-ea"/>
                  <a:cs typeface="Arial" pitchFamily="34" charset="0"/>
                </a:rPr>
                <a:t> </a:t>
              </a:r>
            </a:p>
          </p:txBody>
        </p:sp>
      </p:grpSp>
      <p:grpSp>
        <p:nvGrpSpPr>
          <p:cNvPr id="10" name="组合 11"/>
          <p:cNvGrpSpPr>
            <a:grpSpLocks/>
          </p:cNvGrpSpPr>
          <p:nvPr/>
        </p:nvGrpSpPr>
        <p:grpSpPr bwMode="auto">
          <a:xfrm>
            <a:off x="5530851" y="1289051"/>
            <a:ext cx="1541463" cy="627063"/>
            <a:chOff x="4006850" y="1289769"/>
            <a:chExt cx="1541463" cy="627063"/>
          </a:xfrm>
        </p:grpSpPr>
        <p:sp>
          <p:nvSpPr>
            <p:cNvPr id="54310" name="AutoShape 19"/>
            <p:cNvSpPr>
              <a:spLocks noChangeArrowheads="1"/>
            </p:cNvSpPr>
            <p:nvPr/>
          </p:nvSpPr>
          <p:spPr bwMode="auto">
            <a:xfrm rot="-5400000">
              <a:off x="4464050" y="832569"/>
              <a:ext cx="627063" cy="1541463"/>
            </a:xfrm>
            <a:prstGeom prst="upArrow">
              <a:avLst>
                <a:gd name="adj1" fmla="val 50000"/>
                <a:gd name="adj2" fmla="val 61456"/>
              </a:avLst>
            </a:prstGeom>
            <a:noFill/>
            <a:ln w="9525" algn="ctr">
              <a:solidFill>
                <a:schemeClr val="tx1"/>
              </a:solidFill>
              <a:miter lim="800000"/>
              <a:headEnd/>
              <a:tailEnd/>
            </a:ln>
          </p:spPr>
          <p:txBody>
            <a:bodyPr vert="eaVert" wrap="none" lIns="78355" tIns="39177" rIns="78355" bIns="39177" anchor="ctr"/>
            <a:lstStyle/>
            <a:p>
              <a:pPr algn="ctr" defTabSz="784225" eaLnBrk="0" hangingPunct="0">
                <a:buSzPct val="100000"/>
              </a:pPr>
              <a:r>
                <a:rPr lang="en-US" altLang="zh-CN" sz="1400" dirty="0">
                  <a:solidFill>
                    <a:srgbClr val="000000"/>
                  </a:solidFill>
                  <a:latin typeface="+mn-lt"/>
                  <a:ea typeface="MS PGothic" pitchFamily="34" charset="-128"/>
                  <a:sym typeface="FrutigerNext LT Regular" pitchFamily="34" charset="0"/>
                </a:rPr>
                <a:t> import isis</a:t>
              </a:r>
            </a:p>
          </p:txBody>
        </p:sp>
        <p:sp>
          <p:nvSpPr>
            <p:cNvPr id="120" name="文本框 119"/>
            <p:cNvSpPr txBox="1"/>
            <p:nvPr/>
          </p:nvSpPr>
          <p:spPr bwMode="auto">
            <a:xfrm>
              <a:off x="4154644" y="1475507"/>
              <a:ext cx="417356" cy="360362"/>
            </a:xfrm>
            <a:prstGeom prst="rect">
              <a:avLst/>
            </a:prstGeom>
            <a:noFill/>
            <a:ln w="9525">
              <a:noFill/>
              <a:miter lim="800000"/>
              <a:headEnd/>
              <a:tailEnd/>
            </a:ln>
          </p:spPr>
          <p:txBody>
            <a:bodyPr vert="eaVert" lIns="99980" tIns="49986" rIns="99980" bIns="49986">
              <a:spAutoFit/>
            </a:bodyPr>
            <a:lstStyle/>
            <a:p>
              <a:pPr marL="342900" indent="-342900" algn="ctr" defTabSz="1001649" eaLnBrk="0" hangingPunct="0">
                <a:buFont typeface="+mj-ea"/>
                <a:buAutoNum type="circleNumDbPlain" startAt="7"/>
                <a:defRPr/>
              </a:pPr>
              <a:r>
                <a:rPr lang="en-US" altLang="zh-CN" sz="1400" dirty="0">
                  <a:solidFill>
                    <a:srgbClr val="000000"/>
                  </a:solidFill>
                  <a:latin typeface="+mn-lt"/>
                  <a:ea typeface="+mn-ea"/>
                  <a:cs typeface="Arial" pitchFamily="34" charset="0"/>
                </a:rPr>
                <a:t> </a:t>
              </a:r>
            </a:p>
          </p:txBody>
        </p:sp>
      </p:grpSp>
      <p:grpSp>
        <p:nvGrpSpPr>
          <p:cNvPr id="11" name="组合 121"/>
          <p:cNvGrpSpPr>
            <a:grpSpLocks/>
          </p:cNvGrpSpPr>
          <p:nvPr/>
        </p:nvGrpSpPr>
        <p:grpSpPr bwMode="auto">
          <a:xfrm rot="-1560000">
            <a:off x="3554413" y="1795463"/>
            <a:ext cx="1727200" cy="627062"/>
            <a:chOff x="3990894" y="1289769"/>
            <a:chExt cx="1557419" cy="627063"/>
          </a:xfrm>
        </p:grpSpPr>
        <p:sp>
          <p:nvSpPr>
            <p:cNvPr id="54308" name="AutoShape 19"/>
            <p:cNvSpPr>
              <a:spLocks noChangeArrowheads="1"/>
            </p:cNvSpPr>
            <p:nvPr/>
          </p:nvSpPr>
          <p:spPr bwMode="auto">
            <a:xfrm rot="-5400000">
              <a:off x="4464050" y="832569"/>
              <a:ext cx="627063" cy="1541463"/>
            </a:xfrm>
            <a:prstGeom prst="upArrow">
              <a:avLst>
                <a:gd name="adj1" fmla="val 50000"/>
                <a:gd name="adj2" fmla="val 61456"/>
              </a:avLst>
            </a:prstGeom>
            <a:noFill/>
            <a:ln w="9525" algn="ctr">
              <a:solidFill>
                <a:schemeClr val="tx1"/>
              </a:solidFill>
              <a:miter lim="800000"/>
              <a:headEnd/>
              <a:tailEnd/>
            </a:ln>
          </p:spPr>
          <p:txBody>
            <a:bodyPr vert="eaVert" wrap="none" lIns="78355" tIns="39177" rIns="78355" bIns="39177" anchor="ctr"/>
            <a:lstStyle/>
            <a:p>
              <a:pPr algn="ctr" defTabSz="784225" eaLnBrk="0" hangingPunct="0">
                <a:buSzPct val="100000"/>
              </a:pPr>
              <a:r>
                <a:rPr lang="en-US" altLang="zh-CN" sz="1400" dirty="0">
                  <a:solidFill>
                    <a:srgbClr val="000000"/>
                  </a:solidFill>
                  <a:latin typeface="+mn-lt"/>
                  <a:ea typeface="MS PGothic" pitchFamily="34" charset="-128"/>
                  <a:sym typeface="FrutigerNext LT Regular" pitchFamily="34" charset="0"/>
                </a:rPr>
                <a:t> Dest. ASE 150 </a:t>
              </a:r>
              <a:r>
                <a:rPr lang="en-US" altLang="zh-CN" sz="1400" b="1" dirty="0">
                  <a:solidFill>
                    <a:srgbClr val="C00000"/>
                  </a:solidFill>
                  <a:latin typeface="+mn-lt"/>
                  <a:ea typeface="MS PGothic" pitchFamily="34" charset="-128"/>
                  <a:sym typeface="FrutigerNext LT Regular" pitchFamily="34" charset="0"/>
                </a:rPr>
                <a:t>1</a:t>
              </a:r>
            </a:p>
          </p:txBody>
        </p:sp>
        <p:sp>
          <p:nvSpPr>
            <p:cNvPr id="124" name="文本框 123"/>
            <p:cNvSpPr txBox="1"/>
            <p:nvPr/>
          </p:nvSpPr>
          <p:spPr bwMode="auto">
            <a:xfrm>
              <a:off x="3989954" y="1467700"/>
              <a:ext cx="417984" cy="360363"/>
            </a:xfrm>
            <a:prstGeom prst="rect">
              <a:avLst/>
            </a:prstGeom>
            <a:noFill/>
            <a:ln w="9525">
              <a:noFill/>
              <a:miter lim="800000"/>
              <a:headEnd/>
              <a:tailEnd/>
            </a:ln>
          </p:spPr>
          <p:txBody>
            <a:bodyPr vert="eaVert" lIns="99980" tIns="49986" rIns="99980" bIns="49986">
              <a:spAutoFit/>
            </a:bodyPr>
            <a:lstStyle/>
            <a:p>
              <a:pPr marL="342900" indent="-342900" algn="ctr" defTabSz="1001649" eaLnBrk="0" hangingPunct="0">
                <a:buFont typeface="+mj-ea"/>
                <a:buAutoNum type="circleNumDbPlain" startAt="8"/>
                <a:defRPr/>
              </a:pPr>
              <a:r>
                <a:rPr lang="en-US" altLang="zh-CN" sz="1400" dirty="0">
                  <a:solidFill>
                    <a:srgbClr val="000000"/>
                  </a:solidFill>
                  <a:latin typeface="+mn-lt"/>
                  <a:ea typeface="+mn-ea"/>
                  <a:cs typeface="Arial" pitchFamily="34" charset="0"/>
                </a:rPr>
                <a:t> </a:t>
              </a:r>
            </a:p>
          </p:txBody>
        </p:sp>
      </p:grpSp>
      <p:sp>
        <p:nvSpPr>
          <p:cNvPr id="54306" name="Line 31"/>
          <p:cNvSpPr>
            <a:spLocks noChangeShapeType="1"/>
          </p:cNvSpPr>
          <p:nvPr/>
        </p:nvSpPr>
        <p:spPr bwMode="auto">
          <a:xfrm flipH="1">
            <a:off x="6383338" y="1806576"/>
            <a:ext cx="31750" cy="3567113"/>
          </a:xfrm>
          <a:prstGeom prst="line">
            <a:avLst/>
          </a:prstGeom>
          <a:noFill/>
          <a:ln w="28575">
            <a:solidFill>
              <a:schemeClr val="tx1"/>
            </a:solidFill>
            <a:prstDash val="dash"/>
            <a:round/>
            <a:headEnd/>
            <a:tailEnd/>
          </a:ln>
        </p:spPr>
        <p:txBody>
          <a:bodyPr/>
          <a:lstStyle/>
          <a:p>
            <a:endParaRPr lang="en-US" altLang="zh-CN" dirty="0">
              <a:latin typeface="+mn-lt"/>
            </a:endParaRPr>
          </a:p>
        </p:txBody>
      </p:sp>
      <p:sp>
        <p:nvSpPr>
          <p:cNvPr id="58" name="任意多边形 57"/>
          <p:cNvSpPr>
            <a:spLocks noChangeAspect="1"/>
          </p:cNvSpPr>
          <p:nvPr/>
        </p:nvSpPr>
        <p:spPr bwMode="auto">
          <a:xfrm rot="-10560000">
            <a:off x="3427413" y="2143126"/>
            <a:ext cx="5611812" cy="3032125"/>
          </a:xfrm>
          <a:custGeom>
            <a:avLst/>
            <a:gdLst>
              <a:gd name="T0" fmla="*/ 5393447 w 5479581"/>
              <a:gd name="T1" fmla="*/ 3129607 h 1698616"/>
              <a:gd name="T2" fmla="*/ 2803321 w 5479581"/>
              <a:gd name="T3" fmla="*/ 5413237 h 1698616"/>
              <a:gd name="T4" fmla="*/ 260 w 5479581"/>
              <a:gd name="T5" fmla="*/ 3244548 h 1698616"/>
              <a:gd name="T6" fmla="*/ 2630241 w 5479581"/>
              <a:gd name="T7" fmla="*/ 0 h 1698616"/>
              <a:gd name="T8" fmla="*/ 4890819 w 5479581"/>
              <a:gd name="T9" fmla="*/ 1837674 h 1698616"/>
              <a:gd name="T10" fmla="*/ 5746895 w 5479581"/>
              <a:gd name="T11" fmla="*/ 2812133 h 1698616"/>
              <a:gd name="T12" fmla="*/ 0 60000 65536"/>
              <a:gd name="T13" fmla="*/ 0 60000 65536"/>
              <a:gd name="T14" fmla="*/ 0 60000 65536"/>
              <a:gd name="T15" fmla="*/ 0 60000 65536"/>
              <a:gd name="T16" fmla="*/ 0 60000 65536"/>
              <a:gd name="T17" fmla="*/ 0 60000 65536"/>
              <a:gd name="T18" fmla="*/ 0 w 5479581"/>
              <a:gd name="T19" fmla="*/ 0 h 1698616"/>
              <a:gd name="T20" fmla="*/ 5479581 w 5479581"/>
              <a:gd name="T21" fmla="*/ 1698616 h 1698616"/>
            </a:gdLst>
            <a:ahLst/>
            <a:cxnLst>
              <a:cxn ang="T12">
                <a:pos x="T0" y="T1"/>
              </a:cxn>
              <a:cxn ang="T13">
                <a:pos x="T2" y="T3"/>
              </a:cxn>
              <a:cxn ang="T14">
                <a:pos x="T4" y="T5"/>
              </a:cxn>
              <a:cxn ang="T15">
                <a:pos x="T6" y="T7"/>
              </a:cxn>
              <a:cxn ang="T16">
                <a:pos x="T8" y="T9"/>
              </a:cxn>
              <a:cxn ang="T17">
                <a:pos x="T10" y="T11"/>
              </a:cxn>
            </a:cxnLst>
            <a:rect l="T18" t="T19" r="T20" b="T21"/>
            <a:pathLst>
              <a:path w="5479581" h="1698616">
                <a:moveTo>
                  <a:pt x="5142573" y="981999"/>
                </a:moveTo>
                <a:cubicBezTo>
                  <a:pt x="4684816" y="1127305"/>
                  <a:pt x="3529980" y="1692539"/>
                  <a:pt x="2672926" y="1698550"/>
                </a:cubicBezTo>
                <a:cubicBezTo>
                  <a:pt x="1815872" y="1704561"/>
                  <a:pt x="27753" y="1301157"/>
                  <a:pt x="248" y="1018065"/>
                </a:cubicBezTo>
                <a:cubicBezTo>
                  <a:pt x="-27257" y="734973"/>
                  <a:pt x="2232678" y="25959"/>
                  <a:pt x="2507897" y="0"/>
                </a:cubicBezTo>
                <a:cubicBezTo>
                  <a:pt x="2808654" y="31780"/>
                  <a:pt x="4256931" y="403026"/>
                  <a:pt x="4663326" y="576620"/>
                </a:cubicBezTo>
                <a:cubicBezTo>
                  <a:pt x="5188386" y="754873"/>
                  <a:pt x="4980841" y="624759"/>
                  <a:pt x="5479581" y="882383"/>
                </a:cubicBezTo>
              </a:path>
            </a:pathLst>
          </a:custGeom>
          <a:noFill/>
          <a:ln w="28575" cap="flat" cmpd="sng" algn="ctr">
            <a:solidFill>
              <a:srgbClr val="FF0000"/>
            </a:solidFill>
            <a:prstDash val="dash"/>
            <a:round/>
            <a:headEnd type="none" w="med" len="med"/>
            <a:tailEnd type="stealth" w="lg" len="lg"/>
          </a:ln>
        </p:spPr>
        <p:txBody>
          <a:bodyPr/>
          <a:lstStyle/>
          <a:p>
            <a:endParaRPr lang="en-US" altLang="zh-CN" dirty="0">
              <a:solidFill>
                <a:srgbClr val="C00000"/>
              </a:solidFill>
              <a:latin typeface="+mn-lt"/>
            </a:endParaRPr>
          </a:p>
        </p:txBody>
      </p:sp>
    </p:spTree>
    <p:extLst>
      <p:ext uri="{BB962C8B-B14F-4D97-AF65-F5344CB8AC3E}">
        <p14:creationId xmlns:p14="http://schemas.microsoft.com/office/powerpoint/2010/main" val="160301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par>
                                <p:cTn id="18" presetID="22" presetClass="entr" presetSubtype="8"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right)">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right)">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right)">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wipe(left)">
                                      <p:cBhvr>
                                        <p:cTn id="5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t>Solution 1: Filter Routes</a:t>
            </a:r>
            <a:endParaRPr lang="zh-CN" altLang="en-US" dirty="0"/>
          </a:p>
        </p:txBody>
      </p:sp>
      <p:grpSp>
        <p:nvGrpSpPr>
          <p:cNvPr id="4" name="组合 3"/>
          <p:cNvGrpSpPr/>
          <p:nvPr/>
        </p:nvGrpSpPr>
        <p:grpSpPr>
          <a:xfrm>
            <a:off x="1595501" y="1326000"/>
            <a:ext cx="8834759" cy="4804195"/>
            <a:chOff x="1595501" y="1326000"/>
            <a:chExt cx="8834759" cy="4804195"/>
          </a:xfrm>
        </p:grpSpPr>
        <p:cxnSp>
          <p:nvCxnSpPr>
            <p:cNvPr id="34" name="直接连接符 33"/>
            <p:cNvCxnSpPr/>
            <p:nvPr/>
          </p:nvCxnSpPr>
          <p:spPr bwMode="auto">
            <a:xfrm>
              <a:off x="2202102" y="5370551"/>
              <a:ext cx="1088878" cy="629275"/>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5" name="直接连接符 34"/>
            <p:cNvCxnSpPr/>
            <p:nvPr/>
          </p:nvCxnSpPr>
          <p:spPr bwMode="auto">
            <a:xfrm>
              <a:off x="5279324" y="5339418"/>
              <a:ext cx="1236765" cy="290656"/>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7" name="直接连接符 36"/>
            <p:cNvCxnSpPr/>
            <p:nvPr/>
          </p:nvCxnSpPr>
          <p:spPr bwMode="auto">
            <a:xfrm flipV="1">
              <a:off x="5307803" y="1448780"/>
              <a:ext cx="928741" cy="813576"/>
            </a:xfrm>
            <a:prstGeom prst="line">
              <a:avLst/>
            </a:prstGeom>
            <a:solidFill>
              <a:schemeClr val="accent1"/>
            </a:solidFill>
            <a:ln w="28575" cap="flat" cmpd="sng" algn="ctr">
              <a:solidFill>
                <a:srgbClr val="C00000"/>
              </a:solidFill>
              <a:prstDash val="sysDot"/>
              <a:round/>
              <a:headEnd type="none" w="med" len="med"/>
              <a:tailEnd type="none" w="med" len="med"/>
            </a:ln>
            <a:effectLst/>
          </p:spPr>
        </p:cxnSp>
        <p:sp>
          <p:nvSpPr>
            <p:cNvPr id="38" name="Line 12"/>
            <p:cNvSpPr>
              <a:spLocks noChangeShapeType="1"/>
            </p:cNvSpPr>
            <p:nvPr/>
          </p:nvSpPr>
          <p:spPr bwMode="auto">
            <a:xfrm flipV="1">
              <a:off x="2528168" y="4047138"/>
              <a:ext cx="0" cy="1295400"/>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39" name="Line 8"/>
            <p:cNvSpPr>
              <a:spLocks noChangeShapeType="1"/>
            </p:cNvSpPr>
            <p:nvPr/>
          </p:nvSpPr>
          <p:spPr bwMode="auto">
            <a:xfrm flipV="1">
              <a:off x="2810284" y="5320086"/>
              <a:ext cx="689694" cy="0"/>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0" name="Line 4"/>
            <p:cNvSpPr>
              <a:spLocks noChangeShapeType="1"/>
            </p:cNvSpPr>
            <p:nvPr/>
          </p:nvSpPr>
          <p:spPr bwMode="auto">
            <a:xfrm flipV="1">
              <a:off x="2874218" y="2489627"/>
              <a:ext cx="2108200" cy="1124124"/>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1" name="Line 5"/>
            <p:cNvSpPr>
              <a:spLocks noChangeShapeType="1"/>
            </p:cNvSpPr>
            <p:nvPr/>
          </p:nvSpPr>
          <p:spPr bwMode="auto">
            <a:xfrm>
              <a:off x="5441754" y="2393768"/>
              <a:ext cx="2306090" cy="1219984"/>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2" name="Line 6"/>
            <p:cNvSpPr>
              <a:spLocks noChangeShapeType="1"/>
            </p:cNvSpPr>
            <p:nvPr/>
          </p:nvSpPr>
          <p:spPr bwMode="auto">
            <a:xfrm flipV="1">
              <a:off x="5504943" y="3903972"/>
              <a:ext cx="2212067" cy="1355050"/>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3" name="Line 7"/>
            <p:cNvSpPr>
              <a:spLocks noChangeShapeType="1"/>
            </p:cNvSpPr>
            <p:nvPr/>
          </p:nvSpPr>
          <p:spPr bwMode="auto">
            <a:xfrm>
              <a:off x="2672185" y="3829776"/>
              <a:ext cx="2363775" cy="1387046"/>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4" name="Text Box 9"/>
            <p:cNvSpPr txBox="1">
              <a:spLocks noChangeArrowheads="1"/>
            </p:cNvSpPr>
            <p:nvPr/>
          </p:nvSpPr>
          <p:spPr bwMode="auto">
            <a:xfrm>
              <a:off x="2927648" y="4905165"/>
              <a:ext cx="1481138" cy="303213"/>
            </a:xfrm>
            <a:prstGeom prst="rect">
              <a:avLst/>
            </a:prstGeom>
            <a:noFill/>
            <a:ln w="9525" algn="ctr">
              <a:noFill/>
              <a:miter lim="800000"/>
              <a:headEnd/>
              <a:tailEnd/>
            </a:ln>
          </p:spPr>
          <p:txBody>
            <a:bodyPr wrap="none" lIns="78355" tIns="39177" rIns="78355" bIns="39177" anchor="ctr"/>
            <a:lstStyle/>
            <a:p>
              <a:pPr algn="ctr" defTabSz="784225" eaLnBrk="0" fontAlgn="base" hangingPunct="0"/>
              <a:r>
                <a:rPr lang="en-US" altLang="zh-CN" sz="1400" b="1" dirty="0">
                  <a:latin typeface="+mn-ea"/>
                  <a:ea typeface="+mn-ea"/>
                </a:rPr>
                <a:t>Lo0:2.2.2.2/32</a:t>
              </a:r>
            </a:p>
          </p:txBody>
        </p:sp>
        <p:sp>
          <p:nvSpPr>
            <p:cNvPr id="45" name="WordArt 10"/>
            <p:cNvSpPr>
              <a:spLocks noChangeArrowheads="1" noChangeShapeType="1" noTextEdit="1"/>
            </p:cNvSpPr>
            <p:nvPr/>
          </p:nvSpPr>
          <p:spPr bwMode="auto">
            <a:xfrm>
              <a:off x="5702499" y="3861402"/>
              <a:ext cx="534045" cy="284410"/>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ea"/>
                  <a:ea typeface="+mn-ea"/>
                </a:rPr>
                <a:t>ISIS</a:t>
              </a:r>
              <a:endParaRPr lang="zh-CN" altLang="en-US" sz="3600" kern="10" dirty="0">
                <a:ln w="9525">
                  <a:solidFill>
                    <a:srgbClr val="000000"/>
                  </a:solidFill>
                  <a:round/>
                  <a:headEnd/>
                  <a:tailEnd/>
                </a:ln>
                <a:solidFill>
                  <a:srgbClr val="FFFFFF"/>
                </a:solidFill>
                <a:latin typeface="+mn-ea"/>
                <a:ea typeface="+mn-ea"/>
              </a:endParaRPr>
            </a:p>
          </p:txBody>
        </p:sp>
        <p:sp>
          <p:nvSpPr>
            <p:cNvPr id="46" name="WordArt 11"/>
            <p:cNvSpPr>
              <a:spLocks noChangeArrowheads="1" noChangeShapeType="1" noTextEdit="1"/>
            </p:cNvSpPr>
            <p:nvPr/>
          </p:nvSpPr>
          <p:spPr bwMode="auto">
            <a:xfrm>
              <a:off x="4334346" y="3861402"/>
              <a:ext cx="546472" cy="284410"/>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ea"/>
                  <a:ea typeface="+mn-ea"/>
                </a:rPr>
                <a:t>OSPF</a:t>
              </a:r>
              <a:endParaRPr lang="zh-CN" altLang="en-US" sz="3600" kern="10" dirty="0">
                <a:ln w="9525">
                  <a:solidFill>
                    <a:srgbClr val="000000"/>
                  </a:solidFill>
                  <a:round/>
                  <a:headEnd/>
                  <a:tailEnd/>
                </a:ln>
                <a:solidFill>
                  <a:srgbClr val="FFFFFF"/>
                </a:solidFill>
                <a:latin typeface="+mn-ea"/>
                <a:ea typeface="+mn-ea"/>
              </a:endParaRPr>
            </a:p>
          </p:txBody>
        </p:sp>
        <p:sp>
          <p:nvSpPr>
            <p:cNvPr id="47" name="AutoShape 20"/>
            <p:cNvSpPr>
              <a:spLocks noChangeArrowheads="1"/>
            </p:cNvSpPr>
            <p:nvPr/>
          </p:nvSpPr>
          <p:spPr bwMode="auto">
            <a:xfrm rot="10800000" flipH="1">
              <a:off x="5846514" y="3137699"/>
              <a:ext cx="792088" cy="1595437"/>
            </a:xfrm>
            <a:prstGeom prst="curvedLeftArrow">
              <a:avLst>
                <a:gd name="adj1" fmla="val 40281"/>
                <a:gd name="adj2" fmla="val 80561"/>
                <a:gd name="adj3" fmla="val 33333"/>
              </a:avLst>
            </a:prstGeom>
            <a:noFill/>
            <a:ln w="9525">
              <a:solidFill>
                <a:schemeClr val="tx1"/>
              </a:solidFill>
              <a:miter lim="800000"/>
              <a:headEnd/>
              <a:tailEnd/>
            </a:ln>
          </p:spPr>
          <p:txBody>
            <a:bodyPr wrap="none" anchor="ctr"/>
            <a:lstStyle/>
            <a:p>
              <a:endParaRPr lang="zh-CN" altLang="en-US">
                <a:latin typeface="+mn-ea"/>
                <a:ea typeface="+mn-ea"/>
              </a:endParaRPr>
            </a:p>
          </p:txBody>
        </p:sp>
        <p:sp>
          <p:nvSpPr>
            <p:cNvPr id="48" name="Rectangle 22"/>
            <p:cNvSpPr>
              <a:spLocks noChangeArrowheads="1"/>
            </p:cNvSpPr>
            <p:nvPr/>
          </p:nvSpPr>
          <p:spPr bwMode="auto">
            <a:xfrm>
              <a:off x="1595501" y="5121188"/>
              <a:ext cx="680641" cy="339180"/>
            </a:xfrm>
            <a:prstGeom prst="rect">
              <a:avLst/>
            </a:prstGeom>
            <a:noFill/>
            <a:ln w="9525">
              <a:noFill/>
              <a:miter lim="800000"/>
              <a:headEnd/>
              <a:tailEnd/>
            </a:ln>
          </p:spPr>
          <p:txBody>
            <a:bodyPr wrap="square" lIns="92059" tIns="46030" rIns="92059" bIns="46030">
              <a:spAutoFit/>
            </a:bodyPr>
            <a:lstStyle/>
            <a:p>
              <a:pPr eaLnBrk="0" fontAlgn="base" hangingPunct="0"/>
              <a:r>
                <a:rPr lang="en-GB" altLang="zh-CN" sz="1600" b="1" dirty="0">
                  <a:latin typeface="+mn-ea"/>
                  <a:ea typeface="+mn-ea"/>
                </a:rPr>
                <a:t>RTA</a:t>
              </a:r>
            </a:p>
          </p:txBody>
        </p:sp>
        <p:sp>
          <p:nvSpPr>
            <p:cNvPr id="49" name="Rectangle 23"/>
            <p:cNvSpPr>
              <a:spLocks noChangeArrowheads="1"/>
            </p:cNvSpPr>
            <p:nvPr/>
          </p:nvSpPr>
          <p:spPr bwMode="auto">
            <a:xfrm>
              <a:off x="2373115" y="3097036"/>
              <a:ext cx="605903"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RTB</a:t>
              </a:r>
            </a:p>
          </p:txBody>
        </p:sp>
        <p:sp>
          <p:nvSpPr>
            <p:cNvPr id="50" name="Rectangle 24"/>
            <p:cNvSpPr>
              <a:spLocks noChangeArrowheads="1"/>
            </p:cNvSpPr>
            <p:nvPr/>
          </p:nvSpPr>
          <p:spPr bwMode="auto">
            <a:xfrm>
              <a:off x="4766395" y="2633643"/>
              <a:ext cx="582178"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RTC</a:t>
              </a:r>
            </a:p>
          </p:txBody>
        </p:sp>
        <p:sp>
          <p:nvSpPr>
            <p:cNvPr id="51" name="Rectangle 25"/>
            <p:cNvSpPr>
              <a:spLocks noChangeArrowheads="1"/>
            </p:cNvSpPr>
            <p:nvPr/>
          </p:nvSpPr>
          <p:spPr bwMode="auto">
            <a:xfrm>
              <a:off x="8104599" y="3568867"/>
              <a:ext cx="614238"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RTD</a:t>
              </a:r>
            </a:p>
          </p:txBody>
        </p:sp>
        <p:sp>
          <p:nvSpPr>
            <p:cNvPr id="52" name="Rectangle 26"/>
            <p:cNvSpPr>
              <a:spLocks noChangeArrowheads="1"/>
            </p:cNvSpPr>
            <p:nvPr/>
          </p:nvSpPr>
          <p:spPr bwMode="auto">
            <a:xfrm>
              <a:off x="5275584" y="4641607"/>
              <a:ext cx="569354"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RTE</a:t>
              </a:r>
            </a:p>
          </p:txBody>
        </p:sp>
        <p:sp>
          <p:nvSpPr>
            <p:cNvPr id="53" name="Line 7"/>
            <p:cNvSpPr>
              <a:spLocks noChangeShapeType="1"/>
            </p:cNvSpPr>
            <p:nvPr/>
          </p:nvSpPr>
          <p:spPr bwMode="auto">
            <a:xfrm>
              <a:off x="3499978" y="5176070"/>
              <a:ext cx="0" cy="288032"/>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54" name="AutoShape 20"/>
            <p:cNvSpPr>
              <a:spLocks noChangeArrowheads="1"/>
            </p:cNvSpPr>
            <p:nvPr/>
          </p:nvSpPr>
          <p:spPr bwMode="auto">
            <a:xfrm flipH="1">
              <a:off x="4046314" y="3281716"/>
              <a:ext cx="720080" cy="1595437"/>
            </a:xfrm>
            <a:prstGeom prst="curvedLeftArrow">
              <a:avLst>
                <a:gd name="adj1" fmla="val 40281"/>
                <a:gd name="adj2" fmla="val 91371"/>
                <a:gd name="adj3" fmla="val 33333"/>
              </a:avLst>
            </a:prstGeom>
            <a:noFill/>
            <a:ln w="9525">
              <a:solidFill>
                <a:schemeClr val="tx1"/>
              </a:solidFill>
              <a:miter lim="800000"/>
              <a:headEnd/>
              <a:tailEnd/>
            </a:ln>
          </p:spPr>
          <p:txBody>
            <a:bodyPr wrap="none" anchor="ctr"/>
            <a:lstStyle/>
            <a:p>
              <a:endParaRPr lang="zh-CN" altLang="en-US">
                <a:latin typeface="+mn-ea"/>
                <a:ea typeface="+mn-ea"/>
              </a:endParaRPr>
            </a:p>
          </p:txBody>
        </p:sp>
        <p:sp>
          <p:nvSpPr>
            <p:cNvPr id="55" name="AutoShape 17"/>
            <p:cNvSpPr>
              <a:spLocks noChangeArrowheads="1"/>
            </p:cNvSpPr>
            <p:nvPr/>
          </p:nvSpPr>
          <p:spPr bwMode="auto">
            <a:xfrm>
              <a:off x="5915981" y="1326000"/>
              <a:ext cx="4514279" cy="1505536"/>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defTabSz="784225" fontAlgn="base">
                <a:lnSpc>
                  <a:spcPct val="60000"/>
                </a:lnSpc>
                <a:spcBef>
                  <a:spcPct val="20000"/>
                </a:spcBef>
                <a:spcAft>
                  <a:spcPct val="20000"/>
                </a:spcAft>
                <a:buClr>
                  <a:srgbClr val="990000"/>
                </a:buClr>
                <a:buSzPct val="85000"/>
              </a:pPr>
              <a:r>
                <a:rPr lang="en-US" altLang="zh-CN" sz="1400" b="1" dirty="0" err="1">
                  <a:latin typeface="+mn-ea"/>
                  <a:ea typeface="+mn-ea"/>
                </a:rPr>
                <a:t>acl</a:t>
              </a:r>
              <a:r>
                <a:rPr lang="en-US" altLang="zh-CN" sz="1400" b="1" dirty="0">
                  <a:latin typeface="+mn-ea"/>
                  <a:ea typeface="+mn-ea"/>
                </a:rPr>
                <a:t> 2001</a:t>
              </a:r>
            </a:p>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 rule 0 deny source 2.0.0.0 0.255.255.255</a:t>
              </a:r>
            </a:p>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 rule 1 permit</a:t>
              </a:r>
            </a:p>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ospf 1</a:t>
              </a:r>
            </a:p>
            <a:p>
              <a:pPr defTabSz="784225" fontAlgn="base">
                <a:lnSpc>
                  <a:spcPct val="60000"/>
                </a:lnSpc>
                <a:spcBef>
                  <a:spcPct val="20000"/>
                </a:spcBef>
                <a:spcAft>
                  <a:spcPct val="20000"/>
                </a:spcAft>
                <a:buClr>
                  <a:srgbClr val="990000"/>
                </a:buClr>
                <a:buSzPct val="85000"/>
              </a:pPr>
              <a:r>
                <a:rPr lang="en-US" altLang="zh-CN" sz="1400" b="1" dirty="0">
                  <a:solidFill>
                    <a:srgbClr val="990000"/>
                  </a:solidFill>
                  <a:latin typeface="+mn-ea"/>
                  <a:ea typeface="+mn-ea"/>
                </a:rPr>
                <a:t> </a:t>
              </a:r>
              <a:r>
                <a:rPr lang="en-US" altLang="zh-CN" sz="1400" b="1" dirty="0">
                  <a:solidFill>
                    <a:srgbClr val="C00000"/>
                  </a:solidFill>
                  <a:latin typeface="+mn-ea"/>
                  <a:ea typeface="+mn-ea"/>
                </a:rPr>
                <a:t>import-route isis 1 route-policy RP1</a:t>
              </a:r>
            </a:p>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route-policy RP1 permit node 10</a:t>
              </a:r>
            </a:p>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 if-match </a:t>
              </a:r>
              <a:r>
                <a:rPr lang="en-US" altLang="zh-CN" sz="1400" b="1" dirty="0" err="1">
                  <a:latin typeface="+mn-ea"/>
                  <a:ea typeface="+mn-ea"/>
                </a:rPr>
                <a:t>acl</a:t>
              </a:r>
              <a:r>
                <a:rPr lang="en-US" altLang="zh-CN" sz="1400" b="1" dirty="0">
                  <a:latin typeface="+mn-ea"/>
                  <a:ea typeface="+mn-ea"/>
                </a:rPr>
                <a:t> 2001</a:t>
              </a:r>
            </a:p>
          </p:txBody>
        </p:sp>
        <p:sp>
          <p:nvSpPr>
            <p:cNvPr id="56" name="AutoShape 17"/>
            <p:cNvSpPr>
              <a:spLocks noChangeArrowheads="1"/>
            </p:cNvSpPr>
            <p:nvPr/>
          </p:nvSpPr>
          <p:spPr bwMode="auto">
            <a:xfrm>
              <a:off x="6168008" y="5371328"/>
              <a:ext cx="2268000"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defTabSz="784225" fontAlgn="base">
                <a:lnSpc>
                  <a:spcPct val="60000"/>
                </a:lnSpc>
                <a:spcBef>
                  <a:spcPct val="20000"/>
                </a:spcBef>
                <a:spcAft>
                  <a:spcPct val="20000"/>
                </a:spcAft>
                <a:buClr>
                  <a:srgbClr val="990000"/>
                </a:buClr>
                <a:buSzPct val="85000"/>
              </a:pPr>
              <a:r>
                <a:rPr lang="fr-FR" altLang="zh-CN" sz="1400" b="1" dirty="0">
                  <a:latin typeface="+mn-ea"/>
                  <a:ea typeface="+mn-ea"/>
                </a:rPr>
                <a:t>isis 1</a:t>
              </a:r>
            </a:p>
            <a:p>
              <a:pPr defTabSz="784225" fontAlgn="base">
                <a:lnSpc>
                  <a:spcPct val="60000"/>
                </a:lnSpc>
                <a:spcBef>
                  <a:spcPct val="20000"/>
                </a:spcBef>
                <a:spcAft>
                  <a:spcPct val="20000"/>
                </a:spcAft>
                <a:buClr>
                  <a:srgbClr val="990000"/>
                </a:buClr>
                <a:buSzPct val="85000"/>
              </a:pPr>
              <a:r>
                <a:rPr lang="fr-FR" altLang="zh-CN" sz="1400" b="1" dirty="0">
                  <a:latin typeface="+mn-ea"/>
                  <a:ea typeface="+mn-ea"/>
                </a:rPr>
                <a:t> import-route ospf 1</a:t>
              </a:r>
            </a:p>
          </p:txBody>
        </p:sp>
        <p:sp>
          <p:nvSpPr>
            <p:cNvPr id="57" name="AutoShape 17"/>
            <p:cNvSpPr>
              <a:spLocks noChangeArrowheads="1"/>
            </p:cNvSpPr>
            <p:nvPr/>
          </p:nvSpPr>
          <p:spPr bwMode="auto">
            <a:xfrm>
              <a:off x="2958292" y="5690971"/>
              <a:ext cx="2885680"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ospf 1</a:t>
              </a:r>
            </a:p>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 import-route direct cost 2</a:t>
              </a:r>
            </a:p>
          </p:txBody>
        </p:sp>
        <p:pic>
          <p:nvPicPr>
            <p:cNvPr id="5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944493" y="2085427"/>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275510" y="3449676"/>
              <a:ext cx="628652" cy="514351"/>
            </a:xfrm>
            <a:prstGeom prst="rect">
              <a:avLst/>
            </a:prstGeom>
            <a:noFill/>
          </p:spPr>
        </p:pic>
        <p:pic>
          <p:nvPicPr>
            <p:cNvPr id="6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445113" y="3516138"/>
              <a:ext cx="628652" cy="514351"/>
            </a:xfrm>
            <a:prstGeom prst="rect">
              <a:avLst/>
            </a:prstGeom>
            <a:noFill/>
          </p:spPr>
        </p:pic>
        <p:pic>
          <p:nvPicPr>
            <p:cNvPr id="6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951737" y="5011279"/>
              <a:ext cx="628652" cy="514351"/>
            </a:xfrm>
            <a:prstGeom prst="rect">
              <a:avLst/>
            </a:prstGeom>
            <a:noFill/>
          </p:spPr>
        </p:pic>
        <p:pic>
          <p:nvPicPr>
            <p:cNvPr id="6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253876" y="5044031"/>
              <a:ext cx="628652" cy="514351"/>
            </a:xfrm>
            <a:prstGeom prst="rect">
              <a:avLst/>
            </a:prstGeom>
            <a:noFill/>
          </p:spPr>
        </p:pic>
        <p:sp>
          <p:nvSpPr>
            <p:cNvPr id="63" name="Line 31"/>
            <p:cNvSpPr>
              <a:spLocks noChangeShapeType="1"/>
            </p:cNvSpPr>
            <p:nvPr/>
          </p:nvSpPr>
          <p:spPr bwMode="auto">
            <a:xfrm flipH="1">
              <a:off x="5270450" y="2091339"/>
              <a:ext cx="0" cy="3566641"/>
            </a:xfrm>
            <a:prstGeom prst="line">
              <a:avLst/>
            </a:prstGeom>
            <a:noFill/>
            <a:ln w="28575">
              <a:solidFill>
                <a:schemeClr val="tx1"/>
              </a:solidFill>
              <a:prstDash val="dash"/>
              <a:round/>
              <a:headEnd/>
              <a:tailEnd/>
            </a:ln>
          </p:spPr>
          <p:txBody>
            <a:bodyPr/>
            <a:lstStyle/>
            <a:p>
              <a:endParaRPr lang="zh-CN" altLang="en-US" sz="1400">
                <a:latin typeface="+mn-ea"/>
                <a:ea typeface="+mn-ea"/>
              </a:endParaRPr>
            </a:p>
          </p:txBody>
        </p:sp>
      </p:grpSp>
    </p:spTree>
    <p:extLst>
      <p:ext uri="{BB962C8B-B14F-4D97-AF65-F5344CB8AC3E}">
        <p14:creationId xmlns:p14="http://schemas.microsoft.com/office/powerpoint/2010/main" val="183143821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a:t>Solution 2: Adjust Protocol Priorities</a:t>
            </a:r>
            <a:endParaRPr lang="zh-CN" altLang="en-US" dirty="0"/>
          </a:p>
        </p:txBody>
      </p:sp>
      <p:cxnSp>
        <p:nvCxnSpPr>
          <p:cNvPr id="37" name="直接连接符 36"/>
          <p:cNvCxnSpPr/>
          <p:nvPr/>
        </p:nvCxnSpPr>
        <p:spPr bwMode="auto">
          <a:xfrm>
            <a:off x="3158681" y="5079226"/>
            <a:ext cx="681964" cy="844106"/>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8" name="直接连接符 37"/>
          <p:cNvCxnSpPr/>
          <p:nvPr/>
        </p:nvCxnSpPr>
        <p:spPr bwMode="auto">
          <a:xfrm>
            <a:off x="5919835" y="4890739"/>
            <a:ext cx="1431341" cy="220593"/>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9" name="直接连接符 38"/>
          <p:cNvCxnSpPr/>
          <p:nvPr/>
        </p:nvCxnSpPr>
        <p:spPr bwMode="auto">
          <a:xfrm flipV="1">
            <a:off x="3297663" y="2664005"/>
            <a:ext cx="1765322" cy="636277"/>
          </a:xfrm>
          <a:prstGeom prst="line">
            <a:avLst/>
          </a:prstGeom>
          <a:solidFill>
            <a:schemeClr val="accent1"/>
          </a:solidFill>
          <a:ln w="28575" cap="flat" cmpd="sng" algn="ctr">
            <a:solidFill>
              <a:srgbClr val="C00000"/>
            </a:solidFill>
            <a:prstDash val="sysDot"/>
            <a:round/>
            <a:headEnd type="none" w="med" len="med"/>
            <a:tailEnd type="none" w="med" len="med"/>
          </a:ln>
          <a:effectLst/>
        </p:spPr>
      </p:cxnSp>
      <p:sp>
        <p:nvSpPr>
          <p:cNvPr id="40" name="Line 5"/>
          <p:cNvSpPr>
            <a:spLocks noChangeShapeType="1"/>
          </p:cNvSpPr>
          <p:nvPr/>
        </p:nvSpPr>
        <p:spPr bwMode="auto">
          <a:xfrm>
            <a:off x="6149890" y="1904761"/>
            <a:ext cx="2326593" cy="1235297"/>
          </a:xfrm>
          <a:prstGeom prst="line">
            <a:avLst/>
          </a:prstGeom>
          <a:noFill/>
          <a:ln w="28575">
            <a:solidFill>
              <a:schemeClr val="tx1"/>
            </a:solidFill>
            <a:round/>
            <a:headEnd/>
            <a:tailEnd/>
          </a:ln>
        </p:spPr>
        <p:txBody>
          <a:bodyPr/>
          <a:lstStyle/>
          <a:p>
            <a:endParaRPr lang="zh-CN" altLang="en-US">
              <a:latin typeface="+mn-ea"/>
              <a:ea typeface="+mn-ea"/>
            </a:endParaRPr>
          </a:p>
        </p:txBody>
      </p:sp>
      <p:cxnSp>
        <p:nvCxnSpPr>
          <p:cNvPr id="41" name="直接连接符 40"/>
          <p:cNvCxnSpPr/>
          <p:nvPr/>
        </p:nvCxnSpPr>
        <p:spPr bwMode="auto">
          <a:xfrm flipV="1">
            <a:off x="6142889" y="1657110"/>
            <a:ext cx="1208286" cy="201023"/>
          </a:xfrm>
          <a:prstGeom prst="line">
            <a:avLst/>
          </a:prstGeom>
          <a:solidFill>
            <a:schemeClr val="accent1"/>
          </a:solidFill>
          <a:ln w="28575" cap="flat" cmpd="sng" algn="ctr">
            <a:solidFill>
              <a:srgbClr val="C00000"/>
            </a:solidFill>
            <a:prstDash val="sysDot"/>
            <a:round/>
            <a:headEnd type="none" w="med" len="med"/>
            <a:tailEnd type="none" w="med" len="med"/>
          </a:ln>
          <a:effectLst/>
        </p:spPr>
      </p:cxnSp>
      <p:sp>
        <p:nvSpPr>
          <p:cNvPr id="42" name="Line 6"/>
          <p:cNvSpPr>
            <a:spLocks noChangeShapeType="1"/>
          </p:cNvSpPr>
          <p:nvPr/>
        </p:nvSpPr>
        <p:spPr bwMode="auto">
          <a:xfrm flipV="1">
            <a:off x="6245140" y="3608209"/>
            <a:ext cx="2087563" cy="1152525"/>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3" name="Line 12"/>
          <p:cNvSpPr>
            <a:spLocks noChangeShapeType="1"/>
          </p:cNvSpPr>
          <p:nvPr/>
        </p:nvSpPr>
        <p:spPr bwMode="auto">
          <a:xfrm flipV="1">
            <a:off x="3256807" y="3573444"/>
            <a:ext cx="0" cy="1295400"/>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4" name="Line 8"/>
          <p:cNvSpPr>
            <a:spLocks noChangeShapeType="1"/>
          </p:cNvSpPr>
          <p:nvPr/>
        </p:nvSpPr>
        <p:spPr bwMode="auto">
          <a:xfrm flipV="1">
            <a:off x="3538923" y="5084372"/>
            <a:ext cx="689694" cy="0"/>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7" name="Line 4"/>
          <p:cNvSpPr>
            <a:spLocks noChangeShapeType="1"/>
          </p:cNvSpPr>
          <p:nvPr/>
        </p:nvSpPr>
        <p:spPr bwMode="auto">
          <a:xfrm flipV="1">
            <a:off x="3100599" y="2015933"/>
            <a:ext cx="2610459" cy="1371775"/>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49" name="Line 7"/>
          <p:cNvSpPr>
            <a:spLocks noChangeShapeType="1"/>
          </p:cNvSpPr>
          <p:nvPr/>
        </p:nvSpPr>
        <p:spPr bwMode="auto">
          <a:xfrm>
            <a:off x="3433934" y="3500097"/>
            <a:ext cx="2271146" cy="1240445"/>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50" name="Text Box 9"/>
          <p:cNvSpPr txBox="1">
            <a:spLocks noChangeArrowheads="1"/>
          </p:cNvSpPr>
          <p:nvPr/>
        </p:nvSpPr>
        <p:spPr bwMode="auto">
          <a:xfrm>
            <a:off x="3647728" y="5156381"/>
            <a:ext cx="1481138" cy="303213"/>
          </a:xfrm>
          <a:prstGeom prst="rect">
            <a:avLst/>
          </a:prstGeom>
          <a:noFill/>
          <a:ln w="9525" algn="ctr">
            <a:noFill/>
            <a:miter lim="800000"/>
            <a:headEnd/>
            <a:tailEnd/>
          </a:ln>
        </p:spPr>
        <p:txBody>
          <a:bodyPr wrap="none" lIns="78355" tIns="39177" rIns="78355" bIns="39177" anchor="ctr"/>
          <a:lstStyle/>
          <a:p>
            <a:pPr algn="ctr" defTabSz="784225" eaLnBrk="0" fontAlgn="base" hangingPunct="0"/>
            <a:r>
              <a:rPr lang="en-US" altLang="zh-CN" sz="1400" b="1" dirty="0">
                <a:latin typeface="+mn-ea"/>
                <a:ea typeface="+mn-ea"/>
              </a:rPr>
              <a:t>Lo0:2.2.2.2/32</a:t>
            </a:r>
          </a:p>
        </p:txBody>
      </p:sp>
      <p:sp>
        <p:nvSpPr>
          <p:cNvPr id="51" name="WordArt 10"/>
          <p:cNvSpPr>
            <a:spLocks noChangeArrowheads="1" noChangeShapeType="1" noTextEdit="1"/>
          </p:cNvSpPr>
          <p:nvPr/>
        </p:nvSpPr>
        <p:spPr bwMode="auto">
          <a:xfrm>
            <a:off x="6431138" y="3387708"/>
            <a:ext cx="534045" cy="284410"/>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ea"/>
                <a:ea typeface="+mn-ea"/>
              </a:rPr>
              <a:t>ISIS</a:t>
            </a:r>
            <a:endParaRPr lang="zh-CN" altLang="en-US" sz="3600" kern="10" dirty="0">
              <a:ln w="9525">
                <a:solidFill>
                  <a:srgbClr val="000000"/>
                </a:solidFill>
                <a:round/>
                <a:headEnd/>
                <a:tailEnd/>
              </a:ln>
              <a:solidFill>
                <a:srgbClr val="FFFFFF"/>
              </a:solidFill>
              <a:latin typeface="+mn-ea"/>
              <a:ea typeface="+mn-ea"/>
            </a:endParaRPr>
          </a:p>
        </p:txBody>
      </p:sp>
      <p:sp>
        <p:nvSpPr>
          <p:cNvPr id="52" name="WordArt 11"/>
          <p:cNvSpPr>
            <a:spLocks noChangeArrowheads="1" noChangeShapeType="1" noTextEdit="1"/>
          </p:cNvSpPr>
          <p:nvPr/>
        </p:nvSpPr>
        <p:spPr bwMode="auto">
          <a:xfrm>
            <a:off x="5062985" y="3387708"/>
            <a:ext cx="546472" cy="284410"/>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000000"/>
                  </a:solidFill>
                  <a:round/>
                  <a:headEnd/>
                  <a:tailEnd/>
                </a:ln>
                <a:solidFill>
                  <a:srgbClr val="FFFFFF"/>
                </a:solidFill>
                <a:latin typeface="+mn-ea"/>
                <a:ea typeface="+mn-ea"/>
              </a:rPr>
              <a:t>OSPF</a:t>
            </a:r>
            <a:endParaRPr lang="zh-CN" altLang="en-US" sz="3600" kern="10" dirty="0">
              <a:ln w="9525">
                <a:solidFill>
                  <a:srgbClr val="000000"/>
                </a:solidFill>
                <a:round/>
                <a:headEnd/>
                <a:tailEnd/>
              </a:ln>
              <a:solidFill>
                <a:srgbClr val="FFFFFF"/>
              </a:solidFill>
              <a:latin typeface="+mn-ea"/>
              <a:ea typeface="+mn-ea"/>
            </a:endParaRPr>
          </a:p>
        </p:txBody>
      </p:sp>
      <p:sp>
        <p:nvSpPr>
          <p:cNvPr id="53" name="AutoShape 20"/>
          <p:cNvSpPr>
            <a:spLocks noChangeArrowheads="1"/>
          </p:cNvSpPr>
          <p:nvPr/>
        </p:nvSpPr>
        <p:spPr bwMode="auto">
          <a:xfrm rot="10800000" flipH="1">
            <a:off x="6575153" y="2664005"/>
            <a:ext cx="792088" cy="1595437"/>
          </a:xfrm>
          <a:prstGeom prst="curvedLeftArrow">
            <a:avLst>
              <a:gd name="adj1" fmla="val 40281"/>
              <a:gd name="adj2" fmla="val 80561"/>
              <a:gd name="adj3" fmla="val 33333"/>
            </a:avLst>
          </a:prstGeom>
          <a:noFill/>
          <a:ln w="9525">
            <a:solidFill>
              <a:schemeClr val="tx1"/>
            </a:solidFill>
            <a:miter lim="800000"/>
            <a:headEnd/>
            <a:tailEnd/>
          </a:ln>
        </p:spPr>
        <p:txBody>
          <a:bodyPr wrap="none" anchor="ctr"/>
          <a:lstStyle/>
          <a:p>
            <a:endParaRPr lang="zh-CN" altLang="en-US">
              <a:latin typeface="+mn-ea"/>
              <a:ea typeface="+mn-ea"/>
            </a:endParaRPr>
          </a:p>
        </p:txBody>
      </p:sp>
      <p:sp>
        <p:nvSpPr>
          <p:cNvPr id="54" name="Rectangle 22"/>
          <p:cNvSpPr>
            <a:spLocks noChangeArrowheads="1"/>
          </p:cNvSpPr>
          <p:nvPr/>
        </p:nvSpPr>
        <p:spPr bwMode="auto">
          <a:xfrm>
            <a:off x="2351584" y="5106533"/>
            <a:ext cx="590642"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RTA</a:t>
            </a:r>
          </a:p>
        </p:txBody>
      </p:sp>
      <p:sp>
        <p:nvSpPr>
          <p:cNvPr id="55" name="Rectangle 23"/>
          <p:cNvSpPr>
            <a:spLocks noChangeArrowheads="1"/>
          </p:cNvSpPr>
          <p:nvPr/>
        </p:nvSpPr>
        <p:spPr bwMode="auto">
          <a:xfrm>
            <a:off x="2387589" y="3197832"/>
            <a:ext cx="605903"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RTB</a:t>
            </a:r>
          </a:p>
        </p:txBody>
      </p:sp>
      <p:sp>
        <p:nvSpPr>
          <p:cNvPr id="56" name="Rectangle 24"/>
          <p:cNvSpPr>
            <a:spLocks noChangeArrowheads="1"/>
          </p:cNvSpPr>
          <p:nvPr/>
        </p:nvSpPr>
        <p:spPr bwMode="auto">
          <a:xfrm>
            <a:off x="5096529" y="1749341"/>
            <a:ext cx="582178"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RTC</a:t>
            </a:r>
          </a:p>
        </p:txBody>
      </p:sp>
      <p:sp>
        <p:nvSpPr>
          <p:cNvPr id="57" name="Rectangle 25"/>
          <p:cNvSpPr>
            <a:spLocks noChangeArrowheads="1"/>
          </p:cNvSpPr>
          <p:nvPr/>
        </p:nvSpPr>
        <p:spPr bwMode="auto">
          <a:xfrm>
            <a:off x="8720102" y="3201969"/>
            <a:ext cx="614238"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RTD</a:t>
            </a:r>
          </a:p>
        </p:txBody>
      </p:sp>
      <p:sp>
        <p:nvSpPr>
          <p:cNvPr id="58" name="Rectangle 26"/>
          <p:cNvSpPr>
            <a:spLocks noChangeArrowheads="1"/>
          </p:cNvSpPr>
          <p:nvPr/>
        </p:nvSpPr>
        <p:spPr bwMode="auto">
          <a:xfrm>
            <a:off x="5965273" y="4167913"/>
            <a:ext cx="569354" cy="339180"/>
          </a:xfrm>
          <a:prstGeom prst="rect">
            <a:avLst/>
          </a:prstGeom>
          <a:noFill/>
          <a:ln w="9525">
            <a:noFill/>
            <a:miter lim="800000"/>
            <a:headEnd/>
            <a:tailEnd/>
          </a:ln>
        </p:spPr>
        <p:txBody>
          <a:bodyPr wrap="none" lIns="92059" tIns="46030" rIns="92059" bIns="46030">
            <a:spAutoFit/>
          </a:bodyPr>
          <a:lstStyle/>
          <a:p>
            <a:pPr eaLnBrk="0" fontAlgn="base" hangingPunct="0"/>
            <a:r>
              <a:rPr lang="en-GB" altLang="zh-CN" sz="1600" b="1" dirty="0">
                <a:latin typeface="+mn-ea"/>
                <a:ea typeface="+mn-ea"/>
              </a:rPr>
              <a:t>RTE</a:t>
            </a:r>
          </a:p>
        </p:txBody>
      </p:sp>
      <p:sp>
        <p:nvSpPr>
          <p:cNvPr id="59" name="Line 7"/>
          <p:cNvSpPr>
            <a:spLocks noChangeShapeType="1"/>
          </p:cNvSpPr>
          <p:nvPr/>
        </p:nvSpPr>
        <p:spPr bwMode="auto">
          <a:xfrm>
            <a:off x="4228617" y="4940356"/>
            <a:ext cx="0" cy="288032"/>
          </a:xfrm>
          <a:prstGeom prst="line">
            <a:avLst/>
          </a:prstGeom>
          <a:noFill/>
          <a:ln w="28575">
            <a:solidFill>
              <a:schemeClr val="tx1"/>
            </a:solidFill>
            <a:round/>
            <a:headEnd/>
            <a:tailEnd/>
          </a:ln>
        </p:spPr>
        <p:txBody>
          <a:bodyPr/>
          <a:lstStyle/>
          <a:p>
            <a:endParaRPr lang="zh-CN" altLang="en-US">
              <a:latin typeface="+mn-ea"/>
              <a:ea typeface="+mn-ea"/>
            </a:endParaRPr>
          </a:p>
        </p:txBody>
      </p:sp>
      <p:sp>
        <p:nvSpPr>
          <p:cNvPr id="60" name="AutoShape 20"/>
          <p:cNvSpPr>
            <a:spLocks noChangeArrowheads="1"/>
          </p:cNvSpPr>
          <p:nvPr/>
        </p:nvSpPr>
        <p:spPr bwMode="auto">
          <a:xfrm flipH="1">
            <a:off x="4774953" y="2808022"/>
            <a:ext cx="720080" cy="1595437"/>
          </a:xfrm>
          <a:prstGeom prst="curvedLeftArrow">
            <a:avLst>
              <a:gd name="adj1" fmla="val 40281"/>
              <a:gd name="adj2" fmla="val 91371"/>
              <a:gd name="adj3" fmla="val 33333"/>
            </a:avLst>
          </a:prstGeom>
          <a:noFill/>
          <a:ln w="9525">
            <a:solidFill>
              <a:schemeClr val="tx1"/>
            </a:solidFill>
            <a:miter lim="800000"/>
            <a:headEnd/>
            <a:tailEnd/>
          </a:ln>
        </p:spPr>
        <p:txBody>
          <a:bodyPr wrap="none" anchor="ctr"/>
          <a:lstStyle/>
          <a:p>
            <a:endParaRPr lang="zh-CN" altLang="en-US">
              <a:latin typeface="+mn-ea"/>
              <a:ea typeface="+mn-ea"/>
            </a:endParaRPr>
          </a:p>
        </p:txBody>
      </p:sp>
      <p:sp>
        <p:nvSpPr>
          <p:cNvPr id="61" name="Rectangle 9"/>
          <p:cNvSpPr>
            <a:spLocks noChangeArrowheads="1"/>
          </p:cNvSpPr>
          <p:nvPr/>
        </p:nvSpPr>
        <p:spPr bwMode="auto">
          <a:xfrm>
            <a:off x="3184800" y="4554584"/>
            <a:ext cx="870989" cy="277760"/>
          </a:xfrm>
          <a:prstGeom prst="rect">
            <a:avLst/>
          </a:prstGeom>
          <a:noFill/>
          <a:ln w="9525">
            <a:noFill/>
            <a:miter lim="800000"/>
            <a:headEnd/>
            <a:tailEnd/>
          </a:ln>
        </p:spPr>
        <p:txBody>
          <a:bodyPr wrap="none" lIns="107433" tIns="53717" rIns="107433" bIns="53717">
            <a:spAutoFit/>
          </a:bodyPr>
          <a:lstStyle/>
          <a:p>
            <a:pPr defTabSz="1066800" eaLnBrk="0" fontAlgn="base" hangingPunct="0"/>
            <a:r>
              <a:rPr lang="en-GB" altLang="zh-CN" sz="1050" dirty="0">
                <a:latin typeface="+mn-ea"/>
                <a:ea typeface="+mn-ea"/>
              </a:rPr>
              <a:t>12.12.12.1</a:t>
            </a:r>
            <a:endParaRPr lang="zh-CN" altLang="en-GB" sz="1050" dirty="0">
              <a:latin typeface="+mn-ea"/>
              <a:ea typeface="+mn-ea"/>
            </a:endParaRPr>
          </a:p>
        </p:txBody>
      </p:sp>
      <p:sp>
        <p:nvSpPr>
          <p:cNvPr id="62" name="AutoShape 17"/>
          <p:cNvSpPr>
            <a:spLocks noChangeArrowheads="1"/>
          </p:cNvSpPr>
          <p:nvPr/>
        </p:nvSpPr>
        <p:spPr bwMode="auto">
          <a:xfrm>
            <a:off x="7170152" y="1319803"/>
            <a:ext cx="2304000" cy="870111"/>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fontAlgn="base">
              <a:lnSpc>
                <a:spcPct val="60000"/>
              </a:lnSpc>
              <a:spcBef>
                <a:spcPct val="20000"/>
              </a:spcBef>
              <a:spcAft>
                <a:spcPct val="20000"/>
              </a:spcAft>
            </a:pPr>
            <a:r>
              <a:rPr kumimoji="1" lang="en-US" altLang="zh-CN" sz="1400" b="1" dirty="0">
                <a:latin typeface="+mn-ea"/>
                <a:ea typeface="+mn-ea"/>
              </a:rPr>
              <a:t>isis 1</a:t>
            </a:r>
          </a:p>
          <a:p>
            <a:pPr fontAlgn="base">
              <a:lnSpc>
                <a:spcPct val="60000"/>
              </a:lnSpc>
              <a:spcBef>
                <a:spcPct val="20000"/>
              </a:spcBef>
              <a:spcAft>
                <a:spcPct val="20000"/>
              </a:spcAft>
            </a:pPr>
            <a:r>
              <a:rPr kumimoji="1" lang="en-US" altLang="zh-CN" sz="1400" b="1" dirty="0">
                <a:latin typeface="+mn-ea"/>
                <a:ea typeface="+mn-ea"/>
              </a:rPr>
              <a:t> </a:t>
            </a:r>
            <a:r>
              <a:rPr kumimoji="1" lang="en-US" altLang="zh-CN" sz="1400" b="1" dirty="0">
                <a:solidFill>
                  <a:srgbClr val="C00000"/>
                </a:solidFill>
                <a:latin typeface="+mn-ea"/>
                <a:ea typeface="+mn-ea"/>
              </a:rPr>
              <a:t>preference 160</a:t>
            </a:r>
          </a:p>
          <a:p>
            <a:pPr fontAlgn="base">
              <a:lnSpc>
                <a:spcPct val="60000"/>
              </a:lnSpc>
              <a:spcBef>
                <a:spcPct val="20000"/>
              </a:spcBef>
              <a:spcAft>
                <a:spcPct val="20000"/>
              </a:spcAft>
            </a:pPr>
            <a:r>
              <a:rPr kumimoji="1" lang="en-US" altLang="zh-CN" sz="1400" b="1" dirty="0">
                <a:latin typeface="+mn-ea"/>
                <a:ea typeface="+mn-ea"/>
              </a:rPr>
              <a:t>ospf 1</a:t>
            </a:r>
          </a:p>
          <a:p>
            <a:pPr fontAlgn="base">
              <a:lnSpc>
                <a:spcPct val="60000"/>
              </a:lnSpc>
              <a:spcBef>
                <a:spcPct val="20000"/>
              </a:spcBef>
              <a:spcAft>
                <a:spcPct val="20000"/>
              </a:spcAft>
            </a:pPr>
            <a:r>
              <a:rPr kumimoji="1" lang="en-US" altLang="zh-CN" sz="1400" b="1" dirty="0">
                <a:latin typeface="+mn-ea"/>
                <a:ea typeface="+mn-ea"/>
              </a:rPr>
              <a:t> import-route isis 1</a:t>
            </a:r>
          </a:p>
        </p:txBody>
      </p:sp>
      <p:sp>
        <p:nvSpPr>
          <p:cNvPr id="64" name="AutoShape 17"/>
          <p:cNvSpPr>
            <a:spLocks noChangeArrowheads="1"/>
          </p:cNvSpPr>
          <p:nvPr/>
        </p:nvSpPr>
        <p:spPr bwMode="auto">
          <a:xfrm>
            <a:off x="7080176" y="4916162"/>
            <a:ext cx="2268000"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defTabSz="784225" fontAlgn="base">
              <a:lnSpc>
                <a:spcPct val="60000"/>
              </a:lnSpc>
              <a:spcBef>
                <a:spcPct val="20000"/>
              </a:spcBef>
              <a:spcAft>
                <a:spcPct val="20000"/>
              </a:spcAft>
              <a:buClr>
                <a:srgbClr val="990000"/>
              </a:buClr>
              <a:buSzPct val="85000"/>
            </a:pPr>
            <a:r>
              <a:rPr lang="fr-FR" altLang="zh-CN" sz="1400" b="1" dirty="0">
                <a:latin typeface="+mn-ea"/>
                <a:ea typeface="+mn-ea"/>
              </a:rPr>
              <a:t>isis 1</a:t>
            </a:r>
          </a:p>
          <a:p>
            <a:pPr defTabSz="784225" fontAlgn="base">
              <a:lnSpc>
                <a:spcPct val="60000"/>
              </a:lnSpc>
              <a:spcBef>
                <a:spcPct val="20000"/>
              </a:spcBef>
              <a:spcAft>
                <a:spcPct val="20000"/>
              </a:spcAft>
              <a:buClr>
                <a:srgbClr val="990000"/>
              </a:buClr>
              <a:buSzPct val="85000"/>
            </a:pPr>
            <a:r>
              <a:rPr lang="fr-FR" altLang="zh-CN" sz="1400" b="1" dirty="0">
                <a:latin typeface="+mn-ea"/>
                <a:ea typeface="+mn-ea"/>
              </a:rPr>
              <a:t> import-route ospf 1</a:t>
            </a:r>
          </a:p>
        </p:txBody>
      </p:sp>
      <p:sp>
        <p:nvSpPr>
          <p:cNvPr id="65" name="AutoShape 17"/>
          <p:cNvSpPr>
            <a:spLocks noChangeArrowheads="1"/>
          </p:cNvSpPr>
          <p:nvPr/>
        </p:nvSpPr>
        <p:spPr bwMode="auto">
          <a:xfrm>
            <a:off x="2919199" y="5729645"/>
            <a:ext cx="3046074"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ospf 1</a:t>
            </a:r>
          </a:p>
          <a:p>
            <a:pPr defTabSz="784225" fontAlgn="base">
              <a:lnSpc>
                <a:spcPct val="60000"/>
              </a:lnSpc>
              <a:spcBef>
                <a:spcPct val="20000"/>
              </a:spcBef>
              <a:spcAft>
                <a:spcPct val="20000"/>
              </a:spcAft>
              <a:buClr>
                <a:srgbClr val="990000"/>
              </a:buClr>
              <a:buSzPct val="85000"/>
            </a:pPr>
            <a:r>
              <a:rPr lang="en-US" altLang="zh-CN" sz="1400" b="1" dirty="0">
                <a:latin typeface="+mn-ea"/>
                <a:ea typeface="+mn-ea"/>
              </a:rPr>
              <a:t> import-route direct cost 2</a:t>
            </a:r>
          </a:p>
        </p:txBody>
      </p:sp>
      <p:pic>
        <p:nvPicPr>
          <p:cNvPr id="6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700291" y="1524914"/>
            <a:ext cx="628652" cy="514351"/>
          </a:xfrm>
          <a:prstGeom prst="rect">
            <a:avLst/>
          </a:prstGeom>
          <a:noFill/>
        </p:spPr>
      </p:pic>
      <p:pic>
        <p:nvPicPr>
          <p:cNvPr id="6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088126" y="3100240"/>
            <a:ext cx="628652" cy="514351"/>
          </a:xfrm>
          <a:prstGeom prst="rect">
            <a:avLst/>
          </a:prstGeom>
          <a:noFill/>
        </p:spPr>
      </p:pic>
      <p:pic>
        <p:nvPicPr>
          <p:cNvPr id="6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674329" y="4502028"/>
            <a:ext cx="628652" cy="514351"/>
          </a:xfrm>
          <a:prstGeom prst="rect">
            <a:avLst/>
          </a:prstGeom>
          <a:noFill/>
        </p:spPr>
      </p:pic>
      <p:pic>
        <p:nvPicPr>
          <p:cNvPr id="6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963467" y="3093620"/>
            <a:ext cx="628652" cy="514351"/>
          </a:xfrm>
          <a:prstGeom prst="rect">
            <a:avLst/>
          </a:prstGeom>
          <a:noFill/>
        </p:spPr>
      </p:pic>
      <p:pic>
        <p:nvPicPr>
          <p:cNvPr id="7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942481" y="4822050"/>
            <a:ext cx="628652" cy="514351"/>
          </a:xfrm>
          <a:prstGeom prst="rect">
            <a:avLst/>
          </a:prstGeom>
          <a:noFill/>
        </p:spPr>
      </p:pic>
      <p:sp>
        <p:nvSpPr>
          <p:cNvPr id="71" name="Line 31"/>
          <p:cNvSpPr>
            <a:spLocks noChangeShapeType="1"/>
          </p:cNvSpPr>
          <p:nvPr/>
        </p:nvSpPr>
        <p:spPr bwMode="auto">
          <a:xfrm flipH="1">
            <a:off x="5999089" y="1617645"/>
            <a:ext cx="31056" cy="3566641"/>
          </a:xfrm>
          <a:prstGeom prst="line">
            <a:avLst/>
          </a:prstGeom>
          <a:noFill/>
          <a:ln w="28575">
            <a:solidFill>
              <a:schemeClr val="tx1"/>
            </a:solidFill>
            <a:prstDash val="dash"/>
            <a:round/>
            <a:headEnd/>
            <a:tailEnd/>
          </a:ln>
        </p:spPr>
        <p:txBody>
          <a:bodyPr/>
          <a:lstStyle/>
          <a:p>
            <a:endParaRPr lang="zh-CN" altLang="en-US">
              <a:latin typeface="+mn-ea"/>
              <a:ea typeface="+mn-ea"/>
            </a:endParaRPr>
          </a:p>
        </p:txBody>
      </p:sp>
      <p:sp>
        <p:nvSpPr>
          <p:cNvPr id="72" name="AutoShape 17"/>
          <p:cNvSpPr>
            <a:spLocks noChangeArrowheads="1"/>
          </p:cNvSpPr>
          <p:nvPr/>
        </p:nvSpPr>
        <p:spPr bwMode="auto">
          <a:xfrm>
            <a:off x="3020118" y="2291544"/>
            <a:ext cx="6314409" cy="654667"/>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fontAlgn="base">
              <a:lnSpc>
                <a:spcPct val="60000"/>
              </a:lnSpc>
              <a:spcBef>
                <a:spcPct val="20000"/>
              </a:spcBef>
              <a:spcAft>
                <a:spcPct val="20000"/>
              </a:spcAft>
            </a:pPr>
            <a:r>
              <a:rPr kumimoji="1" lang="en-US" altLang="zh-CN" sz="1400" b="1" dirty="0">
                <a:latin typeface="+mn-ea"/>
                <a:ea typeface="+mn-ea"/>
              </a:rPr>
              <a:t>display </a:t>
            </a:r>
            <a:r>
              <a:rPr kumimoji="1" lang="en-US" altLang="zh-CN" sz="1400" b="1" dirty="0" err="1">
                <a:latin typeface="+mn-ea"/>
                <a:ea typeface="+mn-ea"/>
              </a:rPr>
              <a:t>ip</a:t>
            </a:r>
            <a:r>
              <a:rPr kumimoji="1" lang="en-US" altLang="zh-CN" sz="1400" b="1" dirty="0">
                <a:latin typeface="+mn-ea"/>
                <a:ea typeface="+mn-ea"/>
              </a:rPr>
              <a:t> routing-table</a:t>
            </a:r>
          </a:p>
          <a:p>
            <a:pPr fontAlgn="base">
              <a:lnSpc>
                <a:spcPct val="60000"/>
              </a:lnSpc>
              <a:spcBef>
                <a:spcPct val="20000"/>
              </a:spcBef>
              <a:spcAft>
                <a:spcPct val="20000"/>
              </a:spcAft>
            </a:pPr>
            <a:r>
              <a:rPr kumimoji="1" lang="en-US" altLang="zh-CN" sz="1400" dirty="0" smtClean="0">
                <a:latin typeface="+mn-ea"/>
                <a:ea typeface="+mn-ea"/>
              </a:rPr>
              <a:t>Destination/Mask     Proto     Pre     Cost     </a:t>
            </a:r>
            <a:r>
              <a:rPr kumimoji="1" lang="en-US" altLang="zh-CN" sz="1400" dirty="0" err="1" smtClean="0">
                <a:latin typeface="+mn-ea"/>
                <a:ea typeface="+mn-ea"/>
              </a:rPr>
              <a:t>NextHop</a:t>
            </a:r>
            <a:r>
              <a:rPr kumimoji="1" lang="en-US" altLang="zh-CN" sz="1400" dirty="0" smtClean="0">
                <a:latin typeface="+mn-ea"/>
                <a:ea typeface="+mn-ea"/>
              </a:rPr>
              <a:t>     Interface</a:t>
            </a:r>
            <a:endParaRPr kumimoji="1" lang="en-US" altLang="zh-CN" sz="1400" dirty="0">
              <a:latin typeface="+mn-ea"/>
              <a:ea typeface="+mn-ea"/>
            </a:endParaRPr>
          </a:p>
          <a:p>
            <a:pPr fontAlgn="base">
              <a:lnSpc>
                <a:spcPct val="60000"/>
              </a:lnSpc>
              <a:spcBef>
                <a:spcPct val="20000"/>
              </a:spcBef>
              <a:spcAft>
                <a:spcPct val="20000"/>
              </a:spcAft>
            </a:pPr>
            <a:r>
              <a:rPr kumimoji="1" lang="en-US" altLang="zh-CN" sz="1400" dirty="0" smtClean="0">
                <a:latin typeface="+mn-ea"/>
                <a:ea typeface="+mn-ea"/>
              </a:rPr>
              <a:t>2.2.2.2/32                  O_ASE   </a:t>
            </a:r>
            <a:r>
              <a:rPr kumimoji="1" lang="en-US" altLang="zh-CN" sz="1400" dirty="0">
                <a:latin typeface="+mn-ea"/>
                <a:ea typeface="+mn-ea"/>
              </a:rPr>
              <a:t>150  </a:t>
            </a:r>
            <a:r>
              <a:rPr kumimoji="1" lang="en-US" altLang="zh-CN" sz="1400" dirty="0" smtClean="0">
                <a:latin typeface="+mn-ea"/>
                <a:ea typeface="+mn-ea"/>
              </a:rPr>
              <a:t>   2          12.12.12.1   Serial0</a:t>
            </a:r>
            <a:endParaRPr kumimoji="1" lang="en-US" altLang="zh-CN" sz="1400" dirty="0">
              <a:latin typeface="+mn-ea"/>
              <a:ea typeface="+mn-ea"/>
            </a:endParaRPr>
          </a:p>
        </p:txBody>
      </p:sp>
    </p:spTree>
    <p:extLst>
      <p:ext uri="{BB962C8B-B14F-4D97-AF65-F5344CB8AC3E}">
        <p14:creationId xmlns:p14="http://schemas.microsoft.com/office/powerpoint/2010/main" val="178905894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文本占位符 2"/>
          <p:cNvSpPr>
            <a:spLocks noGrp="1"/>
          </p:cNvSpPr>
          <p:nvPr>
            <p:ph type="body" sz="quarter" idx="10"/>
          </p:nvPr>
        </p:nvSpPr>
        <p:spPr/>
        <p:txBody>
          <a:bodyPr/>
          <a:lstStyle/>
          <a:p>
            <a:r>
              <a:rPr lang="en-US" altLang="zh-CN" smtClean="0">
                <a:sym typeface="FrutigerNext LT Regular" pitchFamily="34" charset="0"/>
              </a:rPr>
              <a:t>Can the IP prefix list be used to filter IP packets?</a:t>
            </a:r>
          </a:p>
          <a:p>
            <a:r>
              <a:rPr lang="en-US" altLang="zh-CN" smtClean="0">
                <a:sym typeface="FrutigerNext LT Regular" pitchFamily="34" charset="0"/>
              </a:rPr>
              <a:t>Which methods can be used to adjust traffic paths?</a:t>
            </a:r>
          </a:p>
          <a:p>
            <a:r>
              <a:rPr lang="en-US" altLang="zh-CN" smtClean="0">
                <a:sym typeface="FrutigerNext LT Regular" pitchFamily="34" charset="0"/>
              </a:rPr>
              <a:t>What problems may be caused by route importing and what are the solutions?</a:t>
            </a:r>
            <a:endParaRPr lang="en-US" altLang="zh-CN" dirty="0" smtClean="0">
              <a:sym typeface="FrutigerNext LT Regular" pitchFamily="34" charset="0"/>
            </a:endParaRPr>
          </a:p>
        </p:txBody>
      </p:sp>
    </p:spTree>
    <p:extLst>
      <p:ext uri="{BB962C8B-B14F-4D97-AF65-F5344CB8AC3E}">
        <p14:creationId xmlns:p14="http://schemas.microsoft.com/office/powerpoint/2010/main" val="11909053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55713619"/>
      </p:ext>
    </p:extLst>
  </p:cSld>
  <p:clrMapOvr>
    <a:masterClrMapping/>
  </p:clrMapOvr>
  <p:timing>
    <p:tnLst>
      <p:par>
        <p:cTn id="1" dur="indefinite" restart="never" nodeType="tmRoot"/>
      </p:par>
    </p:tnLst>
  </p:timing>
</p:sld>
</file>

<file path=ppt/theme/theme1.xml><?xml version="1.0" encoding="utf-8"?>
<a:theme xmlns:a="http://schemas.openxmlformats.org/drawingml/2006/main" name="培训与认证部-母版">
  <a:themeElements>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fontScheme name="V3.0胶片模板字体">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lnDef>
    <a:txDef>
      <a:spPr bwMode="auto">
        <a:noFill/>
        <a:ln w="9525" algn="ctr">
          <a:noFill/>
          <a:miter lim="800000"/>
          <a:headEnd/>
          <a:tailEnd/>
        </a:ln>
      </a:spPr>
      <a:bodyPr vert="horz" wrap="square" lIns="87802" tIns="43901" rIns="87802" bIns="43901" numCol="1" anchor="ctr" anchorCtr="0" compatLnSpc="1">
        <a:prstTxWarp prst="textNoShape">
          <a:avLst/>
        </a:prstTxWarp>
      </a:bodyPr>
      <a:lstStyle>
        <a:defPPr>
          <a:defRPr dirty="0" smtClean="0"/>
        </a:defPPr>
      </a:lstStyle>
    </a:txDef>
  </a:objectDefaults>
  <a:extraClrSchemeLst>
    <a:extraClrScheme>
      <a:clrScheme name="default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3">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0" ma:contentTypeDescription="Create a new document." ma:contentTypeScope="" ma:versionID="2e6df93c5ac01bc0ba5a39bebe33c6df">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525852FC-06B0-4DF8-A4EC-FAC137F41798}"/>
</file>

<file path=customXml/itemProps2.xml><?xml version="1.0" encoding="utf-8"?>
<ds:datastoreItem xmlns:ds="http://schemas.openxmlformats.org/officeDocument/2006/customXml" ds:itemID="{723E6701-3943-4A44-84F3-F772B5088830}"/>
</file>

<file path=customXml/itemProps3.xml><?xml version="1.0" encoding="utf-8"?>
<ds:datastoreItem xmlns:ds="http://schemas.openxmlformats.org/officeDocument/2006/customXml" ds:itemID="{EAE3093B-232B-4C15-AB25-7F1FBE134870}"/>
</file>

<file path=docProps/app.xml><?xml version="1.0" encoding="utf-8"?>
<Properties xmlns="http://schemas.openxmlformats.org/officeDocument/2006/extended-properties" xmlns:vt="http://schemas.openxmlformats.org/officeDocument/2006/docPropsVTypes">
  <Template/>
  <TotalTime>69671</TotalTime>
  <Words>4944</Words>
  <Application>Microsoft Office PowerPoint</Application>
  <PresentationFormat>宽屏</PresentationFormat>
  <Paragraphs>761</Paragraphs>
  <Slides>44</Slides>
  <Notes>44</Notes>
  <HiddenSlides>2</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57" baseType="lpstr">
      <vt:lpstr>MS PGothic</vt:lpstr>
      <vt:lpstr>黑体</vt:lpstr>
      <vt:lpstr>华文细黑</vt:lpstr>
      <vt:lpstr>宋体</vt:lpstr>
      <vt:lpstr>微软雅黑</vt:lpstr>
      <vt:lpstr>Arial</vt:lpstr>
      <vt:lpstr>Courier New</vt:lpstr>
      <vt:lpstr>FrutigerNext LT Light</vt:lpstr>
      <vt:lpstr>FrutigerNext LT Medium</vt:lpstr>
      <vt:lpstr>FrutigerNext LT Regular</vt:lpstr>
      <vt:lpstr>Wingdings</vt:lpstr>
      <vt:lpstr>培训与认证部-母版</vt:lpstr>
      <vt:lpstr>包装程序外壳对象</vt:lpstr>
      <vt:lpstr>Route Control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Other Problems Caused by Multi-Protocol - Loop</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c37402</dc:creator>
  <cp:lastModifiedBy>liupengzjhw</cp:lastModifiedBy>
  <cp:revision>2532</cp:revision>
  <dcterms:created xsi:type="dcterms:W3CDTF">2003-08-21T06:48:56Z</dcterms:created>
  <dcterms:modified xsi:type="dcterms:W3CDTF">2019-04-10T07:51:43Z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(11)3UhSoOyFRqszoDxskLpj5cCgHy0/Ke5a2v36AUt5KrgSjqJy4EvmEMiX5YGaXFvp9/UK33Tw_x000d_ RaJW6EwaME9+dHZpcw3Qvwx3X7+7GB6JsqeHubWWQ6I3ypfAK+5vZMWsyNDf33Q+yGzlBfYD_x000d_ OIxQyuEVYPacOcTgO0GGMLWMsFSrAduWXi7lDNFdBfllJdxWMbs3FZsryX4VjGFDgDu63a6N_x000d_ xu0BGaqu6EF4Ju8poQ</vt:lpwstr>
  </property>
  <property fmtid="{D5CDD505-2E9C-101B-9397-08002B2CF9AE}" pid="3" name="_ms_pID_7253431">
    <vt:lpwstr>BMOYFB6vneTRz7L1g0JJ22H5/isfqcfzh5pBpQdNEd/89Bu2iKf9rF_x000d_ 8op/8IkqLeMh+keGDgdcj0lWvNSDrOiKETLVLHKf0dAV/wbUZ1Pl7vsyjFd1JF5Sf0W2EphX_x000d_ kKThqtFyyfZrx1rpBmQNejSbMMFaLTOhJRIkS1kte6dPRjiNcn8xXAQwCfg3MVqEesS/QFUS_x000d_ 0434uENqVn3WpAxX7t7QHrSfmaRXx4stZ0aQ</vt:lpwstr>
  </property>
  <property fmtid="{D5CDD505-2E9C-101B-9397-08002B2CF9AE}" pid="4" name="_ms_pID_7253432">
    <vt:lpwstr>GlOhGokx+m1IQbE70sXTnuxTIMf68mvALZnx_x000d_ Ap3/iFwG1LihCpUCHf3Bn2ll5x23Yax8rhDQQtrN1FnZFQ+cIj2o+7GIyP6ibG2HnXSKhrF0_x000d_ vPb1zyvTEXDg5RRTl9mncM3qDJ57f7PknXx06TDv+x7A8WWQj9+kQijlJ2TzwFBui7LtkmpH_x000d_ +mYGiVPOsW+HAtEsl7A7QZExQOhpwhAKMowhwI7jB8gr0KFQzNskLY</vt:lpwstr>
  </property>
  <property fmtid="{D5CDD505-2E9C-101B-9397-08002B2CF9AE}" pid="5" name="_ms_pID_7253433">
    <vt:lpwstr>wdIY6NepULtXPaJiBT_x000d_ /NMRWPBa1Alrv+5zAztbQlwb14ItSrxj60fGWez57M9Y3Nc4tyEb941dzOsuIhoTncg4RVmX_x000d_ eIeh+kU6g7eOHI10wgRC7DyP2ooQ+zhQFN0L7N5Mhaj1f9/5QtY13CoxxVFyGTcNauHWJ/c/_x000d_ xy0hCj36m3LnI3+Mp3x+uuharMKms1ddOydlHr6th8+Xl0sscO+2Zg0PmeesnZ8SxgDRDgR/</vt:lpwstr>
  </property>
  <property fmtid="{D5CDD505-2E9C-101B-9397-08002B2CF9AE}" pid="6" name="_ms_pID_7253434">
    <vt:lpwstr>_x000d_ 06fuLz5Gs8F0062xWxQ4bNWmlQvUIY4ng3ooElJg7LpATs2N9FWODlMO09ItIhhhfBl71QoV_x000d_ TtICtiXbCRS8Mgf/00AXGY8En0/xvatrf6I7cF468IRRjRyCdV90XxXwVeExV5j1jZDrC2Jq_x000d_ l5GwJ4VyV9PDCqrI+drn/Y0ThOgfgW1VVXGo11fNi/vEjhI9/V83n6i9wMsMQkvlBqW/TwEs_x000d_ 6YoFjibjQLqH5ZQL</vt:lpwstr>
  </property>
  <property fmtid="{D5CDD505-2E9C-101B-9397-08002B2CF9AE}" pid="7" name="_ms_pID_7253435">
    <vt:lpwstr>aGcNmArSL7sKVRrXgCFeQCME3tSlGMGc1nn3F68Tlh0VzDGXMvPzk5kK_x000d_ zswiwHIYB5Bp7la8BzkurY4rONAlJzypOuUxaz8M6JW8maYWkfR3VJZ9uDKrtHfxmF7oTknV_x000d_ 0D0s5bhsrWyCgRnFkF9vpWQ0HdNdJ/2yrkO382WhWcp+N1RcxBubAoHCpm0gsHtQiWYFGoBM_x000d_ oL2nyqm6y/khwj5dIudnbisyKT+S1wWA/t</vt:lpwstr>
  </property>
  <property fmtid="{D5CDD505-2E9C-101B-9397-08002B2CF9AE}" pid="8" name="_ms_pID_7253436">
    <vt:lpwstr>TPllG6Veed9GUlfwC8cLvU8QTryE4UhobeLDXG_x000d_ ei/t7XTbTtZri5zsO3DNoARD9e5R0QxzxMu5us2xNAlqcl2eWKopk7Zmn3kTYohGakKPewGh_x000d_ +QpZycsMjFwTpwdQ8yEfaFYb67HvULkFee89Nr2/rJ/FIQdYMD2wcY1bIxGR3TNy2EhIqUh/_x000d_ 0UOiZ8P9lZw1EVxEj6INNKvwYGinwlBZGf2zpYz8UKIDbXx/LEzD</vt:lpwstr>
  </property>
  <property fmtid="{D5CDD505-2E9C-101B-9397-08002B2CF9AE}" pid="9" name="_ms_pID_7253437">
    <vt:lpwstr>ebjDDi5yUz3Atc4gUDb5_x000d_ +tv7+/b3L3sSem+xAm+C56IrhQpLVAKzS4HQh4O4UlqzYfcAOwFKAvwL4r6PwKKbnvmtnSvL_x000d_ fZ/ANFRbTWLaGmxYEefif/jPJGJYmp0uxtoD913402+R83n60akKT2NMT0MpTW3OvYxduzAB_x000d_ EQ2MqKNVY8rsHdLmLSoQxG0nO9feCHgC9YQHC85IolID0ED8MatySi5CL3Xn0lEqewCJQP</vt:lpwstr>
  </property>
  <property fmtid="{D5CDD505-2E9C-101B-9397-08002B2CF9AE}" pid="10" name="_ms_pID_7253438">
    <vt:lpwstr>ab_x000d_ PK8okltMeequt+iVcpdTAysW/K+KW8jBtQQllcDU8kVAs9MhO5sS3OhKCLlTLqy3BUamtgTs_x000d_ Jk3FN3LzrqdNsepuI/v+XhoJU/MWFWnfULsbESAO1BriRWfUJ/2S0GUIASb4l0oCNvkNmlxC_x000d_ 8lhvj9JQArDZg4yz3vBb400F0TLXD1E4n1bhjCvs56P9B4TP1zZ/O5FsGRAXJ+zl68+jNdVz_x000d_ kH+o8OlUWk4t9E</vt:lpwstr>
  </property>
  <property fmtid="{D5CDD505-2E9C-101B-9397-08002B2CF9AE}" pid="11" name="_ms_pID_7253439">
    <vt:lpwstr>gIXfEEoigI1CkVl4g0ENU/CyZuFKpB682zRrdiQadZJHgCspzF0zSSAXy4_x000d_ VKOo5XvgowQ73d4FADinc5+tJv8wHX1LsFToDkFhTzPJqbAUQX1vsQzGvZxlQr78WPj+SQIE_x000d_ fGxkVPlx+pDPs6rnSNZTbRUQwRlfuqU/DsssWUnWyv1gW04vkIWVpodKl604OJ1cms6HPzbe_x000d_ Mzwm3Gft3+DwKhutUMlITUa1+DZtcPe9</vt:lpwstr>
  </property>
  <property fmtid="{D5CDD505-2E9C-101B-9397-08002B2CF9AE}" pid="12" name="_ms_pID_72534310">
    <vt:lpwstr>9Yf9LGFXEnVCZfwfIBUFCxe3M9gP60jstDzRuK52_x000d_ Xcp8/qWzZGKHAdKR4PEqJ+oEpao/6Go6gc41a7KkCXK47Fwt7JL0XCUh</vt:lpwstr>
  </property>
  <property fmtid="{D5CDD505-2E9C-101B-9397-08002B2CF9AE}" pid="13" name="_new_ms_pID_72543">
    <vt:lpwstr>(4)jNL0gM28At52Ieaf1valQ0LhCJhckLvJxApn9P4IOGXs2CxMSeBUEQOsYE7UL6xHmrDTkB0U
8XrwX0U2eGOvdKAbibq/OwBogqOvwFaAolHRNqNy2szIx/vIxGV3RldByVnAXNghwAf/C+Ny
nC0kXXrwMXgmyFvH5Z6NNWCVsONiwda3mR+L5JpGhOxLoPqs7SuuHSITb197MVyCXsGsK2ms
+l0YVy49NdVVuXoIAG</vt:lpwstr>
  </property>
  <property fmtid="{D5CDD505-2E9C-101B-9397-08002B2CF9AE}" pid="14" name="_new_ms_pID_725431">
    <vt:lpwstr>WNXmtkOaoMvO+RtN+AF98axcECtcDzeutF/RA/MuVrkTeP8na2B2yy
m1HCyY09R6IPysdOkoFKaGF95jn8IPRP7dOExBbQlWgSPqEZNo21+gLMWeFfBt+6pUhKdwFx
7ZPjMNuUrMypYPEZngI1VIdsJf4NZKyTLKZJ0nK7WxKub3aP/MoU61sfNyyw1Icb4IGb7OFn
9w8sA6NUyvf/2CAmXCRdXcc6p9josuAb8E0f</vt:lpwstr>
  </property>
  <property fmtid="{D5CDD505-2E9C-101B-9397-08002B2CF9AE}" pid="15" name="_new_ms_pID_725432">
    <vt:lpwstr>VPOcRqDszuG9Ea/DM6UvbMLgh7KalquPd6s3
kDXgkxV66sccXBRFRpUSm24+++OZrzrFJlZ9+cTKshms+WpKgjZh/IhT4aCGlcWjlqWZhRut
yeE31Jc/cvQKXkucHQJfR38BDLb6HDqUWvPBQ8sa4eIzSeLgq189G0a1RIIGyCiIJjSWXf10
g2H9RhGj00eoqTF/R7ak+JOb3Uld8rKRh6p8+RZSbt3zCH/cPW7Uhk</vt:lpwstr>
  </property>
  <property fmtid="{D5CDD505-2E9C-101B-9397-08002B2CF9AE}" pid="16" name="_new_ms_pID_725433">
    <vt:lpwstr>w4/CdPx+g5NrTVBBFR
HKTc81zHE57lJ6Sfop/J3Md4zKo=</vt:lpwstr>
  </property>
  <property fmtid="{D5CDD505-2E9C-101B-9397-08002B2CF9AE}" pid="17" name="_2015_ms_pID_725343">
    <vt:lpwstr>(3)XahdwrTgAbr2OSDTqwJ7c5T8P+Yz+Z9auHXPDxAZfvJYvGN1dE7zignU7EkZfnSSEGcmQPsw
HvOl/dR9INwWQhhJvP1qfbsbKfatpn9SIlil2YZyDAvOuYx1YoTUmVN4Bnii49KTNRYOShzT
sqHBxspArD7IGtM+GpGKojeAOO+1byIikn2c3zwMYg8LGKYrkHZmGuzHgDLzY6V1KGF1Zvxw
hS5srlklDdft2FfjGR</vt:lpwstr>
  </property>
  <property fmtid="{D5CDD505-2E9C-101B-9397-08002B2CF9AE}" pid="18" name="_2015_ms_pID_7253431">
    <vt:lpwstr>mNOfu+Xe03pSOhZ4hz0VI8Sz/VCU69BTkVzGtSQY2UwXyB0N20hlGN
5RwRsdt/U/64lMTE3rp/GJmJxNqo6RG05WQEbov+5+mdhsOeKX20C2X/ml726BhHjavkH1/4
Ra33ZtaQCvRXrplDZ6ku5qgn+4PN4+G8JZfE27oGTywv+SUslj3L2y3gnjPGuVspDdnN9Imq
azVuIpSW0Ve7Ib1YktTdJ+UP0jZXqGSYUQ3T</vt:lpwstr>
  </property>
  <property fmtid="{D5CDD505-2E9C-101B-9397-08002B2CF9AE}" pid="19" name="_2015_ms_pID_7253432">
    <vt:lpwstr>LwArphHaKfcc+V2tg5fzBEDGQT9MWCXlGb4l
2BhjEDmZ48MKnxEeeL5j2sMBgfirZQ==</vt:lpwstr>
  </property>
  <property fmtid="{D5CDD505-2E9C-101B-9397-08002B2CF9AE}" pid="20" name="ContentTypeId">
    <vt:lpwstr>0x01010002C5B4B712841F4C8A7AAEE2CD191271</vt:lpwstr>
  </property>
  <property fmtid="{D5CDD505-2E9C-101B-9397-08002B2CF9AE}" pid="21" name="_readonly">
    <vt:lpwstr/>
  </property>
  <property fmtid="{D5CDD505-2E9C-101B-9397-08002B2CF9AE}" pid="22" name="_change">
    <vt:lpwstr/>
  </property>
  <property fmtid="{D5CDD505-2E9C-101B-9397-08002B2CF9AE}" pid="23" name="_full-control">
    <vt:lpwstr/>
  </property>
  <property fmtid="{D5CDD505-2E9C-101B-9397-08002B2CF9AE}" pid="24" name="sflag">
    <vt:lpwstr>1554856600</vt:lpwstr>
  </property>
</Properties>
</file>