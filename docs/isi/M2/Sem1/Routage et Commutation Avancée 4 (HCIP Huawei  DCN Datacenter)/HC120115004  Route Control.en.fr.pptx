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59" r:id="rId4"/>
  </p:sldMasterIdLst>
  <p:notesMasterIdLst>
    <p:notesMasterId r:id="rId49"/>
  </p:notesMasterIdLst>
  <p:handoutMasterIdLst>
    <p:handoutMasterId r:id="rId50"/>
  </p:handoutMasterIdLst>
  <p:sldIdLst>
    <p:sldId id="256" r:id="rId5"/>
    <p:sldId id="257" r:id="rId6"/>
    <p:sldId id="258" r:id="rId7"/>
    <p:sldId id="259" r:id="rId8"/>
    <p:sldId id="260" r:id="rId9"/>
    <p:sldId id="261" r:id="rId10"/>
    <p:sldId id="262" r:id="rId11"/>
    <p:sldId id="263" r:id="rId12"/>
    <p:sldId id="264" r:id="rId13"/>
    <p:sldId id="298" r:id="rId14"/>
    <p:sldId id="265" r:id="rId15"/>
    <p:sldId id="266" r:id="rId16"/>
    <p:sldId id="267" r:id="rId17"/>
    <p:sldId id="29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9" r:id="rId44"/>
    <p:sldId id="293" r:id="rId45"/>
    <p:sldId id="294" r:id="rId46"/>
    <p:sldId id="295" r:id="rId47"/>
    <p:sldId id="296" r:id="rId48"/>
  </p:sldIdLst>
  <p:sldSz cx="12192000" cy="6858000"/>
  <p:notesSz cx="7099300" cy="10234613"/>
  <p:defaultTextStyle>
    <a:defPPr>
      <a:defRPr lang="zh-CN"/>
    </a:defPPr>
    <a:lvl1pPr algn="l" rtl="0" fontAlgn="t">
      <a:spcBef>
        <a:spcPct val="0"/>
      </a:spcBef>
      <a:spcAft>
        <a:spcPct val="0"/>
      </a:spcAft>
      <a:defRPr sz="1000" kern="1200">
        <a:solidFill>
          <a:schemeClr val="tx1"/>
        </a:solidFill>
        <a:latin typeface="FrutigerNext LT Regular" pitchFamily="34" charset="0"/>
        <a:ea typeface="宋体" charset="-122"/>
        <a:cs typeface="+mn-cs"/>
      </a:defRPr>
    </a:lvl1pPr>
    <a:lvl2pPr marL="457200" algn="l" rtl="0" fontAlgn="t">
      <a:spcBef>
        <a:spcPct val="0"/>
      </a:spcBef>
      <a:spcAft>
        <a:spcPct val="0"/>
      </a:spcAft>
      <a:defRPr sz="1000" kern="1200">
        <a:solidFill>
          <a:schemeClr val="tx1"/>
        </a:solidFill>
        <a:latin typeface="FrutigerNext LT Regular" pitchFamily="34" charset="0"/>
        <a:ea typeface="宋体" charset="-122"/>
        <a:cs typeface="+mn-cs"/>
      </a:defRPr>
    </a:lvl2pPr>
    <a:lvl3pPr marL="914400" algn="l" rtl="0" fontAlgn="t">
      <a:spcBef>
        <a:spcPct val="0"/>
      </a:spcBef>
      <a:spcAft>
        <a:spcPct val="0"/>
      </a:spcAft>
      <a:defRPr sz="1000" kern="1200">
        <a:solidFill>
          <a:schemeClr val="tx1"/>
        </a:solidFill>
        <a:latin typeface="FrutigerNext LT Regular" pitchFamily="34" charset="0"/>
        <a:ea typeface="宋体" charset="-122"/>
        <a:cs typeface="+mn-cs"/>
      </a:defRPr>
    </a:lvl3pPr>
    <a:lvl4pPr marL="1371600" algn="l" rtl="0" fontAlgn="t">
      <a:spcBef>
        <a:spcPct val="0"/>
      </a:spcBef>
      <a:spcAft>
        <a:spcPct val="0"/>
      </a:spcAft>
      <a:defRPr sz="1000" kern="1200">
        <a:solidFill>
          <a:schemeClr val="tx1"/>
        </a:solidFill>
        <a:latin typeface="FrutigerNext LT Regular" pitchFamily="34" charset="0"/>
        <a:ea typeface="宋体" charset="-122"/>
        <a:cs typeface="+mn-cs"/>
      </a:defRPr>
    </a:lvl4pPr>
    <a:lvl5pPr marL="1828800" algn="l" rtl="0" fontAlgn="t">
      <a:spcBef>
        <a:spcPct val="0"/>
      </a:spcBef>
      <a:spcAft>
        <a:spcPct val="0"/>
      </a:spcAft>
      <a:defRPr sz="1000" kern="1200">
        <a:solidFill>
          <a:schemeClr val="tx1"/>
        </a:solidFill>
        <a:latin typeface="FrutigerNext LT Regular" pitchFamily="34" charset="0"/>
        <a:ea typeface="宋体" charset="-122"/>
        <a:cs typeface="+mn-cs"/>
      </a:defRPr>
    </a:lvl5pPr>
    <a:lvl6pPr marL="2286000" algn="l" defTabSz="914400" rtl="0" eaLnBrk="1" latinLnBrk="0" hangingPunct="1">
      <a:defRPr sz="1000" kern="1200">
        <a:solidFill>
          <a:schemeClr val="tx1"/>
        </a:solidFill>
        <a:latin typeface="FrutigerNext LT Regular" pitchFamily="34" charset="0"/>
        <a:ea typeface="宋体" charset="-122"/>
        <a:cs typeface="+mn-cs"/>
      </a:defRPr>
    </a:lvl6pPr>
    <a:lvl7pPr marL="2743200" algn="l" defTabSz="914400" rtl="0" eaLnBrk="1" latinLnBrk="0" hangingPunct="1">
      <a:defRPr sz="1000" kern="1200">
        <a:solidFill>
          <a:schemeClr val="tx1"/>
        </a:solidFill>
        <a:latin typeface="FrutigerNext LT Regular" pitchFamily="34" charset="0"/>
        <a:ea typeface="宋体" charset="-122"/>
        <a:cs typeface="+mn-cs"/>
      </a:defRPr>
    </a:lvl7pPr>
    <a:lvl8pPr marL="3200400" algn="l" defTabSz="914400" rtl="0" eaLnBrk="1" latinLnBrk="0" hangingPunct="1">
      <a:defRPr sz="1000" kern="1200">
        <a:solidFill>
          <a:schemeClr val="tx1"/>
        </a:solidFill>
        <a:latin typeface="FrutigerNext LT Regular" pitchFamily="34" charset="0"/>
        <a:ea typeface="宋体" charset="-122"/>
        <a:cs typeface="+mn-cs"/>
      </a:defRPr>
    </a:lvl8pPr>
    <a:lvl9pPr marL="3657600" algn="l" defTabSz="914400" rtl="0" eaLnBrk="1" latinLnBrk="0" hangingPunct="1">
      <a:defRPr sz="1000" kern="1200">
        <a:solidFill>
          <a:schemeClr val="tx1"/>
        </a:solidFill>
        <a:latin typeface="FrutigerNext LT Regular" pitchFamily="34" charset="0"/>
        <a:ea typeface="宋体" charset="-122"/>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2" orient="horz" pos="482" userDrawn="1">
          <p15:clr>
            <a:srgbClr val="A4A3A4"/>
          </p15:clr>
        </p15:guide>
        <p15:guide id="3" orient="horz" pos="2908" userDrawn="1">
          <p15:clr>
            <a:srgbClr val="A4A3A4"/>
          </p15:clr>
        </p15:guide>
        <p15:guide id="4" orient="horz" pos="5967">
          <p15:clr>
            <a:srgbClr val="A4A3A4"/>
          </p15:clr>
        </p15:guide>
        <p15:guide id="6" pos="2440">
          <p15:clr>
            <a:srgbClr val="A4A3A4"/>
          </p15:clr>
        </p15:guide>
        <p15:guide id="7" pos="431" userDrawn="1">
          <p15:clr>
            <a:srgbClr val="A4A3A4"/>
          </p15:clr>
        </p15:guide>
        <p15:guide id="8" pos="4028">
          <p15:clr>
            <a:srgbClr val="A4A3A4"/>
          </p15:clr>
        </p15:guide>
        <p15:guide id="9" pos="626">
          <p15:clr>
            <a:srgbClr val="A4A3A4"/>
          </p15:clr>
        </p15:guide>
        <p15:guide id="10" pos="384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00280246" initials="w" lastIdx="13" clrIdx="0"/>
  <p:cmAuthor id="1" name="huangwenyong" initials="h" lastIdx="22" clrIdx="1"/>
  <p:cmAuthor id="2" name="c00224892" initials="CML" lastIdx="2" clrIdx="2"/>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B0F0"/>
    <a:srgbClr val="990000"/>
    <a:srgbClr val="FF0909"/>
    <a:srgbClr val="CF6B63"/>
    <a:srgbClr val="E7CCC7"/>
    <a:srgbClr val="FFC1C1"/>
    <a:srgbClr val="EE0000"/>
    <a:srgbClr val="540000"/>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46" autoAdjust="0"/>
    <p:restoredTop sz="95196" autoAdjust="0"/>
  </p:normalViewPr>
  <p:slideViewPr>
    <p:cSldViewPr showGuides="1">
      <p:cViewPr varScale="1">
        <p:scale>
          <a:sx n="81" d="100"/>
          <a:sy n="81" d="100"/>
        </p:scale>
        <p:origin x="605" y="62"/>
      </p:cViewPr>
      <p:guideLst/>
    </p:cSldViewPr>
  </p:slideViewPr>
  <p:notesTextViewPr>
    <p:cViewPr>
      <p:scale>
        <a:sx n="75" d="100"/>
        <a:sy n="75" d="100"/>
      </p:scale>
      <p:origin x="0" y="0"/>
    </p:cViewPr>
  </p:notesTextViewPr>
  <p:sorterViewPr>
    <p:cViewPr>
      <p:scale>
        <a:sx n="66" d="100"/>
        <a:sy n="66" d="100"/>
      </p:scale>
      <p:origin x="0" y="3576"/>
    </p:cViewPr>
  </p:sorterViewPr>
  <p:notesViewPr>
    <p:cSldViewPr showGuides="1">
      <p:cViewPr varScale="1">
        <p:scale>
          <a:sx n="60" d="100"/>
          <a:sy n="60" d="100"/>
        </p:scale>
        <p:origin x="3216" y="58"/>
      </p:cViewPr>
      <p:guideLst>
        <p:guide orient="horz" pos="482"/>
        <p:guide orient="horz" pos="2908"/>
        <p:guide orient="horz" pos="5967"/>
        <p:guide pos="2440"/>
        <p:guide pos="431"/>
        <p:guide pos="4028"/>
        <p:guide pos="626"/>
        <p:guide pos="3846"/>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02" name="Rectangle 2"/>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defTabSz="968375" fontAlgn="base">
              <a:defRPr sz="1300">
                <a:latin typeface="Arial" charset="0"/>
                <a:ea typeface="宋体" pitchFamily="2" charset="-122"/>
              </a:defRPr>
            </a:lvl1pPr>
          </a:lstStyle>
          <a:p>
            <a:pPr>
              <a:defRPr/>
            </a:pPr>
            <a:r>
              <a:rPr lang="zh-CN" altLang="en-US"/>
              <a:t>请将此处改为本章标题</a:t>
            </a:r>
            <a:endParaRPr lang="en-US" altLang="zh-CN"/>
          </a:p>
        </p:txBody>
      </p:sp>
      <p:sp>
        <p:nvSpPr>
          <p:cNvPr id="512003" name="Rectangle 3"/>
          <p:cNvSpPr>
            <a:spLocks noGrp="1" noChangeArrowheads="1"/>
          </p:cNvSpPr>
          <p:nvPr>
            <p:ph type="dt" sz="quarter" idx="1"/>
          </p:nvPr>
        </p:nvSpPr>
        <p:spPr bwMode="auto">
          <a:xfrm>
            <a:off x="4021138"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algn="r" defTabSz="968375" fontAlgn="base">
              <a:defRPr sz="1300">
                <a:latin typeface="Arial" charset="0"/>
                <a:ea typeface="宋体" pitchFamily="2" charset="-122"/>
              </a:defRPr>
            </a:lvl1pPr>
          </a:lstStyle>
          <a:p>
            <a:pPr>
              <a:defRPr/>
            </a:pPr>
            <a:endParaRPr lang="en-US" altLang="zh-CN"/>
          </a:p>
        </p:txBody>
      </p:sp>
      <p:sp>
        <p:nvSpPr>
          <p:cNvPr id="512004" name="Rectangle 4"/>
          <p:cNvSpPr>
            <a:spLocks noGrp="1" noChangeArrowheads="1"/>
          </p:cNvSpPr>
          <p:nvPr>
            <p:ph type="ftr" sz="quarter" idx="2"/>
          </p:nvPr>
        </p:nvSpPr>
        <p:spPr bwMode="auto">
          <a:xfrm>
            <a:off x="0"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defTabSz="968375" fontAlgn="base">
              <a:defRPr sz="1300">
                <a:latin typeface="Arial" charset="0"/>
                <a:ea typeface="宋体" pitchFamily="2" charset="-122"/>
              </a:defRPr>
            </a:lvl1pPr>
          </a:lstStyle>
          <a:p>
            <a:pPr>
              <a:defRPr/>
            </a:pPr>
            <a:endParaRPr lang="en-US" altLang="zh-CN"/>
          </a:p>
        </p:txBody>
      </p:sp>
      <p:sp>
        <p:nvSpPr>
          <p:cNvPr id="512005" name="Rectangle 5"/>
          <p:cNvSpPr>
            <a:spLocks noGrp="1" noChangeArrowheads="1"/>
          </p:cNvSpPr>
          <p:nvPr>
            <p:ph type="sldNum" sz="quarter" idx="3"/>
          </p:nvPr>
        </p:nvSpPr>
        <p:spPr bwMode="auto">
          <a:xfrm>
            <a:off x="4021138"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algn="r" defTabSz="968375" fontAlgn="base">
              <a:defRPr sz="1300">
                <a:latin typeface="Arial" charset="0"/>
                <a:ea typeface="宋体" pitchFamily="2" charset="-122"/>
              </a:defRPr>
            </a:lvl1pPr>
          </a:lstStyle>
          <a:p>
            <a:pPr>
              <a:defRPr/>
            </a:pPr>
            <a:fld id="{DFB0E886-5559-4133-9D2D-4B2631545D0E}" type="slidenum">
              <a:rPr lang="en-US" altLang="zh-CN"/>
              <a:pPr>
                <a:defRPr/>
              </a:pPr>
              <a:t>‹N°›</a:t>
            </a:fld>
            <a:endParaRPr lang="en-US" altLang="zh-CN"/>
          </a:p>
        </p:txBody>
      </p:sp>
    </p:spTree>
    <p:extLst>
      <p:ext uri="{BB962C8B-B14F-4D97-AF65-F5344CB8AC3E}">
        <p14:creationId xmlns:p14="http://schemas.microsoft.com/office/powerpoint/2010/main" val="289474438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1" name="Rectangle 5"/>
          <p:cNvSpPr>
            <a:spLocks noGrp="1" noChangeArrowheads="1"/>
          </p:cNvSpPr>
          <p:nvPr>
            <p:ph type="body" sz="quarter" idx="3"/>
          </p:nvPr>
        </p:nvSpPr>
        <p:spPr bwMode="auto">
          <a:xfrm>
            <a:off x="583903" y="4616450"/>
            <a:ext cx="5931494" cy="5109368"/>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p>
            <a:pPr lvl="0"/>
            <a:r>
              <a:rPr lang="en-US" altLang="zh-CN" noProof="0" dirty="0"/>
              <a:t>Click here to add content</a:t>
            </a:r>
          </a:p>
          <a:p>
            <a:pPr lvl="1"/>
            <a:r>
              <a:rPr lang="en-US" altLang="zh-CN" noProof="0" dirty="0"/>
              <a:t>Click here to add content</a:t>
            </a:r>
          </a:p>
          <a:p>
            <a:pPr lvl="2"/>
            <a:r>
              <a:rPr lang="en-US" altLang="zh-CN" noProof="0" dirty="0"/>
              <a:t>Click here to add content</a:t>
            </a:r>
          </a:p>
        </p:txBody>
      </p:sp>
      <p:sp>
        <p:nvSpPr>
          <p:cNvPr id="68610" name="Rectangle 4"/>
          <p:cNvSpPr>
            <a:spLocks noGrp="1" noRot="1" noChangeAspect="1" noChangeArrowheads="1" noTextEdit="1"/>
          </p:cNvSpPr>
          <p:nvPr>
            <p:ph type="sldImg" idx="2"/>
          </p:nvPr>
        </p:nvSpPr>
        <p:spPr bwMode="auto">
          <a:xfrm>
            <a:off x="583903" y="765609"/>
            <a:ext cx="5931493" cy="3336983"/>
          </a:xfrm>
          <a:prstGeom prst="rect">
            <a:avLst/>
          </a:prstGeom>
          <a:noFill/>
          <a:ln w="9525">
            <a:solidFill>
              <a:srgbClr val="000000"/>
            </a:solidFill>
            <a:miter lim="800000"/>
            <a:headEnd/>
            <a:tailEnd/>
          </a:ln>
        </p:spPr>
      </p:sp>
    </p:spTree>
    <p:extLst>
      <p:ext uri="{BB962C8B-B14F-4D97-AF65-F5344CB8AC3E}">
        <p14:creationId xmlns:p14="http://schemas.microsoft.com/office/powerpoint/2010/main" val="688167284"/>
      </p:ext>
    </p:extLst>
  </p:cSld>
  <p:clrMap bg1="lt1" tx1="dk1" bg2="lt2" tx2="dk2" accent1="accent1" accent2="accent2" accent3="accent3" accent4="accent4" accent5="accent5" accent6="accent6" hlink="hlink" folHlink="folHlink"/>
  <p:hf hdr="0" dt="0"/>
  <p:notesStyle>
    <a:lvl1pPr marL="180975" indent="-180975" algn="l" rtl="0" eaLnBrk="1" fontAlgn="base" hangingPunct="1">
      <a:lnSpc>
        <a:spcPct val="125000"/>
      </a:lnSpc>
      <a:spcBef>
        <a:spcPct val="0"/>
      </a:spcBef>
      <a:spcAft>
        <a:spcPts val="600"/>
      </a:spcAft>
      <a:buSzPct val="60000"/>
      <a:buFont typeface="Wingdings" pitchFamily="2" charset="2"/>
      <a:buChar char="l"/>
      <a:defRPr sz="1100" kern="1200">
        <a:solidFill>
          <a:schemeClr val="tx1"/>
        </a:solidFill>
        <a:latin typeface="微软雅黑" panose="020B0503020204020204" pitchFamily="34" charset="-122"/>
        <a:ea typeface="微软雅黑" panose="020B0503020204020204" pitchFamily="34" charset="-122"/>
        <a:cs typeface="+mn-cs"/>
      </a:defRPr>
    </a:lvl1pPr>
    <a:lvl2pPr marL="541338" indent="-180975" algn="l" rtl="0" eaLnBrk="1" fontAlgn="base" hangingPunct="1">
      <a:lnSpc>
        <a:spcPct val="125000"/>
      </a:lnSpc>
      <a:spcBef>
        <a:spcPct val="0"/>
      </a:spcBef>
      <a:spcAft>
        <a:spcPts val="600"/>
      </a:spcAft>
      <a:buSzPct val="50000"/>
      <a:buFont typeface="Wingdings" pitchFamily="2" charset="2"/>
      <a:buChar char="p"/>
      <a:defRPr sz="1100" kern="1200">
        <a:solidFill>
          <a:schemeClr val="tx1"/>
        </a:solidFill>
        <a:latin typeface="微软雅黑" panose="020B0503020204020204" pitchFamily="34" charset="-122"/>
        <a:ea typeface="微软雅黑" panose="020B0503020204020204" pitchFamily="34" charset="-122"/>
        <a:cs typeface="+mn-cs"/>
      </a:defRPr>
    </a:lvl2pPr>
    <a:lvl3pPr marL="895350" indent="-174625" algn="l" rtl="0" eaLnBrk="1" fontAlgn="base" hangingPunct="1">
      <a:lnSpc>
        <a:spcPct val="125000"/>
      </a:lnSpc>
      <a:spcBef>
        <a:spcPct val="0"/>
      </a:spcBef>
      <a:spcAft>
        <a:spcPts val="600"/>
      </a:spcAft>
      <a:buSzPct val="50000"/>
      <a:buFont typeface="Wingdings" pitchFamily="2" charset="2"/>
      <a:buChar char="n"/>
      <a:defRPr sz="11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4pPr>
    <a:lvl5pPr marL="20574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482" userDrawn="1">
          <p15:clr>
            <a:srgbClr val="F26B43"/>
          </p15:clr>
        </p15:guide>
        <p15:guide id="2" orient="horz" pos="290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xfrm>
            <a:off x="93663" y="738188"/>
            <a:ext cx="6623050" cy="3725862"/>
          </a:xfrm>
          <a:ln/>
        </p:spPr>
      </p:sp>
      <p:sp>
        <p:nvSpPr>
          <p:cNvPr id="2" name="备注占位符 1"/>
          <p:cNvSpPr>
            <a:spLocks noGrp="1"/>
          </p:cNvSpPr>
          <p:nvPr>
            <p:ph type="body" idx="1"/>
          </p:nvPr>
        </p:nvSpPr>
        <p:spPr/>
        <p:txBody>
          <a:bodyPr/>
          <a:lstStyle/>
          <a:p>
            <a:pPr algn="l" rtl="0"/>
            <a:endParaRPr lang="zh-CN" altLang="en-US" dirty="0"/>
          </a:p>
        </p:txBody>
      </p:sp>
    </p:spTree>
    <p:extLst>
      <p:ext uri="{BB962C8B-B14F-4D97-AF65-F5344CB8AC3E}">
        <p14:creationId xmlns:p14="http://schemas.microsoft.com/office/powerpoint/2010/main" val="20499197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xfrm>
            <a:off x="584200" y="765175"/>
            <a:ext cx="5930900" cy="3336925"/>
          </a:xfrm>
          <a:ln/>
        </p:spPr>
      </p:sp>
      <p:sp>
        <p:nvSpPr>
          <p:cNvPr id="60419"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4239710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a:xfrm>
            <a:off x="584200" y="765175"/>
            <a:ext cx="5930900" cy="3336925"/>
          </a:xfrm>
          <a:ln/>
        </p:spPr>
      </p:sp>
      <p:sp>
        <p:nvSpPr>
          <p:cNvPr id="61443"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391979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xfrm>
            <a:off x="584200" y="765175"/>
            <a:ext cx="5930900" cy="3336925"/>
          </a:xfrm>
          <a:ln/>
        </p:spPr>
      </p:sp>
      <p:sp>
        <p:nvSpPr>
          <p:cNvPr id="62467"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2642373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备注占位符 2"/>
          <p:cNvSpPr>
            <a:spLocks noGrp="1"/>
          </p:cNvSpPr>
          <p:nvPr>
            <p:ph type="body" idx="1"/>
          </p:nvPr>
        </p:nvSpPr>
        <p:spPr/>
        <p:txBody>
          <a:bodyPr/>
          <a:lstStyle/>
          <a:p>
            <a:pPr algn="l" rtl="0"/>
            <a:r>
              <a:rPr lang="zh-CN" altLang="zh-CN">
                <a:sym typeface="FrutigerNext LT Regular" pitchFamily="34" charset="0"/>
              </a:rPr>
              <a:t>Contrôle de l'accessibilité du trafic : comme indiqué sur la figure, le service marketing n'est pas autorisé à accéder aux services financiers et de recherche et développement, et le siège social n'est pas autorisé à accéder au service de recherche et développement.</a:t>
            </a:r>
          </a:p>
          <a:p>
            <a:pPr algn="l" rtl="0"/>
            <a:r>
              <a:rPr lang="zh-CN" altLang="zh-CN">
                <a:sym typeface="FrutigerNext LT Regular" pitchFamily="34" charset="0"/>
              </a:rPr>
              <a:t>Optimisation des chemins de trafic réseau : Comme illustré, le protocole OSPF est utilisé pour calculer les routes. Les services marketing et finance accèdent au siège social par le chemin le plus court, même en cas de congestion. L’autre liaison reste inactive, entraînant un gaspillage de bande passante.</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345696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xfrm>
            <a:off x="584200" y="765175"/>
            <a:ext cx="5930900" cy="3336925"/>
          </a:xfrm>
          <a:ln/>
        </p:spPr>
      </p:sp>
      <p:sp>
        <p:nvSpPr>
          <p:cNvPr id="64515"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1097909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备注占位符 2"/>
          <p:cNvSpPr>
            <a:spLocks noGrp="1"/>
          </p:cNvSpPr>
          <p:nvPr>
            <p:ph type="body" idx="1"/>
          </p:nvPr>
        </p:nvSpPr>
        <p:spPr/>
        <p:txBody>
          <a:bodyPr/>
          <a:lstStyle/>
          <a:p>
            <a:pPr algn="l" rtl="0"/>
            <a:r>
              <a:rPr lang="zh-CN" altLang="zh-CN" dirty="0">
                <a:sym typeface="FrutigerNext LT Regular" pitchFamily="34" charset="0"/>
              </a:rPr>
              <a:t>Lors de la publication, de la réception et de l'importation de routes, la politique de routage met en œuvre certaines règles en fonction des exigences réelles du réseau afin de filtrer les routes et de modifier leurs attributs. Les objectifs des politiques de routage sont les suivants :</a:t>
            </a:r>
          </a:p>
          <a:p>
            <a:pPr lvl="1" algn="l" rtl="0"/>
            <a:r>
              <a:rPr lang="zh-CN" altLang="zh-CN" dirty="0">
                <a:sym typeface="FrutigerNext LT Regular" pitchFamily="34" charset="0"/>
              </a:rPr>
              <a:t>Publicité contrôlée des itinéraires : ne diffuse que les itinéraires correspondant à certaines conditions.</a:t>
            </a:r>
          </a:p>
          <a:p>
            <a:pPr lvl="1" algn="l" rtl="0"/>
            <a:r>
              <a:rPr lang="zh-CN" altLang="zh-CN" dirty="0">
                <a:sym typeface="FrutigerNext LT Regular" pitchFamily="34" charset="0"/>
              </a:rPr>
              <a:t>Contrôle de l'envoi et de la réception des routes : ne reçoit que les routes nécessaires et valides afin de contrôler la capacité de la table de routage, renforçant ainsi la sécurité du réseau.</a:t>
            </a:r>
          </a:p>
          <a:p>
            <a:pPr lvl="1" algn="l" rtl="0"/>
            <a:r>
              <a:rPr lang="zh-CN" altLang="zh-CN" dirty="0">
                <a:sym typeface="FrutigerNext LT Regular" pitchFamily="34" charset="0"/>
              </a:rPr>
              <a:t>Filtrer et contrôler les routes importées : n’importe que les routes répondant à certaines conditions.</a:t>
            </a:r>
            <a:r>
              <a:rPr lang="en-US" altLang="zh-CN" dirty="0">
                <a:sym typeface="FrutigerNext LT Regular" pitchFamily="34" charset="0"/>
              </a:rPr>
              <a:t>depuis</a:t>
            </a:r>
            <a:r>
              <a:rPr lang="zh-CN" altLang="zh-CN" dirty="0">
                <a:sym typeface="FrutigerNext LT Regular" pitchFamily="34" charset="0"/>
              </a:rPr>
              <a:t>d'autres protocoles de routage, et définit les attributs des routes importées.</a:t>
            </a:r>
          </a:p>
          <a:p>
            <a:pPr lvl="1" algn="l" rtl="0"/>
            <a:r>
              <a:rPr lang="zh-CN" altLang="zh-CN" dirty="0">
                <a:sym typeface="FrutigerNext LT Regular" pitchFamily="34" charset="0"/>
              </a:rPr>
              <a:t>Définir les attributs de route : définit les attributs des routes filtrées par la politique de routage.</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472854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备注占位符 2"/>
          <p:cNvSpPr>
            <a:spLocks noGrp="1"/>
          </p:cNvSpPr>
          <p:nvPr>
            <p:ph type="body" idx="1"/>
          </p:nvPr>
        </p:nvSpPr>
        <p:spPr/>
        <p:txBody>
          <a:bodyPr/>
          <a:lstStyle/>
          <a:p>
            <a:pPr algn="l" rtl="0"/>
            <a:r>
              <a:rPr lang="zh-CN" altLang="zh-CN">
                <a:sym typeface="FrutigerNext LT Regular" pitchFamily="34" charset="0"/>
              </a:rPr>
              <a:t>Les politiques de routage sont mises en œuvre selon les étapes suivantes :</a:t>
            </a:r>
          </a:p>
          <a:p>
            <a:pPr lvl="1" algn="l" rtl="0"/>
            <a:r>
              <a:rPr lang="zh-CN" altLang="zh-CN">
                <a:sym typeface="FrutigerNext LT Regular" pitchFamily="34" charset="0"/>
              </a:rPr>
              <a:t>Définir les attributs des informations de routage auxquels s'appliquent les politiques de routage. Définir un ensemble de règles de correspondance concernant</a:t>
            </a:r>
            <a:r>
              <a:rPr lang="en-US" altLang="zh-CN">
                <a:sym typeface="FrutigerNext LT Regular" pitchFamily="34" charset="0"/>
              </a:rPr>
              <a:t>divers</a:t>
            </a:r>
            <a:r>
              <a:rPr lang="zh-CN" altLang="zh-CN">
                <a:sym typeface="FrutigerNext LT Regular" pitchFamily="34" charset="0"/>
              </a:rPr>
              <a:t>attributs des informations de routage tels que l'adresse de destination et le numéro AS.</a:t>
            </a:r>
          </a:p>
          <a:p>
            <a:pPr lvl="1" algn="l" rtl="0"/>
            <a:r>
              <a:rPr lang="zh-CN" altLang="zh-CN">
                <a:sym typeface="FrutigerNext LT Regular" pitchFamily="34" charset="0"/>
              </a:rPr>
              <a:t>Appliquer des règles de correspondance pour acheminer la publicité, la réception et l'importation.</a:t>
            </a:r>
          </a:p>
          <a:p>
            <a:pPr algn="l" rtl="0"/>
            <a:r>
              <a:rPr lang="zh-CN" altLang="zh-CN">
                <a:sym typeface="FrutigerNext LT Regular" pitchFamily="34" charset="0"/>
              </a:rPr>
              <a:t>Actuellement, les filtres suivants sont disponibles pour les protocoles de routage :</a:t>
            </a:r>
          </a:p>
          <a:p>
            <a:pPr lvl="1" algn="l" rtl="0"/>
            <a:r>
              <a:rPr lang="zh-CN" altLang="zh-CN">
                <a:sym typeface="FrutigerNext LT Regular" pitchFamily="34" charset="0"/>
              </a:rPr>
              <a:t>ACL</a:t>
            </a:r>
          </a:p>
          <a:p>
            <a:pPr lvl="1" algn="l" rtl="0"/>
            <a:r>
              <a:rPr lang="zh-CN" altLang="zh-CN">
                <a:sym typeface="FrutigerNext LT Regular" pitchFamily="34" charset="0"/>
              </a:rPr>
              <a:t>liste de préfixes d'adresse</a:t>
            </a:r>
          </a:p>
          <a:p>
            <a:pPr lvl="1" algn="l" rtl="0"/>
            <a:r>
              <a:rPr lang="zh-CN" altLang="zh-CN">
                <a:sym typeface="FrutigerNext LT Regular" pitchFamily="34" charset="0"/>
              </a:rPr>
              <a:t>Filtre AS_Path</a:t>
            </a:r>
          </a:p>
          <a:p>
            <a:pPr lvl="1" algn="l" rtl="0"/>
            <a:r>
              <a:rPr lang="zh-CN" altLang="zh-CN">
                <a:sym typeface="FrutigerNext LT Regular" pitchFamily="34" charset="0"/>
              </a:rPr>
              <a:t>Filtre d'attributs communautaires</a:t>
            </a:r>
          </a:p>
          <a:p>
            <a:pPr lvl="1" algn="l" rtl="0"/>
            <a:r>
              <a:rPr lang="zh-CN" altLang="zh-CN">
                <a:sym typeface="FrutigerNext LT Regular" pitchFamily="34" charset="0"/>
              </a:rPr>
              <a:t>Filtre d'attributs de communauté étendue</a:t>
            </a:r>
          </a:p>
          <a:p>
            <a:pPr lvl="1" algn="l" rtl="0"/>
            <a:r>
              <a:rPr lang="zh-CN" altLang="zh-CN">
                <a:sym typeface="FrutigerNext LT Regular" pitchFamily="34" charset="0"/>
              </a:rPr>
              <a:t>Filtre RD</a:t>
            </a:r>
            <a:endParaRPr lang="zh-CN" altLang="zh-CN" dirty="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621442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a:xfrm>
            <a:off x="584200" y="765175"/>
            <a:ext cx="5930900" cy="3336925"/>
          </a:xfrm>
          <a:ln/>
        </p:spPr>
      </p:sp>
      <p:sp>
        <p:nvSpPr>
          <p:cNvPr id="67587" name="备注占位符 2"/>
          <p:cNvSpPr>
            <a:spLocks noGrp="1"/>
          </p:cNvSpPr>
          <p:nvPr>
            <p:ph type="body" idx="1"/>
          </p:nvPr>
        </p:nvSpPr>
        <p:spPr>
          <a:noFill/>
          <a:ln/>
        </p:spPr>
        <p:txBody>
          <a:bodyPr/>
          <a:lstStyle/>
          <a:p>
            <a:pPr algn="l" rtl="0" hangingPunct="1"/>
            <a:r>
              <a:rPr lang="zh-CN" altLang="zh-CN" dirty="0">
                <a:solidFill>
                  <a:srgbClr val="000000"/>
                </a:solidFill>
                <a:latin typeface="FrutigerNext LT Regular"/>
                <a:sym typeface="FrutigerNext LT Regular" pitchFamily="34" charset="0"/>
              </a:rPr>
              <a:t>Une liste de contrôle d'accès (ACL) est composée d'une série de règles. Chaque règle contient une clause d'autorisation ou de refus. Ces règles définissent les paquets et les informations qu'ils contiennent.</a:t>
            </a:r>
          </a:p>
          <a:p>
            <a:pPr algn="l" rtl="0" hangingPunct="1"/>
            <a:r>
              <a:rPr lang="zh-CN" altLang="zh-CN" dirty="0">
                <a:solidFill>
                  <a:srgbClr val="000000"/>
                </a:solidFill>
                <a:latin typeface="FrutigerNext LT Regular"/>
                <a:sym typeface="FrutigerNext LT Regular" pitchFamily="34" charset="0"/>
              </a:rPr>
              <a:t>Classification du LCA :</a:t>
            </a:r>
          </a:p>
          <a:p>
            <a:pPr lvl="1" algn="l" rtl="0" hangingPunct="1">
              <a:buFont typeface="Wingdings" pitchFamily="2" charset="2"/>
              <a:buChar char="p"/>
            </a:pPr>
            <a:r>
              <a:rPr lang="zh-CN" altLang="zh-CN" dirty="0">
                <a:solidFill>
                  <a:srgbClr val="000000"/>
                </a:solidFill>
                <a:latin typeface="FrutigerNext LT Regular"/>
                <a:sym typeface="FrutigerNext LT Regular" pitchFamily="34" charset="0"/>
              </a:rPr>
              <a:t>Liste de contrôle d'accès (ACL) de base : compare les paquets à l'adresse source, à l'indicateur de fragmentation et à la plage horaire. Le numéro de l'ACL est compris entre 2000 et 2999.</a:t>
            </a:r>
          </a:p>
          <a:p>
            <a:pPr lvl="1" algn="l" rtl="0" hangingPunct="1">
              <a:lnSpc>
                <a:spcPct val="100000"/>
              </a:lnSpc>
              <a:buFont typeface="Wingdings" pitchFamily="2" charset="2"/>
              <a:buChar char="p"/>
            </a:pPr>
            <a:r>
              <a:rPr lang="zh-CN" altLang="zh-CN" dirty="0">
                <a:solidFill>
                  <a:srgbClr val="000000"/>
                </a:solidFill>
                <a:latin typeface="FrutigerNext LT Regular"/>
                <a:sym typeface="FrutigerNext LT Regular" pitchFamily="34" charset="0"/>
              </a:rPr>
              <a:t>Liste de contrôle d'accès avancée : compare les paquets en fonction de l'adresse source, de l'adresse de destination, du numéro de port source, du numéro de port de destination, du type de protocole, de la priorité et de la plage horaire. Le numéro de la liste de contrôle d'accès est compris entre 3000 et 3999.</a:t>
            </a:r>
          </a:p>
          <a:p>
            <a:pPr lvl="1" algn="l" rtl="0" hangingPunct="1">
              <a:buFont typeface="Wingdings" pitchFamily="2" charset="2"/>
              <a:buChar char="p"/>
            </a:pPr>
            <a:r>
              <a:rPr lang="zh-CN" altLang="zh-CN" dirty="0">
                <a:solidFill>
                  <a:srgbClr val="000000"/>
                </a:solidFill>
                <a:latin typeface="FrutigerNext LT Regular"/>
                <a:sym typeface="FrutigerNext LT Regular" pitchFamily="34" charset="0"/>
              </a:rPr>
              <a:t>Liste de contrôle d'accès (ACL) de couche 2 : compare les paquets à l'adresse MAC source, à l'adresse MAC de destination et au type de paquet. Le numéro de l'ACL est compris entre 4000 et 4999.</a:t>
            </a:r>
          </a:p>
          <a:p>
            <a:pPr lvl="1" algn="l" rtl="0" hangingPunct="1">
              <a:buFont typeface="Wingdings" pitchFamily="2" charset="2"/>
              <a:buChar char="p"/>
            </a:pPr>
            <a:r>
              <a:rPr lang="zh-CN" altLang="zh-CN" dirty="0">
                <a:solidFill>
                  <a:srgbClr val="000000"/>
                </a:solidFill>
                <a:latin typeface="FrutigerNext LT Regular"/>
                <a:sym typeface="FrutigerNext LT Regular" pitchFamily="34" charset="0"/>
              </a:rPr>
              <a:t>Liste de contrôle d'accès (ACL) définie par l'utilisateur : compare les paquets aux règles définies par l'utilisateur. Le numéro de l'ACL est compris entre 5000 et 5999.</a:t>
            </a:r>
          </a:p>
          <a:p>
            <a:pPr algn="l" rtl="0" hangingPunct="1">
              <a:spcAft>
                <a:spcPts val="575"/>
              </a:spcAft>
            </a:pPr>
            <a:r>
              <a:rPr lang="zh-CN" altLang="zh-CN" dirty="0">
                <a:solidFill>
                  <a:srgbClr val="000000"/>
                </a:solidFill>
                <a:latin typeface="FrutigerNext LT Regular"/>
                <a:sym typeface="FrutigerNext LT Regular" pitchFamily="34" charset="0"/>
              </a:rPr>
              <a:t>Une liste de contrôle d'accès (ACL) peut comporter plusieurs clauses d'autorisation ou de refus. Chaque clause décrit une règle. À la réception des paquets de données, le périphérique les compare à la première règle de l'ACL. Si les paquets ne correspondent à aucune règle, il les compare à la règle suivante. Dès qu'un paquet correspond à une règle, le périphérique exécute l'action correspondante et ne procède plus à aucune autre comparaison. Si les paquets ne correspondent à aucune règle, le périphérique les transmet directement.</a:t>
            </a:r>
          </a:p>
        </p:txBody>
      </p:sp>
    </p:spTree>
    <p:extLst>
      <p:ext uri="{BB962C8B-B14F-4D97-AF65-F5344CB8AC3E}">
        <p14:creationId xmlns:p14="http://schemas.microsoft.com/office/powerpoint/2010/main" val="1357893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583903" y="765175"/>
            <a:ext cx="5931494" cy="8960643"/>
          </a:xfrm>
        </p:spPr>
        <p:txBody>
          <a:bodyPr/>
          <a:lstStyle/>
          <a:p>
            <a:pPr algn="l" rtl="0"/>
            <a:r>
              <a:rPr lang="en-US" altLang="zh-CN" dirty="0"/>
              <a:t>Remarque : Les règles ACL peuvent se chevaucher ou entrer en conflit. L’ordre de correspondance des règles détermine leur priorité. L’ACL traite les chevauchements et les conflits de règles en fonction de cette priorité.</a:t>
            </a:r>
          </a:p>
          <a:p>
            <a:pPr algn="l" rtl="0"/>
            <a:endParaRPr lang="zh-CN" altLang="en-US" dirty="0"/>
          </a:p>
        </p:txBody>
      </p:sp>
    </p:spTree>
    <p:extLst>
      <p:ext uri="{BB962C8B-B14F-4D97-AF65-F5344CB8AC3E}">
        <p14:creationId xmlns:p14="http://schemas.microsoft.com/office/powerpoint/2010/main" val="15114432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a:xfrm>
            <a:off x="584200" y="765175"/>
            <a:ext cx="5930900" cy="3336925"/>
          </a:xfrm>
          <a:ln/>
        </p:spPr>
      </p:sp>
      <p:sp>
        <p:nvSpPr>
          <p:cNvPr id="68611" name="备注占位符 2"/>
          <p:cNvSpPr>
            <a:spLocks noGrp="1"/>
          </p:cNvSpPr>
          <p:nvPr>
            <p:ph type="body" idx="1"/>
          </p:nvPr>
        </p:nvSpPr>
        <p:spPr>
          <a:noFill/>
          <a:ln/>
        </p:spPr>
        <p:txBody>
          <a:bodyPr/>
          <a:lstStyle/>
          <a:p>
            <a:pPr algn="l" rtl="0" hangingPunct="1"/>
            <a:endParaRPr lang="en-US" altLang="zh-CN" dirty="0">
              <a:latin typeface="FrutigerNext LT Regular"/>
            </a:endParaRPr>
          </a:p>
        </p:txBody>
      </p:sp>
    </p:spTree>
    <p:extLst>
      <p:ext uri="{BB962C8B-B14F-4D97-AF65-F5344CB8AC3E}">
        <p14:creationId xmlns:p14="http://schemas.microsoft.com/office/powerpoint/2010/main" val="359705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a:xfrm>
            <a:off x="584200" y="765175"/>
            <a:ext cx="5930900" cy="3336925"/>
          </a:xfrm>
          <a:ln/>
        </p:spPr>
      </p:sp>
      <p:sp>
        <p:nvSpPr>
          <p:cNvPr id="69635" name="备注占位符 2"/>
          <p:cNvSpPr>
            <a:spLocks noGrp="1"/>
          </p:cNvSpPr>
          <p:nvPr>
            <p:ph type="body" idx="1"/>
          </p:nvPr>
        </p:nvSpPr>
        <p:spPr>
          <a:noFill/>
          <a:ln/>
        </p:spPr>
        <p:txBody>
          <a:bodyPr/>
          <a:lstStyle/>
          <a:p>
            <a:pPr algn="l" rtl="0" hangingPunct="1"/>
            <a:endParaRPr lang="en-US" altLang="zh-CN" dirty="0">
              <a:latin typeface="FrutigerNext LT Regular"/>
            </a:endParaRPr>
          </a:p>
        </p:txBody>
      </p:sp>
    </p:spTree>
    <p:extLst>
      <p:ext uri="{BB962C8B-B14F-4D97-AF65-F5344CB8AC3E}">
        <p14:creationId xmlns:p14="http://schemas.microsoft.com/office/powerpoint/2010/main" val="147345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备注占位符 2"/>
          <p:cNvSpPr>
            <a:spLocks noGrp="1"/>
          </p:cNvSpPr>
          <p:nvPr>
            <p:ph type="body" idx="1"/>
          </p:nvPr>
        </p:nvSpPr>
        <p:spPr/>
        <p:txBody>
          <a:bodyPr/>
          <a:lstStyle/>
          <a:p>
            <a:pPr algn="l" rtl="0"/>
            <a:r>
              <a:rPr lang="zh-CN" altLang="zh-CN" dirty="0">
                <a:sym typeface="FrutigerNext LT Regular" pitchFamily="34" charset="0"/>
              </a:rPr>
              <a:t>La liste de préfixes IP est la liste des préfixes d'adresse. Cette liste filtre les routes en fonction de la liste de filtres de préfixes définie.</a:t>
            </a:r>
          </a:p>
          <a:p>
            <a:pPr algn="l" rtl="0"/>
            <a:r>
              <a:rPr lang="zh-CN" altLang="zh-CN" dirty="0">
                <a:sym typeface="FrutigerNext LT Regular" pitchFamily="34" charset="0"/>
              </a:rPr>
              <a:t>Format et règle de correspondance de la liste des préfixes :</a:t>
            </a:r>
          </a:p>
          <a:p>
            <a:pPr lvl="1" algn="l" rtl="0"/>
            <a:r>
              <a:rPr lang="zh-CN" altLang="zh-CN" dirty="0">
                <a:sym typeface="FrutigerNext LT Regular" pitchFamily="34" charset="0"/>
              </a:rPr>
              <a:t>La liste de filtres de préfixe comprend des adresses IP et des masques. Une adresse IP peut être une adresse de sous-réseau ou une adresse d'hôte. La longueur du masque est comprise entre 0 et 32 ​​caractères.</a:t>
            </a:r>
          </a:p>
          <a:p>
            <a:pPr lvl="1" algn="l" rtl="0"/>
            <a:r>
              <a:rPr lang="zh-CN" altLang="zh-CN" dirty="0">
                <a:sym typeface="FrutigerNext LT Regular" pitchFamily="34" charset="0"/>
              </a:rPr>
              <a:t>Chaque préfixe IP de la liste possède un index. Les préfixes IP sont traités par ordre croissant d'index.</a:t>
            </a:r>
          </a:p>
          <a:p>
            <a:pPr lvl="1" algn="l" rtl="0"/>
            <a:r>
              <a:rPr lang="zh-CN" altLang="zh-CN" dirty="0">
                <a:sym typeface="FrutigerNext LT Regular" pitchFamily="34" charset="0"/>
              </a:rPr>
              <a:t>Si les index ne sont pas définis manuellement, le périphérique attribue des index aux préfixes IP avec un intervalle de 10. Si un nouveau préfixe IP a le même nom et le même index qu'un préfixe IP existant, mais que leur contenu est différent, le nouveau préfixe IP écrase l'ancien.</a:t>
            </a:r>
          </a:p>
          <a:p>
            <a:pPr lvl="1" algn="l" rtl="0"/>
            <a:r>
              <a:rPr lang="zh-CN" altLang="zh-CN" dirty="0">
                <a:sym typeface="FrutigerNext LT Regular" pitchFamily="34" charset="0"/>
              </a:rPr>
              <a:t>Si aucun préfixe IP ne correspond, le mode de correspondance par défaut du dernier préfixe IP est « refuser ». Si aucune liste de préfixes IP de référence n'existe, le mode « autoriser » est utilisé.</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289070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583903" y="765175"/>
            <a:ext cx="5931494" cy="8960643"/>
          </a:xfrm>
        </p:spPr>
        <p:txBody>
          <a:bodyPr/>
          <a:lstStyle/>
          <a:p>
            <a:pPr algn="l" rtl="0"/>
            <a:r>
              <a:rPr lang="en-US" altLang="zh-CN" dirty="0"/>
              <a:t>Plage de longueur du masque de préfixe :</a:t>
            </a:r>
          </a:p>
          <a:p>
            <a:pPr algn="l" rtl="0"/>
            <a:r>
              <a:rPr lang="en-US" altLang="zh-CN" dirty="0"/>
              <a:t>La liste de préfixes IP peut correspondre à une route spécifique ou aux routes dont la longueur de masque est comprise dans une certaine plage. La longueur du masque de préfixe peut également être spécifiée à l'aide des mots clés `great-equal` ou `less-equal`. Si ces mots clés ne sont pas spécifiés, la correspondance exacte est utilisée : seules les routes dont la longueur de masque correspond à celle de la liste de préfixes sont prises en compte. Si le mot clé `great-equal` est spécifié, les routes dont la longueur de masque est comprise entre la valeur spécifiée et 32 bits sont prises en compte. Si le mot clé `less-equal` est spécifié, les routes dont la longueur de masque est comprise entre la valeur spécifiée et la valeur spécifiée sont prises en compte.</a:t>
            </a:r>
          </a:p>
          <a:p>
            <a:pPr algn="l" rtl="0"/>
            <a:endParaRPr lang="zh-CN" altLang="en-US" dirty="0"/>
          </a:p>
        </p:txBody>
      </p:sp>
    </p:spTree>
    <p:extLst>
      <p:ext uri="{BB962C8B-B14F-4D97-AF65-F5344CB8AC3E}">
        <p14:creationId xmlns:p14="http://schemas.microsoft.com/office/powerpoint/2010/main" val="14693684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pPr algn="l" rtl="0"/>
            <a:endParaRPr lang="zh-CN" altLang="en-US"/>
          </a:p>
        </p:txBody>
      </p:sp>
    </p:spTree>
    <p:extLst>
      <p:ext uri="{BB962C8B-B14F-4D97-AF65-F5344CB8AC3E}">
        <p14:creationId xmlns:p14="http://schemas.microsoft.com/office/powerpoint/2010/main" val="3285110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备注占位符 2"/>
          <p:cNvSpPr>
            <a:spLocks noGrp="1"/>
          </p:cNvSpPr>
          <p:nvPr>
            <p:ph type="body" idx="1"/>
          </p:nvPr>
        </p:nvSpPr>
        <p:spPr/>
        <p:txBody>
          <a:bodyPr/>
          <a:lstStyle/>
          <a:p>
            <a:pPr algn="l" rtl="0"/>
            <a:r>
              <a:rPr lang="zh-CN" altLang="zh-CN" dirty="0">
                <a:sym typeface="FrutigerNext LT Regular" pitchFamily="34" charset="0"/>
              </a:rPr>
              <a:t>Les outils de filtrage des protocoles peuvent faire référence aux listes de contrôle d'accès (ACL) ou aux listes de préfixes d'adresses pour filtrer les routes reçues, annoncées et importées.</a:t>
            </a:r>
          </a:p>
          <a:p>
            <a:pPr algn="l" rtl="0"/>
            <a:r>
              <a:rPr lang="zh-CN" altLang="zh-CN" dirty="0">
                <a:sym typeface="FrutigerNext LT Regular" pitchFamily="34" charset="0"/>
              </a:rPr>
              <a:t>Pour un protocole à vecteur de distance et un protocole à état de liens, le fonctionnement des outils de politique de filtrage est différent :</a:t>
            </a:r>
          </a:p>
          <a:p>
            <a:pPr lvl="1" algn="l" rtl="0"/>
            <a:r>
              <a:rPr lang="zh-CN" altLang="zh-CN" dirty="0">
                <a:sym typeface="FrutigerNext LT Regular" pitchFamily="34" charset="0"/>
              </a:rPr>
              <a:t>Le protocole de vecteur de distance génère des routes en fonction de la table de routage ; le filtre affectera donc les routes reçues des voisins et envoyées à ceux-ci.</a:t>
            </a:r>
          </a:p>
          <a:p>
            <a:pPr lvl="1" algn="l" rtl="0"/>
            <a:r>
              <a:rPr lang="zh-CN" altLang="zh-CN" dirty="0">
                <a:sym typeface="FrutigerNext LT Regular" pitchFamily="34" charset="0"/>
              </a:rPr>
              <a:t>Le protocole à état de liens génère des routes en fonction de l'état des liens, les informations de routage étant encapsulées dans l'LSA (Link State Adressable Name) associé. Cependant, la politique de filtrage ne peut pas filtrer les LSA annoncés et reçus. Par conséquent, elle n'affecte ni l'annonce de l'état des liens, ni son intégrité, ni la table de routage. Elle n'affecte que la table de routage locale. Seules les routes filtrées peuvent y être ajoutées.</a:t>
            </a:r>
          </a:p>
          <a:p>
            <a:pPr lvl="1" algn="l" rtl="0"/>
            <a:r>
              <a:rPr lang="zh-CN" altLang="zh-CN" dirty="0">
                <a:sym typeface="FrutigerNext LT Regular" pitchFamily="34" charset="0"/>
              </a:rPr>
              <a:t>Les routes annoncées par la commande filter-policy export des différents protocoles sont différentes :</a:t>
            </a:r>
          </a:p>
          <a:p>
            <a:pPr lvl="2" algn="l" rtl="0"/>
            <a:r>
              <a:rPr lang="zh-CN" altLang="zh-CN" dirty="0">
                <a:sym typeface="FrutigerNext LT Regular" pitchFamily="34" charset="0"/>
              </a:rPr>
              <a:t>Les routes importées ou découvertes par le protocole DV sont filtrées.</a:t>
            </a:r>
          </a:p>
          <a:p>
            <a:pPr lvl="2" algn="l" rtl="0"/>
            <a:r>
              <a:rPr lang="zh-CN" altLang="zh-CN" dirty="0">
                <a:sym typeface="FrutigerNext LT Regular" pitchFamily="34" charset="0"/>
              </a:rPr>
              <a:t>Seules les routes importées dans le protocole d'état des liens sont filtrées.</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5998516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xfrm>
            <a:off x="584200" y="765175"/>
            <a:ext cx="5930900" cy="3336925"/>
          </a:xfrm>
          <a:ln/>
        </p:spPr>
      </p:sp>
      <p:sp>
        <p:nvSpPr>
          <p:cNvPr id="73731" name="备注占位符 2"/>
          <p:cNvSpPr>
            <a:spLocks noGrp="1"/>
          </p:cNvSpPr>
          <p:nvPr>
            <p:ph type="body" idx="1"/>
          </p:nvPr>
        </p:nvSpPr>
        <p:spPr>
          <a:noFill/>
          <a:ln/>
        </p:spPr>
        <p:txBody>
          <a:bodyPr/>
          <a:lstStyle/>
          <a:p>
            <a:pPr algn="l" rtl="0" hangingPunct="1"/>
            <a:r>
              <a:rPr lang="zh-CN" altLang="zh-CN">
                <a:solidFill>
                  <a:srgbClr val="000000"/>
                </a:solidFill>
                <a:latin typeface="FrutigerNext LT Regular"/>
                <a:sym typeface="FrutigerNext LT Regular" pitchFamily="34" charset="0"/>
              </a:rPr>
              <a:t>Chaque nœud de la politique de routage est en mode d'autorisation ou de refus. Si un nœud est en mode d'autorisation, lorsqu'une route remplit toutes les conditions de correspondance de ce nœud, elle est autorisée et la clause d'application correspondante est exécutée ; le nœud suivant n'est pas traité. Si une route ne remplit aucune condition de correspondance, le nœud suivant est traité pour le filtrage des routes. Si un nœud est en mode de refus, lorsqu'une route remplit toutes les conditions de correspondance, elle est interdite et la clause d'application correspondante n'est pas exécutée ; le nœud suivant n'est pas traité. Sinon, le nœud suivant est traité pour le filtrage des routes.</a:t>
            </a:r>
          </a:p>
        </p:txBody>
      </p:sp>
    </p:spTree>
    <p:extLst>
      <p:ext uri="{BB962C8B-B14F-4D97-AF65-F5344CB8AC3E}">
        <p14:creationId xmlns:p14="http://schemas.microsoft.com/office/powerpoint/2010/main" val="810207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备注占位符 2"/>
          <p:cNvSpPr>
            <a:spLocks noGrp="1"/>
          </p:cNvSpPr>
          <p:nvPr>
            <p:ph type="body" idx="1"/>
          </p:nvPr>
        </p:nvSpPr>
        <p:spPr/>
        <p:txBody>
          <a:bodyPr/>
          <a:lstStyle/>
          <a:p>
            <a:pPr algn="l" rtl="0"/>
            <a:r>
              <a:rPr lang="zh-CN" altLang="zh-CN">
                <a:sym typeface="FrutigerNext LT Regular" pitchFamily="34" charset="0"/>
              </a:rPr>
              <a:t>Pref1 correspond à 5.5.5.5/32 ou 1.1.2.0/24. Ils seront filtrés (refusés) par le nœud 10 de la politique de routage RP, donc le tableau 2 ne contient pas 5.5.5.5/32 et 1.1.2.0/24.</a:t>
            </a:r>
          </a:p>
          <a:p>
            <a:pPr algn="l" rtl="0"/>
            <a:r>
              <a:rPr lang="zh-CN" altLang="zh-CN">
                <a:sym typeface="FrutigerNext LT Regular" pitchFamily="34" charset="0"/>
              </a:rPr>
              <a:t>Pref2 bloque (refuse) l'adresse IP 6.6.6.6/32. Bien que le nœud 20 de la stratégie de routage RP corresponde à l'autorisation, l'adresse IP 6.6.6.6/32 est tout de même bloquée. Par conséquent, le tableau 2 ne contient pas l'adresse IP 6.6.6.6/32.</a:t>
            </a:r>
          </a:p>
          <a:p>
            <a:pPr algn="l" rtl="0"/>
            <a:r>
              <a:rPr lang="zh-CN" altLang="zh-CN">
                <a:sym typeface="FrutigerNext LT Regular" pitchFamily="34" charset="0"/>
              </a:rPr>
              <a:t>Le nœud 30 de la politique de routage RP définit deux clauses if-match, correspondant aux ACL 2001 et 2002. Les routes correspondant à l'ACL 2001 incluent 1.1.3.0/24 (prochain saut 34.34.34.2), 1.1.3.0/24 (prochain saut 13.13.13.1), 1.1.3.0/25 (prochain saut 34.34.34.2) et 1.1.3.0/25 (prochain saut 13.13.13.1). Les routes 1.1.3.0/24 (prochain saut 13.13.13.1) et 1.1.3.0/25 (prochain saut 13.13.13.1) correspondent aux listes de contrôle d'accès (ACL) 2001 et 2002. Par conséquent, les valeurs de coût de 1.1.3.0/24 (prochain saut 13.13.13.1) et 1.1.3.0/25 (prochain saut 13.13.13.1) sont modifiées à 21.</a:t>
            </a:r>
          </a:p>
          <a:p>
            <a:pPr algn="l" rtl="0"/>
            <a:r>
              <a:rPr lang="zh-CN" altLang="zh-CN">
                <a:sym typeface="FrutigerNext LT Regular" pitchFamily="34" charset="0"/>
              </a:rPr>
              <a:t>Les routes 1.1.3.0/24 (prochain saut : 34.34.34.2) et 1.1.3.0/25 (prochain saut : 34.34.34.2) sont comparées au nœud 40 dans la politique de routage RP. La route 1.1.3.0/25 correspond à la préférence 3 ; par conséquent, son coût est modifié et passe à 11.</a:t>
            </a:r>
          </a:p>
          <a:p>
            <a:pPr algn="l" rtl="0"/>
            <a:r>
              <a:rPr lang="zh-CN" altLang="zh-CN">
                <a:sym typeface="FrutigerNext LT Regular" pitchFamily="34" charset="0"/>
              </a:rPr>
              <a:t>Ensuite, la route 1.1.3.0/24 (prochain saut 34.34.34.2) correspond au nœud 50 dans la politique de routage RP.</a:t>
            </a:r>
            <a:endParaRPr lang="zh-CN" altLang="zh-CN" dirty="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2589199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xfrm>
            <a:off x="584200" y="765175"/>
            <a:ext cx="5930900" cy="3336925"/>
          </a:xfrm>
          <a:ln/>
        </p:spPr>
      </p:sp>
      <p:sp>
        <p:nvSpPr>
          <p:cNvPr id="75779"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2021900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备注占位符 2"/>
          <p:cNvSpPr>
            <a:spLocks noGrp="1"/>
          </p:cNvSpPr>
          <p:nvPr>
            <p:ph type="body" idx="1"/>
          </p:nvPr>
        </p:nvSpPr>
        <p:spPr/>
        <p:txBody>
          <a:bodyPr/>
          <a:lstStyle/>
          <a:p>
            <a:pPr algn="l" rtl="0"/>
            <a:r>
              <a:rPr lang="zh-CN" altLang="zh-CN">
                <a:sym typeface="FrutigerNext LT Regular" pitchFamily="34" charset="0"/>
              </a:rPr>
              <a:t>RTA peut également utiliser la politique de routage pour contrôler les itinéraires :</a:t>
            </a:r>
          </a:p>
          <a:p>
            <a:pPr lvl="1" algn="l" rtl="0"/>
            <a:r>
              <a:rPr lang="zh-CN" altLang="zh-CN">
                <a:sym typeface="FrutigerNext LT Regular" pitchFamily="34" charset="0"/>
              </a:rPr>
              <a:t>acl 2000</a:t>
            </a:r>
          </a:p>
          <a:p>
            <a:pPr lvl="2" algn="l" rtl="0"/>
            <a:r>
              <a:rPr lang="zh-CN" altLang="zh-CN">
                <a:sym typeface="FrutigerNext LT Regular" pitchFamily="34" charset="0"/>
              </a:rPr>
              <a:t>règle 0 autoriser la source 10.1.1.0 0.0.0.255</a:t>
            </a:r>
          </a:p>
          <a:p>
            <a:pPr lvl="2" algn="l" rtl="0"/>
            <a:r>
              <a:rPr lang="zh-CN" altLang="zh-CN">
                <a:sym typeface="FrutigerNext LT Regular" pitchFamily="34" charset="0"/>
              </a:rPr>
              <a:t>règle 5 autoriser la source 10.1.3.0 0.0.0.255</a:t>
            </a:r>
          </a:p>
          <a:p>
            <a:pPr lvl="1" algn="l" rtl="0"/>
            <a:r>
              <a:rPr lang="zh-CN" altLang="zh-CN">
                <a:sym typeface="FrutigerNext LT Regular" pitchFamily="34" charset="0"/>
              </a:rPr>
              <a:t>politique de routage huawei-control autoriser le nœud 10</a:t>
            </a:r>
          </a:p>
          <a:p>
            <a:pPr lvl="2" algn="l" rtl="0"/>
            <a:r>
              <a:rPr lang="zh-CN" altLang="zh-CN">
                <a:sym typeface="FrutigerNext LT Regular" pitchFamily="34" charset="0"/>
              </a:rPr>
              <a:t>if-match acl 2000</a:t>
            </a:r>
          </a:p>
          <a:p>
            <a:pPr lvl="1" algn="l" rtl="0"/>
            <a:r>
              <a:rPr lang="zh-CN" altLang="zh-CN">
                <a:sym typeface="FrutigerNext LT Regular" pitchFamily="34" charset="0"/>
              </a:rPr>
              <a:t>ospf 1</a:t>
            </a:r>
          </a:p>
          <a:p>
            <a:pPr lvl="2" algn="l" rtl="0"/>
            <a:r>
              <a:rPr lang="zh-CN" altLang="zh-CN">
                <a:sym typeface="FrutigerNext LT Regular" pitchFamily="34" charset="0"/>
              </a:rPr>
              <a:t>import-route direct route-police de routage huawei-control</a:t>
            </a:r>
            <a:endParaRPr lang="zh-CN" altLang="zh-CN" dirty="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898929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备注占位符 2"/>
          <p:cNvSpPr>
            <a:spLocks noGrp="1"/>
          </p:cNvSpPr>
          <p:nvPr>
            <p:ph type="body" idx="1"/>
          </p:nvPr>
        </p:nvSpPr>
        <p:spPr/>
        <p:txBody>
          <a:bodyPr/>
          <a:lstStyle/>
          <a:p>
            <a:pPr algn="l" rtl="0"/>
            <a:r>
              <a:rPr lang="zh-CN" altLang="zh-CN">
                <a:sym typeface="FrutigerNext LT Regular" pitchFamily="34" charset="0"/>
              </a:rPr>
              <a:t>Remarque : Les informations précédentes font partie des informations clés.</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4166247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xfrm>
            <a:off x="584200" y="765175"/>
            <a:ext cx="5930900" cy="3336925"/>
          </a:xfrm>
          <a:ln/>
        </p:spPr>
      </p:sp>
      <p:sp>
        <p:nvSpPr>
          <p:cNvPr id="78851"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9623924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a:xfrm>
            <a:off x="584200" y="765175"/>
            <a:ext cx="5930900" cy="3336925"/>
          </a:xfrm>
          <a:ln/>
        </p:spPr>
      </p:sp>
      <p:sp>
        <p:nvSpPr>
          <p:cNvPr id="79875" name="备注占位符 2"/>
          <p:cNvSpPr>
            <a:spLocks noGrp="1"/>
          </p:cNvSpPr>
          <p:nvPr>
            <p:ph type="body" idx="1"/>
          </p:nvPr>
        </p:nvSpPr>
        <p:spPr>
          <a:noFill/>
          <a:ln/>
        </p:spPr>
        <p:txBody>
          <a:bodyPr/>
          <a:lstStyle/>
          <a:p>
            <a:pPr algn="l" rtl="0" hangingPunct="1"/>
            <a:endParaRPr lang="zh-CN" altLang="zh-CN">
              <a:latin typeface="FrutigerNext LT Regular"/>
            </a:endParaRPr>
          </a:p>
        </p:txBody>
      </p:sp>
    </p:spTree>
    <p:extLst>
      <p:ext uri="{BB962C8B-B14F-4D97-AF65-F5344CB8AC3E}">
        <p14:creationId xmlns:p14="http://schemas.microsoft.com/office/powerpoint/2010/main" val="22687263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备注占位符 2"/>
          <p:cNvSpPr>
            <a:spLocks noGrp="1"/>
          </p:cNvSpPr>
          <p:nvPr>
            <p:ph type="body" idx="1"/>
          </p:nvPr>
        </p:nvSpPr>
        <p:spPr/>
        <p:txBody>
          <a:bodyPr/>
          <a:lstStyle/>
          <a:p>
            <a:pPr algn="l" rtl="0"/>
            <a:r>
              <a:rPr lang="en-US" altLang="zh-CN" dirty="0">
                <a:sym typeface="FrutigerNext LT Regular" pitchFamily="34" charset="0"/>
              </a:rPr>
              <a:t>Selon les résultats du test, un</a:t>
            </a:r>
            <a:r>
              <a:rPr lang="zh-CN" altLang="zh-CN" dirty="0">
                <a:sym typeface="FrutigerNext LT Regular" pitchFamily="34" charset="0"/>
              </a:rPr>
              <a:t>après</a:t>
            </a:r>
            <a:r>
              <a:rPr lang="en-US" altLang="zh-CN" dirty="0"/>
              <a:t>Filtre de trafic</a:t>
            </a:r>
            <a:r>
              <a:rPr lang="zh-CN" altLang="zh-CN" dirty="0">
                <a:sym typeface="FrutigerNext LT Regular" pitchFamily="34" charset="0"/>
              </a:rPr>
              <a:t> est</a:t>
            </a:r>
            <a:r>
              <a:rPr lang="en-US" altLang="zh-CN" dirty="0">
                <a:sym typeface="FrutigerNext LT Regular" pitchFamily="34" charset="0"/>
              </a:rPr>
              <a:t>configuré</a:t>
            </a:r>
            <a:r>
              <a:rPr lang="zh-CN" altLang="zh-CN" dirty="0">
                <a:sym typeface="FrutigerNext LT Regular" pitchFamily="34" charset="0"/>
              </a:rPr>
              <a:t>La table de routage du centre de traitement des données (RTC) contient les routes sur l'ensemble du réseau. Le service marketing ne peut pas accéder aux services financiers et de recherche et développement, mais peut accéder aux autres services. La table de routage du centre de données de recherche et développement (RTD) contient également les routes sur l'ensemble du réseau. Le siège social ne peut pas accéder au service de recherche et développement, mais peut accéder aux autres services.</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554914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a:xfrm>
            <a:off x="584200" y="765175"/>
            <a:ext cx="5930900" cy="3336925"/>
          </a:xfrm>
          <a:ln/>
        </p:spPr>
      </p:sp>
      <p:sp>
        <p:nvSpPr>
          <p:cNvPr id="81923"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9166114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备注占位符 2"/>
          <p:cNvSpPr>
            <a:spLocks noGrp="1"/>
          </p:cNvSpPr>
          <p:nvPr>
            <p:ph type="body" idx="1"/>
          </p:nvPr>
        </p:nvSpPr>
        <p:spPr/>
        <p:txBody>
          <a:bodyPr/>
          <a:lstStyle/>
          <a:p>
            <a:pPr algn="l" rtl="0"/>
            <a:r>
              <a:rPr lang="zh-CN" altLang="zh-CN">
                <a:sym typeface="FrutigerNext LT Regular" pitchFamily="34" charset="0"/>
              </a:rPr>
              <a:t>Vous pouvez modifier les attributs du protocole pour contrôler le routage.</a:t>
            </a:r>
            <a:r>
              <a:rPr lang="en-US" altLang="zh-CN">
                <a:sym typeface="FrutigerNext LT Regular" pitchFamily="34" charset="0"/>
              </a:rPr>
              <a:t>tableau</a:t>
            </a:r>
            <a:r>
              <a:rPr lang="zh-CN" altLang="zh-CN">
                <a:sym typeface="FrutigerNext LT Regular" pitchFamily="34" charset="0"/>
              </a:rPr>
              <a:t>entrées, affectant la circulation :</a:t>
            </a:r>
            <a:endParaRPr lang="en-US" altLang="zh-CN">
              <a:sym typeface="FrutigerNext LT Regular" pitchFamily="34" charset="0"/>
            </a:endParaRPr>
          </a:p>
          <a:p>
            <a:pPr lvl="1" algn="l" rtl="0"/>
            <a:r>
              <a:rPr lang="zh-CN" altLang="zh-CN">
                <a:sym typeface="FrutigerNext LT Regular" pitchFamily="34" charset="0"/>
              </a:rPr>
              <a:t>Si OSPF ou IS-IS est utilisé, ajustez les valeurs de coût des interfaces.</a:t>
            </a:r>
          </a:p>
          <a:p>
            <a:pPr lvl="1" algn="l" rtl="0"/>
            <a:r>
              <a:rPr lang="zh-CN" altLang="zh-CN">
                <a:sym typeface="FrutigerNext LT Regular" pitchFamily="34" charset="0"/>
              </a:rPr>
              <a:t>Si RIP est exécuté, ajustez la métrique ou le prochain saut.</a:t>
            </a:r>
          </a:p>
          <a:p>
            <a:pPr lvl="1" algn="l" rtl="0"/>
            <a:r>
              <a:rPr lang="zh-CN" altLang="zh-CN">
                <a:sym typeface="FrutigerNext LT Regular" pitchFamily="34" charset="0"/>
              </a:rPr>
              <a:t>Si le protocole BGP est exécuté, ajustez les attributs AS-Path, Local_Pref, MED et Community.</a:t>
            </a:r>
            <a:endParaRPr lang="zh-CN" altLang="zh-CN" dirty="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29067501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备注占位符 2"/>
          <p:cNvSpPr>
            <a:spLocks noGrp="1"/>
          </p:cNvSpPr>
          <p:nvPr>
            <p:ph type="body" idx="1"/>
          </p:nvPr>
        </p:nvSpPr>
        <p:spPr/>
        <p:txBody>
          <a:bodyPr/>
          <a:lstStyle/>
          <a:p>
            <a:pPr algn="l" rtl="0"/>
            <a:r>
              <a:rPr lang="zh-CN" altLang="zh-CN">
                <a:sym typeface="FrutigerNext LT Regular" pitchFamily="34" charset="0"/>
              </a:rPr>
              <a:t>Traditionnellement, le routage des paquets s'effectue par consultation de la table de routage en fonction des adresses IP de destination. Quels sont les inconvénients de cette méthode ? Peut-elle répondre à des exigences complexes ? Le routage des paquets peut-il être contrôlé avec précision ?</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4700812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备注占位符 2"/>
          <p:cNvSpPr>
            <a:spLocks noGrp="1"/>
          </p:cNvSpPr>
          <p:nvPr>
            <p:ph type="body" idx="1"/>
          </p:nvPr>
        </p:nvSpPr>
        <p:spPr/>
        <p:txBody>
          <a:bodyPr/>
          <a:lstStyle/>
          <a:p>
            <a:pPr algn="l" rtl="0"/>
            <a:r>
              <a:rPr lang="zh-CN" altLang="zh-CN">
                <a:sym typeface="FrutigerNext LT Regular" pitchFamily="34" charset="0"/>
              </a:rPr>
              <a:t>En raison des limitations des politiques de routage, les utilisateurs souhaitent personnaliser les politiques de transfert de paquets selon la méthode de routage traditionnelle. Le routage basé sur des politiques permet aux administrateurs réseau de définir des politiques personnalisées pour modifier les routes des paquets en fonction des adresses source, de la taille des paquets et de la qualité de la liaison, en plus des adresses de destination.</a:t>
            </a:r>
            <a:endParaRPr lang="zh-CN" altLang="zh-CN" dirty="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7202099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xfrm>
            <a:off x="584200" y="765175"/>
            <a:ext cx="5930900" cy="3336925"/>
          </a:xfrm>
          <a:ln/>
        </p:spPr>
      </p:sp>
      <p:sp>
        <p:nvSpPr>
          <p:cNvPr id="86019" name="备注占位符 2"/>
          <p:cNvSpPr>
            <a:spLocks noGrp="1"/>
          </p:cNvSpPr>
          <p:nvPr>
            <p:ph type="body" idx="1"/>
          </p:nvPr>
        </p:nvSpPr>
        <p:spPr>
          <a:noFill/>
          <a:ln/>
        </p:spPr>
        <p:txBody>
          <a:bodyPr/>
          <a:lstStyle/>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r>
              <a:rPr lang="zh-CN" altLang="zh-CN" dirty="0">
                <a:sym typeface="FrutigerNext LT Regular" pitchFamily="34" charset="0"/>
              </a:rPr>
              <a:t>Différent du mécanisme de routage qui</a:t>
            </a:r>
            <a:r>
              <a:rPr lang="en-US" altLang="zh-CN" dirty="0">
                <a:sym typeface="FrutigerNext LT Regular" pitchFamily="34" charset="0"/>
              </a:rPr>
              <a:t>transfère les paquets en recherchant le</a:t>
            </a:r>
            <a:r>
              <a:rPr lang="zh-CN" altLang="zh-CN" dirty="0">
                <a:sym typeface="FrutigerNext LT Regular" pitchFamily="34" charset="0"/>
              </a:rPr>
              <a:t>Alors que le routage est basé sur les adresses de destination des paquets IP, le routage basé sur les politiques (PBR) est basé sur les politiques de routage définies par l'utilisateur.</a:t>
            </a:r>
            <a:r>
              <a:rPr lang="en-US" altLang="zh-CN" dirty="0">
                <a:sym typeface="FrutigerNext LT Regular" pitchFamily="34" charset="0"/>
              </a:rPr>
              <a:t> </a:t>
            </a:r>
            <a:r>
              <a:rPr lang="zh-CN" altLang="zh-CN" dirty="0">
                <a:sym typeface="FrutigerNext LT Regular" pitchFamily="34" charset="0"/>
              </a:rPr>
              <a:t>Le PBR est prioritaire sur la politique de routage. Avant d'acheminer un paquet de données, le routeur le compare d'abord à la règle PBR. Si une correspondance est trouvée, le paquet est acheminé conformément à la politique. Sinon, il est acheminé selon la table de routage. Le PBR ne modifie pas la table de routage ; il influe sur l'acheminement des paquets de données en fonction des règles prédéfinies.</a:t>
            </a:r>
          </a:p>
          <a:p>
            <a:pPr algn="l" rtl="0" hangingPunct="1"/>
            <a:endParaRPr lang="zh-CN" altLang="en-US" dirty="0">
              <a:latin typeface="FrutigerNext LT Regular"/>
            </a:endParaRPr>
          </a:p>
        </p:txBody>
      </p:sp>
    </p:spTree>
    <p:extLst>
      <p:ext uri="{BB962C8B-B14F-4D97-AF65-F5344CB8AC3E}">
        <p14:creationId xmlns:p14="http://schemas.microsoft.com/office/powerpoint/2010/main" val="29877736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备注占位符 2"/>
          <p:cNvSpPr>
            <a:spLocks noGrp="1"/>
          </p:cNvSpPr>
          <p:nvPr>
            <p:ph type="body" idx="1"/>
          </p:nvPr>
        </p:nvSpPr>
        <p:spPr/>
        <p:txBody>
          <a:bodyPr/>
          <a:lstStyle/>
          <a:p>
            <a:pPr algn="l" rtl="0"/>
            <a:r>
              <a:rPr lang="zh-CN" altLang="zh-CN">
                <a:sym typeface="FrutigerNext LT Regular" pitchFamily="34" charset="0"/>
              </a:rPr>
              <a:t>PBR comprend :</a:t>
            </a:r>
          </a:p>
          <a:p>
            <a:pPr lvl="1" algn="l" rtl="0"/>
            <a:r>
              <a:rPr lang="zh-CN" altLang="zh-CN">
                <a:sym typeface="FrutigerNext LT Regular" pitchFamily="34" charset="0"/>
              </a:rPr>
              <a:t>PBR local : s’applique aux paquets envoyés par le périphérique, tels que les paquets ICMP et BGP.</a:t>
            </a:r>
          </a:p>
          <a:p>
            <a:pPr lvl="2" algn="l" rtl="0"/>
            <a:r>
              <a:rPr lang="zh-CN" altLang="zh-CN">
                <a:sym typeface="FrutigerNext LT Regular" pitchFamily="34" charset="0"/>
              </a:rPr>
              <a:t>Pour envoyer les paquets avec des adresses sources et des longueurs différentes, configurez le PBR local.</a:t>
            </a:r>
          </a:p>
          <a:p>
            <a:pPr lvl="2" algn="l" rtl="0"/>
            <a:r>
              <a:rPr lang="zh-CN" altLang="zh-CN">
                <a:sym typeface="FrutigerNext LT Regular" pitchFamily="34" charset="0"/>
              </a:rPr>
              <a:t>Elle est mise en œuvre à l'aide de l'outil Policy-Based-Route.</a:t>
            </a:r>
          </a:p>
          <a:p>
            <a:pPr lvl="1" algn="l" rtl="0"/>
            <a:r>
              <a:rPr lang="zh-CN" altLang="zh-CN">
                <a:sym typeface="FrutigerNext LT Regular" pitchFamily="34" charset="0"/>
              </a:rPr>
              <a:t>Interface PBR : s’applique aux paquets transférés (non</a:t>
            </a:r>
            <a:r>
              <a:rPr lang="en-US" altLang="zh-CN">
                <a:sym typeface="FrutigerNext LT Regular" pitchFamily="34" charset="0"/>
              </a:rPr>
              <a:t>initié</a:t>
            </a:r>
            <a:r>
              <a:rPr lang="zh-CN" altLang="zh-CN">
                <a:sym typeface="FrutigerNext LT Regular" pitchFamily="34" charset="0"/>
              </a:rPr>
              <a:t>) par le périphérique local.</a:t>
            </a:r>
          </a:p>
          <a:p>
            <a:pPr lvl="2" algn="l" rtl="0"/>
            <a:r>
              <a:rPr lang="zh-CN" altLang="zh-CN">
                <a:sym typeface="FrutigerNext LT Regular" pitchFamily="34" charset="0"/>
              </a:rPr>
              <a:t>Pour acheminer les paquets vers le prochain saut spécifié, configurez l'interface PBR. Les paquets correspondant à la règle de redirection sont acheminés via l'interface de prochain saut spécifiée. Les paquets ne correspondant pas à la règle de redirection sont acheminés selon la table de routage. L'interface PBR s'applique à l'équilibrage de charge et à la surveillance.</a:t>
            </a:r>
          </a:p>
          <a:p>
            <a:pPr lvl="2" algn="l" rtl="0"/>
            <a:r>
              <a:rPr lang="zh-CN" altLang="zh-CN">
                <a:sym typeface="FrutigerNext LT Regular" pitchFamily="34" charset="0"/>
              </a:rPr>
              <a:t>Elle est mise en œuvre à l'aide de la politique de trafic.</a:t>
            </a:r>
          </a:p>
          <a:p>
            <a:pPr lvl="1" algn="l" rtl="0"/>
            <a:r>
              <a:rPr lang="zh-CN" altLang="zh-CN">
                <a:sym typeface="FrutigerNext LT Regular" pitchFamily="34" charset="0"/>
              </a:rPr>
              <a:t>PBR intelligent : sélectionne le chemin optimal pour le trafic de service en fonction de la qualité de la liaison.</a:t>
            </a:r>
          </a:p>
          <a:p>
            <a:pPr lvl="2" algn="l" rtl="0"/>
            <a:r>
              <a:rPr lang="zh-CN" altLang="zh-CN">
                <a:sym typeface="FrutigerNext LT Regular" pitchFamily="34" charset="0"/>
              </a:rPr>
              <a:t>Pour sélectionner les chemins d'accès pour différents services en fonction de la qualité de la liaison, configurez le PBR intelligent.</a:t>
            </a:r>
          </a:p>
          <a:p>
            <a:pPr lvl="2" algn="l" rtl="0"/>
            <a:r>
              <a:rPr lang="zh-CN" altLang="zh-CN">
                <a:sym typeface="FrutigerNext LT Regular" pitchFamily="34" charset="0"/>
              </a:rPr>
              <a:t>Elle est mise en œuvre à l'aide de l'outil Smart-Policy-Route. Cette méthode n'est pas décrite dans ce cours.</a:t>
            </a:r>
            <a:endParaRPr lang="zh-CN" altLang="zh-CN" dirty="0">
              <a:sym typeface="FrutigerNext LT Regular" pitchFamily="34" charset="0"/>
            </a:endParaRPr>
          </a:p>
        </p:txBody>
      </p:sp>
      <p:sp>
        <p:nvSpPr>
          <p:cNvPr id="5" name="幻灯片图像占位符 4"/>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17027433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备注占位符 2"/>
          <p:cNvSpPr>
            <a:spLocks noGrp="1"/>
          </p:cNvSpPr>
          <p:nvPr>
            <p:ph type="body" idx="1"/>
          </p:nvPr>
        </p:nvSpPr>
        <p:spPr/>
        <p:txBody>
          <a:bodyPr/>
          <a:lstStyle/>
          <a:p>
            <a:pPr algn="l" rtl="0"/>
            <a:r>
              <a:rPr lang="zh-CN" altLang="zh-CN">
                <a:sym typeface="FrutigerNext LT Regular" pitchFamily="34" charset="0"/>
              </a:rPr>
              <a:t>MQC est utilisé dans cet exemple.</a:t>
            </a: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797280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xfrm>
            <a:off x="584200" y="765175"/>
            <a:ext cx="5930900" cy="3336925"/>
          </a:xfrm>
          <a:ln/>
        </p:spPr>
      </p:sp>
      <p:sp>
        <p:nvSpPr>
          <p:cNvPr id="89091" name="备注占位符 2"/>
          <p:cNvSpPr>
            <a:spLocks noGrp="1"/>
          </p:cNvSpPr>
          <p:nvPr>
            <p:ph type="body" idx="1"/>
          </p:nvPr>
        </p:nvSpPr>
        <p:spPr>
          <a:noFill/>
          <a:ln/>
        </p:spPr>
        <p:txBody>
          <a:bodyPr/>
          <a:lstStyle/>
          <a:p>
            <a:pPr algn="l" rtl="0" hangingPunct="1"/>
            <a:endParaRPr lang="en-US" altLang="zh-CN" dirty="0">
              <a:latin typeface="FrutigerNext LT Regular"/>
            </a:endParaRPr>
          </a:p>
        </p:txBody>
      </p:sp>
    </p:spTree>
    <p:extLst>
      <p:ext uri="{BB962C8B-B14F-4D97-AF65-F5344CB8AC3E}">
        <p14:creationId xmlns:p14="http://schemas.microsoft.com/office/powerpoint/2010/main" val="19703513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备注占位符 2"/>
          <p:cNvSpPr>
            <a:spLocks noGrp="1"/>
          </p:cNvSpPr>
          <p:nvPr>
            <p:ph type="body" idx="1"/>
          </p:nvPr>
        </p:nvSpPr>
        <p:spPr/>
        <p:txBody>
          <a:bodyPr/>
          <a:lstStyle/>
          <a:p>
            <a:pPr algn="l" rtl="0"/>
            <a:r>
              <a:rPr lang="zh-CN" altLang="zh-CN">
                <a:sym typeface="FrutigerNext LT Regular" pitchFamily="34" charset="0"/>
              </a:rPr>
              <a:t>Un routeur possède une table de routage et une table de transfert. La table de transfert est mappée</a:t>
            </a:r>
            <a:r>
              <a:rPr lang="en-US" altLang="zh-CN">
                <a:sym typeface="FrutigerNext LT Regular" pitchFamily="34" charset="0"/>
              </a:rPr>
              <a:t>depuis</a:t>
            </a:r>
            <a:r>
              <a:rPr lang="zh-CN" altLang="zh-CN">
                <a:sym typeface="FrutigerNext LT Regular" pitchFamily="34" charset="0"/>
              </a:rPr>
              <a:t>La table de routage. Le routage basé sur les politiques (PBR) s'applique à la table de transfert, et la politique de routage s'applique à la table de routage. Le transfert est effectué au niveau inférieur, tandis que le routage est effectué au niveau supérieur. Par conséquent, le transfert basé sur la table de transfert est prioritaire sur celui basé sur la table de routage.</a:t>
            </a:r>
          </a:p>
          <a:p>
            <a:pPr algn="l" rtl="0"/>
            <a:r>
              <a:rPr lang="zh-CN" altLang="zh-CN">
                <a:sym typeface="FrutigerNext LT Regular" pitchFamily="34" charset="0"/>
              </a:rPr>
              <a:t>Une politique de routage intervient lors de la découverte des routes. Elle utilise des règles spécifiques pour influencer la publication, la réception et la sélection des routes, modifiant ainsi les entrées de routage. Le routage basé sur les paquets (PBR) intervient lors du transfert des paquets. Il utilise des règles spécifiques pour influencer ce transfert, mais n'affecte pas la table de routage.</a:t>
            </a:r>
            <a:endParaRPr lang="zh-CN" altLang="zh-CN" dirty="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044115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a:xfrm>
            <a:off x="584200" y="765175"/>
            <a:ext cx="5930900" cy="3336925"/>
          </a:xfrm>
          <a:ln/>
        </p:spPr>
      </p:sp>
      <p:sp>
        <p:nvSpPr>
          <p:cNvPr id="91139"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30974097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xfrm>
            <a:off x="584200" y="765175"/>
            <a:ext cx="5930900" cy="3336925"/>
          </a:xfrm>
          <a:ln/>
        </p:spPr>
      </p:sp>
      <p:sp>
        <p:nvSpPr>
          <p:cNvPr id="92163"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26031700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xfrm>
            <a:off x="584200" y="765175"/>
            <a:ext cx="5930900" cy="3336925"/>
          </a:xfrm>
          <a:ln/>
        </p:spPr>
      </p:sp>
      <p:sp>
        <p:nvSpPr>
          <p:cNvPr id="93187"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35657609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a:xfrm>
            <a:off x="584200" y="765175"/>
            <a:ext cx="5930900" cy="3336925"/>
          </a:xfrm>
          <a:ln/>
        </p:spPr>
      </p:sp>
      <p:sp>
        <p:nvSpPr>
          <p:cNvPr id="94211"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33754264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xfrm>
            <a:off x="584200" y="765175"/>
            <a:ext cx="5930900" cy="3336925"/>
          </a:xfrm>
          <a:ln/>
        </p:spPr>
      </p:sp>
      <p:sp>
        <p:nvSpPr>
          <p:cNvPr id="95235"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4445799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xfrm>
            <a:off x="584200" y="765175"/>
            <a:ext cx="5930900" cy="3336925"/>
          </a:xfrm>
          <a:ln/>
        </p:spPr>
      </p:sp>
      <p:sp>
        <p:nvSpPr>
          <p:cNvPr id="96259"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22287783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xfrm>
            <a:off x="584200" y="765175"/>
            <a:ext cx="5930900" cy="3336925"/>
          </a:xfrm>
          <a:ln/>
        </p:spPr>
      </p:sp>
      <p:sp>
        <p:nvSpPr>
          <p:cNvPr id="96259"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16168346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xfrm>
            <a:off x="584200" y="765175"/>
            <a:ext cx="5930900" cy="3336925"/>
          </a:xfrm>
          <a:ln/>
        </p:spPr>
      </p:sp>
      <p:sp>
        <p:nvSpPr>
          <p:cNvPr id="97283"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500096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a:xfrm>
            <a:off x="584200" y="765175"/>
            <a:ext cx="5930900" cy="3336925"/>
          </a:xfrm>
          <a:ln/>
        </p:spPr>
      </p:sp>
      <p:sp>
        <p:nvSpPr>
          <p:cNvPr id="98307" name="备注占位符 2"/>
          <p:cNvSpPr>
            <a:spLocks noGrp="1"/>
          </p:cNvSpPr>
          <p:nvPr>
            <p:ph type="body" idx="1"/>
          </p:nvPr>
        </p:nvSpPr>
        <p:spPr>
          <a:noFill/>
          <a:ln/>
        </p:spPr>
        <p:txBody>
          <a:bodyPr/>
          <a:lstStyle/>
          <a:p>
            <a:pPr algn="l" rtl="0" hangingPunct="1"/>
            <a:endParaRPr lang="zh-CN" altLang="en-US">
              <a:latin typeface="FrutigerNext LT Regular"/>
            </a:endParaRPr>
          </a:p>
        </p:txBody>
      </p:sp>
    </p:spTree>
    <p:extLst>
      <p:ext uri="{BB962C8B-B14F-4D97-AF65-F5344CB8AC3E}">
        <p14:creationId xmlns:p14="http://schemas.microsoft.com/office/powerpoint/2010/main" val="2528175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备注占位符 2"/>
          <p:cNvSpPr>
            <a:spLocks noGrp="1"/>
          </p:cNvSpPr>
          <p:nvPr>
            <p:ph type="body" idx="1"/>
          </p:nvPr>
        </p:nvSpPr>
        <p:spPr/>
        <p:txBody>
          <a:bodyPr/>
          <a:lstStyle/>
          <a:p>
            <a:pPr algn="l" rtl="0"/>
            <a:r>
              <a:rPr lang="zh-CN" altLang="zh-CN">
                <a:sym typeface="FrutigerNext LT Regular" pitchFamily="34" charset="0"/>
              </a:rPr>
              <a:t>Réponse : La liste des préfixes IP ne peut filtrer que les informations de routage, mais pas les paquets IP.</a:t>
            </a:r>
          </a:p>
          <a:p>
            <a:pPr algn="l" rtl="0"/>
            <a:r>
              <a:rPr lang="zh-CN" altLang="zh-CN">
                <a:sym typeface="FrutigerNext LT Regular" pitchFamily="34" charset="0"/>
              </a:rPr>
              <a:t>Réponse : Politique de routage et routage basé sur les politiques.</a:t>
            </a:r>
          </a:p>
          <a:p>
            <a:pPr algn="l" rtl="0"/>
            <a:r>
              <a:rPr lang="zh-CN" altLang="zh-CN">
                <a:sym typeface="FrutigerNext LT Regular" pitchFamily="34" charset="0"/>
              </a:rPr>
              <a:t>Réponse : Les problèmes tels que</a:t>
            </a:r>
            <a:r>
              <a:rPr lang="en-US" altLang="zh-CN"/>
              <a:t>sous-optimal</a:t>
            </a:r>
            <a:r>
              <a:rPr lang="zh-CN" altLang="zh-CN">
                <a:sym typeface="FrutigerNext LT Regular" pitchFamily="34" charset="0"/>
              </a:rPr>
              <a:t>Des boucles de cheminement et d'itinéraire peuvent se produire. Les solutions comprennent le filtrage des itinéraires et l'ajustement des priorités.</a:t>
            </a:r>
            <a:endParaRPr lang="zh-CN" altLang="zh-CN" dirty="0">
              <a:sym typeface="FrutigerNext LT Regular" pitchFamily="34" charset="0"/>
            </a:endParaRPr>
          </a:p>
        </p:txBody>
      </p:sp>
      <p:sp>
        <p:nvSpPr>
          <p:cNvPr id="3" name="幻灯片图像占位符 2"/>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39439056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xfrm>
            <a:off x="584200" y="765175"/>
            <a:ext cx="5930900" cy="3336925"/>
          </a:xfrm>
          <a:ln/>
        </p:spPr>
      </p:sp>
      <p:sp>
        <p:nvSpPr>
          <p:cNvPr id="100355" name="Rectangle 3"/>
          <p:cNvSpPr>
            <a:spLocks noGrp="1" noChangeArrowheads="1"/>
          </p:cNvSpPr>
          <p:nvPr>
            <p:ph type="body" idx="1"/>
          </p:nvPr>
        </p:nvSpPr>
        <p:spPr>
          <a:noFill/>
          <a:ln/>
        </p:spPr>
        <p:txBody>
          <a:bodyPr/>
          <a:lstStyle/>
          <a:p>
            <a:pPr algn="l" rtl="0" hangingPunct="1"/>
            <a:endParaRPr lang="zh-CN" altLang="zh-CN">
              <a:latin typeface="FrutigerNext LT Regular"/>
            </a:endParaRPr>
          </a:p>
        </p:txBody>
      </p:sp>
    </p:spTree>
    <p:extLst>
      <p:ext uri="{BB962C8B-B14F-4D97-AF65-F5344CB8AC3E}">
        <p14:creationId xmlns:p14="http://schemas.microsoft.com/office/powerpoint/2010/main" val="3363155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Revision Record">
    <p:spTree>
      <p:nvGrpSpPr>
        <p:cNvPr id="1" name=""/>
        <p:cNvGrpSpPr/>
        <p:nvPr/>
      </p:nvGrpSpPr>
      <p:grpSpPr>
        <a:xfrm>
          <a:off x="0" y="0"/>
          <a:ext cx="0" cy="0"/>
          <a:chOff x="0" y="0"/>
          <a:chExt cx="0" cy="0"/>
        </a:xfrm>
      </p:grpSpPr>
      <p:sp>
        <p:nvSpPr>
          <p:cNvPr id="63" name="Rectangle 2"/>
          <p:cNvSpPr>
            <a:spLocks noChangeArrowheads="1"/>
          </p:cNvSpPr>
          <p:nvPr userDrawn="1"/>
        </p:nvSpPr>
        <p:spPr bwMode="auto">
          <a:xfrm>
            <a:off x="952501" y="368660"/>
            <a:ext cx="4207395" cy="479425"/>
          </a:xfrm>
          <a:prstGeom prst="rect">
            <a:avLst/>
          </a:prstGeom>
          <a:noFill/>
          <a:ln w="9525">
            <a:noFill/>
            <a:miter lim="800000"/>
            <a:headEnd/>
            <a:tailEnd/>
          </a:ln>
        </p:spPr>
        <p:txBody>
          <a:bodyPr lIns="78258" tIns="39127" rIns="78258" bIns="39127" anchor="ctr"/>
          <a:lstStyle/>
          <a:p>
            <a:pPr marL="0" marR="0" lvl="0" indent="0" algn="l" defTabSz="1001624" rtl="0" eaLnBrk="0" fontAlgn="t" latinLnBrk="0" hangingPunct="0">
              <a:lnSpc>
                <a:spcPct val="100000"/>
              </a:lnSpc>
              <a:spcBef>
                <a:spcPct val="0"/>
              </a:spcBef>
              <a:spcAft>
                <a:spcPct val="0"/>
              </a:spcAft>
              <a:buClrTx/>
              <a:buSzTx/>
              <a:buFontTx/>
              <a:buNone/>
              <a:tabLst/>
              <a:defRPr/>
            </a:pPr>
            <a:r>
              <a:rPr lang="en-US" altLang="zh-CN" sz="3500" b="1" dirty="0">
                <a:solidFill>
                  <a:schemeClr val="tx1">
                    <a:lumMod val="75000"/>
                    <a:lumOff val="25000"/>
                  </a:schemeClr>
                </a:solidFill>
                <a:latin typeface="+mn-ea"/>
                <a:ea typeface="+mn-ea"/>
              </a:rPr>
              <a:t>Revision Record</a:t>
            </a:r>
            <a:endParaRPr lang="zh-CN" altLang="en-US" sz="3500" b="1" dirty="0">
              <a:solidFill>
                <a:schemeClr val="tx1">
                  <a:lumMod val="75000"/>
                  <a:lumOff val="25000"/>
                </a:schemeClr>
              </a:solidFill>
              <a:latin typeface="+mn-ea"/>
              <a:ea typeface="+mn-ea"/>
            </a:endParaRPr>
          </a:p>
        </p:txBody>
      </p:sp>
      <p:sp>
        <p:nvSpPr>
          <p:cNvPr id="64" name="Text Box 58"/>
          <p:cNvSpPr txBox="1">
            <a:spLocks noChangeArrowheads="1"/>
          </p:cNvSpPr>
          <p:nvPr userDrawn="1"/>
        </p:nvSpPr>
        <p:spPr bwMode="auto">
          <a:xfrm>
            <a:off x="7487791" y="368660"/>
            <a:ext cx="3996445" cy="523220"/>
          </a:xfrm>
          <a:prstGeom prst="rect">
            <a:avLst/>
          </a:prstGeom>
          <a:noFill/>
          <a:ln w="9525" algn="ctr">
            <a:noFill/>
            <a:miter lim="800000"/>
            <a:headEnd/>
            <a:tailEnd/>
          </a:ln>
        </p:spPr>
        <p:txBody>
          <a:bodyPr wrap="square">
            <a:spAutoFit/>
          </a:bodyPr>
          <a:lstStyle/>
          <a:p>
            <a:pPr>
              <a:spcBef>
                <a:spcPct val="50000"/>
              </a:spcBef>
            </a:pPr>
            <a:r>
              <a:rPr lang="en-US" altLang="zh-CN" sz="2800" kern="1200" dirty="0">
                <a:solidFill>
                  <a:srgbClr val="4D4D4D"/>
                </a:solidFill>
                <a:latin typeface="+mn-ea"/>
                <a:ea typeface="+mn-ea"/>
                <a:cs typeface="+mn-cs"/>
              </a:rPr>
              <a:t>Do Not Print this Page</a:t>
            </a:r>
            <a:endParaRPr lang="zh-CN" altLang="en-US" sz="2800" kern="1200" dirty="0">
              <a:solidFill>
                <a:srgbClr val="4D4D4D"/>
              </a:solidFill>
              <a:latin typeface="+mn-ea"/>
              <a:ea typeface="+mn-ea"/>
              <a:cs typeface="+mn-cs"/>
            </a:endParaRPr>
          </a:p>
        </p:txBody>
      </p:sp>
      <p:graphicFrame>
        <p:nvGraphicFramePr>
          <p:cNvPr id="30" name="Group 3"/>
          <p:cNvGraphicFramePr>
            <a:graphicFrameLocks noGrp="1"/>
          </p:cNvGraphicFramePr>
          <p:nvPr userDrawn="1">
            <p:extLst>
              <p:ext uri="{D42A27DB-BD31-4B8C-83A1-F6EECF244321}">
                <p14:modId xmlns:p14="http://schemas.microsoft.com/office/powerpoint/2010/main" val="3494048295"/>
              </p:ext>
            </p:extLst>
          </p:nvPr>
        </p:nvGraphicFramePr>
        <p:xfrm>
          <a:off x="1007534" y="1232756"/>
          <a:ext cx="10464802" cy="1082675"/>
        </p:xfrm>
        <a:graphic>
          <a:graphicData uri="http://schemas.openxmlformats.org/drawingml/2006/table">
            <a:tbl>
              <a:tblPr/>
              <a:tblGrid>
                <a:gridCol w="3059004">
                  <a:extLst>
                    <a:ext uri="{9D8B030D-6E8A-4147-A177-3AD203B41FA5}">
                      <a16:colId xmlns:a16="http://schemas.microsoft.com/office/drawing/2014/main" val="20000"/>
                    </a:ext>
                  </a:extLst>
                </a:gridCol>
                <a:gridCol w="2155444">
                  <a:extLst>
                    <a:ext uri="{9D8B030D-6E8A-4147-A177-3AD203B41FA5}">
                      <a16:colId xmlns:a16="http://schemas.microsoft.com/office/drawing/2014/main" val="20001"/>
                    </a:ext>
                  </a:extLst>
                </a:gridCol>
                <a:gridCol w="2873927">
                  <a:extLst>
                    <a:ext uri="{9D8B030D-6E8A-4147-A177-3AD203B41FA5}">
                      <a16:colId xmlns:a16="http://schemas.microsoft.com/office/drawing/2014/main" val="20002"/>
                    </a:ext>
                  </a:extLst>
                </a:gridCol>
                <a:gridCol w="2376427">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Course Code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Product</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Product Version</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mn-ea"/>
                          <a:ea typeface="+mn-ea"/>
                        </a:rPr>
                        <a:t>Course Version</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1" name="Group 21"/>
          <p:cNvGraphicFramePr>
            <a:graphicFrameLocks noGrp="1"/>
          </p:cNvGraphicFramePr>
          <p:nvPr userDrawn="1">
            <p:extLst>
              <p:ext uri="{D42A27DB-BD31-4B8C-83A1-F6EECF244321}">
                <p14:modId xmlns:p14="http://schemas.microsoft.com/office/powerpoint/2010/main" val="3173793265"/>
              </p:ext>
            </p:extLst>
          </p:nvPr>
        </p:nvGraphicFramePr>
        <p:xfrm>
          <a:off x="1007533" y="2529867"/>
          <a:ext cx="10464800" cy="3527425"/>
        </p:xfrm>
        <a:graphic>
          <a:graphicData uri="http://schemas.openxmlformats.org/drawingml/2006/table">
            <a:tbl>
              <a:tblPr/>
              <a:tblGrid>
                <a:gridCol w="3085809">
                  <a:extLst>
                    <a:ext uri="{9D8B030D-6E8A-4147-A177-3AD203B41FA5}">
                      <a16:colId xmlns:a16="http://schemas.microsoft.com/office/drawing/2014/main" val="20000"/>
                    </a:ext>
                  </a:extLst>
                </a:gridCol>
                <a:gridCol w="2155920">
                  <a:extLst>
                    <a:ext uri="{9D8B030D-6E8A-4147-A177-3AD203B41FA5}">
                      <a16:colId xmlns:a16="http://schemas.microsoft.com/office/drawing/2014/main" val="20001"/>
                    </a:ext>
                  </a:extLst>
                </a:gridCol>
                <a:gridCol w="2912127">
                  <a:extLst>
                    <a:ext uri="{9D8B030D-6E8A-4147-A177-3AD203B41FA5}">
                      <a16:colId xmlns:a16="http://schemas.microsoft.com/office/drawing/2014/main" val="20002"/>
                    </a:ext>
                  </a:extLst>
                </a:gridCol>
                <a:gridCol w="231094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Author/ID</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Date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Reviewer/ID</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New</a:t>
                      </a:r>
                      <a:r>
                        <a:rPr kumimoji="1" lang="zh-CN" altLang="zh-CN" sz="1600" b="1" i="0" u="none" strike="noStrike" cap="none" normalizeH="0" baseline="0" dirty="0">
                          <a:ln>
                            <a:noFill/>
                          </a:ln>
                          <a:solidFill>
                            <a:schemeClr val="tx1"/>
                          </a:solidFill>
                          <a:effectLst/>
                          <a:latin typeface="+mn-ea"/>
                          <a:ea typeface="+mn-ea"/>
                        </a:rPr>
                        <a:t>/</a:t>
                      </a:r>
                      <a:r>
                        <a:rPr kumimoji="1" lang="en-US" altLang="zh-CN" sz="1600" b="1" i="0" u="none" strike="noStrike" cap="none" normalizeH="0" baseline="0" dirty="0">
                          <a:ln>
                            <a:noFill/>
                          </a:ln>
                          <a:solidFill>
                            <a:schemeClr val="tx1"/>
                          </a:solidFill>
                          <a:effectLst/>
                          <a:latin typeface="+mn-ea"/>
                          <a:ea typeface="+mn-ea"/>
                        </a:rPr>
                        <a:t> Update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70491851"/>
                  </a:ext>
                </a:extLst>
              </a:tr>
            </a:tbl>
          </a:graphicData>
        </a:graphic>
      </p:graphicFrame>
      <p:sp>
        <p:nvSpPr>
          <p:cNvPr id="32" name="文本占位符 7"/>
          <p:cNvSpPr>
            <a:spLocks noGrp="1"/>
          </p:cNvSpPr>
          <p:nvPr>
            <p:ph type="body" sz="quarter" idx="17" hasCustomPrompt="1"/>
          </p:nvPr>
        </p:nvSpPr>
        <p:spPr>
          <a:xfrm>
            <a:off x="1007535" y="1803960"/>
            <a:ext cx="3024237"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Course Code</a:t>
            </a:r>
          </a:p>
        </p:txBody>
      </p:sp>
      <p:sp>
        <p:nvSpPr>
          <p:cNvPr id="33" name="文本占位符 7"/>
          <p:cNvSpPr>
            <a:spLocks noGrp="1"/>
          </p:cNvSpPr>
          <p:nvPr>
            <p:ph type="body" sz="quarter" idx="18" hasCustomPrompt="1"/>
          </p:nvPr>
        </p:nvSpPr>
        <p:spPr>
          <a:xfrm>
            <a:off x="4079776" y="1803960"/>
            <a:ext cx="21100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Product</a:t>
            </a:r>
          </a:p>
        </p:txBody>
      </p:sp>
      <p:sp>
        <p:nvSpPr>
          <p:cNvPr id="34" name="文本占位符 7"/>
          <p:cNvSpPr>
            <a:spLocks noGrp="1"/>
          </p:cNvSpPr>
          <p:nvPr>
            <p:ph type="body" sz="quarter" idx="19" hasCustomPrompt="1"/>
          </p:nvPr>
        </p:nvSpPr>
        <p:spPr>
          <a:xfrm>
            <a:off x="6239934" y="1803960"/>
            <a:ext cx="284439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X.X</a:t>
            </a:r>
          </a:p>
        </p:txBody>
      </p:sp>
      <p:sp>
        <p:nvSpPr>
          <p:cNvPr id="47" name="文本占位符 7"/>
          <p:cNvSpPr>
            <a:spLocks noGrp="1"/>
          </p:cNvSpPr>
          <p:nvPr>
            <p:ph type="body" sz="quarter" idx="20" hasCustomPrompt="1"/>
          </p:nvPr>
        </p:nvSpPr>
        <p:spPr>
          <a:xfrm>
            <a:off x="9084332" y="1803960"/>
            <a:ext cx="2388001"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X.X</a:t>
            </a:r>
          </a:p>
        </p:txBody>
      </p:sp>
      <p:sp>
        <p:nvSpPr>
          <p:cNvPr id="48" name="文本占位符 7"/>
          <p:cNvSpPr>
            <a:spLocks noGrp="1"/>
          </p:cNvSpPr>
          <p:nvPr>
            <p:ph type="body" sz="quarter" idx="13" hasCustomPrompt="1"/>
          </p:nvPr>
        </p:nvSpPr>
        <p:spPr>
          <a:xfrm>
            <a:off x="1007533" y="3089025"/>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49" name="文本占位符 7"/>
          <p:cNvSpPr>
            <a:spLocks noGrp="1"/>
          </p:cNvSpPr>
          <p:nvPr>
            <p:ph type="body" sz="quarter" idx="14" hasCustomPrompt="1"/>
          </p:nvPr>
        </p:nvSpPr>
        <p:spPr>
          <a:xfrm>
            <a:off x="4079776" y="3089025"/>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0" name="文本占位符 7"/>
          <p:cNvSpPr>
            <a:spLocks noGrp="1"/>
          </p:cNvSpPr>
          <p:nvPr>
            <p:ph type="body" sz="quarter" idx="15" hasCustomPrompt="1"/>
          </p:nvPr>
        </p:nvSpPr>
        <p:spPr>
          <a:xfrm>
            <a:off x="6239933" y="3089025"/>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1" name="文本占位符 7"/>
          <p:cNvSpPr>
            <a:spLocks noGrp="1"/>
          </p:cNvSpPr>
          <p:nvPr>
            <p:ph type="body" sz="quarter" idx="16" hasCustomPrompt="1"/>
          </p:nvPr>
        </p:nvSpPr>
        <p:spPr>
          <a:xfrm>
            <a:off x="9168341" y="3089025"/>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52" name="文本占位符 7">
            <a:extLst>
              <a:ext uri="{FF2B5EF4-FFF2-40B4-BE49-F238E27FC236}">
                <a16:creationId xmlns:a16="http://schemas.microsoft.com/office/drawing/2014/main" id="{44F86C3E-C49E-485B-8EB0-960F41282238}"/>
              </a:ext>
            </a:extLst>
          </p:cNvPr>
          <p:cNvSpPr>
            <a:spLocks noGrp="1"/>
          </p:cNvSpPr>
          <p:nvPr>
            <p:ph type="body" sz="quarter" idx="21" hasCustomPrompt="1"/>
          </p:nvPr>
        </p:nvSpPr>
        <p:spPr>
          <a:xfrm>
            <a:off x="1019436" y="3608189"/>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3" name="文本占位符 7">
            <a:extLst>
              <a:ext uri="{FF2B5EF4-FFF2-40B4-BE49-F238E27FC236}">
                <a16:creationId xmlns:a16="http://schemas.microsoft.com/office/drawing/2014/main" id="{DB3D228B-4BFD-4782-B68D-12F66EA8C589}"/>
              </a:ext>
            </a:extLst>
          </p:cNvPr>
          <p:cNvSpPr>
            <a:spLocks noGrp="1"/>
          </p:cNvSpPr>
          <p:nvPr>
            <p:ph type="body" sz="quarter" idx="22" hasCustomPrompt="1"/>
          </p:nvPr>
        </p:nvSpPr>
        <p:spPr>
          <a:xfrm>
            <a:off x="4091679" y="3608189"/>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4" name="文本占位符 7">
            <a:extLst>
              <a:ext uri="{FF2B5EF4-FFF2-40B4-BE49-F238E27FC236}">
                <a16:creationId xmlns:a16="http://schemas.microsoft.com/office/drawing/2014/main" id="{FECCD724-6B1F-4104-8A9B-6B6764A3F859}"/>
              </a:ext>
            </a:extLst>
          </p:cNvPr>
          <p:cNvSpPr>
            <a:spLocks noGrp="1"/>
          </p:cNvSpPr>
          <p:nvPr>
            <p:ph type="body" sz="quarter" idx="23" hasCustomPrompt="1"/>
          </p:nvPr>
        </p:nvSpPr>
        <p:spPr>
          <a:xfrm>
            <a:off x="6251836" y="3608189"/>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5" name="文本占位符 7">
            <a:extLst>
              <a:ext uri="{FF2B5EF4-FFF2-40B4-BE49-F238E27FC236}">
                <a16:creationId xmlns:a16="http://schemas.microsoft.com/office/drawing/2014/main" id="{57E1C633-41F6-4A25-9DB3-D6799CE610DD}"/>
              </a:ext>
            </a:extLst>
          </p:cNvPr>
          <p:cNvSpPr>
            <a:spLocks noGrp="1"/>
          </p:cNvSpPr>
          <p:nvPr>
            <p:ph type="body" sz="quarter" idx="24" hasCustomPrompt="1"/>
          </p:nvPr>
        </p:nvSpPr>
        <p:spPr>
          <a:xfrm>
            <a:off x="9180244" y="3608189"/>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56" name="文本占位符 7">
            <a:extLst>
              <a:ext uri="{FF2B5EF4-FFF2-40B4-BE49-F238E27FC236}">
                <a16:creationId xmlns:a16="http://schemas.microsoft.com/office/drawing/2014/main" id="{C68CBD59-B896-4217-9781-389A1B11CE8D}"/>
              </a:ext>
            </a:extLst>
          </p:cNvPr>
          <p:cNvSpPr>
            <a:spLocks noGrp="1"/>
          </p:cNvSpPr>
          <p:nvPr>
            <p:ph type="body" sz="quarter" idx="25" hasCustomPrompt="1"/>
          </p:nvPr>
        </p:nvSpPr>
        <p:spPr>
          <a:xfrm>
            <a:off x="995796" y="4077072"/>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7" name="文本占位符 7">
            <a:extLst>
              <a:ext uri="{FF2B5EF4-FFF2-40B4-BE49-F238E27FC236}">
                <a16:creationId xmlns:a16="http://schemas.microsoft.com/office/drawing/2014/main" id="{791E82EE-AF55-486C-953D-3BD5CEE81CE4}"/>
              </a:ext>
            </a:extLst>
          </p:cNvPr>
          <p:cNvSpPr>
            <a:spLocks noGrp="1"/>
          </p:cNvSpPr>
          <p:nvPr>
            <p:ph type="body" sz="quarter" idx="26" hasCustomPrompt="1"/>
          </p:nvPr>
        </p:nvSpPr>
        <p:spPr>
          <a:xfrm>
            <a:off x="4068039" y="4077072"/>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8" name="文本占位符 7">
            <a:extLst>
              <a:ext uri="{FF2B5EF4-FFF2-40B4-BE49-F238E27FC236}">
                <a16:creationId xmlns:a16="http://schemas.microsoft.com/office/drawing/2014/main" id="{0F4FBCD0-2E04-4942-AFAF-B2774F425FB6}"/>
              </a:ext>
            </a:extLst>
          </p:cNvPr>
          <p:cNvSpPr>
            <a:spLocks noGrp="1"/>
          </p:cNvSpPr>
          <p:nvPr>
            <p:ph type="body" sz="quarter" idx="27" hasCustomPrompt="1"/>
          </p:nvPr>
        </p:nvSpPr>
        <p:spPr>
          <a:xfrm>
            <a:off x="6228196" y="4077072"/>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9" name="文本占位符 7">
            <a:extLst>
              <a:ext uri="{FF2B5EF4-FFF2-40B4-BE49-F238E27FC236}">
                <a16:creationId xmlns:a16="http://schemas.microsoft.com/office/drawing/2014/main" id="{701F8BDF-8D3E-4528-8B32-92CDA38CF25C}"/>
              </a:ext>
            </a:extLst>
          </p:cNvPr>
          <p:cNvSpPr>
            <a:spLocks noGrp="1"/>
          </p:cNvSpPr>
          <p:nvPr>
            <p:ph type="body" sz="quarter" idx="28" hasCustomPrompt="1"/>
          </p:nvPr>
        </p:nvSpPr>
        <p:spPr>
          <a:xfrm>
            <a:off x="9156604" y="4077072"/>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60" name="文本占位符 7">
            <a:extLst>
              <a:ext uri="{FF2B5EF4-FFF2-40B4-BE49-F238E27FC236}">
                <a16:creationId xmlns:a16="http://schemas.microsoft.com/office/drawing/2014/main" id="{2DAE044E-F1B2-424B-BDD0-3E92A10C4695}"/>
              </a:ext>
            </a:extLst>
          </p:cNvPr>
          <p:cNvSpPr>
            <a:spLocks noGrp="1"/>
          </p:cNvSpPr>
          <p:nvPr>
            <p:ph type="body" sz="quarter" idx="29" hasCustomPrompt="1"/>
          </p:nvPr>
        </p:nvSpPr>
        <p:spPr>
          <a:xfrm>
            <a:off x="1019436" y="4581128"/>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61" name="文本占位符 7">
            <a:extLst>
              <a:ext uri="{FF2B5EF4-FFF2-40B4-BE49-F238E27FC236}">
                <a16:creationId xmlns:a16="http://schemas.microsoft.com/office/drawing/2014/main" id="{19929436-360F-44DC-A864-1DA42B59198F}"/>
              </a:ext>
            </a:extLst>
          </p:cNvPr>
          <p:cNvSpPr>
            <a:spLocks noGrp="1"/>
          </p:cNvSpPr>
          <p:nvPr>
            <p:ph type="body" sz="quarter" idx="30" hasCustomPrompt="1"/>
          </p:nvPr>
        </p:nvSpPr>
        <p:spPr>
          <a:xfrm>
            <a:off x="4091679" y="4581128"/>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62" name="文本占位符 7">
            <a:extLst>
              <a:ext uri="{FF2B5EF4-FFF2-40B4-BE49-F238E27FC236}">
                <a16:creationId xmlns:a16="http://schemas.microsoft.com/office/drawing/2014/main" id="{E3F04EDE-0D87-45F2-9033-289878AAF2FA}"/>
              </a:ext>
            </a:extLst>
          </p:cNvPr>
          <p:cNvSpPr>
            <a:spLocks noGrp="1"/>
          </p:cNvSpPr>
          <p:nvPr>
            <p:ph type="body" sz="quarter" idx="31" hasCustomPrompt="1"/>
          </p:nvPr>
        </p:nvSpPr>
        <p:spPr>
          <a:xfrm>
            <a:off x="6251836" y="4581128"/>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77" name="文本占位符 7">
            <a:extLst>
              <a:ext uri="{FF2B5EF4-FFF2-40B4-BE49-F238E27FC236}">
                <a16:creationId xmlns:a16="http://schemas.microsoft.com/office/drawing/2014/main" id="{3F9FD2BB-87FB-42F0-8418-F87E96763F68}"/>
              </a:ext>
            </a:extLst>
          </p:cNvPr>
          <p:cNvSpPr>
            <a:spLocks noGrp="1"/>
          </p:cNvSpPr>
          <p:nvPr>
            <p:ph type="body" sz="quarter" idx="32" hasCustomPrompt="1"/>
          </p:nvPr>
        </p:nvSpPr>
        <p:spPr>
          <a:xfrm>
            <a:off x="9180244" y="4581128"/>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78" name="文本占位符 7">
            <a:extLst>
              <a:ext uri="{FF2B5EF4-FFF2-40B4-BE49-F238E27FC236}">
                <a16:creationId xmlns:a16="http://schemas.microsoft.com/office/drawing/2014/main" id="{450C36C1-EC46-4EAC-8A54-EFB2EF58F730}"/>
              </a:ext>
            </a:extLst>
          </p:cNvPr>
          <p:cNvSpPr>
            <a:spLocks noGrp="1"/>
          </p:cNvSpPr>
          <p:nvPr>
            <p:ph type="body" sz="quarter" idx="33" hasCustomPrompt="1"/>
          </p:nvPr>
        </p:nvSpPr>
        <p:spPr>
          <a:xfrm>
            <a:off x="995796" y="5049180"/>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79" name="文本占位符 7">
            <a:extLst>
              <a:ext uri="{FF2B5EF4-FFF2-40B4-BE49-F238E27FC236}">
                <a16:creationId xmlns:a16="http://schemas.microsoft.com/office/drawing/2014/main" id="{06E305FB-6351-4BDD-B27A-CA91C0B55424}"/>
              </a:ext>
            </a:extLst>
          </p:cNvPr>
          <p:cNvSpPr>
            <a:spLocks noGrp="1"/>
          </p:cNvSpPr>
          <p:nvPr>
            <p:ph type="body" sz="quarter" idx="34" hasCustomPrompt="1"/>
          </p:nvPr>
        </p:nvSpPr>
        <p:spPr>
          <a:xfrm>
            <a:off x="4068039" y="5049180"/>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80" name="文本占位符 7">
            <a:extLst>
              <a:ext uri="{FF2B5EF4-FFF2-40B4-BE49-F238E27FC236}">
                <a16:creationId xmlns:a16="http://schemas.microsoft.com/office/drawing/2014/main" id="{986CE630-9BBE-44AB-B3AC-29A48255E185}"/>
              </a:ext>
            </a:extLst>
          </p:cNvPr>
          <p:cNvSpPr>
            <a:spLocks noGrp="1"/>
          </p:cNvSpPr>
          <p:nvPr>
            <p:ph type="body" sz="quarter" idx="35" hasCustomPrompt="1"/>
          </p:nvPr>
        </p:nvSpPr>
        <p:spPr>
          <a:xfrm>
            <a:off x="6228196" y="5049180"/>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81" name="文本占位符 7">
            <a:extLst>
              <a:ext uri="{FF2B5EF4-FFF2-40B4-BE49-F238E27FC236}">
                <a16:creationId xmlns:a16="http://schemas.microsoft.com/office/drawing/2014/main" id="{4DDD786F-E21B-4BBC-A377-D2EC3EE50688}"/>
              </a:ext>
            </a:extLst>
          </p:cNvPr>
          <p:cNvSpPr>
            <a:spLocks noGrp="1"/>
          </p:cNvSpPr>
          <p:nvPr>
            <p:ph type="body" sz="quarter" idx="36" hasCustomPrompt="1"/>
          </p:nvPr>
        </p:nvSpPr>
        <p:spPr>
          <a:xfrm>
            <a:off x="9156604" y="5049180"/>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82" name="文本占位符 7">
            <a:extLst>
              <a:ext uri="{FF2B5EF4-FFF2-40B4-BE49-F238E27FC236}">
                <a16:creationId xmlns:a16="http://schemas.microsoft.com/office/drawing/2014/main" id="{EE728293-3BC5-4224-A4F0-27996EC76EA2}"/>
              </a:ext>
            </a:extLst>
          </p:cNvPr>
          <p:cNvSpPr>
            <a:spLocks noGrp="1"/>
          </p:cNvSpPr>
          <p:nvPr>
            <p:ph type="body" sz="quarter" idx="37" hasCustomPrompt="1"/>
          </p:nvPr>
        </p:nvSpPr>
        <p:spPr>
          <a:xfrm>
            <a:off x="1019436" y="5553236"/>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83" name="文本占位符 7">
            <a:extLst>
              <a:ext uri="{FF2B5EF4-FFF2-40B4-BE49-F238E27FC236}">
                <a16:creationId xmlns:a16="http://schemas.microsoft.com/office/drawing/2014/main" id="{84C5C924-BCE5-46C8-9041-30EDC3D85E52}"/>
              </a:ext>
            </a:extLst>
          </p:cNvPr>
          <p:cNvSpPr>
            <a:spLocks noGrp="1"/>
          </p:cNvSpPr>
          <p:nvPr>
            <p:ph type="body" sz="quarter" idx="38" hasCustomPrompt="1"/>
          </p:nvPr>
        </p:nvSpPr>
        <p:spPr>
          <a:xfrm>
            <a:off x="4091679" y="5553236"/>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84" name="文本占位符 7">
            <a:extLst>
              <a:ext uri="{FF2B5EF4-FFF2-40B4-BE49-F238E27FC236}">
                <a16:creationId xmlns:a16="http://schemas.microsoft.com/office/drawing/2014/main" id="{1DBD4C29-C885-4339-873D-B55FBD81DDFE}"/>
              </a:ext>
            </a:extLst>
          </p:cNvPr>
          <p:cNvSpPr>
            <a:spLocks noGrp="1"/>
          </p:cNvSpPr>
          <p:nvPr>
            <p:ph type="body" sz="quarter" idx="39" hasCustomPrompt="1"/>
          </p:nvPr>
        </p:nvSpPr>
        <p:spPr>
          <a:xfrm>
            <a:off x="6251836" y="5553236"/>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85" name="文本占位符 7">
            <a:extLst>
              <a:ext uri="{FF2B5EF4-FFF2-40B4-BE49-F238E27FC236}">
                <a16:creationId xmlns:a16="http://schemas.microsoft.com/office/drawing/2014/main" id="{6D84506C-645A-472E-A06C-3A65A7744312}"/>
              </a:ext>
            </a:extLst>
          </p:cNvPr>
          <p:cNvSpPr>
            <a:spLocks noGrp="1"/>
          </p:cNvSpPr>
          <p:nvPr>
            <p:ph type="body" sz="quarter" idx="40" hasCustomPrompt="1"/>
          </p:nvPr>
        </p:nvSpPr>
        <p:spPr>
          <a:xfrm>
            <a:off x="9180244" y="5553236"/>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Title">
    <p:spTree>
      <p:nvGrpSpPr>
        <p:cNvPr id="1" name=""/>
        <p:cNvGrpSpPr/>
        <p:nvPr/>
      </p:nvGrpSpPr>
      <p:grpSpPr>
        <a:xfrm>
          <a:off x="0" y="0"/>
          <a:ext cx="0" cy="0"/>
          <a:chOff x="0" y="0"/>
          <a:chExt cx="0" cy="0"/>
        </a:xfrm>
      </p:grpSpPr>
      <p:pic>
        <p:nvPicPr>
          <p:cNvPr id="7"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 y="84"/>
            <a:ext cx="12192000" cy="7109753"/>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41"/>
          <p:cNvSpPr>
            <a:spLocks noGrp="1" noChangeArrowheads="1"/>
          </p:cNvSpPr>
          <p:nvPr>
            <p:ph type="ctrTitle" sz="quarter" hasCustomPrompt="1"/>
          </p:nvPr>
        </p:nvSpPr>
        <p:spPr>
          <a:xfrm>
            <a:off x="1031295" y="4957156"/>
            <a:ext cx="10441567" cy="831600"/>
          </a:xfrm>
          <a:prstGeom prst="rect">
            <a:avLst/>
          </a:prstGeom>
          <a:ln algn="ctr"/>
        </p:spPr>
        <p:txBody>
          <a:bodyPr lIns="87802" tIns="43901" rIns="87802" bIns="43901"/>
          <a:lstStyle>
            <a:lvl1pPr algn="l" defTabSz="801688" rtl="0" eaLnBrk="0" fontAlgn="base" hangingPunct="0">
              <a:spcBef>
                <a:spcPct val="0"/>
              </a:spcBef>
              <a:spcAft>
                <a:spcPct val="0"/>
              </a:spcAft>
              <a:defRPr lang="zh-CN" altLang="en-US" sz="4300" b="1" kern="1200" dirty="0">
                <a:solidFill>
                  <a:srgbClr val="0070C0"/>
                </a:solidFill>
                <a:latin typeface="+mn-ea"/>
                <a:ea typeface="+mn-ea"/>
                <a:cs typeface="Arial" panose="020B0604020202020204" pitchFamily="34" charset="0"/>
              </a:defRPr>
            </a:lvl1pPr>
          </a:lstStyle>
          <a:p>
            <a:r>
              <a:rPr lang="en-US" altLang="zh-CN" dirty="0"/>
              <a:t>Click to Edit Title</a:t>
            </a:r>
            <a:endParaRPr lang="zh-CN" altLang="en-US" dirty="0"/>
          </a:p>
        </p:txBody>
      </p:sp>
      <p:sp>
        <p:nvSpPr>
          <p:cNvPr id="30" name="文本占位符 29"/>
          <p:cNvSpPr>
            <a:spLocks noGrp="1"/>
          </p:cNvSpPr>
          <p:nvPr>
            <p:ph type="body" sz="quarter" idx="10" hasCustomPrompt="1"/>
          </p:nvPr>
        </p:nvSpPr>
        <p:spPr>
          <a:xfrm>
            <a:off x="1031295" y="5816120"/>
            <a:ext cx="6912000" cy="493200"/>
          </a:xfrm>
          <a:prstGeom prst="rect">
            <a:avLst/>
          </a:prstGeom>
        </p:spPr>
        <p:txBody>
          <a:bodyPr/>
          <a:lstStyle>
            <a:lvl1pPr marL="0" indent="0" algn="l" defTabSz="801688" rtl="0" eaLnBrk="0" fontAlgn="base" hangingPunct="0">
              <a:spcBef>
                <a:spcPct val="0"/>
              </a:spcBef>
              <a:spcAft>
                <a:spcPct val="0"/>
              </a:spcAft>
              <a:buNone/>
              <a:defRPr lang="zh-CN" altLang="en-US" sz="2000" kern="1200" dirty="0" smtClean="0">
                <a:solidFill>
                  <a:srgbClr val="0070C0"/>
                </a:solidFill>
                <a:latin typeface="+mn-ea"/>
                <a:ea typeface="+mn-ea"/>
                <a:cs typeface="Arial" panose="020B0604020202020204" pitchFamily="34" charset="0"/>
              </a:defRPr>
            </a:lvl1pPr>
          </a:lstStyle>
          <a:p>
            <a:pPr lvl="0"/>
            <a:r>
              <a:rPr lang="en-US" altLang="zh-CN" dirty="0"/>
              <a:t>Click to Edit Title</a:t>
            </a:r>
            <a:endParaRPr lang="zh-CN" altLang="en-US" dirty="0"/>
          </a:p>
        </p:txBody>
      </p:sp>
      <p:sp>
        <p:nvSpPr>
          <p:cNvPr id="9" name="Rectangle 54"/>
          <p:cNvSpPr>
            <a:spLocks noChangeArrowheads="1"/>
          </p:cNvSpPr>
          <p:nvPr userDrawn="1"/>
        </p:nvSpPr>
        <p:spPr bwMode="auto">
          <a:xfrm>
            <a:off x="947428" y="6500581"/>
            <a:ext cx="517480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S PGothic" pitchFamily="34" charset="-128"/>
                <a:cs typeface="Arial" pitchFamily="34" charset="0"/>
              </a:rPr>
              <a:t>Copyright © 2019 Huawei Technologies Co., Ltd. All rights reserved. </a:t>
            </a:r>
          </a:p>
        </p:txBody>
      </p:sp>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1889" y="251069"/>
            <a:ext cx="1965600" cy="43010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Foreword">
    <p:bg>
      <p:bgRef idx="1001">
        <a:schemeClr val="bg1"/>
      </p:bgRef>
    </p:bg>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4" y="1233488"/>
            <a:ext cx="10558800" cy="4679788"/>
          </a:xfrm>
          <a:prstGeom prst="rect">
            <a:avLst/>
          </a:prstGeom>
        </p:spPr>
        <p:txBody>
          <a:bodyPr/>
          <a:lstStyle>
            <a:lvl1pPr algn="just" eaLnBrk="1" hangingPunct="1">
              <a:defRPr>
                <a:latin typeface="+mn-ea"/>
                <a:ea typeface="+mn-ea"/>
                <a:cs typeface="Arial" panose="020B0604020202020204" pitchFamily="34" charset="0"/>
              </a:defRPr>
            </a:lvl1pPr>
            <a:lvl5pPr>
              <a:buNone/>
              <a:defRPr/>
            </a:lvl5pPr>
          </a:lstStyle>
          <a:p>
            <a:pPr eaLnBrk="1" hangingPunct="1"/>
            <a:r>
              <a:rPr lang="en-US" altLang="zh-CN" dirty="0"/>
              <a:t>The chapter describes ...</a:t>
            </a:r>
            <a:endParaRPr lang="zh-CN" altLang="en-US" dirty="0"/>
          </a:p>
        </p:txBody>
      </p:sp>
      <p:sp>
        <p:nvSpPr>
          <p:cNvPr id="7"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376264"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a:t>Foreword</a:t>
            </a:r>
            <a:endParaRPr lang="zh-CN" altLang="en-US"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335360" y="498828"/>
            <a:ext cx="628158" cy="459460"/>
            <a:chOff x="3275013" y="1363663"/>
            <a:chExt cx="5645150" cy="4129087"/>
          </a:xfrm>
          <a:solidFill>
            <a:schemeClr val="bg1"/>
          </a:solidFill>
        </p:grpSpPr>
        <p:sp>
          <p:nvSpPr>
            <p:cNvPr id="12"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7"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8"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Objectives">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912284" y="1233487"/>
            <a:ext cx="10558800" cy="4680000"/>
          </a:xfrm>
          <a:prstGeom prst="rect">
            <a:avLst/>
          </a:prstGeom>
        </p:spPr>
        <p:txBody>
          <a:bodyPr/>
          <a:lstStyle>
            <a:lvl1pPr marL="301618" marR="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kumimoji="0" lang="zh-CN" altLang="en-US" sz="2200" b="0" i="0" u="none" strike="noStrike" kern="0" cap="none" spc="0" normalizeH="0" baseline="0" noProof="0"/>
            </a:lvl1pPr>
            <a:lvl2pPr algn="just" eaLnBrk="1" hangingPunct="1">
              <a:defRPr>
                <a:latin typeface="+mn-ea"/>
                <a:ea typeface="+mn-ea"/>
                <a:cs typeface="Arial" panose="020B0604020202020204" pitchFamily="34" charset="0"/>
              </a:defRPr>
            </a:lvl2pPr>
            <a:lvl3pPr algn="just" eaLnBrk="1" hangingPunct="1">
              <a:defRPr>
                <a:latin typeface="+mn-ea"/>
                <a:ea typeface="+mn-ea"/>
                <a:cs typeface="Arial" panose="020B0604020202020204" pitchFamily="34" charset="0"/>
              </a:defRPr>
            </a:lvl3pPr>
            <a:lvl4pPr algn="just" eaLnBrk="1" hangingPunct="1">
              <a:defRPr>
                <a:latin typeface="+mn-ea"/>
                <a:ea typeface="+mn-ea"/>
                <a:cs typeface="Arial" panose="020B0604020202020204" pitchFamily="34" charset="0"/>
              </a:defRPr>
            </a:lvl4pPr>
            <a:lvl5pPr algn="just" eaLnBrk="1" hangingPunct="1">
              <a:defRPr>
                <a:latin typeface="+mn-ea"/>
                <a:ea typeface="+mn-ea"/>
                <a:cs typeface="Arial" panose="020B0604020202020204" pitchFamily="34" charset="0"/>
              </a:defRPr>
            </a:lvl5pPr>
          </a:lstStyle>
          <a:p>
            <a:pPr marL="301618" marR="0" lvl="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a:pPr>
            <a:r>
              <a:rPr kumimoji="0" lang="en-US" altLang="zh-CN" sz="2200" b="0" i="0" u="none" strike="noStrike" kern="0" cap="none" spc="0" normalizeH="0" baseline="0" noProof="0" dirty="0">
                <a:ln>
                  <a:noFill/>
                </a:ln>
                <a:solidFill>
                  <a:srgbClr val="000000"/>
                </a:solidFill>
                <a:effectLst/>
                <a:uLnTx/>
                <a:uFillTx/>
                <a:latin typeface="+mn-lt"/>
                <a:ea typeface="+mn-ea"/>
                <a:cs typeface="+mn-cs"/>
              </a:rPr>
              <a:t>On completion of this course, you will be able to:</a:t>
            </a:r>
            <a:endParaRPr kumimoji="0" lang="zh-CN" altLang="en-US" sz="2200" b="0" i="0" u="none" strike="noStrike" kern="0" cap="none" spc="0" normalizeH="0" baseline="0" noProof="0" dirty="0">
              <a:ln>
                <a:noFill/>
              </a:ln>
              <a:solidFill>
                <a:srgbClr val="000000"/>
              </a:solidFill>
              <a:effectLst/>
              <a:uLnTx/>
              <a:uFillTx/>
              <a:latin typeface="+mn-lt"/>
              <a:ea typeface="+mn-ea"/>
              <a:cs typeface="+mn-cs"/>
            </a:endParaRP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59228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a:t>Objectives</a:t>
            </a:r>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443372" y="440668"/>
            <a:ext cx="533970" cy="533470"/>
            <a:chOff x="2960687" y="4865687"/>
            <a:chExt cx="1698626" cy="1697038"/>
          </a:xfrm>
          <a:solidFill>
            <a:schemeClr val="bg1"/>
          </a:solidFill>
        </p:grpSpPr>
        <p:sp>
          <p:nvSpPr>
            <p:cNvPr id="11"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2"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9"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20"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Contents">
    <p:spTree>
      <p:nvGrpSpPr>
        <p:cNvPr id="1" name=""/>
        <p:cNvGrpSpPr/>
        <p:nvPr/>
      </p:nvGrpSpPr>
      <p:grpSpPr>
        <a:xfrm>
          <a:off x="0" y="0"/>
          <a:ext cx="0" cy="0"/>
          <a:chOff x="0" y="0"/>
          <a:chExt cx="0" cy="0"/>
        </a:xfrm>
      </p:grpSpPr>
      <p:sp>
        <p:nvSpPr>
          <p:cNvPr id="6"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232248"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b="1" kern="1200" dirty="0">
                <a:solidFill>
                  <a:schemeClr val="tx1">
                    <a:lumMod val="75000"/>
                    <a:lumOff val="25000"/>
                  </a:schemeClr>
                </a:solidFill>
                <a:latin typeface="+mn-ea"/>
                <a:ea typeface="+mn-ea"/>
                <a:cs typeface="Arial" pitchFamily="34" charset="0"/>
              </a:rPr>
              <a:t>Contents</a:t>
            </a:r>
          </a:p>
        </p:txBody>
      </p:sp>
      <p:sp>
        <p:nvSpPr>
          <p:cNvPr id="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587388" y="515379"/>
            <a:ext cx="358335" cy="426359"/>
            <a:chOff x="3295650" y="230188"/>
            <a:chExt cx="936625" cy="1114426"/>
          </a:xfrm>
          <a:solidFill>
            <a:schemeClr val="bg1"/>
          </a:solidFill>
        </p:grpSpPr>
        <p:sp>
          <p:nvSpPr>
            <p:cNvPr id="11"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8"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9"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0"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1"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2"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3"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4"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5"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6"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7"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28" name="文本占位符 6"/>
          <p:cNvSpPr>
            <a:spLocks noGrp="1"/>
          </p:cNvSpPr>
          <p:nvPr>
            <p:ph type="body" sz="quarter" idx="10" hasCustomPrompt="1"/>
          </p:nvPr>
        </p:nvSpPr>
        <p:spPr>
          <a:xfrm>
            <a:off x="912285" y="1233488"/>
            <a:ext cx="10560048"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457200" marR="0" indent="-457200" algn="l" defTabSz="801668" rtl="0" eaLnBrk="0" fontAlgn="base" latinLnBrk="0" hangingPunct="0">
              <a:lnSpc>
                <a:spcPct val="140000"/>
              </a:lnSpc>
              <a:spcBef>
                <a:spcPct val="30000"/>
              </a:spcBef>
              <a:spcAft>
                <a:spcPct val="0"/>
              </a:spcAft>
              <a:buClr>
                <a:schemeClr val="tx1"/>
              </a:buClr>
              <a:buSzPct val="100000"/>
              <a:buFont typeface="+mj-lt"/>
              <a:buAutoNum type="arabicPeriod"/>
              <a:tabLst/>
              <a:defRPr lang="zh-CN" altLang="en-US" sz="2200" baseline="0" dirty="0">
                <a:solidFill>
                  <a:schemeClr val="tx1"/>
                </a:solidFill>
                <a:latin typeface="+mn-lt"/>
                <a:ea typeface="+mn-ea"/>
                <a:cs typeface="+mn-cs"/>
              </a:defRPr>
            </a:lvl1pPr>
          </a:lstStyle>
          <a:p>
            <a:r>
              <a:rPr lang="en-US" altLang="zh-CN" dirty="0"/>
              <a:t>Item 1</a:t>
            </a:r>
            <a:endParaRPr lang="zh-CN" altLang="en-US" dirty="0"/>
          </a:p>
        </p:txBody>
      </p:sp>
      <p:sp>
        <p:nvSpPr>
          <p:cNvPr id="29"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30"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Overview and Objectives(Optional)">
    <p:spTree>
      <p:nvGrpSpPr>
        <p:cNvPr id="1" name=""/>
        <p:cNvGrpSpPr/>
        <p:nvPr/>
      </p:nvGrpSpPr>
      <p:grpSpPr>
        <a:xfrm>
          <a:off x="0" y="0"/>
          <a:ext cx="0" cy="0"/>
          <a:chOff x="0" y="0"/>
          <a:chExt cx="0" cy="0"/>
        </a:xfrm>
      </p:grpSpPr>
      <p:sp>
        <p:nvSpPr>
          <p:cNvPr id="7" name="内容占位符 6"/>
          <p:cNvSpPr>
            <a:spLocks noGrp="1"/>
          </p:cNvSpPr>
          <p:nvPr>
            <p:ph sz="quarter" idx="10"/>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2pPr algn="just">
              <a:defRPr>
                <a:latin typeface="+mn-ea"/>
                <a:ea typeface="+mn-ea"/>
                <a:cs typeface="Arial" panose="020B0604020202020204" pitchFamily="34" charset="0"/>
              </a:defRPr>
            </a:lvl2pPr>
            <a:lvl3pPr algn="just">
              <a:defRPr>
                <a:latin typeface="+mn-ea"/>
                <a:ea typeface="+mn-ea"/>
                <a:cs typeface="Arial" panose="020B0604020202020204" pitchFamily="34" charset="0"/>
              </a:defRPr>
            </a:lvl3pPr>
            <a:lvl4pPr algn="just">
              <a:defRPr>
                <a:latin typeface="+mn-ea"/>
                <a:ea typeface="+mn-ea"/>
                <a:cs typeface="Arial" panose="020B0604020202020204" pitchFamily="34" charset="0"/>
              </a:defRPr>
            </a:lvl4pPr>
            <a:lvl5pPr algn="just">
              <a:defRPr>
                <a:latin typeface="+mn-ea"/>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982973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a:t>Overview and Objectives</a:t>
            </a: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87388" y="505779"/>
            <a:ext cx="374708" cy="445558"/>
            <a:chOff x="-1647825" y="2492375"/>
            <a:chExt cx="1947863" cy="2316163"/>
          </a:xfrm>
          <a:solidFill>
            <a:schemeClr val="bg1"/>
          </a:solidFill>
        </p:grpSpPr>
        <p:sp>
          <p:nvSpPr>
            <p:cNvPr id="12"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extLst>
    <p:ext uri="{DCECCB84-F9BA-43D5-87BE-67443E8EF086}">
      <p15:sldGuideLst xmlns:p15="http://schemas.microsoft.com/office/powerpoint/2012/main">
        <p15:guide id="3"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Title and Content">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912285" y="1233488"/>
            <a:ext cx="10560048" cy="4680000"/>
          </a:xfrm>
          <a:prstGeom prst="rect">
            <a:avLst/>
          </a:prstGeom>
        </p:spPr>
        <p:txBody>
          <a:bodyPr/>
          <a:lstStyle>
            <a:lvl1pPr algn="just">
              <a:defRPr>
                <a:latin typeface="+mn-ea"/>
                <a:ea typeface="+mn-ea"/>
                <a:cs typeface="Arial" panose="020B0604020202020204" pitchFamily="34" charset="0"/>
              </a:defRPr>
            </a:lvl1pPr>
          </a:lstStyle>
          <a:p>
            <a:r>
              <a:rPr lang="en-US" altLang="zh-CN" dirty="0"/>
              <a:t>Click here to edit</a:t>
            </a:r>
            <a:endParaRPr lang="zh-CN" altLang="en-US" dirty="0"/>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7"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8" name="组合 7"/>
          <p:cNvGrpSpPr/>
          <p:nvPr userDrawn="1"/>
        </p:nvGrpSpPr>
        <p:grpSpPr>
          <a:xfrm>
            <a:off x="587388" y="505779"/>
            <a:ext cx="374708" cy="445558"/>
            <a:chOff x="-1647825" y="2492375"/>
            <a:chExt cx="1947863" cy="2316163"/>
          </a:xfrm>
          <a:solidFill>
            <a:schemeClr val="bg1"/>
          </a:solidFill>
        </p:grpSpPr>
        <p:sp>
          <p:nvSpPr>
            <p:cNvPr id="9"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0"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1" name="文本占位符 29"/>
          <p:cNvSpPr>
            <a:spLocks noGrp="1"/>
          </p:cNvSpPr>
          <p:nvPr>
            <p:ph type="body" sz="quarter" idx="12" hasCustomPrompt="1"/>
          </p:nvPr>
        </p:nvSpPr>
        <p:spPr>
          <a:xfrm>
            <a:off x="1595500" y="410400"/>
            <a:ext cx="9831600" cy="639559"/>
          </a:xfrm>
          <a:noFill/>
          <a:ln w="9525">
            <a:noFill/>
            <a:miter lim="800000"/>
            <a:headEnd/>
            <a:tailEnd/>
          </a:ln>
        </p:spPr>
        <p:txBody>
          <a:bodyPr wrap="square" lIns="99980" tIns="49987" rIns="99980" bIns="49987" rtlCol="0" anchor="t">
            <a:spAutoFit/>
          </a:bodyPr>
          <a:lstStyle>
            <a:lvl1pPr marL="0" indent="0" algn="l">
              <a:lnSpc>
                <a:spcPct val="100000"/>
              </a:lnSpc>
              <a:buNone/>
              <a:defRPr lang="zh-CN" altLang="en-US" sz="3500" b="1" kern="1200" dirty="0">
                <a:solidFill>
                  <a:schemeClr val="tx1">
                    <a:lumMod val="75000"/>
                    <a:lumOff val="25000"/>
                  </a:schemeClr>
                </a:solidFill>
                <a:latin typeface="+mn-ea"/>
                <a:cs typeface="Arial" pitchFamily="34" charset="0"/>
              </a:defRPr>
            </a:lvl1pPr>
          </a:lstStyle>
          <a:p>
            <a:pPr lvl="0" defTabSz="1001624" eaLnBrk="0" fontAlgn="t" hangingPunct="0">
              <a:spcBef>
                <a:spcPct val="0"/>
              </a:spcBef>
            </a:pPr>
            <a:r>
              <a:rPr lang="en-US" altLang="zh-CN" sz="3500" b="1" kern="1200" dirty="0">
                <a:solidFill>
                  <a:schemeClr val="tx1">
                    <a:lumMod val="75000"/>
                    <a:lumOff val="25000"/>
                  </a:schemeClr>
                </a:solidFill>
                <a:latin typeface="+mn-ea"/>
                <a:ea typeface="+mn-ea"/>
                <a:cs typeface="Arial" pitchFamily="34" charset="0"/>
              </a:rPr>
              <a:t>Title</a:t>
            </a:r>
            <a:endParaRPr lang="zh-CN" altLang="en-US" sz="3500" b="1" kern="1200" dirty="0">
              <a:solidFill>
                <a:schemeClr val="tx1">
                  <a:lumMod val="75000"/>
                  <a:lumOff val="25000"/>
                </a:schemeClr>
              </a:solidFill>
              <a:latin typeface="+mn-ea"/>
              <a:ea typeface="+mn-ea"/>
              <a:cs typeface="Arial" pitchFamily="34" charset="0"/>
            </a:endParaRPr>
          </a:p>
        </p:txBody>
      </p:sp>
    </p:spTree>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Title Only">
    <p:spTree>
      <p:nvGrpSpPr>
        <p:cNvPr id="1" name=""/>
        <p:cNvGrpSpPr/>
        <p:nvPr/>
      </p:nvGrpSpPr>
      <p:grpSpPr>
        <a:xfrm>
          <a:off x="0" y="0"/>
          <a:ext cx="0" cy="0"/>
          <a:chOff x="0" y="0"/>
          <a:chExt cx="0" cy="0"/>
        </a:xfrm>
      </p:grpSpPr>
      <p:sp>
        <p:nvSpPr>
          <p:cNvPr id="10"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ea typeface="宋体" pitchFamily="2" charset="-122"/>
            </a:endParaRPr>
          </a:p>
        </p:txBody>
      </p:sp>
      <p:sp>
        <p:nvSpPr>
          <p:cNvPr id="11"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ea typeface="宋体" pitchFamily="2" charset="-122"/>
            </a:endParaRPr>
          </a:p>
        </p:txBody>
      </p:sp>
      <p:sp>
        <p:nvSpPr>
          <p:cNvPr id="12" name="Freeform 12"/>
          <p:cNvSpPr>
            <a:spLocks noEditPoints="1"/>
          </p:cNvSpPr>
          <p:nvPr userDrawn="1"/>
        </p:nvSpPr>
        <p:spPr bwMode="auto">
          <a:xfrm>
            <a:off x="479376" y="474075"/>
            <a:ext cx="508162"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文本占位符 29"/>
          <p:cNvSpPr>
            <a:spLocks noGrp="1"/>
          </p:cNvSpPr>
          <p:nvPr>
            <p:ph type="body" sz="quarter" idx="12" hasCustomPrompt="1"/>
          </p:nvPr>
        </p:nvSpPr>
        <p:spPr>
          <a:xfrm>
            <a:off x="1595500" y="410400"/>
            <a:ext cx="9831600" cy="639559"/>
          </a:xfrm>
          <a:noFill/>
          <a:ln w="9525">
            <a:noFill/>
            <a:miter lim="800000"/>
            <a:headEnd/>
            <a:tailEnd/>
          </a:ln>
        </p:spPr>
        <p:txBody>
          <a:bodyPr wrap="square" lIns="99980" tIns="49987" rIns="99980" bIns="49987" rtlCol="0" anchor="t">
            <a:spAutoFit/>
          </a:bodyPr>
          <a:lstStyle>
            <a:lvl1pPr marL="0" indent="0" algn="l">
              <a:lnSpc>
                <a:spcPct val="100000"/>
              </a:lnSpc>
              <a:buNone/>
              <a:defRPr lang="zh-CN" altLang="en-US" sz="3500" b="1" kern="1200" dirty="0">
                <a:solidFill>
                  <a:schemeClr val="tx1">
                    <a:lumMod val="75000"/>
                    <a:lumOff val="25000"/>
                  </a:schemeClr>
                </a:solidFill>
                <a:latin typeface="+mn-ea"/>
                <a:cs typeface="Arial" pitchFamily="34" charset="0"/>
              </a:defRPr>
            </a:lvl1pPr>
          </a:lstStyle>
          <a:p>
            <a:pPr lvl="0" defTabSz="1001624" eaLnBrk="0" fontAlgn="t" hangingPunct="0">
              <a:spcBef>
                <a:spcPct val="0"/>
              </a:spcBef>
            </a:pPr>
            <a:r>
              <a:rPr lang="en-US" altLang="zh-CN" sz="3500" b="1" kern="1200" dirty="0">
                <a:solidFill>
                  <a:schemeClr val="tx1">
                    <a:lumMod val="75000"/>
                    <a:lumOff val="25000"/>
                  </a:schemeClr>
                </a:solidFill>
                <a:latin typeface="+mn-ea"/>
                <a:ea typeface="+mn-ea"/>
                <a:cs typeface="Arial" pitchFamily="34" charset="0"/>
              </a:rPr>
              <a:t>Title</a:t>
            </a:r>
            <a:endParaRPr lang="zh-CN" altLang="en-US" sz="3500" b="1" kern="1200" dirty="0">
              <a:solidFill>
                <a:schemeClr val="tx1">
                  <a:lumMod val="75000"/>
                  <a:lumOff val="25000"/>
                </a:schemeClr>
              </a:solidFill>
              <a:latin typeface="+mn-ea"/>
              <a:ea typeface="+mn-ea"/>
              <a:cs typeface="Arial" pitchFamily="34" charset="0"/>
            </a:endParaRPr>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White Background">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Quiz">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912285" y="1233487"/>
            <a:ext cx="10560049" cy="4680000"/>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rgbClr val="808080"/>
              </a:buClr>
              <a:buSzPct val="100000"/>
              <a:buFont typeface="+mj-lt"/>
              <a:buAutoNum type="arabicPeriod"/>
              <a:tabLst/>
              <a:defRPr sz="2000">
                <a:latin typeface="+mn-ea"/>
                <a:ea typeface="+mn-ea"/>
                <a:cs typeface="Arial" panose="020B0604020202020204" pitchFamily="34" charset="0"/>
              </a:defRPr>
            </a:lvl1pPr>
            <a:lvl2pPr marL="401637" indent="0" algn="just">
              <a:buSzPct val="100000"/>
              <a:buFont typeface="+mj-lt"/>
              <a:buNone/>
              <a:defRPr sz="1800"/>
            </a:lvl2pPr>
            <a:lvl3pPr>
              <a:defRPr/>
            </a:lvl3pPr>
            <a:lvl5pPr>
              <a:buNone/>
              <a:defRPr/>
            </a:lvl5pPr>
          </a:lstStyle>
          <a:p>
            <a:r>
              <a:rPr lang="en-US" altLang="zh-CN" dirty="0"/>
              <a:t>Question description.</a:t>
            </a:r>
          </a:p>
        </p:txBody>
      </p:sp>
      <p:sp>
        <p:nvSpPr>
          <p:cNvPr id="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a:t>Quiz</a:t>
            </a:r>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479376" y="424270"/>
            <a:ext cx="495619" cy="592462"/>
            <a:chOff x="5554662" y="2422526"/>
            <a:chExt cx="690564" cy="825500"/>
          </a:xfrm>
          <a:solidFill>
            <a:schemeClr val="bg1"/>
          </a:solidFill>
        </p:grpSpPr>
        <p:sp>
          <p:nvSpPr>
            <p:cNvPr id="11"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2"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8"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9"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0"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1"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2"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3"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24" name="Freeform 6"/>
          <p:cNvSpPr>
            <a:spLocks/>
          </p:cNvSpPr>
          <p:nvPr userDrawn="1"/>
        </p:nvSpPr>
        <p:spPr bwMode="auto">
          <a:xfrm>
            <a:off x="3288528" y="296368"/>
            <a:ext cx="8892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25" name="Freeform 11"/>
          <p:cNvSpPr>
            <a:spLocks/>
          </p:cNvSpPr>
          <p:nvPr userDrawn="1"/>
        </p:nvSpPr>
        <p:spPr bwMode="auto">
          <a:xfrm>
            <a:off x="3180516"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Section Summary(Optional)">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5pPr>
              <a:buNone/>
              <a:defRPr/>
            </a:lvl5pPr>
          </a:lstStyle>
          <a:p>
            <a:r>
              <a:rPr lang="en-US" altLang="zh-CN" dirty="0"/>
              <a:t>Click here to edit summary</a:t>
            </a:r>
            <a:endParaRPr lang="zh-CN" altLang="en-US" dirty="0"/>
          </a:p>
        </p:txBody>
      </p:sp>
      <p:sp>
        <p:nvSpPr>
          <p:cNvPr id="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424847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a:t>Section Summary</a:t>
            </a: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Summary">
    <p:spTree>
      <p:nvGrpSpPr>
        <p:cNvPr id="1" name=""/>
        <p:cNvGrpSpPr/>
        <p:nvPr/>
      </p:nvGrpSpPr>
      <p:grpSpPr>
        <a:xfrm>
          <a:off x="0" y="0"/>
          <a:ext cx="0" cy="0"/>
          <a:chOff x="0" y="0"/>
          <a:chExt cx="0" cy="0"/>
        </a:xfrm>
      </p:grpSpPr>
      <p:sp>
        <p:nvSpPr>
          <p:cNvPr id="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412268"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a:solidFill>
                  <a:schemeClr val="tx1">
                    <a:lumMod val="75000"/>
                    <a:lumOff val="25000"/>
                  </a:schemeClr>
                </a:solidFill>
                <a:latin typeface="+mn-ea"/>
                <a:ea typeface="+mn-ea"/>
                <a:cs typeface="Arial" pitchFamily="34" charset="0"/>
              </a:rPr>
              <a:t>Summary</a:t>
            </a: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4" name="文本占位符 6"/>
          <p:cNvSpPr>
            <a:spLocks noGrp="1"/>
          </p:cNvSpPr>
          <p:nvPr>
            <p:ph type="body" sz="quarter" idx="11" hasCustomPrompt="1"/>
          </p:nvPr>
        </p:nvSpPr>
        <p:spPr>
          <a:xfrm>
            <a:off x="911424" y="1232756"/>
            <a:ext cx="10560049" cy="4680000"/>
          </a:xfrm>
        </p:spPr>
        <p:txBody>
          <a:bodyPr/>
          <a:lstStyle>
            <a:lvl1pPr algn="just">
              <a:defRPr>
                <a:latin typeface="+mn-ea"/>
                <a:ea typeface="+mn-ea"/>
                <a:cs typeface="Arial" panose="020B0604020202020204" pitchFamily="34" charset="0"/>
              </a:defRPr>
            </a:lvl1pPr>
            <a:lvl5pPr>
              <a:buNone/>
              <a:defRPr/>
            </a:lvl5pPr>
          </a:lstStyle>
          <a:p>
            <a:pPr lvl="0"/>
            <a:r>
              <a:rPr lang="en-US" altLang="zh-CN" dirty="0"/>
              <a:t>Click to edit</a:t>
            </a:r>
            <a:endParaRPr lang="zh-CN" altLang="en-US"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extLst>
    <p:ext uri="{DCECCB84-F9BA-43D5-87BE-67443E8EF086}">
      <p15:sldGuideLst xmlns:p15="http://schemas.microsoft.com/office/powerpoint/2012/main">
        <p15:guide id="1" pos="3840" userDrawn="1">
          <p15:clr>
            <a:srgbClr val="FBAE40"/>
          </p15:clr>
        </p15:guide>
        <p15:guide id="2" pos="57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More Information(Optional)">
    <p:spTree>
      <p:nvGrpSpPr>
        <p:cNvPr id="1" name=""/>
        <p:cNvGrpSpPr/>
        <p:nvPr/>
      </p:nvGrpSpPr>
      <p:grpSpPr>
        <a:xfrm>
          <a:off x="0" y="0"/>
          <a:ext cx="0" cy="0"/>
          <a:chOff x="0" y="0"/>
          <a:chExt cx="0" cy="0"/>
        </a:xfrm>
      </p:grpSpPr>
      <p:sp>
        <p:nvSpPr>
          <p:cNvPr id="9" name="文本占位符 6"/>
          <p:cNvSpPr>
            <a:spLocks noGrp="1"/>
          </p:cNvSpPr>
          <p:nvPr>
            <p:ph type="body" sz="quarter" idx="10" hasCustomPrompt="1"/>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5pPr>
              <a:buNone/>
              <a:defRPr/>
            </a:lvl5pPr>
          </a:lstStyle>
          <a:p>
            <a:r>
              <a:rPr lang="en-US" altLang="zh-CN" dirty="0"/>
              <a:t>More information for trainees</a:t>
            </a:r>
            <a:endParaRPr lang="zh-CN" altLang="en-US" dirty="0"/>
          </a:p>
        </p:txBody>
      </p:sp>
      <p:sp>
        <p:nvSpPr>
          <p:cNvPr id="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a:solidFill>
                  <a:schemeClr val="tx1">
                    <a:lumMod val="75000"/>
                    <a:lumOff val="25000"/>
                  </a:schemeClr>
                </a:solidFill>
                <a:latin typeface="+mn-ea"/>
                <a:ea typeface="+mn-ea"/>
                <a:cs typeface="Arial" pitchFamily="34" charset="0"/>
              </a:rPr>
              <a:t>More Information</a:t>
            </a:r>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479376" y="480268"/>
            <a:ext cx="496581" cy="496581"/>
            <a:chOff x="4485904" y="3429000"/>
            <a:chExt cx="2003425" cy="2003425"/>
          </a:xfrm>
          <a:solidFill>
            <a:schemeClr val="bg1"/>
          </a:solidFill>
        </p:grpSpPr>
        <p:sp>
          <p:nvSpPr>
            <p:cNvPr id="12"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Recommendations(Optional)">
    <p:spTree>
      <p:nvGrpSpPr>
        <p:cNvPr id="1" name=""/>
        <p:cNvGrpSpPr/>
        <p:nvPr/>
      </p:nvGrpSpPr>
      <p:grpSpPr>
        <a:xfrm>
          <a:off x="0" y="0"/>
          <a:ext cx="0" cy="0"/>
          <a:chOff x="0" y="0"/>
          <a:chExt cx="0" cy="0"/>
        </a:xfrm>
      </p:grpSpPr>
      <p:sp>
        <p:nvSpPr>
          <p:cNvPr id="6" name="文本占位符 6"/>
          <p:cNvSpPr>
            <a:spLocks noGrp="1"/>
          </p:cNvSpPr>
          <p:nvPr>
            <p:ph type="body" sz="quarter" idx="10"/>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stStyle>
          <a:p>
            <a:endParaRPr lang="zh-CN" altLang="en-US" dirty="0"/>
          </a:p>
        </p:txBody>
      </p:sp>
      <p:sp>
        <p:nvSpPr>
          <p:cNvPr id="8"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a:solidFill>
                  <a:schemeClr val="tx1">
                    <a:lumMod val="75000"/>
                    <a:lumOff val="25000"/>
                  </a:schemeClr>
                </a:solidFill>
                <a:latin typeface="+mn-ea"/>
                <a:ea typeface="+mn-ea"/>
                <a:cs typeface="Arial" pitchFamily="34" charset="0"/>
              </a:rPr>
              <a:t>Recommendations</a:t>
            </a: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56929"/>
            <a:ext cx="461963" cy="485190"/>
            <a:chOff x="-779463" y="1835151"/>
            <a:chExt cx="1136650" cy="1193799"/>
          </a:xfrm>
          <a:solidFill>
            <a:schemeClr val="bg1"/>
          </a:solidFill>
        </p:grpSpPr>
        <p:sp>
          <p:nvSpPr>
            <p:cNvPr id="12"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5#Thank You">
    <p:spTree>
      <p:nvGrpSpPr>
        <p:cNvPr id="1" name=""/>
        <p:cNvGrpSpPr/>
        <p:nvPr/>
      </p:nvGrpSpPr>
      <p:grpSpPr>
        <a:xfrm>
          <a:off x="0" y="0"/>
          <a:ext cx="0" cy="0"/>
          <a:chOff x="0" y="0"/>
          <a:chExt cx="0" cy="0"/>
        </a:xfrm>
      </p:grpSpPr>
      <p:pic>
        <p:nvPicPr>
          <p:cNvPr id="7"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0" y="0"/>
            <a:ext cx="12193664"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userDrawn="1"/>
        </p:nvSpPr>
        <p:spPr bwMode="auto">
          <a:xfrm>
            <a:off x="-24680" y="-8620"/>
            <a:ext cx="12240000" cy="6876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ea"/>
              <a:ea typeface="+mn-ea"/>
            </a:endParaRPr>
          </a:p>
        </p:txBody>
      </p:sp>
      <p:grpSp>
        <p:nvGrpSpPr>
          <p:cNvPr id="4" name="组合 3"/>
          <p:cNvGrpSpPr/>
          <p:nvPr userDrawn="1"/>
        </p:nvGrpSpPr>
        <p:grpSpPr>
          <a:xfrm>
            <a:off x="4106469" y="2676330"/>
            <a:ext cx="3971726" cy="1543241"/>
            <a:chOff x="4698555" y="2537610"/>
            <a:chExt cx="3971726" cy="1543241"/>
          </a:xfrm>
        </p:grpSpPr>
        <p:sp>
          <p:nvSpPr>
            <p:cNvPr id="5" name="Text Box 9">
              <a:extLst>
                <a:ext uri="{FF2B5EF4-FFF2-40B4-BE49-F238E27FC236}">
                  <a16:creationId xmlns:a16="http://schemas.microsoft.com/office/drawing/2014/main" id="{9D36E720-0E25-41AB-8346-B547D8B86001}"/>
                </a:ext>
              </a:extLst>
            </p:cNvPr>
            <p:cNvSpPr txBox="1">
              <a:spLocks noChangeArrowheads="1"/>
            </p:cNvSpPr>
            <p:nvPr/>
          </p:nvSpPr>
          <p:spPr bwMode="auto">
            <a:xfrm>
              <a:off x="4698555" y="3447730"/>
              <a:ext cx="3971726" cy="633121"/>
            </a:xfrm>
            <a:prstGeom prst="rect">
              <a:avLst/>
            </a:prstGeom>
            <a:noFill/>
            <a:ln w="9525">
              <a:noFill/>
              <a:miter lim="800000"/>
              <a:headEnd/>
              <a:tailEnd/>
            </a:ln>
          </p:spPr>
          <p:txBody>
            <a:bodyPr wrap="none" lIns="78358" tIns="39179" rIns="78358" bIns="39179">
              <a:spAutoFit/>
            </a:bodyPr>
            <a:lstStyle>
              <a:defPPr>
                <a:defRPr lang="zh-CN"/>
              </a:defPPr>
              <a:lvl1pPr defTabSz="784225" eaLnBrk="0" hangingPunct="0">
                <a:buSzPct val="100000"/>
                <a:defRPr sz="3600">
                  <a:solidFill>
                    <a:schemeClr val="bg1"/>
                  </a:solidFill>
                  <a:effectLst>
                    <a:outerShdw blurRad="38100" dist="38100" dir="2700000" algn="tl">
                      <a:srgbClr val="000000">
                        <a:alpha val="43137"/>
                      </a:srgbClr>
                    </a:outerShdw>
                  </a:effectLst>
                  <a:latin typeface="+mn-ea"/>
                  <a:ea typeface="+mn-ea"/>
                  <a:cs typeface="Arial" panose="020B0604020202020204" pitchFamily="34" charset="0"/>
                </a:defRPr>
              </a:lvl1pPr>
            </a:lstStyle>
            <a:p>
              <a:pPr lvl="0"/>
              <a:r>
                <a:rPr lang="zh-CN" altLang="zh-CN" dirty="0">
                  <a:sym typeface="FrutigerNext LT Regular" pitchFamily="34" charset="0"/>
                </a:rPr>
                <a:t>www.huawei.com</a:t>
              </a:r>
            </a:p>
          </p:txBody>
        </p:sp>
        <p:sp>
          <p:nvSpPr>
            <p:cNvPr id="6" name="Text Box 8">
              <a:extLst>
                <a:ext uri="{FF2B5EF4-FFF2-40B4-BE49-F238E27FC236}">
                  <a16:creationId xmlns:a16="http://schemas.microsoft.com/office/drawing/2014/main" id="{11ED55EC-FD16-4B98-B04D-4605D3C0D784}"/>
                </a:ext>
              </a:extLst>
            </p:cNvPr>
            <p:cNvSpPr txBox="1">
              <a:spLocks noChangeArrowheads="1"/>
            </p:cNvSpPr>
            <p:nvPr/>
          </p:nvSpPr>
          <p:spPr bwMode="auto">
            <a:xfrm>
              <a:off x="4891281" y="2537610"/>
              <a:ext cx="3593610" cy="910120"/>
            </a:xfrm>
            <a:prstGeom prst="rect">
              <a:avLst/>
            </a:prstGeom>
            <a:noFill/>
            <a:ln w="9525">
              <a:noFill/>
              <a:miter lim="800000"/>
              <a:headEnd/>
              <a:tailEnd/>
            </a:ln>
          </p:spPr>
          <p:txBody>
            <a:bodyPr wrap="none" lIns="78358" tIns="39179" rIns="78358" bIns="39179">
              <a:spAutoFit/>
            </a:bodyPr>
            <a:lstStyle>
              <a:defPPr>
                <a:defRPr lang="zh-CN"/>
              </a:defPPr>
              <a:lvl1pPr defTabSz="784225" eaLnBrk="0" fontAlgn="base" hangingPunct="0">
                <a:buSzPct val="100000"/>
                <a:defRPr sz="5400">
                  <a:solidFill>
                    <a:schemeClr val="bg1"/>
                  </a:solidFill>
                  <a:effectLst>
                    <a:outerShdw blurRad="38100" dist="38100" dir="2700000" algn="tl">
                      <a:srgbClr val="000000">
                        <a:alpha val="43137"/>
                      </a:srgbClr>
                    </a:outerShdw>
                  </a:effectLst>
                  <a:latin typeface="+mn-ea"/>
                  <a:ea typeface="+mn-ea"/>
                </a:defRPr>
              </a:lvl1pPr>
            </a:lstStyle>
            <a:p>
              <a:pPr lvl="0"/>
              <a:r>
                <a:rPr lang="en-US" altLang="zh-CN" dirty="0">
                  <a:sym typeface="FrutigerNext LT Regular" pitchFamily="34" charset="0"/>
                </a:rPr>
                <a:t>Thank You</a:t>
              </a:r>
              <a:endParaRPr lang="zh-CN" altLang="zh-CN" dirty="0">
                <a:sym typeface="FrutigerNext LT Regular" pitchFamily="34" charset="0"/>
              </a:endParaRPr>
            </a:p>
          </p:txBody>
        </p:sp>
      </p:grpSp>
    </p:spTree>
    <p:extLst>
      <p:ext uri="{BB962C8B-B14F-4D97-AF65-F5344CB8AC3E}">
        <p14:creationId xmlns:p14="http://schemas.microsoft.com/office/powerpoint/2010/main" val="39710190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8#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4" y="387351"/>
            <a:ext cx="10560049" cy="868363"/>
          </a:xfrm>
        </p:spPr>
        <p:txBody>
          <a:bodyPr/>
          <a:lstStyle>
            <a:lvl1pPr>
              <a:defRPr/>
            </a:lvl1pPr>
          </a:lstStyle>
          <a:p>
            <a:r>
              <a:rPr lang="en-US" altLang="zh-CN" dirty="0"/>
              <a:t>Title</a:t>
            </a:r>
            <a:endParaRPr lang="zh-CN" altLang="en-US" dirty="0"/>
          </a:p>
        </p:txBody>
      </p:sp>
    </p:spTree>
    <p:extLst>
      <p:ext uri="{BB962C8B-B14F-4D97-AF65-F5344CB8AC3E}">
        <p14:creationId xmlns:p14="http://schemas.microsoft.com/office/powerpoint/2010/main" val="1087560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674829" y="6504031"/>
            <a:ext cx="1249200" cy="273343"/>
          </a:xfrm>
          <a:prstGeom prst="rect">
            <a:avLst/>
          </a:prstGeom>
        </p:spPr>
      </p:pic>
      <p:sp>
        <p:nvSpPr>
          <p:cNvPr id="7" name="Espace réservé du titre 6"/>
          <p:cNvSpPr>
            <a:spLocks noGrp="1" noChangeArrowheads="1"/>
          </p:cNvSpPr>
          <p:nvPr>
            <p:ph type="title"/>
          </p:nvPr>
        </p:nvSpPr>
        <p:spPr bwMode="auto">
          <a:xfrm>
            <a:off x="911424" y="262036"/>
            <a:ext cx="106023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en-US" altLang="zh-CN" dirty="0"/>
              <a:t>Click to Edit</a:t>
            </a:r>
            <a:endParaRPr lang="zh-CN" altLang="en-US" dirty="0"/>
          </a:p>
        </p:txBody>
      </p:sp>
      <p:sp>
        <p:nvSpPr>
          <p:cNvPr id="9" name="Rectangle 57"/>
          <p:cNvSpPr>
            <a:spLocks noGrp="1" noChangeArrowheads="1"/>
          </p:cNvSpPr>
          <p:nvPr>
            <p:ph type="body" idx="1"/>
          </p:nvPr>
        </p:nvSpPr>
        <p:spPr bwMode="auto">
          <a:xfrm>
            <a:off x="911425" y="1249461"/>
            <a:ext cx="10572749" cy="504867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Rectangle 69"/>
          <p:cNvSpPr>
            <a:spLocks noChangeArrowheads="1"/>
          </p:cNvSpPr>
          <p:nvPr userDrawn="1"/>
        </p:nvSpPr>
        <p:spPr bwMode="auto">
          <a:xfrm>
            <a:off x="119336" y="6500581"/>
            <a:ext cx="704672"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n-ea"/>
                <a:cs typeface="Arial" pitchFamily="34" charset="0"/>
              </a:rPr>
              <a:t>Page</a:t>
            </a:r>
            <a:r>
              <a:rPr lang="en-US" altLang="zh-CN" sz="1200" baseline="0" dirty="0">
                <a:latin typeface="+mj-lt"/>
                <a:ea typeface="+mn-ea"/>
                <a:cs typeface="Arial" pitchFamily="34" charset="0"/>
              </a:rPr>
              <a:t> </a:t>
            </a:r>
            <a:fld id="{2F2CF7F5-F178-4429-B6CA-28062DF31937}" type="slidenum">
              <a:rPr lang="en-US" altLang="zh-CN" sz="1200" smtClean="0">
                <a:latin typeface="+mj-lt"/>
                <a:ea typeface="+mn-ea"/>
                <a:cs typeface="Arial" pitchFamily="34" charset="0"/>
              </a:rPr>
              <a:pPr defTabSz="801668" eaLnBrk="0" fontAlgn="base" hangingPunct="0">
                <a:defRPr/>
              </a:pPr>
              <a:t>‹N°›</a:t>
            </a:fld>
            <a:endParaRPr lang="en-US" altLang="zh-CN" sz="1200" dirty="0">
              <a:latin typeface="+mj-lt"/>
              <a:ea typeface="+mn-ea"/>
              <a:cs typeface="Arial" pitchFamily="34" charset="0"/>
            </a:endParaRPr>
          </a:p>
        </p:txBody>
      </p:sp>
      <p:sp>
        <p:nvSpPr>
          <p:cNvPr id="11" name="Rectangle 54"/>
          <p:cNvSpPr>
            <a:spLocks noChangeArrowheads="1"/>
          </p:cNvSpPr>
          <p:nvPr userDrawn="1"/>
        </p:nvSpPr>
        <p:spPr bwMode="auto">
          <a:xfrm>
            <a:off x="947428" y="6500581"/>
            <a:ext cx="517480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S PGothic" pitchFamily="34" charset="-128"/>
                <a:cs typeface="Arial" pitchFamily="34" charset="0"/>
              </a:rPr>
              <a:t>Copyright © 2019 Huawei Technologies Co., Ltd. All rights reserved. </a:t>
            </a:r>
          </a:p>
        </p:txBody>
      </p:sp>
    </p:spTree>
  </p:cSld>
  <p:clrMap bg1="lt1" tx1="dk1" bg2="lt2" tx2="dk2" accent1="accent1" accent2="accent2" accent3="accent3" accent4="accent4" accent5="accent5" accent6="accent6" hlink="hlink" folHlink="folHlink"/>
  <p:sldLayoutIdLst>
    <p:sldLayoutId id="2147483855" r:id="rId1"/>
    <p:sldLayoutId id="2147483830" r:id="rId2"/>
    <p:sldLayoutId id="2147483846" r:id="rId3"/>
    <p:sldLayoutId id="2147483826" r:id="rId4"/>
    <p:sldLayoutId id="2147483848" r:id="rId5"/>
    <p:sldLayoutId id="2147483849" r:id="rId6"/>
    <p:sldLayoutId id="2147483858" r:id="rId7"/>
    <p:sldLayoutId id="2147483828" r:id="rId8"/>
    <p:sldLayoutId id="2147483863" r:id="rId9"/>
    <p:sldLayoutId id="2147483862" r:id="rId10"/>
    <p:sldLayoutId id="2147483851" r:id="rId11"/>
    <p:sldLayoutId id="2147483852" r:id="rId12"/>
    <p:sldLayoutId id="2147483850" r:id="rId13"/>
    <p:sldLayoutId id="2147483861" r:id="rId14"/>
    <p:sldLayoutId id="2147483866" r:id="rId15"/>
    <p:sldLayoutId id="2147483867" r:id="rId16"/>
  </p:sldLayoutIdLst>
  <p:hf hdr="0" ftr="0" dt="0"/>
  <p:txStyles>
    <p:titleStyle>
      <a:lvl1pPr algn="l" defTabSz="801688" rtl="0" eaLnBrk="0" fontAlgn="base" hangingPunct="0">
        <a:spcBef>
          <a:spcPct val="0"/>
        </a:spcBef>
        <a:spcAft>
          <a:spcPct val="0"/>
        </a:spcAft>
        <a:defRPr sz="3500" b="0">
          <a:solidFill>
            <a:schemeClr val="tx1">
              <a:lumMod val="75000"/>
              <a:lumOff val="25000"/>
            </a:schemeClr>
          </a:solidFill>
          <a:latin typeface="+mn-lt"/>
          <a:ea typeface="+mj-ea"/>
          <a:cs typeface="+mj-cs"/>
        </a:defRPr>
      </a:lvl1pPr>
      <a:lvl2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2pPr>
      <a:lvl3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3pPr>
      <a:lvl4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4pPr>
      <a:lvl5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5pPr>
      <a:lvl6pPr marL="457200" algn="l" defTabSz="801688" rtl="0" fontAlgn="base">
        <a:spcBef>
          <a:spcPct val="0"/>
        </a:spcBef>
        <a:spcAft>
          <a:spcPct val="0"/>
        </a:spcAft>
        <a:defRPr sz="3500">
          <a:solidFill>
            <a:srgbClr val="990000"/>
          </a:solidFill>
          <a:latin typeface="FrutigerNext LT Medium" pitchFamily="34" charset="0"/>
          <a:ea typeface="黑体" pitchFamily="2" charset="-122"/>
        </a:defRPr>
      </a:lvl6pPr>
      <a:lvl7pPr marL="914400" algn="l" defTabSz="801688" rtl="0" fontAlgn="base">
        <a:spcBef>
          <a:spcPct val="0"/>
        </a:spcBef>
        <a:spcAft>
          <a:spcPct val="0"/>
        </a:spcAft>
        <a:defRPr sz="3500">
          <a:solidFill>
            <a:srgbClr val="990000"/>
          </a:solidFill>
          <a:latin typeface="FrutigerNext LT Medium" pitchFamily="34" charset="0"/>
          <a:ea typeface="黑体" pitchFamily="2" charset="-122"/>
        </a:defRPr>
      </a:lvl7pPr>
      <a:lvl8pPr marL="1371600" algn="l" defTabSz="801688" rtl="0" fontAlgn="base">
        <a:spcBef>
          <a:spcPct val="0"/>
        </a:spcBef>
        <a:spcAft>
          <a:spcPct val="0"/>
        </a:spcAft>
        <a:defRPr sz="3500">
          <a:solidFill>
            <a:srgbClr val="990000"/>
          </a:solidFill>
          <a:latin typeface="FrutigerNext LT Medium" pitchFamily="34" charset="0"/>
          <a:ea typeface="黑体" pitchFamily="2" charset="-122"/>
        </a:defRPr>
      </a:lvl8pPr>
      <a:lvl9pPr marL="1828800" algn="l" defTabSz="801688" rtl="0" fontAlgn="base">
        <a:spcBef>
          <a:spcPct val="0"/>
        </a:spcBef>
        <a:spcAft>
          <a:spcPct val="0"/>
        </a:spcAft>
        <a:defRPr sz="3500">
          <a:solidFill>
            <a:srgbClr val="990000"/>
          </a:solidFill>
          <a:latin typeface="FrutigerNext LT Medium" pitchFamily="34" charset="0"/>
          <a:ea typeface="黑体" pitchFamily="2" charset="-122"/>
        </a:defRPr>
      </a:lvl9pPr>
    </p:titleStyle>
    <p:body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35" userDrawn="1">
          <p15:clr>
            <a:srgbClr val="F26B43"/>
          </p15:clr>
        </p15:guide>
        <p15:guide id="2" pos="7227" userDrawn="1">
          <p15:clr>
            <a:srgbClr val="F26B43"/>
          </p15:clr>
        </p15:guide>
        <p15:guide id="3" orient="horz" pos="777" userDrawn="1">
          <p15:clr>
            <a:srgbClr val="F26B43"/>
          </p15:clr>
        </p15:guide>
        <p15:guide id="4" orient="horz" pos="4020" userDrawn="1">
          <p15:clr>
            <a:srgbClr val="F26B43"/>
          </p15:clr>
        </p15:guide>
        <p15:guide id="6" orient="horz" pos="234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image" Target="../media/image6.png"/><Relationship Id="rId7" Type="http://schemas.openxmlformats.org/officeDocument/2006/relationships/oleObject" Target="../embeddings/oleObject1.bin"/><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8.png"/><Relationship Id="rId10" Type="http://schemas.openxmlformats.org/officeDocument/2006/relationships/image" Target="../media/image10.wmf"/><Relationship Id="rId4" Type="http://schemas.openxmlformats.org/officeDocument/2006/relationships/image" Target="../media/image5.png"/><Relationship Id="rId9"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5.png"/><Relationship Id="rId7" Type="http://schemas.openxmlformats.org/officeDocument/2006/relationships/oleObject" Target="../embeddings/oleObject3.bin"/><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2.wmf"/><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oleObject" Target="../embeddings/oleObject4.bin"/><Relationship Id="rId5" Type="http://schemas.openxmlformats.org/officeDocument/2006/relationships/image" Target="../media/image7.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12.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3"/>
          <p:cNvSpPr>
            <a:spLocks noGrp="1"/>
          </p:cNvSpPr>
          <p:nvPr>
            <p:ph type="ctrTitle" sz="quarter"/>
          </p:nvPr>
        </p:nvSpPr>
        <p:spPr/>
        <p:txBody>
          <a:bodyPr/>
          <a:lstStyle/>
          <a:p>
            <a:pPr algn="l" rtl="0"/>
            <a:r>
              <a:rPr lang="zh-CN" altLang="zh-CN">
                <a:sym typeface="FrutigerNext LT Regular" pitchFamily="34" charset="0"/>
              </a:rPr>
              <a:t>Contrôle d'itinéraire</a:t>
            </a:r>
            <a:endParaRPr lang="zh-CN" altLang="zh-CN" dirty="0">
              <a:sym typeface="FrutigerNext LT Regular" pitchFamily="34" charset="0"/>
            </a:endParaRPr>
          </a:p>
        </p:txBody>
      </p:sp>
      <p:sp>
        <p:nvSpPr>
          <p:cNvPr id="2150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p:spPr>
        <p:txBody>
          <a:bodyPr wrap="none" anchor="ctr"/>
          <a:lstStyle/>
          <a:p>
            <a:pPr algn="l" rtl="0"/>
            <a:endParaRPr lang="zh-CN" altLang="en-US">
              <a:latin typeface="FrutigerNext LT Regular"/>
            </a:endParaRPr>
          </a:p>
        </p:txBody>
      </p:sp>
    </p:spTree>
    <p:extLst>
      <p:ext uri="{BB962C8B-B14F-4D97-AF65-F5344CB8AC3E}">
        <p14:creationId xmlns:p14="http://schemas.microsoft.com/office/powerpoint/2010/main" val="3767776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文本占位符 2"/>
          <p:cNvSpPr>
            <a:spLocks noGrp="1"/>
          </p:cNvSpPr>
          <p:nvPr>
            <p:ph type="body" sz="quarter" idx="10"/>
          </p:nvPr>
        </p:nvSpPr>
        <p:spPr/>
        <p:txBody>
          <a:bodyPr/>
          <a:lstStyle/>
          <a:p>
            <a:pPr algn="l" rtl="0"/>
            <a:r>
              <a:rPr lang="en-US" altLang="zh-CN">
                <a:sym typeface="FrutigerNext LT Regular" pitchFamily="34" charset="0"/>
              </a:rPr>
              <a:t>Les réseaux d'entreprise peuvent rencontrer des problèmes tels que l'accès non autorisé à certains flux de trafic et</a:t>
            </a:r>
            <a:r>
              <a:rPr lang="en-US" altLang="zh-CN"/>
              <a:t>sous-optimal</a:t>
            </a:r>
            <a:r>
              <a:rPr lang="en-US" altLang="zh-CN">
                <a:sym typeface="FrutigerNext LT Regular" pitchFamily="34" charset="0"/>
              </a:rPr>
              <a:t>Sélection du chemin de trafic. Afin de garantir la sécurité d'accès aux données et d'optimiser l'utilisation de la bande passante, le comportement du trafic sur le réseau doit être contrôlé, notamment par le contrôle de l'accessibilité et l'ajustement du chemin de trafic.</a:t>
            </a:r>
          </a:p>
          <a:p>
            <a:pPr algn="l" rtl="0"/>
            <a:r>
              <a:rPr lang="en-US" altLang="zh-CN">
                <a:sym typeface="FrutigerNext LT Regular" pitchFamily="34" charset="0"/>
              </a:rPr>
              <a:t>Des outils peuvent être nécessaires pour répondre à des exigences complexes et précises en matière de contrôle du trafic. Ce cours présente les outils de contrôle du trafic et leurs scénarios d'utilisation.</a:t>
            </a:r>
            <a:endParaRPr lang="en-US" altLang="zh-CN" dirty="0">
              <a:sym typeface="FrutigerNext LT Regular" pitchFamily="34" charset="0"/>
            </a:endParaRPr>
          </a:p>
        </p:txBody>
      </p:sp>
    </p:spTree>
    <p:extLst>
      <p:ext uri="{BB962C8B-B14F-4D97-AF65-F5344CB8AC3E}">
        <p14:creationId xmlns:p14="http://schemas.microsoft.com/office/powerpoint/2010/main" val="2392638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p:cNvSpPr>
          <p:nvPr>
            <p:ph idx="1"/>
          </p:nvPr>
        </p:nvSpPr>
        <p:spPr/>
        <p:txBody>
          <a:bodyPr/>
          <a:lstStyle/>
          <a:p>
            <a:pPr algn="l" rtl="0"/>
            <a:r>
              <a:rPr lang="en-US" altLang="zh-CN"/>
              <a:t>Une fois cette section terminée, vous serez capable de</a:t>
            </a:r>
            <a:r>
              <a:rPr lang="en-US" altLang="zh-CN">
                <a:sym typeface="FrutigerNext LT Regular" pitchFamily="34" charset="0"/>
              </a:rPr>
              <a:t>à:</a:t>
            </a:r>
          </a:p>
          <a:p>
            <a:pPr lvl="1" algn="l" rtl="0"/>
            <a:r>
              <a:rPr lang="en-US" altLang="zh-CN"/>
              <a:t>Maîtriser la méthode de contrôle de l'accessibilité du trafic réseau</a:t>
            </a:r>
          </a:p>
          <a:p>
            <a:pPr lvl="1" algn="l" rtl="0"/>
            <a:r>
              <a:rPr lang="en-US" altLang="zh-CN"/>
              <a:t>Maîtriser la méthode d'ajustement des chemins de trafic réseau</a:t>
            </a:r>
          </a:p>
          <a:p>
            <a:pPr lvl="1" algn="l" rtl="0"/>
            <a:r>
              <a:rPr lang="en-US" altLang="zh-CN"/>
              <a:t>Être familier avec</a:t>
            </a:r>
            <a:r>
              <a:rPr lang="en-US" altLang="zh-CN">
                <a:sym typeface="FrutigerNext LT Regular" pitchFamily="34" charset="0"/>
              </a:rPr>
              <a:t>les problèmes causés par l'importation d'itinéraires et leurs solutions</a:t>
            </a:r>
            <a:endParaRPr lang="en-US" altLang="zh-CN" dirty="0">
              <a:sym typeface="FrutigerNext LT Regular" pitchFamily="34" charset="0"/>
            </a:endParaRPr>
          </a:p>
        </p:txBody>
      </p:sp>
    </p:spTree>
    <p:extLst>
      <p:ext uri="{BB962C8B-B14F-4D97-AF65-F5344CB8AC3E}">
        <p14:creationId xmlns:p14="http://schemas.microsoft.com/office/powerpoint/2010/main" val="12268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文本占位符 3"/>
          <p:cNvSpPr>
            <a:spLocks noGrp="1"/>
          </p:cNvSpPr>
          <p:nvPr>
            <p:ph type="body" sz="quarter" idx="10"/>
          </p:nvPr>
        </p:nvSpPr>
        <p:spPr/>
        <p:txBody>
          <a:bodyPr/>
          <a:lstStyle/>
          <a:p>
            <a:pPr algn="l" rtl="0"/>
            <a:r>
              <a:rPr lang="en-US" altLang="zh-CN" b="1" dirty="0">
                <a:sym typeface="FrutigerNext LT Regular" pitchFamily="34" charset="0"/>
              </a:rPr>
              <a:t>Exigence de contrôle du comportement de la circulation</a:t>
            </a:r>
          </a:p>
          <a:p>
            <a:pPr algn="l" rtl="0"/>
            <a:r>
              <a:rPr lang="en-US" altLang="zh-CN" dirty="0">
                <a:solidFill>
                  <a:schemeClr val="bg1">
                    <a:lumMod val="50000"/>
                  </a:schemeClr>
                </a:solidFill>
                <a:sym typeface="FrutigerNext LT Regular" pitchFamily="34" charset="0"/>
              </a:rPr>
              <a:t>Portée du contrôle</a:t>
            </a:r>
          </a:p>
          <a:p>
            <a:pPr algn="l" rtl="0"/>
            <a:r>
              <a:rPr lang="en-US" altLang="zh-CN" dirty="0">
                <a:solidFill>
                  <a:schemeClr val="bg1">
                    <a:lumMod val="50000"/>
                  </a:schemeClr>
                </a:solidFill>
                <a:sym typeface="FrutigerNext LT Regular" pitchFamily="34" charset="0"/>
              </a:rPr>
              <a:t>Ajuster le chemin du trafic réseau</a:t>
            </a:r>
          </a:p>
          <a:p>
            <a:pPr algn="l" rtl="0"/>
            <a:r>
              <a:rPr lang="en-US" altLang="zh-CN" dirty="0">
                <a:solidFill>
                  <a:schemeClr val="bg1">
                    <a:lumMod val="50000"/>
                  </a:schemeClr>
                </a:solidFill>
                <a:sym typeface="FrutigerNext LT Regular" pitchFamily="34" charset="0"/>
              </a:rPr>
              <a:t>Problèmes liés à l'importation d'itinéraires et solutions</a:t>
            </a:r>
          </a:p>
        </p:txBody>
      </p:sp>
    </p:spTree>
    <p:extLst>
      <p:ext uri="{BB962C8B-B14F-4D97-AF65-F5344CB8AC3E}">
        <p14:creationId xmlns:p14="http://schemas.microsoft.com/office/powerpoint/2010/main" val="3687695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2"/>
          </p:nvPr>
        </p:nvSpPr>
        <p:spPr/>
        <p:txBody>
          <a:bodyPr/>
          <a:lstStyle/>
          <a:p>
            <a:pPr algn="l" rtl="0"/>
            <a:r>
              <a:rPr lang="en-US" altLang="zh-CN" dirty="0"/>
              <a:t>Exigence de contrôle du comportement de la circulation</a:t>
            </a:r>
            <a:endParaRPr lang="zh-CN" altLang="en-US" dirty="0"/>
          </a:p>
        </p:txBody>
      </p:sp>
      <p:sp>
        <p:nvSpPr>
          <p:cNvPr id="25608" name="文本占位符 2"/>
          <p:cNvSpPr txBox="1">
            <a:spLocks/>
          </p:cNvSpPr>
          <p:nvPr/>
        </p:nvSpPr>
        <p:spPr bwMode="auto">
          <a:xfrm>
            <a:off x="1008063" y="1344916"/>
            <a:ext cx="7920037" cy="558800"/>
          </a:xfrm>
          <a:prstGeom prst="rect">
            <a:avLst/>
          </a:prstGeom>
          <a:noFill/>
          <a:ln w="9525">
            <a:noFill/>
            <a:miter lim="800000"/>
            <a:headEnd/>
            <a:tailEnd/>
          </a:ln>
        </p:spPr>
        <p:txBody>
          <a:bodyPr/>
          <a:lstStyle/>
          <a:p>
            <a:pPr marL="457200" indent="-457200" algn="l" defTabSz="801688" rtl="0" eaLnBrk="0" hangingPunct="0">
              <a:lnSpc>
                <a:spcPct val="140000"/>
              </a:lnSpc>
              <a:spcBef>
                <a:spcPct val="30000"/>
              </a:spcBef>
              <a:buSzPct val="100000"/>
              <a:buFont typeface="FrutigerNext LT Medium" pitchFamily="34" charset="0"/>
              <a:buAutoNum type="arabicPeriod"/>
            </a:pPr>
            <a:r>
              <a:rPr lang="en-US" altLang="zh-CN" sz="2000" dirty="0">
                <a:solidFill>
                  <a:srgbClr val="000000"/>
                </a:solidFill>
                <a:latin typeface="+mn-lt"/>
                <a:ea typeface="华文细黑" pitchFamily="2" charset="-122"/>
                <a:sym typeface="FrutigerNext LT Regular" pitchFamily="34" charset="0"/>
              </a:rPr>
              <a:t>Contrôler l'accessibilité du trafic.</a:t>
            </a:r>
          </a:p>
        </p:txBody>
      </p:sp>
      <p:sp>
        <p:nvSpPr>
          <p:cNvPr id="25609" name="文本占位符 2"/>
          <p:cNvSpPr txBox="1">
            <a:spLocks/>
          </p:cNvSpPr>
          <p:nvPr/>
        </p:nvSpPr>
        <p:spPr bwMode="auto">
          <a:xfrm>
            <a:off x="1000125" y="3883328"/>
            <a:ext cx="4283831" cy="558800"/>
          </a:xfrm>
          <a:prstGeom prst="rect">
            <a:avLst/>
          </a:prstGeom>
          <a:noFill/>
          <a:ln w="9525">
            <a:noFill/>
            <a:miter lim="800000"/>
            <a:headEnd/>
            <a:tailEnd/>
          </a:ln>
        </p:spPr>
        <p:txBody>
          <a:bodyPr/>
          <a:lstStyle/>
          <a:p>
            <a:pPr marL="457200" indent="-457200" algn="l" defTabSz="801688" rtl="0" eaLnBrk="0" hangingPunct="0">
              <a:lnSpc>
                <a:spcPct val="140000"/>
              </a:lnSpc>
              <a:spcBef>
                <a:spcPct val="30000"/>
              </a:spcBef>
              <a:buSzPct val="100000"/>
              <a:buFont typeface="FrutigerNext LT Medium" pitchFamily="34" charset="0"/>
              <a:buAutoNum type="arabicPeriod" startAt="2"/>
            </a:pPr>
            <a:r>
              <a:rPr lang="en-US" altLang="zh-CN" sz="2000" dirty="0">
                <a:solidFill>
                  <a:srgbClr val="000000"/>
                </a:solidFill>
                <a:latin typeface="+mn-lt"/>
                <a:ea typeface="华文细黑" pitchFamily="2" charset="-122"/>
                <a:sym typeface="FrutigerNext LT Regular" pitchFamily="34" charset="0"/>
              </a:rPr>
              <a:t>Ajuster le chemin du trafic réseau.</a:t>
            </a:r>
          </a:p>
        </p:txBody>
      </p:sp>
      <p:grpSp>
        <p:nvGrpSpPr>
          <p:cNvPr id="7" name="组合 6"/>
          <p:cNvGrpSpPr/>
          <p:nvPr/>
        </p:nvGrpSpPr>
        <p:grpSpPr>
          <a:xfrm>
            <a:off x="2495600" y="1866740"/>
            <a:ext cx="7632651" cy="2175468"/>
            <a:chOff x="2495600" y="1866740"/>
            <a:chExt cx="7632651" cy="2175468"/>
          </a:xfrm>
        </p:grpSpPr>
        <p:sp>
          <p:nvSpPr>
            <p:cNvPr id="75" name="圆角矩形 74"/>
            <p:cNvSpPr/>
            <p:nvPr/>
          </p:nvSpPr>
          <p:spPr bwMode="auto">
            <a:xfrm>
              <a:off x="8256588" y="3408202"/>
              <a:ext cx="1871662" cy="633413"/>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mn-ea"/>
              </a:endParaRPr>
            </a:p>
          </p:txBody>
        </p:sp>
        <p:sp>
          <p:nvSpPr>
            <p:cNvPr id="74" name="圆角矩形 73"/>
            <p:cNvSpPr/>
            <p:nvPr/>
          </p:nvSpPr>
          <p:spPr bwMode="auto">
            <a:xfrm>
              <a:off x="8231188" y="2665252"/>
              <a:ext cx="1897062" cy="63182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mn-ea"/>
              </a:endParaRPr>
            </a:p>
          </p:txBody>
        </p:sp>
        <p:sp>
          <p:nvSpPr>
            <p:cNvPr id="73" name="圆角矩形 72"/>
            <p:cNvSpPr/>
            <p:nvPr/>
          </p:nvSpPr>
          <p:spPr bwMode="auto">
            <a:xfrm>
              <a:off x="8220075" y="1866740"/>
              <a:ext cx="1908175" cy="668337"/>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mn-ea"/>
              </a:endParaRPr>
            </a:p>
          </p:txBody>
        </p:sp>
        <p:sp>
          <p:nvSpPr>
            <p:cNvPr id="72" name="圆角矩形 71"/>
            <p:cNvSpPr/>
            <p:nvPr/>
          </p:nvSpPr>
          <p:spPr bwMode="auto">
            <a:xfrm>
              <a:off x="2697163" y="3016090"/>
              <a:ext cx="1801812" cy="750887"/>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mn-ea"/>
              </a:endParaRPr>
            </a:p>
          </p:txBody>
        </p:sp>
        <p:sp>
          <p:nvSpPr>
            <p:cNvPr id="71" name="圆角矩形 70"/>
            <p:cNvSpPr/>
            <p:nvPr/>
          </p:nvSpPr>
          <p:spPr bwMode="auto">
            <a:xfrm>
              <a:off x="2697164" y="2077876"/>
              <a:ext cx="1797050"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mn-ea"/>
              </a:endParaRPr>
            </a:p>
          </p:txBody>
        </p:sp>
        <p:sp>
          <p:nvSpPr>
            <p:cNvPr id="25610" name="矩形 40"/>
            <p:cNvSpPr>
              <a:spLocks noChangeArrowheads="1"/>
            </p:cNvSpPr>
            <p:nvPr/>
          </p:nvSpPr>
          <p:spPr bwMode="auto">
            <a:xfrm>
              <a:off x="8972552" y="1997347"/>
              <a:ext cx="1155699" cy="430887"/>
            </a:xfrm>
            <a:prstGeom prst="rect">
              <a:avLst/>
            </a:prstGeom>
            <a:noFill/>
            <a:ln w="9525">
              <a:noFill/>
              <a:miter lim="800000"/>
              <a:headEnd/>
              <a:tailEnd/>
            </a:ln>
          </p:spPr>
          <p:txBody>
            <a:bodyPr wrap="square">
              <a:spAutoFit/>
            </a:bodyPr>
            <a:lstStyle/>
            <a:p>
              <a:pPr algn="ctr" rtl="0" eaLnBrk="0" fontAlgn="t" hangingPunct="0">
                <a:buSzPct val="100000"/>
              </a:pPr>
              <a:r>
                <a:rPr lang="en-US" altLang="zh-CN" sz="1100" b="1" dirty="0">
                  <a:solidFill>
                    <a:srgbClr val="000000"/>
                  </a:solidFill>
                  <a:latin typeface="+mn-lt"/>
                  <a:ea typeface="+mn-ea"/>
                  <a:sym typeface="FrutigerNext LT Regular" pitchFamily="34" charset="0"/>
                </a:rPr>
                <a:t>département financier</a:t>
              </a:r>
            </a:p>
          </p:txBody>
        </p:sp>
        <p:cxnSp>
          <p:nvCxnSpPr>
            <p:cNvPr id="25611" name="直接连接符 44"/>
            <p:cNvCxnSpPr>
              <a:cxnSpLocks noChangeShapeType="1"/>
            </p:cNvCxnSpPr>
            <p:nvPr/>
          </p:nvCxnSpPr>
          <p:spPr bwMode="auto">
            <a:xfrm flipH="1" flipV="1">
              <a:off x="3935413" y="2420776"/>
              <a:ext cx="1255712" cy="292100"/>
            </a:xfrm>
            <a:prstGeom prst="line">
              <a:avLst/>
            </a:prstGeom>
            <a:noFill/>
            <a:ln w="28575" algn="ctr">
              <a:solidFill>
                <a:schemeClr val="tx1"/>
              </a:solidFill>
              <a:round/>
              <a:headEnd/>
              <a:tailEnd/>
            </a:ln>
          </p:spPr>
        </p:cxnSp>
        <p:cxnSp>
          <p:nvCxnSpPr>
            <p:cNvPr id="46" name="直接连接符 45"/>
            <p:cNvCxnSpPr/>
            <p:nvPr/>
          </p:nvCxnSpPr>
          <p:spPr bwMode="auto">
            <a:xfrm>
              <a:off x="5232401" y="2709702"/>
              <a:ext cx="993775" cy="207963"/>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613" name="直接连接符 46"/>
            <p:cNvCxnSpPr>
              <a:cxnSpLocks noChangeShapeType="1"/>
            </p:cNvCxnSpPr>
            <p:nvPr/>
          </p:nvCxnSpPr>
          <p:spPr bwMode="auto">
            <a:xfrm flipV="1">
              <a:off x="5270501" y="3116101"/>
              <a:ext cx="881063" cy="185738"/>
            </a:xfrm>
            <a:prstGeom prst="line">
              <a:avLst/>
            </a:prstGeom>
            <a:noFill/>
            <a:ln w="28575" algn="ctr">
              <a:solidFill>
                <a:schemeClr val="tx1"/>
              </a:solidFill>
              <a:round/>
              <a:headEnd/>
              <a:tailEnd/>
            </a:ln>
          </p:spPr>
        </p:cxnSp>
        <p:cxnSp>
          <p:nvCxnSpPr>
            <p:cNvPr id="25614" name="直接连接符 47"/>
            <p:cNvCxnSpPr>
              <a:cxnSpLocks noChangeShapeType="1"/>
            </p:cNvCxnSpPr>
            <p:nvPr/>
          </p:nvCxnSpPr>
          <p:spPr bwMode="auto">
            <a:xfrm flipH="1">
              <a:off x="4040189" y="3306601"/>
              <a:ext cx="1114425" cy="228600"/>
            </a:xfrm>
            <a:prstGeom prst="line">
              <a:avLst/>
            </a:prstGeom>
            <a:noFill/>
            <a:ln w="28575" algn="ctr">
              <a:solidFill>
                <a:schemeClr val="tx1"/>
              </a:solidFill>
              <a:round/>
              <a:headEnd/>
              <a:tailEnd/>
            </a:ln>
          </p:spPr>
        </p:cxnSp>
        <p:cxnSp>
          <p:nvCxnSpPr>
            <p:cNvPr id="25615" name="直接连接符 48"/>
            <p:cNvCxnSpPr>
              <a:cxnSpLocks noChangeShapeType="1"/>
            </p:cNvCxnSpPr>
            <p:nvPr/>
          </p:nvCxnSpPr>
          <p:spPr bwMode="auto">
            <a:xfrm>
              <a:off x="6240464" y="2993864"/>
              <a:ext cx="1150937" cy="0"/>
            </a:xfrm>
            <a:prstGeom prst="line">
              <a:avLst/>
            </a:prstGeom>
            <a:noFill/>
            <a:ln w="28575" algn="ctr">
              <a:solidFill>
                <a:schemeClr val="tx1"/>
              </a:solidFill>
              <a:round/>
              <a:headEnd/>
              <a:tailEnd/>
            </a:ln>
          </p:spPr>
        </p:cxnSp>
        <p:cxnSp>
          <p:nvCxnSpPr>
            <p:cNvPr id="25616" name="直接连接符 49"/>
            <p:cNvCxnSpPr>
              <a:cxnSpLocks noChangeShapeType="1"/>
            </p:cNvCxnSpPr>
            <p:nvPr/>
          </p:nvCxnSpPr>
          <p:spPr bwMode="auto">
            <a:xfrm flipH="1">
              <a:off x="7445375" y="2346164"/>
              <a:ext cx="1074738" cy="601662"/>
            </a:xfrm>
            <a:prstGeom prst="line">
              <a:avLst/>
            </a:prstGeom>
            <a:noFill/>
            <a:ln w="28575" algn="ctr">
              <a:solidFill>
                <a:schemeClr val="tx1"/>
              </a:solidFill>
              <a:round/>
              <a:headEnd/>
              <a:tailEnd/>
            </a:ln>
          </p:spPr>
        </p:cxnSp>
        <p:cxnSp>
          <p:nvCxnSpPr>
            <p:cNvPr id="25617" name="直接连接符 50"/>
            <p:cNvCxnSpPr>
              <a:cxnSpLocks noChangeShapeType="1"/>
            </p:cNvCxnSpPr>
            <p:nvPr/>
          </p:nvCxnSpPr>
          <p:spPr bwMode="auto">
            <a:xfrm flipV="1">
              <a:off x="7564439" y="2993864"/>
              <a:ext cx="979487" cy="0"/>
            </a:xfrm>
            <a:prstGeom prst="line">
              <a:avLst/>
            </a:prstGeom>
            <a:noFill/>
            <a:ln w="28575" algn="ctr">
              <a:solidFill>
                <a:schemeClr val="tx1"/>
              </a:solidFill>
              <a:round/>
              <a:headEnd/>
              <a:tailEnd/>
            </a:ln>
          </p:spPr>
        </p:cxnSp>
        <p:cxnSp>
          <p:nvCxnSpPr>
            <p:cNvPr id="25618" name="直接连接符 51"/>
            <p:cNvCxnSpPr>
              <a:cxnSpLocks noChangeShapeType="1"/>
            </p:cNvCxnSpPr>
            <p:nvPr/>
          </p:nvCxnSpPr>
          <p:spPr bwMode="auto">
            <a:xfrm>
              <a:off x="7383464" y="2962114"/>
              <a:ext cx="1292225" cy="760412"/>
            </a:xfrm>
            <a:prstGeom prst="line">
              <a:avLst/>
            </a:prstGeom>
            <a:noFill/>
            <a:ln w="28575" algn="ctr">
              <a:solidFill>
                <a:schemeClr val="tx1"/>
              </a:solidFill>
              <a:round/>
              <a:headEnd/>
              <a:tailEnd/>
            </a:ln>
          </p:spPr>
        </p:cxnSp>
        <p:sp>
          <p:nvSpPr>
            <p:cNvPr id="25619" name="矩形 52"/>
            <p:cNvSpPr>
              <a:spLocks noChangeArrowheads="1"/>
            </p:cNvSpPr>
            <p:nvPr/>
          </p:nvSpPr>
          <p:spPr bwMode="auto">
            <a:xfrm>
              <a:off x="2697163" y="3285393"/>
              <a:ext cx="1149674" cy="261610"/>
            </a:xfrm>
            <a:prstGeom prst="rect">
              <a:avLst/>
            </a:prstGeom>
            <a:noFill/>
            <a:ln w="9525">
              <a:noFill/>
              <a:miter lim="800000"/>
              <a:headEnd/>
              <a:tailEnd/>
            </a:ln>
          </p:spPr>
          <p:txBody>
            <a:bodyPr wrap="none">
              <a:spAutoFit/>
            </a:bodyPr>
            <a:lstStyle/>
            <a:p>
              <a:pPr algn="l" rtl="0" eaLnBrk="0" fontAlgn="t" hangingPunct="0">
                <a:buSzPct val="100000"/>
              </a:pPr>
              <a:r>
                <a:rPr lang="en-US" altLang="zh-CN" sz="1100" b="1" dirty="0">
                  <a:solidFill>
                    <a:srgbClr val="000000"/>
                  </a:solidFill>
                  <a:latin typeface="+mn-lt"/>
                  <a:ea typeface="+mn-ea"/>
                  <a:sym typeface="FrutigerNext LT Regular" pitchFamily="34" charset="0"/>
                </a:rPr>
                <a:t>Quartier général</a:t>
              </a:r>
            </a:p>
          </p:txBody>
        </p:sp>
        <p:sp>
          <p:nvSpPr>
            <p:cNvPr id="25620" name="矩形 53"/>
            <p:cNvSpPr>
              <a:spLocks noChangeArrowheads="1"/>
            </p:cNvSpPr>
            <p:nvPr/>
          </p:nvSpPr>
          <p:spPr bwMode="auto">
            <a:xfrm>
              <a:off x="9012238" y="2782438"/>
              <a:ext cx="1116012" cy="430887"/>
            </a:xfrm>
            <a:prstGeom prst="rect">
              <a:avLst/>
            </a:prstGeom>
            <a:noFill/>
            <a:ln w="9525">
              <a:noFill/>
              <a:miter lim="800000"/>
              <a:headEnd/>
              <a:tailEnd/>
            </a:ln>
          </p:spPr>
          <p:txBody>
            <a:bodyPr wrap="square">
              <a:spAutoFit/>
            </a:bodyPr>
            <a:lstStyle/>
            <a:p>
              <a:pPr algn="ctr" rtl="0" eaLnBrk="0" fontAlgn="t" hangingPunct="0">
                <a:buSzPct val="100000"/>
              </a:pPr>
              <a:r>
                <a:rPr lang="en-US" altLang="zh-CN" sz="1100" b="1" dirty="0">
                  <a:solidFill>
                    <a:srgbClr val="000000"/>
                  </a:solidFill>
                  <a:latin typeface="+mn-lt"/>
                  <a:ea typeface="+mn-ea"/>
                  <a:sym typeface="FrutigerNext LT Regular" pitchFamily="34" charset="0"/>
                </a:rPr>
                <a:t>département R&amp;D</a:t>
              </a:r>
            </a:p>
          </p:txBody>
        </p:sp>
        <p:sp>
          <p:nvSpPr>
            <p:cNvPr id="25621" name="矩形 54"/>
            <p:cNvSpPr>
              <a:spLocks noChangeArrowheads="1"/>
            </p:cNvSpPr>
            <p:nvPr/>
          </p:nvSpPr>
          <p:spPr bwMode="auto">
            <a:xfrm>
              <a:off x="8940368" y="3604954"/>
              <a:ext cx="1187882" cy="400110"/>
            </a:xfrm>
            <a:prstGeom prst="rect">
              <a:avLst/>
            </a:prstGeom>
            <a:noFill/>
            <a:ln w="9525">
              <a:noFill/>
              <a:miter lim="800000"/>
              <a:headEnd/>
              <a:tailEnd/>
            </a:ln>
          </p:spPr>
          <p:txBody>
            <a:bodyPr wrap="square">
              <a:spAutoFit/>
            </a:bodyPr>
            <a:lstStyle/>
            <a:p>
              <a:pPr algn="ctr" rtl="0" eaLnBrk="0" fontAlgn="t" hangingPunct="0">
                <a:buSzPct val="100000"/>
              </a:pPr>
              <a:r>
                <a:rPr lang="en-US" altLang="zh-CN" b="1" dirty="0">
                  <a:solidFill>
                    <a:srgbClr val="000000"/>
                  </a:solidFill>
                  <a:latin typeface="+mn-lt"/>
                  <a:ea typeface="+mn-ea"/>
                  <a:sym typeface="FrutigerNext LT Regular" pitchFamily="34" charset="0"/>
                </a:rPr>
                <a:t>Service de documentation</a:t>
              </a:r>
            </a:p>
          </p:txBody>
        </p:sp>
        <p:sp>
          <p:nvSpPr>
            <p:cNvPr id="25622" name="文本框 55"/>
            <p:cNvSpPr txBox="1">
              <a:spLocks noChangeArrowheads="1"/>
            </p:cNvSpPr>
            <p:nvPr/>
          </p:nvSpPr>
          <p:spPr bwMode="auto">
            <a:xfrm>
              <a:off x="6443663" y="2398552"/>
              <a:ext cx="754062" cy="34607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600" b="1" dirty="0">
                  <a:solidFill>
                    <a:srgbClr val="C00000"/>
                  </a:solidFill>
                  <a:latin typeface="+mn-lt"/>
                  <a:ea typeface="+mn-ea"/>
                  <a:cs typeface="Arial" charset="0"/>
                  <a:sym typeface="FrutigerNext LT Regular" pitchFamily="34" charset="0"/>
                </a:rPr>
                <a:t>OSPF</a:t>
              </a:r>
            </a:p>
          </p:txBody>
        </p:sp>
        <p:sp>
          <p:nvSpPr>
            <p:cNvPr id="25623" name="文本框 56"/>
            <p:cNvSpPr txBox="1">
              <a:spLocks noChangeArrowheads="1"/>
            </p:cNvSpPr>
            <p:nvPr/>
          </p:nvSpPr>
          <p:spPr bwMode="auto">
            <a:xfrm>
              <a:off x="2495600" y="2277282"/>
              <a:ext cx="1347788" cy="439503"/>
            </a:xfrm>
            <a:prstGeom prst="rect">
              <a:avLst/>
            </a:prstGeom>
            <a:noFill/>
            <a:ln w="9525">
              <a:noFill/>
              <a:miter lim="800000"/>
              <a:headEnd/>
              <a:tailEnd/>
            </a:ln>
          </p:spPr>
          <p:txBody>
            <a:bodyPr wrap="square" lIns="99980" tIns="49986" rIns="99980" bIns="49986">
              <a:spAutoFit/>
            </a:bodyPr>
            <a:lstStyle/>
            <a:p>
              <a:pPr algn="ctr" defTabSz="1000125" rtl="0" eaLnBrk="0" hangingPunct="0">
                <a:buSzPct val="100000"/>
              </a:pPr>
              <a:r>
                <a:rPr lang="en-US" altLang="zh-CN" sz="1100" b="1" dirty="0">
                  <a:solidFill>
                    <a:srgbClr val="000000"/>
                  </a:solidFill>
                  <a:latin typeface="+mn-lt"/>
                  <a:ea typeface="+mn-ea"/>
                  <a:cs typeface="Arial" charset="0"/>
                  <a:sym typeface="FrutigerNext LT Regular" pitchFamily="34" charset="0"/>
                </a:rPr>
                <a:t>département marketing</a:t>
              </a:r>
            </a:p>
          </p:txBody>
        </p:sp>
        <p:sp>
          <p:nvSpPr>
            <p:cNvPr id="25633" name="AutoShape 21"/>
            <p:cNvSpPr>
              <a:spLocks noChangeArrowheads="1"/>
            </p:cNvSpPr>
            <p:nvPr/>
          </p:nvSpPr>
          <p:spPr bwMode="auto">
            <a:xfrm>
              <a:off x="4548188" y="1919126"/>
              <a:ext cx="2914794" cy="427038"/>
            </a:xfrm>
            <a:prstGeom prst="wedgeRectCallout">
              <a:avLst>
                <a:gd name="adj1" fmla="val 1069"/>
                <a:gd name="adj2" fmla="val 118606"/>
              </a:avLst>
            </a:prstGeom>
            <a:noFill/>
            <a:ln w="3175" algn="ctr">
              <a:solidFill>
                <a:srgbClr val="999999"/>
              </a:solidFill>
              <a:miter lim="800000"/>
              <a:headEnd/>
              <a:tailEnd/>
            </a:ln>
          </p:spPr>
          <p:txBody>
            <a:bodyPr lIns="0" tIns="0" rIns="0" bIns="0" anchor="ctr" anchorCtr="1"/>
            <a:lstStyle/>
            <a:p>
              <a:pPr algn="l" rtl="0" eaLnBrk="0" fontAlgn="t" hangingPunct="0">
                <a:spcBef>
                  <a:spcPct val="20000"/>
                </a:spcBef>
                <a:buSzPct val="100000"/>
              </a:pPr>
              <a:r>
                <a:rPr lang="en-US" altLang="zh-CN" sz="1100" dirty="0">
                  <a:solidFill>
                    <a:srgbClr val="000000"/>
                  </a:solidFill>
                  <a:latin typeface="+mn-lt"/>
                  <a:ea typeface="+mn-ea"/>
                  <a:sym typeface="FrutigerNext LT Regular" pitchFamily="34" charset="0"/>
                </a:rPr>
                <a:t>Pour renforcer la sécurité du réseau, certains services n'ont pas le droit de communiquer entre eux.</a:t>
              </a:r>
            </a:p>
          </p:txBody>
        </p:sp>
        <p:grpSp>
          <p:nvGrpSpPr>
            <p:cNvPr id="25639" name="组合 93"/>
            <p:cNvGrpSpPr>
              <a:grpSpLocks noChangeAspect="1"/>
            </p:cNvGrpSpPr>
            <p:nvPr/>
          </p:nvGrpSpPr>
          <p:grpSpPr bwMode="auto">
            <a:xfrm>
              <a:off x="7791450" y="2852576"/>
              <a:ext cx="141288" cy="141288"/>
              <a:chOff x="389239" y="2587273"/>
              <a:chExt cx="192358" cy="194586"/>
            </a:xfrm>
          </p:grpSpPr>
          <p:cxnSp>
            <p:nvCxnSpPr>
              <p:cNvPr id="25646" name="直接连接符 94"/>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25647" name="直接连接符 95"/>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25640" name="组合 96"/>
            <p:cNvGrpSpPr>
              <a:grpSpLocks noChangeAspect="1"/>
            </p:cNvGrpSpPr>
            <p:nvPr/>
          </p:nvGrpSpPr>
          <p:grpSpPr bwMode="auto">
            <a:xfrm>
              <a:off x="7800975" y="3033551"/>
              <a:ext cx="139700" cy="141288"/>
              <a:chOff x="389239" y="2587273"/>
              <a:chExt cx="192358" cy="194586"/>
            </a:xfrm>
          </p:grpSpPr>
          <p:cxnSp>
            <p:nvCxnSpPr>
              <p:cNvPr id="25644" name="直接连接符 97"/>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25645" name="直接连接符 98"/>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25641" name="组合 99"/>
            <p:cNvGrpSpPr>
              <a:grpSpLocks noChangeAspect="1"/>
            </p:cNvGrpSpPr>
            <p:nvPr/>
          </p:nvGrpSpPr>
          <p:grpSpPr bwMode="auto">
            <a:xfrm>
              <a:off x="7781925" y="2479515"/>
              <a:ext cx="141288" cy="142875"/>
              <a:chOff x="389239" y="2587273"/>
              <a:chExt cx="192358" cy="194586"/>
            </a:xfrm>
          </p:grpSpPr>
          <p:cxnSp>
            <p:nvCxnSpPr>
              <p:cNvPr id="25642" name="直接连接符 100"/>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25643" name="直接连接符 101"/>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pic>
          <p:nvPicPr>
            <p:cNvPr id="85" name="图片 8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609833" y="3396208"/>
              <a:ext cx="540000" cy="442800"/>
            </a:xfrm>
            <a:prstGeom prst="rect">
              <a:avLst/>
            </a:prstGeom>
          </p:spPr>
        </p:pic>
        <p:pic>
          <p:nvPicPr>
            <p:cNvPr id="89" name="图片 8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448583" y="2119588"/>
              <a:ext cx="540000" cy="442800"/>
            </a:xfrm>
            <a:prstGeom prst="rect">
              <a:avLst/>
            </a:prstGeom>
          </p:spPr>
        </p:pic>
        <p:pic>
          <p:nvPicPr>
            <p:cNvPr id="90" name="图片 8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452904" y="3599408"/>
              <a:ext cx="540000" cy="442800"/>
            </a:xfrm>
            <a:prstGeom prst="rect">
              <a:avLst/>
            </a:prstGeom>
          </p:spPr>
        </p:pic>
        <p:pic>
          <p:nvPicPr>
            <p:cNvPr id="91"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938319" y="2549045"/>
              <a:ext cx="628652" cy="514351"/>
            </a:xfrm>
            <a:prstGeom prst="rect">
              <a:avLst/>
            </a:prstGeom>
            <a:noFill/>
          </p:spPr>
        </p:pic>
        <p:pic>
          <p:nvPicPr>
            <p:cNvPr id="9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857930" y="2784953"/>
              <a:ext cx="628652" cy="514351"/>
            </a:xfrm>
            <a:prstGeom prst="rect">
              <a:avLst/>
            </a:prstGeom>
            <a:noFill/>
          </p:spPr>
        </p:pic>
        <p:pic>
          <p:nvPicPr>
            <p:cNvPr id="9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938570" y="3205195"/>
              <a:ext cx="628652" cy="514351"/>
            </a:xfrm>
            <a:prstGeom prst="rect">
              <a:avLst/>
            </a:prstGeom>
            <a:noFill/>
          </p:spPr>
        </p:pic>
        <p:pic>
          <p:nvPicPr>
            <p:cNvPr id="9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025923" y="2785767"/>
              <a:ext cx="628652" cy="514351"/>
            </a:xfrm>
            <a:prstGeom prst="rect">
              <a:avLst/>
            </a:prstGeom>
            <a:noFill/>
          </p:spPr>
        </p:pic>
        <p:pic>
          <p:nvPicPr>
            <p:cNvPr id="95" name="图片 94" descr="市场部.png"/>
            <p:cNvPicPr>
              <a:picLocks noChangeAspect="1"/>
            </p:cNvPicPr>
            <p:nvPr/>
          </p:nvPicPr>
          <p:blipFill>
            <a:blip r:embed="rId5" cstate="print"/>
            <a:stretch>
              <a:fillRect/>
            </a:stretch>
          </p:blipFill>
          <p:spPr>
            <a:xfrm>
              <a:off x="3609833" y="2264963"/>
              <a:ext cx="540000" cy="441818"/>
            </a:xfrm>
            <a:prstGeom prst="rect">
              <a:avLst/>
            </a:prstGeom>
          </p:spPr>
        </p:pic>
        <p:pic>
          <p:nvPicPr>
            <p:cNvPr id="96" name="图片 95" descr="研发部.png"/>
            <p:cNvPicPr>
              <a:picLocks noChangeAspect="1"/>
            </p:cNvPicPr>
            <p:nvPr/>
          </p:nvPicPr>
          <p:blipFill>
            <a:blip r:embed="rId6" cstate="print"/>
            <a:stretch>
              <a:fillRect/>
            </a:stretch>
          </p:blipFill>
          <p:spPr>
            <a:xfrm>
              <a:off x="8460103" y="2818796"/>
              <a:ext cx="540000" cy="441818"/>
            </a:xfrm>
            <a:prstGeom prst="rect">
              <a:avLst/>
            </a:prstGeom>
          </p:spPr>
        </p:pic>
        <p:sp>
          <p:nvSpPr>
            <p:cNvPr id="25635" name="任意多边形 75"/>
            <p:cNvSpPr>
              <a:spLocks/>
            </p:cNvSpPr>
            <p:nvPr/>
          </p:nvSpPr>
          <p:spPr bwMode="auto">
            <a:xfrm>
              <a:off x="4164013" y="2349340"/>
              <a:ext cx="4056062" cy="441325"/>
            </a:xfrm>
            <a:custGeom>
              <a:avLst/>
              <a:gdLst>
                <a:gd name="T0" fmla="*/ 0 w 4430180"/>
                <a:gd name="T1" fmla="*/ 21699 h 765974"/>
                <a:gd name="T2" fmla="*/ 949695 w 4430180"/>
                <a:gd name="T3" fmla="*/ 172078 h 765974"/>
                <a:gd name="T4" fmla="*/ 1874896 w 4430180"/>
                <a:gd name="T5" fmla="*/ 245215 h 765974"/>
                <a:gd name="T6" fmla="*/ 2800019 w 4430180"/>
                <a:gd name="T7" fmla="*/ 221514 h 765974"/>
                <a:gd name="T8" fmla="*/ 3713440 w 4430180"/>
                <a:gd name="T9" fmla="*/ 0 h 765974"/>
                <a:gd name="T10" fmla="*/ 0 60000 65536"/>
                <a:gd name="T11" fmla="*/ 0 60000 65536"/>
                <a:gd name="T12" fmla="*/ 0 60000 65536"/>
                <a:gd name="T13" fmla="*/ 0 60000 65536"/>
                <a:gd name="T14" fmla="*/ 0 60000 65536"/>
                <a:gd name="T15" fmla="*/ 0 w 4430180"/>
                <a:gd name="T16" fmla="*/ 0 h 765974"/>
                <a:gd name="T17" fmla="*/ 4430180 w 4430180"/>
                <a:gd name="T18" fmla="*/ 765974 h 765974"/>
              </a:gdLst>
              <a:ahLst/>
              <a:cxnLst>
                <a:cxn ang="T10">
                  <a:pos x="T0" y="T1"/>
                </a:cxn>
                <a:cxn ang="T11">
                  <a:pos x="T2" y="T3"/>
                </a:cxn>
                <a:cxn ang="T12">
                  <a:pos x="T4" y="T5"/>
                </a:cxn>
                <a:cxn ang="T13">
                  <a:pos x="T6" y="T7"/>
                </a:cxn>
                <a:cxn ang="T14">
                  <a:pos x="T8" y="T9"/>
                </a:cxn>
              </a:cxnLst>
              <a:rect l="T15" t="T16" r="T17" b="T18"/>
              <a:pathLst>
                <a:path w="4430180" h="765974">
                  <a:moveTo>
                    <a:pt x="0" y="65276"/>
                  </a:moveTo>
                  <a:cubicBezTo>
                    <a:pt x="394873" y="260332"/>
                    <a:pt x="760202" y="405582"/>
                    <a:pt x="1132998" y="517646"/>
                  </a:cubicBezTo>
                  <a:cubicBezTo>
                    <a:pt x="1505794" y="629710"/>
                    <a:pt x="1868865" y="712872"/>
                    <a:pt x="2236775" y="737658"/>
                  </a:cubicBezTo>
                  <a:cubicBezTo>
                    <a:pt x="2604685" y="762444"/>
                    <a:pt x="2815866" y="811392"/>
                    <a:pt x="3340459" y="666361"/>
                  </a:cubicBezTo>
                  <a:cubicBezTo>
                    <a:pt x="3533747" y="600844"/>
                    <a:pt x="4192608" y="317500"/>
                    <a:pt x="4430180" y="0"/>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dirty="0">
                <a:latin typeface="+mn-lt"/>
                <a:ea typeface="+mn-ea"/>
              </a:endParaRPr>
            </a:p>
          </p:txBody>
        </p:sp>
        <p:sp>
          <p:nvSpPr>
            <p:cNvPr id="25636" name="任意多边形 76"/>
            <p:cNvSpPr>
              <a:spLocks/>
            </p:cNvSpPr>
            <p:nvPr/>
          </p:nvSpPr>
          <p:spPr bwMode="auto">
            <a:xfrm>
              <a:off x="4094163" y="2565240"/>
              <a:ext cx="4089400" cy="384175"/>
            </a:xfrm>
            <a:custGeom>
              <a:avLst/>
              <a:gdLst>
                <a:gd name="T0" fmla="*/ 0 w 4697929"/>
                <a:gd name="T1" fmla="*/ 0 h 383690"/>
                <a:gd name="T2" fmla="*/ 825405 w 4697929"/>
                <a:gd name="T3" fmla="*/ 210259 h 383690"/>
                <a:gd name="T4" fmla="*/ 1651348 w 4697929"/>
                <a:gd name="T5" fmla="*/ 368479 h 383690"/>
                <a:gd name="T6" fmla="*/ 2487748 w 4697929"/>
                <a:gd name="T7" fmla="*/ 374681 h 383690"/>
                <a:gd name="T8" fmla="*/ 3560212 w 4697929"/>
                <a:gd name="T9" fmla="*/ 297158 h 383690"/>
                <a:gd name="T10" fmla="*/ 0 60000 65536"/>
                <a:gd name="T11" fmla="*/ 0 60000 65536"/>
                <a:gd name="T12" fmla="*/ 0 60000 65536"/>
                <a:gd name="T13" fmla="*/ 0 60000 65536"/>
                <a:gd name="T14" fmla="*/ 0 60000 65536"/>
                <a:gd name="T15" fmla="*/ 0 w 4697929"/>
                <a:gd name="T16" fmla="*/ 0 h 383690"/>
                <a:gd name="T17" fmla="*/ 4697929 w 4697929"/>
                <a:gd name="T18" fmla="*/ 383690 h 383690"/>
              </a:gdLst>
              <a:ahLst/>
              <a:cxnLst>
                <a:cxn ang="T10">
                  <a:pos x="T0" y="T1"/>
                </a:cxn>
                <a:cxn ang="T11">
                  <a:pos x="T2" y="T3"/>
                </a:cxn>
                <a:cxn ang="T12">
                  <a:pos x="T4" y="T5"/>
                </a:cxn>
                <a:cxn ang="T13">
                  <a:pos x="T6" y="T7"/>
                </a:cxn>
                <a:cxn ang="T14">
                  <a:pos x="T8" y="T9"/>
                </a:cxn>
              </a:cxnLst>
              <a:rect l="T15" t="T16" r="T17" b="T18"/>
              <a:pathLst>
                <a:path w="4697929" h="383690">
                  <a:moveTo>
                    <a:pt x="0" y="0"/>
                  </a:moveTo>
                  <a:cubicBezTo>
                    <a:pt x="580853" y="117564"/>
                    <a:pt x="725998" y="148658"/>
                    <a:pt x="1089175" y="209994"/>
                  </a:cubicBezTo>
                  <a:cubicBezTo>
                    <a:pt x="1452352" y="271330"/>
                    <a:pt x="1813465" y="340645"/>
                    <a:pt x="2179060" y="368014"/>
                  </a:cubicBezTo>
                  <a:cubicBezTo>
                    <a:pt x="2544655" y="395383"/>
                    <a:pt x="2696157" y="379754"/>
                    <a:pt x="3282744" y="374208"/>
                  </a:cubicBezTo>
                  <a:cubicBezTo>
                    <a:pt x="3755002" y="339688"/>
                    <a:pt x="4212384" y="428303"/>
                    <a:pt x="4697929" y="296783"/>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dirty="0">
                <a:latin typeface="+mn-lt"/>
                <a:ea typeface="+mn-ea"/>
              </a:endParaRPr>
            </a:p>
          </p:txBody>
        </p:sp>
        <p:sp>
          <p:nvSpPr>
            <p:cNvPr id="25637" name="任意多边形 78"/>
            <p:cNvSpPr>
              <a:spLocks/>
            </p:cNvSpPr>
            <p:nvPr/>
          </p:nvSpPr>
          <p:spPr bwMode="auto">
            <a:xfrm>
              <a:off x="4002089" y="3057365"/>
              <a:ext cx="4181475" cy="407987"/>
            </a:xfrm>
            <a:custGeom>
              <a:avLst/>
              <a:gdLst>
                <a:gd name="T0" fmla="*/ 0 w 4757337"/>
                <a:gd name="T1" fmla="*/ 340016 h 489478"/>
                <a:gd name="T2" fmla="*/ 968423 w 4757337"/>
                <a:gd name="T3" fmla="*/ 155129 h 489478"/>
                <a:gd name="T4" fmla="*/ 1566986 w 4757337"/>
                <a:gd name="T5" fmla="*/ 49579 h 489478"/>
                <a:gd name="T6" fmla="*/ 1957003 w 4757337"/>
                <a:gd name="T7" fmla="*/ 1868 h 489478"/>
                <a:gd name="T8" fmla="*/ 2531307 w 4757337"/>
                <a:gd name="T9" fmla="*/ 10590 h 489478"/>
                <a:gd name="T10" fmla="*/ 3007216 w 4757337"/>
                <a:gd name="T11" fmla="*/ 12807 h 489478"/>
                <a:gd name="T12" fmla="*/ 3676395 w 4757337"/>
                <a:gd name="T13" fmla="*/ 38577 h 489478"/>
                <a:gd name="T14" fmla="*/ 0 60000 65536"/>
                <a:gd name="T15" fmla="*/ 0 60000 65536"/>
                <a:gd name="T16" fmla="*/ 0 60000 65536"/>
                <a:gd name="T17" fmla="*/ 0 60000 65536"/>
                <a:gd name="T18" fmla="*/ 0 60000 65536"/>
                <a:gd name="T19" fmla="*/ 0 60000 65536"/>
                <a:gd name="T20" fmla="*/ 0 60000 65536"/>
                <a:gd name="T21" fmla="*/ 0 w 4757337"/>
                <a:gd name="T22" fmla="*/ 0 h 489478"/>
                <a:gd name="T23" fmla="*/ 4757337 w 4757337"/>
                <a:gd name="T24" fmla="*/ 489478 h 4894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57337" h="489478">
                  <a:moveTo>
                    <a:pt x="0" y="489478"/>
                  </a:moveTo>
                  <a:cubicBezTo>
                    <a:pt x="611849" y="328073"/>
                    <a:pt x="915209" y="293004"/>
                    <a:pt x="1253161" y="223320"/>
                  </a:cubicBezTo>
                  <a:cubicBezTo>
                    <a:pt x="1591113" y="153636"/>
                    <a:pt x="1685083" y="122022"/>
                    <a:pt x="2027714" y="71373"/>
                  </a:cubicBezTo>
                  <a:cubicBezTo>
                    <a:pt x="2267589" y="43979"/>
                    <a:pt x="2324431" y="12044"/>
                    <a:pt x="2532407" y="2689"/>
                  </a:cubicBezTo>
                  <a:cubicBezTo>
                    <a:pt x="2740383" y="-6666"/>
                    <a:pt x="3027848" y="11060"/>
                    <a:pt x="3275569" y="15245"/>
                  </a:cubicBezTo>
                  <a:lnTo>
                    <a:pt x="3891404" y="18437"/>
                  </a:lnTo>
                  <a:cubicBezTo>
                    <a:pt x="4386336" y="26107"/>
                    <a:pt x="4330916" y="38088"/>
                    <a:pt x="4757337" y="55534"/>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dirty="0">
                <a:latin typeface="+mn-lt"/>
                <a:ea typeface="+mn-ea"/>
              </a:endParaRPr>
            </a:p>
          </p:txBody>
        </p:sp>
      </p:grpSp>
      <p:grpSp>
        <p:nvGrpSpPr>
          <p:cNvPr id="6" name="组合 5"/>
          <p:cNvGrpSpPr/>
          <p:nvPr/>
        </p:nvGrpSpPr>
        <p:grpSpPr>
          <a:xfrm>
            <a:off x="2495328" y="4222590"/>
            <a:ext cx="7632923" cy="2087613"/>
            <a:chOff x="2495328" y="4222590"/>
            <a:chExt cx="7632923" cy="2087613"/>
          </a:xfrm>
        </p:grpSpPr>
        <p:sp>
          <p:nvSpPr>
            <p:cNvPr id="25634" name="AutoShape 21"/>
            <p:cNvSpPr>
              <a:spLocks noChangeArrowheads="1"/>
            </p:cNvSpPr>
            <p:nvPr/>
          </p:nvSpPr>
          <p:spPr bwMode="auto">
            <a:xfrm>
              <a:off x="6708775" y="4222590"/>
              <a:ext cx="2427288" cy="485775"/>
            </a:xfrm>
            <a:prstGeom prst="wedgeRectCallout">
              <a:avLst>
                <a:gd name="adj1" fmla="val -40199"/>
                <a:gd name="adj2" fmla="val 101486"/>
              </a:avLst>
            </a:prstGeom>
            <a:noFill/>
            <a:ln w="3175" algn="ctr">
              <a:solidFill>
                <a:srgbClr val="999999"/>
              </a:solidFill>
              <a:miter lim="800000"/>
              <a:headEnd/>
              <a:tailEnd/>
            </a:ln>
          </p:spPr>
          <p:txBody>
            <a:bodyPr lIns="0" tIns="0" rIns="0" bIns="0" anchor="ctr" anchorCtr="1"/>
            <a:lstStyle/>
            <a:p>
              <a:pPr algn="l" rtl="0" eaLnBrk="0" fontAlgn="t" hangingPunct="0">
                <a:spcBef>
                  <a:spcPct val="20000"/>
                </a:spcBef>
                <a:buSzPct val="100000"/>
              </a:pPr>
              <a:r>
                <a:rPr lang="en-US" altLang="zh-CN" sz="1100" dirty="0">
                  <a:solidFill>
                    <a:srgbClr val="000000"/>
                  </a:solidFill>
                  <a:latin typeface="+mn-lt"/>
                  <a:ea typeface="+mn-ea"/>
                  <a:sym typeface="FrutigerNext LT Regular" pitchFamily="34" charset="0"/>
                </a:rPr>
                <a:t>Lors de la phase d'optimisation du réseau, il peut être nécessaire d'ajuster les chemins de trafic.</a:t>
              </a:r>
            </a:p>
          </p:txBody>
        </p:sp>
        <p:sp>
          <p:nvSpPr>
            <p:cNvPr id="88" name="圆角矩形 87"/>
            <p:cNvSpPr/>
            <p:nvPr/>
          </p:nvSpPr>
          <p:spPr bwMode="auto">
            <a:xfrm>
              <a:off x="8197851" y="4973477"/>
              <a:ext cx="1930400"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mn-ea"/>
              </a:endParaRPr>
            </a:p>
          </p:txBody>
        </p:sp>
        <p:sp>
          <p:nvSpPr>
            <p:cNvPr id="87" name="圆角矩形 86"/>
            <p:cNvSpPr/>
            <p:nvPr/>
          </p:nvSpPr>
          <p:spPr bwMode="auto">
            <a:xfrm>
              <a:off x="2697165" y="5333840"/>
              <a:ext cx="1839911" cy="750887"/>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mn-ea"/>
              </a:endParaRPr>
            </a:p>
          </p:txBody>
        </p:sp>
        <p:sp>
          <p:nvSpPr>
            <p:cNvPr id="86" name="圆角矩形 85"/>
            <p:cNvSpPr/>
            <p:nvPr/>
          </p:nvSpPr>
          <p:spPr bwMode="auto">
            <a:xfrm>
              <a:off x="2697020" y="4500402"/>
              <a:ext cx="1813070"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mn-ea"/>
              </a:endParaRPr>
            </a:p>
          </p:txBody>
        </p:sp>
        <p:cxnSp>
          <p:nvCxnSpPr>
            <p:cNvPr id="25651" name="直接连接符 9"/>
            <p:cNvCxnSpPr>
              <a:cxnSpLocks noChangeShapeType="1"/>
            </p:cNvCxnSpPr>
            <p:nvPr/>
          </p:nvCxnSpPr>
          <p:spPr bwMode="auto">
            <a:xfrm flipH="1" flipV="1">
              <a:off x="3834025" y="4886143"/>
              <a:ext cx="1279378" cy="453994"/>
            </a:xfrm>
            <a:prstGeom prst="line">
              <a:avLst/>
            </a:prstGeom>
            <a:noFill/>
            <a:ln w="28575" algn="ctr">
              <a:solidFill>
                <a:schemeClr val="tx1"/>
              </a:solidFill>
              <a:round/>
              <a:headEnd/>
              <a:tailEnd/>
            </a:ln>
          </p:spPr>
        </p:cxnSp>
        <p:cxnSp>
          <p:nvCxnSpPr>
            <p:cNvPr id="11" name="直接连接符 10"/>
            <p:cNvCxnSpPr/>
            <p:nvPr/>
          </p:nvCxnSpPr>
          <p:spPr bwMode="auto">
            <a:xfrm flipV="1">
              <a:off x="5164139" y="4554377"/>
              <a:ext cx="1028700" cy="787400"/>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653" name="直接连接符 11"/>
            <p:cNvCxnSpPr>
              <a:cxnSpLocks noChangeShapeType="1"/>
            </p:cNvCxnSpPr>
            <p:nvPr/>
          </p:nvCxnSpPr>
          <p:spPr bwMode="auto">
            <a:xfrm>
              <a:off x="5049380" y="5413993"/>
              <a:ext cx="1157605" cy="602391"/>
            </a:xfrm>
            <a:prstGeom prst="line">
              <a:avLst/>
            </a:prstGeom>
            <a:noFill/>
            <a:ln w="28575" algn="ctr">
              <a:solidFill>
                <a:schemeClr val="tx1"/>
              </a:solidFill>
              <a:round/>
              <a:headEnd/>
              <a:tailEnd/>
            </a:ln>
          </p:spPr>
        </p:cxnSp>
        <p:cxnSp>
          <p:nvCxnSpPr>
            <p:cNvPr id="25654" name="直接连接符 12"/>
            <p:cNvCxnSpPr>
              <a:cxnSpLocks noChangeShapeType="1"/>
            </p:cNvCxnSpPr>
            <p:nvPr/>
          </p:nvCxnSpPr>
          <p:spPr bwMode="auto">
            <a:xfrm flipH="1">
              <a:off x="3942040" y="5325292"/>
              <a:ext cx="1327326" cy="408468"/>
            </a:xfrm>
            <a:prstGeom prst="line">
              <a:avLst/>
            </a:prstGeom>
            <a:noFill/>
            <a:ln w="28575" algn="ctr">
              <a:solidFill>
                <a:schemeClr val="tx1"/>
              </a:solidFill>
              <a:round/>
              <a:headEnd/>
              <a:tailEnd/>
            </a:ln>
          </p:spPr>
        </p:cxnSp>
        <p:cxnSp>
          <p:nvCxnSpPr>
            <p:cNvPr id="25655" name="直接连接符 13"/>
            <p:cNvCxnSpPr>
              <a:cxnSpLocks noChangeShapeType="1"/>
            </p:cNvCxnSpPr>
            <p:nvPr/>
          </p:nvCxnSpPr>
          <p:spPr bwMode="auto">
            <a:xfrm>
              <a:off x="6098168" y="4568592"/>
              <a:ext cx="1130954" cy="782536"/>
            </a:xfrm>
            <a:prstGeom prst="line">
              <a:avLst/>
            </a:prstGeom>
            <a:noFill/>
            <a:ln w="28575" algn="ctr">
              <a:solidFill>
                <a:schemeClr val="tx1"/>
              </a:solidFill>
              <a:round/>
              <a:headEnd/>
              <a:tailEnd/>
            </a:ln>
          </p:spPr>
        </p:cxnSp>
        <p:cxnSp>
          <p:nvCxnSpPr>
            <p:cNvPr id="25656" name="直接连接符 14"/>
            <p:cNvCxnSpPr>
              <a:cxnSpLocks noChangeShapeType="1"/>
            </p:cNvCxnSpPr>
            <p:nvPr/>
          </p:nvCxnSpPr>
          <p:spPr bwMode="auto">
            <a:xfrm flipV="1">
              <a:off x="7411104" y="5373819"/>
              <a:ext cx="995566" cy="0"/>
            </a:xfrm>
            <a:prstGeom prst="line">
              <a:avLst/>
            </a:prstGeom>
            <a:noFill/>
            <a:ln w="28575" algn="ctr">
              <a:solidFill>
                <a:schemeClr val="tx1"/>
              </a:solidFill>
              <a:round/>
              <a:headEnd/>
              <a:tailEnd/>
            </a:ln>
          </p:spPr>
        </p:cxnSp>
        <p:sp>
          <p:nvSpPr>
            <p:cNvPr id="25657" name="矩形 15"/>
            <p:cNvSpPr>
              <a:spLocks noChangeArrowheads="1"/>
            </p:cNvSpPr>
            <p:nvPr/>
          </p:nvSpPr>
          <p:spPr bwMode="auto">
            <a:xfrm>
              <a:off x="2567609" y="5518803"/>
              <a:ext cx="1263104" cy="430887"/>
            </a:xfrm>
            <a:prstGeom prst="rect">
              <a:avLst/>
            </a:prstGeom>
            <a:noFill/>
            <a:ln w="9525">
              <a:noFill/>
              <a:miter lim="800000"/>
              <a:headEnd/>
              <a:tailEnd/>
            </a:ln>
          </p:spPr>
          <p:txBody>
            <a:bodyPr wrap="square">
              <a:spAutoFit/>
            </a:bodyPr>
            <a:lstStyle/>
            <a:p>
              <a:pPr algn="ctr" rtl="0" eaLnBrk="0" fontAlgn="t" hangingPunct="0">
                <a:buSzPct val="100000"/>
              </a:pPr>
              <a:r>
                <a:rPr lang="en-US" altLang="zh-CN" sz="1100" b="1" dirty="0">
                  <a:solidFill>
                    <a:srgbClr val="000000"/>
                  </a:solidFill>
                  <a:latin typeface="+mn-lt"/>
                  <a:ea typeface="+mn-ea"/>
                  <a:sym typeface="FrutigerNext LT Regular" pitchFamily="34" charset="0"/>
                </a:rPr>
                <a:t>département financier</a:t>
              </a:r>
            </a:p>
          </p:txBody>
        </p:sp>
        <p:sp>
          <p:nvSpPr>
            <p:cNvPr id="25658" name="矩形 16"/>
            <p:cNvSpPr>
              <a:spLocks noChangeArrowheads="1"/>
            </p:cNvSpPr>
            <p:nvPr/>
          </p:nvSpPr>
          <p:spPr bwMode="auto">
            <a:xfrm>
              <a:off x="8952491" y="5239310"/>
              <a:ext cx="1175759" cy="261610"/>
            </a:xfrm>
            <a:prstGeom prst="rect">
              <a:avLst/>
            </a:prstGeom>
            <a:noFill/>
            <a:ln w="9525">
              <a:noFill/>
              <a:miter lim="800000"/>
              <a:headEnd/>
              <a:tailEnd/>
            </a:ln>
          </p:spPr>
          <p:txBody>
            <a:bodyPr wrap="square">
              <a:spAutoFit/>
            </a:bodyPr>
            <a:lstStyle/>
            <a:p>
              <a:pPr algn="l" rtl="0" eaLnBrk="0" fontAlgn="t" hangingPunct="0">
                <a:buSzPct val="100000"/>
              </a:pPr>
              <a:r>
                <a:rPr lang="en-US" altLang="zh-CN" sz="1100" b="1" dirty="0">
                  <a:solidFill>
                    <a:srgbClr val="000000"/>
                  </a:solidFill>
                  <a:latin typeface="+mn-lt"/>
                  <a:ea typeface="+mn-ea"/>
                  <a:sym typeface="FrutigerNext LT Regular" pitchFamily="34" charset="0"/>
                </a:rPr>
                <a:t>Quartier général</a:t>
              </a:r>
            </a:p>
          </p:txBody>
        </p:sp>
        <p:sp>
          <p:nvSpPr>
            <p:cNvPr id="25659" name="文本框 17"/>
            <p:cNvSpPr txBox="1">
              <a:spLocks noChangeArrowheads="1"/>
            </p:cNvSpPr>
            <p:nvPr/>
          </p:nvSpPr>
          <p:spPr bwMode="auto">
            <a:xfrm>
              <a:off x="5738814" y="5157627"/>
              <a:ext cx="758825" cy="347663"/>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600" b="1" dirty="0">
                  <a:solidFill>
                    <a:srgbClr val="C00000"/>
                  </a:solidFill>
                  <a:latin typeface="+mn-lt"/>
                  <a:ea typeface="+mn-ea"/>
                  <a:cs typeface="Arial" charset="0"/>
                  <a:sym typeface="FrutigerNext LT Regular" pitchFamily="34" charset="0"/>
                </a:rPr>
                <a:t>OSPF</a:t>
              </a:r>
            </a:p>
          </p:txBody>
        </p:sp>
        <p:sp>
          <p:nvSpPr>
            <p:cNvPr id="25660" name="文本框 18"/>
            <p:cNvSpPr txBox="1">
              <a:spLocks noChangeArrowheads="1"/>
            </p:cNvSpPr>
            <p:nvPr/>
          </p:nvSpPr>
          <p:spPr bwMode="auto">
            <a:xfrm>
              <a:off x="2495328" y="4646091"/>
              <a:ext cx="1368425" cy="439503"/>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b="1" dirty="0">
                  <a:solidFill>
                    <a:srgbClr val="000000"/>
                  </a:solidFill>
                  <a:latin typeface="+mn-lt"/>
                  <a:ea typeface="+mn-ea"/>
                  <a:cs typeface="Arial" charset="0"/>
                  <a:sym typeface="FrutigerNext LT Regular" pitchFamily="34" charset="0"/>
                </a:rPr>
                <a:t>département marketing</a:t>
              </a:r>
            </a:p>
          </p:txBody>
        </p:sp>
        <p:cxnSp>
          <p:nvCxnSpPr>
            <p:cNvPr id="25666" name="直接连接符 24"/>
            <p:cNvCxnSpPr>
              <a:cxnSpLocks noChangeShapeType="1"/>
            </p:cNvCxnSpPr>
            <p:nvPr/>
          </p:nvCxnSpPr>
          <p:spPr bwMode="auto">
            <a:xfrm flipV="1">
              <a:off x="6183172" y="5426293"/>
              <a:ext cx="1025840" cy="559733"/>
            </a:xfrm>
            <a:prstGeom prst="line">
              <a:avLst/>
            </a:prstGeom>
            <a:noFill/>
            <a:ln w="28575" algn="ctr">
              <a:solidFill>
                <a:schemeClr val="tx1"/>
              </a:solidFill>
              <a:round/>
              <a:headEnd/>
              <a:tailEnd/>
            </a:ln>
          </p:spPr>
        </p:cxnSp>
        <p:sp>
          <p:nvSpPr>
            <p:cNvPr id="25669" name="AutoShape 21"/>
            <p:cNvSpPr>
              <a:spLocks noChangeArrowheads="1"/>
            </p:cNvSpPr>
            <p:nvPr/>
          </p:nvSpPr>
          <p:spPr bwMode="auto">
            <a:xfrm>
              <a:off x="6891338" y="5811677"/>
              <a:ext cx="765175" cy="247650"/>
            </a:xfrm>
            <a:prstGeom prst="wedgeRectCallout">
              <a:avLst>
                <a:gd name="adj1" fmla="val -55861"/>
                <a:gd name="adj2" fmla="val -112389"/>
              </a:avLst>
            </a:prstGeom>
            <a:noFill/>
            <a:ln w="3175" algn="ctr">
              <a:solidFill>
                <a:srgbClr val="999999"/>
              </a:solidFill>
              <a:miter lim="800000"/>
              <a:headEnd/>
              <a:tailEnd/>
            </a:ln>
          </p:spPr>
          <p:txBody>
            <a:bodyPr lIns="0" tIns="0" rIns="0" bIns="0" anchor="ctr" anchorCtr="1"/>
            <a:lstStyle/>
            <a:p>
              <a:pPr algn="l" rtl="0" eaLnBrk="0" fontAlgn="t" hangingPunct="0">
                <a:spcBef>
                  <a:spcPct val="20000"/>
                </a:spcBef>
                <a:buSzPct val="100000"/>
              </a:pPr>
              <a:r>
                <a:rPr lang="en-US" altLang="zh-CN" sz="1100" dirty="0">
                  <a:solidFill>
                    <a:srgbClr val="000000"/>
                  </a:solidFill>
                  <a:latin typeface="+mn-lt"/>
                  <a:ea typeface="+mn-ea"/>
                  <a:sym typeface="FrutigerNext LT Regular" pitchFamily="34" charset="0"/>
                </a:rPr>
                <a:t>Lien inactif</a:t>
              </a:r>
            </a:p>
          </p:txBody>
        </p:sp>
        <p:sp>
          <p:nvSpPr>
            <p:cNvPr id="25670" name="文本框 32"/>
            <p:cNvSpPr txBox="1">
              <a:spLocks noChangeArrowheads="1"/>
            </p:cNvSpPr>
            <p:nvPr/>
          </p:nvSpPr>
          <p:spPr bwMode="auto">
            <a:xfrm>
              <a:off x="5418139" y="4975065"/>
              <a:ext cx="612774" cy="23971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10M</a:t>
              </a:r>
            </a:p>
          </p:txBody>
        </p:sp>
        <p:sp>
          <p:nvSpPr>
            <p:cNvPr id="25671" name="文本框 33"/>
            <p:cNvSpPr txBox="1">
              <a:spLocks noChangeArrowheads="1"/>
            </p:cNvSpPr>
            <p:nvPr/>
          </p:nvSpPr>
          <p:spPr bwMode="auto">
            <a:xfrm>
              <a:off x="6281739" y="4978240"/>
              <a:ext cx="612774" cy="23971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10M</a:t>
              </a:r>
            </a:p>
          </p:txBody>
        </p:sp>
        <p:sp>
          <p:nvSpPr>
            <p:cNvPr id="25672" name="文本框 34"/>
            <p:cNvSpPr txBox="1">
              <a:spLocks noChangeArrowheads="1"/>
            </p:cNvSpPr>
            <p:nvPr/>
          </p:nvSpPr>
          <p:spPr bwMode="auto">
            <a:xfrm>
              <a:off x="6369051" y="5514815"/>
              <a:ext cx="488950" cy="23971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10M</a:t>
              </a:r>
            </a:p>
          </p:txBody>
        </p:sp>
        <p:sp>
          <p:nvSpPr>
            <p:cNvPr id="25673" name="文本框 35"/>
            <p:cNvSpPr txBox="1">
              <a:spLocks noChangeArrowheads="1"/>
            </p:cNvSpPr>
            <p:nvPr/>
          </p:nvSpPr>
          <p:spPr bwMode="auto">
            <a:xfrm>
              <a:off x="5381626" y="5514815"/>
              <a:ext cx="612774" cy="23971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5M</a:t>
              </a:r>
            </a:p>
          </p:txBody>
        </p:sp>
        <p:pic>
          <p:nvPicPr>
            <p:cNvPr id="79" name="图片 7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601768" y="5629402"/>
              <a:ext cx="540000" cy="442800"/>
            </a:xfrm>
            <a:prstGeom prst="rect">
              <a:avLst/>
            </a:prstGeom>
          </p:spPr>
        </p:pic>
        <p:pic>
          <p:nvPicPr>
            <p:cNvPr id="80" name="图片 7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427510" y="5191953"/>
              <a:ext cx="540000" cy="442800"/>
            </a:xfrm>
            <a:prstGeom prst="rect">
              <a:avLst/>
            </a:prstGeom>
          </p:spPr>
        </p:pic>
        <p:pic>
          <p:nvPicPr>
            <p:cNvPr id="81"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807043" y="4454600"/>
              <a:ext cx="628652" cy="514351"/>
            </a:xfrm>
            <a:prstGeom prst="rect">
              <a:avLst/>
            </a:prstGeom>
            <a:noFill/>
          </p:spPr>
        </p:pic>
        <p:pic>
          <p:nvPicPr>
            <p:cNvPr id="8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793041" y="5178616"/>
              <a:ext cx="628652" cy="514351"/>
            </a:xfrm>
            <a:prstGeom prst="rect">
              <a:avLst/>
            </a:prstGeom>
            <a:noFill/>
          </p:spPr>
        </p:pic>
        <p:pic>
          <p:nvPicPr>
            <p:cNvPr id="8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801983" y="5795852"/>
              <a:ext cx="628652" cy="514351"/>
            </a:xfrm>
            <a:prstGeom prst="rect">
              <a:avLst/>
            </a:prstGeom>
            <a:noFill/>
          </p:spPr>
        </p:pic>
        <p:pic>
          <p:nvPicPr>
            <p:cNvPr id="8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025923" y="5210131"/>
              <a:ext cx="628652" cy="514351"/>
            </a:xfrm>
            <a:prstGeom prst="rect">
              <a:avLst/>
            </a:prstGeom>
            <a:noFill/>
          </p:spPr>
        </p:pic>
        <p:pic>
          <p:nvPicPr>
            <p:cNvPr id="97" name="图片 96" descr="市场部.png"/>
            <p:cNvPicPr>
              <a:picLocks noChangeAspect="1"/>
            </p:cNvPicPr>
            <p:nvPr/>
          </p:nvPicPr>
          <p:blipFill>
            <a:blip r:embed="rId5" cstate="print"/>
            <a:stretch>
              <a:fillRect/>
            </a:stretch>
          </p:blipFill>
          <p:spPr>
            <a:xfrm>
              <a:off x="3627552" y="4771418"/>
              <a:ext cx="540000" cy="441818"/>
            </a:xfrm>
            <a:prstGeom prst="rect">
              <a:avLst/>
            </a:prstGeom>
          </p:spPr>
        </p:pic>
        <p:sp>
          <p:nvSpPr>
            <p:cNvPr id="25674" name="任意多边形 91"/>
            <p:cNvSpPr>
              <a:spLocks/>
            </p:cNvSpPr>
            <p:nvPr/>
          </p:nvSpPr>
          <p:spPr bwMode="auto">
            <a:xfrm>
              <a:off x="5058197" y="4563130"/>
              <a:ext cx="3373950" cy="757600"/>
            </a:xfrm>
            <a:custGeom>
              <a:avLst/>
              <a:gdLst>
                <a:gd name="T0" fmla="*/ 0 w 4757928"/>
                <a:gd name="T1" fmla="*/ 757808 h 757808"/>
                <a:gd name="T2" fmla="*/ 214370 w 4757928"/>
                <a:gd name="T3" fmla="*/ 502853 h 757808"/>
                <a:gd name="T4" fmla="*/ 665280 w 4757928"/>
                <a:gd name="T5" fmla="*/ 40942 h 757808"/>
                <a:gd name="T6" fmla="*/ 850137 w 4757928"/>
                <a:gd name="T7" fmla="*/ 13027 h 757808"/>
                <a:gd name="T8" fmla="*/ 1515163 w 4757928"/>
                <a:gd name="T9" fmla="*/ 651571 h 757808"/>
                <a:gd name="T10" fmla="*/ 2392396 w 4757928"/>
                <a:gd name="T11" fmla="*/ 698134 h 757808"/>
                <a:gd name="T12" fmla="*/ 0 60000 65536"/>
                <a:gd name="T13" fmla="*/ 0 60000 65536"/>
                <a:gd name="T14" fmla="*/ 0 60000 65536"/>
                <a:gd name="T15" fmla="*/ 0 60000 65536"/>
                <a:gd name="T16" fmla="*/ 0 60000 65536"/>
                <a:gd name="T17" fmla="*/ 0 60000 65536"/>
                <a:gd name="T18" fmla="*/ 0 w 4757928"/>
                <a:gd name="T19" fmla="*/ 0 h 757808"/>
                <a:gd name="T20" fmla="*/ 4757928 w 4757928"/>
                <a:gd name="T21" fmla="*/ 757808 h 757808"/>
              </a:gdLst>
              <a:ahLst/>
              <a:cxnLst>
                <a:cxn ang="T12">
                  <a:pos x="T0" y="T1"/>
                </a:cxn>
                <a:cxn ang="T13">
                  <a:pos x="T2" y="T3"/>
                </a:cxn>
                <a:cxn ang="T14">
                  <a:pos x="T4" y="T5"/>
                </a:cxn>
                <a:cxn ang="T15">
                  <a:pos x="T6" y="T7"/>
                </a:cxn>
                <a:cxn ang="T16">
                  <a:pos x="T8" y="T9"/>
                </a:cxn>
                <a:cxn ang="T17">
                  <a:pos x="T10" y="T11"/>
                </a:cxn>
              </a:cxnLst>
              <a:rect l="T18" t="T19" r="T20" b="T21"/>
              <a:pathLst>
                <a:path w="4757928" h="757808">
                  <a:moveTo>
                    <a:pt x="0" y="757808"/>
                  </a:moveTo>
                  <a:cubicBezTo>
                    <a:pt x="458855" y="472416"/>
                    <a:pt x="205817" y="622331"/>
                    <a:pt x="426332" y="502853"/>
                  </a:cubicBezTo>
                  <a:cubicBezTo>
                    <a:pt x="646847" y="383375"/>
                    <a:pt x="1112357" y="122580"/>
                    <a:pt x="1323089" y="40942"/>
                  </a:cubicBezTo>
                  <a:cubicBezTo>
                    <a:pt x="1533821" y="-40696"/>
                    <a:pt x="1488699" y="27493"/>
                    <a:pt x="1690727" y="13027"/>
                  </a:cubicBezTo>
                  <a:cubicBezTo>
                    <a:pt x="1892755" y="91551"/>
                    <a:pt x="2708555" y="477977"/>
                    <a:pt x="3013312" y="651571"/>
                  </a:cubicBezTo>
                  <a:cubicBezTo>
                    <a:pt x="3314296" y="787533"/>
                    <a:pt x="4124954" y="721167"/>
                    <a:pt x="4757928" y="698134"/>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dirty="0">
                <a:latin typeface="+mn-lt"/>
                <a:ea typeface="+mn-ea"/>
              </a:endParaRPr>
            </a:p>
          </p:txBody>
        </p:sp>
      </p:grpSp>
    </p:spTree>
    <p:extLst>
      <p:ext uri="{BB962C8B-B14F-4D97-AF65-F5344CB8AC3E}">
        <p14:creationId xmlns:p14="http://schemas.microsoft.com/office/powerpoint/2010/main" val="2751597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文本占位符 3"/>
          <p:cNvSpPr>
            <a:spLocks noGrp="1"/>
          </p:cNvSpPr>
          <p:nvPr>
            <p:ph type="body" sz="quarter" idx="10"/>
          </p:nvPr>
        </p:nvSpPr>
        <p:spPr/>
        <p:txBody>
          <a:bodyPr/>
          <a:lstStyle/>
          <a:p>
            <a:pPr algn="l" rtl="0"/>
            <a:r>
              <a:rPr lang="en-US" altLang="zh-CN" dirty="0">
                <a:solidFill>
                  <a:schemeClr val="bg1">
                    <a:lumMod val="50000"/>
                  </a:schemeClr>
                </a:solidFill>
                <a:sym typeface="FrutigerNext LT Regular" pitchFamily="34" charset="0"/>
              </a:rPr>
              <a:t>Exigence de contrôle du comportement de la circulation</a:t>
            </a:r>
          </a:p>
          <a:p>
            <a:pPr algn="l" rtl="0"/>
            <a:r>
              <a:rPr lang="en-US" altLang="zh-CN" b="1" dirty="0">
                <a:sym typeface="FrutigerNext LT Regular" pitchFamily="34" charset="0"/>
              </a:rPr>
              <a:t>Portée du contrôle</a:t>
            </a:r>
          </a:p>
          <a:p>
            <a:pPr lvl="1" algn="l" rtl="0">
              <a:buSzPct val="60000"/>
              <a:buFont typeface="Wingdings" panose="05000000000000000000" pitchFamily="2" charset="2"/>
              <a:buChar char="n"/>
            </a:pPr>
            <a:r>
              <a:rPr lang="en-US" altLang="zh-CN" dirty="0">
                <a:sym typeface="FrutigerNext LT Regular" pitchFamily="34" charset="0"/>
              </a:rPr>
              <a:t>Politique de routage</a:t>
            </a:r>
          </a:p>
          <a:p>
            <a:pPr lvl="1" algn="l" rtl="0"/>
            <a:r>
              <a:rPr lang="en-US" altLang="zh-CN" dirty="0">
                <a:solidFill>
                  <a:schemeClr val="bg1">
                    <a:lumMod val="50000"/>
                  </a:schemeClr>
                </a:solidFill>
                <a:sym typeface="FrutigerNext LT Regular" pitchFamily="34" charset="0"/>
              </a:rPr>
              <a:t>Filtre de trafic</a:t>
            </a:r>
          </a:p>
          <a:p>
            <a:pPr algn="l" rtl="0"/>
            <a:r>
              <a:rPr lang="en-US" altLang="zh-CN" dirty="0">
                <a:solidFill>
                  <a:schemeClr val="bg1">
                    <a:lumMod val="50000"/>
                  </a:schemeClr>
                </a:solidFill>
                <a:sym typeface="FrutigerNext LT Regular" pitchFamily="34" charset="0"/>
              </a:rPr>
              <a:t>Ajuster le chemin du trafic réseau</a:t>
            </a:r>
          </a:p>
          <a:p>
            <a:pPr algn="l" rtl="0"/>
            <a:r>
              <a:rPr lang="en-US" altLang="zh-CN" dirty="0">
                <a:solidFill>
                  <a:schemeClr val="bg1">
                    <a:lumMod val="50000"/>
                  </a:schemeClr>
                </a:solidFill>
                <a:sym typeface="FrutigerNext LT Regular" pitchFamily="34" charset="0"/>
              </a:rPr>
              <a:t>Problèmes liés à l'importation d'itinéraires et solutions</a:t>
            </a:r>
          </a:p>
        </p:txBody>
      </p:sp>
    </p:spTree>
    <p:extLst>
      <p:ext uri="{BB962C8B-B14F-4D97-AF65-F5344CB8AC3E}">
        <p14:creationId xmlns:p14="http://schemas.microsoft.com/office/powerpoint/2010/main" val="2278634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rtl="0"/>
            <a:r>
              <a:rPr lang="en-US" altLang="zh-CN" dirty="0">
                <a:sym typeface="FrutigerNext LT Regular" pitchFamily="34" charset="0"/>
              </a:rPr>
              <a:t>Question : Comment contrôler l'accessibilité du trafic réseau ?</a:t>
            </a:r>
          </a:p>
        </p:txBody>
      </p:sp>
      <p:sp>
        <p:nvSpPr>
          <p:cNvPr id="5" name="文本占位符 4"/>
          <p:cNvSpPr>
            <a:spLocks noGrp="1"/>
          </p:cNvSpPr>
          <p:nvPr>
            <p:ph type="body" sz="quarter" idx="12"/>
          </p:nvPr>
        </p:nvSpPr>
        <p:spPr/>
        <p:txBody>
          <a:bodyPr/>
          <a:lstStyle/>
          <a:p>
            <a:pPr algn="l" rtl="0"/>
            <a:r>
              <a:rPr lang="en-US" altLang="zh-CN" dirty="0"/>
              <a:t>Contrôler l'accessibilité du trafic</a:t>
            </a:r>
            <a:endParaRPr lang="zh-CN" altLang="en-US" dirty="0"/>
          </a:p>
        </p:txBody>
      </p:sp>
      <p:sp>
        <p:nvSpPr>
          <p:cNvPr id="84" name="文本占位符 2"/>
          <p:cNvSpPr txBox="1">
            <a:spLocks/>
          </p:cNvSpPr>
          <p:nvPr/>
        </p:nvSpPr>
        <p:spPr bwMode="auto">
          <a:xfrm>
            <a:off x="974361" y="4467291"/>
            <a:ext cx="9036496" cy="1196380"/>
          </a:xfrm>
          <a:prstGeom prst="rect">
            <a:avLst/>
          </a:prstGeom>
          <a:noFill/>
          <a:ln w="9525">
            <a:noFill/>
            <a:miter lim="800000"/>
            <a:headEnd/>
            <a:tailEnd/>
          </a:ln>
        </p:spPr>
        <p:txBody>
          <a:bodyPr/>
          <a:lstStyle/>
          <a:p>
            <a:pPr marL="301625" indent="-301625" algn="l" defTabSz="801688" rtl="0" eaLnBrk="0" hangingPunct="0">
              <a:spcBef>
                <a:spcPct val="30000"/>
              </a:spcBef>
              <a:buClr>
                <a:srgbClr val="808080"/>
              </a:buClr>
              <a:buSzPct val="60000"/>
              <a:buFont typeface="Wingdings" pitchFamily="2" charset="2"/>
              <a:buChar char="l"/>
            </a:pPr>
            <a:r>
              <a:rPr lang="en-US" altLang="zh-CN" sz="1600" dirty="0">
                <a:solidFill>
                  <a:srgbClr val="000000"/>
                </a:solidFill>
                <a:latin typeface="+mn-lt"/>
                <a:ea typeface="+mn-ea"/>
                <a:sym typeface="FrutigerNext LT Regular" pitchFamily="34" charset="0"/>
              </a:rPr>
              <a:t>Solution 1 : Modifier le nombre d’entrées de routage (filtrer les routes reçues et annoncées) pour contrôler l’accessibilité. C’est ce qu’on appelle</a:t>
            </a:r>
            <a:r>
              <a:rPr lang="en-US" altLang="zh-CN" sz="1600" b="1" dirty="0">
                <a:solidFill>
                  <a:srgbClr val="C00000"/>
                </a:solidFill>
                <a:latin typeface="+mn-lt"/>
                <a:ea typeface="+mn-ea"/>
                <a:sym typeface="FrutigerNext LT Regular" pitchFamily="34" charset="0"/>
              </a:rPr>
              <a:t>politique de routage</a:t>
            </a:r>
            <a:r>
              <a:rPr lang="en-US" altLang="zh-CN" sz="1600" dirty="0">
                <a:solidFill>
                  <a:srgbClr val="000000"/>
                </a:solidFill>
                <a:latin typeface="+mn-lt"/>
                <a:ea typeface="+mn-ea"/>
                <a:sym typeface="FrutigerNext LT Regular" pitchFamily="34" charset="0"/>
              </a:rPr>
              <a:t>.</a:t>
            </a:r>
          </a:p>
        </p:txBody>
      </p:sp>
      <p:sp>
        <p:nvSpPr>
          <p:cNvPr id="85" name="文本占位符 2"/>
          <p:cNvSpPr txBox="1">
            <a:spLocks/>
          </p:cNvSpPr>
          <p:nvPr/>
        </p:nvSpPr>
        <p:spPr bwMode="auto">
          <a:xfrm>
            <a:off x="974361" y="5459475"/>
            <a:ext cx="7943652" cy="977900"/>
          </a:xfrm>
          <a:prstGeom prst="rect">
            <a:avLst/>
          </a:prstGeom>
          <a:noFill/>
          <a:ln w="9525">
            <a:noFill/>
            <a:miter lim="800000"/>
            <a:headEnd/>
            <a:tailEnd/>
          </a:ln>
        </p:spPr>
        <p:txBody>
          <a:bodyPr/>
          <a:lstStyle/>
          <a:p>
            <a:pPr marL="301625" indent="-301625" algn="l" defTabSz="801688" rtl="0" eaLnBrk="0" hangingPunct="0">
              <a:spcBef>
                <a:spcPct val="30000"/>
              </a:spcBef>
              <a:buClr>
                <a:srgbClr val="808080"/>
              </a:buClr>
              <a:buSzPct val="60000"/>
              <a:buFont typeface="Wingdings" pitchFamily="2" charset="2"/>
              <a:buChar char="l"/>
            </a:pPr>
            <a:r>
              <a:rPr lang="en-US" altLang="zh-CN" sz="1600" dirty="0">
                <a:solidFill>
                  <a:srgbClr val="000000"/>
                </a:solidFill>
                <a:latin typeface="+mn-lt"/>
                <a:ea typeface="+mn-ea"/>
                <a:sym typeface="FrutigerNext LT Regular" pitchFamily="34" charset="0"/>
              </a:rPr>
              <a:t>Solution 2 :Déployer un filtre de trafic pour bloquer ou autoriser un flux de trafic spécifique.Cette méthode est appelée</a:t>
            </a:r>
            <a:r>
              <a:rPr lang="en-US" altLang="zh-CN" sz="1600" b="1" dirty="0">
                <a:solidFill>
                  <a:srgbClr val="C00000"/>
                </a:solidFill>
                <a:latin typeface="+mn-lt"/>
                <a:ea typeface="+mn-ea"/>
                <a:sym typeface="FrutigerNext LT Regular" pitchFamily="34" charset="0"/>
              </a:rPr>
              <a:t>filtre de trafic</a:t>
            </a:r>
            <a:r>
              <a:rPr lang="en-US" altLang="zh-CN" sz="1600" dirty="0">
                <a:latin typeface="+mn-lt"/>
                <a:ea typeface="+mn-ea"/>
                <a:sym typeface="FrutigerNext LT Regular" pitchFamily="34" charset="0"/>
              </a:rPr>
              <a:t>.</a:t>
            </a:r>
          </a:p>
        </p:txBody>
      </p:sp>
      <p:grpSp>
        <p:nvGrpSpPr>
          <p:cNvPr id="6" name="组合 5"/>
          <p:cNvGrpSpPr/>
          <p:nvPr/>
        </p:nvGrpSpPr>
        <p:grpSpPr>
          <a:xfrm>
            <a:off x="2256188" y="1989139"/>
            <a:ext cx="7951703" cy="2473324"/>
            <a:chOff x="2256188" y="1989139"/>
            <a:chExt cx="7951703" cy="2473324"/>
          </a:xfrm>
        </p:grpSpPr>
        <p:sp>
          <p:nvSpPr>
            <p:cNvPr id="41" name="圆角矩形 40"/>
            <p:cNvSpPr/>
            <p:nvPr/>
          </p:nvSpPr>
          <p:spPr bwMode="auto">
            <a:xfrm>
              <a:off x="8145018" y="3703638"/>
              <a:ext cx="1847374" cy="75882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algn="l" rtl="0" fontAlgn="t">
                <a:defRPr/>
              </a:pPr>
              <a:endParaRPr lang="en-US" altLang="zh-CN" sz="900" dirty="0">
                <a:latin typeface="+mn-lt"/>
                <a:ea typeface="+mn-ea"/>
              </a:endParaRPr>
            </a:p>
          </p:txBody>
        </p:sp>
        <p:sp>
          <p:nvSpPr>
            <p:cNvPr id="42" name="圆角矩形 41"/>
            <p:cNvSpPr/>
            <p:nvPr/>
          </p:nvSpPr>
          <p:spPr bwMode="auto">
            <a:xfrm>
              <a:off x="8327579" y="2813051"/>
              <a:ext cx="1615184" cy="760412"/>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algn="l" rtl="0" fontAlgn="t">
                <a:defRPr/>
              </a:pPr>
              <a:endParaRPr lang="en-US" altLang="zh-CN" sz="900" dirty="0">
                <a:latin typeface="+mn-lt"/>
                <a:ea typeface="+mn-ea"/>
              </a:endParaRPr>
            </a:p>
          </p:txBody>
        </p:sp>
        <p:sp>
          <p:nvSpPr>
            <p:cNvPr id="43" name="圆角矩形 42"/>
            <p:cNvSpPr/>
            <p:nvPr/>
          </p:nvSpPr>
          <p:spPr bwMode="auto">
            <a:xfrm>
              <a:off x="8008492" y="1989139"/>
              <a:ext cx="1934271" cy="760411"/>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algn="l" rtl="0" fontAlgn="t">
                <a:defRPr/>
              </a:pPr>
              <a:endParaRPr lang="en-US" altLang="zh-CN" sz="900" dirty="0">
                <a:latin typeface="+mn-lt"/>
                <a:ea typeface="+mn-ea"/>
              </a:endParaRPr>
            </a:p>
          </p:txBody>
        </p:sp>
        <p:sp>
          <p:nvSpPr>
            <p:cNvPr id="44" name="圆角矩形 43"/>
            <p:cNvSpPr/>
            <p:nvPr/>
          </p:nvSpPr>
          <p:spPr bwMode="auto">
            <a:xfrm>
              <a:off x="2404043" y="3392489"/>
              <a:ext cx="1608712" cy="760411"/>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algn="l" rtl="0" fontAlgn="t">
                <a:defRPr/>
              </a:pPr>
              <a:endParaRPr lang="en-US" altLang="zh-CN" sz="900" dirty="0">
                <a:latin typeface="+mn-lt"/>
                <a:ea typeface="+mn-ea"/>
              </a:endParaRPr>
            </a:p>
          </p:txBody>
        </p:sp>
        <p:sp>
          <p:nvSpPr>
            <p:cNvPr id="45" name="圆角矩形 44"/>
            <p:cNvSpPr/>
            <p:nvPr/>
          </p:nvSpPr>
          <p:spPr bwMode="auto">
            <a:xfrm>
              <a:off x="2370534" y="2349501"/>
              <a:ext cx="1612059"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algn="l" rtl="0" fontAlgn="t">
                <a:defRPr/>
              </a:pPr>
              <a:endParaRPr lang="en-US" altLang="zh-CN" sz="900" dirty="0">
                <a:latin typeface="+mn-lt"/>
                <a:ea typeface="+mn-ea"/>
              </a:endParaRPr>
            </a:p>
          </p:txBody>
        </p:sp>
        <p:sp>
          <p:nvSpPr>
            <p:cNvPr id="27669" name="矩形 45"/>
            <p:cNvSpPr>
              <a:spLocks noChangeArrowheads="1"/>
            </p:cNvSpPr>
            <p:nvPr/>
          </p:nvSpPr>
          <p:spPr bwMode="auto">
            <a:xfrm>
              <a:off x="8979574" y="2134939"/>
              <a:ext cx="963190" cy="440258"/>
            </a:xfrm>
            <a:prstGeom prst="rect">
              <a:avLst/>
            </a:prstGeom>
            <a:noFill/>
            <a:ln w="9525">
              <a:noFill/>
              <a:miter lim="800000"/>
              <a:headEnd/>
              <a:tailEnd/>
            </a:ln>
          </p:spPr>
          <p:txBody>
            <a:bodyPr wrap="square">
              <a:noAutofit/>
            </a:bodyPr>
            <a:lstStyle/>
            <a:p>
              <a:pPr algn="l" rtl="0" eaLnBrk="0" fontAlgn="t" hangingPunct="0">
                <a:buSzPct val="100000"/>
              </a:pPr>
              <a:r>
                <a:rPr lang="en-US" altLang="zh-CN" b="1" dirty="0">
                  <a:solidFill>
                    <a:srgbClr val="000000"/>
                  </a:solidFill>
                  <a:latin typeface="+mn-lt"/>
                  <a:ea typeface="+mn-ea"/>
                  <a:sym typeface="FrutigerNext LT Regular" pitchFamily="34" charset="0"/>
                </a:rPr>
                <a:t>département financier</a:t>
              </a:r>
            </a:p>
          </p:txBody>
        </p:sp>
        <p:cxnSp>
          <p:nvCxnSpPr>
            <p:cNvPr id="27670" name="直接连接符 46"/>
            <p:cNvCxnSpPr>
              <a:cxnSpLocks noChangeShapeType="1"/>
            </p:cNvCxnSpPr>
            <p:nvPr/>
          </p:nvCxnSpPr>
          <p:spPr bwMode="auto">
            <a:xfrm flipH="1" flipV="1">
              <a:off x="3516052" y="2738493"/>
              <a:ext cx="1268634" cy="226324"/>
            </a:xfrm>
            <a:prstGeom prst="line">
              <a:avLst/>
            </a:prstGeom>
            <a:noFill/>
            <a:ln w="28575" algn="ctr">
              <a:solidFill>
                <a:schemeClr val="tx1"/>
              </a:solidFill>
              <a:round/>
              <a:headEnd/>
              <a:tailEnd/>
            </a:ln>
          </p:spPr>
        </p:cxnSp>
        <p:cxnSp>
          <p:nvCxnSpPr>
            <p:cNvPr id="48" name="直接连接符 47"/>
            <p:cNvCxnSpPr/>
            <p:nvPr/>
          </p:nvCxnSpPr>
          <p:spPr bwMode="auto">
            <a:xfrm>
              <a:off x="4743004" y="2968626"/>
              <a:ext cx="1238250" cy="263525"/>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672" name="直接连接符 51"/>
            <p:cNvCxnSpPr>
              <a:cxnSpLocks noChangeShapeType="1"/>
            </p:cNvCxnSpPr>
            <p:nvPr/>
          </p:nvCxnSpPr>
          <p:spPr bwMode="auto">
            <a:xfrm flipV="1">
              <a:off x="4674796" y="3342291"/>
              <a:ext cx="1389415" cy="405823"/>
            </a:xfrm>
            <a:prstGeom prst="line">
              <a:avLst/>
            </a:prstGeom>
            <a:noFill/>
            <a:ln w="28575" algn="ctr">
              <a:solidFill>
                <a:schemeClr val="tx1"/>
              </a:solidFill>
              <a:round/>
              <a:headEnd/>
              <a:tailEnd/>
            </a:ln>
          </p:spPr>
        </p:cxnSp>
        <p:cxnSp>
          <p:nvCxnSpPr>
            <p:cNvPr id="27673" name="直接连接符 52"/>
            <p:cNvCxnSpPr>
              <a:cxnSpLocks noChangeShapeType="1"/>
            </p:cNvCxnSpPr>
            <p:nvPr/>
          </p:nvCxnSpPr>
          <p:spPr bwMode="auto">
            <a:xfrm flipH="1">
              <a:off x="3549621" y="3717066"/>
              <a:ext cx="1125174" cy="31047"/>
            </a:xfrm>
            <a:prstGeom prst="line">
              <a:avLst/>
            </a:prstGeom>
            <a:noFill/>
            <a:ln w="28575" algn="ctr">
              <a:solidFill>
                <a:schemeClr val="tx1"/>
              </a:solidFill>
              <a:round/>
              <a:headEnd/>
              <a:tailEnd/>
            </a:ln>
          </p:spPr>
        </p:cxnSp>
        <p:cxnSp>
          <p:nvCxnSpPr>
            <p:cNvPr id="27674" name="直接连接符 53"/>
            <p:cNvCxnSpPr>
              <a:cxnSpLocks noChangeShapeType="1"/>
            </p:cNvCxnSpPr>
            <p:nvPr/>
          </p:nvCxnSpPr>
          <p:spPr bwMode="auto">
            <a:xfrm flipV="1">
              <a:off x="6202001" y="3282065"/>
              <a:ext cx="1097572" cy="837"/>
            </a:xfrm>
            <a:prstGeom prst="line">
              <a:avLst/>
            </a:prstGeom>
            <a:noFill/>
            <a:ln w="28575" algn="ctr">
              <a:solidFill>
                <a:schemeClr val="tx1"/>
              </a:solidFill>
              <a:round/>
              <a:headEnd/>
              <a:tailEnd/>
            </a:ln>
          </p:spPr>
        </p:cxnSp>
        <p:cxnSp>
          <p:nvCxnSpPr>
            <p:cNvPr id="27675" name="直接连接符 54"/>
            <p:cNvCxnSpPr>
              <a:cxnSpLocks noChangeShapeType="1"/>
            </p:cNvCxnSpPr>
            <p:nvPr/>
          </p:nvCxnSpPr>
          <p:spPr bwMode="auto">
            <a:xfrm flipH="1">
              <a:off x="7608681" y="2493118"/>
              <a:ext cx="759563" cy="672045"/>
            </a:xfrm>
            <a:prstGeom prst="line">
              <a:avLst/>
            </a:prstGeom>
            <a:noFill/>
            <a:ln w="28575" algn="ctr">
              <a:solidFill>
                <a:schemeClr val="tx1"/>
              </a:solidFill>
              <a:round/>
              <a:headEnd/>
              <a:tailEnd/>
            </a:ln>
          </p:spPr>
        </p:cxnSp>
        <p:cxnSp>
          <p:nvCxnSpPr>
            <p:cNvPr id="27676" name="直接连接符 61"/>
            <p:cNvCxnSpPr>
              <a:cxnSpLocks noChangeShapeType="1"/>
            </p:cNvCxnSpPr>
            <p:nvPr/>
          </p:nvCxnSpPr>
          <p:spPr bwMode="auto">
            <a:xfrm flipV="1">
              <a:off x="7407575" y="3110378"/>
              <a:ext cx="1345668" cy="138709"/>
            </a:xfrm>
            <a:prstGeom prst="line">
              <a:avLst/>
            </a:prstGeom>
            <a:noFill/>
            <a:ln w="28575" algn="ctr">
              <a:solidFill>
                <a:schemeClr val="tx1"/>
              </a:solidFill>
              <a:round/>
              <a:headEnd/>
              <a:tailEnd/>
            </a:ln>
          </p:spPr>
        </p:cxnSp>
        <p:cxnSp>
          <p:nvCxnSpPr>
            <p:cNvPr id="27677" name="直接连接符 62"/>
            <p:cNvCxnSpPr>
              <a:cxnSpLocks noChangeShapeType="1"/>
            </p:cNvCxnSpPr>
            <p:nvPr/>
          </p:nvCxnSpPr>
          <p:spPr bwMode="auto">
            <a:xfrm>
              <a:off x="7477875" y="3373696"/>
              <a:ext cx="1040889" cy="748521"/>
            </a:xfrm>
            <a:prstGeom prst="line">
              <a:avLst/>
            </a:prstGeom>
            <a:noFill/>
            <a:ln w="28575" algn="ctr">
              <a:solidFill>
                <a:schemeClr val="tx1"/>
              </a:solidFill>
              <a:round/>
              <a:headEnd/>
              <a:tailEnd/>
            </a:ln>
          </p:spPr>
        </p:cxnSp>
        <p:sp>
          <p:nvSpPr>
            <p:cNvPr id="27678" name="矩形 64"/>
            <p:cNvSpPr>
              <a:spLocks noChangeArrowheads="1"/>
            </p:cNvSpPr>
            <p:nvPr/>
          </p:nvSpPr>
          <p:spPr bwMode="auto">
            <a:xfrm>
              <a:off x="2279576" y="3656057"/>
              <a:ext cx="1144865" cy="276999"/>
            </a:xfrm>
            <a:prstGeom prst="rect">
              <a:avLst/>
            </a:prstGeom>
            <a:noFill/>
            <a:ln w="9525">
              <a:noFill/>
              <a:miter lim="800000"/>
              <a:headEnd/>
              <a:tailEnd/>
            </a:ln>
          </p:spPr>
          <p:txBody>
            <a:bodyPr wrap="square">
              <a:noAutofit/>
            </a:bodyPr>
            <a:lstStyle/>
            <a:p>
              <a:pPr algn="l" rtl="0" eaLnBrk="0" fontAlgn="t" hangingPunct="0">
                <a:buSzPct val="100000"/>
              </a:pPr>
              <a:r>
                <a:rPr lang="en-US" altLang="zh-CN" b="1" dirty="0">
                  <a:solidFill>
                    <a:srgbClr val="000000"/>
                  </a:solidFill>
                  <a:latin typeface="+mn-lt"/>
                  <a:ea typeface="+mn-ea"/>
                  <a:sym typeface="FrutigerNext LT Regular" pitchFamily="34" charset="0"/>
                </a:rPr>
                <a:t>Quartier général</a:t>
              </a:r>
            </a:p>
          </p:txBody>
        </p:sp>
        <p:sp>
          <p:nvSpPr>
            <p:cNvPr id="27679" name="矩形 65"/>
            <p:cNvSpPr>
              <a:spLocks noChangeArrowheads="1"/>
            </p:cNvSpPr>
            <p:nvPr/>
          </p:nvSpPr>
          <p:spPr bwMode="auto">
            <a:xfrm>
              <a:off x="9123431" y="2924156"/>
              <a:ext cx="1084460" cy="359159"/>
            </a:xfrm>
            <a:prstGeom prst="rect">
              <a:avLst/>
            </a:prstGeom>
            <a:noFill/>
            <a:ln w="9525">
              <a:noFill/>
              <a:miter lim="800000"/>
              <a:headEnd/>
              <a:tailEnd/>
            </a:ln>
          </p:spPr>
          <p:txBody>
            <a:bodyPr wrap="square">
              <a:noAutofit/>
            </a:bodyPr>
            <a:lstStyle/>
            <a:p>
              <a:pPr algn="l" rtl="0" eaLnBrk="0" fontAlgn="t" hangingPunct="0">
                <a:buSzPct val="100000"/>
              </a:pPr>
              <a:r>
                <a:rPr lang="en-US" altLang="zh-CN" b="1" dirty="0">
                  <a:solidFill>
                    <a:srgbClr val="000000"/>
                  </a:solidFill>
                  <a:latin typeface="+mn-lt"/>
                  <a:ea typeface="+mn-ea"/>
                  <a:sym typeface="FrutigerNext LT Regular" pitchFamily="34" charset="0"/>
                </a:rPr>
                <a:t>département R&amp;D</a:t>
              </a:r>
            </a:p>
          </p:txBody>
        </p:sp>
        <p:sp>
          <p:nvSpPr>
            <p:cNvPr id="27680" name="矩形 66"/>
            <p:cNvSpPr>
              <a:spLocks noChangeArrowheads="1"/>
            </p:cNvSpPr>
            <p:nvPr/>
          </p:nvSpPr>
          <p:spPr bwMode="auto">
            <a:xfrm>
              <a:off x="8820703" y="3889890"/>
              <a:ext cx="1181882" cy="477797"/>
            </a:xfrm>
            <a:prstGeom prst="rect">
              <a:avLst/>
            </a:prstGeom>
            <a:noFill/>
            <a:ln w="9525">
              <a:noFill/>
              <a:miter lim="800000"/>
              <a:headEnd/>
              <a:tailEnd/>
            </a:ln>
          </p:spPr>
          <p:txBody>
            <a:bodyPr wrap="square">
              <a:noAutofit/>
            </a:bodyPr>
            <a:lstStyle/>
            <a:p>
              <a:pPr algn="l" rtl="0" eaLnBrk="0" fontAlgn="t" hangingPunct="0">
                <a:buSzPct val="100000"/>
              </a:pPr>
              <a:r>
                <a:rPr lang="en-US" altLang="zh-CN" b="1" dirty="0">
                  <a:solidFill>
                    <a:srgbClr val="000000"/>
                  </a:solidFill>
                  <a:latin typeface="+mn-lt"/>
                  <a:ea typeface="+mn-ea"/>
                  <a:sym typeface="FrutigerNext LT Regular" pitchFamily="34" charset="0"/>
                </a:rPr>
                <a:t>Documentation</a:t>
              </a:r>
              <a:r>
                <a:rPr lang="en-US" altLang="zh-CN" sz="1050" b="1" dirty="0">
                  <a:solidFill>
                    <a:srgbClr val="000000"/>
                  </a:solidFill>
                  <a:latin typeface="+mn-lt"/>
                  <a:ea typeface="+mn-ea"/>
                  <a:sym typeface="FrutigerNext LT Regular" pitchFamily="34" charset="0"/>
                </a:rPr>
                <a:t>département</a:t>
              </a:r>
            </a:p>
          </p:txBody>
        </p:sp>
        <p:sp>
          <p:nvSpPr>
            <p:cNvPr id="27681" name="文本框 67"/>
            <p:cNvSpPr txBox="1">
              <a:spLocks noChangeArrowheads="1"/>
            </p:cNvSpPr>
            <p:nvPr/>
          </p:nvSpPr>
          <p:spPr bwMode="auto">
            <a:xfrm>
              <a:off x="5825648" y="2459323"/>
              <a:ext cx="738187" cy="316392"/>
            </a:xfrm>
            <a:prstGeom prst="rect">
              <a:avLst/>
            </a:prstGeom>
            <a:noFill/>
            <a:ln w="9525">
              <a:noFill/>
              <a:miter lim="800000"/>
              <a:headEnd/>
              <a:tailEnd/>
            </a:ln>
          </p:spPr>
          <p:txBody>
            <a:bodyPr wrap="square" lIns="99980" tIns="49986" rIns="99980" bIns="49986">
              <a:noAutofit/>
            </a:bodyPr>
            <a:lstStyle/>
            <a:p>
              <a:pPr algn="ctr" defTabSz="1000125" rtl="0" eaLnBrk="0" hangingPunct="0">
                <a:buSzPct val="100000"/>
              </a:pPr>
              <a:r>
                <a:rPr lang="en-US" altLang="zh-CN" sz="1400" b="1" dirty="0">
                  <a:solidFill>
                    <a:srgbClr val="C00000"/>
                  </a:solidFill>
                  <a:latin typeface="+mn-lt"/>
                  <a:ea typeface="+mn-ea"/>
                  <a:cs typeface="Arial" charset="0"/>
                  <a:sym typeface="FrutigerNext LT Regular" pitchFamily="34" charset="0"/>
                </a:rPr>
                <a:t>OSPF</a:t>
              </a:r>
            </a:p>
          </p:txBody>
        </p:sp>
        <p:sp>
          <p:nvSpPr>
            <p:cNvPr id="27682" name="文本框 68"/>
            <p:cNvSpPr txBox="1">
              <a:spLocks noChangeArrowheads="1"/>
            </p:cNvSpPr>
            <p:nvPr/>
          </p:nvSpPr>
          <p:spPr bwMode="auto">
            <a:xfrm>
              <a:off x="2256188" y="2421435"/>
              <a:ext cx="1150937" cy="470280"/>
            </a:xfrm>
            <a:prstGeom prst="rect">
              <a:avLst/>
            </a:prstGeom>
            <a:noFill/>
            <a:ln w="9525">
              <a:noFill/>
              <a:miter lim="800000"/>
              <a:headEnd/>
              <a:tailEnd/>
            </a:ln>
          </p:spPr>
          <p:txBody>
            <a:bodyPr wrap="square" lIns="99980" tIns="49986" rIns="99980" bIns="49986">
              <a:noAutofit/>
            </a:bodyPr>
            <a:lstStyle/>
            <a:p>
              <a:pPr algn="ctr" defTabSz="1000125" rtl="0" eaLnBrk="0" hangingPunct="0">
                <a:buSzPct val="100000"/>
              </a:pPr>
              <a:r>
                <a:rPr lang="en-US" altLang="zh-CN" sz="1100" b="1" dirty="0">
                  <a:solidFill>
                    <a:srgbClr val="000000"/>
                  </a:solidFill>
                  <a:latin typeface="+mn-lt"/>
                  <a:ea typeface="+mn-ea"/>
                  <a:cs typeface="Arial" charset="0"/>
                  <a:sym typeface="FrutigerNext LT Regular" pitchFamily="34" charset="0"/>
                </a:rPr>
                <a:t>département marketing</a:t>
              </a:r>
            </a:p>
          </p:txBody>
        </p:sp>
        <p:sp>
          <p:nvSpPr>
            <p:cNvPr id="27692" name="文本框 78"/>
            <p:cNvSpPr txBox="1">
              <a:spLocks noChangeArrowheads="1"/>
            </p:cNvSpPr>
            <p:nvPr/>
          </p:nvSpPr>
          <p:spPr bwMode="auto">
            <a:xfrm>
              <a:off x="5206775" y="3776130"/>
              <a:ext cx="562920" cy="291771"/>
            </a:xfrm>
            <a:prstGeom prst="rect">
              <a:avLst/>
            </a:prstGeom>
            <a:noFill/>
            <a:ln w="9525">
              <a:noFill/>
              <a:miter lim="800000"/>
              <a:headEnd/>
              <a:tailEnd/>
            </a:ln>
          </p:spPr>
          <p:txBody>
            <a:bodyPr wrap="square" lIns="99980" tIns="49986" rIns="99980" bIns="49986">
              <a:no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RTD</a:t>
              </a:r>
            </a:p>
          </p:txBody>
        </p:sp>
        <p:sp>
          <p:nvSpPr>
            <p:cNvPr id="27693" name="文本框 79"/>
            <p:cNvSpPr txBox="1">
              <a:spLocks noChangeArrowheads="1"/>
            </p:cNvSpPr>
            <p:nvPr/>
          </p:nvSpPr>
          <p:spPr bwMode="auto">
            <a:xfrm>
              <a:off x="4455667" y="2500214"/>
              <a:ext cx="771524" cy="285614"/>
            </a:xfrm>
            <a:prstGeom prst="rect">
              <a:avLst/>
            </a:prstGeom>
            <a:noFill/>
            <a:ln w="9525">
              <a:noFill/>
              <a:miter lim="800000"/>
              <a:headEnd/>
              <a:tailEnd/>
            </a:ln>
          </p:spPr>
          <p:txBody>
            <a:bodyPr wrap="square" lIns="99980" tIns="49986" rIns="99980" bIns="49986">
              <a:no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RTC</a:t>
              </a:r>
            </a:p>
          </p:txBody>
        </p:sp>
        <p:sp>
          <p:nvSpPr>
            <p:cNvPr id="27694" name="文本框 80"/>
            <p:cNvSpPr txBox="1">
              <a:spLocks noChangeArrowheads="1"/>
            </p:cNvSpPr>
            <p:nvPr/>
          </p:nvSpPr>
          <p:spPr bwMode="auto">
            <a:xfrm>
              <a:off x="5816155" y="2833689"/>
              <a:ext cx="771524" cy="285614"/>
            </a:xfrm>
            <a:prstGeom prst="rect">
              <a:avLst/>
            </a:prstGeom>
            <a:noFill/>
            <a:ln w="9525">
              <a:noFill/>
              <a:miter lim="800000"/>
              <a:headEnd/>
              <a:tailEnd/>
            </a:ln>
          </p:spPr>
          <p:txBody>
            <a:bodyPr wrap="square" lIns="99980" tIns="49986" rIns="99980" bIns="49986">
              <a:no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RTB</a:t>
              </a:r>
            </a:p>
          </p:txBody>
        </p:sp>
        <p:sp>
          <p:nvSpPr>
            <p:cNvPr id="27695" name="文本框 81"/>
            <p:cNvSpPr txBox="1">
              <a:spLocks noChangeArrowheads="1"/>
            </p:cNvSpPr>
            <p:nvPr/>
          </p:nvSpPr>
          <p:spPr bwMode="auto">
            <a:xfrm>
              <a:off x="7092504" y="3594101"/>
              <a:ext cx="771524" cy="285614"/>
            </a:xfrm>
            <a:prstGeom prst="rect">
              <a:avLst/>
            </a:prstGeom>
            <a:noFill/>
            <a:ln w="9525">
              <a:noFill/>
              <a:miter lim="800000"/>
              <a:headEnd/>
              <a:tailEnd/>
            </a:ln>
          </p:spPr>
          <p:txBody>
            <a:bodyPr wrap="square" lIns="99980" tIns="49986" rIns="99980" bIns="49986">
              <a:no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RTA</a:t>
              </a:r>
            </a:p>
          </p:txBody>
        </p:sp>
        <p:grpSp>
          <p:nvGrpSpPr>
            <p:cNvPr id="27655" name="组合 48"/>
            <p:cNvGrpSpPr>
              <a:grpSpLocks noChangeAspect="1"/>
            </p:cNvGrpSpPr>
            <p:nvPr/>
          </p:nvGrpSpPr>
          <p:grpSpPr bwMode="auto">
            <a:xfrm>
              <a:off x="7806880" y="2738439"/>
              <a:ext cx="139700" cy="141287"/>
              <a:chOff x="389239" y="2587273"/>
              <a:chExt cx="192358" cy="194586"/>
            </a:xfrm>
          </p:grpSpPr>
          <p:cxnSp>
            <p:nvCxnSpPr>
              <p:cNvPr id="27662" name="直接连接符 49"/>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27663" name="直接连接符 50"/>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27656" name="组合 55"/>
            <p:cNvGrpSpPr>
              <a:grpSpLocks noChangeAspect="1"/>
            </p:cNvGrpSpPr>
            <p:nvPr/>
          </p:nvGrpSpPr>
          <p:grpSpPr bwMode="auto">
            <a:xfrm>
              <a:off x="7967218" y="3216276"/>
              <a:ext cx="139700" cy="142875"/>
              <a:chOff x="389239" y="2587273"/>
              <a:chExt cx="192358" cy="194586"/>
            </a:xfrm>
          </p:grpSpPr>
          <p:cxnSp>
            <p:nvCxnSpPr>
              <p:cNvPr id="27660" name="直接连接符 56"/>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27661" name="直接连接符 57"/>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27657" name="组合 58"/>
            <p:cNvGrpSpPr>
              <a:grpSpLocks noChangeAspect="1"/>
            </p:cNvGrpSpPr>
            <p:nvPr/>
          </p:nvGrpSpPr>
          <p:grpSpPr bwMode="auto">
            <a:xfrm>
              <a:off x="7960869" y="3395664"/>
              <a:ext cx="141287" cy="141287"/>
              <a:chOff x="389239" y="2587273"/>
              <a:chExt cx="192358" cy="194586"/>
            </a:xfrm>
          </p:grpSpPr>
          <p:cxnSp>
            <p:nvCxnSpPr>
              <p:cNvPr id="27658" name="直接连接符 59"/>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27659" name="直接连接符 60"/>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pic>
          <p:nvPicPr>
            <p:cNvPr id="54" name="图片 5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275256" y="3509252"/>
              <a:ext cx="540000" cy="442800"/>
            </a:xfrm>
            <a:prstGeom prst="rect">
              <a:avLst/>
            </a:prstGeom>
          </p:spPr>
        </p:pic>
        <p:pic>
          <p:nvPicPr>
            <p:cNvPr id="55" name="图片 5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504922" y="2161623"/>
              <a:ext cx="540000" cy="442800"/>
            </a:xfrm>
            <a:prstGeom prst="rect">
              <a:avLst/>
            </a:prstGeom>
          </p:spPr>
        </p:pic>
        <p:pic>
          <p:nvPicPr>
            <p:cNvPr id="56" name="图片 5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317725" y="3914712"/>
              <a:ext cx="540000" cy="442800"/>
            </a:xfrm>
            <a:prstGeom prst="rect">
              <a:avLst/>
            </a:prstGeom>
          </p:spPr>
        </p:pic>
        <p:pic>
          <p:nvPicPr>
            <p:cNvPr id="5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556159" y="3504618"/>
              <a:ext cx="628652" cy="514351"/>
            </a:xfrm>
            <a:prstGeom prst="rect">
              <a:avLst/>
            </a:prstGeom>
            <a:noFill/>
          </p:spPr>
        </p:pic>
        <p:pic>
          <p:nvPicPr>
            <p:cNvPr id="5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918519" y="3111816"/>
              <a:ext cx="628652" cy="514351"/>
            </a:xfrm>
            <a:prstGeom prst="rect">
              <a:avLst/>
            </a:prstGeom>
            <a:noFill/>
          </p:spPr>
        </p:pic>
        <p:pic>
          <p:nvPicPr>
            <p:cNvPr id="59"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197879" y="3046933"/>
              <a:ext cx="628652" cy="514351"/>
            </a:xfrm>
            <a:prstGeom prst="rect">
              <a:avLst/>
            </a:prstGeom>
            <a:noFill/>
          </p:spPr>
        </p:pic>
        <p:pic>
          <p:nvPicPr>
            <p:cNvPr id="60"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557328" y="2764935"/>
              <a:ext cx="628652" cy="514351"/>
            </a:xfrm>
            <a:prstGeom prst="rect">
              <a:avLst/>
            </a:prstGeom>
            <a:noFill/>
          </p:spPr>
        </p:pic>
        <p:pic>
          <p:nvPicPr>
            <p:cNvPr id="61" name="图片 60" descr="市场部.png"/>
            <p:cNvPicPr>
              <a:picLocks noChangeAspect="1"/>
            </p:cNvPicPr>
            <p:nvPr/>
          </p:nvPicPr>
          <p:blipFill>
            <a:blip r:embed="rId5" cstate="print"/>
            <a:stretch>
              <a:fillRect/>
            </a:stretch>
          </p:blipFill>
          <p:spPr>
            <a:xfrm>
              <a:off x="3275256" y="2473670"/>
              <a:ext cx="540000" cy="441818"/>
            </a:xfrm>
            <a:prstGeom prst="rect">
              <a:avLst/>
            </a:prstGeom>
          </p:spPr>
        </p:pic>
        <p:pic>
          <p:nvPicPr>
            <p:cNvPr id="62" name="图片 61" descr="研发部.png"/>
            <p:cNvPicPr>
              <a:picLocks noChangeAspect="1"/>
            </p:cNvPicPr>
            <p:nvPr/>
          </p:nvPicPr>
          <p:blipFill>
            <a:blip r:embed="rId6" cstate="print"/>
            <a:stretch>
              <a:fillRect/>
            </a:stretch>
          </p:blipFill>
          <p:spPr>
            <a:xfrm>
              <a:off x="8651462" y="2891169"/>
              <a:ext cx="540000" cy="441818"/>
            </a:xfrm>
            <a:prstGeom prst="rect">
              <a:avLst/>
            </a:prstGeom>
          </p:spPr>
        </p:pic>
        <p:sp>
          <p:nvSpPr>
            <p:cNvPr id="27696" name="任意多边形 85"/>
            <p:cNvSpPr>
              <a:spLocks/>
            </p:cNvSpPr>
            <p:nvPr/>
          </p:nvSpPr>
          <p:spPr bwMode="auto">
            <a:xfrm>
              <a:off x="3737677" y="2434680"/>
              <a:ext cx="4558001" cy="774732"/>
            </a:xfrm>
            <a:custGeom>
              <a:avLst/>
              <a:gdLst>
                <a:gd name="T0" fmla="*/ 0 w 4558441"/>
                <a:gd name="T1" fmla="*/ 168166 h 774851"/>
                <a:gd name="T2" fmla="*/ 934190 w 4558441"/>
                <a:gd name="T3" fmla="*/ 424655 h 774851"/>
                <a:gd name="T4" fmla="*/ 2442528 w 4558441"/>
                <a:gd name="T5" fmla="*/ 737658 h 774851"/>
                <a:gd name="T6" fmla="*/ 3670198 w 4558441"/>
                <a:gd name="T7" fmla="*/ 774851 h 774851"/>
                <a:gd name="T8" fmla="*/ 4558441 w 4558441"/>
                <a:gd name="T9" fmla="*/ 0 h 774851"/>
                <a:gd name="T10" fmla="*/ 0 60000 65536"/>
                <a:gd name="T11" fmla="*/ 0 60000 65536"/>
                <a:gd name="T12" fmla="*/ 0 60000 65536"/>
                <a:gd name="T13" fmla="*/ 0 60000 65536"/>
                <a:gd name="T14" fmla="*/ 0 60000 65536"/>
                <a:gd name="T15" fmla="*/ 0 w 4558441"/>
                <a:gd name="T16" fmla="*/ 0 h 774851"/>
                <a:gd name="T17" fmla="*/ 4558441 w 4558441"/>
                <a:gd name="T18" fmla="*/ 774851 h 774851"/>
              </a:gdLst>
              <a:ahLst/>
              <a:cxnLst>
                <a:cxn ang="T10">
                  <a:pos x="T0" y="T1"/>
                </a:cxn>
                <a:cxn ang="T11">
                  <a:pos x="T2" y="T3"/>
                </a:cxn>
                <a:cxn ang="T12">
                  <a:pos x="T4" y="T5"/>
                </a:cxn>
                <a:cxn ang="T13">
                  <a:pos x="T6" y="T7"/>
                </a:cxn>
                <a:cxn ang="T14">
                  <a:pos x="T8" y="T9"/>
                </a:cxn>
              </a:cxnLst>
              <a:rect l="T15" t="T16" r="T17" b="T18"/>
              <a:pathLst>
                <a:path w="4558441" h="774851">
                  <a:moveTo>
                    <a:pt x="0" y="168166"/>
                  </a:moveTo>
                  <a:cubicBezTo>
                    <a:pt x="456867" y="332225"/>
                    <a:pt x="527102" y="329740"/>
                    <a:pt x="934190" y="424655"/>
                  </a:cubicBezTo>
                  <a:cubicBezTo>
                    <a:pt x="1341278" y="519570"/>
                    <a:pt x="1986527" y="679292"/>
                    <a:pt x="2442528" y="737658"/>
                  </a:cubicBezTo>
                  <a:cubicBezTo>
                    <a:pt x="2898529" y="796024"/>
                    <a:pt x="3317802" y="757288"/>
                    <a:pt x="3670199" y="774851"/>
                  </a:cubicBezTo>
                  <a:cubicBezTo>
                    <a:pt x="4235447" y="352873"/>
                    <a:pt x="4274375" y="255507"/>
                    <a:pt x="4558441" y="0"/>
                  </a:cubicBezTo>
                </a:path>
              </a:pathLst>
            </a:custGeom>
            <a:noFill/>
            <a:ln w="28575" cap="flat" cmpd="sng" algn="ctr">
              <a:solidFill>
                <a:srgbClr val="C00000"/>
              </a:solidFill>
              <a:prstDash val="dash"/>
              <a:round/>
              <a:headEnd type="none" w="med" len="med"/>
              <a:tailEnd type="stealth" w="lg" len="lg"/>
            </a:ln>
          </p:spPr>
          <p:txBody>
            <a:bodyPr wrap="square">
              <a:noAutofit/>
            </a:bodyPr>
            <a:lstStyle/>
            <a:p>
              <a:pPr algn="l" rtl="0"/>
              <a:endParaRPr lang="en-US" altLang="zh-CN" sz="900" dirty="0">
                <a:latin typeface="+mn-lt"/>
                <a:ea typeface="+mn-ea"/>
              </a:endParaRPr>
            </a:p>
          </p:txBody>
        </p:sp>
        <p:sp>
          <p:nvSpPr>
            <p:cNvPr id="27697" name="任意多边形 86"/>
            <p:cNvSpPr>
              <a:spLocks/>
            </p:cNvSpPr>
            <p:nvPr/>
          </p:nvSpPr>
          <p:spPr bwMode="auto">
            <a:xfrm>
              <a:off x="3652176" y="2805356"/>
              <a:ext cx="5085132" cy="515727"/>
            </a:xfrm>
            <a:custGeom>
              <a:avLst/>
              <a:gdLst>
                <a:gd name="T0" fmla="*/ 0 w 5085623"/>
                <a:gd name="T1" fmla="*/ 0 h 515806"/>
                <a:gd name="T2" fmla="*/ 1073676 w 5085623"/>
                <a:gd name="T3" fmla="*/ 219770 h 515806"/>
                <a:gd name="T4" fmla="*/ 2349061 w 5085623"/>
                <a:gd name="T5" fmla="*/ 483416 h 515806"/>
                <a:gd name="T6" fmla="*/ 3801582 w 5085623"/>
                <a:gd name="T7" fmla="*/ 499387 h 515806"/>
                <a:gd name="T8" fmla="*/ 5085623 w 5085623"/>
                <a:gd name="T9" fmla="*/ 435313 h 515806"/>
                <a:gd name="T10" fmla="*/ 0 60000 65536"/>
                <a:gd name="T11" fmla="*/ 0 60000 65536"/>
                <a:gd name="T12" fmla="*/ 0 60000 65536"/>
                <a:gd name="T13" fmla="*/ 0 60000 65536"/>
                <a:gd name="T14" fmla="*/ 0 60000 65536"/>
                <a:gd name="T15" fmla="*/ 0 w 5085623"/>
                <a:gd name="T16" fmla="*/ 0 h 515806"/>
                <a:gd name="T17" fmla="*/ 5085623 w 5085623"/>
                <a:gd name="T18" fmla="*/ 515806 h 515806"/>
              </a:gdLst>
              <a:ahLst/>
              <a:cxnLst>
                <a:cxn ang="T10">
                  <a:pos x="T0" y="T1"/>
                </a:cxn>
                <a:cxn ang="T11">
                  <a:pos x="T2" y="T3"/>
                </a:cxn>
                <a:cxn ang="T12">
                  <a:pos x="T4" y="T5"/>
                </a:cxn>
                <a:cxn ang="T13">
                  <a:pos x="T6" y="T7"/>
                </a:cxn>
                <a:cxn ang="T14">
                  <a:pos x="T8" y="T9"/>
                </a:cxn>
              </a:cxnLst>
              <a:rect l="T15" t="T16" r="T17" b="T18"/>
              <a:pathLst>
                <a:path w="5085623" h="515806">
                  <a:moveTo>
                    <a:pt x="0" y="0"/>
                  </a:moveTo>
                  <a:cubicBezTo>
                    <a:pt x="456866" y="148561"/>
                    <a:pt x="682164" y="139201"/>
                    <a:pt x="1073674" y="219770"/>
                  </a:cubicBezTo>
                  <a:cubicBezTo>
                    <a:pt x="1465184" y="300339"/>
                    <a:pt x="1894410" y="436813"/>
                    <a:pt x="2349061" y="483416"/>
                  </a:cubicBezTo>
                  <a:cubicBezTo>
                    <a:pt x="2803712" y="530019"/>
                    <a:pt x="3234782" y="517809"/>
                    <a:pt x="3801578" y="499387"/>
                  </a:cubicBezTo>
                  <a:cubicBezTo>
                    <a:pt x="4346558" y="490140"/>
                    <a:pt x="4614384" y="486719"/>
                    <a:pt x="5085623" y="435313"/>
                  </a:cubicBezTo>
                </a:path>
              </a:pathLst>
            </a:custGeom>
            <a:noFill/>
            <a:ln w="28575" cap="flat" cmpd="sng" algn="ctr">
              <a:solidFill>
                <a:srgbClr val="C00000"/>
              </a:solidFill>
              <a:prstDash val="dash"/>
              <a:round/>
              <a:headEnd type="none" w="med" len="med"/>
              <a:tailEnd type="stealth" w="lg" len="lg"/>
            </a:ln>
          </p:spPr>
          <p:txBody>
            <a:bodyPr wrap="square">
              <a:noAutofit/>
            </a:bodyPr>
            <a:lstStyle/>
            <a:p>
              <a:pPr algn="l" rtl="0"/>
              <a:endParaRPr lang="en-US" altLang="zh-CN" sz="900" dirty="0">
                <a:latin typeface="+mn-lt"/>
                <a:ea typeface="+mn-ea"/>
              </a:endParaRPr>
            </a:p>
          </p:txBody>
        </p:sp>
        <p:sp>
          <p:nvSpPr>
            <p:cNvPr id="27698" name="任意多边形 87"/>
            <p:cNvSpPr>
              <a:spLocks/>
            </p:cNvSpPr>
            <p:nvPr/>
          </p:nvSpPr>
          <p:spPr bwMode="auto">
            <a:xfrm>
              <a:off x="3698600" y="3446640"/>
              <a:ext cx="4980900" cy="378422"/>
            </a:xfrm>
            <a:custGeom>
              <a:avLst/>
              <a:gdLst>
                <a:gd name="T0" fmla="*/ 0 w 4992029"/>
                <a:gd name="T1" fmla="*/ 321106 h 446105"/>
                <a:gd name="T2" fmla="*/ 1107441 w 4992029"/>
                <a:gd name="T3" fmla="*/ 275854 h 446105"/>
                <a:gd name="T4" fmla="*/ 2378087 w 4992029"/>
                <a:gd name="T5" fmla="*/ 19058 h 446105"/>
                <a:gd name="T6" fmla="*/ 3835063 w 4992029"/>
                <a:gd name="T7" fmla="*/ 19584 h 446105"/>
                <a:gd name="T8" fmla="*/ 4970756 w 4992029"/>
                <a:gd name="T9" fmla="*/ 9748 h 446105"/>
                <a:gd name="T10" fmla="*/ 0 60000 65536"/>
                <a:gd name="T11" fmla="*/ 0 60000 65536"/>
                <a:gd name="T12" fmla="*/ 0 60000 65536"/>
                <a:gd name="T13" fmla="*/ 0 60000 65536"/>
                <a:gd name="T14" fmla="*/ 0 60000 65536"/>
                <a:gd name="T15" fmla="*/ 0 w 4992029"/>
                <a:gd name="T16" fmla="*/ 0 h 446105"/>
                <a:gd name="T17" fmla="*/ 4992029 w 4992029"/>
                <a:gd name="T18" fmla="*/ 446105 h 446105"/>
              </a:gdLst>
              <a:ahLst/>
              <a:cxnLst>
                <a:cxn ang="T10">
                  <a:pos x="T0" y="T1"/>
                </a:cxn>
                <a:cxn ang="T11">
                  <a:pos x="T2" y="T3"/>
                </a:cxn>
                <a:cxn ang="T12">
                  <a:pos x="T4" y="T5"/>
                </a:cxn>
                <a:cxn ang="T13">
                  <a:pos x="T6" y="T7"/>
                </a:cxn>
                <a:cxn ang="T14">
                  <a:pos x="T8" y="T9"/>
                </a:cxn>
              </a:cxnLst>
              <a:rect l="T15" t="T16" r="T17" b="T18"/>
              <a:pathLst>
                <a:path w="4992029" h="446105">
                  <a:moveTo>
                    <a:pt x="0" y="446105"/>
                  </a:moveTo>
                  <a:cubicBezTo>
                    <a:pt x="396336" y="404946"/>
                    <a:pt x="714136" y="453175"/>
                    <a:pt x="1112180" y="383237"/>
                  </a:cubicBezTo>
                  <a:cubicBezTo>
                    <a:pt x="1510224" y="313299"/>
                    <a:pt x="1931715" y="85814"/>
                    <a:pt x="2388264" y="26476"/>
                  </a:cubicBezTo>
                  <a:cubicBezTo>
                    <a:pt x="2844813" y="-32862"/>
                    <a:pt x="3391937" y="25893"/>
                    <a:pt x="3851477" y="27207"/>
                  </a:cubicBezTo>
                  <a:cubicBezTo>
                    <a:pt x="4231661" y="22652"/>
                    <a:pt x="4594876" y="-1860"/>
                    <a:pt x="4992029" y="13543"/>
                  </a:cubicBezTo>
                </a:path>
              </a:pathLst>
            </a:custGeom>
            <a:noFill/>
            <a:ln w="28575" cap="flat" cmpd="sng" algn="ctr">
              <a:solidFill>
                <a:srgbClr val="C00000"/>
              </a:solidFill>
              <a:prstDash val="dash"/>
              <a:round/>
              <a:headEnd type="none" w="med" len="med"/>
              <a:tailEnd type="stealth" w="lg" len="lg"/>
            </a:ln>
          </p:spPr>
          <p:txBody>
            <a:bodyPr wrap="square">
              <a:noAutofit/>
            </a:bodyPr>
            <a:lstStyle/>
            <a:p>
              <a:pPr algn="l" rtl="0"/>
              <a:endParaRPr lang="en-US" altLang="zh-CN" sz="900" dirty="0">
                <a:latin typeface="+mn-lt"/>
                <a:ea typeface="+mn-ea"/>
              </a:endParaRPr>
            </a:p>
          </p:txBody>
        </p:sp>
      </p:grpSp>
    </p:spTree>
    <p:extLst>
      <p:ext uri="{BB962C8B-B14F-4D97-AF65-F5344CB8AC3E}">
        <p14:creationId xmlns:p14="http://schemas.microsoft.com/office/powerpoint/2010/main" val="155671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left)">
                                      <p:cBhvr>
                                        <p:cTn id="7" dur="5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wipe(left)">
                                      <p:cBhvr>
                                        <p:cTn id="12"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8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2"/>
          </p:nvPr>
        </p:nvSpPr>
        <p:spPr/>
        <p:txBody>
          <a:bodyPr/>
          <a:lstStyle/>
          <a:p>
            <a:pPr algn="l" rtl="0"/>
            <a:r>
              <a:rPr lang="en-US" altLang="zh-CN"/>
              <a:t>Solution 1 : Politique de routage</a:t>
            </a:r>
            <a:endParaRPr lang="zh-CN" altLang="en-US" dirty="0"/>
          </a:p>
        </p:txBody>
      </p:sp>
      <p:sp>
        <p:nvSpPr>
          <p:cNvPr id="158" name="文本占位符 2"/>
          <p:cNvSpPr txBox="1">
            <a:spLocks/>
          </p:cNvSpPr>
          <p:nvPr/>
        </p:nvSpPr>
        <p:spPr bwMode="auto">
          <a:xfrm>
            <a:off x="845342" y="2950405"/>
            <a:ext cx="7912100" cy="1303338"/>
          </a:xfrm>
          <a:prstGeom prst="rect">
            <a:avLst/>
          </a:prstGeom>
          <a:noFill/>
          <a:ln w="9525">
            <a:noFill/>
            <a:miter lim="800000"/>
            <a:headEnd/>
            <a:tailEnd/>
          </a:ln>
        </p:spPr>
        <p:txBody>
          <a:bodyPr/>
          <a:lstStyle/>
          <a:p>
            <a:pPr marL="360363" indent="-360363" algn="l" defTabSz="801688" rtl="0" eaLnBrk="0" hangingPunct="0">
              <a:lnSpc>
                <a:spcPct val="140000"/>
              </a:lnSpc>
              <a:spcBef>
                <a:spcPts val="0"/>
              </a:spcBef>
              <a:buClr>
                <a:srgbClr val="808080"/>
              </a:buClr>
              <a:buSzPct val="60000"/>
              <a:buFont typeface="Wingdings" pitchFamily="2" charset="2"/>
              <a:buChar char="l"/>
            </a:pPr>
            <a:r>
              <a:rPr lang="en-US" altLang="zh-CN" sz="1600" dirty="0">
                <a:solidFill>
                  <a:srgbClr val="000000"/>
                </a:solidFill>
                <a:latin typeface="+mn-lt"/>
                <a:ea typeface="+mn-ea"/>
                <a:sym typeface="FrutigerNext LT Regular" pitchFamily="34" charset="0"/>
              </a:rPr>
              <a:t>Utilisez le</a:t>
            </a:r>
            <a:r>
              <a:rPr lang="en-US" altLang="zh-CN" sz="1600" b="1" dirty="0">
                <a:solidFill>
                  <a:srgbClr val="C00000"/>
                </a:solidFill>
                <a:latin typeface="+mn-lt"/>
                <a:ea typeface="+mn-ea"/>
                <a:sym typeface="FrutigerNext LT Regular" pitchFamily="34" charset="0"/>
              </a:rPr>
              <a:t>Politique de filtrage</a:t>
            </a:r>
            <a:r>
              <a:rPr lang="en-US" altLang="zh-CN" sz="1600" dirty="0">
                <a:solidFill>
                  <a:srgbClr val="000000"/>
                </a:solidFill>
                <a:latin typeface="+mn-lt"/>
                <a:ea typeface="+mn-ea"/>
                <a:sym typeface="FrutigerNext LT Regular" pitchFamily="34" charset="0"/>
              </a:rPr>
              <a:t>outil permettant de filtrer les routes importées de RTA vers OSPF et les routes importées de RTC dans la table de routage :</a:t>
            </a:r>
          </a:p>
          <a:p>
            <a:pPr marL="628650" lvl="1" indent="-268288" algn="l" defTabSz="801688" rtl="0" eaLnBrk="0" hangingPunct="0">
              <a:lnSpc>
                <a:spcPct val="140000"/>
              </a:lnSpc>
              <a:spcBef>
                <a:spcPts val="0"/>
              </a:spcBef>
              <a:buClr>
                <a:srgbClr val="000000"/>
              </a:buClr>
              <a:buSzPct val="50000"/>
              <a:buFont typeface="Wingdings" pitchFamily="2" charset="2"/>
              <a:buChar char="p"/>
            </a:pPr>
            <a:r>
              <a:rPr lang="en-US" altLang="zh-CN" sz="1400" dirty="0">
                <a:solidFill>
                  <a:srgbClr val="000000"/>
                </a:solidFill>
                <a:latin typeface="+mn-lt"/>
                <a:ea typeface="+mn-ea"/>
                <a:cs typeface="Courier New" pitchFamily="49" charset="0"/>
                <a:sym typeface="FrutigerNext LT Regular" pitchFamily="34" charset="0"/>
              </a:rPr>
              <a:t>Utilisez une liste de contrôle d'accès (ACL) ou une liste de préfixes IP pour faire correspondre le flux cible.</a:t>
            </a:r>
          </a:p>
          <a:p>
            <a:pPr marL="628650" lvl="1" indent="-268288" algn="l" defTabSz="801688" rtl="0" eaLnBrk="0" hangingPunct="0">
              <a:lnSpc>
                <a:spcPct val="140000"/>
              </a:lnSpc>
              <a:spcBef>
                <a:spcPts val="0"/>
              </a:spcBef>
              <a:buClr>
                <a:srgbClr val="000000"/>
              </a:buClr>
              <a:buSzPct val="50000"/>
              <a:buFont typeface="Wingdings" pitchFamily="2" charset="2"/>
              <a:buChar char="p"/>
            </a:pPr>
            <a:r>
              <a:rPr lang="en-US" altLang="zh-CN" sz="1400" dirty="0">
                <a:solidFill>
                  <a:srgbClr val="000000"/>
                </a:solidFill>
                <a:latin typeface="+mn-lt"/>
                <a:ea typeface="+mn-ea"/>
                <a:cs typeface="Courier New" pitchFamily="49" charset="0"/>
                <a:sym typeface="FrutigerNext LT Regular" pitchFamily="34" charset="0"/>
              </a:rPr>
              <a:t>Utilisez la stratégie de filtrage dans la vue protocole pour annoncer les stratégies du flux cible.</a:t>
            </a:r>
          </a:p>
        </p:txBody>
      </p:sp>
      <p:sp>
        <p:nvSpPr>
          <p:cNvPr id="159" name="文本占位符 2"/>
          <p:cNvSpPr txBox="1">
            <a:spLocks/>
          </p:cNvSpPr>
          <p:nvPr/>
        </p:nvSpPr>
        <p:spPr bwMode="auto">
          <a:xfrm>
            <a:off x="721650" y="5191823"/>
            <a:ext cx="8351837" cy="1257300"/>
          </a:xfrm>
          <a:prstGeom prst="rect">
            <a:avLst/>
          </a:prstGeom>
          <a:noFill/>
          <a:ln w="9525">
            <a:noFill/>
            <a:miter lim="800000"/>
            <a:headEnd/>
            <a:tailEnd/>
          </a:ln>
        </p:spPr>
        <p:txBody>
          <a:bodyPr/>
          <a:lstStyle/>
          <a:p>
            <a:pPr marL="360363" indent="-360363" algn="l" defTabSz="801688" rtl="0" eaLnBrk="0" hangingPunct="0">
              <a:lnSpc>
                <a:spcPct val="140000"/>
              </a:lnSpc>
              <a:spcBef>
                <a:spcPts val="0"/>
              </a:spcBef>
              <a:buClr>
                <a:srgbClr val="808080"/>
              </a:buClr>
              <a:buSzPct val="60000"/>
              <a:buFont typeface="Wingdings" pitchFamily="2" charset="2"/>
              <a:buChar char="l"/>
            </a:pPr>
            <a:r>
              <a:rPr lang="en-US" altLang="zh-CN" sz="1200" dirty="0">
                <a:solidFill>
                  <a:srgbClr val="000000"/>
                </a:solidFill>
                <a:latin typeface="+mn-lt"/>
                <a:ea typeface="+mn-ea"/>
                <a:cs typeface="Courier New" pitchFamily="49" charset="0"/>
                <a:sym typeface="FrutigerNext LT Regular" pitchFamily="34" charset="0"/>
              </a:rPr>
              <a:t>Utilisez le</a:t>
            </a:r>
            <a:r>
              <a:rPr lang="en-US" altLang="zh-CN" sz="1200" b="1" dirty="0">
                <a:solidFill>
                  <a:srgbClr val="C00000"/>
                </a:solidFill>
                <a:latin typeface="+mn-lt"/>
                <a:ea typeface="+mn-ea"/>
                <a:cs typeface="Courier New" pitchFamily="49" charset="0"/>
                <a:sym typeface="FrutigerNext LT Regular" pitchFamily="34" charset="0"/>
              </a:rPr>
              <a:t>Politique d'itinéraire</a:t>
            </a:r>
            <a:r>
              <a:rPr lang="en-US" altLang="zh-CN" sz="1200" dirty="0">
                <a:solidFill>
                  <a:srgbClr val="000000"/>
                </a:solidFill>
                <a:latin typeface="+mn-lt"/>
                <a:ea typeface="+mn-ea"/>
                <a:cs typeface="Courier New" pitchFamily="49" charset="0"/>
                <a:sym typeface="FrutigerNext LT Regular" pitchFamily="34" charset="0"/>
              </a:rPr>
              <a:t>outil permettant de filtrer les itinéraires directs importés par RTA :</a:t>
            </a:r>
          </a:p>
          <a:p>
            <a:pPr marL="628650" lvl="1" indent="-268288" algn="l" defTabSz="801688" rtl="0" eaLnBrk="0" hangingPunct="0">
              <a:lnSpc>
                <a:spcPct val="140000"/>
              </a:lnSpc>
              <a:spcBef>
                <a:spcPts val="0"/>
              </a:spcBef>
              <a:buClr>
                <a:srgbClr val="000000"/>
              </a:buClr>
              <a:buSzPct val="50000"/>
              <a:buFont typeface="Wingdings" pitchFamily="2" charset="2"/>
              <a:buChar char="p"/>
            </a:pPr>
            <a:r>
              <a:rPr lang="en-US" altLang="zh-CN" sz="1200" dirty="0">
                <a:solidFill>
                  <a:srgbClr val="000000"/>
                </a:solidFill>
                <a:latin typeface="+mn-lt"/>
                <a:ea typeface="+mn-ea"/>
                <a:cs typeface="Courier New" pitchFamily="49" charset="0"/>
                <a:sym typeface="FrutigerNext LT Regular" pitchFamily="34" charset="0"/>
              </a:rPr>
              <a:t>Utilisez une liste de contrôle d'accès (ACL) ou une liste de préfixes IP pour faire correspondre le flux cible.</a:t>
            </a:r>
          </a:p>
          <a:p>
            <a:pPr marL="628650" lvl="1" indent="-268288" algn="l" defTabSz="801688" rtl="0" eaLnBrk="0" hangingPunct="0">
              <a:lnSpc>
                <a:spcPct val="140000"/>
              </a:lnSpc>
              <a:spcBef>
                <a:spcPts val="0"/>
              </a:spcBef>
              <a:buClr>
                <a:srgbClr val="000000"/>
              </a:buClr>
              <a:buSzPct val="50000"/>
              <a:buFont typeface="Wingdings" pitchFamily="2" charset="2"/>
              <a:buChar char="p"/>
            </a:pPr>
            <a:r>
              <a:rPr lang="en-US" altLang="zh-CN" sz="1200" dirty="0">
                <a:solidFill>
                  <a:srgbClr val="000000"/>
                </a:solidFill>
                <a:latin typeface="+mn-lt"/>
                <a:ea typeface="+mn-ea"/>
                <a:cs typeface="Courier New" pitchFamily="49" charset="0"/>
                <a:sym typeface="FrutigerNext LT Regular" pitchFamily="34" charset="0"/>
              </a:rPr>
              <a:t>Utilisez la stratégie de routage dans la vue protocole pour contrôler les routes importées.</a:t>
            </a:r>
          </a:p>
        </p:txBody>
      </p:sp>
      <p:grpSp>
        <p:nvGrpSpPr>
          <p:cNvPr id="55" name="组合 54"/>
          <p:cNvGrpSpPr/>
          <p:nvPr/>
        </p:nvGrpSpPr>
        <p:grpSpPr>
          <a:xfrm>
            <a:off x="2216151" y="1040080"/>
            <a:ext cx="7951703" cy="2473324"/>
            <a:chOff x="2256188" y="1989139"/>
            <a:chExt cx="7951703" cy="2473324"/>
          </a:xfrm>
        </p:grpSpPr>
        <p:sp>
          <p:nvSpPr>
            <p:cNvPr id="56" name="圆角矩形 55"/>
            <p:cNvSpPr/>
            <p:nvPr/>
          </p:nvSpPr>
          <p:spPr bwMode="auto">
            <a:xfrm>
              <a:off x="8145018" y="3703638"/>
              <a:ext cx="1847374" cy="75882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algn="l" rtl="0" fontAlgn="t">
                <a:defRPr/>
              </a:pPr>
              <a:endParaRPr lang="en-US" altLang="zh-CN" sz="900" dirty="0">
                <a:latin typeface="+mn-lt"/>
                <a:ea typeface="+mn-ea"/>
              </a:endParaRPr>
            </a:p>
          </p:txBody>
        </p:sp>
        <p:sp>
          <p:nvSpPr>
            <p:cNvPr id="57" name="圆角矩形 56"/>
            <p:cNvSpPr/>
            <p:nvPr/>
          </p:nvSpPr>
          <p:spPr bwMode="auto">
            <a:xfrm>
              <a:off x="8327579" y="2813051"/>
              <a:ext cx="1615184" cy="760412"/>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algn="l" rtl="0" fontAlgn="t">
                <a:defRPr/>
              </a:pPr>
              <a:endParaRPr lang="en-US" altLang="zh-CN" sz="900" dirty="0">
                <a:latin typeface="+mn-lt"/>
                <a:ea typeface="+mn-ea"/>
              </a:endParaRPr>
            </a:p>
          </p:txBody>
        </p:sp>
        <p:sp>
          <p:nvSpPr>
            <p:cNvPr id="58" name="圆角矩形 57"/>
            <p:cNvSpPr/>
            <p:nvPr/>
          </p:nvSpPr>
          <p:spPr bwMode="auto">
            <a:xfrm>
              <a:off x="8008492" y="1989139"/>
              <a:ext cx="1934271" cy="760411"/>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algn="l" rtl="0" fontAlgn="t">
                <a:defRPr/>
              </a:pPr>
              <a:endParaRPr lang="en-US" altLang="zh-CN" sz="900" dirty="0">
                <a:latin typeface="+mn-lt"/>
                <a:ea typeface="+mn-ea"/>
              </a:endParaRPr>
            </a:p>
          </p:txBody>
        </p:sp>
        <p:sp>
          <p:nvSpPr>
            <p:cNvPr id="59" name="圆角矩形 58"/>
            <p:cNvSpPr/>
            <p:nvPr/>
          </p:nvSpPr>
          <p:spPr bwMode="auto">
            <a:xfrm>
              <a:off x="2404043" y="3392489"/>
              <a:ext cx="1608712" cy="760411"/>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algn="l" rtl="0" fontAlgn="t">
                <a:defRPr/>
              </a:pPr>
              <a:endParaRPr lang="en-US" altLang="zh-CN" sz="900" dirty="0">
                <a:latin typeface="+mn-lt"/>
                <a:ea typeface="+mn-ea"/>
              </a:endParaRPr>
            </a:p>
          </p:txBody>
        </p:sp>
        <p:sp>
          <p:nvSpPr>
            <p:cNvPr id="60" name="圆角矩形 59"/>
            <p:cNvSpPr/>
            <p:nvPr/>
          </p:nvSpPr>
          <p:spPr bwMode="auto">
            <a:xfrm>
              <a:off x="2370534" y="2349501"/>
              <a:ext cx="1612059"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wrap="square">
              <a:noAutofit/>
            </a:bodyPr>
            <a:lstStyle/>
            <a:p>
              <a:pPr algn="l" rtl="0" fontAlgn="t">
                <a:defRPr/>
              </a:pPr>
              <a:endParaRPr lang="en-US" altLang="zh-CN" sz="900" dirty="0">
                <a:latin typeface="+mn-lt"/>
                <a:ea typeface="+mn-ea"/>
              </a:endParaRPr>
            </a:p>
          </p:txBody>
        </p:sp>
        <p:sp>
          <p:nvSpPr>
            <p:cNvPr id="61" name="矩形 45"/>
            <p:cNvSpPr>
              <a:spLocks noChangeArrowheads="1"/>
            </p:cNvSpPr>
            <p:nvPr/>
          </p:nvSpPr>
          <p:spPr bwMode="auto">
            <a:xfrm>
              <a:off x="8979574" y="2134939"/>
              <a:ext cx="963190" cy="440258"/>
            </a:xfrm>
            <a:prstGeom prst="rect">
              <a:avLst/>
            </a:prstGeom>
            <a:noFill/>
            <a:ln w="9525">
              <a:noFill/>
              <a:miter lim="800000"/>
              <a:headEnd/>
              <a:tailEnd/>
            </a:ln>
          </p:spPr>
          <p:txBody>
            <a:bodyPr wrap="square">
              <a:noAutofit/>
            </a:bodyPr>
            <a:lstStyle/>
            <a:p>
              <a:pPr algn="l" rtl="0" eaLnBrk="0" fontAlgn="t" hangingPunct="0">
                <a:buSzPct val="100000"/>
              </a:pPr>
              <a:r>
                <a:rPr lang="en-US" altLang="zh-CN" b="1" dirty="0">
                  <a:solidFill>
                    <a:srgbClr val="000000"/>
                  </a:solidFill>
                  <a:latin typeface="+mn-lt"/>
                  <a:ea typeface="+mn-ea"/>
                  <a:sym typeface="FrutigerNext LT Regular" pitchFamily="34" charset="0"/>
                </a:rPr>
                <a:t>département financier</a:t>
              </a:r>
            </a:p>
          </p:txBody>
        </p:sp>
        <p:cxnSp>
          <p:nvCxnSpPr>
            <p:cNvPr id="62" name="直接连接符 46"/>
            <p:cNvCxnSpPr>
              <a:cxnSpLocks noChangeShapeType="1"/>
            </p:cNvCxnSpPr>
            <p:nvPr/>
          </p:nvCxnSpPr>
          <p:spPr bwMode="auto">
            <a:xfrm flipH="1" flipV="1">
              <a:off x="3516052" y="2738493"/>
              <a:ext cx="1268634" cy="226324"/>
            </a:xfrm>
            <a:prstGeom prst="line">
              <a:avLst/>
            </a:prstGeom>
            <a:noFill/>
            <a:ln w="28575" algn="ctr">
              <a:solidFill>
                <a:schemeClr val="tx1"/>
              </a:solidFill>
              <a:round/>
              <a:headEnd/>
              <a:tailEnd/>
            </a:ln>
          </p:spPr>
        </p:cxnSp>
        <p:cxnSp>
          <p:nvCxnSpPr>
            <p:cNvPr id="63" name="直接连接符 62"/>
            <p:cNvCxnSpPr/>
            <p:nvPr/>
          </p:nvCxnSpPr>
          <p:spPr bwMode="auto">
            <a:xfrm>
              <a:off x="4743004" y="2968626"/>
              <a:ext cx="1238250" cy="263525"/>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4" name="直接连接符 51"/>
            <p:cNvCxnSpPr>
              <a:cxnSpLocks noChangeShapeType="1"/>
            </p:cNvCxnSpPr>
            <p:nvPr/>
          </p:nvCxnSpPr>
          <p:spPr bwMode="auto">
            <a:xfrm flipV="1">
              <a:off x="4674796" y="3342291"/>
              <a:ext cx="1389415" cy="405823"/>
            </a:xfrm>
            <a:prstGeom prst="line">
              <a:avLst/>
            </a:prstGeom>
            <a:noFill/>
            <a:ln w="28575" algn="ctr">
              <a:solidFill>
                <a:schemeClr val="tx1"/>
              </a:solidFill>
              <a:round/>
              <a:headEnd/>
              <a:tailEnd/>
            </a:ln>
          </p:spPr>
        </p:cxnSp>
        <p:cxnSp>
          <p:nvCxnSpPr>
            <p:cNvPr id="65" name="直接连接符 52"/>
            <p:cNvCxnSpPr>
              <a:cxnSpLocks noChangeShapeType="1"/>
            </p:cNvCxnSpPr>
            <p:nvPr/>
          </p:nvCxnSpPr>
          <p:spPr bwMode="auto">
            <a:xfrm flipH="1">
              <a:off x="3549621" y="3717066"/>
              <a:ext cx="1125174" cy="31047"/>
            </a:xfrm>
            <a:prstGeom prst="line">
              <a:avLst/>
            </a:prstGeom>
            <a:noFill/>
            <a:ln w="28575" algn="ctr">
              <a:solidFill>
                <a:schemeClr val="tx1"/>
              </a:solidFill>
              <a:round/>
              <a:headEnd/>
              <a:tailEnd/>
            </a:ln>
          </p:spPr>
        </p:cxnSp>
        <p:cxnSp>
          <p:nvCxnSpPr>
            <p:cNvPr id="66" name="直接连接符 53"/>
            <p:cNvCxnSpPr>
              <a:cxnSpLocks noChangeShapeType="1"/>
            </p:cNvCxnSpPr>
            <p:nvPr/>
          </p:nvCxnSpPr>
          <p:spPr bwMode="auto">
            <a:xfrm flipV="1">
              <a:off x="6202001" y="3282065"/>
              <a:ext cx="1097572" cy="837"/>
            </a:xfrm>
            <a:prstGeom prst="line">
              <a:avLst/>
            </a:prstGeom>
            <a:noFill/>
            <a:ln w="28575" algn="ctr">
              <a:solidFill>
                <a:schemeClr val="tx1"/>
              </a:solidFill>
              <a:round/>
              <a:headEnd/>
              <a:tailEnd/>
            </a:ln>
          </p:spPr>
        </p:cxnSp>
        <p:cxnSp>
          <p:nvCxnSpPr>
            <p:cNvPr id="67" name="直接连接符 54"/>
            <p:cNvCxnSpPr>
              <a:cxnSpLocks noChangeShapeType="1"/>
            </p:cNvCxnSpPr>
            <p:nvPr/>
          </p:nvCxnSpPr>
          <p:spPr bwMode="auto">
            <a:xfrm flipH="1">
              <a:off x="7608681" y="2493118"/>
              <a:ext cx="759563" cy="672045"/>
            </a:xfrm>
            <a:prstGeom prst="line">
              <a:avLst/>
            </a:prstGeom>
            <a:noFill/>
            <a:ln w="28575" algn="ctr">
              <a:solidFill>
                <a:schemeClr val="tx1"/>
              </a:solidFill>
              <a:round/>
              <a:headEnd/>
              <a:tailEnd/>
            </a:ln>
          </p:spPr>
        </p:cxnSp>
        <p:cxnSp>
          <p:nvCxnSpPr>
            <p:cNvPr id="68" name="直接连接符 61"/>
            <p:cNvCxnSpPr>
              <a:cxnSpLocks noChangeShapeType="1"/>
            </p:cNvCxnSpPr>
            <p:nvPr/>
          </p:nvCxnSpPr>
          <p:spPr bwMode="auto">
            <a:xfrm flipV="1">
              <a:off x="7407575" y="3110378"/>
              <a:ext cx="1345668" cy="138709"/>
            </a:xfrm>
            <a:prstGeom prst="line">
              <a:avLst/>
            </a:prstGeom>
            <a:noFill/>
            <a:ln w="28575" algn="ctr">
              <a:solidFill>
                <a:schemeClr val="tx1"/>
              </a:solidFill>
              <a:round/>
              <a:headEnd/>
              <a:tailEnd/>
            </a:ln>
          </p:spPr>
        </p:cxnSp>
        <p:cxnSp>
          <p:nvCxnSpPr>
            <p:cNvPr id="69" name="直接连接符 62"/>
            <p:cNvCxnSpPr>
              <a:cxnSpLocks noChangeShapeType="1"/>
            </p:cNvCxnSpPr>
            <p:nvPr/>
          </p:nvCxnSpPr>
          <p:spPr bwMode="auto">
            <a:xfrm>
              <a:off x="7477875" y="3373696"/>
              <a:ext cx="1040889" cy="748521"/>
            </a:xfrm>
            <a:prstGeom prst="line">
              <a:avLst/>
            </a:prstGeom>
            <a:noFill/>
            <a:ln w="28575" algn="ctr">
              <a:solidFill>
                <a:schemeClr val="tx1"/>
              </a:solidFill>
              <a:round/>
              <a:headEnd/>
              <a:tailEnd/>
            </a:ln>
          </p:spPr>
        </p:cxnSp>
        <p:sp>
          <p:nvSpPr>
            <p:cNvPr id="70" name="矩形 64"/>
            <p:cNvSpPr>
              <a:spLocks noChangeArrowheads="1"/>
            </p:cNvSpPr>
            <p:nvPr/>
          </p:nvSpPr>
          <p:spPr bwMode="auto">
            <a:xfrm>
              <a:off x="2283364" y="3600060"/>
              <a:ext cx="1144865" cy="276999"/>
            </a:xfrm>
            <a:prstGeom prst="rect">
              <a:avLst/>
            </a:prstGeom>
            <a:noFill/>
            <a:ln w="9525">
              <a:noFill/>
              <a:miter lim="800000"/>
              <a:headEnd/>
              <a:tailEnd/>
            </a:ln>
          </p:spPr>
          <p:txBody>
            <a:bodyPr wrap="square">
              <a:noAutofit/>
            </a:bodyPr>
            <a:lstStyle/>
            <a:p>
              <a:pPr algn="l" rtl="0" eaLnBrk="0" fontAlgn="t" hangingPunct="0">
                <a:buSzPct val="100000"/>
              </a:pPr>
              <a:r>
                <a:rPr lang="en-US" altLang="zh-CN" b="1" dirty="0">
                  <a:solidFill>
                    <a:srgbClr val="000000"/>
                  </a:solidFill>
                  <a:latin typeface="+mn-lt"/>
                  <a:ea typeface="+mn-ea"/>
                  <a:sym typeface="FrutigerNext LT Regular" pitchFamily="34" charset="0"/>
                </a:rPr>
                <a:t>Quartier général</a:t>
              </a:r>
            </a:p>
          </p:txBody>
        </p:sp>
        <p:sp>
          <p:nvSpPr>
            <p:cNvPr id="71" name="矩形 65"/>
            <p:cNvSpPr>
              <a:spLocks noChangeArrowheads="1"/>
            </p:cNvSpPr>
            <p:nvPr/>
          </p:nvSpPr>
          <p:spPr bwMode="auto">
            <a:xfrm>
              <a:off x="9123431" y="2924156"/>
              <a:ext cx="1084460" cy="359159"/>
            </a:xfrm>
            <a:prstGeom prst="rect">
              <a:avLst/>
            </a:prstGeom>
            <a:noFill/>
            <a:ln w="9525">
              <a:noFill/>
              <a:miter lim="800000"/>
              <a:headEnd/>
              <a:tailEnd/>
            </a:ln>
          </p:spPr>
          <p:txBody>
            <a:bodyPr wrap="square">
              <a:noAutofit/>
            </a:bodyPr>
            <a:lstStyle/>
            <a:p>
              <a:pPr algn="l" rtl="0" eaLnBrk="0" fontAlgn="t" hangingPunct="0">
                <a:buSzPct val="100000"/>
              </a:pPr>
              <a:r>
                <a:rPr lang="en-US" altLang="zh-CN" b="1" dirty="0">
                  <a:solidFill>
                    <a:srgbClr val="000000"/>
                  </a:solidFill>
                  <a:latin typeface="+mn-lt"/>
                  <a:ea typeface="+mn-ea"/>
                  <a:sym typeface="FrutigerNext LT Regular" pitchFamily="34" charset="0"/>
                </a:rPr>
                <a:t>département R&amp;D</a:t>
              </a:r>
            </a:p>
          </p:txBody>
        </p:sp>
        <p:sp>
          <p:nvSpPr>
            <p:cNvPr id="72" name="矩形 66"/>
            <p:cNvSpPr>
              <a:spLocks noChangeArrowheads="1"/>
            </p:cNvSpPr>
            <p:nvPr/>
          </p:nvSpPr>
          <p:spPr bwMode="auto">
            <a:xfrm>
              <a:off x="8820703" y="3889890"/>
              <a:ext cx="1181882" cy="477797"/>
            </a:xfrm>
            <a:prstGeom prst="rect">
              <a:avLst/>
            </a:prstGeom>
            <a:noFill/>
            <a:ln w="9525">
              <a:noFill/>
              <a:miter lim="800000"/>
              <a:headEnd/>
              <a:tailEnd/>
            </a:ln>
          </p:spPr>
          <p:txBody>
            <a:bodyPr wrap="square">
              <a:noAutofit/>
            </a:bodyPr>
            <a:lstStyle/>
            <a:p>
              <a:pPr algn="l" rtl="0" eaLnBrk="0" fontAlgn="t" hangingPunct="0">
                <a:buSzPct val="100000"/>
              </a:pPr>
              <a:r>
                <a:rPr lang="en-US" altLang="zh-CN" b="1" dirty="0">
                  <a:solidFill>
                    <a:srgbClr val="000000"/>
                  </a:solidFill>
                  <a:latin typeface="+mn-lt"/>
                  <a:ea typeface="+mn-ea"/>
                  <a:sym typeface="FrutigerNext LT Regular" pitchFamily="34" charset="0"/>
                </a:rPr>
                <a:t>Documentation</a:t>
              </a:r>
              <a:r>
                <a:rPr lang="en-US" altLang="zh-CN" sz="1050" b="1" dirty="0">
                  <a:solidFill>
                    <a:srgbClr val="000000"/>
                  </a:solidFill>
                  <a:latin typeface="+mn-lt"/>
                  <a:ea typeface="+mn-ea"/>
                  <a:sym typeface="FrutigerNext LT Regular" pitchFamily="34" charset="0"/>
                </a:rPr>
                <a:t>département</a:t>
              </a:r>
            </a:p>
          </p:txBody>
        </p:sp>
        <p:sp>
          <p:nvSpPr>
            <p:cNvPr id="73" name="文本框 67"/>
            <p:cNvSpPr txBox="1">
              <a:spLocks noChangeArrowheads="1"/>
            </p:cNvSpPr>
            <p:nvPr/>
          </p:nvSpPr>
          <p:spPr bwMode="auto">
            <a:xfrm>
              <a:off x="5825648" y="2459323"/>
              <a:ext cx="738187" cy="316392"/>
            </a:xfrm>
            <a:prstGeom prst="rect">
              <a:avLst/>
            </a:prstGeom>
            <a:noFill/>
            <a:ln w="9525">
              <a:noFill/>
              <a:miter lim="800000"/>
              <a:headEnd/>
              <a:tailEnd/>
            </a:ln>
          </p:spPr>
          <p:txBody>
            <a:bodyPr wrap="square" lIns="99980" tIns="49986" rIns="99980" bIns="49986">
              <a:noAutofit/>
            </a:bodyPr>
            <a:lstStyle/>
            <a:p>
              <a:pPr algn="ctr" defTabSz="1000125" rtl="0" eaLnBrk="0" hangingPunct="0">
                <a:buSzPct val="100000"/>
              </a:pPr>
              <a:r>
                <a:rPr lang="en-US" altLang="zh-CN" sz="1400" b="1" dirty="0">
                  <a:solidFill>
                    <a:srgbClr val="C00000"/>
                  </a:solidFill>
                  <a:latin typeface="+mn-lt"/>
                  <a:ea typeface="+mn-ea"/>
                  <a:cs typeface="Arial" charset="0"/>
                  <a:sym typeface="FrutigerNext LT Regular" pitchFamily="34" charset="0"/>
                </a:rPr>
                <a:t>OSPF</a:t>
              </a:r>
            </a:p>
          </p:txBody>
        </p:sp>
        <p:sp>
          <p:nvSpPr>
            <p:cNvPr id="74" name="文本框 68"/>
            <p:cNvSpPr txBox="1">
              <a:spLocks noChangeArrowheads="1"/>
            </p:cNvSpPr>
            <p:nvPr/>
          </p:nvSpPr>
          <p:spPr bwMode="auto">
            <a:xfrm>
              <a:off x="2256188" y="2421435"/>
              <a:ext cx="1150937" cy="470280"/>
            </a:xfrm>
            <a:prstGeom prst="rect">
              <a:avLst/>
            </a:prstGeom>
            <a:noFill/>
            <a:ln w="9525">
              <a:noFill/>
              <a:miter lim="800000"/>
              <a:headEnd/>
              <a:tailEnd/>
            </a:ln>
          </p:spPr>
          <p:txBody>
            <a:bodyPr wrap="square" lIns="99980" tIns="49986" rIns="99980" bIns="49986">
              <a:noAutofit/>
            </a:bodyPr>
            <a:lstStyle/>
            <a:p>
              <a:pPr algn="ctr" defTabSz="1000125" rtl="0" eaLnBrk="0" hangingPunct="0">
                <a:buSzPct val="100000"/>
              </a:pPr>
              <a:r>
                <a:rPr lang="en-US" altLang="zh-CN" sz="1100" b="1" dirty="0">
                  <a:solidFill>
                    <a:srgbClr val="000000"/>
                  </a:solidFill>
                  <a:latin typeface="+mn-lt"/>
                  <a:ea typeface="+mn-ea"/>
                  <a:cs typeface="Arial" charset="0"/>
                  <a:sym typeface="FrutigerNext LT Regular" pitchFamily="34" charset="0"/>
                </a:rPr>
                <a:t>département marketing</a:t>
              </a:r>
            </a:p>
          </p:txBody>
        </p:sp>
        <p:sp>
          <p:nvSpPr>
            <p:cNvPr id="75" name="文本框 78"/>
            <p:cNvSpPr txBox="1">
              <a:spLocks noChangeArrowheads="1"/>
            </p:cNvSpPr>
            <p:nvPr/>
          </p:nvSpPr>
          <p:spPr bwMode="auto">
            <a:xfrm>
              <a:off x="5206775" y="3776130"/>
              <a:ext cx="562920" cy="291771"/>
            </a:xfrm>
            <a:prstGeom prst="rect">
              <a:avLst/>
            </a:prstGeom>
            <a:noFill/>
            <a:ln w="9525">
              <a:noFill/>
              <a:miter lim="800000"/>
              <a:headEnd/>
              <a:tailEnd/>
            </a:ln>
          </p:spPr>
          <p:txBody>
            <a:bodyPr wrap="square" lIns="99980" tIns="49986" rIns="99980" bIns="49986">
              <a:no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RTD</a:t>
              </a:r>
            </a:p>
          </p:txBody>
        </p:sp>
        <p:sp>
          <p:nvSpPr>
            <p:cNvPr id="76" name="文本框 79"/>
            <p:cNvSpPr txBox="1">
              <a:spLocks noChangeArrowheads="1"/>
            </p:cNvSpPr>
            <p:nvPr/>
          </p:nvSpPr>
          <p:spPr bwMode="auto">
            <a:xfrm>
              <a:off x="4455667" y="2500214"/>
              <a:ext cx="771524" cy="285614"/>
            </a:xfrm>
            <a:prstGeom prst="rect">
              <a:avLst/>
            </a:prstGeom>
            <a:noFill/>
            <a:ln w="9525">
              <a:noFill/>
              <a:miter lim="800000"/>
              <a:headEnd/>
              <a:tailEnd/>
            </a:ln>
          </p:spPr>
          <p:txBody>
            <a:bodyPr wrap="square" lIns="99980" tIns="49986" rIns="99980" bIns="49986">
              <a:no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RTC</a:t>
              </a:r>
            </a:p>
          </p:txBody>
        </p:sp>
        <p:sp>
          <p:nvSpPr>
            <p:cNvPr id="77" name="文本框 80"/>
            <p:cNvSpPr txBox="1">
              <a:spLocks noChangeArrowheads="1"/>
            </p:cNvSpPr>
            <p:nvPr/>
          </p:nvSpPr>
          <p:spPr bwMode="auto">
            <a:xfrm>
              <a:off x="5816155" y="2833689"/>
              <a:ext cx="771524" cy="285614"/>
            </a:xfrm>
            <a:prstGeom prst="rect">
              <a:avLst/>
            </a:prstGeom>
            <a:noFill/>
            <a:ln w="9525">
              <a:noFill/>
              <a:miter lim="800000"/>
              <a:headEnd/>
              <a:tailEnd/>
            </a:ln>
          </p:spPr>
          <p:txBody>
            <a:bodyPr wrap="square" lIns="99980" tIns="49986" rIns="99980" bIns="49986">
              <a:no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RTB</a:t>
              </a:r>
            </a:p>
          </p:txBody>
        </p:sp>
        <p:sp>
          <p:nvSpPr>
            <p:cNvPr id="78" name="文本框 81"/>
            <p:cNvSpPr txBox="1">
              <a:spLocks noChangeArrowheads="1"/>
            </p:cNvSpPr>
            <p:nvPr/>
          </p:nvSpPr>
          <p:spPr bwMode="auto">
            <a:xfrm>
              <a:off x="7092504" y="3594101"/>
              <a:ext cx="771524" cy="285614"/>
            </a:xfrm>
            <a:prstGeom prst="rect">
              <a:avLst/>
            </a:prstGeom>
            <a:noFill/>
            <a:ln w="9525">
              <a:noFill/>
              <a:miter lim="800000"/>
              <a:headEnd/>
              <a:tailEnd/>
            </a:ln>
          </p:spPr>
          <p:txBody>
            <a:bodyPr wrap="square" lIns="99980" tIns="49986" rIns="99980" bIns="49986">
              <a:no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RTA</a:t>
              </a:r>
            </a:p>
          </p:txBody>
        </p:sp>
        <p:grpSp>
          <p:nvGrpSpPr>
            <p:cNvPr id="79" name="组合 48"/>
            <p:cNvGrpSpPr>
              <a:grpSpLocks noChangeAspect="1"/>
            </p:cNvGrpSpPr>
            <p:nvPr/>
          </p:nvGrpSpPr>
          <p:grpSpPr bwMode="auto">
            <a:xfrm>
              <a:off x="7806880" y="2738439"/>
              <a:ext cx="139700" cy="141287"/>
              <a:chOff x="389239" y="2587273"/>
              <a:chExt cx="192358" cy="194586"/>
            </a:xfrm>
          </p:grpSpPr>
          <p:cxnSp>
            <p:nvCxnSpPr>
              <p:cNvPr id="98" name="直接连接符 49"/>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99" name="直接连接符 50"/>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80" name="组合 55"/>
            <p:cNvGrpSpPr>
              <a:grpSpLocks noChangeAspect="1"/>
            </p:cNvGrpSpPr>
            <p:nvPr/>
          </p:nvGrpSpPr>
          <p:grpSpPr bwMode="auto">
            <a:xfrm>
              <a:off x="7967218" y="3216276"/>
              <a:ext cx="139700" cy="142875"/>
              <a:chOff x="389239" y="2587273"/>
              <a:chExt cx="192358" cy="194586"/>
            </a:xfrm>
          </p:grpSpPr>
          <p:cxnSp>
            <p:nvCxnSpPr>
              <p:cNvPr id="96" name="直接连接符 56"/>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97" name="直接连接符 57"/>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81" name="组合 58"/>
            <p:cNvGrpSpPr>
              <a:grpSpLocks noChangeAspect="1"/>
            </p:cNvGrpSpPr>
            <p:nvPr/>
          </p:nvGrpSpPr>
          <p:grpSpPr bwMode="auto">
            <a:xfrm>
              <a:off x="7960869" y="3395664"/>
              <a:ext cx="141287" cy="141287"/>
              <a:chOff x="389239" y="2587273"/>
              <a:chExt cx="192358" cy="194586"/>
            </a:xfrm>
          </p:grpSpPr>
          <p:cxnSp>
            <p:nvCxnSpPr>
              <p:cNvPr id="94" name="直接连接符 59"/>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95" name="直接连接符 60"/>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pic>
          <p:nvPicPr>
            <p:cNvPr id="82" name="图片 8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275256" y="3509252"/>
              <a:ext cx="540000" cy="442800"/>
            </a:xfrm>
            <a:prstGeom prst="rect">
              <a:avLst/>
            </a:prstGeom>
          </p:spPr>
        </p:pic>
        <p:pic>
          <p:nvPicPr>
            <p:cNvPr id="83" name="图片 8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504922" y="2161623"/>
              <a:ext cx="540000" cy="442800"/>
            </a:xfrm>
            <a:prstGeom prst="rect">
              <a:avLst/>
            </a:prstGeom>
          </p:spPr>
        </p:pic>
        <p:pic>
          <p:nvPicPr>
            <p:cNvPr id="84" name="图片 8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317725" y="3914712"/>
              <a:ext cx="540000" cy="442800"/>
            </a:xfrm>
            <a:prstGeom prst="rect">
              <a:avLst/>
            </a:prstGeom>
          </p:spPr>
        </p:pic>
        <p:pic>
          <p:nvPicPr>
            <p:cNvPr id="85"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556159" y="3504618"/>
              <a:ext cx="628652" cy="514351"/>
            </a:xfrm>
            <a:prstGeom prst="rect">
              <a:avLst/>
            </a:prstGeom>
            <a:noFill/>
          </p:spPr>
        </p:pic>
        <p:pic>
          <p:nvPicPr>
            <p:cNvPr id="86"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918519" y="3111816"/>
              <a:ext cx="628652" cy="514351"/>
            </a:xfrm>
            <a:prstGeom prst="rect">
              <a:avLst/>
            </a:prstGeom>
            <a:noFill/>
          </p:spPr>
        </p:pic>
        <p:pic>
          <p:nvPicPr>
            <p:cNvPr id="8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197879" y="3046933"/>
              <a:ext cx="628652" cy="514351"/>
            </a:xfrm>
            <a:prstGeom prst="rect">
              <a:avLst/>
            </a:prstGeom>
            <a:noFill/>
          </p:spPr>
        </p:pic>
        <p:pic>
          <p:nvPicPr>
            <p:cNvPr id="8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557328" y="2764935"/>
              <a:ext cx="628652" cy="514351"/>
            </a:xfrm>
            <a:prstGeom prst="rect">
              <a:avLst/>
            </a:prstGeom>
            <a:noFill/>
          </p:spPr>
        </p:pic>
        <p:pic>
          <p:nvPicPr>
            <p:cNvPr id="89" name="图片 88" descr="市场部.png"/>
            <p:cNvPicPr>
              <a:picLocks noChangeAspect="1"/>
            </p:cNvPicPr>
            <p:nvPr/>
          </p:nvPicPr>
          <p:blipFill>
            <a:blip r:embed="rId5" cstate="print"/>
            <a:stretch>
              <a:fillRect/>
            </a:stretch>
          </p:blipFill>
          <p:spPr>
            <a:xfrm>
              <a:off x="3275256" y="2473670"/>
              <a:ext cx="540000" cy="441818"/>
            </a:xfrm>
            <a:prstGeom prst="rect">
              <a:avLst/>
            </a:prstGeom>
          </p:spPr>
        </p:pic>
        <p:pic>
          <p:nvPicPr>
            <p:cNvPr id="90" name="图片 89" descr="研发部.png"/>
            <p:cNvPicPr>
              <a:picLocks noChangeAspect="1"/>
            </p:cNvPicPr>
            <p:nvPr/>
          </p:nvPicPr>
          <p:blipFill>
            <a:blip r:embed="rId6" cstate="print"/>
            <a:stretch>
              <a:fillRect/>
            </a:stretch>
          </p:blipFill>
          <p:spPr>
            <a:xfrm>
              <a:off x="8651462" y="2891169"/>
              <a:ext cx="540000" cy="441818"/>
            </a:xfrm>
            <a:prstGeom prst="rect">
              <a:avLst/>
            </a:prstGeom>
          </p:spPr>
        </p:pic>
        <p:sp>
          <p:nvSpPr>
            <p:cNvPr id="91" name="任意多边形 85"/>
            <p:cNvSpPr>
              <a:spLocks/>
            </p:cNvSpPr>
            <p:nvPr/>
          </p:nvSpPr>
          <p:spPr bwMode="auto">
            <a:xfrm>
              <a:off x="3737677" y="2434680"/>
              <a:ext cx="4558001" cy="774732"/>
            </a:xfrm>
            <a:custGeom>
              <a:avLst/>
              <a:gdLst>
                <a:gd name="T0" fmla="*/ 0 w 4558441"/>
                <a:gd name="T1" fmla="*/ 168166 h 774851"/>
                <a:gd name="T2" fmla="*/ 934190 w 4558441"/>
                <a:gd name="T3" fmla="*/ 424655 h 774851"/>
                <a:gd name="T4" fmla="*/ 2442528 w 4558441"/>
                <a:gd name="T5" fmla="*/ 737658 h 774851"/>
                <a:gd name="T6" fmla="*/ 3670198 w 4558441"/>
                <a:gd name="T7" fmla="*/ 774851 h 774851"/>
                <a:gd name="T8" fmla="*/ 4558441 w 4558441"/>
                <a:gd name="T9" fmla="*/ 0 h 774851"/>
                <a:gd name="T10" fmla="*/ 0 60000 65536"/>
                <a:gd name="T11" fmla="*/ 0 60000 65536"/>
                <a:gd name="T12" fmla="*/ 0 60000 65536"/>
                <a:gd name="T13" fmla="*/ 0 60000 65536"/>
                <a:gd name="T14" fmla="*/ 0 60000 65536"/>
                <a:gd name="T15" fmla="*/ 0 w 4558441"/>
                <a:gd name="T16" fmla="*/ 0 h 774851"/>
                <a:gd name="T17" fmla="*/ 4558441 w 4558441"/>
                <a:gd name="T18" fmla="*/ 774851 h 774851"/>
              </a:gdLst>
              <a:ahLst/>
              <a:cxnLst>
                <a:cxn ang="T10">
                  <a:pos x="T0" y="T1"/>
                </a:cxn>
                <a:cxn ang="T11">
                  <a:pos x="T2" y="T3"/>
                </a:cxn>
                <a:cxn ang="T12">
                  <a:pos x="T4" y="T5"/>
                </a:cxn>
                <a:cxn ang="T13">
                  <a:pos x="T6" y="T7"/>
                </a:cxn>
                <a:cxn ang="T14">
                  <a:pos x="T8" y="T9"/>
                </a:cxn>
              </a:cxnLst>
              <a:rect l="T15" t="T16" r="T17" b="T18"/>
              <a:pathLst>
                <a:path w="4558441" h="774851">
                  <a:moveTo>
                    <a:pt x="0" y="168166"/>
                  </a:moveTo>
                  <a:cubicBezTo>
                    <a:pt x="456867" y="332225"/>
                    <a:pt x="527102" y="329740"/>
                    <a:pt x="934190" y="424655"/>
                  </a:cubicBezTo>
                  <a:cubicBezTo>
                    <a:pt x="1341278" y="519570"/>
                    <a:pt x="1986527" y="679292"/>
                    <a:pt x="2442528" y="737658"/>
                  </a:cubicBezTo>
                  <a:cubicBezTo>
                    <a:pt x="2898529" y="796024"/>
                    <a:pt x="3317802" y="757288"/>
                    <a:pt x="3670199" y="774851"/>
                  </a:cubicBezTo>
                  <a:cubicBezTo>
                    <a:pt x="4235447" y="352873"/>
                    <a:pt x="4274375" y="255507"/>
                    <a:pt x="4558441" y="0"/>
                  </a:cubicBezTo>
                </a:path>
              </a:pathLst>
            </a:custGeom>
            <a:noFill/>
            <a:ln w="28575" cap="flat" cmpd="sng" algn="ctr">
              <a:solidFill>
                <a:srgbClr val="C00000"/>
              </a:solidFill>
              <a:prstDash val="dash"/>
              <a:round/>
              <a:headEnd type="none" w="med" len="med"/>
              <a:tailEnd type="stealth" w="lg" len="lg"/>
            </a:ln>
          </p:spPr>
          <p:txBody>
            <a:bodyPr wrap="square">
              <a:noAutofit/>
            </a:bodyPr>
            <a:lstStyle/>
            <a:p>
              <a:pPr algn="l" rtl="0"/>
              <a:endParaRPr lang="en-US" altLang="zh-CN" sz="900" dirty="0">
                <a:latin typeface="+mn-lt"/>
                <a:ea typeface="+mn-ea"/>
              </a:endParaRPr>
            </a:p>
          </p:txBody>
        </p:sp>
        <p:sp>
          <p:nvSpPr>
            <p:cNvPr id="92" name="任意多边形 86"/>
            <p:cNvSpPr>
              <a:spLocks/>
            </p:cNvSpPr>
            <p:nvPr/>
          </p:nvSpPr>
          <p:spPr bwMode="auto">
            <a:xfrm>
              <a:off x="3652176" y="2805356"/>
              <a:ext cx="5085132" cy="515727"/>
            </a:xfrm>
            <a:custGeom>
              <a:avLst/>
              <a:gdLst>
                <a:gd name="T0" fmla="*/ 0 w 5085623"/>
                <a:gd name="T1" fmla="*/ 0 h 515806"/>
                <a:gd name="T2" fmla="*/ 1073676 w 5085623"/>
                <a:gd name="T3" fmla="*/ 219770 h 515806"/>
                <a:gd name="T4" fmla="*/ 2349061 w 5085623"/>
                <a:gd name="T5" fmla="*/ 483416 h 515806"/>
                <a:gd name="T6" fmla="*/ 3801582 w 5085623"/>
                <a:gd name="T7" fmla="*/ 499387 h 515806"/>
                <a:gd name="T8" fmla="*/ 5085623 w 5085623"/>
                <a:gd name="T9" fmla="*/ 435313 h 515806"/>
                <a:gd name="T10" fmla="*/ 0 60000 65536"/>
                <a:gd name="T11" fmla="*/ 0 60000 65536"/>
                <a:gd name="T12" fmla="*/ 0 60000 65536"/>
                <a:gd name="T13" fmla="*/ 0 60000 65536"/>
                <a:gd name="T14" fmla="*/ 0 60000 65536"/>
                <a:gd name="T15" fmla="*/ 0 w 5085623"/>
                <a:gd name="T16" fmla="*/ 0 h 515806"/>
                <a:gd name="T17" fmla="*/ 5085623 w 5085623"/>
                <a:gd name="T18" fmla="*/ 515806 h 515806"/>
              </a:gdLst>
              <a:ahLst/>
              <a:cxnLst>
                <a:cxn ang="T10">
                  <a:pos x="T0" y="T1"/>
                </a:cxn>
                <a:cxn ang="T11">
                  <a:pos x="T2" y="T3"/>
                </a:cxn>
                <a:cxn ang="T12">
                  <a:pos x="T4" y="T5"/>
                </a:cxn>
                <a:cxn ang="T13">
                  <a:pos x="T6" y="T7"/>
                </a:cxn>
                <a:cxn ang="T14">
                  <a:pos x="T8" y="T9"/>
                </a:cxn>
              </a:cxnLst>
              <a:rect l="T15" t="T16" r="T17" b="T18"/>
              <a:pathLst>
                <a:path w="5085623" h="515806">
                  <a:moveTo>
                    <a:pt x="0" y="0"/>
                  </a:moveTo>
                  <a:cubicBezTo>
                    <a:pt x="456866" y="148561"/>
                    <a:pt x="682164" y="139201"/>
                    <a:pt x="1073674" y="219770"/>
                  </a:cubicBezTo>
                  <a:cubicBezTo>
                    <a:pt x="1465184" y="300339"/>
                    <a:pt x="1894410" y="436813"/>
                    <a:pt x="2349061" y="483416"/>
                  </a:cubicBezTo>
                  <a:cubicBezTo>
                    <a:pt x="2803712" y="530019"/>
                    <a:pt x="3234782" y="517809"/>
                    <a:pt x="3801578" y="499387"/>
                  </a:cubicBezTo>
                  <a:cubicBezTo>
                    <a:pt x="4346558" y="490140"/>
                    <a:pt x="4614384" y="486719"/>
                    <a:pt x="5085623" y="435313"/>
                  </a:cubicBezTo>
                </a:path>
              </a:pathLst>
            </a:custGeom>
            <a:noFill/>
            <a:ln w="28575" cap="flat" cmpd="sng" algn="ctr">
              <a:solidFill>
                <a:srgbClr val="C00000"/>
              </a:solidFill>
              <a:prstDash val="dash"/>
              <a:round/>
              <a:headEnd type="none" w="med" len="med"/>
              <a:tailEnd type="stealth" w="lg" len="lg"/>
            </a:ln>
          </p:spPr>
          <p:txBody>
            <a:bodyPr wrap="square">
              <a:noAutofit/>
            </a:bodyPr>
            <a:lstStyle/>
            <a:p>
              <a:pPr algn="l" rtl="0"/>
              <a:endParaRPr lang="en-US" altLang="zh-CN" sz="900" dirty="0">
                <a:latin typeface="+mn-lt"/>
                <a:ea typeface="+mn-ea"/>
              </a:endParaRPr>
            </a:p>
          </p:txBody>
        </p:sp>
        <p:sp>
          <p:nvSpPr>
            <p:cNvPr id="93" name="任意多边形 87"/>
            <p:cNvSpPr>
              <a:spLocks/>
            </p:cNvSpPr>
            <p:nvPr/>
          </p:nvSpPr>
          <p:spPr bwMode="auto">
            <a:xfrm>
              <a:off x="3698600" y="3446640"/>
              <a:ext cx="4980900" cy="378422"/>
            </a:xfrm>
            <a:custGeom>
              <a:avLst/>
              <a:gdLst>
                <a:gd name="T0" fmla="*/ 0 w 4992029"/>
                <a:gd name="T1" fmla="*/ 321106 h 446105"/>
                <a:gd name="T2" fmla="*/ 1107441 w 4992029"/>
                <a:gd name="T3" fmla="*/ 275854 h 446105"/>
                <a:gd name="T4" fmla="*/ 2378087 w 4992029"/>
                <a:gd name="T5" fmla="*/ 19058 h 446105"/>
                <a:gd name="T6" fmla="*/ 3835063 w 4992029"/>
                <a:gd name="T7" fmla="*/ 19584 h 446105"/>
                <a:gd name="T8" fmla="*/ 4970756 w 4992029"/>
                <a:gd name="T9" fmla="*/ 9748 h 446105"/>
                <a:gd name="T10" fmla="*/ 0 60000 65536"/>
                <a:gd name="T11" fmla="*/ 0 60000 65536"/>
                <a:gd name="T12" fmla="*/ 0 60000 65536"/>
                <a:gd name="T13" fmla="*/ 0 60000 65536"/>
                <a:gd name="T14" fmla="*/ 0 60000 65536"/>
                <a:gd name="T15" fmla="*/ 0 w 4992029"/>
                <a:gd name="T16" fmla="*/ 0 h 446105"/>
                <a:gd name="T17" fmla="*/ 4992029 w 4992029"/>
                <a:gd name="T18" fmla="*/ 446105 h 446105"/>
              </a:gdLst>
              <a:ahLst/>
              <a:cxnLst>
                <a:cxn ang="T10">
                  <a:pos x="T0" y="T1"/>
                </a:cxn>
                <a:cxn ang="T11">
                  <a:pos x="T2" y="T3"/>
                </a:cxn>
                <a:cxn ang="T12">
                  <a:pos x="T4" y="T5"/>
                </a:cxn>
                <a:cxn ang="T13">
                  <a:pos x="T6" y="T7"/>
                </a:cxn>
                <a:cxn ang="T14">
                  <a:pos x="T8" y="T9"/>
                </a:cxn>
              </a:cxnLst>
              <a:rect l="T15" t="T16" r="T17" b="T18"/>
              <a:pathLst>
                <a:path w="4992029" h="446105">
                  <a:moveTo>
                    <a:pt x="0" y="446105"/>
                  </a:moveTo>
                  <a:cubicBezTo>
                    <a:pt x="396336" y="404946"/>
                    <a:pt x="714136" y="453175"/>
                    <a:pt x="1112180" y="383237"/>
                  </a:cubicBezTo>
                  <a:cubicBezTo>
                    <a:pt x="1510224" y="313299"/>
                    <a:pt x="1931715" y="85814"/>
                    <a:pt x="2388264" y="26476"/>
                  </a:cubicBezTo>
                  <a:cubicBezTo>
                    <a:pt x="2844813" y="-32862"/>
                    <a:pt x="3391937" y="25893"/>
                    <a:pt x="3851477" y="27207"/>
                  </a:cubicBezTo>
                  <a:cubicBezTo>
                    <a:pt x="4231661" y="22652"/>
                    <a:pt x="4594876" y="-1860"/>
                    <a:pt x="4992029" y="13543"/>
                  </a:cubicBezTo>
                </a:path>
              </a:pathLst>
            </a:custGeom>
            <a:noFill/>
            <a:ln w="28575" cap="flat" cmpd="sng" algn="ctr">
              <a:solidFill>
                <a:srgbClr val="C00000"/>
              </a:solidFill>
              <a:prstDash val="dash"/>
              <a:round/>
              <a:headEnd type="none" w="med" len="med"/>
              <a:tailEnd type="stealth" w="lg" len="lg"/>
            </a:ln>
          </p:spPr>
          <p:txBody>
            <a:bodyPr wrap="square">
              <a:noAutofit/>
            </a:bodyPr>
            <a:lstStyle/>
            <a:p>
              <a:pPr algn="l" rtl="0"/>
              <a:endParaRPr lang="en-US" altLang="zh-CN" sz="900" dirty="0">
                <a:latin typeface="+mn-lt"/>
                <a:ea typeface="+mn-ea"/>
              </a:endParaRPr>
            </a:p>
          </p:txBody>
        </p:sp>
      </p:grpSp>
    </p:spTree>
    <p:extLst>
      <p:ext uri="{BB962C8B-B14F-4D97-AF65-F5344CB8AC3E}">
        <p14:creationId xmlns:p14="http://schemas.microsoft.com/office/powerpoint/2010/main" val="99384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8"/>
                                        </p:tgtEl>
                                        <p:attrNameLst>
                                          <p:attrName>style.visibility</p:attrName>
                                        </p:attrNameLst>
                                      </p:cBhvr>
                                      <p:to>
                                        <p:strVal val="visible"/>
                                      </p:to>
                                    </p:set>
                                    <p:animEffect transition="in" filter="wipe(left)">
                                      <p:cBhvr>
                                        <p:cTn id="7" dur="500"/>
                                        <p:tgtEl>
                                          <p:spTgt spid="1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9"/>
                                        </p:tgtEl>
                                        <p:attrNameLst>
                                          <p:attrName>style.visibility</p:attrName>
                                        </p:attrNameLst>
                                      </p:cBhvr>
                                      <p:to>
                                        <p:strVal val="visible"/>
                                      </p:to>
                                    </p:set>
                                    <p:animEffect transition="in" filter="wipe(left)">
                                      <p:cBhvr>
                                        <p:cTn id="12" dur="5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 grpId="0"/>
      <p:bldP spid="15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lgn="l" rtl="0"/>
            <a:r>
              <a:rPr lang="en-US" altLang="zh-CN" sz="2400" dirty="0">
                <a:solidFill>
                  <a:srgbClr val="000000"/>
                </a:solidFill>
                <a:sym typeface="FrutigerNext LT Regular" pitchFamily="34" charset="0"/>
              </a:rPr>
              <a:t>ACLclasse les paquets en différents types en fonction des informations qu'ils contiennent.</a:t>
            </a:r>
          </a:p>
          <a:p>
            <a:pPr algn="l" rtl="0"/>
            <a:endParaRPr lang="zh-CN" altLang="en-US" dirty="0"/>
          </a:p>
        </p:txBody>
      </p:sp>
      <p:sp>
        <p:nvSpPr>
          <p:cNvPr id="2" name="文本占位符 1"/>
          <p:cNvSpPr>
            <a:spLocks noGrp="1"/>
          </p:cNvSpPr>
          <p:nvPr>
            <p:ph type="body" sz="quarter" idx="12"/>
          </p:nvPr>
        </p:nvSpPr>
        <p:spPr>
          <a:xfrm>
            <a:off x="1595500" y="410400"/>
            <a:ext cx="9831600" cy="639559"/>
          </a:xfrm>
        </p:spPr>
        <p:txBody>
          <a:bodyPr/>
          <a:lstStyle/>
          <a:p>
            <a:pPr algn="l" rtl="0"/>
            <a:r>
              <a:rPr lang="en-US" altLang="zh-CN" dirty="0"/>
              <a:t>Exemple d'application ACL (1))</a:t>
            </a:r>
          </a:p>
        </p:txBody>
      </p:sp>
      <p:sp>
        <p:nvSpPr>
          <p:cNvPr id="29700" name="AutoShape 24"/>
          <p:cNvSpPr>
            <a:spLocks noChangeArrowheads="1"/>
          </p:cNvSpPr>
          <p:nvPr/>
        </p:nvSpPr>
        <p:spPr bwMode="auto">
          <a:xfrm>
            <a:off x="3324225" y="2443164"/>
            <a:ext cx="6192838" cy="936625"/>
          </a:xfrm>
          <a:prstGeom prst="rightArrow">
            <a:avLst>
              <a:gd name="adj1" fmla="val 77954"/>
              <a:gd name="adj2" fmla="val 44324"/>
            </a:avLst>
          </a:prstGeom>
          <a:noFill/>
          <a:ln w="9525" algn="ctr">
            <a:solidFill>
              <a:schemeClr val="tx1"/>
            </a:solidFill>
            <a:miter lim="800000"/>
            <a:headEnd/>
            <a:tailEnd/>
          </a:ln>
        </p:spPr>
        <p:txBody>
          <a:bodyPr wrap="none" anchor="ctr"/>
          <a:lstStyle/>
          <a:p>
            <a:pPr algn="l" defTabSz="784225" rtl="0"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acl 2001</a:t>
            </a:r>
          </a:p>
          <a:p>
            <a:pPr algn="l" defTabSz="784225" rtl="0"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règle 0 autoriser la source 1.1.0.0 0.0.255.255</a:t>
            </a:r>
          </a:p>
        </p:txBody>
      </p:sp>
      <p:sp>
        <p:nvSpPr>
          <p:cNvPr id="29701" name="TextBox 4"/>
          <p:cNvSpPr txBox="1">
            <a:spLocks noChangeArrowheads="1"/>
          </p:cNvSpPr>
          <p:nvPr/>
        </p:nvSpPr>
        <p:spPr bwMode="auto">
          <a:xfrm>
            <a:off x="3967163" y="3708400"/>
            <a:ext cx="1439862" cy="2154238"/>
          </a:xfrm>
          <a:prstGeom prst="rect">
            <a:avLst/>
          </a:prstGeom>
          <a:noFill/>
          <a:ln w="9525">
            <a:noFill/>
            <a:miter lim="800000"/>
            <a:headEnd/>
            <a:tailEnd/>
          </a:ln>
        </p:spPr>
        <p:txBody>
          <a:bodyPr lIns="0" tIns="0" rIns="0" bIns="0">
            <a:spAutoFit/>
          </a:bodyPr>
          <a:lstStyle/>
          <a:p>
            <a:pPr algn="l" rtl="0" eaLnBrk="0" fontAlgn="t" hangingPunct="0">
              <a:buSzPct val="100000"/>
            </a:pPr>
            <a:r>
              <a:rPr lang="en-US" altLang="zh-CN" sz="2000" dirty="0">
                <a:solidFill>
                  <a:srgbClr val="000000"/>
                </a:solidFill>
                <a:latin typeface="+mn-lt"/>
                <a:ea typeface="+mn-ea"/>
                <a:sym typeface="FrutigerNext LT Regular" pitchFamily="34" charset="0"/>
              </a:rPr>
              <a:t>1.1.1.1/32</a:t>
            </a:r>
          </a:p>
          <a:p>
            <a:pPr algn="l" rtl="0" eaLnBrk="0" fontAlgn="t" hangingPunct="0">
              <a:buSzPct val="100000"/>
            </a:pPr>
            <a:endParaRPr lang="en-US" altLang="zh-CN" sz="2000" dirty="0">
              <a:solidFill>
                <a:srgbClr val="000000"/>
              </a:solidFill>
              <a:latin typeface="+mn-lt"/>
              <a:ea typeface="+mn-ea"/>
              <a:sym typeface="FrutigerNext LT Regular" pitchFamily="34" charset="0"/>
            </a:endParaRPr>
          </a:p>
          <a:p>
            <a:pPr algn="l" rtl="0" eaLnBrk="0" fontAlgn="t" hangingPunct="0">
              <a:buSzPct val="100000"/>
            </a:pPr>
            <a:r>
              <a:rPr lang="en-US" altLang="zh-CN" sz="2000" dirty="0">
                <a:solidFill>
                  <a:srgbClr val="000000"/>
                </a:solidFill>
                <a:latin typeface="+mn-lt"/>
                <a:ea typeface="+mn-ea"/>
                <a:sym typeface="FrutigerNext LT Regular" pitchFamily="34" charset="0"/>
              </a:rPr>
              <a:t>1.1.1.0/24</a:t>
            </a:r>
          </a:p>
          <a:p>
            <a:pPr algn="l" rtl="0" eaLnBrk="0" fontAlgn="t" hangingPunct="0">
              <a:buSzPct val="100000"/>
            </a:pPr>
            <a:endParaRPr lang="en-US" altLang="zh-CN" sz="2000" dirty="0">
              <a:solidFill>
                <a:srgbClr val="000000"/>
              </a:solidFill>
              <a:latin typeface="+mn-lt"/>
              <a:ea typeface="+mn-ea"/>
              <a:sym typeface="FrutigerNext LT Regular" pitchFamily="34" charset="0"/>
            </a:endParaRPr>
          </a:p>
          <a:p>
            <a:pPr algn="l" rtl="0" eaLnBrk="0" fontAlgn="t" hangingPunct="0">
              <a:buSzPct val="100000"/>
            </a:pPr>
            <a:r>
              <a:rPr lang="en-US" altLang="zh-CN" sz="2000" dirty="0">
                <a:solidFill>
                  <a:srgbClr val="000000"/>
                </a:solidFill>
                <a:latin typeface="+mn-lt"/>
                <a:ea typeface="+mn-ea"/>
                <a:sym typeface="FrutigerNext LT Regular" pitchFamily="34" charset="0"/>
              </a:rPr>
              <a:t>1.1.0.0/16</a:t>
            </a:r>
          </a:p>
          <a:p>
            <a:pPr algn="l" rtl="0" eaLnBrk="0" fontAlgn="t" hangingPunct="0">
              <a:buSzPct val="100000"/>
            </a:pPr>
            <a:endParaRPr lang="en-US" altLang="zh-CN" sz="2000" dirty="0">
              <a:solidFill>
                <a:srgbClr val="000000"/>
              </a:solidFill>
              <a:latin typeface="+mn-lt"/>
              <a:ea typeface="+mn-ea"/>
              <a:sym typeface="FrutigerNext LT Regular" pitchFamily="34" charset="0"/>
            </a:endParaRPr>
          </a:p>
          <a:p>
            <a:pPr algn="l" rtl="0" eaLnBrk="0" fontAlgn="t" hangingPunct="0">
              <a:buSzPct val="100000"/>
            </a:pPr>
            <a:r>
              <a:rPr lang="en-US" altLang="zh-CN" sz="2000" dirty="0">
                <a:solidFill>
                  <a:srgbClr val="000000"/>
                </a:solidFill>
                <a:latin typeface="+mn-lt"/>
                <a:ea typeface="+mn-ea"/>
                <a:sym typeface="FrutigerNext LT Regular" pitchFamily="34" charset="0"/>
              </a:rPr>
              <a:t>1.0.0.0/8</a:t>
            </a:r>
          </a:p>
        </p:txBody>
      </p:sp>
      <p:sp>
        <p:nvSpPr>
          <p:cNvPr id="10" name="TextBox 7"/>
          <p:cNvSpPr txBox="1">
            <a:spLocks noChangeArrowheads="1"/>
          </p:cNvSpPr>
          <p:nvPr/>
        </p:nvSpPr>
        <p:spPr bwMode="auto">
          <a:xfrm>
            <a:off x="7361238" y="3725864"/>
            <a:ext cx="1439862" cy="1538287"/>
          </a:xfrm>
          <a:prstGeom prst="rect">
            <a:avLst/>
          </a:prstGeom>
          <a:noFill/>
          <a:ln w="9525">
            <a:noFill/>
            <a:miter lim="800000"/>
            <a:headEnd/>
            <a:tailEnd/>
          </a:ln>
        </p:spPr>
        <p:txBody>
          <a:bodyPr lIns="0" tIns="0" rIns="0" bIns="0">
            <a:spAutoFit/>
          </a:bodyPr>
          <a:lstStyle/>
          <a:p>
            <a:pPr algn="l" rtl="0" eaLnBrk="0" fontAlgn="t" hangingPunct="0">
              <a:buSzPct val="100000"/>
            </a:pPr>
            <a:r>
              <a:rPr lang="en-US" altLang="zh-CN" sz="2000" b="1" dirty="0">
                <a:solidFill>
                  <a:srgbClr val="000000"/>
                </a:solidFill>
                <a:latin typeface="+mn-lt"/>
                <a:ea typeface="+mn-ea"/>
                <a:sym typeface="FrutigerNext LT Regular" pitchFamily="34" charset="0"/>
              </a:rPr>
              <a:t>1.1.1.1/32</a:t>
            </a:r>
          </a:p>
          <a:p>
            <a:pPr algn="l" rtl="0" eaLnBrk="0" fontAlgn="t" hangingPunct="0">
              <a:buSzPct val="100000"/>
            </a:pPr>
            <a:endParaRPr lang="en-US" altLang="zh-CN" sz="2000" b="1" dirty="0">
              <a:solidFill>
                <a:srgbClr val="000000"/>
              </a:solidFill>
              <a:latin typeface="+mn-lt"/>
              <a:ea typeface="+mn-ea"/>
              <a:sym typeface="FrutigerNext LT Regular" pitchFamily="34" charset="0"/>
            </a:endParaRPr>
          </a:p>
          <a:p>
            <a:pPr algn="l" rtl="0" eaLnBrk="0" fontAlgn="t" hangingPunct="0">
              <a:buSzPct val="100000"/>
            </a:pPr>
            <a:r>
              <a:rPr lang="en-US" altLang="zh-CN" sz="2000" b="1" dirty="0">
                <a:solidFill>
                  <a:srgbClr val="000000"/>
                </a:solidFill>
                <a:latin typeface="+mn-lt"/>
                <a:ea typeface="+mn-ea"/>
                <a:sym typeface="FrutigerNext LT Regular" pitchFamily="34" charset="0"/>
              </a:rPr>
              <a:t>1.1.1.0/24</a:t>
            </a:r>
          </a:p>
          <a:p>
            <a:pPr algn="l" rtl="0" eaLnBrk="0" fontAlgn="t" hangingPunct="0">
              <a:buSzPct val="100000"/>
            </a:pPr>
            <a:endParaRPr lang="en-US" altLang="zh-CN" sz="2000" b="1" dirty="0">
              <a:solidFill>
                <a:srgbClr val="000000"/>
              </a:solidFill>
              <a:latin typeface="+mn-lt"/>
              <a:ea typeface="+mn-ea"/>
              <a:sym typeface="FrutigerNext LT Regular" pitchFamily="34" charset="0"/>
            </a:endParaRPr>
          </a:p>
          <a:p>
            <a:pPr algn="l" rtl="0" eaLnBrk="0" fontAlgn="t" hangingPunct="0">
              <a:buSzPct val="100000"/>
            </a:pPr>
            <a:r>
              <a:rPr lang="en-US" altLang="zh-CN" sz="2000" b="1" dirty="0">
                <a:solidFill>
                  <a:srgbClr val="000000"/>
                </a:solidFill>
                <a:latin typeface="+mn-lt"/>
                <a:ea typeface="+mn-ea"/>
                <a:sym typeface="FrutigerNext LT Regular" pitchFamily="34" charset="0"/>
              </a:rPr>
              <a:t>1.1.0.0/16</a:t>
            </a:r>
          </a:p>
        </p:txBody>
      </p:sp>
    </p:spTree>
    <p:extLst>
      <p:ext uri="{BB962C8B-B14F-4D97-AF65-F5344CB8AC3E}">
        <p14:creationId xmlns:p14="http://schemas.microsoft.com/office/powerpoint/2010/main" val="1938043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567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pPr algn="l" rtl="0"/>
            <a:r>
              <a:rPr lang="en-US" altLang="zh-CN" dirty="0"/>
              <a:t>Application ACLExemple (2)</a:t>
            </a:r>
            <a:endParaRPr lang="zh-CN" altLang="en-US" dirty="0"/>
          </a:p>
        </p:txBody>
      </p:sp>
      <p:sp>
        <p:nvSpPr>
          <p:cNvPr id="30723" name="AutoShape 24"/>
          <p:cNvSpPr>
            <a:spLocks noChangeArrowheads="1"/>
          </p:cNvSpPr>
          <p:nvPr/>
        </p:nvSpPr>
        <p:spPr bwMode="auto">
          <a:xfrm>
            <a:off x="3011488" y="1570038"/>
            <a:ext cx="6553200" cy="1871662"/>
          </a:xfrm>
          <a:prstGeom prst="rightArrow">
            <a:avLst>
              <a:gd name="adj1" fmla="val 77954"/>
              <a:gd name="adj2" fmla="val 44349"/>
            </a:avLst>
          </a:prstGeom>
          <a:noFill/>
          <a:ln w="9525" algn="ctr">
            <a:solidFill>
              <a:schemeClr val="tx1"/>
            </a:solidFill>
            <a:miter lim="800000"/>
            <a:headEnd/>
            <a:tailEnd/>
          </a:ln>
        </p:spPr>
        <p:txBody>
          <a:bodyPr wrap="none" anchor="ctr"/>
          <a:lstStyle/>
          <a:p>
            <a:pPr algn="l" defTabSz="784225" rtl="0"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acl 2001</a:t>
            </a:r>
          </a:p>
          <a:p>
            <a:pPr algn="l" defTabSz="784225" rtl="0"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règle 0 autoriser la source 1.1.1.1 0</a:t>
            </a:r>
          </a:p>
          <a:p>
            <a:pPr algn="l" defTabSz="784225" rtl="0"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règle 1</a:t>
            </a:r>
            <a:r>
              <a:rPr lang="en-US" altLang="zh-CN" sz="1800" dirty="0">
                <a:solidFill>
                  <a:srgbClr val="C00000"/>
                </a:solidFill>
                <a:latin typeface="+mn-lt"/>
                <a:ea typeface="+mn-ea"/>
                <a:cs typeface="Courier New" panose="02070309020205020404" pitchFamily="49" charset="0"/>
                <a:sym typeface="FrutigerNext LT Regular" pitchFamily="34" charset="0"/>
              </a:rPr>
              <a:t>refuser</a:t>
            </a:r>
            <a:r>
              <a:rPr lang="en-US" altLang="zh-CN" sz="1800" dirty="0">
                <a:solidFill>
                  <a:srgbClr val="000000"/>
                </a:solidFill>
                <a:latin typeface="+mn-lt"/>
                <a:ea typeface="+mn-ea"/>
                <a:cs typeface="Courier New" panose="02070309020205020404" pitchFamily="49" charset="0"/>
                <a:sym typeface="FrutigerNext LT Regular" pitchFamily="34" charset="0"/>
              </a:rPr>
              <a:t>source 1.1.1.0 0</a:t>
            </a:r>
          </a:p>
          <a:p>
            <a:pPr algn="l" defTabSz="784225" rtl="0"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règle 2 autoriser la source 1.1.0.0 0.0.255.0</a:t>
            </a:r>
          </a:p>
          <a:p>
            <a:pPr algn="l" defTabSz="784225" rtl="0"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règle 3</a:t>
            </a:r>
            <a:r>
              <a:rPr lang="en-US" altLang="zh-CN" sz="1800" dirty="0">
                <a:solidFill>
                  <a:srgbClr val="C00000"/>
                </a:solidFill>
                <a:latin typeface="+mn-lt"/>
                <a:ea typeface="+mn-ea"/>
                <a:cs typeface="Courier New" panose="02070309020205020404" pitchFamily="49" charset="0"/>
                <a:sym typeface="FrutigerNext LT Regular" pitchFamily="34" charset="0"/>
              </a:rPr>
              <a:t>refuser</a:t>
            </a:r>
            <a:r>
              <a:rPr lang="en-US" altLang="zh-CN" sz="1800" dirty="0">
                <a:solidFill>
                  <a:srgbClr val="000000"/>
                </a:solidFill>
                <a:latin typeface="+mn-lt"/>
                <a:ea typeface="+mn-ea"/>
                <a:cs typeface="Courier New" panose="02070309020205020404" pitchFamily="49" charset="0"/>
                <a:sym typeface="FrutigerNext LT Regular" pitchFamily="34" charset="0"/>
              </a:rPr>
              <a:t>source quelconque</a:t>
            </a:r>
          </a:p>
        </p:txBody>
      </p:sp>
      <p:sp>
        <p:nvSpPr>
          <p:cNvPr id="30724" name="TextBox 4"/>
          <p:cNvSpPr txBox="1">
            <a:spLocks noChangeArrowheads="1"/>
          </p:cNvSpPr>
          <p:nvPr/>
        </p:nvSpPr>
        <p:spPr bwMode="auto">
          <a:xfrm>
            <a:off x="3000376" y="3578225"/>
            <a:ext cx="1439863" cy="2154238"/>
          </a:xfrm>
          <a:prstGeom prst="rect">
            <a:avLst/>
          </a:prstGeom>
          <a:noFill/>
          <a:ln w="9525">
            <a:noFill/>
            <a:miter lim="800000"/>
            <a:headEnd/>
            <a:tailEnd/>
          </a:ln>
        </p:spPr>
        <p:txBody>
          <a:bodyPr lIns="0" tIns="0" rIns="0" bIns="0">
            <a:spAutoFit/>
          </a:bodyPr>
          <a:lstStyle/>
          <a:p>
            <a:pPr algn="l" rtl="0" eaLnBrk="0" fontAlgn="t" hangingPunct="0">
              <a:buSzPct val="100000"/>
            </a:pPr>
            <a:r>
              <a:rPr lang="en-US" altLang="zh-CN" sz="2000" dirty="0">
                <a:solidFill>
                  <a:srgbClr val="000000"/>
                </a:solidFill>
                <a:latin typeface="+mn-lt"/>
                <a:ea typeface="+mn-ea"/>
                <a:sym typeface="FrutigerNext LT Regular" pitchFamily="34" charset="0"/>
              </a:rPr>
              <a:t>1.1.1.1/32</a:t>
            </a:r>
          </a:p>
          <a:p>
            <a:pPr algn="l" rtl="0" eaLnBrk="0" fontAlgn="t" hangingPunct="0">
              <a:buSzPct val="100000"/>
            </a:pPr>
            <a:endParaRPr lang="en-US" altLang="zh-CN" sz="2000" dirty="0">
              <a:solidFill>
                <a:srgbClr val="000000"/>
              </a:solidFill>
              <a:latin typeface="+mn-lt"/>
              <a:ea typeface="+mn-ea"/>
              <a:sym typeface="FrutigerNext LT Regular" pitchFamily="34" charset="0"/>
            </a:endParaRPr>
          </a:p>
          <a:p>
            <a:pPr algn="l" rtl="0" eaLnBrk="0" fontAlgn="t" hangingPunct="0">
              <a:buSzPct val="100000"/>
            </a:pPr>
            <a:r>
              <a:rPr lang="en-US" altLang="zh-CN" sz="2000" dirty="0">
                <a:solidFill>
                  <a:srgbClr val="000000"/>
                </a:solidFill>
                <a:latin typeface="+mn-lt"/>
                <a:ea typeface="+mn-ea"/>
                <a:sym typeface="FrutigerNext LT Regular" pitchFamily="34" charset="0"/>
              </a:rPr>
              <a:t>1.1.1.0/24</a:t>
            </a:r>
          </a:p>
          <a:p>
            <a:pPr algn="l" rtl="0" eaLnBrk="0" fontAlgn="t" hangingPunct="0">
              <a:buSzPct val="100000"/>
            </a:pPr>
            <a:endParaRPr lang="en-US" altLang="zh-CN" sz="2000" dirty="0">
              <a:solidFill>
                <a:srgbClr val="000000"/>
              </a:solidFill>
              <a:latin typeface="+mn-lt"/>
              <a:ea typeface="+mn-ea"/>
              <a:sym typeface="FrutigerNext LT Regular" pitchFamily="34" charset="0"/>
            </a:endParaRPr>
          </a:p>
          <a:p>
            <a:pPr algn="l" rtl="0" eaLnBrk="0" fontAlgn="t" hangingPunct="0">
              <a:buSzPct val="100000"/>
            </a:pPr>
            <a:r>
              <a:rPr lang="en-US" altLang="zh-CN" sz="2000" dirty="0">
                <a:solidFill>
                  <a:srgbClr val="000000"/>
                </a:solidFill>
                <a:latin typeface="+mn-lt"/>
                <a:ea typeface="+mn-ea"/>
                <a:sym typeface="FrutigerNext LT Regular" pitchFamily="34" charset="0"/>
              </a:rPr>
              <a:t>1.1.0.0/16</a:t>
            </a:r>
          </a:p>
          <a:p>
            <a:pPr algn="l" rtl="0" eaLnBrk="0" fontAlgn="t" hangingPunct="0">
              <a:buSzPct val="100000"/>
            </a:pPr>
            <a:endParaRPr lang="en-US" altLang="zh-CN" sz="2000" dirty="0">
              <a:solidFill>
                <a:srgbClr val="000000"/>
              </a:solidFill>
              <a:latin typeface="+mn-lt"/>
              <a:ea typeface="+mn-ea"/>
              <a:sym typeface="FrutigerNext LT Regular" pitchFamily="34" charset="0"/>
            </a:endParaRPr>
          </a:p>
          <a:p>
            <a:pPr algn="l" rtl="0" eaLnBrk="0" fontAlgn="t" hangingPunct="0">
              <a:buSzPct val="100000"/>
            </a:pPr>
            <a:r>
              <a:rPr lang="en-US" altLang="zh-CN" sz="2000" dirty="0">
                <a:solidFill>
                  <a:srgbClr val="000000"/>
                </a:solidFill>
                <a:latin typeface="+mn-lt"/>
                <a:ea typeface="+mn-ea"/>
                <a:sym typeface="FrutigerNext LT Regular" pitchFamily="34" charset="0"/>
              </a:rPr>
              <a:t>1.0.0.0/8</a:t>
            </a:r>
          </a:p>
        </p:txBody>
      </p:sp>
      <p:sp>
        <p:nvSpPr>
          <p:cNvPr id="16" name="TextBox 7"/>
          <p:cNvSpPr txBox="1">
            <a:spLocks noChangeArrowheads="1"/>
          </p:cNvSpPr>
          <p:nvPr/>
        </p:nvSpPr>
        <p:spPr bwMode="auto">
          <a:xfrm>
            <a:off x="7572376" y="3586164"/>
            <a:ext cx="1439863" cy="922337"/>
          </a:xfrm>
          <a:prstGeom prst="rect">
            <a:avLst/>
          </a:prstGeom>
          <a:noFill/>
          <a:ln w="9525">
            <a:noFill/>
            <a:miter lim="800000"/>
            <a:headEnd/>
            <a:tailEnd/>
          </a:ln>
        </p:spPr>
        <p:txBody>
          <a:bodyPr lIns="0" tIns="0" rIns="0" bIns="0">
            <a:spAutoFit/>
          </a:bodyPr>
          <a:lstStyle/>
          <a:p>
            <a:pPr algn="l" rtl="0" eaLnBrk="0" fontAlgn="t" hangingPunct="0">
              <a:buSzPct val="100000"/>
            </a:pPr>
            <a:r>
              <a:rPr lang="en-US" altLang="zh-CN" sz="2000" b="1" dirty="0">
                <a:solidFill>
                  <a:srgbClr val="000000"/>
                </a:solidFill>
                <a:latin typeface="+mn-lt"/>
                <a:ea typeface="+mn-ea"/>
                <a:sym typeface="FrutigerNext LT Regular" pitchFamily="34" charset="0"/>
              </a:rPr>
              <a:t>1.1.1.1/32</a:t>
            </a:r>
          </a:p>
          <a:p>
            <a:pPr algn="l" rtl="0" eaLnBrk="0" fontAlgn="t" hangingPunct="0">
              <a:buSzPct val="100000"/>
            </a:pPr>
            <a:endParaRPr lang="en-US" altLang="zh-CN" sz="2000" b="1" dirty="0">
              <a:solidFill>
                <a:srgbClr val="000000"/>
              </a:solidFill>
              <a:latin typeface="+mn-lt"/>
              <a:ea typeface="+mn-ea"/>
              <a:sym typeface="FrutigerNext LT Regular" pitchFamily="34" charset="0"/>
            </a:endParaRPr>
          </a:p>
          <a:p>
            <a:pPr algn="l" rtl="0" eaLnBrk="0" fontAlgn="t" hangingPunct="0">
              <a:buSzPct val="100000"/>
            </a:pPr>
            <a:r>
              <a:rPr lang="en-US" altLang="zh-CN" sz="2000" b="1" dirty="0">
                <a:solidFill>
                  <a:srgbClr val="000000"/>
                </a:solidFill>
                <a:latin typeface="+mn-lt"/>
                <a:ea typeface="+mn-ea"/>
                <a:sym typeface="FrutigerNext LT Regular" pitchFamily="34" charset="0"/>
              </a:rPr>
              <a:t>1.1.0.0/16</a:t>
            </a:r>
          </a:p>
        </p:txBody>
      </p:sp>
    </p:spTree>
    <p:extLst>
      <p:ext uri="{BB962C8B-B14F-4D97-AF65-F5344CB8AC3E}">
        <p14:creationId xmlns:p14="http://schemas.microsoft.com/office/powerpoint/2010/main" val="1168600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pPr algn="l" rtl="0"/>
            <a:r>
              <a:rPr lang="en-US" altLang="zh-CN" dirty="0"/>
              <a:t>Application ACLExemple (3)</a:t>
            </a:r>
            <a:endParaRPr lang="zh-CN" altLang="en-US" dirty="0"/>
          </a:p>
        </p:txBody>
      </p:sp>
      <p:sp>
        <p:nvSpPr>
          <p:cNvPr id="31747" name="AutoShape 24"/>
          <p:cNvSpPr>
            <a:spLocks noChangeArrowheads="1"/>
          </p:cNvSpPr>
          <p:nvPr/>
        </p:nvSpPr>
        <p:spPr bwMode="auto">
          <a:xfrm>
            <a:off x="2783681" y="1345336"/>
            <a:ext cx="5761038" cy="973137"/>
          </a:xfrm>
          <a:prstGeom prst="rightArrow">
            <a:avLst>
              <a:gd name="adj1" fmla="val 77954"/>
              <a:gd name="adj2" fmla="val 44291"/>
            </a:avLst>
          </a:prstGeom>
          <a:noFill/>
          <a:ln w="9525" algn="ctr">
            <a:solidFill>
              <a:schemeClr val="tx1"/>
            </a:solidFill>
            <a:miter lim="800000"/>
            <a:headEnd/>
            <a:tailEnd/>
          </a:ln>
        </p:spPr>
        <p:txBody>
          <a:bodyPr wrap="none" anchor="ctr"/>
          <a:lstStyle/>
          <a:p>
            <a:pPr algn="l" defTabSz="784225" rtl="0"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acl 2001</a:t>
            </a:r>
          </a:p>
          <a:p>
            <a:pPr algn="l" defTabSz="784225" rtl="0"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règle 0 autoriser la source 1.1.1.0 0</a:t>
            </a:r>
          </a:p>
        </p:txBody>
      </p:sp>
      <p:sp>
        <p:nvSpPr>
          <p:cNvPr id="31748" name="TextBox 4"/>
          <p:cNvSpPr txBox="1">
            <a:spLocks noChangeArrowheads="1"/>
          </p:cNvSpPr>
          <p:nvPr/>
        </p:nvSpPr>
        <p:spPr bwMode="auto">
          <a:xfrm>
            <a:off x="3000376" y="2890839"/>
            <a:ext cx="1439863" cy="2770187"/>
          </a:xfrm>
          <a:prstGeom prst="rect">
            <a:avLst/>
          </a:prstGeom>
          <a:noFill/>
          <a:ln w="9525">
            <a:noFill/>
            <a:miter lim="800000"/>
            <a:headEnd/>
            <a:tailEnd/>
          </a:ln>
        </p:spPr>
        <p:txBody>
          <a:bodyPr lIns="0" tIns="0" rIns="0" bIns="0">
            <a:spAutoFit/>
          </a:bodyPr>
          <a:lstStyle/>
          <a:p>
            <a:pPr algn="l" rtl="0" eaLnBrk="0" fontAlgn="t" hangingPunct="0">
              <a:buSzPct val="100000"/>
            </a:pPr>
            <a:r>
              <a:rPr lang="en-US" altLang="zh-CN" sz="2000" dirty="0">
                <a:solidFill>
                  <a:srgbClr val="000000"/>
                </a:solidFill>
                <a:latin typeface="+mn-lt"/>
                <a:ea typeface="+mn-ea"/>
                <a:sym typeface="FrutigerNext LT Regular" pitchFamily="34" charset="0"/>
              </a:rPr>
              <a:t>1.1.1.1/32</a:t>
            </a:r>
          </a:p>
          <a:p>
            <a:pPr algn="l" rtl="0" eaLnBrk="0" fontAlgn="t" hangingPunct="0">
              <a:buSzPct val="100000"/>
            </a:pPr>
            <a:endParaRPr lang="en-US" altLang="zh-CN" sz="2000" dirty="0">
              <a:solidFill>
                <a:srgbClr val="000000"/>
              </a:solidFill>
              <a:latin typeface="+mn-lt"/>
              <a:ea typeface="+mn-ea"/>
              <a:sym typeface="FrutigerNext LT Regular" pitchFamily="34" charset="0"/>
            </a:endParaRPr>
          </a:p>
          <a:p>
            <a:pPr algn="l" rtl="0" eaLnBrk="0" fontAlgn="t" hangingPunct="0">
              <a:buSzPct val="100000"/>
            </a:pPr>
            <a:r>
              <a:rPr lang="en-US" altLang="zh-CN" sz="2000" dirty="0">
                <a:solidFill>
                  <a:srgbClr val="000000"/>
                </a:solidFill>
                <a:latin typeface="+mn-lt"/>
                <a:ea typeface="+mn-ea"/>
                <a:sym typeface="FrutigerNext LT Regular" pitchFamily="34" charset="0"/>
              </a:rPr>
              <a:t>1.1.1.0/24</a:t>
            </a:r>
          </a:p>
          <a:p>
            <a:pPr algn="l" rtl="0" eaLnBrk="0" fontAlgn="t" hangingPunct="0">
              <a:buSzPct val="100000"/>
            </a:pPr>
            <a:endParaRPr lang="en-US" altLang="zh-CN" sz="2000" dirty="0">
              <a:solidFill>
                <a:srgbClr val="000000"/>
              </a:solidFill>
              <a:latin typeface="+mn-lt"/>
              <a:ea typeface="+mn-ea"/>
              <a:sym typeface="FrutigerNext LT Regular" pitchFamily="34" charset="0"/>
            </a:endParaRPr>
          </a:p>
          <a:p>
            <a:pPr algn="l" rtl="0" eaLnBrk="0" fontAlgn="t" hangingPunct="0">
              <a:buSzPct val="100000"/>
            </a:pPr>
            <a:r>
              <a:rPr lang="en-US" altLang="zh-CN" sz="2000" dirty="0">
                <a:solidFill>
                  <a:srgbClr val="000000"/>
                </a:solidFill>
                <a:latin typeface="+mn-lt"/>
                <a:ea typeface="+mn-ea"/>
                <a:sym typeface="FrutigerNext LT Regular" pitchFamily="34" charset="0"/>
              </a:rPr>
              <a:t>1.1.1.0/25</a:t>
            </a:r>
          </a:p>
          <a:p>
            <a:pPr algn="l" rtl="0" eaLnBrk="0" fontAlgn="t" hangingPunct="0">
              <a:buSzPct val="100000"/>
            </a:pPr>
            <a:endParaRPr lang="en-US" altLang="zh-CN" sz="2000" dirty="0">
              <a:solidFill>
                <a:srgbClr val="000000"/>
              </a:solidFill>
              <a:latin typeface="+mn-lt"/>
              <a:ea typeface="+mn-ea"/>
              <a:sym typeface="FrutigerNext LT Regular" pitchFamily="34" charset="0"/>
            </a:endParaRPr>
          </a:p>
          <a:p>
            <a:pPr algn="l" rtl="0" eaLnBrk="0" fontAlgn="t" hangingPunct="0">
              <a:buSzPct val="100000"/>
            </a:pPr>
            <a:r>
              <a:rPr lang="en-US" altLang="zh-CN" sz="2000" dirty="0">
                <a:solidFill>
                  <a:srgbClr val="000000"/>
                </a:solidFill>
                <a:latin typeface="+mn-lt"/>
                <a:ea typeface="+mn-ea"/>
                <a:sym typeface="FrutigerNext LT Regular" pitchFamily="34" charset="0"/>
              </a:rPr>
              <a:t>1.1.0.0/16</a:t>
            </a:r>
          </a:p>
          <a:p>
            <a:pPr algn="l" rtl="0" eaLnBrk="0" fontAlgn="t" hangingPunct="0">
              <a:buSzPct val="100000"/>
            </a:pPr>
            <a:endParaRPr lang="en-US" altLang="zh-CN" sz="2000" dirty="0">
              <a:solidFill>
                <a:srgbClr val="000000"/>
              </a:solidFill>
              <a:latin typeface="+mn-lt"/>
              <a:ea typeface="+mn-ea"/>
              <a:sym typeface="FrutigerNext LT Regular" pitchFamily="34" charset="0"/>
            </a:endParaRPr>
          </a:p>
          <a:p>
            <a:pPr algn="l" rtl="0" eaLnBrk="0" fontAlgn="t" hangingPunct="0">
              <a:buSzPct val="100000"/>
            </a:pPr>
            <a:r>
              <a:rPr lang="en-US" altLang="zh-CN" sz="2000" dirty="0">
                <a:solidFill>
                  <a:srgbClr val="000000"/>
                </a:solidFill>
                <a:latin typeface="+mn-lt"/>
                <a:ea typeface="+mn-ea"/>
                <a:sym typeface="FrutigerNext LT Regular" pitchFamily="34" charset="0"/>
              </a:rPr>
              <a:t>1.0.0.0/8</a:t>
            </a:r>
          </a:p>
        </p:txBody>
      </p:sp>
      <p:sp>
        <p:nvSpPr>
          <p:cNvPr id="8" name="TextBox 7"/>
          <p:cNvSpPr txBox="1">
            <a:spLocks noChangeArrowheads="1"/>
          </p:cNvSpPr>
          <p:nvPr/>
        </p:nvSpPr>
        <p:spPr bwMode="auto">
          <a:xfrm>
            <a:off x="7751763" y="2938464"/>
            <a:ext cx="1439862" cy="922337"/>
          </a:xfrm>
          <a:prstGeom prst="rect">
            <a:avLst/>
          </a:prstGeom>
          <a:noFill/>
          <a:ln w="9525">
            <a:noFill/>
            <a:miter lim="800000"/>
            <a:headEnd/>
            <a:tailEnd/>
          </a:ln>
        </p:spPr>
        <p:txBody>
          <a:bodyPr lIns="0" tIns="0" rIns="0" bIns="0">
            <a:spAutoFit/>
          </a:bodyPr>
          <a:lstStyle/>
          <a:p>
            <a:pPr algn="l" rtl="0" eaLnBrk="0" fontAlgn="t" hangingPunct="0">
              <a:buSzPct val="100000"/>
            </a:pPr>
            <a:r>
              <a:rPr lang="en-US" altLang="zh-CN" sz="2000" b="1" dirty="0">
                <a:solidFill>
                  <a:srgbClr val="000000"/>
                </a:solidFill>
                <a:latin typeface="+mn-lt"/>
                <a:ea typeface="+mn-ea"/>
                <a:sym typeface="FrutigerNext LT Regular" pitchFamily="34" charset="0"/>
              </a:rPr>
              <a:t>1.1.1.0/24</a:t>
            </a:r>
          </a:p>
          <a:p>
            <a:pPr algn="l" rtl="0" eaLnBrk="0" fontAlgn="t" hangingPunct="0">
              <a:buSzPct val="100000"/>
            </a:pPr>
            <a:endParaRPr lang="en-US" altLang="zh-CN" sz="2000" b="1" dirty="0">
              <a:solidFill>
                <a:srgbClr val="000000"/>
              </a:solidFill>
              <a:latin typeface="+mn-lt"/>
              <a:ea typeface="+mn-ea"/>
              <a:sym typeface="FrutigerNext LT Regular" pitchFamily="34" charset="0"/>
            </a:endParaRPr>
          </a:p>
          <a:p>
            <a:pPr algn="l" rtl="0" eaLnBrk="0" fontAlgn="t" hangingPunct="0">
              <a:buSzPct val="100000"/>
            </a:pPr>
            <a:r>
              <a:rPr lang="en-US" altLang="zh-CN" sz="2000" b="1" dirty="0">
                <a:solidFill>
                  <a:srgbClr val="000000"/>
                </a:solidFill>
                <a:latin typeface="+mn-lt"/>
                <a:ea typeface="+mn-ea"/>
                <a:sym typeface="FrutigerNext LT Regular" pitchFamily="34" charset="0"/>
              </a:rPr>
              <a:t>1.1.1.0/25</a:t>
            </a:r>
          </a:p>
        </p:txBody>
      </p:sp>
      <p:sp>
        <p:nvSpPr>
          <p:cNvPr id="9" name="TextBox 6"/>
          <p:cNvSpPr txBox="1">
            <a:spLocks noChangeArrowheads="1"/>
          </p:cNvSpPr>
          <p:nvPr/>
        </p:nvSpPr>
        <p:spPr bwMode="auto">
          <a:xfrm>
            <a:off x="5771964" y="5661026"/>
            <a:ext cx="3671888" cy="615553"/>
          </a:xfrm>
          <a:prstGeom prst="rect">
            <a:avLst/>
          </a:prstGeom>
          <a:noFill/>
          <a:ln w="9525">
            <a:noFill/>
            <a:miter lim="800000"/>
            <a:headEnd/>
            <a:tailEnd/>
          </a:ln>
        </p:spPr>
        <p:txBody>
          <a:bodyPr lIns="0" tIns="0" rIns="0" bIns="0">
            <a:spAutoFit/>
          </a:bodyPr>
          <a:lstStyle/>
          <a:p>
            <a:pPr algn="l" rtl="0" eaLnBrk="0" fontAlgn="t" hangingPunct="0">
              <a:buSzPct val="100000"/>
            </a:pPr>
            <a:r>
              <a:rPr lang="en-US" altLang="zh-CN" sz="2000" b="1" dirty="0">
                <a:solidFill>
                  <a:srgbClr val="000000"/>
                </a:solidFill>
                <a:latin typeface="+mn-lt"/>
                <a:ea typeface="+mn-ea"/>
                <a:sym typeface="FrutigerNext LT Regular" pitchFamily="34" charset="0"/>
              </a:rPr>
              <a:t>Question:</a:t>
            </a:r>
            <a:r>
              <a:rPr lang="en-US" altLang="zh-CN" sz="2000" dirty="0">
                <a:solidFill>
                  <a:srgbClr val="000000"/>
                </a:solidFill>
                <a:latin typeface="+mn-lt"/>
                <a:ea typeface="+mn-ea"/>
                <a:sym typeface="FrutigerNext LT Regular" pitchFamily="34" charset="0"/>
              </a:rPr>
              <a:t>Comment filtrer la route 1.1.1.0/25 ?</a:t>
            </a:r>
          </a:p>
        </p:txBody>
      </p:sp>
      <p:cxnSp>
        <p:nvCxnSpPr>
          <p:cNvPr id="10" name="直接箭头连接符 9"/>
          <p:cNvCxnSpPr/>
          <p:nvPr/>
        </p:nvCxnSpPr>
        <p:spPr>
          <a:xfrm flipH="1" flipV="1">
            <a:off x="4079875" y="4365626"/>
            <a:ext cx="1511300" cy="1008063"/>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1" name="AutoShape 4"/>
          <p:cNvSpPr>
            <a:spLocks noChangeArrowheads="1"/>
          </p:cNvSpPr>
          <p:nvPr/>
        </p:nvSpPr>
        <p:spPr bwMode="auto">
          <a:xfrm>
            <a:off x="5664200" y="4221164"/>
            <a:ext cx="3240088" cy="812655"/>
          </a:xfrm>
          <a:prstGeom prst="roundRect">
            <a:avLst>
              <a:gd name="adj" fmla="val 19009"/>
            </a:avLst>
          </a:prstGeom>
          <a:solidFill>
            <a:schemeClr val="bg1"/>
          </a:solidFill>
          <a:ln w="3175" algn="ctr">
            <a:solidFill>
              <a:srgbClr val="777777"/>
            </a:solidFill>
            <a:round/>
            <a:headEnd/>
            <a:tailEnd/>
          </a:ln>
        </p:spPr>
        <p:txBody>
          <a:bodyPr lIns="0" tIns="0" rIns="0" bIns="0" anchor="ctr" anchorCtr="1"/>
          <a:lstStyle/>
          <a:p>
            <a:pPr algn="l" rtl="0" eaLnBrk="0" fontAlgn="t" hangingPunct="0">
              <a:buSzPct val="100000"/>
            </a:pPr>
            <a:r>
              <a:rPr lang="en-US" altLang="zh-CN" sz="1600" dirty="0">
                <a:solidFill>
                  <a:srgbClr val="000000"/>
                </a:solidFill>
                <a:latin typeface="+mn-lt"/>
                <a:ea typeface="+mn-ea"/>
                <a:sym typeface="FrutigerNext LT Regular" pitchFamily="34" charset="0"/>
              </a:rPr>
              <a:t>Les listes de contrôle d'accès (ACL) peuvent faire correspondre les paquets de manière flexible aux préfixes d'adresse IP, mais ne peuvent pas faire correspondre la longueur du masque.</a:t>
            </a:r>
          </a:p>
        </p:txBody>
      </p:sp>
    </p:spTree>
    <p:extLst>
      <p:ext uri="{BB962C8B-B14F-4D97-AF65-F5344CB8AC3E}">
        <p14:creationId xmlns:p14="http://schemas.microsoft.com/office/powerpoint/2010/main" val="1462131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algn="l" rtl="0"/>
            <a:r>
              <a:rPr lang="en-US" altLang="zh-CN" dirty="0">
                <a:sym typeface="FrutigerNext LT Regular" pitchFamily="34" charset="0"/>
              </a:rPr>
              <a:t>La liste de préfixes IP peut correspondre à la fois au préfixe de l'adresse IP et à la longueur du masque.</a:t>
            </a:r>
          </a:p>
          <a:p>
            <a:pPr algn="l" rtl="0"/>
            <a:r>
              <a:rPr lang="en-US" altLang="zh-CN" dirty="0">
                <a:sym typeface="FrutigerNext LT Regular" pitchFamily="34" charset="0"/>
              </a:rPr>
              <a:t>La liste de préfixes IP ne peut pas filtrer les paquets IP, mais uniquement les informations de routage.</a:t>
            </a:r>
          </a:p>
          <a:p>
            <a:pPr algn="l" rtl="0"/>
            <a:endParaRPr lang="zh-CN" altLang="en-US" dirty="0"/>
          </a:p>
        </p:txBody>
      </p:sp>
      <p:sp>
        <p:nvSpPr>
          <p:cNvPr id="4" name="文本占位符 3"/>
          <p:cNvSpPr>
            <a:spLocks noGrp="1"/>
          </p:cNvSpPr>
          <p:nvPr>
            <p:ph type="body" sz="quarter" idx="12"/>
          </p:nvPr>
        </p:nvSpPr>
        <p:spPr/>
        <p:txBody>
          <a:bodyPr/>
          <a:lstStyle/>
          <a:p>
            <a:pPr algn="l" rtl="0"/>
            <a:r>
              <a:rPr lang="en-US" altLang="zh-CN"/>
              <a:t>Exemple d'application de liste de préfixes IP (1)</a:t>
            </a:r>
            <a:endParaRPr lang="zh-CN" altLang="en-US" dirty="0"/>
          </a:p>
        </p:txBody>
      </p:sp>
      <p:sp>
        <p:nvSpPr>
          <p:cNvPr id="32773" name="AutoShape 4"/>
          <p:cNvSpPr>
            <a:spLocks noChangeArrowheads="1"/>
          </p:cNvSpPr>
          <p:nvPr/>
        </p:nvSpPr>
        <p:spPr bwMode="auto">
          <a:xfrm>
            <a:off x="2495549" y="3573016"/>
            <a:ext cx="7345362" cy="1512888"/>
          </a:xfrm>
          <a:prstGeom prst="roundRect">
            <a:avLst>
              <a:gd name="adj" fmla="val 19009"/>
            </a:avLst>
          </a:prstGeom>
          <a:solidFill>
            <a:schemeClr val="bg1"/>
          </a:solidFill>
          <a:ln w="3175" algn="ctr">
            <a:solidFill>
              <a:srgbClr val="777777"/>
            </a:solidFill>
            <a:round/>
            <a:headEnd/>
            <a:tailEnd/>
          </a:ln>
        </p:spPr>
        <p:txBody>
          <a:bodyPr lIns="0" tIns="0" rIns="0" bIns="0" anchor="ctr" anchorCtr="1"/>
          <a:lstStyle/>
          <a:p>
            <a:pPr algn="ctr" rtl="0" eaLnBrk="0" fontAlgn="t" hangingPunct="0">
              <a:buSzPct val="100000"/>
            </a:pPr>
            <a:r>
              <a:rPr lang="en-US" altLang="zh-CN" sz="1800" b="1" dirty="0">
                <a:solidFill>
                  <a:srgbClr val="000000"/>
                </a:solidFill>
                <a:latin typeface="+mn-lt"/>
                <a:cs typeface="Courier New" panose="02070309020205020404" pitchFamily="49" charset="0"/>
                <a:sym typeface="FrutigerNext LT Regular" pitchFamily="34" charset="0"/>
              </a:rPr>
              <a:t>test du préfixe IP : index 10, autoriser 10.0.0.0, 16 supérieur ou égal, 24 inférieur ou égal, 28</a:t>
            </a:r>
          </a:p>
          <a:p>
            <a:pPr algn="ctr" rtl="0" eaLnBrk="0" fontAlgn="t" hangingPunct="0">
              <a:buSzPct val="100000"/>
            </a:pPr>
            <a:r>
              <a:rPr lang="en-US" altLang="zh-CN" sz="1800" dirty="0">
                <a:solidFill>
                  <a:srgbClr val="000000"/>
                </a:solidFill>
                <a:latin typeface="+mn-lt"/>
                <a:sym typeface="FrutigerNext LT Regular" pitchFamily="34" charset="0"/>
              </a:rPr>
              <a:t>IP</a:t>
            </a:r>
            <a:r>
              <a:rPr lang="en-US" altLang="zh-CN" sz="1800" dirty="0">
                <a:solidFill>
                  <a:srgbClr val="000000"/>
                </a:solidFill>
                <a:latin typeface="+mn-lt"/>
                <a:ea typeface="华文细黑" pitchFamily="2" charset="-122"/>
                <a:sym typeface="FrutigerNext LT Regular" pitchFamily="34" charset="0"/>
              </a:rPr>
              <a:t>plage d'adresses</a:t>
            </a:r>
            <a:r>
              <a:rPr lang="en-US" altLang="zh-CN" sz="1800" dirty="0">
                <a:solidFill>
                  <a:srgbClr val="000000"/>
                </a:solidFill>
                <a:latin typeface="+mn-lt"/>
                <a:sym typeface="FrutigerNext LT Regular" pitchFamily="34" charset="0"/>
              </a:rPr>
              <a:t>: 10.0.0.0 – 10.0.xx</a:t>
            </a:r>
          </a:p>
          <a:p>
            <a:pPr algn="ctr" rtl="0" eaLnBrk="0" fontAlgn="t" hangingPunct="0">
              <a:buSzPct val="100000"/>
            </a:pPr>
            <a:r>
              <a:rPr lang="en-US" altLang="zh-CN" sz="1800" dirty="0">
                <a:solidFill>
                  <a:srgbClr val="000000"/>
                </a:solidFill>
                <a:latin typeface="+mn-lt"/>
                <a:sym typeface="FrutigerNext LT Regular" pitchFamily="34" charset="0"/>
              </a:rPr>
              <a:t>24&lt;=</a:t>
            </a:r>
            <a:r>
              <a:rPr lang="en-US" altLang="zh-CN" sz="1800" dirty="0">
                <a:solidFill>
                  <a:srgbClr val="000000"/>
                </a:solidFill>
                <a:latin typeface="+mn-lt"/>
                <a:ea typeface="华文细黑" pitchFamily="2" charset="-122"/>
                <a:sym typeface="FrutigerNext LT Regular" pitchFamily="34" charset="0"/>
              </a:rPr>
              <a:t>Longueur du masque</a:t>
            </a:r>
            <a:r>
              <a:rPr lang="en-US" altLang="zh-CN" sz="1800" dirty="0">
                <a:solidFill>
                  <a:srgbClr val="000000"/>
                </a:solidFill>
                <a:latin typeface="+mn-lt"/>
                <a:sym typeface="FrutigerNext LT Regular" pitchFamily="34" charset="0"/>
              </a:rPr>
              <a:t>&lt;=28</a:t>
            </a:r>
          </a:p>
          <a:p>
            <a:pPr algn="ctr" rtl="0" eaLnBrk="0" fontAlgn="t" hangingPunct="0">
              <a:buSzPct val="100000"/>
            </a:pPr>
            <a:r>
              <a:rPr lang="en-US" altLang="zh-CN" sz="1800" dirty="0">
                <a:solidFill>
                  <a:srgbClr val="000000"/>
                </a:solidFill>
                <a:latin typeface="+mn-lt"/>
                <a:ea typeface="华文细黑" pitchFamily="2" charset="-122"/>
                <a:sym typeface="FrutigerNext LT Regular" pitchFamily="34" charset="0"/>
              </a:rPr>
              <a:t>Exemple</a:t>
            </a:r>
            <a:r>
              <a:rPr lang="en-US" altLang="zh-CN" sz="1800" dirty="0">
                <a:solidFill>
                  <a:srgbClr val="000000"/>
                </a:solidFill>
                <a:latin typeface="+mn-lt"/>
                <a:sym typeface="FrutigerNext LT Regular" pitchFamily="34" charset="0"/>
              </a:rPr>
              <a:t>: 10.0.1.0/24, 10.0.2.0/25, 10.0.2.192/26</a:t>
            </a:r>
          </a:p>
        </p:txBody>
      </p:sp>
    </p:spTree>
    <p:extLst>
      <p:ext uri="{BB962C8B-B14F-4D97-AF65-F5344CB8AC3E}">
        <p14:creationId xmlns:p14="http://schemas.microsoft.com/office/powerpoint/2010/main" val="3279336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0488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pPr algn="l" rtl="0"/>
            <a:r>
              <a:rPr lang="en-US" altLang="zh-CN" dirty="0"/>
              <a:t>Demande de liste de préfixes IPExemple (2)</a:t>
            </a:r>
            <a:endParaRPr lang="zh-CN" altLang="en-US" dirty="0"/>
          </a:p>
        </p:txBody>
      </p:sp>
      <p:sp>
        <p:nvSpPr>
          <p:cNvPr id="33795" name="AutoShape 24"/>
          <p:cNvSpPr>
            <a:spLocks noChangeArrowheads="1"/>
          </p:cNvSpPr>
          <p:nvPr/>
        </p:nvSpPr>
        <p:spPr bwMode="auto">
          <a:xfrm>
            <a:off x="2735263" y="1712914"/>
            <a:ext cx="6659562" cy="865187"/>
          </a:xfrm>
          <a:prstGeom prst="rightArrow">
            <a:avLst>
              <a:gd name="adj1" fmla="val 77954"/>
              <a:gd name="adj2" fmla="val 44259"/>
            </a:avLst>
          </a:prstGeom>
          <a:noFill/>
          <a:ln w="9525" algn="ctr">
            <a:solidFill>
              <a:schemeClr val="tx1"/>
            </a:solidFill>
            <a:miter lim="800000"/>
            <a:headEnd/>
            <a:tailEnd/>
          </a:ln>
        </p:spPr>
        <p:txBody>
          <a:bodyPr wrap="none" anchor="ctr"/>
          <a:lstStyle/>
          <a:p>
            <a:pPr algn="l" defTabSz="784225" rtl="0"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ip ip-prefix Pref1 index 10 autoriser 1.1.1.0 24</a:t>
            </a:r>
          </a:p>
          <a:p>
            <a:pPr algn="l" defTabSz="784225" rtl="0" eaLnBrk="0" hangingPunct="0">
              <a:buSzPct val="100000"/>
            </a:pPr>
            <a:r>
              <a:rPr lang="en-US" altLang="zh-CN" sz="1800" dirty="0">
                <a:solidFill>
                  <a:srgbClr val="000000"/>
                </a:solidFill>
                <a:latin typeface="+mn-lt"/>
                <a:ea typeface="+mn-ea"/>
                <a:cs typeface="Courier New" panose="02070309020205020404" pitchFamily="49" charset="0"/>
                <a:sym typeface="FrutigerNext LT Regular" pitchFamily="34" charset="0"/>
              </a:rPr>
              <a:t>	</a:t>
            </a:r>
            <a:r>
              <a:rPr lang="en-US" altLang="zh-CN" sz="1800" dirty="0">
                <a:solidFill>
                  <a:srgbClr val="C00000"/>
                </a:solidFill>
                <a:latin typeface="+mn-lt"/>
                <a:ea typeface="+mn-ea"/>
                <a:cs typeface="Courier New" panose="02070309020205020404" pitchFamily="49" charset="0"/>
                <a:sym typeface="FrutigerNext LT Regular" pitchFamily="34" charset="0"/>
              </a:rPr>
              <a:t>plus grand égal 24 moins égal 24</a:t>
            </a:r>
          </a:p>
        </p:txBody>
      </p:sp>
      <p:sp>
        <p:nvSpPr>
          <p:cNvPr id="33796" name="TextBox 4"/>
          <p:cNvSpPr txBox="1">
            <a:spLocks noChangeArrowheads="1"/>
          </p:cNvSpPr>
          <p:nvPr/>
        </p:nvSpPr>
        <p:spPr bwMode="auto">
          <a:xfrm>
            <a:off x="3000376" y="2890839"/>
            <a:ext cx="1439863" cy="2770187"/>
          </a:xfrm>
          <a:prstGeom prst="rect">
            <a:avLst/>
          </a:prstGeom>
          <a:noFill/>
          <a:ln w="9525">
            <a:noFill/>
            <a:miter lim="800000"/>
            <a:headEnd/>
            <a:tailEnd/>
          </a:ln>
        </p:spPr>
        <p:txBody>
          <a:bodyPr lIns="0" tIns="0" rIns="0" bIns="0">
            <a:spAutoFit/>
          </a:bodyPr>
          <a:lstStyle/>
          <a:p>
            <a:pPr algn="l" rtl="0" eaLnBrk="0" fontAlgn="t" hangingPunct="0">
              <a:buSzPct val="100000"/>
            </a:pPr>
            <a:r>
              <a:rPr lang="en-US" altLang="zh-CN" sz="2000" dirty="0">
                <a:solidFill>
                  <a:srgbClr val="000000"/>
                </a:solidFill>
                <a:latin typeface="+mn-lt"/>
                <a:ea typeface="+mn-ea"/>
                <a:sym typeface="FrutigerNext LT Regular" pitchFamily="34" charset="0"/>
              </a:rPr>
              <a:t>1.1.1.1/32</a:t>
            </a:r>
          </a:p>
          <a:p>
            <a:pPr algn="l" rtl="0" eaLnBrk="0" fontAlgn="t" hangingPunct="0">
              <a:buSzPct val="100000"/>
            </a:pPr>
            <a:endParaRPr lang="en-US" altLang="zh-CN" sz="2000" dirty="0">
              <a:solidFill>
                <a:srgbClr val="000000"/>
              </a:solidFill>
              <a:latin typeface="+mn-lt"/>
              <a:ea typeface="+mn-ea"/>
              <a:sym typeface="FrutigerNext LT Regular" pitchFamily="34" charset="0"/>
            </a:endParaRPr>
          </a:p>
          <a:p>
            <a:pPr algn="l" rtl="0" eaLnBrk="0" fontAlgn="t" hangingPunct="0">
              <a:buSzPct val="100000"/>
            </a:pPr>
            <a:r>
              <a:rPr lang="en-US" altLang="zh-CN" sz="2000" dirty="0">
                <a:solidFill>
                  <a:srgbClr val="000000"/>
                </a:solidFill>
                <a:latin typeface="+mn-lt"/>
                <a:ea typeface="+mn-ea"/>
                <a:sym typeface="FrutigerNext LT Regular" pitchFamily="34" charset="0"/>
              </a:rPr>
              <a:t>1.1.1.0/24</a:t>
            </a:r>
          </a:p>
          <a:p>
            <a:pPr algn="l" rtl="0" eaLnBrk="0" fontAlgn="t" hangingPunct="0">
              <a:buSzPct val="100000"/>
            </a:pPr>
            <a:endParaRPr lang="en-US" altLang="zh-CN" sz="2000" dirty="0">
              <a:solidFill>
                <a:srgbClr val="000000"/>
              </a:solidFill>
              <a:latin typeface="+mn-lt"/>
              <a:ea typeface="+mn-ea"/>
              <a:sym typeface="FrutigerNext LT Regular" pitchFamily="34" charset="0"/>
            </a:endParaRPr>
          </a:p>
          <a:p>
            <a:pPr algn="l" rtl="0" eaLnBrk="0" fontAlgn="t" hangingPunct="0">
              <a:buSzPct val="100000"/>
            </a:pPr>
            <a:r>
              <a:rPr lang="en-US" altLang="zh-CN" sz="2000" dirty="0">
                <a:solidFill>
                  <a:srgbClr val="000000"/>
                </a:solidFill>
                <a:latin typeface="+mn-lt"/>
                <a:ea typeface="+mn-ea"/>
                <a:sym typeface="FrutigerNext LT Regular" pitchFamily="34" charset="0"/>
              </a:rPr>
              <a:t>1.1.1.0/25</a:t>
            </a:r>
          </a:p>
          <a:p>
            <a:pPr algn="l" rtl="0" eaLnBrk="0" fontAlgn="t" hangingPunct="0">
              <a:buSzPct val="100000"/>
            </a:pPr>
            <a:endParaRPr lang="en-US" altLang="zh-CN" sz="2000" dirty="0">
              <a:solidFill>
                <a:srgbClr val="000000"/>
              </a:solidFill>
              <a:latin typeface="+mn-lt"/>
              <a:ea typeface="+mn-ea"/>
              <a:sym typeface="FrutigerNext LT Regular" pitchFamily="34" charset="0"/>
            </a:endParaRPr>
          </a:p>
          <a:p>
            <a:pPr algn="l" rtl="0" eaLnBrk="0" fontAlgn="t" hangingPunct="0">
              <a:buSzPct val="100000"/>
            </a:pPr>
            <a:r>
              <a:rPr lang="en-US" altLang="zh-CN" sz="2000" dirty="0">
                <a:solidFill>
                  <a:srgbClr val="000000"/>
                </a:solidFill>
                <a:latin typeface="+mn-lt"/>
                <a:ea typeface="+mn-ea"/>
                <a:sym typeface="FrutigerNext LT Regular" pitchFamily="34" charset="0"/>
              </a:rPr>
              <a:t>1.1.0.0/16</a:t>
            </a:r>
          </a:p>
          <a:p>
            <a:pPr algn="l" rtl="0" eaLnBrk="0" fontAlgn="t" hangingPunct="0">
              <a:buSzPct val="100000"/>
            </a:pPr>
            <a:endParaRPr lang="en-US" altLang="zh-CN" sz="2000" dirty="0">
              <a:solidFill>
                <a:srgbClr val="000000"/>
              </a:solidFill>
              <a:latin typeface="+mn-lt"/>
              <a:ea typeface="+mn-ea"/>
              <a:sym typeface="FrutigerNext LT Regular" pitchFamily="34" charset="0"/>
            </a:endParaRPr>
          </a:p>
          <a:p>
            <a:pPr algn="l" rtl="0" eaLnBrk="0" fontAlgn="t" hangingPunct="0">
              <a:buSzPct val="100000"/>
            </a:pPr>
            <a:r>
              <a:rPr lang="en-US" altLang="zh-CN" sz="2000" dirty="0">
                <a:solidFill>
                  <a:srgbClr val="000000"/>
                </a:solidFill>
                <a:latin typeface="+mn-lt"/>
                <a:ea typeface="+mn-ea"/>
                <a:sym typeface="FrutigerNext LT Regular" pitchFamily="34" charset="0"/>
              </a:rPr>
              <a:t>1.0.0.0/8</a:t>
            </a:r>
          </a:p>
        </p:txBody>
      </p:sp>
      <p:sp>
        <p:nvSpPr>
          <p:cNvPr id="12" name="TextBox 7"/>
          <p:cNvSpPr txBox="1">
            <a:spLocks noChangeArrowheads="1"/>
          </p:cNvSpPr>
          <p:nvPr/>
        </p:nvSpPr>
        <p:spPr bwMode="auto">
          <a:xfrm>
            <a:off x="7751763" y="2938464"/>
            <a:ext cx="1439862" cy="306387"/>
          </a:xfrm>
          <a:prstGeom prst="rect">
            <a:avLst/>
          </a:prstGeom>
          <a:noFill/>
          <a:ln w="9525">
            <a:noFill/>
            <a:miter lim="800000"/>
            <a:headEnd/>
            <a:tailEnd/>
          </a:ln>
        </p:spPr>
        <p:txBody>
          <a:bodyPr lIns="0" tIns="0" rIns="0" bIns="0">
            <a:spAutoFit/>
          </a:bodyPr>
          <a:lstStyle/>
          <a:p>
            <a:pPr algn="l" rtl="0" eaLnBrk="0" fontAlgn="t" hangingPunct="0">
              <a:buSzPct val="100000"/>
            </a:pPr>
            <a:r>
              <a:rPr lang="en-US" altLang="zh-CN" sz="2000" b="1" dirty="0">
                <a:solidFill>
                  <a:srgbClr val="000000"/>
                </a:solidFill>
                <a:latin typeface="+mn-lt"/>
                <a:ea typeface="+mn-ea"/>
                <a:sym typeface="FrutigerNext LT Regular" pitchFamily="34" charset="0"/>
              </a:rPr>
              <a:t>1.1.1.0/24</a:t>
            </a:r>
          </a:p>
        </p:txBody>
      </p:sp>
      <p:sp>
        <p:nvSpPr>
          <p:cNvPr id="13" name="TextBox 6"/>
          <p:cNvSpPr txBox="1">
            <a:spLocks noChangeArrowheads="1"/>
          </p:cNvSpPr>
          <p:nvPr/>
        </p:nvSpPr>
        <p:spPr bwMode="auto">
          <a:xfrm>
            <a:off x="5664200" y="5300664"/>
            <a:ext cx="3671888" cy="615553"/>
          </a:xfrm>
          <a:prstGeom prst="rect">
            <a:avLst/>
          </a:prstGeom>
          <a:noFill/>
          <a:ln w="9525">
            <a:noFill/>
            <a:miter lim="800000"/>
            <a:headEnd/>
            <a:tailEnd/>
          </a:ln>
        </p:spPr>
        <p:txBody>
          <a:bodyPr lIns="0" tIns="0" rIns="0" bIns="0">
            <a:spAutoFit/>
          </a:bodyPr>
          <a:lstStyle/>
          <a:p>
            <a:pPr algn="l" rtl="0" eaLnBrk="0" fontAlgn="t" hangingPunct="0">
              <a:buSzPct val="100000"/>
            </a:pPr>
            <a:r>
              <a:rPr lang="en-US" altLang="zh-CN" sz="2000" dirty="0">
                <a:solidFill>
                  <a:srgbClr val="000000"/>
                </a:solidFill>
                <a:latin typeface="+mn-lt"/>
                <a:ea typeface="+mn-ea"/>
                <a:sym typeface="FrutigerNext LT Regular" pitchFamily="34" charset="0"/>
              </a:rPr>
              <a:t>La route 1.1.1.0/25 sera filtrée.</a:t>
            </a:r>
          </a:p>
        </p:txBody>
      </p:sp>
      <p:cxnSp>
        <p:nvCxnSpPr>
          <p:cNvPr id="14" name="直接箭头连接符 13"/>
          <p:cNvCxnSpPr/>
          <p:nvPr/>
        </p:nvCxnSpPr>
        <p:spPr>
          <a:xfrm flipH="1" flipV="1">
            <a:off x="4079875" y="4365626"/>
            <a:ext cx="1511300" cy="1008063"/>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5" name="AutoShape 20"/>
          <p:cNvSpPr>
            <a:spLocks noChangeArrowheads="1"/>
          </p:cNvSpPr>
          <p:nvPr/>
        </p:nvSpPr>
        <p:spPr bwMode="auto">
          <a:xfrm>
            <a:off x="5988051" y="3933826"/>
            <a:ext cx="3492325" cy="700088"/>
          </a:xfrm>
          <a:prstGeom prst="wedgeRectCallout">
            <a:avLst>
              <a:gd name="adj1" fmla="val -52259"/>
              <a:gd name="adj2" fmla="val -272157"/>
            </a:avLst>
          </a:prstGeom>
          <a:solidFill>
            <a:schemeClr val="bg1"/>
          </a:solidFill>
          <a:ln w="3175" algn="ctr">
            <a:solidFill>
              <a:srgbClr val="999999"/>
            </a:solidFill>
            <a:miter lim="800000"/>
            <a:headEnd/>
            <a:tailEnd/>
          </a:ln>
        </p:spPr>
        <p:txBody>
          <a:bodyPr lIns="0" tIns="0" rIns="0" bIns="0" anchor="ctr" anchorCtr="1"/>
          <a:lstStyle/>
          <a:p>
            <a:pPr algn="l" rtl="0" eaLnBrk="0" fontAlgn="t" hangingPunct="0">
              <a:buSzPct val="100000"/>
            </a:pPr>
            <a:r>
              <a:rPr lang="en-US" altLang="zh-CN" sz="1600" dirty="0">
                <a:solidFill>
                  <a:srgbClr val="000000"/>
                </a:solidFill>
                <a:latin typeface="+mn-lt"/>
                <a:ea typeface="+mn-ea"/>
                <a:sym typeface="FrutigerNext LT Regular" pitchFamily="34" charset="0"/>
              </a:rPr>
              <a:t>« plus-égal 24 moins-égal 24 » indique que la longueur du masque est de 24.</a:t>
            </a:r>
          </a:p>
        </p:txBody>
      </p:sp>
    </p:spTree>
    <p:extLst>
      <p:ext uri="{BB962C8B-B14F-4D97-AF65-F5344CB8AC3E}">
        <p14:creationId xmlns:p14="http://schemas.microsoft.com/office/powerpoint/2010/main" val="315958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912285" y="1233488"/>
            <a:ext cx="10560048" cy="647340"/>
          </a:xfrm>
        </p:spPr>
        <p:txBody>
          <a:bodyPr/>
          <a:lstStyle/>
          <a:p>
            <a:pPr algn="l" rtl="0"/>
            <a:r>
              <a:rPr lang="en-US" altLang="zh-CN" dirty="0">
                <a:sym typeface="FrutigerNext LT Regular" pitchFamily="34" charset="0"/>
              </a:rPr>
              <a:t>Filter-Policy peut filtrer les données reçues ou</a:t>
            </a:r>
            <a:r>
              <a:rPr lang="en-US" altLang="zh-CN">
                <a:sym typeface="FrutigerNext LT Regular" pitchFamily="34" charset="0"/>
              </a:rPr>
              <a:t>annoncéL'EI,</a:t>
            </a:r>
            <a:r>
              <a:rPr lang="en-US" altLang="zh-CN" dirty="0">
                <a:sym typeface="FrutigerNext LT Regular" pitchFamily="34" charset="0"/>
              </a:rPr>
              <a:t>Routes OSPF et BGP.</a:t>
            </a:r>
          </a:p>
        </p:txBody>
      </p:sp>
      <p:sp>
        <p:nvSpPr>
          <p:cNvPr id="5" name="文本占位符 4"/>
          <p:cNvSpPr>
            <a:spLocks noGrp="1"/>
          </p:cNvSpPr>
          <p:nvPr>
            <p:ph type="body" sz="quarter" idx="12"/>
          </p:nvPr>
        </p:nvSpPr>
        <p:spPr/>
        <p:txBody>
          <a:bodyPr/>
          <a:lstStyle/>
          <a:p>
            <a:pPr algn="l" rtl="0"/>
            <a:r>
              <a:rPr lang="en-US" altLang="zh-CN" dirty="0"/>
              <a:t>Outil de filtrage et de politique</a:t>
            </a:r>
            <a:endParaRPr lang="zh-CN" altLang="en-US" dirty="0"/>
          </a:p>
        </p:txBody>
      </p:sp>
      <p:sp>
        <p:nvSpPr>
          <p:cNvPr id="6" name="文本框 5"/>
          <p:cNvSpPr txBox="1"/>
          <p:nvPr/>
        </p:nvSpPr>
        <p:spPr bwMode="auto">
          <a:xfrm>
            <a:off x="371364" y="2513360"/>
            <a:ext cx="8618363" cy="771623"/>
          </a:xfrm>
          <a:prstGeom prst="rect">
            <a:avLst/>
          </a:prstGeom>
          <a:solidFill>
            <a:schemeClr val="bg1">
              <a:lumMod val="85000"/>
            </a:schemeClr>
          </a:solidFill>
          <a:ln w="9525" algn="ctr">
            <a:noFill/>
            <a:miter lim="800000"/>
            <a:headEnd/>
            <a:tailEnd/>
          </a:ln>
        </p:spPr>
        <p:txBody>
          <a:bodyPr vert="horz" wrap="none" lIns="90000" tIns="46800" rIns="90000" bIns="46800" numCol="1" rtlCol="0" anchor="ctr" anchorCtr="0" compatLnSpc="1">
            <a:prstTxWarp prst="textNoShape">
              <a:avLst/>
            </a:prstTxWarp>
            <a:spAutoFit/>
          </a:bodyPr>
          <a:lstStyle/>
          <a:p>
            <a:pPr algn="l" rtl="0"/>
            <a:r>
              <a:rPr lang="en-US" altLang="zh-CN" sz="2200" dirty="0">
                <a:latin typeface="+mn-lt"/>
                <a:sym typeface="FrutigerNext LT Regular" pitchFamily="34" charset="0"/>
              </a:rPr>
              <a:t>Filtrer les routes reçues par les protocoles :</a:t>
            </a:r>
          </a:p>
          <a:p>
            <a:pPr algn="l" rtl="0"/>
            <a:r>
              <a:rPr lang="en-US" altLang="zh-CN" sz="2200" dirty="0">
                <a:latin typeface="+mn-lt"/>
                <a:sym typeface="FrutigerNext LT Regular" pitchFamily="34" charset="0"/>
              </a:rPr>
              <a:t>    </a:t>
            </a:r>
            <a:r>
              <a:rPr lang="en-US" altLang="zh-CN" sz="2200" b="1" dirty="0">
                <a:latin typeface="+mn-lt"/>
                <a:sym typeface="FrutigerNext LT Regular" pitchFamily="34" charset="0"/>
              </a:rPr>
              <a:t>politique de filtrage</a:t>
            </a:r>
            <a:r>
              <a:rPr lang="en-US" altLang="zh-CN" sz="2200" dirty="0">
                <a:latin typeface="+mn-lt"/>
                <a:sym typeface="FrutigerNext LT Regular" pitchFamily="34" charset="0"/>
              </a:rPr>
              <a:t>{</a:t>
            </a:r>
            <a:r>
              <a:rPr lang="en-US" altLang="zh-CN" sz="2200" dirty="0" err="1">
                <a:latin typeface="+mn-lt"/>
                <a:sym typeface="FrutigerNext LT Regular" pitchFamily="34" charset="0"/>
              </a:rPr>
              <a:t>acl</a:t>
            </a:r>
            <a:r>
              <a:rPr lang="en-US" altLang="zh-CN" sz="2200" dirty="0">
                <a:latin typeface="+mn-lt"/>
                <a:sym typeface="FrutigerNext LT Regular" pitchFamily="34" charset="0"/>
              </a:rPr>
              <a:t>-nombre |</a:t>
            </a:r>
            <a:r>
              <a:rPr lang="en-US" altLang="zh-CN" sz="2200" dirty="0" err="1">
                <a:latin typeface="+mn-lt"/>
                <a:sym typeface="FrutigerNext LT Regular" pitchFamily="34" charset="0"/>
              </a:rPr>
              <a:t>adresse IP</a:t>
            </a:r>
            <a:r>
              <a:rPr lang="en-US" altLang="zh-CN" sz="2200" dirty="0">
                <a:latin typeface="+mn-lt"/>
                <a:sym typeface="FrutigerNext LT Regular" pitchFamily="34" charset="0"/>
              </a:rPr>
              <a:t>-préfixe</a:t>
            </a:r>
            <a:r>
              <a:rPr lang="en-US" altLang="zh-CN" sz="2200" dirty="0" err="1">
                <a:latin typeface="+mn-lt"/>
                <a:sym typeface="FrutigerNext LT Regular" pitchFamily="34" charset="0"/>
              </a:rPr>
              <a:t>adresse IP</a:t>
            </a:r>
            <a:r>
              <a:rPr lang="en-US" altLang="zh-CN" sz="2200" dirty="0">
                <a:latin typeface="+mn-lt"/>
                <a:sym typeface="FrutigerNext LT Regular" pitchFamily="34" charset="0"/>
              </a:rPr>
              <a:t>-nom-préfixe }importer</a:t>
            </a:r>
          </a:p>
        </p:txBody>
      </p:sp>
      <p:sp>
        <p:nvSpPr>
          <p:cNvPr id="7" name="文本框 6"/>
          <p:cNvSpPr txBox="1"/>
          <p:nvPr/>
        </p:nvSpPr>
        <p:spPr bwMode="auto">
          <a:xfrm>
            <a:off x="358996" y="4761148"/>
            <a:ext cx="8581493" cy="771623"/>
          </a:xfrm>
          <a:prstGeom prst="rect">
            <a:avLst/>
          </a:prstGeom>
          <a:solidFill>
            <a:schemeClr val="bg1">
              <a:lumMod val="85000"/>
            </a:schemeClr>
          </a:solidFill>
          <a:ln w="9525" algn="ctr">
            <a:noFill/>
            <a:miter lim="800000"/>
            <a:headEnd/>
            <a:tailEnd/>
          </a:ln>
        </p:spPr>
        <p:txBody>
          <a:bodyPr vert="horz" wrap="none" lIns="90000" tIns="46800" rIns="90000" bIns="46800" numCol="1" rtlCol="0" anchor="ctr" anchorCtr="0" compatLnSpc="1">
            <a:prstTxWarp prst="textNoShape">
              <a:avLst/>
            </a:prstTxWarp>
            <a:spAutoFit/>
          </a:bodyPr>
          <a:lstStyle/>
          <a:p>
            <a:pPr algn="l" rtl="0"/>
            <a:r>
              <a:rPr lang="en-US" altLang="zh-CN" sz="2200" dirty="0">
                <a:latin typeface="+mn-lt"/>
                <a:sym typeface="FrutigerNext LT Regular" pitchFamily="34" charset="0"/>
              </a:rPr>
              <a:t>Filtrer les routes annoncées par les protocoles :</a:t>
            </a:r>
          </a:p>
          <a:p>
            <a:pPr algn="l" rtl="0"/>
            <a:r>
              <a:rPr lang="en-US" altLang="zh-CN" sz="2200" dirty="0">
                <a:latin typeface="+mn-lt"/>
                <a:sym typeface="FrutigerNext LT Regular" pitchFamily="34" charset="0"/>
              </a:rPr>
              <a:t>    </a:t>
            </a:r>
            <a:r>
              <a:rPr lang="en-US" altLang="zh-CN" sz="2200" b="1" dirty="0">
                <a:latin typeface="+mn-lt"/>
                <a:sym typeface="FrutigerNext LT Regular" pitchFamily="34" charset="0"/>
              </a:rPr>
              <a:t>politique de filtrage</a:t>
            </a:r>
            <a:r>
              <a:rPr lang="en-US" altLang="zh-CN" sz="2200" dirty="0">
                <a:latin typeface="+mn-lt"/>
                <a:sym typeface="FrutigerNext LT Regular" pitchFamily="34" charset="0"/>
              </a:rPr>
              <a:t>{</a:t>
            </a:r>
            <a:r>
              <a:rPr lang="en-US" altLang="zh-CN" sz="2200" dirty="0" err="1">
                <a:latin typeface="+mn-lt"/>
                <a:sym typeface="FrutigerNext LT Regular" pitchFamily="34" charset="0"/>
              </a:rPr>
              <a:t>acl</a:t>
            </a:r>
            <a:r>
              <a:rPr lang="en-US" altLang="zh-CN" sz="2200" dirty="0">
                <a:latin typeface="+mn-lt"/>
                <a:sym typeface="FrutigerNext LT Regular" pitchFamily="34" charset="0"/>
              </a:rPr>
              <a:t>-nombre |</a:t>
            </a:r>
            <a:r>
              <a:rPr lang="en-US" altLang="zh-CN" sz="2200" dirty="0" err="1">
                <a:latin typeface="+mn-lt"/>
                <a:sym typeface="FrutigerNext LT Regular" pitchFamily="34" charset="0"/>
              </a:rPr>
              <a:t>adresse IP</a:t>
            </a:r>
            <a:r>
              <a:rPr lang="en-US" altLang="zh-CN" sz="2200" dirty="0">
                <a:latin typeface="+mn-lt"/>
                <a:sym typeface="FrutigerNext LT Regular" pitchFamily="34" charset="0"/>
              </a:rPr>
              <a:t>-préfixe</a:t>
            </a:r>
            <a:r>
              <a:rPr lang="en-US" altLang="zh-CN" sz="2200" dirty="0" err="1">
                <a:latin typeface="+mn-lt"/>
                <a:sym typeface="FrutigerNext LT Regular" pitchFamily="34" charset="0"/>
              </a:rPr>
              <a:t>adresse IP</a:t>
            </a:r>
            <a:r>
              <a:rPr lang="en-US" altLang="zh-CN" sz="2200" dirty="0">
                <a:latin typeface="+mn-lt"/>
                <a:sym typeface="FrutigerNext LT Regular" pitchFamily="34" charset="0"/>
              </a:rPr>
              <a:t>-nom-préfixe }exporter</a:t>
            </a:r>
          </a:p>
        </p:txBody>
      </p:sp>
    </p:spTree>
    <p:extLst>
      <p:ext uri="{BB962C8B-B14F-4D97-AF65-F5344CB8AC3E}">
        <p14:creationId xmlns:p14="http://schemas.microsoft.com/office/powerpoint/2010/main" val="2674202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2"/>
          </p:nvPr>
        </p:nvSpPr>
        <p:spPr/>
        <p:txBody>
          <a:bodyPr/>
          <a:lstStyle/>
          <a:p>
            <a:pPr algn="l" rtl="0"/>
            <a:r>
              <a:rPr lang="en-US" altLang="zh-CN" dirty="0"/>
              <a:t>Outil de stratégie de routage</a:t>
            </a:r>
            <a:endParaRPr lang="zh-CN" altLang="en-US" dirty="0"/>
          </a:p>
        </p:txBody>
      </p:sp>
      <p:sp>
        <p:nvSpPr>
          <p:cNvPr id="35843" name="AutoShape 4"/>
          <p:cNvSpPr>
            <a:spLocks noChangeArrowheads="1"/>
          </p:cNvSpPr>
          <p:nvPr/>
        </p:nvSpPr>
        <p:spPr bwMode="auto">
          <a:xfrm>
            <a:off x="1008063" y="1412776"/>
            <a:ext cx="10464800" cy="719137"/>
          </a:xfrm>
          <a:prstGeom prst="rect">
            <a:avLst/>
          </a:prstGeom>
          <a:noFill/>
          <a:ln w="3175" algn="ctr">
            <a:noFill/>
            <a:round/>
            <a:headEnd/>
            <a:tailEnd/>
          </a:ln>
        </p:spPr>
        <p:txBody>
          <a:bodyPr lIns="0" tIns="0" rIns="0" bIns="0" anchor="ctr" anchorCtr="1"/>
          <a:lstStyle/>
          <a:p>
            <a:pPr algn="l" rtl="0" eaLnBrk="0" fontAlgn="t" hangingPunct="0">
              <a:buSzPct val="100000"/>
            </a:pPr>
            <a:r>
              <a:rPr lang="en-US" altLang="zh-CN" sz="1600" dirty="0">
                <a:solidFill>
                  <a:srgbClr val="000000"/>
                </a:solidFill>
                <a:latin typeface="+mn-lt"/>
                <a:ea typeface="+mn-ea"/>
                <a:sym typeface="FrutigerNext LT Regular" pitchFamily="34" charset="0"/>
              </a:rPr>
              <a:t>La politique de routage est un outil puissant. Elle peut être utilisée conjointement.</a:t>
            </a:r>
            <a:r>
              <a:rPr lang="en-US" altLang="zh-CN" sz="2000" dirty="0">
                <a:solidFill>
                  <a:srgbClr val="000000"/>
                </a:solidFill>
                <a:latin typeface="+mn-lt"/>
                <a:ea typeface="+mn-ea"/>
                <a:sym typeface="FrutigerNext LT Regular" pitchFamily="34" charset="0"/>
              </a:rPr>
              <a:t>avec</a:t>
            </a:r>
            <a:r>
              <a:rPr lang="en-US" altLang="zh-CN" sz="1600" dirty="0">
                <a:solidFill>
                  <a:srgbClr val="000000"/>
                </a:solidFill>
                <a:latin typeface="+mn-lt"/>
                <a:ea typeface="+mn-ea"/>
                <a:sym typeface="FrutigerNext LT Regular" pitchFamily="34" charset="0"/>
              </a:rPr>
              <a:t>d'autres outils tels que les listes de contrôle d'accès (ACL), les listes de préfixes IP et les filtres de chemin AS.</a:t>
            </a:r>
          </a:p>
        </p:txBody>
      </p:sp>
      <p:sp>
        <p:nvSpPr>
          <p:cNvPr id="35845" name="AutoShape 4"/>
          <p:cNvSpPr>
            <a:spLocks noChangeArrowheads="1"/>
          </p:cNvSpPr>
          <p:nvPr/>
        </p:nvSpPr>
        <p:spPr bwMode="auto">
          <a:xfrm>
            <a:off x="1008063" y="4460774"/>
            <a:ext cx="10464800" cy="1020453"/>
          </a:xfrm>
          <a:prstGeom prst="roundRect">
            <a:avLst>
              <a:gd name="adj" fmla="val 19009"/>
            </a:avLst>
          </a:prstGeom>
          <a:noFill/>
          <a:ln w="3175" algn="ctr">
            <a:noFill/>
            <a:round/>
            <a:headEnd/>
            <a:tailEnd/>
          </a:ln>
        </p:spPr>
        <p:txBody>
          <a:bodyPr lIns="0" tIns="0" rIns="0" bIns="0" anchor="ctr" anchorCtr="1"/>
          <a:lstStyle/>
          <a:p>
            <a:pPr algn="l" rtl="0" eaLnBrk="0" fontAlgn="t" hangingPunct="0">
              <a:buSzPct val="100000"/>
            </a:pPr>
            <a:r>
              <a:rPr lang="en-US" altLang="zh-CN" sz="1600" dirty="0">
                <a:solidFill>
                  <a:srgbClr val="000000"/>
                </a:solidFill>
                <a:latin typeface="+mn-lt"/>
                <a:ea typeface="+mn-ea"/>
                <a:sym typeface="FrutigerNext LT Regular" pitchFamily="34" charset="0"/>
              </a:rPr>
              <a:t>Une politique de routage est composée de plusieurs nœuds, liés par une relation OU. Chaque nœud comporte plusieurs clauses « si-correspondance » et « appliquer », les clauses « si-correspondance » étant liées par une relation ET.</a:t>
            </a:r>
            <a:r>
              <a:rPr lang="en-US" altLang="zh-CN" sz="2000" dirty="0">
                <a:solidFill>
                  <a:srgbClr val="000000"/>
                </a:solidFill>
                <a:latin typeface="+mn-lt"/>
                <a:ea typeface="+mn-ea"/>
                <a:sym typeface="FrutigerNext LT Regular" pitchFamily="34" charset="0"/>
              </a:rPr>
              <a:t>relation</a:t>
            </a:r>
            <a:r>
              <a:rPr lang="en-US" altLang="zh-CN" sz="1600" dirty="0">
                <a:solidFill>
                  <a:srgbClr val="000000"/>
                </a:solidFill>
                <a:latin typeface="+mn-lt"/>
                <a:ea typeface="+mn-ea"/>
                <a:sym typeface="FrutigerNext LT Regular" pitchFamily="34" charset="0"/>
              </a:rPr>
              <a:t>.</a:t>
            </a:r>
          </a:p>
        </p:txBody>
      </p:sp>
      <p:sp>
        <p:nvSpPr>
          <p:cNvPr id="7" name="AutoShape 4"/>
          <p:cNvSpPr>
            <a:spLocks noChangeArrowheads="1"/>
          </p:cNvSpPr>
          <p:nvPr/>
        </p:nvSpPr>
        <p:spPr bwMode="auto">
          <a:xfrm>
            <a:off x="1127448" y="2388612"/>
            <a:ext cx="8352034" cy="1622742"/>
          </a:xfrm>
          <a:prstGeom prst="rect">
            <a:avLst/>
          </a:prstGeom>
          <a:solidFill>
            <a:schemeClr val="bg1">
              <a:lumMod val="85000"/>
            </a:schemeClr>
          </a:solidFill>
          <a:ln w="3175" algn="ctr">
            <a:noFill/>
            <a:round/>
            <a:headEnd/>
            <a:tailEnd/>
          </a:ln>
        </p:spPr>
        <p:txBody>
          <a:bodyPr lIns="0" tIns="0" rIns="0" bIns="0" anchor="ctr" anchorCtr="1"/>
          <a:lstStyle/>
          <a:p>
            <a:pPr algn="l" rtl="0" eaLnBrk="0" fontAlgn="t" hangingPunct="0">
              <a:buSzPct val="100000"/>
            </a:pPr>
            <a:r>
              <a:rPr lang="en-US" altLang="zh-CN" sz="2000" dirty="0">
                <a:solidFill>
                  <a:srgbClr val="000000"/>
                </a:solidFill>
                <a:latin typeface="+mn-lt"/>
                <a:ea typeface="+mn-ea"/>
                <a:cs typeface="Courier New" pitchFamily="49" charset="0"/>
                <a:sym typeface="FrutigerNext LT Regular" pitchFamily="34" charset="0"/>
              </a:rPr>
              <a:t>Format</a:t>
            </a:r>
            <a:r>
              <a:rPr lang="en-US" altLang="zh-CN" sz="2000" dirty="0">
                <a:solidFill>
                  <a:srgbClr val="000000"/>
                </a:solidFill>
                <a:latin typeface="+mn-lt"/>
                <a:ea typeface="+mn-ea"/>
                <a:sym typeface="FrutigerNext LT Regular" pitchFamily="34" charset="0"/>
              </a:rPr>
              <a:t>politique de route</a:t>
            </a:r>
            <a:r>
              <a:rPr lang="en-US" altLang="zh-CN" sz="2000" dirty="0">
                <a:solidFill>
                  <a:srgbClr val="000000"/>
                </a:solidFill>
                <a:latin typeface="+mn-lt"/>
                <a:ea typeface="+mn-ea"/>
                <a:cs typeface="Courier New" pitchFamily="49" charset="0"/>
                <a:sym typeface="FrutigerNext LT Regular" pitchFamily="34" charset="0"/>
              </a:rPr>
              <a:t>:</a:t>
            </a:r>
          </a:p>
          <a:p>
            <a:pPr algn="l" rtl="0"/>
            <a:r>
              <a:rPr lang="en-US" altLang="zh-CN" sz="2000" b="1" dirty="0">
                <a:latin typeface="+mn-lt"/>
                <a:ea typeface="+mn-ea"/>
                <a:cs typeface="Courier New" panose="02070309020205020404" pitchFamily="49" charset="0"/>
              </a:rPr>
              <a:t>    politique de routage</a:t>
            </a:r>
            <a:r>
              <a:rPr lang="en-US" altLang="zh-CN" sz="2000" dirty="0">
                <a:latin typeface="+mn-lt"/>
                <a:ea typeface="+mn-ea"/>
                <a:cs typeface="Courier New" panose="02070309020205020404" pitchFamily="49" charset="0"/>
              </a:rPr>
              <a:t> </a:t>
            </a:r>
            <a:r>
              <a:rPr lang="en-US" altLang="zh-CN" sz="2000" i="1" dirty="0">
                <a:latin typeface="+mn-lt"/>
                <a:ea typeface="+mn-ea"/>
                <a:cs typeface="Courier New" panose="02070309020205020404" pitchFamily="49" charset="0"/>
              </a:rPr>
              <a:t>nom de la politique de route</a:t>
            </a:r>
            <a:r>
              <a:rPr lang="en-US" altLang="zh-CN" sz="2000" dirty="0">
                <a:latin typeface="+mn-lt"/>
                <a:ea typeface="+mn-ea"/>
                <a:cs typeface="Courier New" panose="02070309020205020404" pitchFamily="49" charset="0"/>
              </a:rPr>
              <a:t>{</a:t>
            </a:r>
            <a:r>
              <a:rPr lang="en-US" altLang="zh-CN" sz="2000" b="1" dirty="0">
                <a:latin typeface="+mn-lt"/>
                <a:ea typeface="+mn-ea"/>
                <a:cs typeface="Courier New" panose="02070309020205020404" pitchFamily="49" charset="0"/>
              </a:rPr>
              <a:t>permis</a:t>
            </a:r>
            <a:r>
              <a:rPr lang="en-US" altLang="zh-CN" sz="2000" dirty="0">
                <a:latin typeface="+mn-lt"/>
                <a:ea typeface="+mn-ea"/>
                <a:cs typeface="Courier New" panose="02070309020205020404" pitchFamily="49" charset="0"/>
              </a:rPr>
              <a:t>|</a:t>
            </a:r>
            <a:r>
              <a:rPr lang="en-US" altLang="zh-CN" sz="2000" b="1" dirty="0">
                <a:latin typeface="+mn-lt"/>
                <a:ea typeface="+mn-ea"/>
                <a:cs typeface="Courier New" panose="02070309020205020404" pitchFamily="49" charset="0"/>
              </a:rPr>
              <a:t>refuser</a:t>
            </a:r>
            <a:r>
              <a:rPr lang="en-US" altLang="zh-CN" sz="2000" dirty="0">
                <a:latin typeface="+mn-lt"/>
                <a:ea typeface="+mn-ea"/>
                <a:cs typeface="Courier New" panose="02070309020205020404" pitchFamily="49" charset="0"/>
              </a:rPr>
              <a:t>}</a:t>
            </a:r>
            <a:r>
              <a:rPr lang="en-US" altLang="zh-CN" sz="2000" b="1" dirty="0">
                <a:latin typeface="+mn-lt"/>
                <a:ea typeface="+mn-ea"/>
                <a:cs typeface="Courier New" panose="02070309020205020404" pitchFamily="49" charset="0"/>
              </a:rPr>
              <a:t>nœud</a:t>
            </a:r>
            <a:r>
              <a:rPr lang="en-US" altLang="zh-CN" sz="2000" dirty="0">
                <a:latin typeface="+mn-lt"/>
                <a:ea typeface="+mn-ea"/>
                <a:cs typeface="Courier New" panose="02070309020205020404" pitchFamily="49" charset="0"/>
              </a:rPr>
              <a:t> </a:t>
            </a:r>
            <a:r>
              <a:rPr lang="en-US" altLang="zh-CN" sz="2000" i="1" dirty="0">
                <a:latin typeface="+mn-lt"/>
                <a:ea typeface="+mn-ea"/>
                <a:cs typeface="Courier New" panose="02070309020205020404" pitchFamily="49" charset="0"/>
              </a:rPr>
              <a:t>nœud</a:t>
            </a:r>
            <a:endParaRPr lang="en-US" altLang="zh-CN" sz="2000" dirty="0">
              <a:latin typeface="+mn-lt"/>
              <a:ea typeface="+mn-ea"/>
              <a:cs typeface="Courier New" panose="02070309020205020404" pitchFamily="49" charset="0"/>
            </a:endParaRPr>
          </a:p>
          <a:p>
            <a:pPr lvl="1" algn="l" rtl="0"/>
            <a:r>
              <a:rPr lang="en-US" altLang="zh-CN" sz="2000" b="1" dirty="0">
                <a:latin typeface="+mn-lt"/>
                <a:ea typeface="+mn-ea"/>
                <a:cs typeface="Courier New" panose="02070309020205020404" pitchFamily="49" charset="0"/>
              </a:rPr>
              <a:t>  si-correspondance</a:t>
            </a:r>
            <a:r>
              <a:rPr lang="en-US" altLang="zh-CN" sz="2000" dirty="0">
                <a:latin typeface="+mn-lt"/>
                <a:ea typeface="+mn-ea"/>
                <a:cs typeface="Courier New" panose="02070309020205020404" pitchFamily="49" charset="0"/>
              </a:rPr>
              <a:t>{acl/cost/interface/ip prochain saut/préfixe-ip}</a:t>
            </a:r>
          </a:p>
          <a:p>
            <a:pPr lvl="1" algn="l" rtl="0"/>
            <a:r>
              <a:rPr lang="en-US" altLang="zh-CN" sz="2000" b="1" dirty="0">
                <a:latin typeface="+mn-lt"/>
                <a:ea typeface="+mn-ea"/>
                <a:cs typeface="Courier New" panose="02070309020205020404" pitchFamily="49" charset="0"/>
              </a:rPr>
              <a:t>  appliquer</a:t>
            </a:r>
            <a:r>
              <a:rPr lang="en-US" altLang="zh-CN" sz="2000" dirty="0">
                <a:latin typeface="+mn-lt"/>
                <a:ea typeface="+mn-ea"/>
                <a:cs typeface="Courier New" panose="02070309020205020404" pitchFamily="49" charset="0"/>
              </a:rPr>
              <a:t>{coût/adresse IP prochain saut/étiquette}</a:t>
            </a:r>
            <a:endParaRPr lang="zh-CN" altLang="en-US" sz="2000" dirty="0">
              <a:latin typeface="+mn-lt"/>
              <a:ea typeface="+mn-ea"/>
              <a:cs typeface="Courier New" panose="02070309020205020404" pitchFamily="49" charset="0"/>
            </a:endParaRPr>
          </a:p>
        </p:txBody>
      </p:sp>
    </p:spTree>
    <p:extLst>
      <p:ext uri="{BB962C8B-B14F-4D97-AF65-F5344CB8AC3E}">
        <p14:creationId xmlns:p14="http://schemas.microsoft.com/office/powerpoint/2010/main" val="2587864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pPr algn="l" rtl="0"/>
            <a:r>
              <a:rPr lang="en-US" altLang="zh-CN" dirty="0"/>
              <a:t>Exemple d'application de stratégie de routage</a:t>
            </a:r>
            <a:endParaRPr lang="zh-CN" altLang="en-US" dirty="0"/>
          </a:p>
        </p:txBody>
      </p:sp>
      <p:grpSp>
        <p:nvGrpSpPr>
          <p:cNvPr id="4" name="组合 3"/>
          <p:cNvGrpSpPr/>
          <p:nvPr/>
        </p:nvGrpSpPr>
        <p:grpSpPr>
          <a:xfrm>
            <a:off x="2279576" y="1262772"/>
            <a:ext cx="7848872" cy="4866826"/>
            <a:chOff x="2279576" y="1262772"/>
            <a:chExt cx="7848872" cy="4866826"/>
          </a:xfrm>
        </p:grpSpPr>
        <p:grpSp>
          <p:nvGrpSpPr>
            <p:cNvPr id="12" name="组合 11"/>
            <p:cNvGrpSpPr/>
            <p:nvPr/>
          </p:nvGrpSpPr>
          <p:grpSpPr>
            <a:xfrm>
              <a:off x="2279576" y="1262772"/>
              <a:ext cx="7848872" cy="4614500"/>
              <a:chOff x="2279576" y="1262772"/>
              <a:chExt cx="7848872" cy="4614500"/>
            </a:xfrm>
          </p:grpSpPr>
          <p:sp>
            <p:nvSpPr>
              <p:cNvPr id="13" name="Rectangle 3"/>
              <p:cNvSpPr>
                <a:spLocks noChangeArrowheads="1"/>
              </p:cNvSpPr>
              <p:nvPr/>
            </p:nvSpPr>
            <p:spPr bwMode="auto">
              <a:xfrm>
                <a:off x="2279576" y="1700808"/>
                <a:ext cx="3024584" cy="2234458"/>
              </a:xfrm>
              <a:prstGeom prst="rect">
                <a:avLst/>
              </a:prstGeom>
              <a:noFill/>
              <a:ln w="9525" algn="ctr">
                <a:solidFill>
                  <a:schemeClr val="tx1"/>
                </a:solidFill>
                <a:miter lim="800000"/>
                <a:headEnd/>
                <a:tailEnd/>
              </a:ln>
            </p:spPr>
            <p:txBody>
              <a:bodyPr wrap="square">
                <a:spAutoFit/>
              </a:bodyPr>
              <a:lstStyle/>
              <a:p>
                <a:pPr algn="l" defTabSz="784225" rtl="0" eaLnBrk="0" fontAlgn="base" hangingPunct="0">
                  <a:lnSpc>
                    <a:spcPct val="60000"/>
                  </a:lnSpc>
                  <a:spcBef>
                    <a:spcPct val="50000"/>
                  </a:spcBef>
                </a:pPr>
                <a:r>
                  <a:rPr lang="en-US" altLang="zh-CN" sz="1200" dirty="0">
                    <a:latin typeface="+mn-ea"/>
                    <a:ea typeface="+mn-ea"/>
                  </a:rPr>
                  <a:t>Coût du réseau	</a:t>
                </a:r>
                <a:r>
                  <a:rPr lang="en-US" altLang="zh-CN" sz="1200" dirty="0" err="1">
                    <a:latin typeface="+mn-ea"/>
                    <a:ea typeface="+mn-ea"/>
                  </a:rPr>
                  <a:t>NextHop</a:t>
                </a:r>
                <a:endParaRPr lang="en-US" altLang="zh-CN" sz="1200" dirty="0">
                  <a:latin typeface="+mn-ea"/>
                  <a:ea typeface="+mn-ea"/>
                </a:endParaRPr>
              </a:p>
              <a:p>
                <a:pPr algn="l" defTabSz="784225" rtl="0" eaLnBrk="0" fontAlgn="base" hangingPunct="0">
                  <a:lnSpc>
                    <a:spcPct val="60000"/>
                  </a:lnSpc>
                  <a:spcBef>
                    <a:spcPct val="50000"/>
                  </a:spcBef>
                </a:pPr>
                <a:r>
                  <a:rPr lang="en-US" altLang="zh-CN" sz="1200" dirty="0">
                    <a:latin typeface="+mn-ea"/>
                    <a:ea typeface="+mn-ea"/>
                  </a:rPr>
                  <a:t>1.1.2.0/24 4687 34.34.34.2</a:t>
                </a:r>
              </a:p>
              <a:p>
                <a:pPr algn="l" defTabSz="784225" rtl="0" eaLnBrk="0" fontAlgn="base" hangingPunct="0">
                  <a:lnSpc>
                    <a:spcPct val="60000"/>
                  </a:lnSpc>
                  <a:spcBef>
                    <a:spcPct val="50000"/>
                  </a:spcBef>
                </a:pPr>
                <a:r>
                  <a:rPr lang="en-US" altLang="zh-CN" sz="1200" dirty="0">
                    <a:latin typeface="+mn-ea"/>
                    <a:ea typeface="+mn-ea"/>
                  </a:rPr>
                  <a:t>	4687 13.13.13.1</a:t>
                </a:r>
              </a:p>
              <a:p>
                <a:pPr algn="l" defTabSz="784225" rtl="0" eaLnBrk="0" fontAlgn="base" hangingPunct="0">
                  <a:lnSpc>
                    <a:spcPct val="60000"/>
                  </a:lnSpc>
                  <a:spcBef>
                    <a:spcPct val="50000"/>
                  </a:spcBef>
                </a:pPr>
                <a:r>
                  <a:rPr lang="en-US" altLang="zh-CN" sz="1200" dirty="0">
                    <a:latin typeface="+mn-ea"/>
                    <a:ea typeface="+mn-ea"/>
                  </a:rPr>
                  <a:t>1.1.3.0/24 4687 34.34.34.2</a:t>
                </a:r>
              </a:p>
              <a:p>
                <a:pPr algn="l" defTabSz="784225" rtl="0" eaLnBrk="0" fontAlgn="base" hangingPunct="0">
                  <a:lnSpc>
                    <a:spcPct val="60000"/>
                  </a:lnSpc>
                  <a:spcBef>
                    <a:spcPct val="50000"/>
                  </a:spcBef>
                </a:pPr>
                <a:r>
                  <a:rPr lang="en-US" altLang="zh-CN" sz="1200" dirty="0">
                    <a:latin typeface="+mn-ea"/>
                    <a:ea typeface="+mn-ea"/>
                  </a:rPr>
                  <a:t>	4687 13.13.13.1</a:t>
                </a:r>
              </a:p>
              <a:p>
                <a:pPr algn="l" defTabSz="784225" rtl="0" eaLnBrk="0" fontAlgn="base" hangingPunct="0">
                  <a:lnSpc>
                    <a:spcPct val="60000"/>
                  </a:lnSpc>
                  <a:spcBef>
                    <a:spcPct val="50000"/>
                  </a:spcBef>
                </a:pPr>
                <a:r>
                  <a:rPr lang="en-US" altLang="zh-CN" sz="1200" dirty="0">
                    <a:latin typeface="+mn-ea"/>
                    <a:ea typeface="+mn-ea"/>
                  </a:rPr>
                  <a:t>1.1.3.0/25 1 34.34.34.2</a:t>
                </a:r>
              </a:p>
              <a:p>
                <a:pPr algn="l" defTabSz="784225" rtl="0" eaLnBrk="0" fontAlgn="base" hangingPunct="0">
                  <a:lnSpc>
                    <a:spcPct val="60000"/>
                  </a:lnSpc>
                  <a:spcBef>
                    <a:spcPct val="50000"/>
                  </a:spcBef>
                </a:pPr>
                <a:r>
                  <a:rPr lang="en-US" altLang="zh-CN" sz="1200" dirty="0">
                    <a:latin typeface="+mn-ea"/>
                    <a:ea typeface="+mn-ea"/>
                  </a:rPr>
                  <a:t>	1 13.13.13.1</a:t>
                </a:r>
              </a:p>
              <a:p>
                <a:pPr algn="l" defTabSz="784225" rtl="0" eaLnBrk="0" fontAlgn="base" hangingPunct="0">
                  <a:lnSpc>
                    <a:spcPct val="60000"/>
                  </a:lnSpc>
                  <a:spcBef>
                    <a:spcPct val="50000"/>
                  </a:spcBef>
                </a:pPr>
                <a:r>
                  <a:rPr lang="en-US" altLang="zh-CN" sz="1200" dirty="0">
                    <a:latin typeface="+mn-ea"/>
                    <a:ea typeface="+mn-ea"/>
                  </a:rPr>
                  <a:t>5.5.5.5/32 4687 34.34.34.2</a:t>
                </a:r>
              </a:p>
              <a:p>
                <a:pPr algn="l" defTabSz="784225" rtl="0" eaLnBrk="0" fontAlgn="base" hangingPunct="0">
                  <a:lnSpc>
                    <a:spcPct val="60000"/>
                  </a:lnSpc>
                  <a:spcBef>
                    <a:spcPct val="50000"/>
                  </a:spcBef>
                </a:pPr>
                <a:r>
                  <a:rPr lang="en-US" altLang="zh-CN" sz="1200" dirty="0">
                    <a:latin typeface="+mn-ea"/>
                    <a:ea typeface="+mn-ea"/>
                  </a:rPr>
                  <a:t>	4687 13.13.13.1</a:t>
                </a:r>
              </a:p>
              <a:p>
                <a:pPr algn="l" defTabSz="784225" rtl="0" eaLnBrk="0" fontAlgn="base" hangingPunct="0">
                  <a:lnSpc>
                    <a:spcPct val="60000"/>
                  </a:lnSpc>
                  <a:spcBef>
                    <a:spcPct val="50000"/>
                  </a:spcBef>
                </a:pPr>
                <a:r>
                  <a:rPr lang="en-US" altLang="zh-CN" sz="1200" dirty="0">
                    <a:latin typeface="+mn-ea"/>
                    <a:ea typeface="+mn-ea"/>
                  </a:rPr>
                  <a:t>6.6.6.6/32 4687 34.34.34.2</a:t>
                </a:r>
              </a:p>
              <a:p>
                <a:pPr algn="l" defTabSz="784225" rtl="0" eaLnBrk="0" fontAlgn="base" hangingPunct="0">
                  <a:lnSpc>
                    <a:spcPct val="60000"/>
                  </a:lnSpc>
                  <a:spcBef>
                    <a:spcPct val="50000"/>
                  </a:spcBef>
                </a:pPr>
                <a:r>
                  <a:rPr lang="en-US" altLang="zh-CN" sz="1200" dirty="0">
                    <a:latin typeface="+mn-ea"/>
                    <a:ea typeface="+mn-ea"/>
                  </a:rPr>
                  <a:t>	4687 13.13.13.1</a:t>
                </a:r>
              </a:p>
            </p:txBody>
          </p:sp>
          <p:sp>
            <p:nvSpPr>
              <p:cNvPr id="14" name="Rectangle 4"/>
              <p:cNvSpPr>
                <a:spLocks noChangeArrowheads="1"/>
              </p:cNvSpPr>
              <p:nvPr/>
            </p:nvSpPr>
            <p:spPr bwMode="auto">
              <a:xfrm>
                <a:off x="2279577" y="4725145"/>
                <a:ext cx="3022997" cy="1015663"/>
              </a:xfrm>
              <a:prstGeom prst="rect">
                <a:avLst/>
              </a:prstGeom>
              <a:noFill/>
              <a:ln w="9525" algn="ctr">
                <a:solidFill>
                  <a:schemeClr val="tx1"/>
                </a:solidFill>
                <a:miter lim="800000"/>
                <a:headEnd/>
                <a:tailEnd/>
              </a:ln>
            </p:spPr>
            <p:txBody>
              <a:bodyPr wrap="square">
                <a:spAutoFit/>
              </a:bodyPr>
              <a:lstStyle/>
              <a:p>
                <a:pPr algn="l" defTabSz="784225" rtl="0" eaLnBrk="0" fontAlgn="base" hangingPunct="0">
                  <a:lnSpc>
                    <a:spcPct val="60000"/>
                  </a:lnSpc>
                  <a:spcBef>
                    <a:spcPct val="50000"/>
                  </a:spcBef>
                </a:pPr>
                <a:r>
                  <a:rPr lang="en-US" altLang="zh-CN" sz="1200" dirty="0">
                    <a:latin typeface="+mn-ea"/>
                    <a:ea typeface="+mn-ea"/>
                  </a:rPr>
                  <a:t>Coût du réseau	</a:t>
                </a:r>
                <a:r>
                  <a:rPr lang="en-US" altLang="zh-CN" sz="1200" dirty="0" err="1">
                    <a:latin typeface="+mn-ea"/>
                    <a:ea typeface="+mn-ea"/>
                  </a:rPr>
                  <a:t>NextHop</a:t>
                </a:r>
                <a:r>
                  <a:rPr lang="en-US" altLang="zh-CN" sz="1200" dirty="0">
                    <a:latin typeface="+mn-ea"/>
                    <a:ea typeface="+mn-ea"/>
                  </a:rPr>
                  <a:t>         </a:t>
                </a:r>
              </a:p>
              <a:p>
                <a:pPr algn="l" defTabSz="784225" rtl="0" eaLnBrk="0" fontAlgn="base" hangingPunct="0">
                  <a:lnSpc>
                    <a:spcPct val="60000"/>
                  </a:lnSpc>
                  <a:spcBef>
                    <a:spcPct val="50000"/>
                  </a:spcBef>
                </a:pPr>
                <a:r>
                  <a:rPr lang="en-US" altLang="zh-CN" sz="1200" dirty="0">
                    <a:latin typeface="+mn-ea"/>
                    <a:ea typeface="+mn-ea"/>
                  </a:rPr>
                  <a:t>1.1.3.0/24 4687 34.34.34.2</a:t>
                </a:r>
              </a:p>
              <a:p>
                <a:pPr algn="l" defTabSz="784225" rtl="0" eaLnBrk="0" fontAlgn="base" hangingPunct="0">
                  <a:lnSpc>
                    <a:spcPct val="60000"/>
                  </a:lnSpc>
                  <a:spcBef>
                    <a:spcPct val="50000"/>
                  </a:spcBef>
                </a:pPr>
                <a:r>
                  <a:rPr lang="en-US" altLang="zh-CN" sz="1200" dirty="0">
                    <a:latin typeface="+mn-ea"/>
                    <a:ea typeface="+mn-ea"/>
                  </a:rPr>
                  <a:t>	21 13.13.13.1</a:t>
                </a:r>
              </a:p>
              <a:p>
                <a:pPr algn="l" defTabSz="784225" rtl="0" eaLnBrk="0" fontAlgn="base" hangingPunct="0">
                  <a:lnSpc>
                    <a:spcPct val="60000"/>
                  </a:lnSpc>
                  <a:spcBef>
                    <a:spcPct val="50000"/>
                  </a:spcBef>
                </a:pPr>
                <a:r>
                  <a:rPr lang="en-US" altLang="zh-CN" sz="1200" dirty="0">
                    <a:latin typeface="+mn-ea"/>
                    <a:ea typeface="+mn-ea"/>
                  </a:rPr>
                  <a:t>1.1.3.0/25 11 34.34.34.2</a:t>
                </a:r>
              </a:p>
              <a:p>
                <a:pPr algn="l" defTabSz="784225" rtl="0" eaLnBrk="0" fontAlgn="base" hangingPunct="0">
                  <a:lnSpc>
                    <a:spcPct val="60000"/>
                  </a:lnSpc>
                  <a:spcBef>
                    <a:spcPct val="50000"/>
                  </a:spcBef>
                </a:pPr>
                <a:r>
                  <a:rPr lang="en-US" altLang="zh-CN" sz="1200" dirty="0">
                    <a:latin typeface="+mn-ea"/>
                    <a:ea typeface="+mn-ea"/>
                  </a:rPr>
                  <a:t>	21 13.13.13.1</a:t>
                </a:r>
              </a:p>
            </p:txBody>
          </p:sp>
          <p:sp>
            <p:nvSpPr>
              <p:cNvPr id="15" name="Rectangle 5"/>
              <p:cNvSpPr>
                <a:spLocks noChangeArrowheads="1"/>
              </p:cNvSpPr>
              <p:nvPr/>
            </p:nvSpPr>
            <p:spPr bwMode="auto">
              <a:xfrm>
                <a:off x="5591870" y="1484784"/>
                <a:ext cx="4536578" cy="4392488"/>
              </a:xfrm>
              <a:prstGeom prst="rect">
                <a:avLst/>
              </a:prstGeom>
              <a:noFill/>
              <a:ln w="9525" algn="ctr">
                <a:solidFill>
                  <a:schemeClr val="tx1"/>
                </a:solidFill>
                <a:miter lim="800000"/>
                <a:headEnd/>
                <a:tailEnd/>
              </a:ln>
            </p:spPr>
            <p:txBody>
              <a:bodyPr wrap="square">
                <a:spAutoFit/>
              </a:bodyPr>
              <a:lstStyle/>
              <a:p>
                <a:pPr algn="l" defTabSz="784225" rtl="0" eaLnBrk="0" fontAlgn="base" hangingPunct="0"/>
                <a:r>
                  <a:rPr lang="en-US" altLang="zh-CN" sz="1200" dirty="0" err="1">
                    <a:latin typeface="+mn-ea"/>
                    <a:ea typeface="+mn-ea"/>
                  </a:rPr>
                  <a:t>acl</a:t>
                </a:r>
                <a:r>
                  <a:rPr lang="en-US" altLang="zh-CN" sz="1200" dirty="0">
                    <a:latin typeface="+mn-ea"/>
                    <a:ea typeface="+mn-ea"/>
                  </a:rPr>
                  <a:t>2001</a:t>
                </a:r>
              </a:p>
              <a:p>
                <a:pPr algn="l" defTabSz="784225" rtl="0" eaLnBrk="0" fontAlgn="base" hangingPunct="0"/>
                <a:r>
                  <a:rPr lang="en-US" altLang="zh-CN" sz="1200" dirty="0">
                    <a:latin typeface="+mn-ea"/>
                    <a:ea typeface="+mn-ea"/>
                  </a:rPr>
                  <a:t>règle 0 autoriser la source 1.1.3.0 0.0.0.255</a:t>
                </a:r>
              </a:p>
              <a:p>
                <a:pPr algn="l" defTabSz="784225" rtl="0" eaLnBrk="0" fontAlgn="base" hangingPunct="0"/>
                <a:r>
                  <a:rPr lang="en-US" altLang="zh-CN" sz="1200" dirty="0" err="1">
                    <a:latin typeface="+mn-ea"/>
                    <a:ea typeface="+mn-ea"/>
                  </a:rPr>
                  <a:t>acl</a:t>
                </a:r>
                <a:r>
                  <a:rPr lang="en-US" altLang="zh-CN" sz="1200" dirty="0">
                    <a:latin typeface="+mn-ea"/>
                    <a:ea typeface="+mn-ea"/>
                  </a:rPr>
                  <a:t>2002</a:t>
                </a:r>
              </a:p>
              <a:p>
                <a:pPr algn="l" defTabSz="784225" rtl="0" eaLnBrk="0" fontAlgn="base" hangingPunct="0"/>
                <a:r>
                  <a:rPr lang="en-US" altLang="zh-CN" sz="1200" dirty="0">
                    <a:latin typeface="+mn-ea"/>
                    <a:ea typeface="+mn-ea"/>
                  </a:rPr>
                  <a:t>règle 0 autoriser la source 13.13.13.1 0</a:t>
                </a:r>
              </a:p>
              <a:p>
                <a:pPr algn="l" defTabSz="784225" rtl="0" eaLnBrk="0" fontAlgn="base" hangingPunct="0"/>
                <a:endParaRPr lang="en-US" altLang="zh-CN" sz="1200" dirty="0">
                  <a:latin typeface="+mn-ea"/>
                  <a:ea typeface="+mn-ea"/>
                </a:endParaRPr>
              </a:p>
              <a:p>
                <a:pPr algn="l" defTabSz="784225" rtl="0" eaLnBrk="0" fontAlgn="base" hangingPunct="0"/>
                <a:r>
                  <a:rPr lang="en-US" altLang="zh-CN" sz="1200" dirty="0">
                    <a:latin typeface="+mn-ea"/>
                    <a:ea typeface="+mn-ea"/>
                  </a:rPr>
                  <a:t>politique de routage RP refuser le nœud 10</a:t>
                </a:r>
              </a:p>
              <a:p>
                <a:pPr algn="l" defTabSz="784225" rtl="0" eaLnBrk="0" fontAlgn="base" hangingPunct="0"/>
                <a:r>
                  <a:rPr lang="en-US" altLang="zh-CN" sz="1200" dirty="0">
                    <a:latin typeface="+mn-ea"/>
                    <a:ea typeface="+mn-ea"/>
                  </a:rPr>
                  <a:t>si-correspondance</a:t>
                </a:r>
                <a:r>
                  <a:rPr lang="en-US" altLang="zh-CN" sz="1200" dirty="0" err="1">
                    <a:latin typeface="+mn-ea"/>
                    <a:ea typeface="+mn-ea"/>
                  </a:rPr>
                  <a:t>adresse IP</a:t>
                </a:r>
                <a:r>
                  <a:rPr lang="en-US" altLang="zh-CN" sz="1200" dirty="0">
                    <a:latin typeface="+mn-ea"/>
                    <a:ea typeface="+mn-ea"/>
                  </a:rPr>
                  <a:t>-préfixe Pref1</a:t>
                </a:r>
              </a:p>
              <a:p>
                <a:pPr algn="l" defTabSz="784225" rtl="0" eaLnBrk="0" fontAlgn="base" hangingPunct="0"/>
                <a:r>
                  <a:rPr lang="en-US" altLang="zh-CN" sz="1200" dirty="0">
                    <a:latin typeface="+mn-ea"/>
                    <a:ea typeface="+mn-ea"/>
                  </a:rPr>
                  <a:t>politique de routage RP autoriser le nœud 20</a:t>
                </a:r>
              </a:p>
              <a:p>
                <a:pPr algn="l" defTabSz="784225" rtl="0" eaLnBrk="0" fontAlgn="base" hangingPunct="0"/>
                <a:r>
                  <a:rPr lang="en-US" altLang="zh-CN" sz="1200" dirty="0">
                    <a:latin typeface="+mn-ea"/>
                    <a:ea typeface="+mn-ea"/>
                  </a:rPr>
                  <a:t>si-correspondance</a:t>
                </a:r>
                <a:r>
                  <a:rPr lang="en-US" altLang="zh-CN" sz="1200" dirty="0" err="1">
                    <a:latin typeface="+mn-ea"/>
                    <a:ea typeface="+mn-ea"/>
                  </a:rPr>
                  <a:t>adresse IP</a:t>
                </a:r>
                <a:r>
                  <a:rPr lang="en-US" altLang="zh-CN" sz="1200" dirty="0">
                    <a:latin typeface="+mn-ea"/>
                    <a:ea typeface="+mn-ea"/>
                  </a:rPr>
                  <a:t>-préfixe Pref2</a:t>
                </a:r>
              </a:p>
              <a:p>
                <a:pPr algn="l" defTabSz="784225" rtl="0" eaLnBrk="0" fontAlgn="base" hangingPunct="0"/>
                <a:r>
                  <a:rPr lang="en-US" altLang="zh-CN" sz="1200" dirty="0">
                    <a:latin typeface="+mn-ea"/>
                    <a:ea typeface="+mn-ea"/>
                  </a:rPr>
                  <a:t>politique de routage RP autoriser le nœud 30</a:t>
                </a:r>
              </a:p>
              <a:p>
                <a:pPr algn="l" defTabSz="784225" rtl="0" eaLnBrk="0" fontAlgn="base" hangingPunct="0"/>
                <a:r>
                  <a:rPr lang="en-US" altLang="zh-CN" sz="1200" dirty="0">
                    <a:latin typeface="+mn-ea"/>
                    <a:ea typeface="+mn-ea"/>
                  </a:rPr>
                  <a:t>si-correspondance</a:t>
                </a:r>
                <a:r>
                  <a:rPr lang="en-US" altLang="zh-CN" sz="1200" dirty="0" err="1">
                    <a:latin typeface="+mn-ea"/>
                    <a:ea typeface="+mn-ea"/>
                  </a:rPr>
                  <a:t>acl</a:t>
                </a:r>
                <a:r>
                  <a:rPr lang="en-US" altLang="zh-CN" sz="1200" dirty="0">
                    <a:latin typeface="+mn-ea"/>
                    <a:ea typeface="+mn-ea"/>
                  </a:rPr>
                  <a:t>2001</a:t>
                </a:r>
              </a:p>
              <a:p>
                <a:pPr algn="l" defTabSz="784225" rtl="0" eaLnBrk="0" fontAlgn="base" hangingPunct="0"/>
                <a:r>
                  <a:rPr lang="en-US" altLang="zh-CN" sz="1200" dirty="0">
                    <a:latin typeface="+mn-ea"/>
                    <a:ea typeface="+mn-ea"/>
                  </a:rPr>
                  <a:t>si-correspondance</a:t>
                </a:r>
                <a:r>
                  <a:rPr lang="en-US" altLang="zh-CN" sz="1200" dirty="0" err="1">
                    <a:latin typeface="+mn-ea"/>
                    <a:ea typeface="+mn-ea"/>
                  </a:rPr>
                  <a:t>adresse IP</a:t>
                </a:r>
                <a:r>
                  <a:rPr lang="en-US" altLang="zh-CN" sz="1200" dirty="0">
                    <a:latin typeface="+mn-ea"/>
                    <a:ea typeface="+mn-ea"/>
                  </a:rPr>
                  <a:t>prochain saut</a:t>
                </a:r>
                <a:r>
                  <a:rPr lang="en-US" altLang="zh-CN" sz="1200" dirty="0" err="1">
                    <a:latin typeface="+mn-ea"/>
                    <a:ea typeface="+mn-ea"/>
                  </a:rPr>
                  <a:t>acl</a:t>
                </a:r>
                <a:r>
                  <a:rPr lang="en-US" altLang="zh-CN" sz="1200" dirty="0">
                    <a:latin typeface="+mn-ea"/>
                    <a:ea typeface="+mn-ea"/>
                  </a:rPr>
                  <a:t>2002</a:t>
                </a:r>
              </a:p>
              <a:p>
                <a:pPr algn="l" defTabSz="784225" rtl="0" eaLnBrk="0" fontAlgn="base" hangingPunct="0"/>
                <a:r>
                  <a:rPr lang="en-US" altLang="zh-CN" sz="1200" dirty="0">
                    <a:latin typeface="+mn-ea"/>
                    <a:ea typeface="+mn-ea"/>
                  </a:rPr>
                  <a:t>coût d'application 21</a:t>
                </a:r>
              </a:p>
              <a:p>
                <a:pPr algn="l" defTabSz="784225" rtl="0" eaLnBrk="0" fontAlgn="base" hangingPunct="0"/>
                <a:r>
                  <a:rPr lang="en-US" altLang="zh-CN" sz="1200" dirty="0">
                    <a:latin typeface="+mn-ea"/>
                    <a:ea typeface="+mn-ea"/>
                  </a:rPr>
                  <a:t>politique de routage RP autoriser le nœud 40</a:t>
                </a:r>
              </a:p>
              <a:p>
                <a:pPr algn="l" defTabSz="784225" rtl="0" eaLnBrk="0" fontAlgn="base" hangingPunct="0"/>
                <a:r>
                  <a:rPr lang="en-US" altLang="zh-CN" sz="1200" dirty="0">
                    <a:latin typeface="+mn-ea"/>
                    <a:ea typeface="+mn-ea"/>
                  </a:rPr>
                  <a:t>si-correspondance</a:t>
                </a:r>
                <a:r>
                  <a:rPr lang="en-US" altLang="zh-CN" sz="1200" dirty="0" err="1">
                    <a:latin typeface="+mn-ea"/>
                    <a:ea typeface="+mn-ea"/>
                  </a:rPr>
                  <a:t>adresse IP</a:t>
                </a:r>
                <a:r>
                  <a:rPr lang="en-US" altLang="zh-CN" sz="1200" dirty="0">
                    <a:latin typeface="+mn-ea"/>
                    <a:ea typeface="+mn-ea"/>
                  </a:rPr>
                  <a:t>-préfixe Pref3</a:t>
                </a:r>
              </a:p>
              <a:p>
                <a:pPr algn="l" defTabSz="784225" rtl="0" eaLnBrk="0" fontAlgn="base" hangingPunct="0"/>
                <a:r>
                  <a:rPr lang="en-US" altLang="zh-CN" sz="1200" dirty="0">
                    <a:latin typeface="+mn-ea"/>
                    <a:ea typeface="+mn-ea"/>
                  </a:rPr>
                  <a:t>coût d'application 11</a:t>
                </a:r>
              </a:p>
              <a:p>
                <a:pPr algn="l" defTabSz="784225" rtl="0" eaLnBrk="0" fontAlgn="base" hangingPunct="0"/>
                <a:r>
                  <a:rPr lang="en-US" altLang="zh-CN" sz="1200" dirty="0">
                    <a:latin typeface="+mn-ea"/>
                    <a:ea typeface="+mn-ea"/>
                  </a:rPr>
                  <a:t>politique de routage RP autoriser le nœud 50</a:t>
                </a:r>
              </a:p>
              <a:p>
                <a:pPr algn="l" defTabSz="784225" rtl="0" eaLnBrk="0" fontAlgn="base" hangingPunct="0"/>
                <a:r>
                  <a:rPr lang="en-US" altLang="zh-CN" sz="1200" dirty="0">
                    <a:latin typeface="+mn-ea"/>
                    <a:ea typeface="+mn-ea"/>
                  </a:rPr>
                  <a:t>#</a:t>
                </a:r>
              </a:p>
              <a:p>
                <a:pPr algn="l" defTabSz="784225" rtl="0" eaLnBrk="0" fontAlgn="base" hangingPunct="0"/>
                <a:r>
                  <a:rPr lang="en-US" altLang="zh-CN" sz="1200" dirty="0">
                    <a:latin typeface="+mn-ea"/>
                    <a:ea typeface="+mn-ea"/>
                  </a:rPr>
                  <a:t> </a:t>
                </a:r>
                <a:r>
                  <a:rPr lang="en-US" altLang="zh-CN" sz="1200" dirty="0" err="1">
                    <a:latin typeface="+mn-ea"/>
                    <a:ea typeface="+mn-ea"/>
                  </a:rPr>
                  <a:t>adresse IP</a:t>
                </a:r>
                <a:r>
                  <a:rPr lang="en-US" altLang="zh-CN" sz="1200" dirty="0">
                    <a:latin typeface="+mn-ea"/>
                    <a:ea typeface="+mn-ea"/>
                  </a:rPr>
                  <a:t> </a:t>
                </a:r>
                <a:r>
                  <a:rPr lang="en-US" altLang="zh-CN" sz="1200" dirty="0" err="1">
                    <a:latin typeface="+mn-ea"/>
                    <a:ea typeface="+mn-ea"/>
                  </a:rPr>
                  <a:t>adresse IP</a:t>
                </a:r>
                <a:r>
                  <a:rPr lang="en-US" altLang="zh-CN" sz="1200" dirty="0">
                    <a:latin typeface="+mn-ea"/>
                    <a:ea typeface="+mn-ea"/>
                  </a:rPr>
                  <a:t>-préfixe Pref1 index 10 autoriser 5.5.5.5 32</a:t>
                </a:r>
              </a:p>
              <a:p>
                <a:pPr algn="l" defTabSz="784225" rtl="0" eaLnBrk="0" fontAlgn="base" hangingPunct="0"/>
                <a:r>
                  <a:rPr lang="en-US" altLang="zh-CN" sz="1200" dirty="0">
                    <a:latin typeface="+mn-ea"/>
                    <a:ea typeface="+mn-ea"/>
                  </a:rPr>
                  <a:t> </a:t>
                </a:r>
                <a:r>
                  <a:rPr lang="en-US" altLang="zh-CN" sz="1200" dirty="0" err="1">
                    <a:latin typeface="+mn-ea"/>
                    <a:ea typeface="+mn-ea"/>
                  </a:rPr>
                  <a:t>adresse IP</a:t>
                </a:r>
                <a:r>
                  <a:rPr lang="en-US" altLang="zh-CN" sz="1200" dirty="0">
                    <a:latin typeface="+mn-ea"/>
                    <a:ea typeface="+mn-ea"/>
                  </a:rPr>
                  <a:t> </a:t>
                </a:r>
                <a:r>
                  <a:rPr lang="en-US" altLang="zh-CN" sz="1200" dirty="0" err="1">
                    <a:latin typeface="+mn-ea"/>
                    <a:ea typeface="+mn-ea"/>
                  </a:rPr>
                  <a:t>adresse IP</a:t>
                </a:r>
                <a:r>
                  <a:rPr lang="en-US" altLang="zh-CN" sz="1200" dirty="0">
                    <a:latin typeface="+mn-ea"/>
                    <a:ea typeface="+mn-ea"/>
                  </a:rPr>
                  <a:t>-préfixe Pref1 index 20 autoriser 1.1.2.0 24</a:t>
                </a:r>
              </a:p>
              <a:p>
                <a:pPr algn="l" defTabSz="784225" rtl="0" eaLnBrk="0" fontAlgn="base" hangingPunct="0"/>
                <a:r>
                  <a:rPr lang="en-US" altLang="zh-CN" sz="1200" dirty="0">
                    <a:latin typeface="+mn-ea"/>
                    <a:ea typeface="+mn-ea"/>
                  </a:rPr>
                  <a:t> </a:t>
                </a:r>
                <a:r>
                  <a:rPr lang="en-US" altLang="zh-CN" sz="1200" dirty="0" err="1">
                    <a:latin typeface="+mn-ea"/>
                    <a:ea typeface="+mn-ea"/>
                  </a:rPr>
                  <a:t>adresse IP</a:t>
                </a:r>
                <a:r>
                  <a:rPr lang="en-US" altLang="zh-CN" sz="1200" dirty="0">
                    <a:latin typeface="+mn-ea"/>
                    <a:ea typeface="+mn-ea"/>
                  </a:rPr>
                  <a:t> </a:t>
                </a:r>
                <a:r>
                  <a:rPr lang="en-US" altLang="zh-CN" sz="1200" dirty="0" err="1">
                    <a:latin typeface="+mn-ea"/>
                    <a:ea typeface="+mn-ea"/>
                  </a:rPr>
                  <a:t>adresse IP</a:t>
                </a:r>
                <a:r>
                  <a:rPr lang="en-US" altLang="zh-CN" sz="1200" dirty="0">
                    <a:latin typeface="+mn-ea"/>
                    <a:ea typeface="+mn-ea"/>
                  </a:rPr>
                  <a:t>-préfixe Pref2 index 10 refuser 6.6.6.6 32</a:t>
                </a:r>
              </a:p>
              <a:p>
                <a:pPr algn="l" defTabSz="784225" rtl="0" eaLnBrk="0" fontAlgn="base" hangingPunct="0"/>
                <a:r>
                  <a:rPr lang="en-US" altLang="zh-CN" sz="1200" dirty="0">
                    <a:latin typeface="+mn-ea"/>
                    <a:ea typeface="+mn-ea"/>
                  </a:rPr>
                  <a:t> </a:t>
                </a:r>
                <a:r>
                  <a:rPr lang="en-US" altLang="zh-CN" sz="1200" dirty="0" err="1">
                    <a:latin typeface="+mn-ea"/>
                    <a:ea typeface="+mn-ea"/>
                  </a:rPr>
                  <a:t>adresse IP</a:t>
                </a:r>
                <a:r>
                  <a:rPr lang="en-US" altLang="zh-CN" sz="1200" dirty="0">
                    <a:latin typeface="+mn-ea"/>
                    <a:ea typeface="+mn-ea"/>
                  </a:rPr>
                  <a:t> </a:t>
                </a:r>
                <a:r>
                  <a:rPr lang="en-US" altLang="zh-CN" sz="1200" dirty="0" err="1">
                    <a:latin typeface="+mn-ea"/>
                    <a:ea typeface="+mn-ea"/>
                  </a:rPr>
                  <a:t>adresse IP</a:t>
                </a:r>
                <a:r>
                  <a:rPr lang="en-US" altLang="zh-CN" sz="1200" dirty="0">
                    <a:latin typeface="+mn-ea"/>
                    <a:ea typeface="+mn-ea"/>
                  </a:rPr>
                  <a:t>-préfixe Pref3 index 10 autoriser 1.1.3.0 24</a:t>
                </a:r>
              </a:p>
              <a:p>
                <a:pPr algn="l" defTabSz="784225" rtl="0" eaLnBrk="0" fontAlgn="base" hangingPunct="0"/>
                <a:r>
                  <a:rPr lang="en-US" altLang="zh-CN" sz="1200" dirty="0">
                    <a:latin typeface="+mn-ea"/>
                    <a:ea typeface="+mn-ea"/>
                  </a:rPr>
                  <a:t>   supérieur ou égal à 25 inférieur ou égal à 25</a:t>
                </a:r>
              </a:p>
            </p:txBody>
          </p:sp>
          <p:sp>
            <p:nvSpPr>
              <p:cNvPr id="16" name="AutoShape 6"/>
              <p:cNvSpPr>
                <a:spLocks noChangeArrowheads="1"/>
              </p:cNvSpPr>
              <p:nvPr/>
            </p:nvSpPr>
            <p:spPr bwMode="auto">
              <a:xfrm rot="20802587">
                <a:off x="5159897" y="1262772"/>
                <a:ext cx="663575" cy="293688"/>
              </a:xfrm>
              <a:prstGeom prst="curvedDownArrow">
                <a:avLst>
                  <a:gd name="adj1" fmla="val 41277"/>
                  <a:gd name="adj2" fmla="val 82575"/>
                  <a:gd name="adj3" fmla="val 33333"/>
                </a:avLst>
              </a:prstGeom>
              <a:solidFill>
                <a:schemeClr val="tx1"/>
              </a:solidFill>
              <a:ln w="9525">
                <a:solidFill>
                  <a:schemeClr val="tx1"/>
                </a:solidFill>
                <a:miter lim="800000"/>
                <a:headEnd/>
                <a:tailEnd/>
              </a:ln>
            </p:spPr>
            <p:txBody>
              <a:bodyPr wrap="none" anchor="ctr"/>
              <a:lstStyle/>
              <a:p>
                <a:pPr algn="l" rtl="0"/>
                <a:endParaRPr lang="zh-CN" altLang="en-US">
                  <a:latin typeface="+mn-ea"/>
                  <a:ea typeface="+mn-ea"/>
                </a:endParaRPr>
              </a:p>
            </p:txBody>
          </p:sp>
          <p:sp>
            <p:nvSpPr>
              <p:cNvPr id="17" name="TextBox 8"/>
              <p:cNvSpPr txBox="1"/>
              <p:nvPr/>
            </p:nvSpPr>
            <p:spPr>
              <a:xfrm>
                <a:off x="3431704" y="1412777"/>
                <a:ext cx="792088" cy="246221"/>
              </a:xfrm>
              <a:prstGeom prst="rect">
                <a:avLst/>
              </a:prstGeom>
              <a:noFill/>
            </p:spPr>
            <p:txBody>
              <a:bodyPr wrap="square" lIns="0" tIns="0" rIns="0" bIns="0" rtlCol="0">
                <a:spAutoFit/>
              </a:bodyPr>
              <a:lstStyle/>
              <a:p>
                <a:pPr algn="l" rtl="0"/>
                <a:r>
                  <a:rPr lang="en-US" altLang="zh-CN" sz="1600" b="1" dirty="0">
                    <a:latin typeface="+mn-ea"/>
                    <a:ea typeface="+mn-ea"/>
                  </a:rPr>
                  <a:t>Tableau 1</a:t>
                </a:r>
              </a:p>
            </p:txBody>
          </p:sp>
          <p:sp>
            <p:nvSpPr>
              <p:cNvPr id="18" name="TextBox 9"/>
              <p:cNvSpPr txBox="1"/>
              <p:nvPr/>
            </p:nvSpPr>
            <p:spPr>
              <a:xfrm>
                <a:off x="3431704" y="4437113"/>
                <a:ext cx="792088" cy="246221"/>
              </a:xfrm>
              <a:prstGeom prst="rect">
                <a:avLst/>
              </a:prstGeom>
              <a:noFill/>
            </p:spPr>
            <p:txBody>
              <a:bodyPr wrap="square" lIns="0" tIns="0" rIns="0" bIns="0" rtlCol="0">
                <a:spAutoFit/>
              </a:bodyPr>
              <a:lstStyle/>
              <a:p>
                <a:pPr algn="l" rtl="0"/>
                <a:r>
                  <a:rPr lang="en-US" altLang="zh-CN" sz="1600" b="1" dirty="0">
                    <a:latin typeface="+mn-ea"/>
                    <a:ea typeface="+mn-ea"/>
                  </a:rPr>
                  <a:t>Tableau 2</a:t>
                </a:r>
              </a:p>
            </p:txBody>
          </p:sp>
        </p:grpSp>
        <p:sp>
          <p:nvSpPr>
            <p:cNvPr id="19" name="AutoShape 7"/>
            <p:cNvSpPr>
              <a:spLocks noChangeArrowheads="1"/>
            </p:cNvSpPr>
            <p:nvPr/>
          </p:nvSpPr>
          <p:spPr bwMode="auto">
            <a:xfrm rot="11962166">
              <a:off x="5043770" y="5841567"/>
              <a:ext cx="702299" cy="288031"/>
            </a:xfrm>
            <a:prstGeom prst="curvedDownArrow">
              <a:avLst>
                <a:gd name="adj1" fmla="val 39154"/>
                <a:gd name="adj2" fmla="val 78295"/>
                <a:gd name="adj3" fmla="val 33333"/>
              </a:avLst>
            </a:prstGeom>
            <a:solidFill>
              <a:schemeClr val="tx1"/>
            </a:solidFill>
            <a:ln w="9525">
              <a:solidFill>
                <a:schemeClr val="tx1"/>
              </a:solidFill>
              <a:miter lim="800000"/>
              <a:headEnd/>
              <a:tailEnd/>
            </a:ln>
          </p:spPr>
          <p:txBody>
            <a:bodyPr wrap="none" anchor="ctr"/>
            <a:lstStyle/>
            <a:p>
              <a:pPr algn="l" rtl="0"/>
              <a:endParaRPr lang="zh-CN" altLang="en-US"/>
            </a:p>
          </p:txBody>
        </p:sp>
      </p:grpSp>
    </p:spTree>
    <p:extLst>
      <p:ext uri="{BB962C8B-B14F-4D97-AF65-F5344CB8AC3E}">
        <p14:creationId xmlns:p14="http://schemas.microsoft.com/office/powerpoint/2010/main" val="389301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pPr algn="l" rtl="0"/>
            <a:r>
              <a:rPr lang="en-US" altLang="zh-CN" dirty="0"/>
              <a:t>Politique d'itinéraireConfiguration (1)</a:t>
            </a:r>
            <a:endParaRPr lang="zh-CN" altLang="en-US" dirty="0"/>
          </a:p>
        </p:txBody>
      </p:sp>
      <p:sp>
        <p:nvSpPr>
          <p:cNvPr id="49" name="圆角矩形 48"/>
          <p:cNvSpPr/>
          <p:nvPr/>
        </p:nvSpPr>
        <p:spPr bwMode="auto">
          <a:xfrm>
            <a:off x="8075612" y="3484563"/>
            <a:ext cx="1980827" cy="665162"/>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800" dirty="0">
              <a:latin typeface="+mn-lt"/>
              <a:ea typeface="+mn-ea"/>
            </a:endParaRPr>
          </a:p>
        </p:txBody>
      </p:sp>
      <p:sp>
        <p:nvSpPr>
          <p:cNvPr id="50" name="圆角矩形 49"/>
          <p:cNvSpPr/>
          <p:nvPr/>
        </p:nvSpPr>
        <p:spPr bwMode="auto">
          <a:xfrm>
            <a:off x="8075613" y="2776538"/>
            <a:ext cx="1980827" cy="652462"/>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800" dirty="0">
              <a:latin typeface="+mn-lt"/>
              <a:ea typeface="+mn-ea"/>
            </a:endParaRPr>
          </a:p>
        </p:txBody>
      </p:sp>
      <p:cxnSp>
        <p:nvCxnSpPr>
          <p:cNvPr id="37893" name="直接连接符 50"/>
          <p:cNvCxnSpPr>
            <a:cxnSpLocks noChangeShapeType="1"/>
          </p:cNvCxnSpPr>
          <p:nvPr/>
        </p:nvCxnSpPr>
        <p:spPr bwMode="auto">
          <a:xfrm flipV="1">
            <a:off x="6904038" y="3740150"/>
            <a:ext cx="519112" cy="1627188"/>
          </a:xfrm>
          <a:prstGeom prst="line">
            <a:avLst/>
          </a:prstGeom>
          <a:noFill/>
          <a:ln w="28575" algn="ctr">
            <a:solidFill>
              <a:srgbClr val="C00000"/>
            </a:solidFill>
            <a:prstDash val="sysDot"/>
            <a:round/>
            <a:headEnd/>
            <a:tailEnd/>
          </a:ln>
        </p:spPr>
      </p:cxnSp>
      <p:sp>
        <p:nvSpPr>
          <p:cNvPr id="52" name="圆角矩形 51"/>
          <p:cNvSpPr/>
          <p:nvPr/>
        </p:nvSpPr>
        <p:spPr bwMode="auto">
          <a:xfrm>
            <a:off x="8058150" y="4211638"/>
            <a:ext cx="1998290" cy="72390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800" dirty="0">
              <a:latin typeface="+mn-lt"/>
              <a:ea typeface="+mn-ea"/>
            </a:endParaRPr>
          </a:p>
        </p:txBody>
      </p:sp>
      <p:cxnSp>
        <p:nvCxnSpPr>
          <p:cNvPr id="37895" name="直接连接符 52"/>
          <p:cNvCxnSpPr>
            <a:cxnSpLocks noChangeShapeType="1"/>
          </p:cNvCxnSpPr>
          <p:nvPr/>
        </p:nvCxnSpPr>
        <p:spPr bwMode="auto">
          <a:xfrm flipV="1">
            <a:off x="6037263" y="2205039"/>
            <a:ext cx="1282700" cy="1411287"/>
          </a:xfrm>
          <a:prstGeom prst="line">
            <a:avLst/>
          </a:prstGeom>
          <a:noFill/>
          <a:ln w="28575" algn="ctr">
            <a:solidFill>
              <a:srgbClr val="C00000"/>
            </a:solidFill>
            <a:prstDash val="sysDot"/>
            <a:round/>
            <a:headEnd/>
            <a:tailEnd/>
          </a:ln>
        </p:spPr>
      </p:cxnSp>
      <p:sp>
        <p:nvSpPr>
          <p:cNvPr id="54" name="圆角矩形 53"/>
          <p:cNvSpPr/>
          <p:nvPr/>
        </p:nvSpPr>
        <p:spPr bwMode="auto">
          <a:xfrm>
            <a:off x="2428876" y="3979864"/>
            <a:ext cx="1527175" cy="750887"/>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800" dirty="0">
              <a:latin typeface="+mn-lt"/>
              <a:ea typeface="+mn-ea"/>
            </a:endParaRPr>
          </a:p>
        </p:txBody>
      </p:sp>
      <p:cxnSp>
        <p:nvCxnSpPr>
          <p:cNvPr id="37897" name="直接连接符 54"/>
          <p:cNvCxnSpPr>
            <a:cxnSpLocks noChangeShapeType="1"/>
          </p:cNvCxnSpPr>
          <p:nvPr/>
        </p:nvCxnSpPr>
        <p:spPr bwMode="auto">
          <a:xfrm flipH="1" flipV="1">
            <a:off x="4060825" y="2381251"/>
            <a:ext cx="611188" cy="923925"/>
          </a:xfrm>
          <a:prstGeom prst="line">
            <a:avLst/>
          </a:prstGeom>
          <a:noFill/>
          <a:ln w="28575" algn="ctr">
            <a:solidFill>
              <a:srgbClr val="C00000"/>
            </a:solidFill>
            <a:prstDash val="sysDot"/>
            <a:round/>
            <a:headEnd/>
            <a:tailEnd/>
          </a:ln>
        </p:spPr>
      </p:cxnSp>
      <p:sp>
        <p:nvSpPr>
          <p:cNvPr id="56" name="圆角矩形 55"/>
          <p:cNvSpPr/>
          <p:nvPr/>
        </p:nvSpPr>
        <p:spPr bwMode="auto">
          <a:xfrm>
            <a:off x="2435226" y="2695575"/>
            <a:ext cx="1470025"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800" dirty="0">
              <a:latin typeface="+mn-lt"/>
              <a:ea typeface="+mn-ea"/>
            </a:endParaRPr>
          </a:p>
        </p:txBody>
      </p:sp>
      <p:sp>
        <p:nvSpPr>
          <p:cNvPr id="37899" name="矩形 56"/>
          <p:cNvSpPr>
            <a:spLocks noChangeArrowheads="1"/>
          </p:cNvSpPr>
          <p:nvPr/>
        </p:nvSpPr>
        <p:spPr bwMode="auto">
          <a:xfrm>
            <a:off x="8901114" y="2866156"/>
            <a:ext cx="1023936" cy="430887"/>
          </a:xfrm>
          <a:prstGeom prst="rect">
            <a:avLst/>
          </a:prstGeom>
          <a:noFill/>
          <a:ln w="9525">
            <a:noFill/>
            <a:miter lim="800000"/>
            <a:headEnd/>
            <a:tailEnd/>
          </a:ln>
        </p:spPr>
        <p:txBody>
          <a:bodyPr wrap="square">
            <a:spAutoFit/>
          </a:bodyPr>
          <a:lstStyle/>
          <a:p>
            <a:pPr algn="l" rtl="0" eaLnBrk="0" fontAlgn="t" hangingPunct="0">
              <a:buSzPct val="100000"/>
            </a:pPr>
            <a:r>
              <a:rPr lang="en-US" altLang="zh-CN" sz="1100" b="1" dirty="0">
                <a:solidFill>
                  <a:srgbClr val="000000"/>
                </a:solidFill>
                <a:latin typeface="+mn-lt"/>
                <a:ea typeface="+mn-ea"/>
                <a:sym typeface="FrutigerNext LT Regular" pitchFamily="34" charset="0"/>
              </a:rPr>
              <a:t>département financier</a:t>
            </a:r>
          </a:p>
        </p:txBody>
      </p:sp>
      <p:cxnSp>
        <p:nvCxnSpPr>
          <p:cNvPr id="37900" name="直接连接符 57"/>
          <p:cNvCxnSpPr>
            <a:cxnSpLocks noChangeShapeType="1"/>
          </p:cNvCxnSpPr>
          <p:nvPr/>
        </p:nvCxnSpPr>
        <p:spPr bwMode="auto">
          <a:xfrm flipH="1" flipV="1">
            <a:off x="3656013" y="3073400"/>
            <a:ext cx="1249362" cy="400050"/>
          </a:xfrm>
          <a:prstGeom prst="line">
            <a:avLst/>
          </a:prstGeom>
          <a:noFill/>
          <a:ln w="28575" algn="ctr">
            <a:solidFill>
              <a:schemeClr val="tx1"/>
            </a:solidFill>
            <a:round/>
            <a:headEnd/>
            <a:tailEnd/>
          </a:ln>
        </p:spPr>
      </p:cxnSp>
      <p:cxnSp>
        <p:nvCxnSpPr>
          <p:cNvPr id="59" name="直接连接符 58"/>
          <p:cNvCxnSpPr/>
          <p:nvPr/>
        </p:nvCxnSpPr>
        <p:spPr bwMode="auto">
          <a:xfrm>
            <a:off x="4881563" y="3429001"/>
            <a:ext cx="1155700" cy="327025"/>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902" name="直接连接符 59"/>
          <p:cNvCxnSpPr>
            <a:cxnSpLocks noChangeShapeType="1"/>
          </p:cNvCxnSpPr>
          <p:nvPr/>
        </p:nvCxnSpPr>
        <p:spPr bwMode="auto">
          <a:xfrm flipV="1">
            <a:off x="4873626" y="3776664"/>
            <a:ext cx="1211263" cy="452437"/>
          </a:xfrm>
          <a:prstGeom prst="line">
            <a:avLst/>
          </a:prstGeom>
          <a:noFill/>
          <a:ln w="28575" algn="ctr">
            <a:solidFill>
              <a:schemeClr val="tx1"/>
            </a:solidFill>
            <a:round/>
            <a:headEnd/>
            <a:tailEnd/>
          </a:ln>
        </p:spPr>
      </p:cxnSp>
      <p:cxnSp>
        <p:nvCxnSpPr>
          <p:cNvPr id="37903" name="直接连接符 60"/>
          <p:cNvCxnSpPr>
            <a:cxnSpLocks noChangeShapeType="1"/>
          </p:cNvCxnSpPr>
          <p:nvPr/>
        </p:nvCxnSpPr>
        <p:spPr bwMode="auto">
          <a:xfrm flipH="1">
            <a:off x="3471864" y="4224339"/>
            <a:ext cx="1246187" cy="250825"/>
          </a:xfrm>
          <a:prstGeom prst="line">
            <a:avLst/>
          </a:prstGeom>
          <a:noFill/>
          <a:ln w="28575" algn="ctr">
            <a:solidFill>
              <a:schemeClr val="tx1"/>
            </a:solidFill>
            <a:round/>
            <a:headEnd/>
            <a:tailEnd/>
          </a:ln>
        </p:spPr>
      </p:cxnSp>
      <p:cxnSp>
        <p:nvCxnSpPr>
          <p:cNvPr id="37904" name="直接连接符 61"/>
          <p:cNvCxnSpPr>
            <a:cxnSpLocks noChangeShapeType="1"/>
          </p:cNvCxnSpPr>
          <p:nvPr/>
        </p:nvCxnSpPr>
        <p:spPr bwMode="auto">
          <a:xfrm>
            <a:off x="6059488" y="3786188"/>
            <a:ext cx="1116012" cy="0"/>
          </a:xfrm>
          <a:prstGeom prst="line">
            <a:avLst/>
          </a:prstGeom>
          <a:noFill/>
          <a:ln w="28575" algn="ctr">
            <a:solidFill>
              <a:schemeClr val="tx1"/>
            </a:solidFill>
            <a:round/>
            <a:headEnd/>
            <a:tailEnd/>
          </a:ln>
        </p:spPr>
      </p:cxnSp>
      <p:cxnSp>
        <p:nvCxnSpPr>
          <p:cNvPr id="37905" name="直接连接符 62"/>
          <p:cNvCxnSpPr>
            <a:cxnSpLocks noChangeShapeType="1"/>
          </p:cNvCxnSpPr>
          <p:nvPr/>
        </p:nvCxnSpPr>
        <p:spPr bwMode="auto">
          <a:xfrm flipH="1">
            <a:off x="7473950" y="3033714"/>
            <a:ext cx="998538" cy="644525"/>
          </a:xfrm>
          <a:prstGeom prst="line">
            <a:avLst/>
          </a:prstGeom>
          <a:noFill/>
          <a:ln w="28575" algn="ctr">
            <a:solidFill>
              <a:schemeClr val="tx1"/>
            </a:solidFill>
            <a:round/>
            <a:headEnd/>
            <a:tailEnd/>
          </a:ln>
        </p:spPr>
      </p:cxnSp>
      <p:cxnSp>
        <p:nvCxnSpPr>
          <p:cNvPr id="37906" name="直接连接符 63"/>
          <p:cNvCxnSpPr>
            <a:cxnSpLocks noChangeShapeType="1"/>
          </p:cNvCxnSpPr>
          <p:nvPr/>
        </p:nvCxnSpPr>
        <p:spPr bwMode="auto">
          <a:xfrm flipV="1">
            <a:off x="7419975" y="3752850"/>
            <a:ext cx="979488" cy="0"/>
          </a:xfrm>
          <a:prstGeom prst="line">
            <a:avLst/>
          </a:prstGeom>
          <a:noFill/>
          <a:ln w="28575" algn="ctr">
            <a:solidFill>
              <a:schemeClr val="tx1"/>
            </a:solidFill>
            <a:round/>
            <a:headEnd/>
            <a:tailEnd/>
          </a:ln>
        </p:spPr>
      </p:cxnSp>
      <p:cxnSp>
        <p:nvCxnSpPr>
          <p:cNvPr id="37907" name="直接连接符 64"/>
          <p:cNvCxnSpPr>
            <a:cxnSpLocks noChangeShapeType="1"/>
          </p:cNvCxnSpPr>
          <p:nvPr/>
        </p:nvCxnSpPr>
        <p:spPr bwMode="auto">
          <a:xfrm>
            <a:off x="7321551" y="3860800"/>
            <a:ext cx="1152525" cy="736600"/>
          </a:xfrm>
          <a:prstGeom prst="line">
            <a:avLst/>
          </a:prstGeom>
          <a:noFill/>
          <a:ln w="28575" algn="ctr">
            <a:solidFill>
              <a:schemeClr val="tx1"/>
            </a:solidFill>
            <a:round/>
            <a:headEnd/>
            <a:tailEnd/>
          </a:ln>
        </p:spPr>
      </p:cxnSp>
      <p:sp>
        <p:nvSpPr>
          <p:cNvPr id="37908" name="矩形 65"/>
          <p:cNvSpPr>
            <a:spLocks noChangeArrowheads="1"/>
          </p:cNvSpPr>
          <p:nvPr/>
        </p:nvSpPr>
        <p:spPr bwMode="auto">
          <a:xfrm>
            <a:off x="2424113" y="4013200"/>
            <a:ext cx="1149674" cy="261610"/>
          </a:xfrm>
          <a:prstGeom prst="rect">
            <a:avLst/>
          </a:prstGeom>
          <a:noFill/>
          <a:ln w="9525">
            <a:noFill/>
            <a:miter lim="800000"/>
            <a:headEnd/>
            <a:tailEnd/>
          </a:ln>
        </p:spPr>
        <p:txBody>
          <a:bodyPr wrap="none">
            <a:spAutoFit/>
          </a:bodyPr>
          <a:lstStyle/>
          <a:p>
            <a:pPr algn="l" rtl="0" eaLnBrk="0" fontAlgn="t" hangingPunct="0">
              <a:buSzPct val="100000"/>
            </a:pPr>
            <a:r>
              <a:rPr lang="en-US" altLang="zh-CN" sz="1100" b="1" dirty="0">
                <a:solidFill>
                  <a:srgbClr val="000000"/>
                </a:solidFill>
                <a:latin typeface="+mn-lt"/>
                <a:ea typeface="+mn-ea"/>
                <a:sym typeface="FrutigerNext LT Regular" pitchFamily="34" charset="0"/>
              </a:rPr>
              <a:t>Quartier général</a:t>
            </a:r>
          </a:p>
        </p:txBody>
      </p:sp>
      <p:sp>
        <p:nvSpPr>
          <p:cNvPr id="37909" name="矩形 66"/>
          <p:cNvSpPr>
            <a:spLocks noChangeArrowheads="1"/>
          </p:cNvSpPr>
          <p:nvPr/>
        </p:nvSpPr>
        <p:spPr bwMode="auto">
          <a:xfrm>
            <a:off x="8901114" y="3574178"/>
            <a:ext cx="1023936" cy="430887"/>
          </a:xfrm>
          <a:prstGeom prst="rect">
            <a:avLst/>
          </a:prstGeom>
          <a:noFill/>
          <a:ln w="9525">
            <a:noFill/>
            <a:miter lim="800000"/>
            <a:headEnd/>
            <a:tailEnd/>
          </a:ln>
        </p:spPr>
        <p:txBody>
          <a:bodyPr wrap="square">
            <a:spAutoFit/>
          </a:bodyPr>
          <a:lstStyle/>
          <a:p>
            <a:pPr algn="l" rtl="0" eaLnBrk="0" fontAlgn="t" hangingPunct="0">
              <a:buSzPct val="100000"/>
            </a:pPr>
            <a:r>
              <a:rPr lang="en-US" altLang="zh-CN" sz="1100" b="1" dirty="0">
                <a:solidFill>
                  <a:srgbClr val="000000"/>
                </a:solidFill>
                <a:latin typeface="+mn-lt"/>
                <a:ea typeface="+mn-ea"/>
                <a:sym typeface="FrutigerNext LT Regular" pitchFamily="34" charset="0"/>
              </a:rPr>
              <a:t>département R&amp;D</a:t>
            </a:r>
          </a:p>
        </p:txBody>
      </p:sp>
      <p:sp>
        <p:nvSpPr>
          <p:cNvPr id="37910" name="矩形 67"/>
          <p:cNvSpPr>
            <a:spLocks noChangeArrowheads="1"/>
          </p:cNvSpPr>
          <p:nvPr/>
        </p:nvSpPr>
        <p:spPr bwMode="auto">
          <a:xfrm>
            <a:off x="8869000" y="4326141"/>
            <a:ext cx="1277156" cy="430887"/>
          </a:xfrm>
          <a:prstGeom prst="rect">
            <a:avLst/>
          </a:prstGeom>
          <a:noFill/>
          <a:ln w="9525">
            <a:noFill/>
            <a:miter lim="800000"/>
            <a:headEnd/>
            <a:tailEnd/>
          </a:ln>
        </p:spPr>
        <p:txBody>
          <a:bodyPr wrap="square">
            <a:spAutoFit/>
          </a:bodyPr>
          <a:lstStyle/>
          <a:p>
            <a:pPr algn="l" rtl="0" eaLnBrk="0" fontAlgn="t" hangingPunct="0">
              <a:buSzPct val="100000"/>
            </a:pPr>
            <a:r>
              <a:rPr lang="en-US" altLang="zh-CN" sz="1100" b="1" dirty="0">
                <a:solidFill>
                  <a:srgbClr val="000000"/>
                </a:solidFill>
                <a:latin typeface="+mn-lt"/>
                <a:ea typeface="+mn-ea"/>
                <a:sym typeface="FrutigerNext LT Regular" pitchFamily="34" charset="0"/>
              </a:rPr>
              <a:t>Service de documentation</a:t>
            </a:r>
          </a:p>
        </p:txBody>
      </p:sp>
      <p:sp>
        <p:nvSpPr>
          <p:cNvPr id="37911" name="文本框 68"/>
          <p:cNvSpPr txBox="1">
            <a:spLocks noChangeArrowheads="1"/>
          </p:cNvSpPr>
          <p:nvPr/>
        </p:nvSpPr>
        <p:spPr bwMode="auto">
          <a:xfrm>
            <a:off x="5603875" y="2859088"/>
            <a:ext cx="787400"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C00000"/>
                </a:solidFill>
                <a:latin typeface="+mn-lt"/>
                <a:ea typeface="+mn-ea"/>
                <a:cs typeface="Arial" charset="0"/>
                <a:sym typeface="FrutigerNext LT Regular" pitchFamily="34" charset="0"/>
              </a:rPr>
              <a:t>OSPF</a:t>
            </a:r>
          </a:p>
        </p:txBody>
      </p:sp>
      <p:sp>
        <p:nvSpPr>
          <p:cNvPr id="37912" name="文本框 69"/>
          <p:cNvSpPr txBox="1">
            <a:spLocks noChangeArrowheads="1"/>
          </p:cNvSpPr>
          <p:nvPr/>
        </p:nvSpPr>
        <p:spPr bwMode="auto">
          <a:xfrm>
            <a:off x="2345198" y="2836671"/>
            <a:ext cx="1033452" cy="439503"/>
          </a:xfrm>
          <a:prstGeom prst="rect">
            <a:avLst/>
          </a:prstGeom>
          <a:noFill/>
          <a:ln w="9525">
            <a:noFill/>
            <a:miter lim="800000"/>
            <a:headEnd/>
            <a:tailEnd/>
          </a:ln>
        </p:spPr>
        <p:txBody>
          <a:bodyPr wrap="square" lIns="99980" tIns="49986" rIns="99980" bIns="49986">
            <a:spAutoFit/>
          </a:bodyPr>
          <a:lstStyle/>
          <a:p>
            <a:pPr algn="ctr" defTabSz="1000125" rtl="0" eaLnBrk="0" hangingPunct="0">
              <a:buSzPct val="100000"/>
            </a:pPr>
            <a:r>
              <a:rPr lang="en-US" altLang="zh-CN" sz="1100" b="1" dirty="0">
                <a:solidFill>
                  <a:srgbClr val="000000"/>
                </a:solidFill>
                <a:latin typeface="+mn-lt"/>
                <a:ea typeface="+mn-ea"/>
                <a:cs typeface="Arial" charset="0"/>
                <a:sym typeface="FrutigerNext LT Regular" pitchFamily="34" charset="0"/>
              </a:rPr>
              <a:t>département marketing</a:t>
            </a:r>
          </a:p>
        </p:txBody>
      </p:sp>
      <p:sp>
        <p:nvSpPr>
          <p:cNvPr id="37918" name="文本框 75"/>
          <p:cNvSpPr txBox="1">
            <a:spLocks noChangeArrowheads="1"/>
          </p:cNvSpPr>
          <p:nvPr/>
        </p:nvSpPr>
        <p:spPr bwMode="auto">
          <a:xfrm>
            <a:off x="4403726" y="4513264"/>
            <a:ext cx="771525"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b="1" dirty="0">
                <a:solidFill>
                  <a:srgbClr val="000000"/>
                </a:solidFill>
                <a:latin typeface="+mn-lt"/>
                <a:ea typeface="+mn-ea"/>
                <a:cs typeface="Arial" charset="0"/>
                <a:sym typeface="FrutigerNext LT Regular" pitchFamily="34" charset="0"/>
              </a:rPr>
              <a:t>RTD</a:t>
            </a:r>
          </a:p>
        </p:txBody>
      </p:sp>
      <p:sp>
        <p:nvSpPr>
          <p:cNvPr id="37919" name="文本框 76"/>
          <p:cNvSpPr txBox="1">
            <a:spLocks noChangeArrowheads="1"/>
          </p:cNvSpPr>
          <p:nvPr/>
        </p:nvSpPr>
        <p:spPr bwMode="auto">
          <a:xfrm>
            <a:off x="4403726" y="2932114"/>
            <a:ext cx="771525"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b="1" dirty="0">
                <a:solidFill>
                  <a:srgbClr val="000000"/>
                </a:solidFill>
                <a:latin typeface="+mn-lt"/>
                <a:ea typeface="+mn-ea"/>
                <a:cs typeface="Arial" charset="0"/>
                <a:sym typeface="FrutigerNext LT Regular" pitchFamily="34" charset="0"/>
              </a:rPr>
              <a:t>RTC</a:t>
            </a:r>
          </a:p>
        </p:txBody>
      </p:sp>
      <p:sp>
        <p:nvSpPr>
          <p:cNvPr id="37920" name="文本框 77"/>
          <p:cNvSpPr txBox="1">
            <a:spLocks noChangeArrowheads="1"/>
          </p:cNvSpPr>
          <p:nvPr/>
        </p:nvSpPr>
        <p:spPr bwMode="auto">
          <a:xfrm>
            <a:off x="5683251" y="4005264"/>
            <a:ext cx="773113"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b="1" dirty="0">
                <a:solidFill>
                  <a:srgbClr val="000000"/>
                </a:solidFill>
                <a:latin typeface="+mn-lt"/>
                <a:ea typeface="+mn-ea"/>
                <a:cs typeface="Arial" charset="0"/>
                <a:sym typeface="FrutigerNext LT Regular" pitchFamily="34" charset="0"/>
              </a:rPr>
              <a:t>RTB</a:t>
            </a:r>
          </a:p>
        </p:txBody>
      </p:sp>
      <p:sp>
        <p:nvSpPr>
          <p:cNvPr id="37921" name="文本框 78"/>
          <p:cNvSpPr txBox="1">
            <a:spLocks noChangeArrowheads="1"/>
          </p:cNvSpPr>
          <p:nvPr/>
        </p:nvSpPr>
        <p:spPr bwMode="auto">
          <a:xfrm>
            <a:off x="6675438" y="3998914"/>
            <a:ext cx="773112"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b="1" dirty="0">
                <a:solidFill>
                  <a:srgbClr val="000000"/>
                </a:solidFill>
                <a:latin typeface="+mn-lt"/>
                <a:ea typeface="+mn-ea"/>
                <a:cs typeface="Arial" charset="0"/>
                <a:sym typeface="FrutigerNext LT Regular" pitchFamily="34" charset="0"/>
              </a:rPr>
              <a:t>RTA</a:t>
            </a:r>
          </a:p>
        </p:txBody>
      </p:sp>
      <p:sp>
        <p:nvSpPr>
          <p:cNvPr id="37922" name="文本框 79"/>
          <p:cNvSpPr txBox="1">
            <a:spLocks noChangeArrowheads="1"/>
          </p:cNvSpPr>
          <p:nvPr/>
        </p:nvSpPr>
        <p:spPr bwMode="auto">
          <a:xfrm rot="1032180">
            <a:off x="3806825" y="3012901"/>
            <a:ext cx="833438"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050" dirty="0">
                <a:solidFill>
                  <a:srgbClr val="000000"/>
                </a:solidFill>
                <a:latin typeface="+mn-lt"/>
                <a:ea typeface="+mn-ea"/>
                <a:cs typeface="Arial" charset="0"/>
                <a:sym typeface="FrutigerNext LT Regular" pitchFamily="34" charset="0"/>
              </a:rPr>
              <a:t>10.1.4.0</a:t>
            </a:r>
          </a:p>
        </p:txBody>
      </p:sp>
      <p:sp>
        <p:nvSpPr>
          <p:cNvPr id="37923" name="文本框 80"/>
          <p:cNvSpPr txBox="1">
            <a:spLocks noChangeArrowheads="1"/>
          </p:cNvSpPr>
          <p:nvPr/>
        </p:nvSpPr>
        <p:spPr bwMode="auto">
          <a:xfrm rot="1035426">
            <a:off x="5060950" y="3357388"/>
            <a:ext cx="831850"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050" dirty="0">
                <a:solidFill>
                  <a:srgbClr val="000000"/>
                </a:solidFill>
                <a:latin typeface="+mn-lt"/>
                <a:ea typeface="+mn-ea"/>
                <a:cs typeface="Arial" charset="0"/>
                <a:sym typeface="FrutigerNext LT Regular" pitchFamily="34" charset="0"/>
              </a:rPr>
              <a:t>12.1.2.0</a:t>
            </a:r>
          </a:p>
        </p:txBody>
      </p:sp>
      <p:sp>
        <p:nvSpPr>
          <p:cNvPr id="37924" name="文本框 81"/>
          <p:cNvSpPr txBox="1">
            <a:spLocks noChangeArrowheads="1"/>
          </p:cNvSpPr>
          <p:nvPr/>
        </p:nvSpPr>
        <p:spPr bwMode="auto">
          <a:xfrm rot="-1200000">
            <a:off x="5059364" y="4001913"/>
            <a:ext cx="833437"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050" dirty="0">
                <a:solidFill>
                  <a:srgbClr val="000000"/>
                </a:solidFill>
                <a:latin typeface="+mn-lt"/>
                <a:ea typeface="+mn-ea"/>
                <a:cs typeface="Arial" charset="0"/>
                <a:sym typeface="FrutigerNext LT Regular" pitchFamily="34" charset="0"/>
              </a:rPr>
              <a:t>12.1.3.0</a:t>
            </a:r>
          </a:p>
        </p:txBody>
      </p:sp>
      <p:sp>
        <p:nvSpPr>
          <p:cNvPr id="37925" name="文本框 82"/>
          <p:cNvSpPr txBox="1">
            <a:spLocks noChangeAspect="1"/>
          </p:cNvSpPr>
          <p:nvPr/>
        </p:nvSpPr>
        <p:spPr bwMode="auto">
          <a:xfrm rot="-645565">
            <a:off x="3803650" y="4303538"/>
            <a:ext cx="833438"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050" dirty="0">
                <a:solidFill>
                  <a:srgbClr val="000000"/>
                </a:solidFill>
                <a:latin typeface="+mn-lt"/>
                <a:ea typeface="+mn-ea"/>
                <a:cs typeface="Arial" charset="0"/>
                <a:sym typeface="FrutigerNext LT Regular" pitchFamily="34" charset="0"/>
              </a:rPr>
              <a:t>10.1.5.0</a:t>
            </a:r>
          </a:p>
        </p:txBody>
      </p:sp>
      <p:sp>
        <p:nvSpPr>
          <p:cNvPr id="37926" name="文本框 83"/>
          <p:cNvSpPr txBox="1">
            <a:spLocks noChangeArrowheads="1"/>
          </p:cNvSpPr>
          <p:nvPr/>
        </p:nvSpPr>
        <p:spPr bwMode="auto">
          <a:xfrm>
            <a:off x="6272213" y="3505201"/>
            <a:ext cx="831850"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050" dirty="0">
                <a:solidFill>
                  <a:srgbClr val="000000"/>
                </a:solidFill>
                <a:latin typeface="+mn-lt"/>
                <a:ea typeface="+mn-ea"/>
                <a:cs typeface="Arial" charset="0"/>
                <a:sym typeface="FrutigerNext LT Regular" pitchFamily="34" charset="0"/>
              </a:rPr>
              <a:t>12.1.1.0</a:t>
            </a:r>
          </a:p>
        </p:txBody>
      </p:sp>
      <p:sp>
        <p:nvSpPr>
          <p:cNvPr id="37927" name="文本框 84"/>
          <p:cNvSpPr txBox="1">
            <a:spLocks noChangeArrowheads="1"/>
          </p:cNvSpPr>
          <p:nvPr/>
        </p:nvSpPr>
        <p:spPr bwMode="auto">
          <a:xfrm rot="-1948063">
            <a:off x="7340600" y="3238326"/>
            <a:ext cx="831850"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050" dirty="0">
                <a:solidFill>
                  <a:srgbClr val="000000"/>
                </a:solidFill>
                <a:latin typeface="+mn-lt"/>
                <a:ea typeface="+mn-ea"/>
                <a:cs typeface="Arial" charset="0"/>
                <a:sym typeface="FrutigerNext LT Regular" pitchFamily="34" charset="0"/>
              </a:rPr>
              <a:t>10.1.1.0</a:t>
            </a:r>
          </a:p>
        </p:txBody>
      </p:sp>
      <p:sp>
        <p:nvSpPr>
          <p:cNvPr id="37928" name="文本框 85"/>
          <p:cNvSpPr txBox="1">
            <a:spLocks noChangeArrowheads="1"/>
          </p:cNvSpPr>
          <p:nvPr/>
        </p:nvSpPr>
        <p:spPr bwMode="auto">
          <a:xfrm>
            <a:off x="7535864" y="3756026"/>
            <a:ext cx="833437"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050" dirty="0">
                <a:solidFill>
                  <a:srgbClr val="000000"/>
                </a:solidFill>
                <a:latin typeface="+mn-lt"/>
                <a:ea typeface="+mn-ea"/>
                <a:cs typeface="Arial" charset="0"/>
                <a:sym typeface="FrutigerNext LT Regular" pitchFamily="34" charset="0"/>
              </a:rPr>
              <a:t>10.1.2.0</a:t>
            </a:r>
          </a:p>
        </p:txBody>
      </p:sp>
      <p:sp>
        <p:nvSpPr>
          <p:cNvPr id="37929" name="文本框 86"/>
          <p:cNvSpPr txBox="1">
            <a:spLocks noChangeArrowheads="1"/>
          </p:cNvSpPr>
          <p:nvPr/>
        </p:nvSpPr>
        <p:spPr bwMode="auto">
          <a:xfrm rot="2018709">
            <a:off x="7329488" y="4147963"/>
            <a:ext cx="831850"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050" dirty="0">
                <a:solidFill>
                  <a:srgbClr val="000000"/>
                </a:solidFill>
                <a:latin typeface="+mn-lt"/>
                <a:ea typeface="+mn-ea"/>
                <a:cs typeface="Arial" charset="0"/>
                <a:sym typeface="FrutigerNext LT Regular" pitchFamily="34" charset="0"/>
              </a:rPr>
              <a:t>10.1.3.0</a:t>
            </a:r>
          </a:p>
        </p:txBody>
      </p:sp>
      <p:sp>
        <p:nvSpPr>
          <p:cNvPr id="91" name="AutoShape 17"/>
          <p:cNvSpPr>
            <a:spLocks noChangeArrowheads="1"/>
          </p:cNvSpPr>
          <p:nvPr/>
        </p:nvSpPr>
        <p:spPr bwMode="auto">
          <a:xfrm>
            <a:off x="3395700" y="1680746"/>
            <a:ext cx="2287550" cy="677108"/>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ospf 1</a:t>
            </a:r>
          </a:p>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zone 0</a:t>
            </a:r>
          </a:p>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réseau 12.1.2.0 0.0.0.255</a:t>
            </a:r>
          </a:p>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réseau 10.1.4.0 0.0.0.255</a:t>
            </a:r>
          </a:p>
        </p:txBody>
      </p:sp>
      <p:cxnSp>
        <p:nvCxnSpPr>
          <p:cNvPr id="37934" name="直接连接符 91"/>
          <p:cNvCxnSpPr>
            <a:cxnSpLocks noChangeShapeType="1"/>
          </p:cNvCxnSpPr>
          <p:nvPr/>
        </p:nvCxnSpPr>
        <p:spPr bwMode="auto">
          <a:xfrm flipH="1">
            <a:off x="3979864" y="4156075"/>
            <a:ext cx="917575" cy="1104900"/>
          </a:xfrm>
          <a:prstGeom prst="line">
            <a:avLst/>
          </a:prstGeom>
          <a:noFill/>
          <a:ln w="28575" algn="ctr">
            <a:solidFill>
              <a:srgbClr val="C00000"/>
            </a:solidFill>
            <a:prstDash val="sysDot"/>
            <a:round/>
            <a:headEnd/>
            <a:tailEnd/>
          </a:ln>
        </p:spPr>
      </p:cxnSp>
      <p:sp>
        <p:nvSpPr>
          <p:cNvPr id="93" name="AutoShape 17"/>
          <p:cNvSpPr>
            <a:spLocks noChangeArrowheads="1"/>
          </p:cNvSpPr>
          <p:nvPr/>
        </p:nvSpPr>
        <p:spPr bwMode="auto">
          <a:xfrm>
            <a:off x="3395700" y="5213727"/>
            <a:ext cx="2287550" cy="677108"/>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ospf 1</a:t>
            </a:r>
          </a:p>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zone 0</a:t>
            </a:r>
          </a:p>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réseau 12.1.3.0 0.0.0.255</a:t>
            </a:r>
          </a:p>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réseau 10.1.5.0 0.0.0.255</a:t>
            </a:r>
          </a:p>
        </p:txBody>
      </p:sp>
      <p:sp>
        <p:nvSpPr>
          <p:cNvPr id="95" name="AutoShape 17"/>
          <p:cNvSpPr>
            <a:spLocks noChangeArrowheads="1"/>
          </p:cNvSpPr>
          <p:nvPr/>
        </p:nvSpPr>
        <p:spPr bwMode="auto">
          <a:xfrm>
            <a:off x="6456040" y="1663577"/>
            <a:ext cx="2304232" cy="846386"/>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ospf 1</a:t>
            </a: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zone 0</a:t>
            </a: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réseau 12.1.1.0 0.0.0.255</a:t>
            </a: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réseau 12.1.2.0 0.0.0.255</a:t>
            </a: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réseau 12.1.3.0 0.0.0.255</a:t>
            </a:r>
          </a:p>
        </p:txBody>
      </p:sp>
      <p:sp>
        <p:nvSpPr>
          <p:cNvPr id="96" name="AutoShape 17"/>
          <p:cNvSpPr>
            <a:spLocks noChangeArrowheads="1"/>
          </p:cNvSpPr>
          <p:nvPr/>
        </p:nvSpPr>
        <p:spPr bwMode="auto">
          <a:xfrm>
            <a:off x="6564052" y="5202065"/>
            <a:ext cx="2344998" cy="692497"/>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ospf 1</a:t>
            </a: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a:t>
            </a:r>
            <a:r>
              <a:rPr lang="en-US" altLang="zh-CN" sz="1100" b="1" dirty="0">
                <a:solidFill>
                  <a:srgbClr val="C00000"/>
                </a:solidFill>
                <a:latin typeface="+mn-lt"/>
                <a:ea typeface="+mn-ea"/>
                <a:cs typeface="Courier New" panose="02070309020205020404" pitchFamily="49" charset="0"/>
                <a:sym typeface="FrutigerNext LT Regular" pitchFamily="34" charset="0"/>
              </a:rPr>
              <a:t>route d'importation directe</a:t>
            </a: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zone 0</a:t>
            </a: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réseau 12.1.1.0 0.0.0.255</a:t>
            </a:r>
          </a:p>
        </p:txBody>
      </p:sp>
      <p:pic>
        <p:nvPicPr>
          <p:cNvPr id="53" name="图片 5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243693" y="4282537"/>
            <a:ext cx="540000" cy="442800"/>
          </a:xfrm>
          <a:prstGeom prst="rect">
            <a:avLst/>
          </a:prstGeom>
        </p:spPr>
      </p:pic>
      <p:pic>
        <p:nvPicPr>
          <p:cNvPr id="55" name="图片 5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391842" y="2918296"/>
            <a:ext cx="540000" cy="442800"/>
          </a:xfrm>
          <a:prstGeom prst="rect">
            <a:avLst/>
          </a:prstGeom>
        </p:spPr>
      </p:pic>
      <p:pic>
        <p:nvPicPr>
          <p:cNvPr id="57" name="图片 5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400256" y="4316304"/>
            <a:ext cx="540000" cy="442800"/>
          </a:xfrm>
          <a:prstGeom prst="rect">
            <a:avLst/>
          </a:prstGeom>
        </p:spPr>
      </p:pic>
      <p:pic>
        <p:nvPicPr>
          <p:cNvPr id="5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532554" y="3233574"/>
            <a:ext cx="628652" cy="514351"/>
          </a:xfrm>
          <a:prstGeom prst="rect">
            <a:avLst/>
          </a:prstGeom>
          <a:noFill/>
        </p:spPr>
      </p:pic>
      <p:pic>
        <p:nvPicPr>
          <p:cNvPr id="60"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537555" y="3929079"/>
            <a:ext cx="628652" cy="514351"/>
          </a:xfrm>
          <a:prstGeom prst="rect">
            <a:avLst/>
          </a:prstGeom>
          <a:noFill/>
        </p:spPr>
      </p:pic>
      <p:pic>
        <p:nvPicPr>
          <p:cNvPr id="61"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787435" y="3478954"/>
            <a:ext cx="628652" cy="514351"/>
          </a:xfrm>
          <a:prstGeom prst="rect">
            <a:avLst/>
          </a:prstGeom>
          <a:noFill/>
        </p:spPr>
      </p:pic>
      <p:pic>
        <p:nvPicPr>
          <p:cNvPr id="6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011859" y="3544728"/>
            <a:ext cx="628652" cy="514351"/>
          </a:xfrm>
          <a:prstGeom prst="rect">
            <a:avLst/>
          </a:prstGeom>
          <a:noFill/>
        </p:spPr>
      </p:pic>
      <p:pic>
        <p:nvPicPr>
          <p:cNvPr id="63" name="图片 62" descr="市场部.png"/>
          <p:cNvPicPr>
            <a:picLocks noChangeAspect="1"/>
          </p:cNvPicPr>
          <p:nvPr/>
        </p:nvPicPr>
        <p:blipFill>
          <a:blip r:embed="rId5" cstate="print"/>
          <a:stretch>
            <a:fillRect/>
          </a:stretch>
        </p:blipFill>
        <p:spPr>
          <a:xfrm>
            <a:off x="3317028" y="2836671"/>
            <a:ext cx="540000" cy="441818"/>
          </a:xfrm>
          <a:prstGeom prst="rect">
            <a:avLst/>
          </a:prstGeom>
        </p:spPr>
      </p:pic>
      <p:pic>
        <p:nvPicPr>
          <p:cNvPr id="64" name="图片 63" descr="研发部.png"/>
          <p:cNvPicPr>
            <a:picLocks noChangeAspect="1"/>
          </p:cNvPicPr>
          <p:nvPr/>
        </p:nvPicPr>
        <p:blipFill>
          <a:blip r:embed="rId6" cstate="print"/>
          <a:stretch>
            <a:fillRect/>
          </a:stretch>
        </p:blipFill>
        <p:spPr>
          <a:xfrm>
            <a:off x="8373654" y="3540409"/>
            <a:ext cx="540000" cy="441818"/>
          </a:xfrm>
          <a:prstGeom prst="rect">
            <a:avLst/>
          </a:prstGeom>
        </p:spPr>
      </p:pic>
    </p:spTree>
    <p:extLst>
      <p:ext uri="{BB962C8B-B14F-4D97-AF65-F5344CB8AC3E}">
        <p14:creationId xmlns:p14="http://schemas.microsoft.com/office/powerpoint/2010/main" val="3014692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59" name="直接连接符 100"/>
          <p:cNvCxnSpPr>
            <a:cxnSpLocks noChangeShapeType="1"/>
          </p:cNvCxnSpPr>
          <p:nvPr/>
        </p:nvCxnSpPr>
        <p:spPr bwMode="auto">
          <a:xfrm>
            <a:off x="7357872" y="3899908"/>
            <a:ext cx="1153118" cy="736098"/>
          </a:xfrm>
          <a:prstGeom prst="line">
            <a:avLst/>
          </a:prstGeom>
          <a:noFill/>
          <a:ln w="28575" algn="ctr">
            <a:solidFill>
              <a:schemeClr val="tx1"/>
            </a:solidFill>
            <a:round/>
            <a:headEnd/>
            <a:tailEnd/>
          </a:ln>
        </p:spPr>
      </p:cxnSp>
      <p:cxnSp>
        <p:nvCxnSpPr>
          <p:cNvPr id="1058" name="直接连接符 99"/>
          <p:cNvCxnSpPr>
            <a:cxnSpLocks noChangeShapeType="1"/>
          </p:cNvCxnSpPr>
          <p:nvPr/>
        </p:nvCxnSpPr>
        <p:spPr bwMode="auto">
          <a:xfrm flipV="1">
            <a:off x="7456304" y="3791943"/>
            <a:ext cx="980105" cy="0"/>
          </a:xfrm>
          <a:prstGeom prst="line">
            <a:avLst/>
          </a:prstGeom>
          <a:noFill/>
          <a:ln w="28575" algn="ctr">
            <a:solidFill>
              <a:schemeClr val="tx1"/>
            </a:solidFill>
            <a:round/>
            <a:headEnd/>
            <a:tailEnd/>
          </a:ln>
        </p:spPr>
      </p:cxnSp>
      <p:cxnSp>
        <p:nvCxnSpPr>
          <p:cNvPr id="1057" name="直接连接符 97"/>
          <p:cNvCxnSpPr>
            <a:cxnSpLocks noChangeShapeType="1"/>
          </p:cNvCxnSpPr>
          <p:nvPr/>
        </p:nvCxnSpPr>
        <p:spPr bwMode="auto">
          <a:xfrm flipH="1">
            <a:off x="7438046" y="3105414"/>
            <a:ext cx="998363" cy="644219"/>
          </a:xfrm>
          <a:prstGeom prst="line">
            <a:avLst/>
          </a:prstGeom>
          <a:noFill/>
          <a:ln w="28575" algn="ctr">
            <a:solidFill>
              <a:schemeClr val="tx1"/>
            </a:solidFill>
            <a:round/>
            <a:headEnd/>
            <a:tailEnd/>
          </a:ln>
        </p:spPr>
      </p:cxnSp>
      <p:cxnSp>
        <p:nvCxnSpPr>
          <p:cNvPr id="1052" name="直接连接符 92"/>
          <p:cNvCxnSpPr>
            <a:cxnSpLocks noChangeShapeType="1"/>
          </p:cNvCxnSpPr>
          <p:nvPr/>
        </p:nvCxnSpPr>
        <p:spPr bwMode="auto">
          <a:xfrm flipH="1" flipV="1">
            <a:off x="3571974" y="3076181"/>
            <a:ext cx="1110907" cy="344118"/>
          </a:xfrm>
          <a:prstGeom prst="line">
            <a:avLst/>
          </a:prstGeom>
          <a:noFill/>
          <a:ln w="28575" algn="ctr">
            <a:solidFill>
              <a:schemeClr val="tx1"/>
            </a:solidFill>
            <a:round/>
            <a:headEnd/>
            <a:tailEnd/>
          </a:ln>
        </p:spPr>
      </p:cxnSp>
      <p:cxnSp>
        <p:nvCxnSpPr>
          <p:cNvPr id="1055" name="直接连接符 95"/>
          <p:cNvCxnSpPr>
            <a:cxnSpLocks noChangeShapeType="1"/>
          </p:cNvCxnSpPr>
          <p:nvPr/>
        </p:nvCxnSpPr>
        <p:spPr bwMode="auto">
          <a:xfrm flipH="1">
            <a:off x="3571974" y="4269785"/>
            <a:ext cx="1284421" cy="205938"/>
          </a:xfrm>
          <a:prstGeom prst="line">
            <a:avLst/>
          </a:prstGeom>
          <a:noFill/>
          <a:ln w="28575" algn="ctr">
            <a:solidFill>
              <a:schemeClr val="tx1"/>
            </a:solidFill>
            <a:round/>
            <a:headEnd/>
            <a:tailEnd/>
          </a:ln>
        </p:spPr>
      </p:cxnSp>
      <p:cxnSp>
        <p:nvCxnSpPr>
          <p:cNvPr id="1054" name="直接连接符 94"/>
          <p:cNvCxnSpPr>
            <a:cxnSpLocks noChangeShapeType="1"/>
          </p:cNvCxnSpPr>
          <p:nvPr/>
        </p:nvCxnSpPr>
        <p:spPr bwMode="auto">
          <a:xfrm flipV="1">
            <a:off x="4862751" y="3970431"/>
            <a:ext cx="1293962" cy="286614"/>
          </a:xfrm>
          <a:prstGeom prst="line">
            <a:avLst/>
          </a:prstGeom>
          <a:noFill/>
          <a:ln w="28575" algn="ctr">
            <a:solidFill>
              <a:schemeClr val="tx1"/>
            </a:solidFill>
            <a:round/>
            <a:headEnd/>
            <a:tailEnd/>
          </a:ln>
        </p:spPr>
      </p:cxnSp>
      <p:cxnSp>
        <p:nvCxnSpPr>
          <p:cNvPr id="1056" name="直接连接符 96"/>
          <p:cNvCxnSpPr>
            <a:cxnSpLocks noChangeShapeType="1"/>
          </p:cNvCxnSpPr>
          <p:nvPr/>
        </p:nvCxnSpPr>
        <p:spPr bwMode="auto">
          <a:xfrm>
            <a:off x="5958244" y="3824358"/>
            <a:ext cx="1115912" cy="0"/>
          </a:xfrm>
          <a:prstGeom prst="line">
            <a:avLst/>
          </a:prstGeom>
          <a:noFill/>
          <a:ln w="28575" algn="ctr">
            <a:solidFill>
              <a:schemeClr val="tx1"/>
            </a:solidFill>
            <a:round/>
            <a:headEnd/>
            <a:tailEnd/>
          </a:ln>
        </p:spPr>
      </p:cxnSp>
      <p:cxnSp>
        <p:nvCxnSpPr>
          <p:cNvPr id="94" name="直接连接符 93"/>
          <p:cNvCxnSpPr/>
          <p:nvPr/>
        </p:nvCxnSpPr>
        <p:spPr bwMode="auto">
          <a:xfrm>
            <a:off x="4856163" y="3441701"/>
            <a:ext cx="1217612" cy="352425"/>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6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015520" y="3571296"/>
            <a:ext cx="628652" cy="514351"/>
          </a:xfrm>
          <a:prstGeom prst="rect">
            <a:avLst/>
          </a:prstGeom>
          <a:noFill/>
        </p:spPr>
      </p:pic>
      <p:pic>
        <p:nvPicPr>
          <p:cNvPr id="6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773032" y="3552723"/>
            <a:ext cx="628652" cy="514351"/>
          </a:xfrm>
          <a:prstGeom prst="rect">
            <a:avLst/>
          </a:prstGeom>
          <a:noFill/>
        </p:spPr>
      </p:pic>
      <p:pic>
        <p:nvPicPr>
          <p:cNvPr id="6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478865" y="3991857"/>
            <a:ext cx="628652" cy="514351"/>
          </a:xfrm>
          <a:prstGeom prst="rect">
            <a:avLst/>
          </a:prstGeom>
          <a:noFill/>
        </p:spPr>
      </p:pic>
      <p:pic>
        <p:nvPicPr>
          <p:cNvPr id="6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471151" y="3224786"/>
            <a:ext cx="628652" cy="514351"/>
          </a:xfrm>
          <a:prstGeom prst="rect">
            <a:avLst/>
          </a:prstGeom>
          <a:noFill/>
        </p:spPr>
      </p:pic>
      <p:sp>
        <p:nvSpPr>
          <p:cNvPr id="6" name="文本占位符 5"/>
          <p:cNvSpPr>
            <a:spLocks noGrp="1"/>
          </p:cNvSpPr>
          <p:nvPr>
            <p:ph type="body" sz="quarter" idx="12"/>
          </p:nvPr>
        </p:nvSpPr>
        <p:spPr/>
        <p:txBody>
          <a:bodyPr/>
          <a:lstStyle/>
          <a:p>
            <a:pPr algn="l" rtl="0"/>
            <a:r>
              <a:rPr lang="en-US" altLang="zh-CN" dirty="0"/>
              <a:t>Politique d'itinéraireConfiguration (2)</a:t>
            </a:r>
            <a:endParaRPr lang="zh-CN" altLang="en-US" dirty="0"/>
          </a:p>
        </p:txBody>
      </p:sp>
      <p:cxnSp>
        <p:nvCxnSpPr>
          <p:cNvPr id="1029" name="直接连接符 77"/>
          <p:cNvCxnSpPr>
            <a:cxnSpLocks noChangeShapeType="1"/>
          </p:cNvCxnSpPr>
          <p:nvPr/>
        </p:nvCxnSpPr>
        <p:spPr bwMode="auto">
          <a:xfrm flipV="1">
            <a:off x="6019801" y="3787775"/>
            <a:ext cx="1268413" cy="1549400"/>
          </a:xfrm>
          <a:prstGeom prst="line">
            <a:avLst/>
          </a:prstGeom>
          <a:noFill/>
          <a:ln w="28575" algn="ctr">
            <a:solidFill>
              <a:srgbClr val="C00000"/>
            </a:solidFill>
            <a:prstDash val="sysDot"/>
            <a:round/>
            <a:headEnd/>
            <a:tailEnd/>
          </a:ln>
        </p:spPr>
      </p:cxnSp>
      <p:cxnSp>
        <p:nvCxnSpPr>
          <p:cNvPr id="1030" name="直接连接符 80"/>
          <p:cNvCxnSpPr>
            <a:cxnSpLocks noChangeShapeType="1"/>
          </p:cNvCxnSpPr>
          <p:nvPr/>
        </p:nvCxnSpPr>
        <p:spPr bwMode="auto">
          <a:xfrm flipV="1">
            <a:off x="4886326" y="2241550"/>
            <a:ext cx="1071563" cy="1169988"/>
          </a:xfrm>
          <a:prstGeom prst="line">
            <a:avLst/>
          </a:prstGeom>
          <a:noFill/>
          <a:ln w="28575" algn="ctr">
            <a:solidFill>
              <a:srgbClr val="C00000"/>
            </a:solidFill>
            <a:prstDash val="sysDot"/>
            <a:round/>
            <a:headEnd/>
            <a:tailEnd/>
          </a:ln>
        </p:spPr>
      </p:cxnSp>
      <p:sp>
        <p:nvSpPr>
          <p:cNvPr id="131" name="AutoShape 17"/>
          <p:cNvSpPr>
            <a:spLocks noChangeArrowheads="1"/>
          </p:cNvSpPr>
          <p:nvPr/>
        </p:nvSpPr>
        <p:spPr bwMode="auto">
          <a:xfrm>
            <a:off x="4708526" y="1672729"/>
            <a:ext cx="3572299" cy="923330"/>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algn="l" rtl="0"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acl 2000</a:t>
            </a:r>
          </a:p>
          <a:p>
            <a:pPr algn="l" rtl="0"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Règle 5 : refuser la source 10.1.1.0 0.0.0.255</a:t>
            </a:r>
          </a:p>
          <a:p>
            <a:pPr algn="l" rtl="0"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règle 10 autoriser toute source</a:t>
            </a:r>
          </a:p>
          <a:p>
            <a:pPr algn="l" rtl="0"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ospf 1</a:t>
            </a:r>
          </a:p>
          <a:p>
            <a:pPr algn="l" rtl="0"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 </a:t>
            </a:r>
            <a:r>
              <a:rPr lang="en-US" altLang="zh-CN" sz="1200" b="1" dirty="0">
                <a:solidFill>
                  <a:srgbClr val="C00000"/>
                </a:solidFill>
                <a:latin typeface="+mn-lt"/>
                <a:ea typeface="+mn-ea"/>
                <a:cs typeface="Courier New" panose="02070309020205020404" pitchFamily="49" charset="0"/>
                <a:sym typeface="FrutigerNext LT Regular" pitchFamily="34" charset="0"/>
              </a:rPr>
              <a:t>politique de filtrage 2000 importation</a:t>
            </a:r>
          </a:p>
        </p:txBody>
      </p:sp>
      <p:sp>
        <p:nvSpPr>
          <p:cNvPr id="47" name="圆角矩形 46"/>
          <p:cNvSpPr/>
          <p:nvPr/>
        </p:nvSpPr>
        <p:spPr bwMode="auto">
          <a:xfrm>
            <a:off x="8296232" y="3488794"/>
            <a:ext cx="1829949" cy="665162"/>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900" dirty="0">
              <a:latin typeface="+mn-lt"/>
              <a:ea typeface="+mn-ea"/>
            </a:endParaRPr>
          </a:p>
        </p:txBody>
      </p:sp>
      <p:sp>
        <p:nvSpPr>
          <p:cNvPr id="48" name="圆角矩形 47"/>
          <p:cNvSpPr/>
          <p:nvPr/>
        </p:nvSpPr>
        <p:spPr bwMode="auto">
          <a:xfrm>
            <a:off x="8272015" y="2773466"/>
            <a:ext cx="1872308" cy="652463"/>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900" dirty="0">
              <a:latin typeface="+mn-lt"/>
              <a:ea typeface="+mn-ea"/>
            </a:endParaRPr>
          </a:p>
        </p:txBody>
      </p:sp>
      <p:sp>
        <p:nvSpPr>
          <p:cNvPr id="56" name="圆角矩形 55"/>
          <p:cNvSpPr/>
          <p:nvPr/>
        </p:nvSpPr>
        <p:spPr bwMode="auto">
          <a:xfrm>
            <a:off x="8287890" y="4251326"/>
            <a:ext cx="1840558" cy="723901"/>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900" dirty="0">
              <a:latin typeface="+mn-lt"/>
              <a:ea typeface="+mn-ea"/>
            </a:endParaRPr>
          </a:p>
        </p:txBody>
      </p:sp>
      <p:sp>
        <p:nvSpPr>
          <p:cNvPr id="79" name="圆角矩形 78"/>
          <p:cNvSpPr/>
          <p:nvPr/>
        </p:nvSpPr>
        <p:spPr bwMode="auto">
          <a:xfrm>
            <a:off x="2279650" y="4019551"/>
            <a:ext cx="1712913" cy="749301"/>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900" dirty="0">
              <a:latin typeface="+mn-lt"/>
              <a:ea typeface="+mn-ea"/>
            </a:endParaRPr>
          </a:p>
        </p:txBody>
      </p:sp>
      <p:sp>
        <p:nvSpPr>
          <p:cNvPr id="91" name="圆角矩形 90"/>
          <p:cNvSpPr/>
          <p:nvPr/>
        </p:nvSpPr>
        <p:spPr bwMode="auto">
          <a:xfrm>
            <a:off x="2279650" y="2781301"/>
            <a:ext cx="1662113"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900" dirty="0">
              <a:latin typeface="+mn-lt"/>
              <a:ea typeface="+mn-ea"/>
            </a:endParaRPr>
          </a:p>
        </p:txBody>
      </p:sp>
      <p:sp>
        <p:nvSpPr>
          <p:cNvPr id="1051" name="矩形 91"/>
          <p:cNvSpPr>
            <a:spLocks noChangeArrowheads="1"/>
          </p:cNvSpPr>
          <p:nvPr/>
        </p:nvSpPr>
        <p:spPr bwMode="auto">
          <a:xfrm>
            <a:off x="8937315" y="2859324"/>
            <a:ext cx="1227137" cy="461665"/>
          </a:xfrm>
          <a:prstGeom prst="rect">
            <a:avLst/>
          </a:prstGeom>
          <a:noFill/>
          <a:ln w="9525">
            <a:noFill/>
            <a:miter lim="800000"/>
            <a:headEnd/>
            <a:tailEnd/>
          </a:ln>
        </p:spPr>
        <p:txBody>
          <a:bodyPr wrap="square">
            <a:spAutoFit/>
          </a:bodyPr>
          <a:lstStyle/>
          <a:p>
            <a:pPr algn="l" rtl="0" eaLnBrk="0" fontAlgn="t" hangingPunct="0">
              <a:buSzPct val="100000"/>
            </a:pPr>
            <a:r>
              <a:rPr lang="en-US" altLang="zh-CN" sz="1200" b="1" dirty="0">
                <a:solidFill>
                  <a:srgbClr val="000000"/>
                </a:solidFill>
                <a:latin typeface="+mn-lt"/>
                <a:ea typeface="+mn-ea"/>
                <a:sym typeface="FrutigerNext LT Regular" pitchFamily="34" charset="0"/>
              </a:rPr>
              <a:t>département financier</a:t>
            </a:r>
          </a:p>
        </p:txBody>
      </p:sp>
      <p:sp>
        <p:nvSpPr>
          <p:cNvPr id="1060" name="矩形 101"/>
          <p:cNvSpPr>
            <a:spLocks noChangeArrowheads="1"/>
          </p:cNvSpPr>
          <p:nvPr/>
        </p:nvSpPr>
        <p:spPr bwMode="auto">
          <a:xfrm>
            <a:off x="2279576" y="4052889"/>
            <a:ext cx="1247586" cy="276999"/>
          </a:xfrm>
          <a:prstGeom prst="rect">
            <a:avLst/>
          </a:prstGeom>
          <a:noFill/>
          <a:ln w="9525">
            <a:noFill/>
            <a:miter lim="800000"/>
            <a:headEnd/>
            <a:tailEnd/>
          </a:ln>
        </p:spPr>
        <p:txBody>
          <a:bodyPr wrap="none">
            <a:spAutoFit/>
          </a:bodyPr>
          <a:lstStyle/>
          <a:p>
            <a:pPr algn="l" rtl="0" eaLnBrk="0" fontAlgn="t" hangingPunct="0">
              <a:buSzPct val="100000"/>
            </a:pPr>
            <a:r>
              <a:rPr lang="en-US" altLang="zh-CN" sz="1200" b="1" dirty="0">
                <a:solidFill>
                  <a:srgbClr val="000000"/>
                </a:solidFill>
                <a:latin typeface="+mn-lt"/>
                <a:ea typeface="+mn-ea"/>
                <a:sym typeface="FrutigerNext LT Regular" pitchFamily="34" charset="0"/>
              </a:rPr>
              <a:t>Quartier général</a:t>
            </a:r>
          </a:p>
        </p:txBody>
      </p:sp>
      <p:sp>
        <p:nvSpPr>
          <p:cNvPr id="1061" name="矩形 102"/>
          <p:cNvSpPr>
            <a:spLocks noChangeArrowheads="1"/>
          </p:cNvSpPr>
          <p:nvPr/>
        </p:nvSpPr>
        <p:spPr bwMode="auto">
          <a:xfrm>
            <a:off x="8937626" y="3615408"/>
            <a:ext cx="1108074" cy="461665"/>
          </a:xfrm>
          <a:prstGeom prst="rect">
            <a:avLst/>
          </a:prstGeom>
          <a:noFill/>
          <a:ln w="9525">
            <a:noFill/>
            <a:miter lim="800000"/>
            <a:headEnd/>
            <a:tailEnd/>
          </a:ln>
        </p:spPr>
        <p:txBody>
          <a:bodyPr wrap="square">
            <a:spAutoFit/>
          </a:bodyPr>
          <a:lstStyle/>
          <a:p>
            <a:pPr algn="l" rtl="0" eaLnBrk="0" fontAlgn="t" hangingPunct="0">
              <a:buSzPct val="100000"/>
            </a:pPr>
            <a:r>
              <a:rPr lang="en-US" altLang="zh-CN" sz="1200" b="1" dirty="0">
                <a:solidFill>
                  <a:srgbClr val="000000"/>
                </a:solidFill>
                <a:latin typeface="+mn-lt"/>
                <a:ea typeface="+mn-ea"/>
                <a:sym typeface="FrutigerNext LT Regular" pitchFamily="34" charset="0"/>
              </a:rPr>
              <a:t>département R&amp;D</a:t>
            </a:r>
          </a:p>
        </p:txBody>
      </p:sp>
      <p:sp>
        <p:nvSpPr>
          <p:cNvPr id="1062" name="矩形 103"/>
          <p:cNvSpPr>
            <a:spLocks noChangeArrowheads="1"/>
          </p:cNvSpPr>
          <p:nvPr/>
        </p:nvSpPr>
        <p:spPr bwMode="auto">
          <a:xfrm>
            <a:off x="8940316" y="4407496"/>
            <a:ext cx="1332148" cy="400110"/>
          </a:xfrm>
          <a:prstGeom prst="rect">
            <a:avLst/>
          </a:prstGeom>
          <a:noFill/>
          <a:ln w="9525">
            <a:noFill/>
            <a:miter lim="800000"/>
            <a:headEnd/>
            <a:tailEnd/>
          </a:ln>
        </p:spPr>
        <p:txBody>
          <a:bodyPr wrap="square">
            <a:spAutoFit/>
          </a:bodyPr>
          <a:lstStyle/>
          <a:p>
            <a:pPr algn="l" rtl="0" eaLnBrk="0" fontAlgn="t" hangingPunct="0">
              <a:buSzPct val="100000"/>
            </a:pPr>
            <a:r>
              <a:rPr lang="en-US" altLang="zh-CN" b="1" dirty="0">
                <a:solidFill>
                  <a:srgbClr val="000000"/>
                </a:solidFill>
                <a:latin typeface="+mn-lt"/>
                <a:ea typeface="+mn-ea"/>
                <a:sym typeface="FrutigerNext LT Regular" pitchFamily="34" charset="0"/>
              </a:rPr>
              <a:t>Service de documentation</a:t>
            </a:r>
          </a:p>
        </p:txBody>
      </p:sp>
      <p:sp>
        <p:nvSpPr>
          <p:cNvPr id="1063" name="文本框 108"/>
          <p:cNvSpPr txBox="1">
            <a:spLocks noChangeArrowheads="1"/>
          </p:cNvSpPr>
          <p:nvPr/>
        </p:nvSpPr>
        <p:spPr bwMode="auto">
          <a:xfrm>
            <a:off x="6064250" y="2925764"/>
            <a:ext cx="787400" cy="31639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C00000"/>
                </a:solidFill>
                <a:latin typeface="+mn-lt"/>
                <a:ea typeface="+mn-ea"/>
                <a:cs typeface="Arial" charset="0"/>
                <a:sym typeface="FrutigerNext LT Regular" pitchFamily="34" charset="0"/>
              </a:rPr>
              <a:t>OSPF</a:t>
            </a:r>
          </a:p>
        </p:txBody>
      </p:sp>
      <p:sp>
        <p:nvSpPr>
          <p:cNvPr id="1064" name="文本框 109"/>
          <p:cNvSpPr txBox="1">
            <a:spLocks noChangeArrowheads="1"/>
          </p:cNvSpPr>
          <p:nvPr/>
        </p:nvSpPr>
        <p:spPr bwMode="auto">
          <a:xfrm>
            <a:off x="2049500" y="2922717"/>
            <a:ext cx="1346200" cy="470280"/>
          </a:xfrm>
          <a:prstGeom prst="rect">
            <a:avLst/>
          </a:prstGeom>
          <a:noFill/>
          <a:ln w="9525">
            <a:noFill/>
            <a:miter lim="800000"/>
            <a:headEnd/>
            <a:tailEnd/>
          </a:ln>
        </p:spPr>
        <p:txBody>
          <a:bodyPr wrap="square"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département marketing</a:t>
            </a:r>
          </a:p>
        </p:txBody>
      </p:sp>
      <p:sp>
        <p:nvSpPr>
          <p:cNvPr id="1070" name="文本框 115"/>
          <p:cNvSpPr txBox="1">
            <a:spLocks noChangeArrowheads="1"/>
          </p:cNvSpPr>
          <p:nvPr/>
        </p:nvSpPr>
        <p:spPr bwMode="auto">
          <a:xfrm>
            <a:off x="4424302" y="4544953"/>
            <a:ext cx="772001"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RTD</a:t>
            </a:r>
          </a:p>
        </p:txBody>
      </p:sp>
      <p:sp>
        <p:nvSpPr>
          <p:cNvPr id="1071" name="文本框 116"/>
          <p:cNvSpPr txBox="1">
            <a:spLocks noChangeArrowheads="1"/>
          </p:cNvSpPr>
          <p:nvPr/>
        </p:nvSpPr>
        <p:spPr bwMode="auto">
          <a:xfrm>
            <a:off x="4404278" y="2889483"/>
            <a:ext cx="772001"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RTC</a:t>
            </a:r>
          </a:p>
        </p:txBody>
      </p:sp>
      <p:sp>
        <p:nvSpPr>
          <p:cNvPr id="1072" name="文本框 117"/>
          <p:cNvSpPr txBox="1">
            <a:spLocks noChangeArrowheads="1"/>
          </p:cNvSpPr>
          <p:nvPr/>
        </p:nvSpPr>
        <p:spPr bwMode="auto">
          <a:xfrm>
            <a:off x="5664319" y="4043862"/>
            <a:ext cx="772001"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RTB</a:t>
            </a:r>
          </a:p>
        </p:txBody>
      </p:sp>
      <p:sp>
        <p:nvSpPr>
          <p:cNvPr id="1073" name="文本框 118"/>
          <p:cNvSpPr txBox="1">
            <a:spLocks noChangeArrowheads="1"/>
          </p:cNvSpPr>
          <p:nvPr/>
        </p:nvSpPr>
        <p:spPr bwMode="auto">
          <a:xfrm>
            <a:off x="6973530" y="4079240"/>
            <a:ext cx="772001"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RTA</a:t>
            </a:r>
          </a:p>
        </p:txBody>
      </p:sp>
      <p:sp>
        <p:nvSpPr>
          <p:cNvPr id="1074" name="文本框 119"/>
          <p:cNvSpPr txBox="1">
            <a:spLocks noChangeArrowheads="1"/>
          </p:cNvSpPr>
          <p:nvPr/>
        </p:nvSpPr>
        <p:spPr bwMode="auto">
          <a:xfrm rot="1032180">
            <a:off x="3635375" y="3322463"/>
            <a:ext cx="833438"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dirty="0">
                <a:solidFill>
                  <a:srgbClr val="000000"/>
                </a:solidFill>
                <a:latin typeface="+mn-lt"/>
                <a:ea typeface="+mn-ea"/>
                <a:cs typeface="Arial" charset="0"/>
                <a:sym typeface="FrutigerNext LT Regular" pitchFamily="34" charset="0"/>
              </a:rPr>
              <a:t>10.1.4.0</a:t>
            </a:r>
          </a:p>
        </p:txBody>
      </p:sp>
      <p:sp>
        <p:nvSpPr>
          <p:cNvPr id="1075" name="文本框 122"/>
          <p:cNvSpPr txBox="1">
            <a:spLocks noChangeAspect="1"/>
          </p:cNvSpPr>
          <p:nvPr/>
        </p:nvSpPr>
        <p:spPr bwMode="auto">
          <a:xfrm rot="21097595">
            <a:off x="3800475" y="4378151"/>
            <a:ext cx="831850"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dirty="0">
                <a:solidFill>
                  <a:srgbClr val="000000"/>
                </a:solidFill>
                <a:latin typeface="+mn-lt"/>
                <a:ea typeface="+mn-ea"/>
                <a:cs typeface="Arial" charset="0"/>
                <a:sym typeface="FrutigerNext LT Regular" pitchFamily="34" charset="0"/>
              </a:rPr>
              <a:t>10.1.5.0</a:t>
            </a:r>
          </a:p>
        </p:txBody>
      </p:sp>
      <p:sp>
        <p:nvSpPr>
          <p:cNvPr id="1076" name="文本框 124"/>
          <p:cNvSpPr txBox="1">
            <a:spLocks noChangeArrowheads="1"/>
          </p:cNvSpPr>
          <p:nvPr/>
        </p:nvSpPr>
        <p:spPr bwMode="auto">
          <a:xfrm rot="19651937">
            <a:off x="7377113" y="3098626"/>
            <a:ext cx="831850"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dirty="0">
                <a:solidFill>
                  <a:srgbClr val="000000"/>
                </a:solidFill>
                <a:latin typeface="+mn-lt"/>
                <a:ea typeface="+mn-ea"/>
                <a:cs typeface="Arial" charset="0"/>
                <a:sym typeface="FrutigerNext LT Regular" pitchFamily="34" charset="0"/>
              </a:rPr>
              <a:t>10.1.1.0</a:t>
            </a:r>
          </a:p>
        </p:txBody>
      </p:sp>
      <p:sp>
        <p:nvSpPr>
          <p:cNvPr id="1077" name="文本框 125"/>
          <p:cNvSpPr txBox="1">
            <a:spLocks noChangeArrowheads="1"/>
          </p:cNvSpPr>
          <p:nvPr/>
        </p:nvSpPr>
        <p:spPr bwMode="auto">
          <a:xfrm>
            <a:off x="7643813" y="3540126"/>
            <a:ext cx="833437"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dirty="0">
                <a:solidFill>
                  <a:srgbClr val="000000"/>
                </a:solidFill>
                <a:latin typeface="+mn-lt"/>
                <a:ea typeface="+mn-ea"/>
                <a:cs typeface="Arial" charset="0"/>
                <a:sym typeface="FrutigerNext LT Regular" pitchFamily="34" charset="0"/>
              </a:rPr>
              <a:t>10.1.2.0</a:t>
            </a:r>
          </a:p>
        </p:txBody>
      </p:sp>
      <p:sp>
        <p:nvSpPr>
          <p:cNvPr id="1078" name="文本框 126"/>
          <p:cNvSpPr txBox="1">
            <a:spLocks noChangeArrowheads="1"/>
          </p:cNvSpPr>
          <p:nvPr/>
        </p:nvSpPr>
        <p:spPr bwMode="auto">
          <a:xfrm rot="2018709">
            <a:off x="7443788" y="4235276"/>
            <a:ext cx="831850"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dirty="0">
                <a:solidFill>
                  <a:srgbClr val="000000"/>
                </a:solidFill>
                <a:latin typeface="+mn-lt"/>
                <a:ea typeface="+mn-ea"/>
                <a:cs typeface="Arial" charset="0"/>
                <a:sym typeface="FrutigerNext LT Regular" pitchFamily="34" charset="0"/>
              </a:rPr>
              <a:t>10.1.3.0</a:t>
            </a:r>
          </a:p>
        </p:txBody>
      </p:sp>
      <p:sp>
        <p:nvSpPr>
          <p:cNvPr id="135" name="AutoShape 17"/>
          <p:cNvSpPr>
            <a:spLocks noChangeArrowheads="1"/>
          </p:cNvSpPr>
          <p:nvPr/>
        </p:nvSpPr>
        <p:spPr bwMode="auto">
          <a:xfrm>
            <a:off x="3565526" y="5106437"/>
            <a:ext cx="3991513" cy="738664"/>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algn="l" rtl="0"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ip ip-prefix ab index 10 permit 10.1.1.0 24</a:t>
            </a:r>
          </a:p>
          <a:p>
            <a:pPr algn="l" rtl="0"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ip ip-prefix ab index 20 autoriser 10.1.3.0 24</a:t>
            </a:r>
          </a:p>
          <a:p>
            <a:pPr algn="l" rtl="0"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ospf 1</a:t>
            </a:r>
          </a:p>
          <a:p>
            <a:pPr algn="l" rtl="0"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 </a:t>
            </a:r>
            <a:r>
              <a:rPr lang="en-US" altLang="zh-CN" sz="1200" b="1" dirty="0">
                <a:solidFill>
                  <a:srgbClr val="C00000"/>
                </a:solidFill>
                <a:latin typeface="+mn-lt"/>
                <a:ea typeface="+mn-ea"/>
                <a:cs typeface="Courier New" panose="02070309020205020404" pitchFamily="49" charset="0"/>
                <a:sym typeface="FrutigerNext LT Regular" pitchFamily="34" charset="0"/>
              </a:rPr>
              <a:t>politique de filtrage préfixe IP ab exportation directe</a:t>
            </a:r>
          </a:p>
        </p:txBody>
      </p:sp>
      <p:sp>
        <p:nvSpPr>
          <p:cNvPr id="1035" name="任意多边形 137"/>
          <p:cNvSpPr>
            <a:spLocks/>
          </p:cNvSpPr>
          <p:nvPr/>
        </p:nvSpPr>
        <p:spPr bwMode="auto">
          <a:xfrm>
            <a:off x="3565525" y="3141664"/>
            <a:ext cx="5194300" cy="739775"/>
          </a:xfrm>
          <a:custGeom>
            <a:avLst/>
            <a:gdLst>
              <a:gd name="T0" fmla="*/ 0 w 5194111"/>
              <a:gd name="T1" fmla="*/ 0 h 741255"/>
              <a:gd name="T2" fmla="*/ 1213204 w 5194111"/>
              <a:gd name="T3" fmla="*/ 374005 h 741255"/>
              <a:gd name="T4" fmla="*/ 2530830 w 5194111"/>
              <a:gd name="T5" fmla="*/ 713028 h 741255"/>
              <a:gd name="T6" fmla="*/ 3832717 w 5194111"/>
              <a:gd name="T7" fmla="*/ 730399 h 741255"/>
              <a:gd name="T8" fmla="*/ 5194300 w 5194111"/>
              <a:gd name="T9" fmla="*/ 728323 h 741255"/>
              <a:gd name="T10" fmla="*/ 0 60000 65536"/>
              <a:gd name="T11" fmla="*/ 0 60000 65536"/>
              <a:gd name="T12" fmla="*/ 0 60000 65536"/>
              <a:gd name="T13" fmla="*/ 0 60000 65536"/>
              <a:gd name="T14" fmla="*/ 0 60000 65536"/>
              <a:gd name="T15" fmla="*/ 0 w 5194111"/>
              <a:gd name="T16" fmla="*/ 0 h 741255"/>
              <a:gd name="T17" fmla="*/ 5194111 w 5194111"/>
              <a:gd name="T18" fmla="*/ 741255 h 741255"/>
            </a:gdLst>
            <a:ahLst/>
            <a:cxnLst>
              <a:cxn ang="T10">
                <a:pos x="T0" y="T1"/>
              </a:cxn>
              <a:cxn ang="T11">
                <a:pos x="T2" y="T3"/>
              </a:cxn>
              <a:cxn ang="T12">
                <a:pos x="T4" y="T5"/>
              </a:cxn>
              <a:cxn ang="T13">
                <a:pos x="T6" y="T7"/>
              </a:cxn>
              <a:cxn ang="T14">
                <a:pos x="T8" y="T9"/>
              </a:cxn>
            </a:cxnLst>
            <a:rect l="T15" t="T16" r="T17" b="T18"/>
            <a:pathLst>
              <a:path w="5194111" h="741255">
                <a:moveTo>
                  <a:pt x="0" y="0"/>
                </a:moveTo>
                <a:cubicBezTo>
                  <a:pt x="456866" y="148561"/>
                  <a:pt x="791369" y="255677"/>
                  <a:pt x="1213158" y="374753"/>
                </a:cubicBezTo>
                <a:cubicBezTo>
                  <a:pt x="1634947" y="493829"/>
                  <a:pt x="2026434" y="688802"/>
                  <a:pt x="2530736" y="714454"/>
                </a:cubicBezTo>
                <a:cubicBezTo>
                  <a:pt x="3035038" y="740106"/>
                  <a:pt x="3265778" y="750282"/>
                  <a:pt x="3832574" y="731860"/>
                </a:cubicBezTo>
                <a:cubicBezTo>
                  <a:pt x="4501541" y="738111"/>
                  <a:pt x="4722872" y="719193"/>
                  <a:pt x="5194111" y="729780"/>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sz="900" dirty="0">
              <a:latin typeface="+mn-lt"/>
              <a:ea typeface="+mn-ea"/>
            </a:endParaRPr>
          </a:p>
        </p:txBody>
      </p:sp>
      <p:sp>
        <p:nvSpPr>
          <p:cNvPr id="1036" name="任意多边形 138"/>
          <p:cNvSpPr>
            <a:spLocks/>
          </p:cNvSpPr>
          <p:nvPr/>
        </p:nvSpPr>
        <p:spPr bwMode="auto">
          <a:xfrm>
            <a:off x="3765551" y="3959225"/>
            <a:ext cx="4989513" cy="419100"/>
          </a:xfrm>
          <a:custGeom>
            <a:avLst/>
            <a:gdLst>
              <a:gd name="T0" fmla="*/ 0 w 5000141"/>
              <a:gd name="T1" fmla="*/ 355568 h 493789"/>
              <a:gd name="T2" fmla="*/ 1019523 w 5000141"/>
              <a:gd name="T3" fmla="*/ 191763 h 493789"/>
              <a:gd name="T4" fmla="*/ 2218762 w 5000141"/>
              <a:gd name="T5" fmla="*/ 3 h 493789"/>
              <a:gd name="T6" fmla="*/ 3601168 w 5000141"/>
              <a:gd name="T7" fmla="*/ 39260 h 493789"/>
              <a:gd name="T8" fmla="*/ 4978872 w 5000141"/>
              <a:gd name="T9" fmla="*/ 59381 h 493789"/>
              <a:gd name="T10" fmla="*/ 0 60000 65536"/>
              <a:gd name="T11" fmla="*/ 0 60000 65536"/>
              <a:gd name="T12" fmla="*/ 0 60000 65536"/>
              <a:gd name="T13" fmla="*/ 0 60000 65536"/>
              <a:gd name="T14" fmla="*/ 0 60000 65536"/>
              <a:gd name="T15" fmla="*/ 0 w 5000141"/>
              <a:gd name="T16" fmla="*/ 0 h 493789"/>
              <a:gd name="T17" fmla="*/ 5000141 w 5000141"/>
              <a:gd name="T18" fmla="*/ 493789 h 493789"/>
            </a:gdLst>
            <a:ahLst/>
            <a:cxnLst>
              <a:cxn ang="T10">
                <a:pos x="T0" y="T1"/>
              </a:cxn>
              <a:cxn ang="T11">
                <a:pos x="T2" y="T3"/>
              </a:cxn>
              <a:cxn ang="T12">
                <a:pos x="T4" y="T5"/>
              </a:cxn>
              <a:cxn ang="T13">
                <a:pos x="T6" y="T7"/>
              </a:cxn>
              <a:cxn ang="T14">
                <a:pos x="T8" y="T9"/>
              </a:cxn>
            </a:cxnLst>
            <a:rect l="T15" t="T16" r="T17" b="T18"/>
            <a:pathLst>
              <a:path w="5000141" h="493789">
                <a:moveTo>
                  <a:pt x="0" y="493789"/>
                </a:moveTo>
                <a:lnTo>
                  <a:pt x="1023879" y="266308"/>
                </a:lnTo>
                <a:cubicBezTo>
                  <a:pt x="1395252" y="184011"/>
                  <a:pt x="1775537" y="-1027"/>
                  <a:pt x="2228241" y="5"/>
                </a:cubicBezTo>
                <a:cubicBezTo>
                  <a:pt x="2680945" y="1037"/>
                  <a:pt x="3157013" y="53208"/>
                  <a:pt x="3616553" y="54522"/>
                </a:cubicBezTo>
                <a:cubicBezTo>
                  <a:pt x="4243391" y="110540"/>
                  <a:pt x="4485253" y="110790"/>
                  <a:pt x="5000141" y="82464"/>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sz="900" dirty="0">
              <a:latin typeface="+mn-lt"/>
              <a:ea typeface="+mn-ea"/>
            </a:endParaRPr>
          </a:p>
        </p:txBody>
      </p:sp>
      <p:grpSp>
        <p:nvGrpSpPr>
          <p:cNvPr id="1037" name="组合 49"/>
          <p:cNvGrpSpPr>
            <a:grpSpLocks noChangeAspect="1"/>
          </p:cNvGrpSpPr>
          <p:nvPr/>
        </p:nvGrpSpPr>
        <p:grpSpPr bwMode="auto">
          <a:xfrm>
            <a:off x="7827963" y="3284539"/>
            <a:ext cx="139700" cy="142875"/>
            <a:chOff x="389239" y="2587273"/>
            <a:chExt cx="192358" cy="194586"/>
          </a:xfrm>
        </p:grpSpPr>
        <p:cxnSp>
          <p:nvCxnSpPr>
            <p:cNvPr id="1044" name="直接连接符 50"/>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1045" name="直接连接符 51"/>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1038" name="组合 52"/>
          <p:cNvGrpSpPr>
            <a:grpSpLocks noChangeAspect="1"/>
          </p:cNvGrpSpPr>
          <p:nvPr/>
        </p:nvGrpSpPr>
        <p:grpSpPr bwMode="auto">
          <a:xfrm>
            <a:off x="7859713" y="3789364"/>
            <a:ext cx="139700" cy="141287"/>
            <a:chOff x="389239" y="2587273"/>
            <a:chExt cx="192358" cy="194586"/>
          </a:xfrm>
        </p:grpSpPr>
        <p:cxnSp>
          <p:nvCxnSpPr>
            <p:cNvPr id="1042" name="直接连接符 53"/>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1043" name="直接连接符 54"/>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grpSp>
        <p:nvGrpSpPr>
          <p:cNvPr id="1039" name="组合 56"/>
          <p:cNvGrpSpPr>
            <a:grpSpLocks noChangeAspect="1"/>
          </p:cNvGrpSpPr>
          <p:nvPr/>
        </p:nvGrpSpPr>
        <p:grpSpPr bwMode="auto">
          <a:xfrm>
            <a:off x="7859713" y="3971925"/>
            <a:ext cx="139700" cy="141288"/>
            <a:chOff x="389239" y="2587273"/>
            <a:chExt cx="192358" cy="194586"/>
          </a:xfrm>
        </p:grpSpPr>
        <p:cxnSp>
          <p:nvCxnSpPr>
            <p:cNvPr id="1040" name="直接连接符 57"/>
            <p:cNvCxnSpPr>
              <a:cxnSpLocks noChangeShapeType="1"/>
            </p:cNvCxnSpPr>
            <p:nvPr/>
          </p:nvCxnSpPr>
          <p:spPr bwMode="auto">
            <a:xfrm>
              <a:off x="395280" y="2587273"/>
              <a:ext cx="186317" cy="194586"/>
            </a:xfrm>
            <a:prstGeom prst="line">
              <a:avLst/>
            </a:prstGeom>
            <a:noFill/>
            <a:ln w="28575" algn="ctr">
              <a:solidFill>
                <a:srgbClr val="540000"/>
              </a:solidFill>
              <a:round/>
              <a:headEnd/>
              <a:tailEnd/>
            </a:ln>
          </p:spPr>
        </p:cxnSp>
        <p:cxnSp>
          <p:nvCxnSpPr>
            <p:cNvPr id="1041" name="直接连接符 58"/>
            <p:cNvCxnSpPr>
              <a:cxnSpLocks noChangeShapeType="1"/>
            </p:cNvCxnSpPr>
            <p:nvPr/>
          </p:nvCxnSpPr>
          <p:spPr bwMode="auto">
            <a:xfrm flipV="1">
              <a:off x="389239" y="2597788"/>
              <a:ext cx="186317" cy="179074"/>
            </a:xfrm>
            <a:prstGeom prst="line">
              <a:avLst/>
            </a:prstGeom>
            <a:noFill/>
            <a:ln w="28575" algn="ctr">
              <a:solidFill>
                <a:srgbClr val="540000"/>
              </a:solidFill>
              <a:round/>
              <a:headEnd/>
              <a:tailEnd/>
            </a:ln>
          </p:spPr>
        </p:cxnSp>
      </p:grpSp>
      <p:pic>
        <p:nvPicPr>
          <p:cNvPr id="66" name="图片 65"/>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3203006" y="4312051"/>
            <a:ext cx="540000" cy="442800"/>
          </a:xfrm>
          <a:prstGeom prst="rect">
            <a:avLst/>
          </a:prstGeom>
        </p:spPr>
      </p:pic>
      <p:pic>
        <p:nvPicPr>
          <p:cNvPr id="67" name="图片 66"/>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8428155" y="2840539"/>
            <a:ext cx="540000" cy="442800"/>
          </a:xfrm>
          <a:prstGeom prst="rect">
            <a:avLst/>
          </a:prstGeom>
        </p:spPr>
      </p:pic>
      <p:pic>
        <p:nvPicPr>
          <p:cNvPr id="68" name="图片 67"/>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8430895" y="4403072"/>
            <a:ext cx="540000" cy="442800"/>
          </a:xfrm>
          <a:prstGeom prst="rect">
            <a:avLst/>
          </a:prstGeom>
        </p:spPr>
      </p:pic>
      <p:pic>
        <p:nvPicPr>
          <p:cNvPr id="69" name="图片 68" descr="研发部.png"/>
          <p:cNvPicPr>
            <a:picLocks noChangeAspect="1"/>
          </p:cNvPicPr>
          <p:nvPr/>
        </p:nvPicPr>
        <p:blipFill>
          <a:blip r:embed="rId5" cstate="print"/>
          <a:stretch>
            <a:fillRect/>
          </a:stretch>
        </p:blipFill>
        <p:spPr>
          <a:xfrm>
            <a:off x="8461233" y="3636083"/>
            <a:ext cx="540000" cy="441818"/>
          </a:xfrm>
          <a:prstGeom prst="rect">
            <a:avLst/>
          </a:prstGeom>
        </p:spPr>
      </p:pic>
      <p:pic>
        <p:nvPicPr>
          <p:cNvPr id="70" name="图片 69" descr="市场部.png"/>
          <p:cNvPicPr>
            <a:picLocks noChangeAspect="1"/>
          </p:cNvPicPr>
          <p:nvPr/>
        </p:nvPicPr>
        <p:blipFill>
          <a:blip r:embed="rId6" cstate="print"/>
          <a:stretch>
            <a:fillRect/>
          </a:stretch>
        </p:blipFill>
        <p:spPr>
          <a:xfrm>
            <a:off x="3226660" y="2913179"/>
            <a:ext cx="540000" cy="441818"/>
          </a:xfrm>
          <a:prstGeom prst="rect">
            <a:avLst/>
          </a:prstGeom>
        </p:spPr>
      </p:pic>
      <p:sp>
        <p:nvSpPr>
          <p:cNvPr id="1034" name="任意多边形 136"/>
          <p:cNvSpPr>
            <a:spLocks/>
          </p:cNvSpPr>
          <p:nvPr/>
        </p:nvSpPr>
        <p:spPr bwMode="auto">
          <a:xfrm>
            <a:off x="3652838" y="2959101"/>
            <a:ext cx="4775200" cy="790575"/>
          </a:xfrm>
          <a:custGeom>
            <a:avLst/>
            <a:gdLst>
              <a:gd name="T0" fmla="*/ 0 w 4775419"/>
              <a:gd name="T1" fmla="*/ 0 h 790366"/>
              <a:gd name="T2" fmla="*/ 1104623 w 4775419"/>
              <a:gd name="T3" fmla="*/ 349570 h 790366"/>
              <a:gd name="T4" fmla="*/ 2442419 w 4775419"/>
              <a:gd name="T5" fmla="*/ 740169 h 790366"/>
              <a:gd name="T6" fmla="*/ 3670035 w 4775419"/>
              <a:gd name="T7" fmla="*/ 746367 h 790366"/>
              <a:gd name="T8" fmla="*/ 4775200 w 4775419"/>
              <a:gd name="T9" fmla="*/ 48823 h 790366"/>
              <a:gd name="T10" fmla="*/ 0 60000 65536"/>
              <a:gd name="T11" fmla="*/ 0 60000 65536"/>
              <a:gd name="T12" fmla="*/ 0 60000 65536"/>
              <a:gd name="T13" fmla="*/ 0 60000 65536"/>
              <a:gd name="T14" fmla="*/ 0 60000 65536"/>
              <a:gd name="T15" fmla="*/ 0 w 4775419"/>
              <a:gd name="T16" fmla="*/ 0 h 790366"/>
              <a:gd name="T17" fmla="*/ 4775419 w 4775419"/>
              <a:gd name="T18" fmla="*/ 790366 h 790366"/>
            </a:gdLst>
            <a:ahLst/>
            <a:cxnLst>
              <a:cxn ang="T10">
                <a:pos x="T0" y="T1"/>
              </a:cxn>
              <a:cxn ang="T11">
                <a:pos x="T2" y="T3"/>
              </a:cxn>
              <a:cxn ang="T12">
                <a:pos x="T4" y="T5"/>
              </a:cxn>
              <a:cxn ang="T13">
                <a:pos x="T6" y="T7"/>
              </a:cxn>
              <a:cxn ang="T14">
                <a:pos x="T8" y="T9"/>
              </a:cxn>
            </a:cxnLst>
            <a:rect l="T15" t="T16" r="T17" b="T18"/>
            <a:pathLst>
              <a:path w="4775419" h="790366">
                <a:moveTo>
                  <a:pt x="0" y="0"/>
                </a:moveTo>
                <a:cubicBezTo>
                  <a:pt x="456867" y="164059"/>
                  <a:pt x="697584" y="226149"/>
                  <a:pt x="1104672" y="349478"/>
                </a:cubicBezTo>
                <a:cubicBezTo>
                  <a:pt x="1511760" y="472807"/>
                  <a:pt x="2014940" y="673858"/>
                  <a:pt x="2442528" y="739973"/>
                </a:cubicBezTo>
                <a:cubicBezTo>
                  <a:pt x="2870116" y="806088"/>
                  <a:pt x="3209316" y="806098"/>
                  <a:pt x="3670201" y="746170"/>
                </a:cubicBezTo>
                <a:cubicBezTo>
                  <a:pt x="4452426" y="277697"/>
                  <a:pt x="4444858" y="304317"/>
                  <a:pt x="4775419" y="48810"/>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sz="900" dirty="0">
              <a:latin typeface="+mn-lt"/>
              <a:ea typeface="+mn-ea"/>
            </a:endParaRPr>
          </a:p>
        </p:txBody>
      </p:sp>
      <p:graphicFrame>
        <p:nvGraphicFramePr>
          <p:cNvPr id="57" name="对象 56"/>
          <p:cNvGraphicFramePr>
            <a:graphicFrameLocks noChangeAspect="1"/>
          </p:cNvGraphicFramePr>
          <p:nvPr>
            <p:extLst>
              <p:ext uri="{D42A27DB-BD31-4B8C-83A1-F6EECF244321}">
                <p14:modId xmlns:p14="http://schemas.microsoft.com/office/powerpoint/2010/main" val="316314838"/>
              </p:ext>
            </p:extLst>
          </p:nvPr>
        </p:nvGraphicFramePr>
        <p:xfrm>
          <a:off x="7687689" y="5551835"/>
          <a:ext cx="1333603" cy="828675"/>
        </p:xfrm>
        <a:graphic>
          <a:graphicData uri="http://schemas.openxmlformats.org/presentationml/2006/ole">
            <mc:AlternateContent xmlns:mc="http://schemas.openxmlformats.org/markup-compatibility/2006">
              <mc:Choice xmlns:v="urn:schemas-microsoft-com:vml" Requires="v">
                <p:oleObj name="包装程序外壳对象" showAsIcon="1" r:id="rId7" imgW="914400" imgH="828720" progId="Package">
                  <p:embed/>
                </p:oleObj>
              </mc:Choice>
              <mc:Fallback>
                <p:oleObj name="包装程序外壳对象" showAsIcon="1" r:id="rId7" imgW="914400" imgH="828720" progId="Package">
                  <p:embed/>
                  <p:pic>
                    <p:nvPicPr>
                      <p:cNvPr id="0" name=""/>
                      <p:cNvPicPr/>
                      <p:nvPr/>
                    </p:nvPicPr>
                    <p:blipFill>
                      <a:blip r:embed="rId8"/>
                      <a:stretch>
                        <a:fillRect/>
                      </a:stretch>
                    </p:blipFill>
                    <p:spPr>
                      <a:xfrm>
                        <a:off x="7687689" y="5551835"/>
                        <a:ext cx="1333603" cy="828675"/>
                      </a:xfrm>
                      <a:prstGeom prst="rect">
                        <a:avLst/>
                      </a:prstGeom>
                    </p:spPr>
                  </p:pic>
                </p:oleObj>
              </mc:Fallback>
            </mc:AlternateContent>
          </a:graphicData>
        </a:graphic>
      </p:graphicFrame>
      <p:graphicFrame>
        <p:nvGraphicFramePr>
          <p:cNvPr id="58" name="对象 57"/>
          <p:cNvGraphicFramePr>
            <a:graphicFrameLocks noChangeAspect="1"/>
          </p:cNvGraphicFramePr>
          <p:nvPr>
            <p:extLst>
              <p:ext uri="{D42A27DB-BD31-4B8C-83A1-F6EECF244321}">
                <p14:modId xmlns:p14="http://schemas.microsoft.com/office/powerpoint/2010/main" val="1336904934"/>
              </p:ext>
            </p:extLst>
          </p:nvPr>
        </p:nvGraphicFramePr>
        <p:xfrm>
          <a:off x="9029414" y="5553075"/>
          <a:ext cx="1375241" cy="828675"/>
        </p:xfrm>
        <a:graphic>
          <a:graphicData uri="http://schemas.openxmlformats.org/presentationml/2006/ole">
            <mc:AlternateContent xmlns:mc="http://schemas.openxmlformats.org/markup-compatibility/2006">
              <mc:Choice xmlns:v="urn:schemas-microsoft-com:vml" Requires="v">
                <p:oleObj name="包装程序外壳对象" showAsIcon="1" r:id="rId9" imgW="914400" imgH="828720" progId="Package">
                  <p:embed/>
                </p:oleObj>
              </mc:Choice>
              <mc:Fallback>
                <p:oleObj name="包装程序外壳对象" showAsIcon="1" r:id="rId9" imgW="914400" imgH="828720" progId="Package">
                  <p:embed/>
                  <p:pic>
                    <p:nvPicPr>
                      <p:cNvPr id="0" name=""/>
                      <p:cNvPicPr/>
                      <p:nvPr/>
                    </p:nvPicPr>
                    <p:blipFill>
                      <a:blip r:embed="rId10"/>
                      <a:stretch>
                        <a:fillRect/>
                      </a:stretch>
                    </p:blipFill>
                    <p:spPr>
                      <a:xfrm>
                        <a:off x="9029414" y="5553075"/>
                        <a:ext cx="1375241" cy="828675"/>
                      </a:xfrm>
                      <a:prstGeom prst="rect">
                        <a:avLst/>
                      </a:prstGeom>
                    </p:spPr>
                  </p:pic>
                </p:oleObj>
              </mc:Fallback>
            </mc:AlternateContent>
          </a:graphicData>
        </a:graphic>
      </p:graphicFrame>
    </p:spTree>
    <p:extLst>
      <p:ext uri="{BB962C8B-B14F-4D97-AF65-F5344CB8AC3E}">
        <p14:creationId xmlns:p14="http://schemas.microsoft.com/office/powerpoint/2010/main" val="687568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pPr algn="l" rtl="0"/>
            <a:r>
              <a:rPr lang="en-US" altLang="zh-CN" dirty="0"/>
              <a:t>Politique d'itinéraireConfiguration (3)</a:t>
            </a:r>
            <a:endParaRPr lang="zh-CN" altLang="en-US" dirty="0"/>
          </a:p>
        </p:txBody>
      </p:sp>
      <p:sp>
        <p:nvSpPr>
          <p:cNvPr id="7" name="矩形 6"/>
          <p:cNvSpPr/>
          <p:nvPr/>
        </p:nvSpPr>
        <p:spPr bwMode="auto">
          <a:xfrm>
            <a:off x="1955540" y="1556793"/>
            <a:ext cx="8280920" cy="2122103"/>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a:r>
              <a:rPr lang="en-US" altLang="zh-CN" sz="1200" b="1" dirty="0">
                <a:latin typeface="+mn-lt"/>
                <a:ea typeface="+mn-ea"/>
                <a:cs typeface="Courier New" panose="02070309020205020404" pitchFamily="49" charset="0"/>
              </a:rPr>
              <a:t>&lt;RTC&gt;dis</a:t>
            </a:r>
            <a:r>
              <a:rPr lang="en-US" altLang="zh-CN" sz="1200" b="1" dirty="0" err="1">
                <a:latin typeface="+mn-lt"/>
                <a:ea typeface="+mn-ea"/>
                <a:cs typeface="Courier New" panose="02070309020205020404" pitchFamily="49" charset="0"/>
              </a:rPr>
              <a:t>adresse IP</a:t>
            </a:r>
            <a:r>
              <a:rPr lang="en-US" altLang="zh-CN" sz="1200" b="1" dirty="0">
                <a:latin typeface="+mn-lt"/>
                <a:ea typeface="+mn-ea"/>
                <a:cs typeface="Courier New" panose="02070309020205020404" pitchFamily="49" charset="0"/>
              </a:rPr>
              <a:t>table de routage</a:t>
            </a:r>
            <a:endParaRPr lang="zh-CN" altLang="en-US" sz="1200" b="1" dirty="0">
              <a:latin typeface="+mn-lt"/>
              <a:ea typeface="+mn-ea"/>
              <a:cs typeface="Courier New" panose="02070309020205020404" pitchFamily="49" charset="0"/>
            </a:endParaRPr>
          </a:p>
          <a:p>
            <a:pPr algn="l" rtl="0"/>
            <a:r>
              <a:rPr lang="en-US" altLang="zh-CN" sz="1200" b="1" dirty="0">
                <a:latin typeface="+mn-lt"/>
                <a:ea typeface="+mn-ea"/>
                <a:cs typeface="Courier New" panose="02070309020205020404" pitchFamily="49" charset="0"/>
              </a:rPr>
              <a:t>Indicateurs de route : R - relais, D - téléchargement vers fibrillation</a:t>
            </a:r>
            <a:endParaRPr lang="zh-CN" altLang="en-US" sz="1200" b="1" dirty="0">
              <a:latin typeface="+mn-lt"/>
              <a:ea typeface="+mn-ea"/>
              <a:cs typeface="Courier New" panose="02070309020205020404" pitchFamily="49" charset="0"/>
            </a:endParaRPr>
          </a:p>
          <a:p>
            <a:pPr algn="l" rtl="0"/>
            <a:r>
              <a:rPr lang="en-US" altLang="zh-CN" sz="1200" b="1" dirty="0">
                <a:latin typeface="+mn-lt"/>
                <a:ea typeface="+mn-ea"/>
                <a:cs typeface="Courier New" panose="02070309020205020404" pitchFamily="49" charset="0"/>
              </a:rPr>
              <a:t>------------------------------------------------------------------------------</a:t>
            </a:r>
            <a:endParaRPr lang="zh-CN" altLang="en-US" sz="1200" b="1" dirty="0">
              <a:latin typeface="+mn-lt"/>
              <a:ea typeface="+mn-ea"/>
              <a:cs typeface="Courier New" panose="02070309020205020404" pitchFamily="49" charset="0"/>
            </a:endParaRPr>
          </a:p>
          <a:p>
            <a:pPr algn="l" rtl="0"/>
            <a:r>
              <a:rPr lang="en-US" altLang="zh-CN" sz="1200" b="1" dirty="0">
                <a:latin typeface="+mn-lt"/>
                <a:ea typeface="+mn-ea"/>
                <a:cs typeface="Courier New" panose="02070309020205020404" pitchFamily="49" charset="0"/>
              </a:rPr>
              <a:t>Tables de routage : publiques</a:t>
            </a:r>
            <a:endParaRPr lang="zh-CN" altLang="en-US" sz="1200" b="1" dirty="0">
              <a:latin typeface="+mn-lt"/>
              <a:ea typeface="+mn-ea"/>
              <a:cs typeface="Courier New" panose="02070309020205020404" pitchFamily="49" charset="0"/>
            </a:endParaRPr>
          </a:p>
          <a:p>
            <a:pPr algn="l" rtl="0"/>
            <a:r>
              <a:rPr lang="zh-CN" altLang="en-US" sz="1200" b="1" dirty="0">
                <a:latin typeface="+mn-lt"/>
                <a:ea typeface="+mn-ea"/>
                <a:cs typeface="Courier New" panose="02070309020205020404" pitchFamily="49" charset="0"/>
              </a:rPr>
              <a:t>         </a:t>
            </a:r>
            <a:r>
              <a:rPr lang="en-US" altLang="zh-CN" sz="1200" b="1" dirty="0">
                <a:latin typeface="+mn-lt"/>
                <a:ea typeface="+mn-ea"/>
                <a:cs typeface="Courier New" panose="02070309020205020404" pitchFamily="49" charset="0"/>
              </a:rPr>
              <a:t>Destinations : 14 Itinéraires : 14       </a:t>
            </a:r>
            <a:endParaRPr lang="zh-CN" altLang="en-US" sz="1200" b="1" dirty="0">
              <a:latin typeface="+mn-lt"/>
              <a:ea typeface="+mn-ea"/>
              <a:cs typeface="Courier New" panose="02070309020205020404" pitchFamily="49" charset="0"/>
            </a:endParaRPr>
          </a:p>
          <a:p>
            <a:pPr algn="l" rtl="0"/>
            <a:endParaRPr lang="zh-CN" altLang="en-US" sz="1200" b="1" dirty="0">
              <a:latin typeface="+mn-lt"/>
              <a:ea typeface="+mn-ea"/>
              <a:cs typeface="Courier New" panose="02070309020205020404" pitchFamily="49" charset="0"/>
            </a:endParaRPr>
          </a:p>
          <a:p>
            <a:pPr algn="l" rtl="0"/>
            <a:r>
              <a:rPr lang="en-US" altLang="zh-CN" sz="1200" b="1" dirty="0">
                <a:latin typeface="+mn-lt"/>
                <a:ea typeface="+mn-ea"/>
                <a:cs typeface="Courier New" panose="02070309020205020404" pitchFamily="49" charset="0"/>
              </a:rPr>
              <a:t>Destination/Masque Proto Pré-indicateurs de coût	</a:t>
            </a:r>
            <a:r>
              <a:rPr lang="en-US" altLang="zh-CN" sz="1200" b="1" dirty="0" err="1">
                <a:latin typeface="+mn-lt"/>
                <a:ea typeface="+mn-ea"/>
                <a:cs typeface="Courier New" panose="02070309020205020404" pitchFamily="49" charset="0"/>
              </a:rPr>
              <a:t>NextHop</a:t>
            </a:r>
            <a:r>
              <a:rPr lang="en-US" altLang="zh-CN" sz="1200" b="1" dirty="0">
                <a:latin typeface="+mn-lt"/>
                <a:ea typeface="+mn-ea"/>
                <a:cs typeface="Courier New" panose="02070309020205020404" pitchFamily="49" charset="0"/>
              </a:rPr>
              <a:t>	Interface</a:t>
            </a:r>
            <a:endParaRPr lang="zh-CN" altLang="en-US" sz="1200" b="1" dirty="0">
              <a:latin typeface="+mn-lt"/>
              <a:ea typeface="+mn-ea"/>
              <a:cs typeface="Courier New" panose="02070309020205020404" pitchFamily="49" charset="0"/>
            </a:endParaRPr>
          </a:p>
          <a:p>
            <a:pPr algn="l" rtl="0"/>
            <a:endParaRPr lang="zh-CN" altLang="en-US" sz="1200" b="1" dirty="0">
              <a:latin typeface="+mn-lt"/>
              <a:ea typeface="+mn-ea"/>
              <a:cs typeface="Courier New" panose="02070309020205020404" pitchFamily="49" charset="0"/>
            </a:endParaRPr>
          </a:p>
          <a:p>
            <a:pPr algn="l" rtl="0"/>
            <a:r>
              <a:rPr lang="zh-CN" altLang="en-US" sz="1200" b="1" dirty="0">
                <a:latin typeface="+mn-lt"/>
                <a:ea typeface="+mn-ea"/>
                <a:cs typeface="Courier New" panose="02070309020205020404" pitchFamily="49" charset="0"/>
              </a:rPr>
              <a:t>   </a:t>
            </a:r>
            <a:r>
              <a:rPr lang="pt-BR" altLang="zh-CN" sz="1200" b="1" dirty="0">
                <a:solidFill>
                  <a:srgbClr val="C00000"/>
                </a:solidFill>
                <a:latin typeface="+mn-lt"/>
                <a:ea typeface="+mn-ea"/>
                <a:cs typeface="Courier New" panose="02070309020205020404" pitchFamily="49" charset="0"/>
              </a:rPr>
              <a:t>10.1.3.0/24	</a:t>
            </a:r>
            <a:r>
              <a:rPr lang="pt-BR" altLang="zh-CN" sz="1200" b="1" dirty="0">
                <a:latin typeface="+mn-lt"/>
                <a:ea typeface="+mn-ea"/>
                <a:cs typeface="Courier New" panose="02070309020205020404" pitchFamily="49" charset="0"/>
              </a:rPr>
              <a:t>O_ASE 150 1 D 12.1.2.1      Gigabit Ethernet</a:t>
            </a:r>
            <a:r>
              <a:rPr lang="en-US" altLang="zh-CN" sz="1200" b="1" dirty="0">
                <a:latin typeface="+mn-lt"/>
                <a:ea typeface="+mn-ea"/>
                <a:cs typeface="Courier New" panose="02070309020205020404" pitchFamily="49" charset="0"/>
              </a:rPr>
              <a:t>0/0/0</a:t>
            </a:r>
            <a:endParaRPr lang="zh-CN" altLang="en-US" sz="1200" b="1" dirty="0">
              <a:latin typeface="+mn-lt"/>
              <a:ea typeface="+mn-ea"/>
              <a:cs typeface="Courier New" panose="02070309020205020404" pitchFamily="49" charset="0"/>
            </a:endParaRPr>
          </a:p>
          <a:p>
            <a:pPr algn="l" rtl="0"/>
            <a:r>
              <a:rPr lang="zh-CN" altLang="en-US" sz="1200" b="1" dirty="0">
                <a:latin typeface="+mn-lt"/>
                <a:ea typeface="+mn-ea"/>
                <a:cs typeface="Courier New" panose="02070309020205020404" pitchFamily="49" charset="0"/>
              </a:rPr>
              <a:t>   </a:t>
            </a:r>
            <a:r>
              <a:rPr lang="en-US" altLang="zh-CN" sz="1200" b="1" dirty="0">
                <a:latin typeface="+mn-lt"/>
                <a:ea typeface="+mn-ea"/>
                <a:cs typeface="Courier New" panose="02070309020205020404" pitchFamily="49" charset="0"/>
              </a:rPr>
              <a:t>10.1.4.0/24 Direct 0 0 D 10.1.4.2      </a:t>
            </a:r>
            <a:r>
              <a:rPr lang="en-US" altLang="zh-CN" sz="1200" b="1" dirty="0" err="1">
                <a:latin typeface="+mn-lt"/>
                <a:ea typeface="+mn-ea"/>
                <a:cs typeface="Courier New" panose="02070309020205020404" pitchFamily="49" charset="0"/>
              </a:rPr>
              <a:t>Gigabit Ethernet</a:t>
            </a:r>
            <a:r>
              <a:rPr lang="en-US" altLang="zh-CN" sz="1200" b="1" dirty="0">
                <a:latin typeface="+mn-lt"/>
                <a:ea typeface="+mn-ea"/>
                <a:cs typeface="Courier New" panose="02070309020205020404" pitchFamily="49" charset="0"/>
              </a:rPr>
              <a:t>0/0/1</a:t>
            </a:r>
            <a:endParaRPr lang="zh-CN" altLang="en-US" sz="1200" b="1" dirty="0">
              <a:latin typeface="+mn-lt"/>
              <a:ea typeface="+mn-ea"/>
              <a:cs typeface="Courier New" panose="02070309020205020404" pitchFamily="49" charset="0"/>
            </a:endParaRPr>
          </a:p>
          <a:p>
            <a:pPr algn="l" rtl="0"/>
            <a:r>
              <a:rPr lang="en-US" altLang="zh-CN" sz="1200" b="1" dirty="0">
                <a:solidFill>
                  <a:srgbClr val="C00000"/>
                </a:solidFill>
                <a:latin typeface="+mn-lt"/>
                <a:ea typeface="+mn-ea"/>
                <a:cs typeface="Courier New" panose="02070309020205020404" pitchFamily="49" charset="0"/>
              </a:rPr>
              <a:t>   10.1.5.0/24	</a:t>
            </a:r>
            <a:r>
              <a:rPr lang="en-US" altLang="zh-CN" sz="1200" b="1" dirty="0">
                <a:latin typeface="+mn-lt"/>
                <a:ea typeface="+mn-ea"/>
                <a:cs typeface="Courier New" panose="02070309020205020404" pitchFamily="49" charset="0"/>
              </a:rPr>
              <a:t>OSPF 10 3 D 12.1.2.1      </a:t>
            </a:r>
            <a:r>
              <a:rPr lang="en-US" altLang="zh-CN" sz="1200" b="1" dirty="0" err="1">
                <a:latin typeface="+mn-lt"/>
                <a:ea typeface="+mn-ea"/>
                <a:cs typeface="Courier New" panose="02070309020205020404" pitchFamily="49" charset="0"/>
              </a:rPr>
              <a:t>Gigabit Ethernet</a:t>
            </a:r>
            <a:r>
              <a:rPr lang="en-US" altLang="zh-CN" sz="1200" b="1" dirty="0">
                <a:latin typeface="+mn-lt"/>
                <a:ea typeface="+mn-ea"/>
                <a:cs typeface="Courier New" panose="02070309020205020404" pitchFamily="49" charset="0"/>
              </a:rPr>
              <a:t>0/0/0</a:t>
            </a:r>
            <a:endParaRPr lang="zh-CN" altLang="en-US" sz="1200" b="1" dirty="0">
              <a:latin typeface="+mn-lt"/>
              <a:ea typeface="+mn-ea"/>
              <a:cs typeface="Courier New" panose="02070309020205020404" pitchFamily="49" charset="0"/>
            </a:endParaRPr>
          </a:p>
        </p:txBody>
      </p:sp>
      <p:sp>
        <p:nvSpPr>
          <p:cNvPr id="8" name="矩形 7"/>
          <p:cNvSpPr/>
          <p:nvPr/>
        </p:nvSpPr>
        <p:spPr bwMode="auto">
          <a:xfrm>
            <a:off x="1955540" y="3825044"/>
            <a:ext cx="8280920" cy="2268252"/>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a:r>
              <a:rPr lang="en-US" altLang="zh-CN" sz="1200" b="1" dirty="0">
                <a:latin typeface="+mn-lt"/>
                <a:ea typeface="+mn-ea"/>
                <a:cs typeface="Courier New" panose="02070309020205020404" pitchFamily="49" charset="0"/>
              </a:rPr>
              <a:t>&lt;RTD&gt;dis</a:t>
            </a:r>
            <a:r>
              <a:rPr lang="en-US" altLang="zh-CN" sz="1200" b="1" dirty="0" err="1">
                <a:latin typeface="+mn-lt"/>
                <a:ea typeface="+mn-ea"/>
                <a:cs typeface="Courier New" panose="02070309020205020404" pitchFamily="49" charset="0"/>
              </a:rPr>
              <a:t>adresse IP</a:t>
            </a:r>
            <a:r>
              <a:rPr lang="en-US" altLang="zh-CN" sz="1200" b="1" dirty="0">
                <a:latin typeface="+mn-lt"/>
                <a:ea typeface="+mn-ea"/>
                <a:cs typeface="Courier New" panose="02070309020205020404" pitchFamily="49" charset="0"/>
              </a:rPr>
              <a:t>table de routage</a:t>
            </a:r>
            <a:endParaRPr lang="zh-CN" altLang="en-US" sz="1200" b="1" dirty="0">
              <a:latin typeface="+mn-lt"/>
              <a:ea typeface="+mn-ea"/>
              <a:cs typeface="Courier New" panose="02070309020205020404" pitchFamily="49" charset="0"/>
            </a:endParaRPr>
          </a:p>
          <a:p>
            <a:pPr algn="l" rtl="0"/>
            <a:r>
              <a:rPr lang="en-US" altLang="zh-CN" sz="1200" b="1" dirty="0">
                <a:latin typeface="+mn-lt"/>
                <a:ea typeface="+mn-ea"/>
                <a:cs typeface="Courier New" panose="02070309020205020404" pitchFamily="49" charset="0"/>
              </a:rPr>
              <a:t>Indicateurs de route : R - relais, D - téléchargement vers fibrillation</a:t>
            </a:r>
            <a:endParaRPr lang="zh-CN" altLang="en-US" sz="1200" b="1" dirty="0">
              <a:latin typeface="+mn-lt"/>
              <a:ea typeface="+mn-ea"/>
              <a:cs typeface="Courier New" panose="02070309020205020404" pitchFamily="49" charset="0"/>
            </a:endParaRPr>
          </a:p>
          <a:p>
            <a:pPr algn="l" rtl="0"/>
            <a:r>
              <a:rPr lang="en-US" altLang="zh-CN" sz="1200" b="1" dirty="0">
                <a:latin typeface="+mn-lt"/>
                <a:ea typeface="+mn-ea"/>
                <a:cs typeface="Courier New" panose="02070309020205020404" pitchFamily="49" charset="0"/>
              </a:rPr>
              <a:t>------------------------------------------------------------------------------</a:t>
            </a:r>
            <a:endParaRPr lang="zh-CN" altLang="en-US" sz="1200" b="1" dirty="0">
              <a:latin typeface="+mn-lt"/>
              <a:ea typeface="+mn-ea"/>
              <a:cs typeface="Courier New" panose="02070309020205020404" pitchFamily="49" charset="0"/>
            </a:endParaRPr>
          </a:p>
          <a:p>
            <a:pPr algn="l" rtl="0"/>
            <a:r>
              <a:rPr lang="en-US" altLang="zh-CN" sz="1200" b="1" dirty="0">
                <a:latin typeface="+mn-lt"/>
                <a:ea typeface="+mn-ea"/>
                <a:cs typeface="Courier New" panose="02070309020205020404" pitchFamily="49" charset="0"/>
              </a:rPr>
              <a:t>Tables de routage : publiques</a:t>
            </a:r>
            <a:endParaRPr lang="zh-CN" altLang="en-US" sz="1200" b="1" dirty="0">
              <a:latin typeface="+mn-lt"/>
              <a:ea typeface="+mn-ea"/>
              <a:cs typeface="Courier New" panose="02070309020205020404" pitchFamily="49" charset="0"/>
            </a:endParaRPr>
          </a:p>
          <a:p>
            <a:pPr algn="l" rtl="0"/>
            <a:r>
              <a:rPr lang="zh-CN" altLang="en-US" sz="1200" b="1" dirty="0">
                <a:latin typeface="+mn-lt"/>
                <a:ea typeface="+mn-ea"/>
                <a:cs typeface="Courier New" panose="02070309020205020404" pitchFamily="49" charset="0"/>
              </a:rPr>
              <a:t>         </a:t>
            </a:r>
            <a:r>
              <a:rPr lang="en-US" altLang="zh-CN" sz="1200" b="1" dirty="0">
                <a:latin typeface="+mn-lt"/>
                <a:ea typeface="+mn-ea"/>
                <a:cs typeface="Courier New" panose="02070309020205020404" pitchFamily="49" charset="0"/>
              </a:rPr>
              <a:t>Destinations : 15 Itinéraires : 15       </a:t>
            </a:r>
            <a:endParaRPr lang="zh-CN" altLang="en-US" sz="1200" b="1" dirty="0">
              <a:latin typeface="+mn-lt"/>
              <a:ea typeface="+mn-ea"/>
              <a:cs typeface="Courier New" panose="02070309020205020404" pitchFamily="49" charset="0"/>
            </a:endParaRPr>
          </a:p>
          <a:p>
            <a:pPr algn="l" rtl="0"/>
            <a:endParaRPr lang="zh-CN" altLang="en-US" sz="1200" b="1" dirty="0">
              <a:latin typeface="+mn-lt"/>
              <a:ea typeface="+mn-ea"/>
              <a:cs typeface="Courier New" panose="02070309020205020404" pitchFamily="49" charset="0"/>
            </a:endParaRPr>
          </a:p>
          <a:p>
            <a:pPr algn="l" rtl="0"/>
            <a:r>
              <a:rPr lang="en-US" altLang="zh-CN" sz="1200" b="1" dirty="0">
                <a:latin typeface="+mn-lt"/>
                <a:ea typeface="+mn-ea"/>
                <a:cs typeface="Courier New" panose="02070309020205020404" pitchFamily="49" charset="0"/>
              </a:rPr>
              <a:t>Destination/Masque Proto Pré-indicateurs de coût	</a:t>
            </a:r>
            <a:r>
              <a:rPr lang="en-US" altLang="zh-CN" sz="1200" b="1" dirty="0" err="1">
                <a:latin typeface="+mn-lt"/>
                <a:ea typeface="+mn-ea"/>
                <a:cs typeface="Courier New" panose="02070309020205020404" pitchFamily="49" charset="0"/>
              </a:rPr>
              <a:t>NextHop</a:t>
            </a:r>
            <a:r>
              <a:rPr lang="en-US" altLang="zh-CN" sz="1200" b="1" dirty="0">
                <a:latin typeface="+mn-lt"/>
                <a:ea typeface="+mn-ea"/>
                <a:cs typeface="Courier New" panose="02070309020205020404" pitchFamily="49" charset="0"/>
              </a:rPr>
              <a:t>	Interface</a:t>
            </a:r>
            <a:endParaRPr lang="zh-CN" altLang="en-US" sz="1200" b="1" dirty="0">
              <a:latin typeface="+mn-lt"/>
              <a:ea typeface="+mn-ea"/>
              <a:cs typeface="Courier New" panose="02070309020205020404" pitchFamily="49" charset="0"/>
            </a:endParaRPr>
          </a:p>
          <a:p>
            <a:pPr algn="l" rtl="0"/>
            <a:endParaRPr lang="zh-CN" altLang="en-US" sz="1200" b="1" dirty="0">
              <a:latin typeface="+mn-lt"/>
              <a:ea typeface="+mn-ea"/>
              <a:cs typeface="Courier New" panose="02070309020205020404" pitchFamily="49" charset="0"/>
            </a:endParaRPr>
          </a:p>
          <a:p>
            <a:pPr algn="l" rtl="0"/>
            <a:r>
              <a:rPr lang="zh-CN" altLang="en-US" sz="1200" b="1" dirty="0">
                <a:solidFill>
                  <a:srgbClr val="C00000"/>
                </a:solidFill>
                <a:latin typeface="+mn-lt"/>
                <a:ea typeface="+mn-ea"/>
                <a:cs typeface="Courier New" panose="02070309020205020404" pitchFamily="49" charset="0"/>
              </a:rPr>
              <a:t>   </a:t>
            </a:r>
            <a:r>
              <a:rPr lang="pt-BR" altLang="zh-CN" sz="1200" b="1" dirty="0">
                <a:solidFill>
                  <a:srgbClr val="C00000"/>
                </a:solidFill>
                <a:latin typeface="+mn-lt"/>
                <a:ea typeface="+mn-ea"/>
                <a:cs typeface="Courier New" panose="02070309020205020404" pitchFamily="49" charset="0"/>
              </a:rPr>
              <a:t>10.1.1.0/24	</a:t>
            </a:r>
            <a:r>
              <a:rPr lang="pt-BR" altLang="zh-CN" sz="1200" b="1" dirty="0">
                <a:latin typeface="+mn-lt"/>
                <a:ea typeface="+mn-ea"/>
                <a:cs typeface="Courier New" panose="02070309020205020404" pitchFamily="49" charset="0"/>
              </a:rPr>
              <a:t>O_ASE 150 1 D 12.1.3.1      Gigabit Ethernet</a:t>
            </a:r>
            <a:r>
              <a:rPr lang="en-US" altLang="zh-CN" sz="1200" b="1" dirty="0">
                <a:latin typeface="+mn-lt"/>
                <a:ea typeface="+mn-ea"/>
                <a:cs typeface="Courier New" panose="02070309020205020404" pitchFamily="49" charset="0"/>
              </a:rPr>
              <a:t>0/0/0</a:t>
            </a:r>
            <a:endParaRPr lang="zh-CN" altLang="en-US" sz="1200" b="1" dirty="0">
              <a:latin typeface="+mn-lt"/>
              <a:ea typeface="+mn-ea"/>
              <a:cs typeface="Courier New" panose="02070309020205020404" pitchFamily="49" charset="0"/>
            </a:endParaRPr>
          </a:p>
          <a:p>
            <a:pPr algn="l" rtl="0"/>
            <a:r>
              <a:rPr lang="zh-CN" altLang="en-US" sz="1200" b="1" dirty="0">
                <a:solidFill>
                  <a:srgbClr val="C00000"/>
                </a:solidFill>
                <a:latin typeface="+mn-lt"/>
                <a:ea typeface="+mn-ea"/>
                <a:cs typeface="Courier New" panose="02070309020205020404" pitchFamily="49" charset="0"/>
              </a:rPr>
              <a:t>   </a:t>
            </a:r>
            <a:r>
              <a:rPr lang="pt-BR" altLang="zh-CN" sz="1200" b="1" dirty="0">
                <a:solidFill>
                  <a:srgbClr val="C00000"/>
                </a:solidFill>
                <a:latin typeface="+mn-lt"/>
                <a:ea typeface="+mn-ea"/>
                <a:cs typeface="Courier New" panose="02070309020205020404" pitchFamily="49" charset="0"/>
              </a:rPr>
              <a:t>10.1.3.0/24	</a:t>
            </a:r>
            <a:r>
              <a:rPr lang="pt-BR" altLang="zh-CN" sz="1200" b="1" dirty="0">
                <a:latin typeface="+mn-lt"/>
                <a:ea typeface="+mn-ea"/>
                <a:cs typeface="Courier New" panose="02070309020205020404" pitchFamily="49" charset="0"/>
              </a:rPr>
              <a:t>O_ASE 150 1 D 12.1.3.1      Gigabit Ethernet</a:t>
            </a:r>
            <a:r>
              <a:rPr lang="en-US" altLang="zh-CN" sz="1200" b="1" dirty="0">
                <a:latin typeface="+mn-lt"/>
                <a:ea typeface="+mn-ea"/>
                <a:cs typeface="Courier New" panose="02070309020205020404" pitchFamily="49" charset="0"/>
              </a:rPr>
              <a:t>0/0/0</a:t>
            </a:r>
            <a:endParaRPr lang="zh-CN" altLang="en-US" sz="1200" b="1" dirty="0">
              <a:latin typeface="+mn-lt"/>
              <a:ea typeface="+mn-ea"/>
              <a:cs typeface="Courier New" panose="02070309020205020404" pitchFamily="49" charset="0"/>
            </a:endParaRPr>
          </a:p>
          <a:p>
            <a:pPr algn="l" rtl="0"/>
            <a:r>
              <a:rPr lang="zh-CN" altLang="en-US" sz="1200" b="1" dirty="0">
                <a:solidFill>
                  <a:srgbClr val="C00000"/>
                </a:solidFill>
                <a:latin typeface="+mn-lt"/>
                <a:ea typeface="+mn-ea"/>
                <a:cs typeface="Courier New" panose="02070309020205020404" pitchFamily="49" charset="0"/>
              </a:rPr>
              <a:t>   </a:t>
            </a:r>
            <a:r>
              <a:rPr lang="en-US" altLang="zh-CN" sz="1200" b="1" dirty="0">
                <a:solidFill>
                  <a:srgbClr val="C00000"/>
                </a:solidFill>
                <a:latin typeface="+mn-lt"/>
                <a:ea typeface="+mn-ea"/>
                <a:cs typeface="Courier New" panose="02070309020205020404" pitchFamily="49" charset="0"/>
              </a:rPr>
              <a:t>10.1.4.0/24	</a:t>
            </a:r>
            <a:r>
              <a:rPr lang="en-US" altLang="zh-CN" sz="1200" b="1" dirty="0">
                <a:latin typeface="+mn-lt"/>
                <a:ea typeface="+mn-ea"/>
                <a:cs typeface="Courier New" panose="02070309020205020404" pitchFamily="49" charset="0"/>
              </a:rPr>
              <a:t>OSPF 10 3 D 12.1.3.1      </a:t>
            </a:r>
            <a:r>
              <a:rPr lang="en-US" altLang="zh-CN" sz="1200" b="1" dirty="0" err="1">
                <a:latin typeface="+mn-lt"/>
                <a:ea typeface="+mn-ea"/>
                <a:cs typeface="Courier New" panose="02070309020205020404" pitchFamily="49" charset="0"/>
              </a:rPr>
              <a:t>Gigabit Ethernet</a:t>
            </a:r>
            <a:r>
              <a:rPr lang="en-US" altLang="zh-CN" sz="1200" b="1" dirty="0">
                <a:latin typeface="+mn-lt"/>
                <a:ea typeface="+mn-ea"/>
                <a:cs typeface="Courier New" panose="02070309020205020404" pitchFamily="49" charset="0"/>
              </a:rPr>
              <a:t>0/0/0</a:t>
            </a:r>
            <a:endParaRPr lang="zh-CN" altLang="en-US" sz="1200" b="1" dirty="0">
              <a:latin typeface="+mn-lt"/>
              <a:ea typeface="+mn-ea"/>
              <a:cs typeface="Courier New" panose="02070309020205020404" pitchFamily="49" charset="0"/>
            </a:endParaRPr>
          </a:p>
          <a:p>
            <a:pPr algn="l" rtl="0"/>
            <a:r>
              <a:rPr lang="zh-CN" altLang="en-US" sz="1200" b="1" dirty="0">
                <a:latin typeface="+mn-lt"/>
                <a:ea typeface="+mn-ea"/>
                <a:cs typeface="Courier New" panose="02070309020205020404" pitchFamily="49" charset="0"/>
              </a:rPr>
              <a:t>   </a:t>
            </a:r>
            <a:r>
              <a:rPr lang="en-US" altLang="zh-CN" sz="1200" b="1" dirty="0">
                <a:latin typeface="+mn-lt"/>
                <a:ea typeface="+mn-ea"/>
                <a:cs typeface="Courier New" panose="02070309020205020404" pitchFamily="49" charset="0"/>
              </a:rPr>
              <a:t>10.1.5.0/24 Direct 0 0 D 10.1.5.2      </a:t>
            </a:r>
            <a:r>
              <a:rPr lang="en-US" altLang="zh-CN" sz="1200" b="1" dirty="0" err="1">
                <a:latin typeface="+mn-lt"/>
                <a:ea typeface="+mn-ea"/>
                <a:cs typeface="Courier New" panose="02070309020205020404" pitchFamily="49" charset="0"/>
              </a:rPr>
              <a:t>Gigabit Ethernet</a:t>
            </a:r>
            <a:r>
              <a:rPr lang="en-US" altLang="zh-CN" sz="1200" b="1" dirty="0">
                <a:latin typeface="+mn-lt"/>
                <a:ea typeface="+mn-ea"/>
                <a:cs typeface="Courier New" panose="02070309020205020404" pitchFamily="49" charset="0"/>
              </a:rPr>
              <a:t>0/0/1</a:t>
            </a:r>
            <a:endParaRPr lang="zh-CN" altLang="en-US" sz="1200" b="1" dirty="0">
              <a:latin typeface="+mn-lt"/>
              <a:ea typeface="+mn-ea"/>
              <a:cs typeface="Courier New" panose="02070309020205020404" pitchFamily="49" charset="0"/>
            </a:endParaRPr>
          </a:p>
        </p:txBody>
      </p:sp>
    </p:spTree>
    <p:extLst>
      <p:ext uri="{BB962C8B-B14F-4D97-AF65-F5344CB8AC3E}">
        <p14:creationId xmlns:p14="http://schemas.microsoft.com/office/powerpoint/2010/main" val="4114286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文本占位符 3"/>
          <p:cNvSpPr>
            <a:spLocks noGrp="1"/>
          </p:cNvSpPr>
          <p:nvPr>
            <p:ph type="body" sz="quarter" idx="10"/>
          </p:nvPr>
        </p:nvSpPr>
        <p:spPr/>
        <p:txBody>
          <a:bodyPr/>
          <a:lstStyle/>
          <a:p>
            <a:pPr algn="l" rtl="0"/>
            <a:r>
              <a:rPr lang="en-US" altLang="zh-CN" dirty="0">
                <a:solidFill>
                  <a:schemeClr val="bg1">
                    <a:lumMod val="50000"/>
                  </a:schemeClr>
                </a:solidFill>
                <a:sym typeface="FrutigerNext LT Regular" pitchFamily="34" charset="0"/>
              </a:rPr>
              <a:t>Exigence de contrôle du comportement de la circulation</a:t>
            </a:r>
          </a:p>
          <a:p>
            <a:pPr algn="l" rtl="0"/>
            <a:r>
              <a:rPr lang="en-US" altLang="zh-CN" b="1" dirty="0">
                <a:sym typeface="FrutigerNext LT Regular" pitchFamily="34" charset="0"/>
              </a:rPr>
              <a:t>Portée du contrôle</a:t>
            </a:r>
          </a:p>
          <a:p>
            <a:pPr lvl="1" algn="l" rtl="0"/>
            <a:r>
              <a:rPr lang="en-US" altLang="zh-CN" dirty="0">
                <a:solidFill>
                  <a:schemeClr val="bg1">
                    <a:lumMod val="50000"/>
                  </a:schemeClr>
                </a:solidFill>
                <a:sym typeface="FrutigerNext LT Regular" pitchFamily="34" charset="0"/>
              </a:rPr>
              <a:t>Politique de routage</a:t>
            </a:r>
          </a:p>
          <a:p>
            <a:pPr lvl="1" algn="l" rtl="0">
              <a:buSzPct val="60000"/>
              <a:buFont typeface="Wingdings" panose="05000000000000000000" pitchFamily="2" charset="2"/>
              <a:buChar char="n"/>
            </a:pPr>
            <a:r>
              <a:rPr lang="en-US" altLang="zh-CN" dirty="0">
                <a:sym typeface="FrutigerNext LT Regular" pitchFamily="34" charset="0"/>
              </a:rPr>
              <a:t>Filtre de trafic</a:t>
            </a:r>
          </a:p>
          <a:p>
            <a:pPr algn="l" rtl="0"/>
            <a:r>
              <a:rPr lang="en-US" altLang="zh-CN" dirty="0">
                <a:solidFill>
                  <a:schemeClr val="bg1">
                    <a:lumMod val="50000"/>
                  </a:schemeClr>
                </a:solidFill>
                <a:sym typeface="FrutigerNext LT Regular" pitchFamily="34" charset="0"/>
              </a:rPr>
              <a:t>Ajuster le chemin du trafic réseau</a:t>
            </a:r>
          </a:p>
          <a:p>
            <a:pPr algn="l" rtl="0"/>
            <a:r>
              <a:rPr lang="en-US" altLang="zh-CN" dirty="0">
                <a:solidFill>
                  <a:schemeClr val="bg1">
                    <a:lumMod val="50000"/>
                  </a:schemeClr>
                </a:solidFill>
                <a:sym typeface="FrutigerNext LT Regular" pitchFamily="34" charset="0"/>
              </a:rPr>
              <a:t>Problèmes liés à l'importation d'itinéraires et solutions</a:t>
            </a:r>
          </a:p>
        </p:txBody>
      </p:sp>
    </p:spTree>
    <p:extLst>
      <p:ext uri="{BB962C8B-B14F-4D97-AF65-F5344CB8AC3E}">
        <p14:creationId xmlns:p14="http://schemas.microsoft.com/office/powerpoint/2010/main" val="464868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51" name="直接连接符 95"/>
          <p:cNvCxnSpPr>
            <a:cxnSpLocks noChangeShapeType="1"/>
          </p:cNvCxnSpPr>
          <p:nvPr/>
        </p:nvCxnSpPr>
        <p:spPr bwMode="auto">
          <a:xfrm flipH="1" flipV="1">
            <a:off x="4883151" y="4733926"/>
            <a:ext cx="1103313" cy="758825"/>
          </a:xfrm>
          <a:prstGeom prst="line">
            <a:avLst/>
          </a:prstGeom>
          <a:noFill/>
          <a:ln w="28575" algn="ctr">
            <a:solidFill>
              <a:srgbClr val="C00000"/>
            </a:solidFill>
            <a:prstDash val="sysDot"/>
            <a:round/>
            <a:headEnd/>
            <a:tailEnd/>
          </a:ln>
        </p:spPr>
      </p:cxnSp>
      <p:cxnSp>
        <p:nvCxnSpPr>
          <p:cNvPr id="2052" name="直接连接符 93"/>
          <p:cNvCxnSpPr>
            <a:cxnSpLocks noChangeShapeType="1"/>
          </p:cNvCxnSpPr>
          <p:nvPr/>
        </p:nvCxnSpPr>
        <p:spPr bwMode="auto">
          <a:xfrm flipV="1">
            <a:off x="4945063" y="2547939"/>
            <a:ext cx="1071562" cy="1169987"/>
          </a:xfrm>
          <a:prstGeom prst="line">
            <a:avLst/>
          </a:prstGeom>
          <a:noFill/>
          <a:ln w="28575" algn="ctr">
            <a:solidFill>
              <a:srgbClr val="C00000"/>
            </a:solidFill>
            <a:prstDash val="sysDot"/>
            <a:round/>
            <a:headEnd/>
            <a:tailEnd/>
          </a:ln>
        </p:spPr>
      </p:cxnSp>
      <p:sp>
        <p:nvSpPr>
          <p:cNvPr id="2054" name="文本占位符 3"/>
          <p:cNvSpPr>
            <a:spLocks noGrp="1"/>
          </p:cNvSpPr>
          <p:nvPr>
            <p:ph type="body" sz="quarter" idx="10"/>
          </p:nvPr>
        </p:nvSpPr>
        <p:spPr/>
        <p:txBody>
          <a:bodyPr/>
          <a:lstStyle/>
          <a:p>
            <a:pPr algn="l" rtl="0"/>
            <a:r>
              <a:rPr lang="en-US" altLang="zh-CN" dirty="0">
                <a:sym typeface="FrutigerNext LT Regular" pitchFamily="34" charset="0"/>
              </a:rPr>
              <a:t>Conformément à une politique personnalisée : utilise le filtre de trafic.</a:t>
            </a:r>
          </a:p>
        </p:txBody>
      </p:sp>
      <p:sp>
        <p:nvSpPr>
          <p:cNvPr id="4" name="文本占位符 3"/>
          <p:cNvSpPr>
            <a:spLocks noGrp="1"/>
          </p:cNvSpPr>
          <p:nvPr>
            <p:ph type="body" sz="quarter" idx="12"/>
          </p:nvPr>
        </p:nvSpPr>
        <p:spPr/>
        <p:txBody>
          <a:bodyPr/>
          <a:lstStyle/>
          <a:p>
            <a:pPr algn="l" rtl="0"/>
            <a:r>
              <a:rPr lang="en-US" altLang="zh-CN" dirty="0"/>
              <a:t>Solution 2 :Filtre de trafic (1))</a:t>
            </a:r>
            <a:endParaRPr lang="zh-CN" altLang="en-US" dirty="0"/>
          </a:p>
        </p:txBody>
      </p:sp>
      <p:sp>
        <p:nvSpPr>
          <p:cNvPr id="50" name="圆角矩形 49"/>
          <p:cNvSpPr/>
          <p:nvPr/>
        </p:nvSpPr>
        <p:spPr bwMode="auto">
          <a:xfrm>
            <a:off x="8220076" y="3844925"/>
            <a:ext cx="1816100" cy="66357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900" dirty="0">
              <a:latin typeface="+mn-lt"/>
              <a:ea typeface="+mn-ea"/>
            </a:endParaRPr>
          </a:p>
        </p:txBody>
      </p:sp>
      <p:sp>
        <p:nvSpPr>
          <p:cNvPr id="51" name="圆角矩形 50"/>
          <p:cNvSpPr/>
          <p:nvPr/>
        </p:nvSpPr>
        <p:spPr bwMode="auto">
          <a:xfrm>
            <a:off x="8150225" y="3136900"/>
            <a:ext cx="1848391" cy="652463"/>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900" dirty="0">
              <a:latin typeface="+mn-lt"/>
              <a:ea typeface="+mn-ea"/>
            </a:endParaRPr>
          </a:p>
        </p:txBody>
      </p:sp>
      <p:sp>
        <p:nvSpPr>
          <p:cNvPr id="52" name="圆角矩形 51"/>
          <p:cNvSpPr/>
          <p:nvPr/>
        </p:nvSpPr>
        <p:spPr bwMode="auto">
          <a:xfrm>
            <a:off x="8215313" y="4652963"/>
            <a:ext cx="1805124" cy="61277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900" dirty="0">
              <a:latin typeface="+mn-lt"/>
              <a:ea typeface="+mn-ea"/>
            </a:endParaRPr>
          </a:p>
        </p:txBody>
      </p:sp>
      <p:sp>
        <p:nvSpPr>
          <p:cNvPr id="54" name="圆角矩形 53"/>
          <p:cNvSpPr/>
          <p:nvPr/>
        </p:nvSpPr>
        <p:spPr bwMode="auto">
          <a:xfrm>
            <a:off x="2279650" y="4384675"/>
            <a:ext cx="1751013" cy="74930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900" dirty="0">
              <a:latin typeface="+mn-lt"/>
              <a:ea typeface="+mn-ea"/>
            </a:endParaRPr>
          </a:p>
        </p:txBody>
      </p:sp>
      <p:sp>
        <p:nvSpPr>
          <p:cNvPr id="55" name="圆角矩形 54"/>
          <p:cNvSpPr/>
          <p:nvPr/>
        </p:nvSpPr>
        <p:spPr bwMode="auto">
          <a:xfrm>
            <a:off x="2279650" y="3146425"/>
            <a:ext cx="1698625" cy="750888"/>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900" dirty="0">
              <a:latin typeface="+mn-lt"/>
              <a:ea typeface="+mn-ea"/>
            </a:endParaRPr>
          </a:p>
        </p:txBody>
      </p:sp>
      <p:sp>
        <p:nvSpPr>
          <p:cNvPr id="2077" name="矩形 55"/>
          <p:cNvSpPr>
            <a:spLocks noChangeArrowheads="1"/>
          </p:cNvSpPr>
          <p:nvPr/>
        </p:nvSpPr>
        <p:spPr bwMode="auto">
          <a:xfrm>
            <a:off x="8939213" y="3194050"/>
            <a:ext cx="1189037" cy="461665"/>
          </a:xfrm>
          <a:prstGeom prst="rect">
            <a:avLst/>
          </a:prstGeom>
          <a:noFill/>
          <a:ln w="9525">
            <a:noFill/>
            <a:miter lim="800000"/>
            <a:headEnd/>
            <a:tailEnd/>
          </a:ln>
        </p:spPr>
        <p:txBody>
          <a:bodyPr wrap="square">
            <a:spAutoFit/>
          </a:bodyPr>
          <a:lstStyle/>
          <a:p>
            <a:pPr algn="l" rtl="0" eaLnBrk="0" fontAlgn="t" hangingPunct="0">
              <a:buSzPct val="100000"/>
            </a:pPr>
            <a:r>
              <a:rPr lang="en-US" altLang="zh-CN" sz="1200" b="1" dirty="0">
                <a:solidFill>
                  <a:srgbClr val="000000"/>
                </a:solidFill>
                <a:latin typeface="+mn-lt"/>
                <a:ea typeface="+mn-ea"/>
                <a:sym typeface="FrutigerNext LT Regular" pitchFamily="34" charset="0"/>
              </a:rPr>
              <a:t>département financier</a:t>
            </a:r>
          </a:p>
        </p:txBody>
      </p:sp>
      <p:cxnSp>
        <p:nvCxnSpPr>
          <p:cNvPr id="2078" name="直接连接符 56"/>
          <p:cNvCxnSpPr>
            <a:cxnSpLocks noChangeShapeType="1"/>
          </p:cNvCxnSpPr>
          <p:nvPr/>
        </p:nvCxnSpPr>
        <p:spPr bwMode="auto">
          <a:xfrm flipH="1" flipV="1">
            <a:off x="3598611" y="3420909"/>
            <a:ext cx="1111080" cy="344118"/>
          </a:xfrm>
          <a:prstGeom prst="line">
            <a:avLst/>
          </a:prstGeom>
          <a:noFill/>
          <a:ln w="28575" algn="ctr">
            <a:solidFill>
              <a:schemeClr val="tx1"/>
            </a:solidFill>
            <a:round/>
            <a:headEnd/>
            <a:tailEnd/>
          </a:ln>
        </p:spPr>
      </p:cxnSp>
      <p:cxnSp>
        <p:nvCxnSpPr>
          <p:cNvPr id="58" name="直接连接符 57"/>
          <p:cNvCxnSpPr/>
          <p:nvPr/>
        </p:nvCxnSpPr>
        <p:spPr bwMode="auto">
          <a:xfrm>
            <a:off x="4892675" y="3806825"/>
            <a:ext cx="1219200" cy="352425"/>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80" name="直接连接符 60"/>
          <p:cNvCxnSpPr>
            <a:cxnSpLocks noChangeShapeType="1"/>
          </p:cNvCxnSpPr>
          <p:nvPr/>
        </p:nvCxnSpPr>
        <p:spPr bwMode="auto">
          <a:xfrm flipV="1">
            <a:off x="4980177" y="4317556"/>
            <a:ext cx="1080379" cy="263120"/>
          </a:xfrm>
          <a:prstGeom prst="line">
            <a:avLst/>
          </a:prstGeom>
          <a:noFill/>
          <a:ln w="28575" algn="ctr">
            <a:solidFill>
              <a:schemeClr val="tx1"/>
            </a:solidFill>
            <a:round/>
            <a:headEnd/>
            <a:tailEnd/>
          </a:ln>
        </p:spPr>
      </p:cxnSp>
      <p:cxnSp>
        <p:nvCxnSpPr>
          <p:cNvPr id="2081" name="直接连接符 61"/>
          <p:cNvCxnSpPr>
            <a:cxnSpLocks noChangeShapeType="1"/>
          </p:cNvCxnSpPr>
          <p:nvPr/>
        </p:nvCxnSpPr>
        <p:spPr bwMode="auto">
          <a:xfrm flipH="1">
            <a:off x="3608707" y="4634909"/>
            <a:ext cx="1284621" cy="205938"/>
          </a:xfrm>
          <a:prstGeom prst="line">
            <a:avLst/>
          </a:prstGeom>
          <a:noFill/>
          <a:ln w="28575" algn="ctr">
            <a:solidFill>
              <a:schemeClr val="tx1"/>
            </a:solidFill>
            <a:round/>
            <a:headEnd/>
            <a:tailEnd/>
          </a:ln>
        </p:spPr>
      </p:cxnSp>
      <p:cxnSp>
        <p:nvCxnSpPr>
          <p:cNvPr id="2082" name="直接连接符 63"/>
          <p:cNvCxnSpPr>
            <a:cxnSpLocks noChangeShapeType="1"/>
          </p:cNvCxnSpPr>
          <p:nvPr/>
        </p:nvCxnSpPr>
        <p:spPr bwMode="auto">
          <a:xfrm>
            <a:off x="6096511" y="4184804"/>
            <a:ext cx="1116086" cy="0"/>
          </a:xfrm>
          <a:prstGeom prst="line">
            <a:avLst/>
          </a:prstGeom>
          <a:noFill/>
          <a:ln w="28575" algn="ctr">
            <a:solidFill>
              <a:schemeClr val="tx1"/>
            </a:solidFill>
            <a:round/>
            <a:headEnd/>
            <a:tailEnd/>
          </a:ln>
        </p:spPr>
      </p:cxnSp>
      <p:cxnSp>
        <p:nvCxnSpPr>
          <p:cNvPr id="2083" name="直接连接符 64"/>
          <p:cNvCxnSpPr>
            <a:cxnSpLocks noChangeShapeType="1"/>
          </p:cNvCxnSpPr>
          <p:nvPr/>
        </p:nvCxnSpPr>
        <p:spPr bwMode="auto">
          <a:xfrm flipH="1">
            <a:off x="7475382" y="3470538"/>
            <a:ext cx="998518" cy="644219"/>
          </a:xfrm>
          <a:prstGeom prst="line">
            <a:avLst/>
          </a:prstGeom>
          <a:noFill/>
          <a:ln w="28575" algn="ctr">
            <a:solidFill>
              <a:schemeClr val="tx1"/>
            </a:solidFill>
            <a:round/>
            <a:headEnd/>
            <a:tailEnd/>
          </a:ln>
        </p:spPr>
      </p:cxnSp>
      <p:cxnSp>
        <p:nvCxnSpPr>
          <p:cNvPr id="2084" name="直接连接符 67"/>
          <p:cNvCxnSpPr>
            <a:cxnSpLocks noChangeShapeType="1"/>
          </p:cNvCxnSpPr>
          <p:nvPr/>
        </p:nvCxnSpPr>
        <p:spPr bwMode="auto">
          <a:xfrm flipV="1">
            <a:off x="7348033" y="4078809"/>
            <a:ext cx="1373298" cy="90661"/>
          </a:xfrm>
          <a:prstGeom prst="line">
            <a:avLst/>
          </a:prstGeom>
          <a:noFill/>
          <a:ln w="28575" algn="ctr">
            <a:solidFill>
              <a:schemeClr val="tx1"/>
            </a:solidFill>
            <a:round/>
            <a:headEnd/>
            <a:tailEnd/>
          </a:ln>
        </p:spPr>
      </p:cxnSp>
      <p:cxnSp>
        <p:nvCxnSpPr>
          <p:cNvPr id="2085" name="直接连接符 68"/>
          <p:cNvCxnSpPr>
            <a:cxnSpLocks noChangeShapeType="1"/>
          </p:cNvCxnSpPr>
          <p:nvPr/>
        </p:nvCxnSpPr>
        <p:spPr bwMode="auto">
          <a:xfrm>
            <a:off x="7395194" y="4265032"/>
            <a:ext cx="1153298" cy="736098"/>
          </a:xfrm>
          <a:prstGeom prst="line">
            <a:avLst/>
          </a:prstGeom>
          <a:noFill/>
          <a:ln w="28575" algn="ctr">
            <a:solidFill>
              <a:schemeClr val="tx1"/>
            </a:solidFill>
            <a:round/>
            <a:headEnd/>
            <a:tailEnd/>
          </a:ln>
        </p:spPr>
      </p:cxnSp>
      <p:sp>
        <p:nvSpPr>
          <p:cNvPr id="2086" name="矩形 69"/>
          <p:cNvSpPr>
            <a:spLocks noChangeArrowheads="1"/>
          </p:cNvSpPr>
          <p:nvPr/>
        </p:nvSpPr>
        <p:spPr bwMode="auto">
          <a:xfrm>
            <a:off x="2207568" y="4628165"/>
            <a:ext cx="1247586" cy="276999"/>
          </a:xfrm>
          <a:prstGeom prst="rect">
            <a:avLst/>
          </a:prstGeom>
          <a:noFill/>
          <a:ln w="9525">
            <a:noFill/>
            <a:miter lim="800000"/>
            <a:headEnd/>
            <a:tailEnd/>
          </a:ln>
        </p:spPr>
        <p:txBody>
          <a:bodyPr wrap="none">
            <a:spAutoFit/>
          </a:bodyPr>
          <a:lstStyle/>
          <a:p>
            <a:pPr algn="l" rtl="0" eaLnBrk="0" fontAlgn="t" hangingPunct="0">
              <a:buSzPct val="100000"/>
            </a:pPr>
            <a:r>
              <a:rPr lang="en-US" altLang="zh-CN" sz="1200" b="1" dirty="0">
                <a:solidFill>
                  <a:srgbClr val="000000"/>
                </a:solidFill>
                <a:latin typeface="+mn-lt"/>
                <a:ea typeface="+mn-ea"/>
                <a:sym typeface="FrutigerNext LT Regular" pitchFamily="34" charset="0"/>
              </a:rPr>
              <a:t>Quartier général</a:t>
            </a:r>
          </a:p>
        </p:txBody>
      </p:sp>
      <p:sp>
        <p:nvSpPr>
          <p:cNvPr id="2087" name="矩形 70"/>
          <p:cNvSpPr>
            <a:spLocks noChangeArrowheads="1"/>
          </p:cNvSpPr>
          <p:nvPr/>
        </p:nvSpPr>
        <p:spPr bwMode="auto">
          <a:xfrm>
            <a:off x="8974138" y="4037002"/>
            <a:ext cx="1046298" cy="400110"/>
          </a:xfrm>
          <a:prstGeom prst="rect">
            <a:avLst/>
          </a:prstGeom>
          <a:noFill/>
          <a:ln w="9525">
            <a:noFill/>
            <a:miter lim="800000"/>
            <a:headEnd/>
            <a:tailEnd/>
          </a:ln>
        </p:spPr>
        <p:txBody>
          <a:bodyPr wrap="square">
            <a:spAutoFit/>
          </a:bodyPr>
          <a:lstStyle/>
          <a:p>
            <a:pPr algn="l" rtl="0" eaLnBrk="0" fontAlgn="t" hangingPunct="0">
              <a:buSzPct val="100000"/>
            </a:pPr>
            <a:r>
              <a:rPr lang="en-US" altLang="zh-CN" b="1" dirty="0">
                <a:solidFill>
                  <a:srgbClr val="000000"/>
                </a:solidFill>
                <a:latin typeface="+mn-lt"/>
                <a:ea typeface="+mn-ea"/>
                <a:sym typeface="FrutigerNext LT Regular" pitchFamily="34" charset="0"/>
              </a:rPr>
              <a:t>département R&amp;D</a:t>
            </a:r>
          </a:p>
        </p:txBody>
      </p:sp>
      <p:sp>
        <p:nvSpPr>
          <p:cNvPr id="2088" name="矩形 71"/>
          <p:cNvSpPr>
            <a:spLocks noChangeArrowheads="1"/>
          </p:cNvSpPr>
          <p:nvPr/>
        </p:nvSpPr>
        <p:spPr bwMode="auto">
          <a:xfrm>
            <a:off x="8905305" y="4793086"/>
            <a:ext cx="1439167" cy="400110"/>
          </a:xfrm>
          <a:prstGeom prst="rect">
            <a:avLst/>
          </a:prstGeom>
          <a:noFill/>
          <a:ln w="9525">
            <a:noFill/>
            <a:miter lim="800000"/>
            <a:headEnd/>
            <a:tailEnd/>
          </a:ln>
        </p:spPr>
        <p:txBody>
          <a:bodyPr wrap="square">
            <a:spAutoFit/>
          </a:bodyPr>
          <a:lstStyle/>
          <a:p>
            <a:pPr algn="l" rtl="0" eaLnBrk="0" fontAlgn="t" hangingPunct="0">
              <a:buSzPct val="100000"/>
            </a:pPr>
            <a:r>
              <a:rPr lang="en-US" altLang="zh-CN" b="1" dirty="0">
                <a:solidFill>
                  <a:srgbClr val="000000"/>
                </a:solidFill>
                <a:latin typeface="+mn-lt"/>
                <a:ea typeface="+mn-ea"/>
                <a:sym typeface="FrutigerNext LT Regular" pitchFamily="34" charset="0"/>
              </a:rPr>
              <a:t>Service de documentation</a:t>
            </a:r>
          </a:p>
        </p:txBody>
      </p:sp>
      <p:sp>
        <p:nvSpPr>
          <p:cNvPr id="2089" name="文本框 72"/>
          <p:cNvSpPr txBox="1">
            <a:spLocks noChangeArrowheads="1"/>
          </p:cNvSpPr>
          <p:nvPr/>
        </p:nvSpPr>
        <p:spPr bwMode="auto">
          <a:xfrm>
            <a:off x="6102349" y="3290888"/>
            <a:ext cx="787400" cy="31639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C00000"/>
                </a:solidFill>
                <a:latin typeface="+mn-lt"/>
                <a:ea typeface="+mn-ea"/>
                <a:cs typeface="Arial" charset="0"/>
                <a:sym typeface="FrutigerNext LT Regular" pitchFamily="34" charset="0"/>
              </a:rPr>
              <a:t>OSPF</a:t>
            </a:r>
          </a:p>
        </p:txBody>
      </p:sp>
      <p:sp>
        <p:nvSpPr>
          <p:cNvPr id="2090" name="文本框 73"/>
          <p:cNvSpPr txBox="1">
            <a:spLocks noChangeArrowheads="1"/>
          </p:cNvSpPr>
          <p:nvPr/>
        </p:nvSpPr>
        <p:spPr bwMode="auto">
          <a:xfrm>
            <a:off x="2063552" y="3246752"/>
            <a:ext cx="1347787" cy="470280"/>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département marketing</a:t>
            </a:r>
          </a:p>
        </p:txBody>
      </p:sp>
      <p:sp>
        <p:nvSpPr>
          <p:cNvPr id="2096" name="文本框 80"/>
          <p:cNvSpPr txBox="1">
            <a:spLocks noChangeArrowheads="1"/>
          </p:cNvSpPr>
          <p:nvPr/>
        </p:nvSpPr>
        <p:spPr bwMode="auto">
          <a:xfrm>
            <a:off x="4461167" y="4910077"/>
            <a:ext cx="772122"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RTD</a:t>
            </a:r>
          </a:p>
        </p:txBody>
      </p:sp>
      <p:sp>
        <p:nvSpPr>
          <p:cNvPr id="2097" name="文本框 81"/>
          <p:cNvSpPr txBox="1">
            <a:spLocks noChangeArrowheads="1"/>
          </p:cNvSpPr>
          <p:nvPr/>
        </p:nvSpPr>
        <p:spPr bwMode="auto">
          <a:xfrm>
            <a:off x="4441140" y="3254607"/>
            <a:ext cx="772122"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RTC</a:t>
            </a:r>
          </a:p>
        </p:txBody>
      </p:sp>
      <p:sp>
        <p:nvSpPr>
          <p:cNvPr id="2098" name="文本框 82"/>
          <p:cNvSpPr txBox="1">
            <a:spLocks noChangeArrowheads="1"/>
          </p:cNvSpPr>
          <p:nvPr/>
        </p:nvSpPr>
        <p:spPr bwMode="auto">
          <a:xfrm>
            <a:off x="5700312" y="4444364"/>
            <a:ext cx="772122"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RTB</a:t>
            </a:r>
          </a:p>
        </p:txBody>
      </p:sp>
      <p:sp>
        <p:nvSpPr>
          <p:cNvPr id="2099" name="文本框 83"/>
          <p:cNvSpPr txBox="1">
            <a:spLocks noChangeArrowheads="1"/>
          </p:cNvSpPr>
          <p:nvPr/>
        </p:nvSpPr>
        <p:spPr bwMode="auto">
          <a:xfrm>
            <a:off x="7010793" y="4444364"/>
            <a:ext cx="772122"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RTA</a:t>
            </a:r>
          </a:p>
        </p:txBody>
      </p:sp>
      <p:sp>
        <p:nvSpPr>
          <p:cNvPr id="2100" name="文本框 84"/>
          <p:cNvSpPr txBox="1">
            <a:spLocks noChangeArrowheads="1"/>
          </p:cNvSpPr>
          <p:nvPr/>
        </p:nvSpPr>
        <p:spPr bwMode="auto">
          <a:xfrm rot="1032180">
            <a:off x="3671887" y="3687587"/>
            <a:ext cx="833437"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dirty="0">
                <a:solidFill>
                  <a:srgbClr val="000000"/>
                </a:solidFill>
                <a:latin typeface="+mn-lt"/>
                <a:ea typeface="+mn-ea"/>
                <a:cs typeface="Arial" charset="0"/>
                <a:sym typeface="FrutigerNext LT Regular" pitchFamily="34" charset="0"/>
              </a:rPr>
              <a:t>10.1.4.0</a:t>
            </a:r>
          </a:p>
        </p:txBody>
      </p:sp>
      <p:sp>
        <p:nvSpPr>
          <p:cNvPr id="2101" name="文本框 85"/>
          <p:cNvSpPr txBox="1">
            <a:spLocks noChangeAspect="1"/>
          </p:cNvSpPr>
          <p:nvPr/>
        </p:nvSpPr>
        <p:spPr bwMode="auto">
          <a:xfrm rot="21097595">
            <a:off x="3879849" y="4719462"/>
            <a:ext cx="833438"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dirty="0">
                <a:solidFill>
                  <a:srgbClr val="000000"/>
                </a:solidFill>
                <a:latin typeface="+mn-lt"/>
                <a:ea typeface="+mn-ea"/>
                <a:cs typeface="Arial" charset="0"/>
                <a:sym typeface="FrutigerNext LT Regular" pitchFamily="34" charset="0"/>
              </a:rPr>
              <a:t>10.1.5.0</a:t>
            </a:r>
          </a:p>
        </p:txBody>
      </p:sp>
      <p:sp>
        <p:nvSpPr>
          <p:cNvPr id="2102" name="文本框 86"/>
          <p:cNvSpPr txBox="1">
            <a:spLocks noChangeArrowheads="1"/>
          </p:cNvSpPr>
          <p:nvPr/>
        </p:nvSpPr>
        <p:spPr bwMode="auto">
          <a:xfrm rot="19651937">
            <a:off x="7367588" y="3489944"/>
            <a:ext cx="833437"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dirty="0">
                <a:solidFill>
                  <a:srgbClr val="000000"/>
                </a:solidFill>
                <a:latin typeface="+mn-lt"/>
                <a:ea typeface="+mn-ea"/>
                <a:cs typeface="Arial" charset="0"/>
                <a:sym typeface="FrutigerNext LT Regular" pitchFamily="34" charset="0"/>
              </a:rPr>
              <a:t>10.1.1.0</a:t>
            </a:r>
          </a:p>
        </p:txBody>
      </p:sp>
      <p:sp>
        <p:nvSpPr>
          <p:cNvPr id="2103" name="文本框 87"/>
          <p:cNvSpPr txBox="1">
            <a:spLocks noChangeArrowheads="1"/>
          </p:cNvSpPr>
          <p:nvPr/>
        </p:nvSpPr>
        <p:spPr bwMode="auto">
          <a:xfrm rot="21408131">
            <a:off x="7615238" y="3906662"/>
            <a:ext cx="833437"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dirty="0">
                <a:solidFill>
                  <a:srgbClr val="000000"/>
                </a:solidFill>
                <a:latin typeface="+mn-lt"/>
                <a:ea typeface="+mn-ea"/>
                <a:cs typeface="Arial" charset="0"/>
                <a:sym typeface="FrutigerNext LT Regular" pitchFamily="34" charset="0"/>
              </a:rPr>
              <a:t>10.1.2.0</a:t>
            </a:r>
          </a:p>
        </p:txBody>
      </p:sp>
      <p:sp>
        <p:nvSpPr>
          <p:cNvPr id="2104" name="文本框 88"/>
          <p:cNvSpPr txBox="1">
            <a:spLocks noChangeArrowheads="1"/>
          </p:cNvSpPr>
          <p:nvPr/>
        </p:nvSpPr>
        <p:spPr bwMode="auto">
          <a:xfrm rot="2018709">
            <a:off x="7481888" y="4600400"/>
            <a:ext cx="831850" cy="2702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dirty="0">
                <a:solidFill>
                  <a:srgbClr val="000000"/>
                </a:solidFill>
                <a:latin typeface="+mn-lt"/>
                <a:ea typeface="+mn-ea"/>
                <a:cs typeface="Arial" charset="0"/>
                <a:sym typeface="FrutigerNext LT Regular" pitchFamily="34" charset="0"/>
              </a:rPr>
              <a:t>10.1.3.0</a:t>
            </a:r>
          </a:p>
        </p:txBody>
      </p:sp>
      <p:sp>
        <p:nvSpPr>
          <p:cNvPr id="95" name="AutoShape 17"/>
          <p:cNvSpPr>
            <a:spLocks noChangeArrowheads="1"/>
          </p:cNvSpPr>
          <p:nvPr/>
        </p:nvSpPr>
        <p:spPr bwMode="auto">
          <a:xfrm>
            <a:off x="3750588" y="1922669"/>
            <a:ext cx="5723773" cy="1015663"/>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numéro acl 3000</a:t>
            </a:r>
          </a:p>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Règle 0 : refuser l'accès IP source 10.1.4.0 0.0.0.255 et l'accès IP de destination 10.1.1.0 0.0.0.255</a:t>
            </a:r>
          </a:p>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Règle 5 : refuser l'accès IP source 10.1.4.0 0.0.0.255 et destination 10.1.2.0 0.0.0.255</a:t>
            </a:r>
          </a:p>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Règle 10 autoriser toute source IP</a:t>
            </a:r>
          </a:p>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int g0/0/1</a:t>
            </a:r>
          </a:p>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 </a:t>
            </a:r>
            <a:r>
              <a:rPr lang="en-US" altLang="zh-CN" sz="1100" b="1" dirty="0">
                <a:solidFill>
                  <a:srgbClr val="C00000"/>
                </a:solidFill>
                <a:latin typeface="+mn-lt"/>
                <a:ea typeface="+mn-ea"/>
                <a:cs typeface="Courier New" panose="02070309020205020404" pitchFamily="49" charset="0"/>
                <a:sym typeface="FrutigerNext LT Regular" pitchFamily="34" charset="0"/>
              </a:rPr>
              <a:t>filtre de trafic entrant acl 3000</a:t>
            </a:r>
          </a:p>
        </p:txBody>
      </p:sp>
      <p:sp>
        <p:nvSpPr>
          <p:cNvPr id="97" name="AutoShape 17"/>
          <p:cNvSpPr>
            <a:spLocks noChangeArrowheads="1"/>
          </p:cNvSpPr>
          <p:nvPr/>
        </p:nvSpPr>
        <p:spPr bwMode="auto">
          <a:xfrm>
            <a:off x="2891645" y="5395496"/>
            <a:ext cx="5504481" cy="677108"/>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acl 3000</a:t>
            </a:r>
          </a:p>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Règle 0 : refuser l'accès IP source 10.1.5.0 0.0.0.255 et l'accès IP de destination 10.1.2.0 0.0.0.255</a:t>
            </a:r>
          </a:p>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int g0/0/1</a:t>
            </a:r>
          </a:p>
          <a:p>
            <a:pPr algn="l" rtl="0" eaLnBrk="0" fontAlgn="t" hangingPunct="0">
              <a:buSzPct val="100000"/>
              <a:defRPr/>
            </a:pPr>
            <a:r>
              <a:rPr lang="en-US" altLang="zh-CN" sz="1100" b="1" dirty="0">
                <a:solidFill>
                  <a:srgbClr val="000000"/>
                </a:solidFill>
                <a:latin typeface="+mn-lt"/>
                <a:ea typeface="+mn-ea"/>
                <a:cs typeface="Courier New" panose="02070309020205020404" pitchFamily="49" charset="0"/>
                <a:sym typeface="FrutigerNext LT Regular" pitchFamily="34" charset="0"/>
              </a:rPr>
              <a:t> </a:t>
            </a:r>
            <a:r>
              <a:rPr lang="en-US" altLang="zh-CN" sz="1100" b="1" dirty="0">
                <a:solidFill>
                  <a:srgbClr val="C00000"/>
                </a:solidFill>
                <a:latin typeface="+mn-lt"/>
                <a:ea typeface="+mn-ea"/>
                <a:cs typeface="Courier New" panose="02070309020205020404" pitchFamily="49" charset="0"/>
                <a:sym typeface="FrutigerNext LT Regular" pitchFamily="34" charset="0"/>
              </a:rPr>
              <a:t>filtre de trafic entrant acl 3000</a:t>
            </a:r>
          </a:p>
        </p:txBody>
      </p:sp>
      <p:cxnSp>
        <p:nvCxnSpPr>
          <p:cNvPr id="2070" name="直接连接符 58"/>
          <p:cNvCxnSpPr>
            <a:cxnSpLocks noChangeShapeType="1"/>
          </p:cNvCxnSpPr>
          <p:nvPr/>
        </p:nvCxnSpPr>
        <p:spPr bwMode="auto">
          <a:xfrm>
            <a:off x="7852987" y="3648075"/>
            <a:ext cx="135313" cy="141288"/>
          </a:xfrm>
          <a:prstGeom prst="line">
            <a:avLst/>
          </a:prstGeom>
          <a:noFill/>
          <a:ln w="28575" algn="ctr">
            <a:solidFill>
              <a:srgbClr val="540000"/>
            </a:solidFill>
            <a:round/>
            <a:headEnd/>
            <a:tailEnd/>
          </a:ln>
        </p:spPr>
      </p:cxnSp>
      <p:cxnSp>
        <p:nvCxnSpPr>
          <p:cNvPr id="2071" name="直接连接符 59"/>
          <p:cNvCxnSpPr>
            <a:cxnSpLocks noChangeShapeType="1"/>
          </p:cNvCxnSpPr>
          <p:nvPr/>
        </p:nvCxnSpPr>
        <p:spPr bwMode="auto">
          <a:xfrm flipV="1">
            <a:off x="7848600" y="3655710"/>
            <a:ext cx="135313" cy="130025"/>
          </a:xfrm>
          <a:prstGeom prst="line">
            <a:avLst/>
          </a:prstGeom>
          <a:noFill/>
          <a:ln w="28575" algn="ctr">
            <a:solidFill>
              <a:srgbClr val="540000"/>
            </a:solidFill>
            <a:round/>
            <a:headEnd/>
            <a:tailEnd/>
          </a:ln>
        </p:spPr>
      </p:cxnSp>
      <p:cxnSp>
        <p:nvCxnSpPr>
          <p:cNvPr id="2068" name="直接连接符 65"/>
          <p:cNvCxnSpPr>
            <a:cxnSpLocks noChangeShapeType="1"/>
          </p:cNvCxnSpPr>
          <p:nvPr/>
        </p:nvCxnSpPr>
        <p:spPr bwMode="auto">
          <a:xfrm>
            <a:off x="7957762" y="4138614"/>
            <a:ext cx="135313" cy="141287"/>
          </a:xfrm>
          <a:prstGeom prst="line">
            <a:avLst/>
          </a:prstGeom>
          <a:noFill/>
          <a:ln w="28575" algn="ctr">
            <a:solidFill>
              <a:srgbClr val="540000"/>
            </a:solidFill>
            <a:round/>
            <a:headEnd/>
            <a:tailEnd/>
          </a:ln>
        </p:spPr>
      </p:cxnSp>
      <p:cxnSp>
        <p:nvCxnSpPr>
          <p:cNvPr id="2069" name="直接连接符 66"/>
          <p:cNvCxnSpPr>
            <a:cxnSpLocks noChangeShapeType="1"/>
          </p:cNvCxnSpPr>
          <p:nvPr/>
        </p:nvCxnSpPr>
        <p:spPr bwMode="auto">
          <a:xfrm flipV="1">
            <a:off x="7953375" y="4146249"/>
            <a:ext cx="135313" cy="130024"/>
          </a:xfrm>
          <a:prstGeom prst="line">
            <a:avLst/>
          </a:prstGeom>
          <a:noFill/>
          <a:ln w="28575" algn="ctr">
            <a:solidFill>
              <a:srgbClr val="540000"/>
            </a:solidFill>
            <a:round/>
            <a:headEnd/>
            <a:tailEnd/>
          </a:ln>
        </p:spPr>
      </p:cxnSp>
      <p:cxnSp>
        <p:nvCxnSpPr>
          <p:cNvPr id="2066" name="直接连接符 100"/>
          <p:cNvCxnSpPr>
            <a:cxnSpLocks noChangeShapeType="1"/>
          </p:cNvCxnSpPr>
          <p:nvPr/>
        </p:nvCxnSpPr>
        <p:spPr bwMode="auto">
          <a:xfrm>
            <a:off x="7960937" y="4283075"/>
            <a:ext cx="135313" cy="141288"/>
          </a:xfrm>
          <a:prstGeom prst="line">
            <a:avLst/>
          </a:prstGeom>
          <a:noFill/>
          <a:ln w="28575" algn="ctr">
            <a:solidFill>
              <a:srgbClr val="540000"/>
            </a:solidFill>
            <a:round/>
            <a:headEnd/>
            <a:tailEnd/>
          </a:ln>
        </p:spPr>
      </p:cxnSp>
      <p:cxnSp>
        <p:nvCxnSpPr>
          <p:cNvPr id="2067" name="直接连接符 101"/>
          <p:cNvCxnSpPr>
            <a:cxnSpLocks noChangeShapeType="1"/>
          </p:cNvCxnSpPr>
          <p:nvPr/>
        </p:nvCxnSpPr>
        <p:spPr bwMode="auto">
          <a:xfrm flipV="1">
            <a:off x="7956550" y="4290710"/>
            <a:ext cx="135313" cy="130025"/>
          </a:xfrm>
          <a:prstGeom prst="line">
            <a:avLst/>
          </a:prstGeom>
          <a:noFill/>
          <a:ln w="28575" algn="ctr">
            <a:solidFill>
              <a:srgbClr val="540000"/>
            </a:solidFill>
            <a:round/>
            <a:headEnd/>
            <a:tailEnd/>
          </a:ln>
        </p:spPr>
      </p:cxnSp>
      <p:sp>
        <p:nvSpPr>
          <p:cNvPr id="2064" name="文本框 102"/>
          <p:cNvSpPr txBox="1">
            <a:spLocks noChangeArrowheads="1"/>
          </p:cNvSpPr>
          <p:nvPr/>
        </p:nvSpPr>
        <p:spPr bwMode="auto">
          <a:xfrm rot="1032180">
            <a:off x="4016375" y="3381021"/>
            <a:ext cx="831850" cy="208670"/>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700" dirty="0">
                <a:solidFill>
                  <a:srgbClr val="000000"/>
                </a:solidFill>
                <a:latin typeface="+mn-lt"/>
                <a:ea typeface="+mn-ea"/>
                <a:cs typeface="Arial" charset="0"/>
                <a:sym typeface="FrutigerNext LT Regular" pitchFamily="34" charset="0"/>
              </a:rPr>
              <a:t>G0/0/1</a:t>
            </a:r>
          </a:p>
        </p:txBody>
      </p:sp>
      <p:sp>
        <p:nvSpPr>
          <p:cNvPr id="2065" name="文本框 103"/>
          <p:cNvSpPr txBox="1">
            <a:spLocks noChangeArrowheads="1"/>
          </p:cNvSpPr>
          <p:nvPr/>
        </p:nvSpPr>
        <p:spPr bwMode="auto">
          <a:xfrm rot="-686732">
            <a:off x="3952875" y="4464490"/>
            <a:ext cx="831850" cy="208670"/>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700" dirty="0">
                <a:solidFill>
                  <a:srgbClr val="000000"/>
                </a:solidFill>
                <a:latin typeface="+mn-lt"/>
                <a:ea typeface="+mn-ea"/>
                <a:cs typeface="Arial" charset="0"/>
                <a:sym typeface="FrutigerNext LT Regular" pitchFamily="34" charset="0"/>
              </a:rPr>
              <a:t>G0/0/1</a:t>
            </a:r>
          </a:p>
        </p:txBody>
      </p:sp>
      <p:pic>
        <p:nvPicPr>
          <p:cNvPr id="64" name="图片 6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450741" y="3296130"/>
            <a:ext cx="540000" cy="442800"/>
          </a:xfrm>
          <a:prstGeom prst="rect">
            <a:avLst/>
          </a:prstGeom>
        </p:spPr>
      </p:pic>
      <p:pic>
        <p:nvPicPr>
          <p:cNvPr id="65" name="图片 6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444064" y="4819595"/>
            <a:ext cx="540000" cy="442800"/>
          </a:xfrm>
          <a:prstGeom prst="rect">
            <a:avLst/>
          </a:prstGeom>
        </p:spPr>
      </p:pic>
      <p:pic>
        <p:nvPicPr>
          <p:cNvPr id="66"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496953" y="3612918"/>
            <a:ext cx="628652" cy="514351"/>
          </a:xfrm>
          <a:prstGeom prst="rect">
            <a:avLst/>
          </a:prstGeom>
          <a:noFill/>
        </p:spPr>
      </p:pic>
      <p:pic>
        <p:nvPicPr>
          <p:cNvPr id="6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495841" y="4317930"/>
            <a:ext cx="628652" cy="514351"/>
          </a:xfrm>
          <a:prstGeom prst="rect">
            <a:avLst/>
          </a:prstGeom>
          <a:noFill/>
        </p:spPr>
      </p:pic>
      <p:pic>
        <p:nvPicPr>
          <p:cNvPr id="6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837551" y="3947935"/>
            <a:ext cx="628652" cy="514351"/>
          </a:xfrm>
          <a:prstGeom prst="rect">
            <a:avLst/>
          </a:prstGeom>
          <a:noFill/>
        </p:spPr>
      </p:pic>
      <p:pic>
        <p:nvPicPr>
          <p:cNvPr id="69"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011078" y="3903983"/>
            <a:ext cx="628652" cy="514351"/>
          </a:xfrm>
          <a:prstGeom prst="rect">
            <a:avLst/>
          </a:prstGeom>
          <a:noFill/>
        </p:spPr>
      </p:pic>
      <p:pic>
        <p:nvPicPr>
          <p:cNvPr id="70" name="图片 6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268766" y="4677243"/>
            <a:ext cx="540000" cy="442800"/>
          </a:xfrm>
          <a:prstGeom prst="rect">
            <a:avLst/>
          </a:prstGeom>
        </p:spPr>
      </p:pic>
      <p:pic>
        <p:nvPicPr>
          <p:cNvPr id="71" name="图片 70" descr="研发部.png"/>
          <p:cNvPicPr>
            <a:picLocks noChangeAspect="1"/>
          </p:cNvPicPr>
          <p:nvPr/>
        </p:nvPicPr>
        <p:blipFill>
          <a:blip r:embed="rId5" cstate="print"/>
          <a:stretch>
            <a:fillRect/>
          </a:stretch>
        </p:blipFill>
        <p:spPr>
          <a:xfrm>
            <a:off x="8463714" y="4039056"/>
            <a:ext cx="540000" cy="441818"/>
          </a:xfrm>
          <a:prstGeom prst="rect">
            <a:avLst/>
          </a:prstGeom>
        </p:spPr>
      </p:pic>
      <p:pic>
        <p:nvPicPr>
          <p:cNvPr id="72" name="图片 71" descr="市场部.png"/>
          <p:cNvPicPr>
            <a:picLocks noChangeAspect="1"/>
          </p:cNvPicPr>
          <p:nvPr/>
        </p:nvPicPr>
        <p:blipFill>
          <a:blip r:embed="rId6" cstate="print"/>
          <a:stretch>
            <a:fillRect/>
          </a:stretch>
        </p:blipFill>
        <p:spPr>
          <a:xfrm>
            <a:off x="3216925" y="3228402"/>
            <a:ext cx="540000" cy="441818"/>
          </a:xfrm>
          <a:prstGeom prst="rect">
            <a:avLst/>
          </a:prstGeom>
        </p:spPr>
      </p:pic>
      <p:sp>
        <p:nvSpPr>
          <p:cNvPr id="2058" name="任意多边形 97"/>
          <p:cNvSpPr>
            <a:spLocks/>
          </p:cNvSpPr>
          <p:nvPr/>
        </p:nvSpPr>
        <p:spPr bwMode="auto">
          <a:xfrm>
            <a:off x="3679825" y="3330576"/>
            <a:ext cx="4775200" cy="790575"/>
          </a:xfrm>
          <a:custGeom>
            <a:avLst/>
            <a:gdLst>
              <a:gd name="T0" fmla="*/ 0 w 4775419"/>
              <a:gd name="T1" fmla="*/ 0 h 790366"/>
              <a:gd name="T2" fmla="*/ 1104623 w 4775419"/>
              <a:gd name="T3" fmla="*/ 349570 h 790366"/>
              <a:gd name="T4" fmla="*/ 2442419 w 4775419"/>
              <a:gd name="T5" fmla="*/ 740169 h 790366"/>
              <a:gd name="T6" fmla="*/ 3670035 w 4775419"/>
              <a:gd name="T7" fmla="*/ 746367 h 790366"/>
              <a:gd name="T8" fmla="*/ 4775200 w 4775419"/>
              <a:gd name="T9" fmla="*/ 48823 h 790366"/>
              <a:gd name="T10" fmla="*/ 0 60000 65536"/>
              <a:gd name="T11" fmla="*/ 0 60000 65536"/>
              <a:gd name="T12" fmla="*/ 0 60000 65536"/>
              <a:gd name="T13" fmla="*/ 0 60000 65536"/>
              <a:gd name="T14" fmla="*/ 0 60000 65536"/>
              <a:gd name="T15" fmla="*/ 0 w 4775419"/>
              <a:gd name="T16" fmla="*/ 0 h 790366"/>
              <a:gd name="T17" fmla="*/ 4775419 w 4775419"/>
              <a:gd name="T18" fmla="*/ 790366 h 790366"/>
            </a:gdLst>
            <a:ahLst/>
            <a:cxnLst>
              <a:cxn ang="T10">
                <a:pos x="T0" y="T1"/>
              </a:cxn>
              <a:cxn ang="T11">
                <a:pos x="T2" y="T3"/>
              </a:cxn>
              <a:cxn ang="T12">
                <a:pos x="T4" y="T5"/>
              </a:cxn>
              <a:cxn ang="T13">
                <a:pos x="T6" y="T7"/>
              </a:cxn>
              <a:cxn ang="T14">
                <a:pos x="T8" y="T9"/>
              </a:cxn>
            </a:cxnLst>
            <a:rect l="T15" t="T16" r="T17" b="T18"/>
            <a:pathLst>
              <a:path w="4775419" h="790366">
                <a:moveTo>
                  <a:pt x="0" y="0"/>
                </a:moveTo>
                <a:cubicBezTo>
                  <a:pt x="456867" y="164059"/>
                  <a:pt x="697584" y="226149"/>
                  <a:pt x="1104672" y="349478"/>
                </a:cubicBezTo>
                <a:cubicBezTo>
                  <a:pt x="1511760" y="472807"/>
                  <a:pt x="2014940" y="673858"/>
                  <a:pt x="2442528" y="739973"/>
                </a:cubicBezTo>
                <a:cubicBezTo>
                  <a:pt x="2870116" y="806088"/>
                  <a:pt x="3209316" y="806098"/>
                  <a:pt x="3670201" y="746170"/>
                </a:cubicBezTo>
                <a:cubicBezTo>
                  <a:pt x="4452426" y="277697"/>
                  <a:pt x="4444858" y="304317"/>
                  <a:pt x="4775419" y="48810"/>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sz="900" dirty="0">
              <a:latin typeface="+mn-lt"/>
              <a:ea typeface="+mn-ea"/>
            </a:endParaRPr>
          </a:p>
        </p:txBody>
      </p:sp>
      <p:sp>
        <p:nvSpPr>
          <p:cNvPr id="2059" name="任意多边形 98"/>
          <p:cNvSpPr>
            <a:spLocks/>
          </p:cNvSpPr>
          <p:nvPr/>
        </p:nvSpPr>
        <p:spPr bwMode="auto">
          <a:xfrm>
            <a:off x="3565526" y="3465514"/>
            <a:ext cx="5184775" cy="771525"/>
          </a:xfrm>
          <a:custGeom>
            <a:avLst/>
            <a:gdLst>
              <a:gd name="T0" fmla="*/ 0 w 5183720"/>
              <a:gd name="T1" fmla="*/ 0 h 771977"/>
              <a:gd name="T2" fmla="*/ 1213405 w 5183720"/>
              <a:gd name="T3" fmla="*/ 374534 h 771977"/>
              <a:gd name="T4" fmla="*/ 2504038 w 5183720"/>
              <a:gd name="T5" fmla="*/ 710993 h 771977"/>
              <a:gd name="T6" fmla="*/ 3843630 w 5183720"/>
              <a:gd name="T7" fmla="*/ 762236 h 771977"/>
              <a:gd name="T8" fmla="*/ 5184775 w 5183720"/>
              <a:gd name="T9" fmla="*/ 739738 h 771977"/>
              <a:gd name="T10" fmla="*/ 0 60000 65536"/>
              <a:gd name="T11" fmla="*/ 0 60000 65536"/>
              <a:gd name="T12" fmla="*/ 0 60000 65536"/>
              <a:gd name="T13" fmla="*/ 0 60000 65536"/>
              <a:gd name="T14" fmla="*/ 0 60000 65536"/>
              <a:gd name="T15" fmla="*/ 0 w 5183720"/>
              <a:gd name="T16" fmla="*/ 0 h 771977"/>
              <a:gd name="T17" fmla="*/ 5183720 w 5183720"/>
              <a:gd name="T18" fmla="*/ 771977 h 771977"/>
            </a:gdLst>
            <a:ahLst/>
            <a:cxnLst>
              <a:cxn ang="T10">
                <a:pos x="T0" y="T1"/>
              </a:cxn>
              <a:cxn ang="T11">
                <a:pos x="T2" y="T3"/>
              </a:cxn>
              <a:cxn ang="T12">
                <a:pos x="T4" y="T5"/>
              </a:cxn>
              <a:cxn ang="T13">
                <a:pos x="T6" y="T7"/>
              </a:cxn>
              <a:cxn ang="T14">
                <a:pos x="T8" y="T9"/>
              </a:cxn>
            </a:cxnLst>
            <a:rect l="T15" t="T16" r="T17" b="T18"/>
            <a:pathLst>
              <a:path w="5183720" h="771977">
                <a:moveTo>
                  <a:pt x="0" y="0"/>
                </a:moveTo>
                <a:cubicBezTo>
                  <a:pt x="456866" y="148561"/>
                  <a:pt x="795903" y="256185"/>
                  <a:pt x="1213158" y="374753"/>
                </a:cubicBezTo>
                <a:cubicBezTo>
                  <a:pt x="1630413" y="493321"/>
                  <a:pt x="2065247" y="646755"/>
                  <a:pt x="2503529" y="711410"/>
                </a:cubicBezTo>
                <a:cubicBezTo>
                  <a:pt x="2941811" y="776065"/>
                  <a:pt x="3265778" y="781105"/>
                  <a:pt x="3842848" y="762683"/>
                </a:cubicBezTo>
                <a:lnTo>
                  <a:pt x="5183720" y="740171"/>
                </a:ln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sz="900" dirty="0">
              <a:latin typeface="+mn-lt"/>
              <a:ea typeface="+mn-ea"/>
            </a:endParaRPr>
          </a:p>
        </p:txBody>
      </p:sp>
      <p:sp>
        <p:nvSpPr>
          <p:cNvPr id="2060" name="任意多边形 99"/>
          <p:cNvSpPr>
            <a:spLocks/>
          </p:cNvSpPr>
          <p:nvPr/>
        </p:nvSpPr>
        <p:spPr bwMode="auto">
          <a:xfrm>
            <a:off x="3756025" y="4292600"/>
            <a:ext cx="4999038" cy="495300"/>
          </a:xfrm>
          <a:custGeom>
            <a:avLst/>
            <a:gdLst>
              <a:gd name="T0" fmla="*/ 0 w 5010788"/>
              <a:gd name="T1" fmla="*/ 420216 h 582574"/>
              <a:gd name="T2" fmla="*/ 1029548 w 5010788"/>
              <a:gd name="T3" fmla="*/ 212458 h 582574"/>
              <a:gd name="T4" fmla="*/ 2283950 w 5010788"/>
              <a:gd name="T5" fmla="*/ 315 h 582574"/>
              <a:gd name="T6" fmla="*/ 3640804 w 5010788"/>
              <a:gd name="T7" fmla="*/ 33490 h 582574"/>
              <a:gd name="T8" fmla="*/ 4988375 w 5010788"/>
              <a:gd name="T9" fmla="*/ 18408 h 582574"/>
              <a:gd name="T10" fmla="*/ 0 60000 65536"/>
              <a:gd name="T11" fmla="*/ 0 60000 65536"/>
              <a:gd name="T12" fmla="*/ 0 60000 65536"/>
              <a:gd name="T13" fmla="*/ 0 60000 65536"/>
              <a:gd name="T14" fmla="*/ 0 60000 65536"/>
              <a:gd name="T15" fmla="*/ 0 w 5010788"/>
              <a:gd name="T16" fmla="*/ 0 h 582574"/>
              <a:gd name="T17" fmla="*/ 5010788 w 5010788"/>
              <a:gd name="T18" fmla="*/ 582574 h 582574"/>
            </a:gdLst>
            <a:ahLst/>
            <a:cxnLst>
              <a:cxn ang="T10">
                <a:pos x="T0" y="T1"/>
              </a:cxn>
              <a:cxn ang="T11">
                <a:pos x="T2" y="T3"/>
              </a:cxn>
              <a:cxn ang="T12">
                <a:pos x="T4" y="T5"/>
              </a:cxn>
              <a:cxn ang="T13">
                <a:pos x="T6" y="T7"/>
              </a:cxn>
              <a:cxn ang="T14">
                <a:pos x="T8" y="T9"/>
              </a:cxn>
            </a:cxnLst>
            <a:rect l="T15" t="T16" r="T17" b="T18"/>
            <a:pathLst>
              <a:path w="5010788" h="582574">
                <a:moveTo>
                  <a:pt x="0" y="582574"/>
                </a:moveTo>
                <a:cubicBezTo>
                  <a:pt x="344725" y="486564"/>
                  <a:pt x="651805" y="391568"/>
                  <a:pt x="1034174" y="294545"/>
                </a:cubicBezTo>
                <a:cubicBezTo>
                  <a:pt x="1416543" y="197522"/>
                  <a:pt x="1857047" y="5460"/>
                  <a:pt x="2294212" y="437"/>
                </a:cubicBezTo>
                <a:cubicBezTo>
                  <a:pt x="2731377" y="-4586"/>
                  <a:pt x="3209711" y="35135"/>
                  <a:pt x="3657165" y="46429"/>
                </a:cubicBezTo>
                <a:lnTo>
                  <a:pt x="5010788" y="25520"/>
                </a:ln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sz="900" dirty="0">
              <a:latin typeface="+mn-lt"/>
              <a:ea typeface="+mn-ea"/>
            </a:endParaRPr>
          </a:p>
        </p:txBody>
      </p:sp>
      <p:graphicFrame>
        <p:nvGraphicFramePr>
          <p:cNvPr id="56" name="对象 55"/>
          <p:cNvGraphicFramePr>
            <a:graphicFrameLocks noChangeAspect="1"/>
          </p:cNvGraphicFramePr>
          <p:nvPr>
            <p:extLst>
              <p:ext uri="{D42A27DB-BD31-4B8C-83A1-F6EECF244321}">
                <p14:modId xmlns:p14="http://schemas.microsoft.com/office/powerpoint/2010/main" val="526167275"/>
              </p:ext>
            </p:extLst>
          </p:nvPr>
        </p:nvGraphicFramePr>
        <p:xfrm>
          <a:off x="9800614" y="5641444"/>
          <a:ext cx="1087715" cy="828675"/>
        </p:xfrm>
        <a:graphic>
          <a:graphicData uri="http://schemas.openxmlformats.org/presentationml/2006/ole">
            <mc:AlternateContent xmlns:mc="http://schemas.openxmlformats.org/markup-compatibility/2006">
              <mc:Choice xmlns:v="urn:schemas-microsoft-com:vml" Requires="v">
                <p:oleObj name="包装程序外壳对象" showAsIcon="1" r:id="rId7" imgW="914400" imgH="828720" progId="Package">
                  <p:embed/>
                </p:oleObj>
              </mc:Choice>
              <mc:Fallback>
                <p:oleObj name="包装程序外壳对象" showAsIcon="1" r:id="rId7" imgW="914400" imgH="828720" progId="Package">
                  <p:embed/>
                  <p:pic>
                    <p:nvPicPr>
                      <p:cNvPr id="0" name=""/>
                      <p:cNvPicPr/>
                      <p:nvPr/>
                    </p:nvPicPr>
                    <p:blipFill>
                      <a:blip r:embed="rId8"/>
                      <a:stretch>
                        <a:fillRect/>
                      </a:stretch>
                    </p:blipFill>
                    <p:spPr>
                      <a:xfrm>
                        <a:off x="9800614" y="5641444"/>
                        <a:ext cx="1087715" cy="828675"/>
                      </a:xfrm>
                      <a:prstGeom prst="rect">
                        <a:avLst/>
                      </a:prstGeom>
                    </p:spPr>
                  </p:pic>
                </p:oleObj>
              </mc:Fallback>
            </mc:AlternateContent>
          </a:graphicData>
        </a:graphic>
      </p:graphicFrame>
    </p:spTree>
    <p:extLst>
      <p:ext uri="{BB962C8B-B14F-4D97-AF65-F5344CB8AC3E}">
        <p14:creationId xmlns:p14="http://schemas.microsoft.com/office/powerpoint/2010/main" val="43196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pPr algn="l" rtl="0"/>
            <a:r>
              <a:rPr lang="en-US" altLang="zh-CN" dirty="0">
                <a:latin typeface="+mn-lt"/>
              </a:rPr>
              <a:t>Solution 2 :</a:t>
            </a:r>
            <a:r>
              <a:rPr lang="en-US" altLang="zh-CN" dirty="0"/>
              <a:t>Filtre de trafic</a:t>
            </a:r>
            <a:r>
              <a:rPr lang="en-US" altLang="zh-CN" dirty="0">
                <a:latin typeface="+mn-lt"/>
              </a:rPr>
              <a:t>(2)</a:t>
            </a:r>
            <a:endParaRPr lang="zh-CN" altLang="en-US" dirty="0">
              <a:latin typeface="+mn-lt"/>
            </a:endParaRPr>
          </a:p>
        </p:txBody>
      </p:sp>
      <p:sp>
        <p:nvSpPr>
          <p:cNvPr id="40964" name="矩形 5"/>
          <p:cNvSpPr>
            <a:spLocks noChangeArrowheads="1"/>
          </p:cNvSpPr>
          <p:nvPr/>
        </p:nvSpPr>
        <p:spPr bwMode="auto">
          <a:xfrm>
            <a:off x="2214386" y="4004780"/>
            <a:ext cx="7884876" cy="2124521"/>
          </a:xfrm>
          <a:prstGeom prst="rect">
            <a:avLst/>
          </a:prstGeom>
          <a:noFill/>
          <a:ln w="9525" algn="ctr">
            <a:solidFill>
              <a:schemeClr val="tx1"/>
            </a:solidFill>
            <a:prstDash val="dash"/>
            <a:round/>
            <a:headEnd/>
            <a:tailEnd/>
          </a:ln>
        </p:spPr>
        <p:txBody>
          <a:bodyPr/>
          <a:lstStyle/>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Service marketing PC &gt; ping 10.1.1.1</a:t>
            </a:r>
          </a:p>
          <a:p>
            <a:pPr algn="l" rtl="0" eaLnBrk="0" fontAlgn="t" hangingPunct="0">
              <a:buSzPct val="100000"/>
            </a:pPr>
            <a:endParaRPr lang="en-US" altLang="zh-CN" sz="1100" b="1" dirty="0">
              <a:solidFill>
                <a:srgbClr val="000000"/>
              </a:solidFill>
              <a:latin typeface="+mn-lt"/>
              <a:ea typeface="+mn-ea"/>
              <a:cs typeface="Courier New" panose="02070309020205020404" pitchFamily="49" charset="0"/>
              <a:sym typeface="FrutigerNext LT Regular" pitchFamily="34" charset="0"/>
            </a:endParaRP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Ping 10.1.1.1 : 32 octets de données, appuyez sur Ctrl+C pour interrompre</a:t>
            </a: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Délai d'attente dépassé !</a:t>
            </a: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Délai d'attente dépassé !</a:t>
            </a: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Délai d'attente dépassé !</a:t>
            </a: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Délai d'attente dépassé !</a:t>
            </a:r>
          </a:p>
          <a:p>
            <a:pPr algn="l" rtl="0" eaLnBrk="0" fontAlgn="t" hangingPunct="0">
              <a:buSzPct val="100000"/>
            </a:pPr>
            <a:endParaRPr lang="en-US" altLang="zh-CN" sz="1100" b="1" dirty="0">
              <a:solidFill>
                <a:srgbClr val="000000"/>
              </a:solidFill>
              <a:latin typeface="+mn-lt"/>
              <a:ea typeface="+mn-ea"/>
              <a:cs typeface="Courier New" panose="02070309020205020404" pitchFamily="49" charset="0"/>
              <a:sym typeface="FrutigerNext LT Regular" pitchFamily="34" charset="0"/>
            </a:endParaRP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Statistiques de ping pour 10.1.1.1 ---	</a:t>
            </a: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4 paquets transmis</a:t>
            </a: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0 paquet(s) reçu(s)</a:t>
            </a:r>
          </a:p>
          <a:p>
            <a:pPr algn="l" rtl="0" eaLnBrk="0" fontAlgn="t" hangingPunct="0">
              <a:buSzPct val="100000"/>
            </a:pPr>
            <a:r>
              <a:rPr lang="en-US" altLang="zh-CN" sz="1100" b="1" dirty="0">
                <a:solidFill>
                  <a:srgbClr val="000000"/>
                </a:solidFill>
                <a:latin typeface="+mn-lt"/>
                <a:ea typeface="+mn-ea"/>
                <a:cs typeface="Courier New" panose="02070309020205020404" pitchFamily="49" charset="0"/>
                <a:sym typeface="FrutigerNext LT Regular" pitchFamily="34" charset="0"/>
              </a:rPr>
              <a:t>  Perte de paquets de 100 %</a:t>
            </a:r>
          </a:p>
        </p:txBody>
      </p:sp>
      <p:sp>
        <p:nvSpPr>
          <p:cNvPr id="7" name="矩形 6"/>
          <p:cNvSpPr/>
          <p:nvPr/>
        </p:nvSpPr>
        <p:spPr bwMode="auto">
          <a:xfrm>
            <a:off x="2214386" y="1327720"/>
            <a:ext cx="7884876" cy="246132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a:r>
              <a:rPr lang="en-US" altLang="zh-CN" sz="1200" b="1" dirty="0">
                <a:latin typeface="Courier New" panose="02070309020205020404" pitchFamily="49" charset="0"/>
                <a:cs typeface="Courier New" panose="02070309020205020404" pitchFamily="49" charset="0"/>
              </a:rPr>
              <a:t>[RTC]dis</a:t>
            </a:r>
            <a:r>
              <a:rPr lang="en-US" altLang="zh-CN" sz="1200" b="1" dirty="0" err="1">
                <a:latin typeface="Courier New" panose="02070309020205020404" pitchFamily="49" charset="0"/>
                <a:cs typeface="Courier New" panose="02070309020205020404" pitchFamily="49" charset="0"/>
              </a:rPr>
              <a:t>adresse IP</a:t>
            </a:r>
            <a:r>
              <a:rPr lang="en-US" altLang="zh-CN" sz="1200" b="1" dirty="0">
                <a:latin typeface="Courier New" panose="02070309020205020404" pitchFamily="49" charset="0"/>
                <a:cs typeface="Courier New" panose="02070309020205020404" pitchFamily="49" charset="0"/>
              </a:rPr>
              <a:t>table de routage</a:t>
            </a:r>
            <a:endParaRPr lang="zh-CN" altLang="en-US" sz="1200" b="1" dirty="0">
              <a:latin typeface="Courier New" panose="02070309020205020404" pitchFamily="49" charset="0"/>
              <a:cs typeface="Courier New" panose="02070309020205020404" pitchFamily="49" charset="0"/>
            </a:endParaRPr>
          </a:p>
          <a:p>
            <a:pPr algn="l" rtl="0"/>
            <a:r>
              <a:rPr lang="en-US" altLang="zh-CN" sz="1200" b="1" dirty="0">
                <a:latin typeface="Courier New" panose="02070309020205020404" pitchFamily="49" charset="0"/>
                <a:cs typeface="Courier New" panose="02070309020205020404" pitchFamily="49" charset="0"/>
              </a:rPr>
              <a:t>Indicateurs de route : R - relais, D - téléchargement vers fibrillation</a:t>
            </a:r>
            <a:endParaRPr lang="zh-CN" altLang="en-US" sz="1200" b="1" dirty="0">
              <a:latin typeface="Courier New" panose="02070309020205020404" pitchFamily="49" charset="0"/>
              <a:cs typeface="Courier New" panose="02070309020205020404" pitchFamily="49" charset="0"/>
            </a:endParaRPr>
          </a:p>
          <a:p>
            <a:pPr algn="l" rtl="0"/>
            <a:r>
              <a:rPr lang="en-US" altLang="zh-CN" sz="1200" b="1" dirty="0">
                <a:latin typeface="Courier New" panose="02070309020205020404" pitchFamily="49" charset="0"/>
                <a:cs typeface="Courier New" panose="02070309020205020404" pitchFamily="49" charset="0"/>
              </a:rPr>
              <a:t>------------------------------------------------------------------------------</a:t>
            </a:r>
            <a:endParaRPr lang="zh-CN" altLang="en-US" sz="1200" b="1" dirty="0">
              <a:latin typeface="Courier New" panose="02070309020205020404" pitchFamily="49" charset="0"/>
              <a:cs typeface="Courier New" panose="02070309020205020404" pitchFamily="49" charset="0"/>
            </a:endParaRPr>
          </a:p>
          <a:p>
            <a:pPr algn="l" rtl="0"/>
            <a:r>
              <a:rPr lang="en-US" altLang="zh-CN" sz="1200" b="1" dirty="0">
                <a:latin typeface="Courier New" panose="02070309020205020404" pitchFamily="49" charset="0"/>
                <a:cs typeface="Courier New" panose="02070309020205020404" pitchFamily="49" charset="0"/>
              </a:rPr>
              <a:t>Tables de routage : publiques</a:t>
            </a:r>
            <a:endParaRPr lang="zh-CN" altLang="en-US" sz="1200" b="1" dirty="0">
              <a:latin typeface="Courier New" panose="02070309020205020404" pitchFamily="49" charset="0"/>
              <a:cs typeface="Courier New" panose="02070309020205020404" pitchFamily="49" charset="0"/>
            </a:endParaRPr>
          </a:p>
          <a:p>
            <a:pPr algn="l" rtl="0"/>
            <a:r>
              <a:rPr lang="zh-CN" altLang="en-US" sz="1200" b="1" dirty="0">
                <a:latin typeface="Courier New" panose="02070309020205020404" pitchFamily="49" charset="0"/>
                <a:cs typeface="Courier New" panose="02070309020205020404" pitchFamily="49" charset="0"/>
              </a:rPr>
              <a:t>         </a:t>
            </a:r>
            <a:r>
              <a:rPr lang="en-US" altLang="zh-CN" sz="1200" b="1" dirty="0">
                <a:latin typeface="Courier New" panose="02070309020205020404" pitchFamily="49" charset="0"/>
                <a:cs typeface="Courier New" panose="02070309020205020404" pitchFamily="49" charset="0"/>
              </a:rPr>
              <a:t>Destinations : 16 Itinéraires : 16       </a:t>
            </a:r>
            <a:endParaRPr lang="zh-CN" altLang="en-US" sz="1200" b="1" dirty="0">
              <a:latin typeface="Courier New" panose="02070309020205020404" pitchFamily="49" charset="0"/>
              <a:cs typeface="Courier New" panose="02070309020205020404" pitchFamily="49" charset="0"/>
            </a:endParaRPr>
          </a:p>
          <a:p>
            <a:pPr algn="l" rtl="0"/>
            <a:endParaRPr lang="zh-CN" altLang="en-US" sz="1200" b="1" dirty="0">
              <a:latin typeface="Courier New" panose="02070309020205020404" pitchFamily="49" charset="0"/>
              <a:cs typeface="Courier New" panose="02070309020205020404" pitchFamily="49" charset="0"/>
            </a:endParaRPr>
          </a:p>
          <a:p>
            <a:pPr algn="l" rtl="0"/>
            <a:r>
              <a:rPr lang="en-US" altLang="zh-CN" sz="1200" b="1" dirty="0">
                <a:latin typeface="Courier New" panose="02070309020205020404" pitchFamily="49" charset="0"/>
                <a:cs typeface="Courier New" panose="02070309020205020404" pitchFamily="49" charset="0"/>
              </a:rPr>
              <a:t>Destination/Masque Proto Pré-indicateurs de coût  </a:t>
            </a:r>
            <a:r>
              <a:rPr lang="en-US" altLang="zh-CN" sz="1200" b="1" dirty="0" err="1">
                <a:latin typeface="Courier New" panose="02070309020205020404" pitchFamily="49" charset="0"/>
                <a:cs typeface="Courier New" panose="02070309020205020404" pitchFamily="49" charset="0"/>
              </a:rPr>
              <a:t>NextHop</a:t>
            </a:r>
            <a:r>
              <a:rPr lang="en-US" altLang="zh-CN" sz="1200" b="1" dirty="0">
                <a:latin typeface="Courier New" panose="02070309020205020404" pitchFamily="49" charset="0"/>
                <a:cs typeface="Courier New" panose="02070309020205020404" pitchFamily="49" charset="0"/>
              </a:rPr>
              <a:t>       Interface</a:t>
            </a:r>
            <a:endParaRPr lang="zh-CN" altLang="en-US" sz="1200" b="1" dirty="0">
              <a:latin typeface="Courier New" panose="02070309020205020404" pitchFamily="49" charset="0"/>
              <a:cs typeface="Courier New" panose="02070309020205020404" pitchFamily="49" charset="0"/>
            </a:endParaRPr>
          </a:p>
          <a:p>
            <a:pPr algn="l" rtl="0"/>
            <a:endParaRPr lang="zh-CN" altLang="en-US" sz="1200" b="1" dirty="0">
              <a:latin typeface="Courier New" panose="02070309020205020404" pitchFamily="49" charset="0"/>
              <a:cs typeface="Courier New" panose="02070309020205020404" pitchFamily="49" charset="0"/>
            </a:endParaRPr>
          </a:p>
          <a:p>
            <a:pPr algn="l" rtl="0"/>
            <a:r>
              <a:rPr lang="zh-CN" altLang="en-US" sz="1200" b="1" dirty="0">
                <a:solidFill>
                  <a:srgbClr val="C00000"/>
                </a:solidFill>
                <a:latin typeface="Courier New" panose="02070309020205020404" pitchFamily="49" charset="0"/>
                <a:cs typeface="Courier New" panose="02070309020205020404" pitchFamily="49" charset="0"/>
              </a:rPr>
              <a:t>   </a:t>
            </a:r>
            <a:r>
              <a:rPr lang="pt-BR" altLang="zh-CN" sz="1200" b="1" dirty="0">
                <a:solidFill>
                  <a:srgbClr val="C00000"/>
                </a:solidFill>
                <a:latin typeface="Courier New" panose="02070309020205020404" pitchFamily="49" charset="0"/>
                <a:cs typeface="Courier New" panose="02070309020205020404" pitchFamily="49" charset="0"/>
              </a:rPr>
              <a:t>10.1.1.0/24      </a:t>
            </a:r>
            <a:r>
              <a:rPr lang="pt-BR" altLang="zh-CN" sz="1200" b="1" dirty="0">
                <a:latin typeface="Courier New" panose="02070309020205020404" pitchFamily="49" charset="0"/>
                <a:cs typeface="Courier New" panose="02070309020205020404" pitchFamily="49" charset="0"/>
              </a:rPr>
              <a:t>O_ASE 150 1 D 12.1.2.1 GigabitEthernet</a:t>
            </a:r>
            <a:r>
              <a:rPr lang="en-US" altLang="zh-CN" sz="1200" b="1" dirty="0">
                <a:latin typeface="Courier New" panose="02070309020205020404" pitchFamily="49" charset="0"/>
                <a:cs typeface="Courier New" panose="02070309020205020404" pitchFamily="49" charset="0"/>
              </a:rPr>
              <a:t>0/0/0</a:t>
            </a:r>
            <a:endParaRPr lang="zh-CN" altLang="en-US" sz="1200" b="1" dirty="0">
              <a:latin typeface="Courier New" panose="02070309020205020404" pitchFamily="49" charset="0"/>
              <a:cs typeface="Courier New" panose="02070309020205020404" pitchFamily="49" charset="0"/>
            </a:endParaRPr>
          </a:p>
          <a:p>
            <a:pPr algn="l" rtl="0"/>
            <a:r>
              <a:rPr lang="zh-CN" altLang="en-US" sz="1200" b="1" dirty="0">
                <a:solidFill>
                  <a:srgbClr val="C00000"/>
                </a:solidFill>
                <a:latin typeface="Courier New" panose="02070309020205020404" pitchFamily="49" charset="0"/>
                <a:cs typeface="Courier New" panose="02070309020205020404" pitchFamily="49" charset="0"/>
              </a:rPr>
              <a:t>   </a:t>
            </a:r>
            <a:r>
              <a:rPr lang="pt-BR" altLang="zh-CN" sz="1200" b="1" dirty="0">
                <a:solidFill>
                  <a:srgbClr val="C00000"/>
                </a:solidFill>
                <a:latin typeface="Courier New" panose="02070309020205020404" pitchFamily="49" charset="0"/>
                <a:cs typeface="Courier New" panose="02070309020205020404" pitchFamily="49" charset="0"/>
              </a:rPr>
              <a:t>10.1.2.0/24      </a:t>
            </a:r>
            <a:r>
              <a:rPr lang="pt-BR" altLang="zh-CN" sz="1200" b="1" dirty="0">
                <a:latin typeface="Courier New" panose="02070309020205020404" pitchFamily="49" charset="0"/>
                <a:cs typeface="Courier New" panose="02070309020205020404" pitchFamily="49" charset="0"/>
              </a:rPr>
              <a:t>O_ASE 150 1 D 12.1.2.1 GigabitEthernet</a:t>
            </a:r>
            <a:r>
              <a:rPr lang="en-US" altLang="zh-CN" sz="1200" b="1" dirty="0">
                <a:latin typeface="Courier New" panose="02070309020205020404" pitchFamily="49" charset="0"/>
                <a:cs typeface="Courier New" panose="02070309020205020404" pitchFamily="49" charset="0"/>
              </a:rPr>
              <a:t>0/0/0</a:t>
            </a:r>
            <a:endParaRPr lang="zh-CN" altLang="en-US" sz="1200" b="1" dirty="0">
              <a:latin typeface="Courier New" panose="02070309020205020404" pitchFamily="49" charset="0"/>
              <a:cs typeface="Courier New" panose="02070309020205020404" pitchFamily="49" charset="0"/>
            </a:endParaRPr>
          </a:p>
          <a:p>
            <a:pPr algn="l" rtl="0"/>
            <a:r>
              <a:rPr lang="zh-CN" altLang="en-US" sz="1200" b="1" dirty="0">
                <a:solidFill>
                  <a:srgbClr val="C00000"/>
                </a:solidFill>
                <a:latin typeface="Courier New" panose="02070309020205020404" pitchFamily="49" charset="0"/>
                <a:cs typeface="Courier New" panose="02070309020205020404" pitchFamily="49" charset="0"/>
              </a:rPr>
              <a:t>   </a:t>
            </a:r>
            <a:r>
              <a:rPr lang="pt-BR" altLang="zh-CN" sz="1200" b="1" dirty="0">
                <a:solidFill>
                  <a:srgbClr val="C00000"/>
                </a:solidFill>
                <a:latin typeface="Courier New" panose="02070309020205020404" pitchFamily="49" charset="0"/>
                <a:cs typeface="Courier New" panose="02070309020205020404" pitchFamily="49" charset="0"/>
              </a:rPr>
              <a:t>10.1.3.0/24</a:t>
            </a:r>
            <a:r>
              <a:rPr lang="pt-BR" altLang="zh-CN" sz="1200" b="1" dirty="0">
                <a:latin typeface="Courier New" panose="02070309020205020404" pitchFamily="49" charset="0"/>
                <a:cs typeface="Courier New" panose="02070309020205020404" pitchFamily="49" charset="0"/>
              </a:rPr>
              <a:t>     O_ASE 150 1 D 12.1.2.1 GigabitEthernet 0</a:t>
            </a:r>
            <a:r>
              <a:rPr lang="en-US" altLang="zh-CN" sz="1200" b="1" dirty="0">
                <a:latin typeface="Courier New" panose="02070309020205020404" pitchFamily="49" charset="0"/>
                <a:cs typeface="Courier New" panose="02070309020205020404" pitchFamily="49" charset="0"/>
              </a:rPr>
              <a:t>/0/0</a:t>
            </a:r>
            <a:endParaRPr lang="zh-CN" altLang="en-US" sz="1200" b="1" dirty="0">
              <a:latin typeface="Courier New" panose="02070309020205020404" pitchFamily="49" charset="0"/>
              <a:cs typeface="Courier New" panose="02070309020205020404" pitchFamily="49" charset="0"/>
            </a:endParaRPr>
          </a:p>
          <a:p>
            <a:pPr algn="l" rtl="0"/>
            <a:r>
              <a:rPr lang="zh-CN" altLang="en-US" sz="1200" b="1" dirty="0">
                <a:solidFill>
                  <a:srgbClr val="C00000"/>
                </a:solidFill>
                <a:latin typeface="Courier New" panose="02070309020205020404" pitchFamily="49" charset="0"/>
                <a:cs typeface="Courier New" panose="02070309020205020404" pitchFamily="49" charset="0"/>
              </a:rPr>
              <a:t>   </a:t>
            </a:r>
            <a:r>
              <a:rPr lang="en-US" altLang="zh-CN" sz="1200" b="1" dirty="0">
                <a:solidFill>
                  <a:srgbClr val="C00000"/>
                </a:solidFill>
                <a:latin typeface="Courier New" panose="02070309020205020404" pitchFamily="49" charset="0"/>
                <a:cs typeface="Courier New" panose="02070309020205020404" pitchFamily="49" charset="0"/>
              </a:rPr>
              <a:t>10.1.4.0/24      </a:t>
            </a:r>
            <a:r>
              <a:rPr lang="en-US" altLang="zh-CN" sz="1200" b="1" dirty="0">
                <a:latin typeface="Courier New" panose="02070309020205020404" pitchFamily="49" charset="0"/>
                <a:cs typeface="Courier New" panose="02070309020205020404" pitchFamily="49" charset="0"/>
              </a:rPr>
              <a:t>Direct 0 0 D 10.1.4.2       </a:t>
            </a:r>
            <a:r>
              <a:rPr lang="en-US" altLang="zh-CN" sz="1200" b="1" dirty="0" err="1">
                <a:latin typeface="Courier New" panose="02070309020205020404" pitchFamily="49" charset="0"/>
                <a:cs typeface="Courier New" panose="02070309020205020404" pitchFamily="49" charset="0"/>
              </a:rPr>
              <a:t>Gigabit Ethernet</a:t>
            </a:r>
            <a:r>
              <a:rPr lang="en-US" altLang="zh-CN" sz="1200" b="1" dirty="0">
                <a:latin typeface="Courier New" panose="02070309020205020404" pitchFamily="49" charset="0"/>
                <a:cs typeface="Courier New" panose="02070309020205020404" pitchFamily="49" charset="0"/>
              </a:rPr>
              <a:t>0/0/1</a:t>
            </a:r>
            <a:endParaRPr lang="zh-CN" altLang="en-US" sz="1200" b="1" dirty="0">
              <a:latin typeface="Courier New" panose="02070309020205020404" pitchFamily="49" charset="0"/>
              <a:cs typeface="Courier New" panose="02070309020205020404" pitchFamily="49" charset="0"/>
            </a:endParaRPr>
          </a:p>
          <a:p>
            <a:pPr algn="l" rtl="0"/>
            <a:r>
              <a:rPr lang="en-US" altLang="zh-CN" sz="1200" b="1" dirty="0">
                <a:solidFill>
                  <a:srgbClr val="C00000"/>
                </a:solidFill>
                <a:latin typeface="Courier New" panose="02070309020205020404" pitchFamily="49" charset="0"/>
                <a:cs typeface="Courier New" panose="02070309020205020404" pitchFamily="49" charset="0"/>
              </a:rPr>
              <a:t>   10.1.5.0/24      </a:t>
            </a:r>
            <a:r>
              <a:rPr lang="en-US" altLang="zh-CN" sz="1200" b="1" dirty="0">
                <a:latin typeface="Courier New" panose="02070309020205020404" pitchFamily="49" charset="0"/>
                <a:cs typeface="Courier New" panose="02070309020205020404" pitchFamily="49" charset="0"/>
              </a:rPr>
              <a:t>OSPF 10 3 D 12.1.2.1       </a:t>
            </a:r>
            <a:r>
              <a:rPr lang="en-US" altLang="zh-CN" sz="1200" b="1" dirty="0" err="1">
                <a:latin typeface="Courier New" panose="02070309020205020404" pitchFamily="49" charset="0"/>
                <a:cs typeface="Courier New" panose="02070309020205020404" pitchFamily="49" charset="0"/>
              </a:rPr>
              <a:t>Gigabit Ethernet</a:t>
            </a:r>
            <a:r>
              <a:rPr lang="en-US" altLang="zh-CN" sz="1200" b="1" dirty="0">
                <a:latin typeface="Courier New" panose="02070309020205020404" pitchFamily="49" charset="0"/>
                <a:cs typeface="Courier New" panose="02070309020205020404" pitchFamily="49" charset="0"/>
              </a:rPr>
              <a:t>0/0/0</a:t>
            </a:r>
            <a:endParaRPr lang="zh-CN" altLang="en-US" sz="12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82270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文本占位符 3"/>
          <p:cNvSpPr>
            <a:spLocks noGrp="1"/>
          </p:cNvSpPr>
          <p:nvPr>
            <p:ph type="body" sz="quarter" idx="10"/>
          </p:nvPr>
        </p:nvSpPr>
        <p:spPr/>
        <p:txBody>
          <a:bodyPr/>
          <a:lstStyle/>
          <a:p>
            <a:pPr algn="l" rtl="0"/>
            <a:r>
              <a:rPr lang="en-US" altLang="zh-CN" dirty="0">
                <a:solidFill>
                  <a:schemeClr val="bg1">
                    <a:lumMod val="50000"/>
                  </a:schemeClr>
                </a:solidFill>
                <a:sym typeface="FrutigerNext LT Regular" pitchFamily="34" charset="0"/>
              </a:rPr>
              <a:t>Exigence de contrôle du comportement de la circulation</a:t>
            </a:r>
          </a:p>
          <a:p>
            <a:pPr algn="l" rtl="0"/>
            <a:r>
              <a:rPr lang="en-US" altLang="zh-CN" dirty="0">
                <a:solidFill>
                  <a:schemeClr val="bg1">
                    <a:lumMod val="50000"/>
                  </a:schemeClr>
                </a:solidFill>
                <a:sym typeface="FrutigerNext LT Regular" pitchFamily="34" charset="0"/>
              </a:rPr>
              <a:t>Portée du contrôle</a:t>
            </a:r>
          </a:p>
          <a:p>
            <a:pPr algn="l" rtl="0"/>
            <a:r>
              <a:rPr lang="en-US" altLang="zh-CN" b="1" dirty="0">
                <a:sym typeface="FrutigerNext LT Regular" pitchFamily="34" charset="0"/>
              </a:rPr>
              <a:t>Ajuster le chemin du trafic réseau</a:t>
            </a:r>
          </a:p>
          <a:p>
            <a:pPr lvl="1" algn="l" rtl="0">
              <a:buSzPct val="60000"/>
              <a:buFont typeface="Wingdings" panose="05000000000000000000" pitchFamily="2" charset="2"/>
              <a:buChar char="n"/>
            </a:pPr>
            <a:r>
              <a:rPr lang="en-US" altLang="zh-CN" dirty="0">
                <a:sym typeface="FrutigerNext LT Regular" pitchFamily="34" charset="0"/>
              </a:rPr>
              <a:t>Politique de routage</a:t>
            </a:r>
          </a:p>
          <a:p>
            <a:pPr lvl="1" algn="l" rtl="0"/>
            <a:r>
              <a:rPr lang="en-US" altLang="zh-CN" dirty="0">
                <a:solidFill>
                  <a:schemeClr val="bg1">
                    <a:lumMod val="50000"/>
                  </a:schemeClr>
                </a:solidFill>
                <a:sym typeface="FrutigerNext LT Regular" pitchFamily="34" charset="0"/>
              </a:rPr>
              <a:t>Routage basé sur des politiques</a:t>
            </a:r>
          </a:p>
          <a:p>
            <a:pPr algn="l" rtl="0"/>
            <a:r>
              <a:rPr lang="en-US" altLang="zh-CN" dirty="0">
                <a:solidFill>
                  <a:schemeClr val="bg1">
                    <a:lumMod val="50000"/>
                  </a:schemeClr>
                </a:solidFill>
                <a:sym typeface="FrutigerNext LT Regular" pitchFamily="34" charset="0"/>
              </a:rPr>
              <a:t>Problèmes liés à l'importation d'itinéraires et solutions</a:t>
            </a:r>
          </a:p>
        </p:txBody>
      </p:sp>
    </p:spTree>
    <p:extLst>
      <p:ext uri="{BB962C8B-B14F-4D97-AF65-F5344CB8AC3E}">
        <p14:creationId xmlns:p14="http://schemas.microsoft.com/office/powerpoint/2010/main" val="25899913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pPr algn="l" rtl="0"/>
            <a:r>
              <a:rPr lang="en-US" altLang="zh-CN" dirty="0">
                <a:sym typeface="FrutigerNext LT Regular" pitchFamily="34" charset="0"/>
              </a:rPr>
              <a:t>Lors de la phase d'optimisation du réseau, il peut être nécessaire d'ajuster les chemins de trafic.</a:t>
            </a:r>
          </a:p>
        </p:txBody>
      </p:sp>
      <p:sp>
        <p:nvSpPr>
          <p:cNvPr id="5" name="文本占位符 4"/>
          <p:cNvSpPr>
            <a:spLocks noGrp="1"/>
          </p:cNvSpPr>
          <p:nvPr>
            <p:ph type="body" sz="quarter" idx="12"/>
          </p:nvPr>
        </p:nvSpPr>
        <p:spPr>
          <a:xfrm>
            <a:off x="1595500" y="410400"/>
            <a:ext cx="10297144" cy="639559"/>
          </a:xfrm>
        </p:spPr>
        <p:txBody>
          <a:bodyPr/>
          <a:lstStyle/>
          <a:p>
            <a:pPr algn="l" rtl="0"/>
            <a:r>
              <a:rPr lang="en-US" altLang="zh-CN" dirty="0"/>
              <a:t>Ajustement du chemin du trafic réseau - Protocole unique</a:t>
            </a:r>
            <a:endParaRPr lang="zh-CN" altLang="en-US" dirty="0"/>
          </a:p>
        </p:txBody>
      </p:sp>
      <p:sp>
        <p:nvSpPr>
          <p:cNvPr id="37" name="文本占位符 2"/>
          <p:cNvSpPr txBox="1">
            <a:spLocks/>
          </p:cNvSpPr>
          <p:nvPr/>
        </p:nvSpPr>
        <p:spPr bwMode="auto">
          <a:xfrm>
            <a:off x="2216150" y="4653137"/>
            <a:ext cx="7918450" cy="90011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defPPr>
              <a:defRPr lang="zh-CN"/>
            </a:defPPr>
            <a:lvl1pPr marL="301625" indent="-301625" defTabSz="801688" eaLnBrk="1" hangingPunct="1">
              <a:lnSpc>
                <a:spcPct val="140000"/>
              </a:lnSpc>
              <a:spcBef>
                <a:spcPct val="30000"/>
              </a:spcBef>
              <a:buClr>
                <a:srgbClr val="808080"/>
              </a:buClr>
              <a:buSzPct val="60000"/>
              <a:buFont typeface="Wingdings" pitchFamily="2" charset="2"/>
              <a:buChar char="l"/>
              <a:defRPr sz="1800">
                <a:latin typeface="+mn-lt"/>
                <a:ea typeface="+mn-ea"/>
              </a:defRPr>
            </a:lvl1pPr>
            <a:lvl2pPr marL="654050" indent="-252413" defTabSz="801688" eaLnBrk="1" hangingPunct="1">
              <a:lnSpc>
                <a:spcPct val="140000"/>
              </a:lnSpc>
              <a:spcBef>
                <a:spcPct val="30000"/>
              </a:spcBef>
              <a:buClr>
                <a:schemeClr val="tx1"/>
              </a:buClr>
              <a:buSzPct val="50000"/>
              <a:buFont typeface="Wingdings" pitchFamily="2" charset="2"/>
              <a:buChar char="p"/>
              <a:defRPr sz="2000">
                <a:latin typeface="+mn-lt"/>
                <a:ea typeface="+mn-ea"/>
              </a:defRPr>
            </a:lvl2pPr>
            <a:lvl3pPr marL="1003300" indent="-201613" defTabSz="801688" eaLnBrk="1" hangingPunct="1">
              <a:lnSpc>
                <a:spcPct val="140000"/>
              </a:lnSpc>
              <a:spcBef>
                <a:spcPct val="30000"/>
              </a:spcBef>
              <a:buSzPct val="50000"/>
              <a:buFont typeface="Wingdings" pitchFamily="2" charset="2"/>
              <a:buChar char="n"/>
              <a:defRPr>
                <a:latin typeface="FrutigerNext LT Light" pitchFamily="34" charset="0"/>
                <a:ea typeface="+mn-ea"/>
              </a:defRPr>
            </a:lvl3pPr>
            <a:lvl4pPr marL="1400175" indent="-198438" defTabSz="801688" eaLnBrk="1" hangingPunct="1">
              <a:lnSpc>
                <a:spcPct val="140000"/>
              </a:lnSpc>
              <a:spcBef>
                <a:spcPct val="30000"/>
              </a:spcBef>
              <a:buChar char="–"/>
              <a:defRPr sz="1600">
                <a:latin typeface="+mj-lt"/>
                <a:ea typeface="+mn-ea"/>
              </a:defRPr>
            </a:lvl4pPr>
            <a:lvl5pPr marL="1801813" indent="-201613" defTabSz="801688" eaLnBrk="1" hangingPunct="1">
              <a:lnSpc>
                <a:spcPct val="140000"/>
              </a:lnSpc>
              <a:spcBef>
                <a:spcPct val="30000"/>
              </a:spcBef>
              <a:buFont typeface="FrutigerNext LT Medium" pitchFamily="34" charset="0"/>
              <a:buChar char="~"/>
              <a:defRPr sz="1600">
                <a:latin typeface="+mj-lt"/>
                <a:ea typeface="+mn-ea"/>
              </a:defRPr>
            </a:lvl5pPr>
            <a:lvl6pPr marL="2259013" indent="-201613" defTabSz="801688" fontAlgn="base">
              <a:lnSpc>
                <a:spcPct val="140000"/>
              </a:lnSpc>
              <a:spcBef>
                <a:spcPct val="30000"/>
              </a:spcBef>
              <a:spcAft>
                <a:spcPct val="0"/>
              </a:spcAft>
              <a:buFont typeface="FrutigerNext LT Medium" pitchFamily="34" charset="0"/>
              <a:buChar char="~"/>
              <a:defRPr sz="1600">
                <a:latin typeface="+mj-lt"/>
                <a:ea typeface="+mn-ea"/>
              </a:defRPr>
            </a:lvl6pPr>
            <a:lvl7pPr marL="2716213" indent="-201613" defTabSz="801688" fontAlgn="base">
              <a:lnSpc>
                <a:spcPct val="140000"/>
              </a:lnSpc>
              <a:spcBef>
                <a:spcPct val="30000"/>
              </a:spcBef>
              <a:spcAft>
                <a:spcPct val="0"/>
              </a:spcAft>
              <a:buFont typeface="FrutigerNext LT Medium" pitchFamily="34" charset="0"/>
              <a:buChar char="~"/>
              <a:defRPr sz="1600">
                <a:latin typeface="+mj-lt"/>
                <a:ea typeface="+mn-ea"/>
              </a:defRPr>
            </a:lvl7pPr>
            <a:lvl8pPr marL="3173413" indent="-201613" defTabSz="801688" fontAlgn="base">
              <a:lnSpc>
                <a:spcPct val="140000"/>
              </a:lnSpc>
              <a:spcBef>
                <a:spcPct val="30000"/>
              </a:spcBef>
              <a:spcAft>
                <a:spcPct val="0"/>
              </a:spcAft>
              <a:buFont typeface="FrutigerNext LT Medium" pitchFamily="34" charset="0"/>
              <a:buChar char="~"/>
              <a:defRPr sz="1600">
                <a:latin typeface="+mj-lt"/>
                <a:ea typeface="+mn-ea"/>
              </a:defRPr>
            </a:lvl8pPr>
            <a:lvl9pPr marL="3630613" indent="-201613" defTabSz="801688" fontAlgn="base">
              <a:lnSpc>
                <a:spcPct val="140000"/>
              </a:lnSpc>
              <a:spcBef>
                <a:spcPct val="30000"/>
              </a:spcBef>
              <a:spcAft>
                <a:spcPct val="0"/>
              </a:spcAft>
              <a:buFont typeface="FrutigerNext LT Medium" pitchFamily="34" charset="0"/>
              <a:buChar char="~"/>
              <a:defRPr sz="1600">
                <a:latin typeface="+mj-lt"/>
                <a:ea typeface="+mn-ea"/>
              </a:defRPr>
            </a:lvl9pPr>
          </a:lstStyle>
          <a:p>
            <a:pPr algn="l" rtl="0"/>
            <a:r>
              <a:rPr lang="en-US" altLang="zh-CN" dirty="0">
                <a:sym typeface="FrutigerNext LT Regular" pitchFamily="34" charset="0"/>
              </a:rPr>
              <a:t>Solution 1 : utilise une politique de routage pour modifier l'attribut de protocole afin de contrôler les entrées de la table de routage et d'ajuster le chemin du trafic.</a:t>
            </a:r>
          </a:p>
        </p:txBody>
      </p:sp>
      <p:sp>
        <p:nvSpPr>
          <p:cNvPr id="38" name="文本占位符 2"/>
          <p:cNvSpPr txBox="1">
            <a:spLocks/>
          </p:cNvSpPr>
          <p:nvPr/>
        </p:nvSpPr>
        <p:spPr bwMode="auto">
          <a:xfrm>
            <a:off x="2216151" y="5373216"/>
            <a:ext cx="7768282" cy="53816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defTabSz="801688" eaLnBrk="1" hangingPunct="1">
              <a:lnSpc>
                <a:spcPct val="140000"/>
              </a:lnSpc>
              <a:spcBef>
                <a:spcPct val="30000"/>
              </a:spcBef>
              <a:buClr>
                <a:srgbClr val="808080"/>
              </a:buClr>
              <a:buSzPct val="60000"/>
              <a:buFont typeface="Wingdings" pitchFamily="2" charset="2"/>
              <a:buChar char="l"/>
              <a:defRPr sz="1800">
                <a:latin typeface="+mn-lt"/>
                <a:ea typeface="+mn-ea"/>
              </a:defRPr>
            </a:lvl1pPr>
            <a:lvl2pPr marL="654050" indent="-252413" defTabSz="801688" eaLnBrk="1" hangingPunct="1">
              <a:lnSpc>
                <a:spcPct val="140000"/>
              </a:lnSpc>
              <a:spcBef>
                <a:spcPct val="30000"/>
              </a:spcBef>
              <a:buClr>
                <a:schemeClr val="tx1"/>
              </a:buClr>
              <a:buSzPct val="50000"/>
              <a:buFont typeface="Wingdings" pitchFamily="2" charset="2"/>
              <a:buChar char="p"/>
              <a:defRPr sz="2000">
                <a:latin typeface="+mn-lt"/>
                <a:ea typeface="+mn-ea"/>
              </a:defRPr>
            </a:lvl2pPr>
            <a:lvl3pPr marL="1003300" indent="-201613" defTabSz="801688" eaLnBrk="1" hangingPunct="1">
              <a:lnSpc>
                <a:spcPct val="140000"/>
              </a:lnSpc>
              <a:spcBef>
                <a:spcPct val="30000"/>
              </a:spcBef>
              <a:buSzPct val="50000"/>
              <a:buFont typeface="Wingdings" pitchFamily="2" charset="2"/>
              <a:buChar char="n"/>
              <a:defRPr>
                <a:latin typeface="FrutigerNext LT Light" pitchFamily="34" charset="0"/>
                <a:ea typeface="+mn-ea"/>
              </a:defRPr>
            </a:lvl3pPr>
            <a:lvl4pPr marL="1400175" indent="-198438" defTabSz="801688" eaLnBrk="1" hangingPunct="1">
              <a:lnSpc>
                <a:spcPct val="140000"/>
              </a:lnSpc>
              <a:spcBef>
                <a:spcPct val="30000"/>
              </a:spcBef>
              <a:buChar char="–"/>
              <a:defRPr sz="1600">
                <a:latin typeface="+mj-lt"/>
                <a:ea typeface="+mn-ea"/>
              </a:defRPr>
            </a:lvl4pPr>
            <a:lvl5pPr marL="1801813" indent="-201613" defTabSz="801688" eaLnBrk="1" hangingPunct="1">
              <a:lnSpc>
                <a:spcPct val="140000"/>
              </a:lnSpc>
              <a:spcBef>
                <a:spcPct val="30000"/>
              </a:spcBef>
              <a:buFont typeface="FrutigerNext LT Medium" pitchFamily="34" charset="0"/>
              <a:buChar char="~"/>
              <a:defRPr sz="1600">
                <a:latin typeface="+mj-lt"/>
                <a:ea typeface="+mn-ea"/>
              </a:defRPr>
            </a:lvl5pPr>
            <a:lvl6pPr marL="2259013" indent="-201613" defTabSz="801688" fontAlgn="base">
              <a:lnSpc>
                <a:spcPct val="140000"/>
              </a:lnSpc>
              <a:spcBef>
                <a:spcPct val="30000"/>
              </a:spcBef>
              <a:spcAft>
                <a:spcPct val="0"/>
              </a:spcAft>
              <a:buFont typeface="FrutigerNext LT Medium" pitchFamily="34" charset="0"/>
              <a:buChar char="~"/>
              <a:defRPr sz="1600">
                <a:latin typeface="+mj-lt"/>
                <a:ea typeface="+mn-ea"/>
              </a:defRPr>
            </a:lvl6pPr>
            <a:lvl7pPr marL="2716213" indent="-201613" defTabSz="801688" fontAlgn="base">
              <a:lnSpc>
                <a:spcPct val="140000"/>
              </a:lnSpc>
              <a:spcBef>
                <a:spcPct val="30000"/>
              </a:spcBef>
              <a:spcAft>
                <a:spcPct val="0"/>
              </a:spcAft>
              <a:buFont typeface="FrutigerNext LT Medium" pitchFamily="34" charset="0"/>
              <a:buChar char="~"/>
              <a:defRPr sz="1600">
                <a:latin typeface="+mj-lt"/>
                <a:ea typeface="+mn-ea"/>
              </a:defRPr>
            </a:lvl7pPr>
            <a:lvl8pPr marL="3173413" indent="-201613" defTabSz="801688" fontAlgn="base">
              <a:lnSpc>
                <a:spcPct val="140000"/>
              </a:lnSpc>
              <a:spcBef>
                <a:spcPct val="30000"/>
              </a:spcBef>
              <a:spcAft>
                <a:spcPct val="0"/>
              </a:spcAft>
              <a:buFont typeface="FrutigerNext LT Medium" pitchFamily="34" charset="0"/>
              <a:buChar char="~"/>
              <a:defRPr sz="1600">
                <a:latin typeface="+mj-lt"/>
                <a:ea typeface="+mn-ea"/>
              </a:defRPr>
            </a:lvl8pPr>
            <a:lvl9pPr marL="3630613" indent="-201613" defTabSz="801688" fontAlgn="base">
              <a:lnSpc>
                <a:spcPct val="140000"/>
              </a:lnSpc>
              <a:spcBef>
                <a:spcPct val="30000"/>
              </a:spcBef>
              <a:spcAft>
                <a:spcPct val="0"/>
              </a:spcAft>
              <a:buFont typeface="FrutigerNext LT Medium" pitchFamily="34" charset="0"/>
              <a:buChar char="~"/>
              <a:defRPr sz="1600">
                <a:latin typeface="+mj-lt"/>
                <a:ea typeface="+mn-ea"/>
              </a:defRPr>
            </a:lvl9pPr>
          </a:lstStyle>
          <a:p>
            <a:pPr algn="l" rtl="0"/>
            <a:r>
              <a:rPr lang="en-US" altLang="zh-CN" dirty="0">
                <a:sym typeface="FrutigerNext LT Regular" pitchFamily="34" charset="0"/>
              </a:rPr>
              <a:t>Solution 2 : utilise le routage basé sur des politiques pour contrôler le comportement du trafic avant de consulter la table de routage.</a:t>
            </a:r>
          </a:p>
        </p:txBody>
      </p:sp>
      <p:grpSp>
        <p:nvGrpSpPr>
          <p:cNvPr id="8" name="组合 7"/>
          <p:cNvGrpSpPr/>
          <p:nvPr/>
        </p:nvGrpSpPr>
        <p:grpSpPr>
          <a:xfrm>
            <a:off x="2171825" y="2241551"/>
            <a:ext cx="7967664" cy="2584931"/>
            <a:chOff x="2171825" y="2241551"/>
            <a:chExt cx="7967664" cy="2584931"/>
          </a:xfrm>
        </p:grpSpPr>
        <p:sp>
          <p:nvSpPr>
            <p:cNvPr id="43015" name="文本框 44"/>
            <p:cNvSpPr txBox="1">
              <a:spLocks noChangeArrowheads="1"/>
            </p:cNvSpPr>
            <p:nvPr/>
          </p:nvSpPr>
          <p:spPr bwMode="auto">
            <a:xfrm>
              <a:off x="5597526" y="4510089"/>
              <a:ext cx="876300" cy="316393"/>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000000"/>
                  </a:solidFill>
                  <a:latin typeface="+mn-lt"/>
                  <a:ea typeface="+mn-ea"/>
                  <a:cs typeface="Arial" charset="0"/>
                  <a:sym typeface="FrutigerNext LT Regular" pitchFamily="34" charset="0"/>
                </a:rPr>
                <a:t>RTC</a:t>
              </a:r>
            </a:p>
          </p:txBody>
        </p:sp>
        <p:sp>
          <p:nvSpPr>
            <p:cNvPr id="43" name="圆角矩形 42"/>
            <p:cNvSpPr/>
            <p:nvPr/>
          </p:nvSpPr>
          <p:spPr bwMode="auto">
            <a:xfrm>
              <a:off x="8335963" y="3138489"/>
              <a:ext cx="1779587" cy="852487"/>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mn-ea"/>
              </a:endParaRPr>
            </a:p>
          </p:txBody>
        </p:sp>
        <p:sp>
          <p:nvSpPr>
            <p:cNvPr id="49" name="圆角矩形 48"/>
            <p:cNvSpPr/>
            <p:nvPr/>
          </p:nvSpPr>
          <p:spPr bwMode="auto">
            <a:xfrm>
              <a:off x="2320925" y="3548064"/>
              <a:ext cx="1863725" cy="85090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mn-ea"/>
              </a:endParaRPr>
            </a:p>
          </p:txBody>
        </p:sp>
        <p:sp>
          <p:nvSpPr>
            <p:cNvPr id="50" name="圆角矩形 49"/>
            <p:cNvSpPr/>
            <p:nvPr/>
          </p:nvSpPr>
          <p:spPr bwMode="auto">
            <a:xfrm>
              <a:off x="2290762" y="2603501"/>
              <a:ext cx="1862138" cy="85090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mn-ea"/>
              </a:endParaRPr>
            </a:p>
          </p:txBody>
        </p:sp>
        <p:cxnSp>
          <p:nvCxnSpPr>
            <p:cNvPr id="43023" name="直接连接符 51"/>
            <p:cNvCxnSpPr>
              <a:cxnSpLocks noChangeShapeType="1"/>
            </p:cNvCxnSpPr>
            <p:nvPr/>
          </p:nvCxnSpPr>
          <p:spPr bwMode="auto">
            <a:xfrm flipH="1" flipV="1">
              <a:off x="3387056" y="3039332"/>
              <a:ext cx="1450807" cy="514778"/>
            </a:xfrm>
            <a:prstGeom prst="line">
              <a:avLst/>
            </a:prstGeom>
            <a:noFill/>
            <a:ln w="28575" algn="ctr">
              <a:solidFill>
                <a:schemeClr val="tx1"/>
              </a:solidFill>
              <a:round/>
              <a:headEnd/>
              <a:tailEnd/>
            </a:ln>
          </p:spPr>
        </p:cxnSp>
        <p:cxnSp>
          <p:nvCxnSpPr>
            <p:cNvPr id="53" name="直接连接符 52"/>
            <p:cNvCxnSpPr/>
            <p:nvPr/>
          </p:nvCxnSpPr>
          <p:spPr bwMode="auto">
            <a:xfrm flipV="1">
              <a:off x="4895849" y="2662238"/>
              <a:ext cx="1166814" cy="893762"/>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025" name="直接连接符 53"/>
            <p:cNvCxnSpPr>
              <a:cxnSpLocks noChangeShapeType="1"/>
            </p:cNvCxnSpPr>
            <p:nvPr/>
          </p:nvCxnSpPr>
          <p:spPr bwMode="auto">
            <a:xfrm>
              <a:off x="4765261" y="3637853"/>
              <a:ext cx="1312718" cy="683043"/>
            </a:xfrm>
            <a:prstGeom prst="line">
              <a:avLst/>
            </a:prstGeom>
            <a:noFill/>
            <a:ln w="28575" algn="ctr">
              <a:solidFill>
                <a:schemeClr val="tx1"/>
              </a:solidFill>
              <a:round/>
              <a:headEnd/>
              <a:tailEnd/>
            </a:ln>
          </p:spPr>
        </p:cxnSp>
        <p:cxnSp>
          <p:nvCxnSpPr>
            <p:cNvPr id="43026" name="直接连接符 54"/>
            <p:cNvCxnSpPr>
              <a:cxnSpLocks noChangeShapeType="1"/>
            </p:cNvCxnSpPr>
            <p:nvPr/>
          </p:nvCxnSpPr>
          <p:spPr bwMode="auto">
            <a:xfrm flipH="1">
              <a:off x="3509543" y="3537277"/>
              <a:ext cx="1505180" cy="463157"/>
            </a:xfrm>
            <a:prstGeom prst="line">
              <a:avLst/>
            </a:prstGeom>
            <a:noFill/>
            <a:ln w="28575" algn="ctr">
              <a:solidFill>
                <a:schemeClr val="tx1"/>
              </a:solidFill>
              <a:round/>
              <a:headEnd/>
              <a:tailEnd/>
            </a:ln>
          </p:spPr>
        </p:cxnSp>
        <p:cxnSp>
          <p:nvCxnSpPr>
            <p:cNvPr id="43027" name="直接连接符 55"/>
            <p:cNvCxnSpPr>
              <a:cxnSpLocks noChangeShapeType="1"/>
            </p:cNvCxnSpPr>
            <p:nvPr/>
          </p:nvCxnSpPr>
          <p:spPr bwMode="auto">
            <a:xfrm>
              <a:off x="5954581" y="2679265"/>
              <a:ext cx="1282496" cy="887307"/>
            </a:xfrm>
            <a:prstGeom prst="line">
              <a:avLst/>
            </a:prstGeom>
            <a:noFill/>
            <a:ln w="28575" algn="ctr">
              <a:solidFill>
                <a:schemeClr val="tx1"/>
              </a:solidFill>
              <a:round/>
              <a:headEnd/>
              <a:tailEnd/>
            </a:ln>
          </p:spPr>
        </p:cxnSp>
        <p:cxnSp>
          <p:nvCxnSpPr>
            <p:cNvPr id="43028" name="直接连接符 56"/>
            <p:cNvCxnSpPr>
              <a:cxnSpLocks noChangeShapeType="1"/>
            </p:cNvCxnSpPr>
            <p:nvPr/>
          </p:nvCxnSpPr>
          <p:spPr bwMode="auto">
            <a:xfrm flipV="1">
              <a:off x="7443444" y="3592301"/>
              <a:ext cx="1128966" cy="0"/>
            </a:xfrm>
            <a:prstGeom prst="line">
              <a:avLst/>
            </a:prstGeom>
            <a:noFill/>
            <a:ln w="28575" algn="ctr">
              <a:solidFill>
                <a:schemeClr val="tx1"/>
              </a:solidFill>
              <a:round/>
              <a:headEnd/>
              <a:tailEnd/>
            </a:ln>
          </p:spPr>
        </p:cxnSp>
        <p:sp>
          <p:nvSpPr>
            <p:cNvPr id="43029" name="矩形 57"/>
            <p:cNvSpPr>
              <a:spLocks noChangeArrowheads="1"/>
            </p:cNvSpPr>
            <p:nvPr/>
          </p:nvSpPr>
          <p:spPr bwMode="auto">
            <a:xfrm>
              <a:off x="2279577" y="3723420"/>
              <a:ext cx="1110270" cy="461665"/>
            </a:xfrm>
            <a:prstGeom prst="rect">
              <a:avLst/>
            </a:prstGeom>
            <a:noFill/>
            <a:ln w="9525">
              <a:noFill/>
              <a:miter lim="800000"/>
              <a:headEnd/>
              <a:tailEnd/>
            </a:ln>
          </p:spPr>
          <p:txBody>
            <a:bodyPr wrap="square">
              <a:spAutoFit/>
            </a:bodyPr>
            <a:lstStyle/>
            <a:p>
              <a:pPr algn="ctr" rtl="0" eaLnBrk="0" fontAlgn="t" hangingPunct="0">
                <a:buSzPct val="100000"/>
              </a:pPr>
              <a:r>
                <a:rPr lang="en-US" altLang="zh-CN" sz="1200" b="1" dirty="0">
                  <a:solidFill>
                    <a:srgbClr val="000000"/>
                  </a:solidFill>
                  <a:latin typeface="+mn-lt"/>
                  <a:ea typeface="+mn-ea"/>
                  <a:sym typeface="FrutigerNext LT Regular" pitchFamily="34" charset="0"/>
                </a:rPr>
                <a:t>département financier</a:t>
              </a:r>
            </a:p>
          </p:txBody>
        </p:sp>
        <p:sp>
          <p:nvSpPr>
            <p:cNvPr id="43030" name="矩形 58"/>
            <p:cNvSpPr>
              <a:spLocks noChangeArrowheads="1"/>
            </p:cNvSpPr>
            <p:nvPr/>
          </p:nvSpPr>
          <p:spPr bwMode="auto">
            <a:xfrm>
              <a:off x="9073171" y="3418210"/>
              <a:ext cx="1066318" cy="246221"/>
            </a:xfrm>
            <a:prstGeom prst="rect">
              <a:avLst/>
            </a:prstGeom>
            <a:noFill/>
            <a:ln w="9525">
              <a:noFill/>
              <a:miter lim="800000"/>
              <a:headEnd/>
              <a:tailEnd/>
            </a:ln>
          </p:spPr>
          <p:txBody>
            <a:bodyPr wrap="none">
              <a:spAutoFit/>
            </a:bodyPr>
            <a:lstStyle/>
            <a:p>
              <a:pPr algn="l" rtl="0" eaLnBrk="0" fontAlgn="t" hangingPunct="0">
                <a:buSzPct val="100000"/>
              </a:pPr>
              <a:r>
                <a:rPr lang="en-US" altLang="zh-CN" b="1" dirty="0">
                  <a:solidFill>
                    <a:srgbClr val="000000"/>
                  </a:solidFill>
                  <a:latin typeface="+mn-lt"/>
                  <a:ea typeface="+mn-ea"/>
                  <a:sym typeface="FrutigerNext LT Regular" pitchFamily="34" charset="0"/>
                </a:rPr>
                <a:t>Quartier général</a:t>
              </a:r>
            </a:p>
          </p:txBody>
        </p:sp>
        <p:sp>
          <p:nvSpPr>
            <p:cNvPr id="43031" name="文本框 59"/>
            <p:cNvSpPr txBox="1">
              <a:spLocks noChangeArrowheads="1"/>
            </p:cNvSpPr>
            <p:nvPr/>
          </p:nvSpPr>
          <p:spPr bwMode="auto">
            <a:xfrm>
              <a:off x="5546726" y="3348039"/>
              <a:ext cx="862013" cy="347170"/>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600" b="1" dirty="0">
                  <a:solidFill>
                    <a:srgbClr val="C00000"/>
                  </a:solidFill>
                  <a:latin typeface="+mn-lt"/>
                  <a:ea typeface="+mn-ea"/>
                  <a:cs typeface="Arial" charset="0"/>
                  <a:sym typeface="FrutigerNext LT Regular" pitchFamily="34" charset="0"/>
                </a:rPr>
                <a:t>OSPF</a:t>
              </a:r>
            </a:p>
          </p:txBody>
        </p:sp>
        <p:sp>
          <p:nvSpPr>
            <p:cNvPr id="43032" name="文本框 60"/>
            <p:cNvSpPr txBox="1">
              <a:spLocks noChangeArrowheads="1"/>
            </p:cNvSpPr>
            <p:nvPr/>
          </p:nvSpPr>
          <p:spPr bwMode="auto">
            <a:xfrm>
              <a:off x="2171825" y="2850709"/>
              <a:ext cx="1223876" cy="470280"/>
            </a:xfrm>
            <a:prstGeom prst="rect">
              <a:avLst/>
            </a:prstGeom>
            <a:noFill/>
            <a:ln w="9525">
              <a:noFill/>
              <a:miter lim="800000"/>
              <a:headEnd/>
              <a:tailEnd/>
            </a:ln>
          </p:spPr>
          <p:txBody>
            <a:bodyPr wrap="square"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département marketing</a:t>
              </a:r>
            </a:p>
          </p:txBody>
        </p:sp>
        <p:cxnSp>
          <p:nvCxnSpPr>
            <p:cNvPr id="43038" name="直接连接符 66"/>
            <p:cNvCxnSpPr>
              <a:cxnSpLocks noChangeShapeType="1"/>
            </p:cNvCxnSpPr>
            <p:nvPr/>
          </p:nvCxnSpPr>
          <p:spPr bwMode="auto">
            <a:xfrm flipV="1">
              <a:off x="6050976" y="3651801"/>
              <a:ext cx="1163297" cy="634674"/>
            </a:xfrm>
            <a:prstGeom prst="line">
              <a:avLst/>
            </a:prstGeom>
            <a:noFill/>
            <a:ln w="28575" algn="ctr">
              <a:solidFill>
                <a:schemeClr val="tx1"/>
              </a:solidFill>
              <a:round/>
              <a:headEnd/>
              <a:tailEnd/>
            </a:ln>
          </p:spPr>
        </p:cxnSp>
        <p:sp>
          <p:nvSpPr>
            <p:cNvPr id="43041" name="AutoShape 21"/>
            <p:cNvSpPr>
              <a:spLocks noChangeArrowheads="1"/>
            </p:cNvSpPr>
            <p:nvPr/>
          </p:nvSpPr>
          <p:spPr bwMode="auto">
            <a:xfrm>
              <a:off x="6650038" y="4267200"/>
              <a:ext cx="868362" cy="280988"/>
            </a:xfrm>
            <a:prstGeom prst="wedgeRectCallout">
              <a:avLst>
                <a:gd name="adj1" fmla="val -55861"/>
                <a:gd name="adj2" fmla="val -112389"/>
              </a:avLst>
            </a:prstGeom>
            <a:noFill/>
            <a:ln w="3175" algn="ctr">
              <a:solidFill>
                <a:srgbClr val="999999"/>
              </a:solidFill>
              <a:miter lim="800000"/>
              <a:headEnd/>
              <a:tailEnd/>
            </a:ln>
          </p:spPr>
          <p:txBody>
            <a:bodyPr lIns="0" tIns="0" rIns="0" bIns="0" anchor="ctr" anchorCtr="1"/>
            <a:lstStyle/>
            <a:p>
              <a:pPr algn="l" rtl="0" eaLnBrk="0" fontAlgn="t" hangingPunct="0">
                <a:spcBef>
                  <a:spcPct val="20000"/>
                </a:spcBef>
                <a:buSzPct val="100000"/>
              </a:pPr>
              <a:r>
                <a:rPr lang="en-US" altLang="zh-CN" sz="1400" dirty="0">
                  <a:solidFill>
                    <a:srgbClr val="000000"/>
                  </a:solidFill>
                  <a:latin typeface="+mn-lt"/>
                  <a:ea typeface="+mn-ea"/>
                  <a:sym typeface="FrutigerNext LT Regular" pitchFamily="34" charset="0"/>
                </a:rPr>
                <a:t>Lien inactif</a:t>
              </a:r>
            </a:p>
          </p:txBody>
        </p:sp>
        <p:sp>
          <p:nvSpPr>
            <p:cNvPr id="43042" name="文本框 70"/>
            <p:cNvSpPr txBox="1">
              <a:spLocks noChangeArrowheads="1"/>
            </p:cNvSpPr>
            <p:nvPr/>
          </p:nvSpPr>
          <p:spPr bwMode="auto">
            <a:xfrm>
              <a:off x="5183188" y="3140076"/>
              <a:ext cx="693736" cy="239448"/>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10M</a:t>
              </a:r>
            </a:p>
          </p:txBody>
        </p:sp>
        <p:sp>
          <p:nvSpPr>
            <p:cNvPr id="43043" name="文本框 71"/>
            <p:cNvSpPr txBox="1">
              <a:spLocks noChangeArrowheads="1"/>
            </p:cNvSpPr>
            <p:nvPr/>
          </p:nvSpPr>
          <p:spPr bwMode="auto">
            <a:xfrm>
              <a:off x="6162676" y="3143251"/>
              <a:ext cx="695325" cy="239448"/>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10M</a:t>
              </a:r>
            </a:p>
          </p:txBody>
        </p:sp>
        <p:sp>
          <p:nvSpPr>
            <p:cNvPr id="43044" name="文本框 72"/>
            <p:cNvSpPr txBox="1">
              <a:spLocks noChangeArrowheads="1"/>
            </p:cNvSpPr>
            <p:nvPr/>
          </p:nvSpPr>
          <p:spPr bwMode="auto">
            <a:xfrm>
              <a:off x="6262687" y="3752851"/>
              <a:ext cx="554035" cy="239448"/>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10M</a:t>
              </a:r>
            </a:p>
          </p:txBody>
        </p:sp>
        <p:sp>
          <p:nvSpPr>
            <p:cNvPr id="43045" name="文本框 73"/>
            <p:cNvSpPr txBox="1">
              <a:spLocks noChangeArrowheads="1"/>
            </p:cNvSpPr>
            <p:nvPr/>
          </p:nvSpPr>
          <p:spPr bwMode="auto">
            <a:xfrm>
              <a:off x="5143501" y="3752851"/>
              <a:ext cx="693736" cy="239448"/>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5M</a:t>
              </a:r>
            </a:p>
          </p:txBody>
        </p:sp>
        <p:sp>
          <p:nvSpPr>
            <p:cNvPr id="43017" name="文本框 75"/>
            <p:cNvSpPr txBox="1">
              <a:spLocks noChangeArrowheads="1"/>
            </p:cNvSpPr>
            <p:nvPr/>
          </p:nvSpPr>
          <p:spPr bwMode="auto">
            <a:xfrm>
              <a:off x="4354514" y="3857627"/>
              <a:ext cx="876300" cy="316393"/>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000000"/>
                  </a:solidFill>
                  <a:latin typeface="+mn-lt"/>
                  <a:ea typeface="+mn-ea"/>
                  <a:cs typeface="Arial" charset="0"/>
                  <a:sym typeface="FrutigerNext LT Regular" pitchFamily="34" charset="0"/>
                </a:rPr>
                <a:t>RTA</a:t>
              </a:r>
            </a:p>
          </p:txBody>
        </p:sp>
        <p:sp>
          <p:nvSpPr>
            <p:cNvPr id="43018" name="文本框 76"/>
            <p:cNvSpPr txBox="1">
              <a:spLocks noChangeArrowheads="1"/>
            </p:cNvSpPr>
            <p:nvPr/>
          </p:nvSpPr>
          <p:spPr bwMode="auto">
            <a:xfrm>
              <a:off x="5597526" y="2241551"/>
              <a:ext cx="876300" cy="316393"/>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000000"/>
                  </a:solidFill>
                  <a:latin typeface="+mn-lt"/>
                  <a:ea typeface="+mn-ea"/>
                  <a:cs typeface="Arial" charset="0"/>
                  <a:sym typeface="FrutigerNext LT Regular" pitchFamily="34" charset="0"/>
                </a:rPr>
                <a:t>RTB</a:t>
              </a:r>
            </a:p>
          </p:txBody>
        </p:sp>
        <p:sp>
          <p:nvSpPr>
            <p:cNvPr id="43019" name="文本框 77"/>
            <p:cNvSpPr txBox="1">
              <a:spLocks noChangeArrowheads="1"/>
            </p:cNvSpPr>
            <p:nvPr/>
          </p:nvSpPr>
          <p:spPr bwMode="auto">
            <a:xfrm>
              <a:off x="6845300" y="3848101"/>
              <a:ext cx="874713" cy="316393"/>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000000"/>
                  </a:solidFill>
                  <a:latin typeface="+mn-lt"/>
                  <a:ea typeface="+mn-ea"/>
                  <a:cs typeface="Arial" charset="0"/>
                  <a:sym typeface="FrutigerNext LT Regular" pitchFamily="34" charset="0"/>
                </a:rPr>
                <a:t>RTD</a:t>
              </a:r>
            </a:p>
          </p:txBody>
        </p:sp>
        <p:pic>
          <p:nvPicPr>
            <p:cNvPr id="54" name="图片 5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277991" y="3756932"/>
              <a:ext cx="540000" cy="442800"/>
            </a:xfrm>
            <a:prstGeom prst="rect">
              <a:avLst/>
            </a:prstGeom>
          </p:spPr>
        </p:pic>
        <p:pic>
          <p:nvPicPr>
            <p:cNvPr id="55" name="图片 5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584070" y="3361391"/>
              <a:ext cx="540000" cy="442800"/>
            </a:xfrm>
            <a:prstGeom prst="rect">
              <a:avLst/>
            </a:prstGeom>
          </p:spPr>
        </p:pic>
        <p:pic>
          <p:nvPicPr>
            <p:cNvPr id="56"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765604" y="2557500"/>
              <a:ext cx="628652" cy="514351"/>
            </a:xfrm>
            <a:prstGeom prst="rect">
              <a:avLst/>
            </a:prstGeom>
            <a:noFill/>
          </p:spPr>
        </p:pic>
        <p:pic>
          <p:nvPicPr>
            <p:cNvPr id="5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766627" y="4015314"/>
              <a:ext cx="628652" cy="514351"/>
            </a:xfrm>
            <a:prstGeom prst="rect">
              <a:avLst/>
            </a:prstGeom>
            <a:noFill/>
          </p:spPr>
        </p:pic>
        <p:pic>
          <p:nvPicPr>
            <p:cNvPr id="5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6900824" y="3341969"/>
              <a:ext cx="628652" cy="514351"/>
            </a:xfrm>
            <a:prstGeom prst="rect">
              <a:avLst/>
            </a:prstGeom>
            <a:noFill/>
          </p:spPr>
        </p:pic>
        <p:pic>
          <p:nvPicPr>
            <p:cNvPr id="59"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524599" y="3279902"/>
              <a:ext cx="628652" cy="514351"/>
            </a:xfrm>
            <a:prstGeom prst="rect">
              <a:avLst/>
            </a:prstGeom>
            <a:noFill/>
          </p:spPr>
        </p:pic>
        <p:pic>
          <p:nvPicPr>
            <p:cNvPr id="60" name="图片 59" descr="市场部.png"/>
            <p:cNvPicPr>
              <a:picLocks noChangeAspect="1"/>
            </p:cNvPicPr>
            <p:nvPr/>
          </p:nvPicPr>
          <p:blipFill>
            <a:blip r:embed="rId5" cstate="print"/>
            <a:stretch>
              <a:fillRect/>
            </a:stretch>
          </p:blipFill>
          <p:spPr>
            <a:xfrm>
              <a:off x="3278328" y="2792059"/>
              <a:ext cx="540000" cy="441818"/>
            </a:xfrm>
            <a:prstGeom prst="rect">
              <a:avLst/>
            </a:prstGeom>
          </p:spPr>
        </p:pic>
        <p:sp>
          <p:nvSpPr>
            <p:cNvPr id="43046" name="任意多边形 74"/>
            <p:cNvSpPr>
              <a:spLocks/>
            </p:cNvSpPr>
            <p:nvPr/>
          </p:nvSpPr>
          <p:spPr bwMode="auto">
            <a:xfrm>
              <a:off x="4775260" y="2673071"/>
              <a:ext cx="3826041" cy="859033"/>
            </a:xfrm>
            <a:custGeom>
              <a:avLst/>
              <a:gdLst>
                <a:gd name="T0" fmla="*/ 0 w 4757928"/>
                <a:gd name="T1" fmla="*/ 757808 h 757808"/>
                <a:gd name="T2" fmla="*/ 214370 w 4757928"/>
                <a:gd name="T3" fmla="*/ 502853 h 757808"/>
                <a:gd name="T4" fmla="*/ 665280 w 4757928"/>
                <a:gd name="T5" fmla="*/ 40942 h 757808"/>
                <a:gd name="T6" fmla="*/ 850137 w 4757928"/>
                <a:gd name="T7" fmla="*/ 13027 h 757808"/>
                <a:gd name="T8" fmla="*/ 1515163 w 4757928"/>
                <a:gd name="T9" fmla="*/ 651571 h 757808"/>
                <a:gd name="T10" fmla="*/ 2392396 w 4757928"/>
                <a:gd name="T11" fmla="*/ 698134 h 757808"/>
                <a:gd name="T12" fmla="*/ 0 60000 65536"/>
                <a:gd name="T13" fmla="*/ 0 60000 65536"/>
                <a:gd name="T14" fmla="*/ 0 60000 65536"/>
                <a:gd name="T15" fmla="*/ 0 60000 65536"/>
                <a:gd name="T16" fmla="*/ 0 60000 65536"/>
                <a:gd name="T17" fmla="*/ 0 60000 65536"/>
                <a:gd name="T18" fmla="*/ 0 w 4757928"/>
                <a:gd name="T19" fmla="*/ 0 h 757808"/>
                <a:gd name="T20" fmla="*/ 4757928 w 4757928"/>
                <a:gd name="T21" fmla="*/ 757808 h 757808"/>
              </a:gdLst>
              <a:ahLst/>
              <a:cxnLst>
                <a:cxn ang="T12">
                  <a:pos x="T0" y="T1"/>
                </a:cxn>
                <a:cxn ang="T13">
                  <a:pos x="T2" y="T3"/>
                </a:cxn>
                <a:cxn ang="T14">
                  <a:pos x="T4" y="T5"/>
                </a:cxn>
                <a:cxn ang="T15">
                  <a:pos x="T6" y="T7"/>
                </a:cxn>
                <a:cxn ang="T16">
                  <a:pos x="T8" y="T9"/>
                </a:cxn>
                <a:cxn ang="T17">
                  <a:pos x="T10" y="T11"/>
                </a:cxn>
              </a:cxnLst>
              <a:rect l="T18" t="T19" r="T20" b="T21"/>
              <a:pathLst>
                <a:path w="4757928" h="757808">
                  <a:moveTo>
                    <a:pt x="0" y="757808"/>
                  </a:moveTo>
                  <a:cubicBezTo>
                    <a:pt x="458855" y="472416"/>
                    <a:pt x="205817" y="622331"/>
                    <a:pt x="426332" y="502853"/>
                  </a:cubicBezTo>
                  <a:cubicBezTo>
                    <a:pt x="646847" y="383375"/>
                    <a:pt x="1112357" y="122580"/>
                    <a:pt x="1323089" y="40942"/>
                  </a:cubicBezTo>
                  <a:cubicBezTo>
                    <a:pt x="1533821" y="-40696"/>
                    <a:pt x="1488699" y="27493"/>
                    <a:pt x="1690727" y="13027"/>
                  </a:cubicBezTo>
                  <a:cubicBezTo>
                    <a:pt x="1892755" y="91551"/>
                    <a:pt x="2708555" y="477977"/>
                    <a:pt x="3013312" y="651571"/>
                  </a:cubicBezTo>
                  <a:cubicBezTo>
                    <a:pt x="3314296" y="787533"/>
                    <a:pt x="4124954" y="721167"/>
                    <a:pt x="4757928" y="698134"/>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dirty="0">
                <a:latin typeface="+mn-lt"/>
                <a:ea typeface="+mn-ea"/>
              </a:endParaRPr>
            </a:p>
          </p:txBody>
        </p:sp>
      </p:grpSp>
    </p:spTree>
    <p:extLst>
      <p:ext uri="{BB962C8B-B14F-4D97-AF65-F5344CB8AC3E}">
        <p14:creationId xmlns:p14="http://schemas.microsoft.com/office/powerpoint/2010/main" val="3648854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wipe(left)">
                                      <p:cBhvr>
                                        <p:cTn id="1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75" name="直接连接符 64"/>
          <p:cNvCxnSpPr>
            <a:cxnSpLocks noChangeShapeType="1"/>
          </p:cNvCxnSpPr>
          <p:nvPr/>
        </p:nvCxnSpPr>
        <p:spPr bwMode="auto">
          <a:xfrm>
            <a:off x="4991100" y="3455989"/>
            <a:ext cx="763588" cy="2155825"/>
          </a:xfrm>
          <a:prstGeom prst="line">
            <a:avLst/>
          </a:prstGeom>
          <a:noFill/>
          <a:ln w="28575" algn="ctr">
            <a:solidFill>
              <a:srgbClr val="C00000"/>
            </a:solidFill>
            <a:prstDash val="sysDot"/>
            <a:round/>
            <a:headEnd/>
            <a:tailEnd/>
          </a:ln>
        </p:spPr>
      </p:cxnSp>
      <p:cxnSp>
        <p:nvCxnSpPr>
          <p:cNvPr id="3077" name="直接连接符 58"/>
          <p:cNvCxnSpPr>
            <a:cxnSpLocks noChangeShapeType="1"/>
          </p:cNvCxnSpPr>
          <p:nvPr/>
        </p:nvCxnSpPr>
        <p:spPr bwMode="auto">
          <a:xfrm flipH="1" flipV="1">
            <a:off x="4156075" y="1628776"/>
            <a:ext cx="846138" cy="1871663"/>
          </a:xfrm>
          <a:prstGeom prst="line">
            <a:avLst/>
          </a:prstGeom>
          <a:noFill/>
          <a:ln w="28575" algn="ctr">
            <a:solidFill>
              <a:srgbClr val="C00000"/>
            </a:solidFill>
            <a:prstDash val="sysDot"/>
            <a:round/>
            <a:headEnd/>
            <a:tailEnd/>
          </a:ln>
        </p:spPr>
      </p:cxnSp>
      <p:sp>
        <p:nvSpPr>
          <p:cNvPr id="3" name="文本占位符 2"/>
          <p:cNvSpPr>
            <a:spLocks noGrp="1"/>
          </p:cNvSpPr>
          <p:nvPr>
            <p:ph type="body" sz="quarter" idx="12"/>
          </p:nvPr>
        </p:nvSpPr>
        <p:spPr/>
        <p:txBody>
          <a:bodyPr/>
          <a:lstStyle/>
          <a:p>
            <a:pPr algn="l" rtl="0"/>
            <a:r>
              <a:rPr lang="en-US" altLang="zh-CN" dirty="0"/>
              <a:t>Solution 1 : Politique de routage</a:t>
            </a:r>
            <a:endParaRPr lang="zh-CN" altLang="en-US" dirty="0"/>
          </a:p>
        </p:txBody>
      </p:sp>
      <p:grpSp>
        <p:nvGrpSpPr>
          <p:cNvPr id="5" name="组合 4"/>
          <p:cNvGrpSpPr/>
          <p:nvPr/>
        </p:nvGrpSpPr>
        <p:grpSpPr>
          <a:xfrm>
            <a:off x="2027548" y="2257425"/>
            <a:ext cx="8100702" cy="2704794"/>
            <a:chOff x="2027548" y="2257425"/>
            <a:chExt cx="8100702" cy="2704794"/>
          </a:xfrm>
        </p:grpSpPr>
        <p:cxnSp>
          <p:nvCxnSpPr>
            <p:cNvPr id="3076" name="直接连接符 60"/>
            <p:cNvCxnSpPr>
              <a:cxnSpLocks noChangeShapeType="1"/>
            </p:cNvCxnSpPr>
            <p:nvPr/>
          </p:nvCxnSpPr>
          <p:spPr bwMode="auto">
            <a:xfrm flipH="1">
              <a:off x="4022725" y="3475038"/>
              <a:ext cx="877888" cy="1281112"/>
            </a:xfrm>
            <a:prstGeom prst="line">
              <a:avLst/>
            </a:prstGeom>
            <a:noFill/>
            <a:ln w="28575" algn="ctr">
              <a:solidFill>
                <a:srgbClr val="C00000"/>
              </a:solidFill>
              <a:prstDash val="sysDot"/>
              <a:round/>
              <a:headEnd/>
              <a:tailEnd/>
            </a:ln>
          </p:spPr>
        </p:cxnSp>
        <p:sp>
          <p:nvSpPr>
            <p:cNvPr id="57" name="圆角矩形 56"/>
            <p:cNvSpPr/>
            <p:nvPr/>
          </p:nvSpPr>
          <p:spPr bwMode="auto">
            <a:xfrm>
              <a:off x="2279651" y="3465514"/>
              <a:ext cx="1730375" cy="852487"/>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900" dirty="0">
                <a:latin typeface="+mn-lt"/>
                <a:ea typeface="+mn-ea"/>
              </a:endParaRPr>
            </a:p>
          </p:txBody>
        </p:sp>
        <p:sp>
          <p:nvSpPr>
            <p:cNvPr id="56" name="圆角矩形 55"/>
            <p:cNvSpPr/>
            <p:nvPr/>
          </p:nvSpPr>
          <p:spPr bwMode="auto">
            <a:xfrm>
              <a:off x="2279650" y="2449513"/>
              <a:ext cx="1716088" cy="90805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900" dirty="0">
                <a:latin typeface="+mn-lt"/>
                <a:ea typeface="+mn-ea"/>
              </a:endParaRPr>
            </a:p>
          </p:txBody>
        </p:sp>
        <p:sp>
          <p:nvSpPr>
            <p:cNvPr id="55" name="圆角矩形 54"/>
            <p:cNvSpPr/>
            <p:nvPr/>
          </p:nvSpPr>
          <p:spPr bwMode="auto">
            <a:xfrm>
              <a:off x="8428038" y="2889250"/>
              <a:ext cx="1700212" cy="99060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900" dirty="0">
                <a:latin typeface="+mn-lt"/>
                <a:ea typeface="+mn-ea"/>
              </a:endParaRPr>
            </a:p>
          </p:txBody>
        </p:sp>
        <p:cxnSp>
          <p:nvCxnSpPr>
            <p:cNvPr id="3082" name="直接连接符 7"/>
            <p:cNvCxnSpPr>
              <a:cxnSpLocks noChangeShapeType="1"/>
            </p:cNvCxnSpPr>
            <p:nvPr/>
          </p:nvCxnSpPr>
          <p:spPr bwMode="auto">
            <a:xfrm flipH="1" flipV="1">
              <a:off x="3392488" y="2840039"/>
              <a:ext cx="1676400" cy="593725"/>
            </a:xfrm>
            <a:prstGeom prst="line">
              <a:avLst/>
            </a:prstGeom>
            <a:noFill/>
            <a:ln w="28575" algn="ctr">
              <a:solidFill>
                <a:schemeClr val="tx1"/>
              </a:solidFill>
              <a:round/>
              <a:headEnd/>
              <a:tailEnd/>
            </a:ln>
          </p:spPr>
        </p:cxnSp>
        <p:cxnSp>
          <p:nvCxnSpPr>
            <p:cNvPr id="9" name="直接连接符 8"/>
            <p:cNvCxnSpPr>
              <a:cxnSpLocks noChangeAspect="1"/>
            </p:cNvCxnSpPr>
            <p:nvPr/>
          </p:nvCxnSpPr>
          <p:spPr bwMode="auto">
            <a:xfrm rot="60000" flipV="1">
              <a:off x="5094289" y="2566988"/>
              <a:ext cx="884237" cy="717550"/>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84" name="直接连接符 9"/>
            <p:cNvCxnSpPr>
              <a:cxnSpLocks noChangeShapeType="1"/>
            </p:cNvCxnSpPr>
            <p:nvPr/>
          </p:nvCxnSpPr>
          <p:spPr bwMode="auto">
            <a:xfrm flipH="1">
              <a:off x="3432176" y="3414714"/>
              <a:ext cx="1738313" cy="534987"/>
            </a:xfrm>
            <a:prstGeom prst="line">
              <a:avLst/>
            </a:prstGeom>
            <a:noFill/>
            <a:ln w="28575" algn="ctr">
              <a:solidFill>
                <a:schemeClr val="tx1"/>
              </a:solidFill>
              <a:round/>
              <a:headEnd/>
              <a:tailEnd/>
            </a:ln>
          </p:spPr>
        </p:cxnSp>
        <p:cxnSp>
          <p:nvCxnSpPr>
            <p:cNvPr id="3085" name="直接连接符 10"/>
            <p:cNvCxnSpPr>
              <a:cxnSpLocks noChangeShapeType="1"/>
            </p:cNvCxnSpPr>
            <p:nvPr/>
          </p:nvCxnSpPr>
          <p:spPr bwMode="auto">
            <a:xfrm>
              <a:off x="6143625" y="2474913"/>
              <a:ext cx="1104900" cy="908050"/>
            </a:xfrm>
            <a:prstGeom prst="line">
              <a:avLst/>
            </a:prstGeom>
            <a:noFill/>
            <a:ln w="28575" algn="ctr">
              <a:solidFill>
                <a:schemeClr val="tx1"/>
              </a:solidFill>
              <a:round/>
              <a:headEnd/>
              <a:tailEnd/>
            </a:ln>
          </p:spPr>
        </p:cxnSp>
        <p:cxnSp>
          <p:nvCxnSpPr>
            <p:cNvPr id="3086" name="直接连接符 11"/>
            <p:cNvCxnSpPr>
              <a:cxnSpLocks noChangeShapeType="1"/>
            </p:cNvCxnSpPr>
            <p:nvPr/>
          </p:nvCxnSpPr>
          <p:spPr bwMode="auto">
            <a:xfrm flipV="1">
              <a:off x="7204076" y="3419475"/>
              <a:ext cx="1304925" cy="0"/>
            </a:xfrm>
            <a:prstGeom prst="line">
              <a:avLst/>
            </a:prstGeom>
            <a:noFill/>
            <a:ln w="28575" algn="ctr">
              <a:solidFill>
                <a:schemeClr val="tx1"/>
              </a:solidFill>
              <a:round/>
              <a:headEnd/>
              <a:tailEnd/>
            </a:ln>
          </p:spPr>
        </p:cxnSp>
        <p:sp>
          <p:nvSpPr>
            <p:cNvPr id="3087" name="矩形 12"/>
            <p:cNvSpPr>
              <a:spLocks noChangeArrowheads="1"/>
            </p:cNvSpPr>
            <p:nvPr/>
          </p:nvSpPr>
          <p:spPr bwMode="auto">
            <a:xfrm>
              <a:off x="2063553" y="3574758"/>
              <a:ext cx="1379747" cy="646331"/>
            </a:xfrm>
            <a:prstGeom prst="rect">
              <a:avLst/>
            </a:prstGeom>
            <a:noFill/>
            <a:ln w="9525">
              <a:noFill/>
              <a:miter lim="800000"/>
              <a:headEnd/>
              <a:tailEnd/>
            </a:ln>
          </p:spPr>
          <p:txBody>
            <a:bodyPr wrap="square">
              <a:spAutoFit/>
            </a:bodyPr>
            <a:lstStyle/>
            <a:p>
              <a:pPr algn="ctr" rtl="0" eaLnBrk="0" fontAlgn="t" hangingPunct="0">
                <a:buSzPct val="100000"/>
              </a:pPr>
              <a:r>
                <a:rPr lang="en-US" altLang="zh-CN" sz="1200" b="1" dirty="0">
                  <a:solidFill>
                    <a:srgbClr val="000000"/>
                  </a:solidFill>
                  <a:latin typeface="+mn-lt"/>
                  <a:ea typeface="+mn-ea"/>
                  <a:sym typeface="FrutigerNext LT Regular" pitchFamily="34" charset="0"/>
                </a:rPr>
                <a:t>département financier</a:t>
              </a:r>
            </a:p>
            <a:p>
              <a:pPr algn="ctr" rtl="0" eaLnBrk="0" fontAlgn="t" hangingPunct="0">
                <a:buSzPct val="100000"/>
              </a:pPr>
              <a:r>
                <a:rPr lang="en-US" altLang="zh-CN" sz="1200" b="1" dirty="0">
                  <a:solidFill>
                    <a:srgbClr val="000000"/>
                  </a:solidFill>
                  <a:latin typeface="+mn-lt"/>
                  <a:ea typeface="+mn-ea"/>
                  <a:cs typeface="Arial" charset="0"/>
                  <a:sym typeface="FrutigerNext LT Regular" pitchFamily="34" charset="0"/>
                </a:rPr>
                <a:t>10</a:t>
              </a:r>
              <a:r>
                <a:rPr lang="en-US" altLang="zh-CN" sz="1200" b="1" dirty="0">
                  <a:solidFill>
                    <a:srgbClr val="000000"/>
                  </a:solidFill>
                  <a:latin typeface="+mn-lt"/>
                  <a:ea typeface="+mn-ea"/>
                  <a:sym typeface="FrutigerNext LT Regular" pitchFamily="34" charset="0"/>
                </a:rPr>
                <a:t>personnes</a:t>
              </a:r>
            </a:p>
          </p:txBody>
        </p:sp>
        <p:sp>
          <p:nvSpPr>
            <p:cNvPr id="3088" name="矩形 13"/>
            <p:cNvSpPr>
              <a:spLocks noChangeArrowheads="1"/>
            </p:cNvSpPr>
            <p:nvPr/>
          </p:nvSpPr>
          <p:spPr bwMode="auto">
            <a:xfrm>
              <a:off x="9012325" y="2908301"/>
              <a:ext cx="1066318" cy="246221"/>
            </a:xfrm>
            <a:prstGeom prst="rect">
              <a:avLst/>
            </a:prstGeom>
            <a:noFill/>
            <a:ln w="9525">
              <a:noFill/>
              <a:miter lim="800000"/>
              <a:headEnd/>
              <a:tailEnd/>
            </a:ln>
          </p:spPr>
          <p:txBody>
            <a:bodyPr wrap="none">
              <a:spAutoFit/>
            </a:bodyPr>
            <a:lstStyle/>
            <a:p>
              <a:pPr algn="l" rtl="0" eaLnBrk="0" fontAlgn="t" hangingPunct="0">
                <a:buSzPct val="100000"/>
              </a:pPr>
              <a:r>
                <a:rPr lang="en-US" altLang="zh-CN" b="1" dirty="0">
                  <a:solidFill>
                    <a:srgbClr val="000000"/>
                  </a:solidFill>
                  <a:latin typeface="+mn-lt"/>
                  <a:ea typeface="+mn-ea"/>
                  <a:sym typeface="FrutigerNext LT Regular" pitchFamily="34" charset="0"/>
                </a:rPr>
                <a:t>Quartier général</a:t>
              </a:r>
            </a:p>
          </p:txBody>
        </p:sp>
        <p:sp>
          <p:nvSpPr>
            <p:cNvPr id="3089" name="文本框 14"/>
            <p:cNvSpPr txBox="1">
              <a:spLocks noChangeArrowheads="1"/>
            </p:cNvSpPr>
            <p:nvPr/>
          </p:nvSpPr>
          <p:spPr bwMode="auto">
            <a:xfrm>
              <a:off x="5697538" y="3271838"/>
              <a:ext cx="793750" cy="31639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C00000"/>
                  </a:solidFill>
                  <a:latin typeface="+mn-lt"/>
                  <a:ea typeface="+mn-ea"/>
                  <a:cs typeface="Arial" charset="0"/>
                  <a:sym typeface="FrutigerNext LT Regular" pitchFamily="34" charset="0"/>
                </a:rPr>
                <a:t>OSPF</a:t>
              </a:r>
            </a:p>
          </p:txBody>
        </p:sp>
        <p:sp>
          <p:nvSpPr>
            <p:cNvPr id="3090" name="文本框 15"/>
            <p:cNvSpPr txBox="1">
              <a:spLocks noChangeArrowheads="1"/>
            </p:cNvSpPr>
            <p:nvPr/>
          </p:nvSpPr>
          <p:spPr bwMode="auto">
            <a:xfrm>
              <a:off x="2027548" y="2558030"/>
              <a:ext cx="1423988" cy="654946"/>
            </a:xfrm>
            <a:prstGeom prst="rect">
              <a:avLst/>
            </a:prstGeom>
            <a:noFill/>
            <a:ln w="9525">
              <a:noFill/>
              <a:miter lim="800000"/>
              <a:headEnd/>
              <a:tailEnd/>
            </a:ln>
          </p:spPr>
          <p:txBody>
            <a:bodyPr wrap="square"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département marketing</a:t>
              </a:r>
            </a:p>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20 personnes</a:t>
              </a:r>
            </a:p>
          </p:txBody>
        </p:sp>
        <p:sp>
          <p:nvSpPr>
            <p:cNvPr id="3095" name="文本框 28"/>
            <p:cNvSpPr txBox="1">
              <a:spLocks noChangeArrowheads="1"/>
            </p:cNvSpPr>
            <p:nvPr/>
          </p:nvSpPr>
          <p:spPr bwMode="auto">
            <a:xfrm>
              <a:off x="5224464" y="2924176"/>
              <a:ext cx="979487" cy="224059"/>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800" dirty="0">
                  <a:solidFill>
                    <a:srgbClr val="000000"/>
                  </a:solidFill>
                  <a:latin typeface="+mn-lt"/>
                  <a:ea typeface="+mn-ea"/>
                  <a:cs typeface="Arial" charset="0"/>
                  <a:sym typeface="FrutigerNext LT Regular" pitchFamily="34" charset="0"/>
                </a:rPr>
                <a:t>10M (coût 1)</a:t>
              </a:r>
            </a:p>
          </p:txBody>
        </p:sp>
        <p:sp>
          <p:nvSpPr>
            <p:cNvPr id="3096" name="文本框 29"/>
            <p:cNvSpPr txBox="1">
              <a:spLocks noChangeArrowheads="1"/>
            </p:cNvSpPr>
            <p:nvPr/>
          </p:nvSpPr>
          <p:spPr bwMode="auto">
            <a:xfrm>
              <a:off x="5886451" y="2865439"/>
              <a:ext cx="1001713" cy="224059"/>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800" dirty="0">
                  <a:solidFill>
                    <a:srgbClr val="000000"/>
                  </a:solidFill>
                  <a:latin typeface="+mn-lt"/>
                  <a:ea typeface="+mn-ea"/>
                  <a:cs typeface="Arial" charset="0"/>
                  <a:sym typeface="FrutigerNext LT Regular" pitchFamily="34" charset="0"/>
                </a:rPr>
                <a:t>10M (coût 1)</a:t>
              </a:r>
            </a:p>
          </p:txBody>
        </p:sp>
        <p:sp>
          <p:nvSpPr>
            <p:cNvPr id="3097" name="文本框 30"/>
            <p:cNvSpPr txBox="1">
              <a:spLocks noChangeArrowheads="1"/>
            </p:cNvSpPr>
            <p:nvPr/>
          </p:nvSpPr>
          <p:spPr bwMode="auto">
            <a:xfrm>
              <a:off x="5916614" y="3644901"/>
              <a:ext cx="1150937" cy="224059"/>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800" dirty="0">
                  <a:solidFill>
                    <a:srgbClr val="000000"/>
                  </a:solidFill>
                  <a:latin typeface="+mn-lt"/>
                  <a:ea typeface="+mn-ea"/>
                  <a:cs typeface="Arial" charset="0"/>
                  <a:sym typeface="FrutigerNext LT Regular" pitchFamily="34" charset="0"/>
                </a:rPr>
                <a:t>10M (coût 1)</a:t>
              </a:r>
            </a:p>
          </p:txBody>
        </p:sp>
        <p:sp>
          <p:nvSpPr>
            <p:cNvPr id="3098" name="文本框 31"/>
            <p:cNvSpPr txBox="1">
              <a:spLocks noChangeArrowheads="1"/>
            </p:cNvSpPr>
            <p:nvPr/>
          </p:nvSpPr>
          <p:spPr bwMode="auto">
            <a:xfrm>
              <a:off x="5141914" y="3657601"/>
              <a:ext cx="1062037" cy="224059"/>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800" dirty="0">
                  <a:solidFill>
                    <a:srgbClr val="000000"/>
                  </a:solidFill>
                  <a:latin typeface="+mn-lt"/>
                  <a:ea typeface="+mn-ea"/>
                  <a:cs typeface="Arial" charset="0"/>
                  <a:sym typeface="FrutigerNext LT Regular" pitchFamily="34" charset="0"/>
                </a:rPr>
                <a:t>5M (coût 2)</a:t>
              </a:r>
            </a:p>
          </p:txBody>
        </p:sp>
        <p:cxnSp>
          <p:nvCxnSpPr>
            <p:cNvPr id="39" name="直接连接符 38"/>
            <p:cNvCxnSpPr>
              <a:cxnSpLocks noChangeAspect="1"/>
            </p:cNvCxnSpPr>
            <p:nvPr/>
          </p:nvCxnSpPr>
          <p:spPr bwMode="auto">
            <a:xfrm rot="20880000">
              <a:off x="5083176" y="3422650"/>
              <a:ext cx="823913" cy="871538"/>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直接连接符 41"/>
            <p:cNvCxnSpPr>
              <a:cxnSpLocks noChangeAspect="1"/>
            </p:cNvCxnSpPr>
            <p:nvPr/>
          </p:nvCxnSpPr>
          <p:spPr bwMode="auto">
            <a:xfrm rot="17340000">
              <a:off x="6093619" y="3426619"/>
              <a:ext cx="1258888" cy="869950"/>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103" name="文本框 43"/>
            <p:cNvSpPr txBox="1">
              <a:spLocks noChangeArrowheads="1"/>
            </p:cNvSpPr>
            <p:nvPr/>
          </p:nvSpPr>
          <p:spPr bwMode="auto">
            <a:xfrm>
              <a:off x="6996114" y="3644900"/>
              <a:ext cx="771525"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RTD</a:t>
              </a:r>
            </a:p>
          </p:txBody>
        </p:sp>
        <p:sp>
          <p:nvSpPr>
            <p:cNvPr id="3104" name="文本框 44"/>
            <p:cNvSpPr txBox="1">
              <a:spLocks noChangeArrowheads="1"/>
            </p:cNvSpPr>
            <p:nvPr/>
          </p:nvSpPr>
          <p:spPr bwMode="auto">
            <a:xfrm>
              <a:off x="6210301" y="4192588"/>
              <a:ext cx="771525"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RTC</a:t>
              </a:r>
            </a:p>
          </p:txBody>
        </p:sp>
        <p:sp>
          <p:nvSpPr>
            <p:cNvPr id="3105" name="文本框 45"/>
            <p:cNvSpPr txBox="1">
              <a:spLocks noChangeArrowheads="1"/>
            </p:cNvSpPr>
            <p:nvPr/>
          </p:nvSpPr>
          <p:spPr bwMode="auto">
            <a:xfrm>
              <a:off x="6186488" y="2257425"/>
              <a:ext cx="773112"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RTB</a:t>
              </a:r>
            </a:p>
          </p:txBody>
        </p:sp>
        <p:sp>
          <p:nvSpPr>
            <p:cNvPr id="3106" name="文本框 46"/>
            <p:cNvSpPr txBox="1">
              <a:spLocks noChangeArrowheads="1"/>
            </p:cNvSpPr>
            <p:nvPr/>
          </p:nvSpPr>
          <p:spPr bwMode="auto">
            <a:xfrm>
              <a:off x="4511676" y="3681413"/>
              <a:ext cx="771525"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RTA</a:t>
              </a:r>
            </a:p>
          </p:txBody>
        </p:sp>
        <p:sp>
          <p:nvSpPr>
            <p:cNvPr id="3107" name="文本框 1"/>
            <p:cNvSpPr txBox="1">
              <a:spLocks noChangeArrowheads="1"/>
            </p:cNvSpPr>
            <p:nvPr/>
          </p:nvSpPr>
          <p:spPr bwMode="auto">
            <a:xfrm rot="19380000">
              <a:off x="4552950" y="2744126"/>
              <a:ext cx="1473200" cy="239448"/>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12.1.1.0</a:t>
              </a:r>
            </a:p>
          </p:txBody>
        </p:sp>
        <p:sp>
          <p:nvSpPr>
            <p:cNvPr id="3108" name="文本框 40"/>
            <p:cNvSpPr txBox="1">
              <a:spLocks noChangeArrowheads="1"/>
            </p:cNvSpPr>
            <p:nvPr/>
          </p:nvSpPr>
          <p:spPr bwMode="auto">
            <a:xfrm rot="2520000">
              <a:off x="6162676" y="2715551"/>
              <a:ext cx="1471613" cy="239448"/>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12.1.2.0</a:t>
              </a:r>
            </a:p>
          </p:txBody>
        </p:sp>
        <p:sp>
          <p:nvSpPr>
            <p:cNvPr id="3109" name="文本框 42"/>
            <p:cNvSpPr txBox="1">
              <a:spLocks noChangeArrowheads="1"/>
            </p:cNvSpPr>
            <p:nvPr/>
          </p:nvSpPr>
          <p:spPr bwMode="auto">
            <a:xfrm rot="2160000">
              <a:off x="4702175" y="3883157"/>
              <a:ext cx="1473200" cy="239448"/>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12.1.3.0</a:t>
              </a:r>
            </a:p>
          </p:txBody>
        </p:sp>
        <p:sp>
          <p:nvSpPr>
            <p:cNvPr id="3110" name="文本框 48"/>
            <p:cNvSpPr txBox="1">
              <a:spLocks noChangeArrowheads="1"/>
            </p:cNvSpPr>
            <p:nvPr/>
          </p:nvSpPr>
          <p:spPr bwMode="auto">
            <a:xfrm rot="19462497">
              <a:off x="6086475" y="3887126"/>
              <a:ext cx="1473200" cy="239448"/>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12.1.4.0</a:t>
              </a:r>
            </a:p>
          </p:txBody>
        </p:sp>
        <p:sp>
          <p:nvSpPr>
            <p:cNvPr id="3111" name="文本框 49"/>
            <p:cNvSpPr txBox="1">
              <a:spLocks noChangeArrowheads="1"/>
            </p:cNvSpPr>
            <p:nvPr/>
          </p:nvSpPr>
          <p:spPr bwMode="auto">
            <a:xfrm rot="1233254">
              <a:off x="3814971" y="2987048"/>
              <a:ext cx="1196975" cy="239448"/>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10.1.1.0</a:t>
              </a:r>
            </a:p>
          </p:txBody>
        </p:sp>
        <p:sp>
          <p:nvSpPr>
            <p:cNvPr id="3112" name="文本框 51"/>
            <p:cNvSpPr txBox="1">
              <a:spLocks noChangeArrowheads="1"/>
            </p:cNvSpPr>
            <p:nvPr/>
          </p:nvSpPr>
          <p:spPr bwMode="auto">
            <a:xfrm rot="20526802">
              <a:off x="3509963" y="3483901"/>
              <a:ext cx="1473200" cy="239448"/>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10.1.2.0</a:t>
              </a:r>
            </a:p>
          </p:txBody>
        </p:sp>
        <p:sp>
          <p:nvSpPr>
            <p:cNvPr id="3113" name="文本框 52"/>
            <p:cNvSpPr txBox="1">
              <a:spLocks noChangeArrowheads="1"/>
            </p:cNvSpPr>
            <p:nvPr/>
          </p:nvSpPr>
          <p:spPr bwMode="auto">
            <a:xfrm>
              <a:off x="7294563" y="3576638"/>
              <a:ext cx="1473200" cy="239448"/>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mn-ea"/>
                  <a:cs typeface="Arial" charset="0"/>
                  <a:sym typeface="FrutigerNext LT Regular" pitchFamily="34" charset="0"/>
                </a:rPr>
                <a:t>10.1.3.0</a:t>
              </a:r>
            </a:p>
          </p:txBody>
        </p:sp>
        <p:sp>
          <p:nvSpPr>
            <p:cNvPr id="3114" name="文本框 2"/>
            <p:cNvSpPr txBox="1">
              <a:spLocks noChangeArrowheads="1"/>
            </p:cNvSpPr>
            <p:nvPr/>
          </p:nvSpPr>
          <p:spPr bwMode="auto">
            <a:xfrm>
              <a:off x="4884738" y="3101976"/>
              <a:ext cx="1052512" cy="224059"/>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800" dirty="0">
                  <a:solidFill>
                    <a:srgbClr val="000000"/>
                  </a:solidFill>
                  <a:latin typeface="+mn-lt"/>
                  <a:ea typeface="+mn-ea"/>
                  <a:cs typeface="Arial" charset="0"/>
                  <a:sym typeface="FrutigerNext LT Regular" pitchFamily="34" charset="0"/>
                </a:rPr>
                <a:t>G0/0/0</a:t>
              </a:r>
            </a:p>
          </p:txBody>
        </p:sp>
        <p:sp>
          <p:nvSpPr>
            <p:cNvPr id="62" name="AutoShape 17"/>
            <p:cNvSpPr>
              <a:spLocks noChangeArrowheads="1"/>
            </p:cNvSpPr>
            <p:nvPr/>
          </p:nvSpPr>
          <p:spPr bwMode="auto">
            <a:xfrm>
              <a:off x="3523412" y="4592887"/>
              <a:ext cx="1220534" cy="369332"/>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algn="l" rtl="0"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int g0/0/0</a:t>
              </a:r>
            </a:p>
            <a:p>
              <a:pPr algn="l" rtl="0" eaLnBrk="0" fontAlgn="t" hangingPunct="0">
                <a:buSzPct val="100000"/>
                <a:defRPr/>
              </a:pPr>
              <a:r>
                <a:rPr lang="en-US" altLang="zh-CN" sz="1200" b="1" dirty="0">
                  <a:solidFill>
                    <a:srgbClr val="000000"/>
                  </a:solidFill>
                  <a:latin typeface="+mn-lt"/>
                  <a:ea typeface="+mn-ea"/>
                  <a:cs typeface="Courier New" panose="02070309020205020404" pitchFamily="49" charset="0"/>
                  <a:sym typeface="FrutigerNext LT Regular" pitchFamily="34" charset="0"/>
                </a:rPr>
                <a:t>coût ospf 2</a:t>
              </a:r>
            </a:p>
          </p:txBody>
        </p:sp>
        <p:sp>
          <p:nvSpPr>
            <p:cNvPr id="3121" name="文本框 50"/>
            <p:cNvSpPr txBox="1">
              <a:spLocks noChangeArrowheads="1"/>
            </p:cNvSpPr>
            <p:nvPr/>
          </p:nvSpPr>
          <p:spPr bwMode="auto">
            <a:xfrm>
              <a:off x="4881564" y="3492501"/>
              <a:ext cx="1050925" cy="224059"/>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800" dirty="0">
                  <a:solidFill>
                    <a:srgbClr val="000000"/>
                  </a:solidFill>
                  <a:latin typeface="+mn-lt"/>
                  <a:ea typeface="+mn-ea"/>
                  <a:cs typeface="Arial" charset="0"/>
                  <a:sym typeface="FrutigerNext LT Regular" pitchFamily="34" charset="0"/>
                </a:rPr>
                <a:t>G0/0/1</a:t>
              </a:r>
            </a:p>
          </p:txBody>
        </p:sp>
        <p:pic>
          <p:nvPicPr>
            <p:cNvPr id="52" name="图片 5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198686" y="3746828"/>
              <a:ext cx="540000" cy="442800"/>
            </a:xfrm>
            <a:prstGeom prst="rect">
              <a:avLst/>
            </a:prstGeom>
          </p:spPr>
        </p:pic>
        <p:pic>
          <p:nvPicPr>
            <p:cNvPr id="53" name="图片 5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774584" y="3214680"/>
              <a:ext cx="540000" cy="442800"/>
            </a:xfrm>
            <a:prstGeom prst="rect">
              <a:avLst/>
            </a:prstGeom>
          </p:spPr>
        </p:pic>
        <p:pic>
          <p:nvPicPr>
            <p:cNvPr id="5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757834" y="2287731"/>
              <a:ext cx="628652" cy="514351"/>
            </a:xfrm>
            <a:prstGeom prst="rect">
              <a:avLst/>
            </a:prstGeom>
            <a:noFill/>
          </p:spPr>
        </p:pic>
        <p:pic>
          <p:nvPicPr>
            <p:cNvPr id="5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757834" y="4046511"/>
              <a:ext cx="628652" cy="514351"/>
            </a:xfrm>
            <a:prstGeom prst="rect">
              <a:avLst/>
            </a:prstGeom>
            <a:noFill/>
          </p:spPr>
        </p:pic>
        <p:pic>
          <p:nvPicPr>
            <p:cNvPr id="59"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656908" y="3148635"/>
              <a:ext cx="628652" cy="514351"/>
            </a:xfrm>
            <a:prstGeom prst="rect">
              <a:avLst/>
            </a:prstGeom>
            <a:noFill/>
          </p:spPr>
        </p:pic>
        <p:pic>
          <p:nvPicPr>
            <p:cNvPr id="61" name="图片 60" descr="市场部.png"/>
            <p:cNvPicPr>
              <a:picLocks noChangeAspect="1"/>
            </p:cNvPicPr>
            <p:nvPr/>
          </p:nvPicPr>
          <p:blipFill>
            <a:blip r:embed="rId5" cstate="print"/>
            <a:stretch>
              <a:fillRect/>
            </a:stretch>
          </p:blipFill>
          <p:spPr>
            <a:xfrm>
              <a:off x="3228993" y="2603439"/>
              <a:ext cx="540000" cy="441818"/>
            </a:xfrm>
            <a:prstGeom prst="rect">
              <a:avLst/>
            </a:prstGeom>
          </p:spPr>
        </p:pic>
        <p:pic>
          <p:nvPicPr>
            <p:cNvPr id="6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6957500" y="3166677"/>
              <a:ext cx="628652" cy="514351"/>
            </a:xfrm>
            <a:prstGeom prst="rect">
              <a:avLst/>
            </a:prstGeom>
            <a:noFill/>
          </p:spPr>
        </p:pic>
        <p:sp>
          <p:nvSpPr>
            <p:cNvPr id="3116" name="任意多边形 57"/>
            <p:cNvSpPr>
              <a:spLocks/>
            </p:cNvSpPr>
            <p:nvPr/>
          </p:nvSpPr>
          <p:spPr bwMode="auto">
            <a:xfrm>
              <a:off x="4835526" y="2460625"/>
              <a:ext cx="3825875" cy="915988"/>
            </a:xfrm>
            <a:custGeom>
              <a:avLst/>
              <a:gdLst>
                <a:gd name="T0" fmla="*/ 0 w 4757928"/>
                <a:gd name="T1" fmla="*/ 1038731 h 807796"/>
                <a:gd name="T2" fmla="*/ 275665 w 4757928"/>
                <a:gd name="T3" fmla="*/ 710889 h 807796"/>
                <a:gd name="T4" fmla="*/ 867968 w 4757928"/>
                <a:gd name="T5" fmla="*/ 64201 h 807796"/>
                <a:gd name="T6" fmla="*/ 1068295 w 4757928"/>
                <a:gd name="T7" fmla="*/ 10734 h 807796"/>
                <a:gd name="T8" fmla="*/ 1985785 w 4757928"/>
                <a:gd name="T9" fmla="*/ 937271 h 807796"/>
                <a:gd name="T10" fmla="*/ 3076463 w 4757928"/>
                <a:gd name="T11" fmla="*/ 961997 h 807796"/>
                <a:gd name="T12" fmla="*/ 0 60000 65536"/>
                <a:gd name="T13" fmla="*/ 0 60000 65536"/>
                <a:gd name="T14" fmla="*/ 0 60000 65536"/>
                <a:gd name="T15" fmla="*/ 0 60000 65536"/>
                <a:gd name="T16" fmla="*/ 0 60000 65536"/>
                <a:gd name="T17" fmla="*/ 0 60000 65536"/>
                <a:gd name="T18" fmla="*/ 0 w 4757928"/>
                <a:gd name="T19" fmla="*/ 0 h 807796"/>
                <a:gd name="T20" fmla="*/ 4757928 w 4757928"/>
                <a:gd name="T21" fmla="*/ 807796 h 807796"/>
              </a:gdLst>
              <a:ahLst/>
              <a:cxnLst>
                <a:cxn ang="T12">
                  <a:pos x="T0" y="T1"/>
                </a:cxn>
                <a:cxn ang="T13">
                  <a:pos x="T2" y="T3"/>
                </a:cxn>
                <a:cxn ang="T14">
                  <a:pos x="T4" y="T5"/>
                </a:cxn>
                <a:cxn ang="T15">
                  <a:pos x="T6" y="T7"/>
                </a:cxn>
                <a:cxn ang="T16">
                  <a:pos x="T8" y="T9"/>
                </a:cxn>
                <a:cxn ang="T17">
                  <a:pos x="T10" y="T11"/>
                </a:cxn>
              </a:cxnLst>
              <a:rect l="T18" t="T19" r="T20" b="T21"/>
              <a:pathLst>
                <a:path w="4757928" h="807796">
                  <a:moveTo>
                    <a:pt x="0" y="807796"/>
                  </a:moveTo>
                  <a:cubicBezTo>
                    <a:pt x="458855" y="522404"/>
                    <a:pt x="202605" y="679152"/>
                    <a:pt x="426332" y="552841"/>
                  </a:cubicBezTo>
                  <a:cubicBezTo>
                    <a:pt x="650059" y="426530"/>
                    <a:pt x="1138055" y="140677"/>
                    <a:pt x="1342363" y="49928"/>
                  </a:cubicBezTo>
                  <a:cubicBezTo>
                    <a:pt x="1546671" y="-40821"/>
                    <a:pt x="1450152" y="22813"/>
                    <a:pt x="1652180" y="8347"/>
                  </a:cubicBezTo>
                  <a:cubicBezTo>
                    <a:pt x="1854208" y="86871"/>
                    <a:pt x="2766376" y="555299"/>
                    <a:pt x="3071133" y="728893"/>
                  </a:cubicBezTo>
                  <a:cubicBezTo>
                    <a:pt x="3449212" y="810188"/>
                    <a:pt x="4124954" y="771155"/>
                    <a:pt x="4757928" y="748122"/>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sz="900" dirty="0">
                <a:latin typeface="+mn-lt"/>
                <a:ea typeface="+mn-ea"/>
              </a:endParaRPr>
            </a:p>
          </p:txBody>
        </p:sp>
        <p:sp>
          <p:nvSpPr>
            <p:cNvPr id="3120" name="任意多边形 47"/>
            <p:cNvSpPr>
              <a:spLocks/>
            </p:cNvSpPr>
            <p:nvPr/>
          </p:nvSpPr>
          <p:spPr bwMode="auto">
            <a:xfrm>
              <a:off x="4764089" y="3413126"/>
              <a:ext cx="3913187" cy="879475"/>
            </a:xfrm>
            <a:custGeom>
              <a:avLst/>
              <a:gdLst>
                <a:gd name="T0" fmla="*/ 8785 w 4865789"/>
                <a:gd name="T1" fmla="*/ 13572 h 775833"/>
                <a:gd name="T2" fmla="*/ 111680 w 4865789"/>
                <a:gd name="T3" fmla="*/ 96448 h 775833"/>
                <a:gd name="T4" fmla="*/ 955604 w 4865789"/>
                <a:gd name="T5" fmla="*/ 942576 h 775833"/>
                <a:gd name="T6" fmla="*/ 1182575 w 4865789"/>
                <a:gd name="T7" fmla="*/ 934240 h 775833"/>
                <a:gd name="T8" fmla="*/ 1580891 w 4865789"/>
                <a:gd name="T9" fmla="*/ 567951 h 775833"/>
                <a:gd name="T10" fmla="*/ 1989705 w 4865789"/>
                <a:gd name="T11" fmla="*/ 150508 h 775833"/>
                <a:gd name="T12" fmla="*/ 2147228 w 4865789"/>
                <a:gd name="T13" fmla="*/ 114141 h 775833"/>
                <a:gd name="T14" fmla="*/ 2468968 w 4865789"/>
                <a:gd name="T15" fmla="*/ 129773 h 775833"/>
                <a:gd name="T16" fmla="*/ 2736405 w 4865789"/>
                <a:gd name="T17" fmla="*/ 135753 h 775833"/>
                <a:gd name="T18" fmla="*/ 3146672 w 4865789"/>
                <a:gd name="T19" fmla="*/ 134366 h 7758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865789"/>
                <a:gd name="T31" fmla="*/ 0 h 775833"/>
                <a:gd name="T32" fmla="*/ 4865789 w 4865789"/>
                <a:gd name="T33" fmla="*/ 775833 h 7758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865789" h="775833">
                  <a:moveTo>
                    <a:pt x="13585" y="10558"/>
                  </a:moveTo>
                  <a:cubicBezTo>
                    <a:pt x="15251" y="16899"/>
                    <a:pt x="-71321" y="-45419"/>
                    <a:pt x="172694" y="75028"/>
                  </a:cubicBezTo>
                  <a:cubicBezTo>
                    <a:pt x="416709" y="195475"/>
                    <a:pt x="1243288" y="644287"/>
                    <a:pt x="1477677" y="733242"/>
                  </a:cubicBezTo>
                  <a:cubicBezTo>
                    <a:pt x="1712066" y="822197"/>
                    <a:pt x="1702169" y="747466"/>
                    <a:pt x="1828650" y="726757"/>
                  </a:cubicBezTo>
                  <a:cubicBezTo>
                    <a:pt x="1968999" y="686381"/>
                    <a:pt x="2221389" y="556339"/>
                    <a:pt x="2444577" y="441817"/>
                  </a:cubicBezTo>
                  <a:cubicBezTo>
                    <a:pt x="2657214" y="341843"/>
                    <a:pt x="2944648" y="171003"/>
                    <a:pt x="3076738" y="117082"/>
                  </a:cubicBezTo>
                  <a:cubicBezTo>
                    <a:pt x="3208828" y="63161"/>
                    <a:pt x="3199118" y="84924"/>
                    <a:pt x="3320323" y="88792"/>
                  </a:cubicBezTo>
                  <a:cubicBezTo>
                    <a:pt x="3583485" y="85737"/>
                    <a:pt x="3690030" y="91430"/>
                    <a:pt x="3817836" y="100952"/>
                  </a:cubicBezTo>
                  <a:lnTo>
                    <a:pt x="4231380" y="105604"/>
                  </a:lnTo>
                  <a:cubicBezTo>
                    <a:pt x="4890102" y="89173"/>
                    <a:pt x="4341985" y="93622"/>
                    <a:pt x="4865789" y="104525"/>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sz="900" dirty="0">
                <a:latin typeface="+mn-lt"/>
                <a:ea typeface="+mn-ea"/>
              </a:endParaRPr>
            </a:p>
          </p:txBody>
        </p:sp>
      </p:grpSp>
      <p:sp>
        <p:nvSpPr>
          <p:cNvPr id="65" name="AutoShape 17"/>
          <p:cNvSpPr>
            <a:spLocks noChangeArrowheads="1"/>
          </p:cNvSpPr>
          <p:nvPr/>
        </p:nvSpPr>
        <p:spPr bwMode="auto">
          <a:xfrm>
            <a:off x="1647959" y="5176762"/>
            <a:ext cx="8568952" cy="923330"/>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algn="l" rtl="0"/>
            <a:r>
              <a:rPr lang="en-US" altLang="zh-CN" sz="1400" b="1" dirty="0">
                <a:latin typeface="+mn-lt"/>
                <a:ea typeface="+mn-ea"/>
                <a:cs typeface="Courier New" panose="02070309020205020404" pitchFamily="49" charset="0"/>
              </a:rPr>
              <a:t>afficher</a:t>
            </a:r>
            <a:r>
              <a:rPr lang="en-US" altLang="zh-CN" sz="1400" b="1" dirty="0" err="1">
                <a:latin typeface="+mn-lt"/>
                <a:ea typeface="+mn-ea"/>
                <a:cs typeface="Courier New" panose="02070309020205020404" pitchFamily="49" charset="0"/>
              </a:rPr>
              <a:t>adresse IP</a:t>
            </a:r>
            <a:r>
              <a:rPr lang="en-US" altLang="zh-CN" sz="1400" b="1" dirty="0">
                <a:latin typeface="+mn-lt"/>
                <a:ea typeface="+mn-ea"/>
                <a:cs typeface="Courier New" panose="02070309020205020404" pitchFamily="49" charset="0"/>
              </a:rPr>
              <a:t>table de routage</a:t>
            </a:r>
            <a:endParaRPr lang="zh-CN" altLang="en-US" sz="1400" b="1" dirty="0">
              <a:latin typeface="+mn-lt"/>
              <a:ea typeface="+mn-ea"/>
              <a:cs typeface="Courier New" panose="02070309020205020404" pitchFamily="49" charset="0"/>
            </a:endParaRPr>
          </a:p>
          <a:p>
            <a:pPr algn="l" rtl="0"/>
            <a:r>
              <a:rPr lang="en-US" altLang="zh-CN" sz="1400" dirty="0">
                <a:latin typeface="+mn-lt"/>
                <a:ea typeface="+mn-ea"/>
                <a:cs typeface="Courier New" panose="02070309020205020404" pitchFamily="49" charset="0"/>
              </a:rPr>
              <a:t>Destination/Masque Proto Pré-indicateurs de coût	</a:t>
            </a:r>
            <a:r>
              <a:rPr lang="en-US" altLang="zh-CN" sz="1400" dirty="0" err="1">
                <a:latin typeface="+mn-lt"/>
                <a:ea typeface="+mn-ea"/>
                <a:cs typeface="Courier New" panose="02070309020205020404" pitchFamily="49" charset="0"/>
              </a:rPr>
              <a:t>NextHop</a:t>
            </a:r>
            <a:r>
              <a:rPr lang="en-US" altLang="zh-CN" sz="1400" dirty="0">
                <a:latin typeface="+mn-lt"/>
                <a:ea typeface="+mn-ea"/>
                <a:cs typeface="Courier New" panose="02070309020205020404" pitchFamily="49" charset="0"/>
              </a:rPr>
              <a:t>	Interface</a:t>
            </a:r>
            <a:endParaRPr lang="zh-CN" altLang="en-US" sz="1400" dirty="0">
              <a:latin typeface="+mn-lt"/>
              <a:ea typeface="+mn-ea"/>
              <a:cs typeface="Courier New" panose="02070309020205020404" pitchFamily="49" charset="0"/>
            </a:endParaRPr>
          </a:p>
          <a:p>
            <a:pPr algn="l" rtl="0"/>
            <a:r>
              <a:rPr lang="en-US" altLang="zh-CN" sz="1800" dirty="0">
                <a:solidFill>
                  <a:srgbClr val="C00000"/>
                </a:solidFill>
                <a:latin typeface="+mn-lt"/>
                <a:ea typeface="+mn-ea"/>
                <a:cs typeface="Courier New" panose="02070309020205020404" pitchFamily="49" charset="0"/>
              </a:rPr>
              <a:t> </a:t>
            </a:r>
            <a:r>
              <a:rPr lang="en-US" altLang="zh-CN" sz="1400" dirty="0">
                <a:solidFill>
                  <a:srgbClr val="C00000"/>
                </a:solidFill>
                <a:latin typeface="+mn-lt"/>
                <a:ea typeface="+mn-ea"/>
                <a:cs typeface="Courier New" panose="02070309020205020404" pitchFamily="49" charset="0"/>
              </a:rPr>
              <a:t>10.1.3.0/24</a:t>
            </a:r>
            <a:r>
              <a:rPr lang="en-US" altLang="zh-CN" sz="1800" dirty="0">
                <a:solidFill>
                  <a:srgbClr val="C00000"/>
                </a:solidFill>
                <a:latin typeface="+mn-lt"/>
                <a:ea typeface="+mn-ea"/>
                <a:cs typeface="Courier New" panose="02070309020205020404" pitchFamily="49" charset="0"/>
              </a:rPr>
              <a:t>	</a:t>
            </a:r>
            <a:r>
              <a:rPr lang="en-US" altLang="zh-CN" sz="1400" dirty="0">
                <a:latin typeface="+mn-lt"/>
                <a:ea typeface="+mn-ea"/>
                <a:cs typeface="Courier New" panose="02070309020205020404" pitchFamily="49" charset="0"/>
              </a:rPr>
              <a:t>OSPF 10 4 D	</a:t>
            </a:r>
            <a:r>
              <a:rPr lang="en-US" altLang="zh-CN" sz="1400" dirty="0">
                <a:solidFill>
                  <a:srgbClr val="C00000"/>
                </a:solidFill>
                <a:latin typeface="+mn-lt"/>
                <a:ea typeface="+mn-ea"/>
                <a:cs typeface="Courier New" panose="02070309020205020404" pitchFamily="49" charset="0"/>
              </a:rPr>
              <a:t>12.1.1.2</a:t>
            </a:r>
            <a:r>
              <a:rPr lang="en-US" altLang="zh-CN" sz="1400" dirty="0">
                <a:solidFill>
                  <a:srgbClr val="C81F1F"/>
                </a:solidFill>
                <a:latin typeface="+mn-lt"/>
                <a:ea typeface="+mn-ea"/>
                <a:cs typeface="Courier New" panose="02070309020205020404" pitchFamily="49" charset="0"/>
              </a:rPr>
              <a:t>	</a:t>
            </a:r>
            <a:r>
              <a:rPr lang="en-US" altLang="zh-CN" sz="1400" dirty="0" err="1">
                <a:latin typeface="+mn-lt"/>
                <a:ea typeface="+mn-ea"/>
                <a:cs typeface="Courier New" panose="02070309020205020404" pitchFamily="49" charset="0"/>
              </a:rPr>
              <a:t>Gigabit Ethernet</a:t>
            </a:r>
            <a:r>
              <a:rPr lang="en-US" altLang="zh-CN" sz="1400" dirty="0">
                <a:latin typeface="+mn-lt"/>
                <a:ea typeface="+mn-ea"/>
                <a:cs typeface="Courier New" panose="02070309020205020404" pitchFamily="49" charset="0"/>
              </a:rPr>
              <a:t> 0/0/0</a:t>
            </a:r>
            <a:endParaRPr lang="zh-CN" altLang="en-US" sz="1400" dirty="0">
              <a:latin typeface="+mn-lt"/>
              <a:ea typeface="+mn-ea"/>
              <a:cs typeface="Courier New" panose="02070309020205020404" pitchFamily="49" charset="0"/>
            </a:endParaRPr>
          </a:p>
          <a:p>
            <a:pPr lvl="2" algn="l" rtl="0"/>
            <a:r>
              <a:rPr lang="en-US" altLang="zh-CN" sz="1400" dirty="0">
                <a:latin typeface="+mn-lt"/>
                <a:ea typeface="+mn-ea"/>
                <a:cs typeface="Courier New" panose="02070309020205020404" pitchFamily="49" charset="0"/>
              </a:rPr>
              <a:t>	OSPF 10 4 D	</a:t>
            </a:r>
            <a:r>
              <a:rPr lang="en-US" altLang="zh-CN" sz="1400" dirty="0">
                <a:solidFill>
                  <a:srgbClr val="C00000"/>
                </a:solidFill>
                <a:latin typeface="+mn-lt"/>
                <a:ea typeface="+mn-ea"/>
                <a:cs typeface="Courier New" panose="02070309020205020404" pitchFamily="49" charset="0"/>
              </a:rPr>
              <a:t>12.1.3.2</a:t>
            </a:r>
            <a:r>
              <a:rPr lang="en-US" altLang="zh-CN" sz="1400" dirty="0">
                <a:solidFill>
                  <a:srgbClr val="C81F1F"/>
                </a:solidFill>
                <a:latin typeface="+mn-lt"/>
                <a:ea typeface="+mn-ea"/>
                <a:cs typeface="Courier New" panose="02070309020205020404" pitchFamily="49" charset="0"/>
              </a:rPr>
              <a:t>	</a:t>
            </a:r>
            <a:r>
              <a:rPr lang="en-US" altLang="zh-CN" sz="1400" dirty="0" err="1">
                <a:latin typeface="+mn-lt"/>
                <a:ea typeface="+mn-ea"/>
                <a:cs typeface="Courier New" panose="02070309020205020404" pitchFamily="49" charset="0"/>
              </a:rPr>
              <a:t>Gigabit Ethernet</a:t>
            </a:r>
            <a:r>
              <a:rPr lang="en-US" altLang="zh-CN" sz="1400" dirty="0">
                <a:latin typeface="+mn-lt"/>
                <a:ea typeface="+mn-ea"/>
                <a:cs typeface="Courier New" panose="02070309020205020404" pitchFamily="49" charset="0"/>
              </a:rPr>
              <a:t> 0/0/1</a:t>
            </a:r>
            <a:endParaRPr lang="zh-CN" altLang="en-US" sz="1400" dirty="0">
              <a:latin typeface="+mn-lt"/>
              <a:ea typeface="+mn-ea"/>
              <a:cs typeface="Courier New" panose="02070309020205020404" pitchFamily="49" charset="0"/>
            </a:endParaRPr>
          </a:p>
        </p:txBody>
      </p:sp>
      <p:sp>
        <p:nvSpPr>
          <p:cNvPr id="66" name="AutoShape 17"/>
          <p:cNvSpPr>
            <a:spLocks noChangeArrowheads="1"/>
          </p:cNvSpPr>
          <p:nvPr/>
        </p:nvSpPr>
        <p:spPr bwMode="auto">
          <a:xfrm>
            <a:off x="1644878" y="1478372"/>
            <a:ext cx="8627586" cy="707886"/>
          </a:xfrm>
          <a:prstGeom prst="roundRect">
            <a:avLst>
              <a:gd name="adj" fmla="val 0"/>
            </a:avLst>
          </a:prstGeom>
          <a:solidFill>
            <a:schemeClr val="bg1">
              <a:lumMod val="85000"/>
            </a:schemeClr>
          </a:solidFill>
          <a:ln w="12700" algn="ctr">
            <a:noFill/>
            <a:round/>
            <a:headEnd/>
            <a:tailEnd/>
          </a:ln>
          <a:effectLst/>
        </p:spPr>
        <p:txBody>
          <a:bodyPr wrap="square" lIns="0" tIns="0" rIns="0" bIns="0" anchor="ctr" anchorCtr="1">
            <a:spAutoFit/>
          </a:bodyPr>
          <a:lstStyle/>
          <a:p>
            <a:pPr algn="l" rtl="0"/>
            <a:r>
              <a:rPr lang="en-US" altLang="zh-CN" sz="1400" b="1" dirty="0">
                <a:latin typeface="+mn-lt"/>
                <a:ea typeface="+mn-ea"/>
                <a:cs typeface="Courier New" panose="02070309020205020404" pitchFamily="49" charset="0"/>
              </a:rPr>
              <a:t>afficher</a:t>
            </a:r>
            <a:r>
              <a:rPr lang="en-US" altLang="zh-CN" sz="1400" b="1" dirty="0" err="1">
                <a:latin typeface="+mn-lt"/>
                <a:ea typeface="+mn-ea"/>
                <a:cs typeface="Courier New" panose="02070309020205020404" pitchFamily="49" charset="0"/>
              </a:rPr>
              <a:t>adresse IP</a:t>
            </a:r>
            <a:r>
              <a:rPr lang="en-US" altLang="zh-CN" sz="1400" b="1" dirty="0">
                <a:latin typeface="+mn-lt"/>
                <a:ea typeface="+mn-ea"/>
                <a:cs typeface="Courier New" panose="02070309020205020404" pitchFamily="49" charset="0"/>
              </a:rPr>
              <a:t>table de routage</a:t>
            </a:r>
            <a:endParaRPr lang="zh-CN" altLang="en-US" sz="1400" b="1" dirty="0">
              <a:latin typeface="+mn-lt"/>
              <a:ea typeface="+mn-ea"/>
              <a:cs typeface="Courier New" panose="02070309020205020404" pitchFamily="49" charset="0"/>
            </a:endParaRPr>
          </a:p>
          <a:p>
            <a:pPr algn="l" rtl="0"/>
            <a:r>
              <a:rPr lang="en-US" altLang="zh-CN" sz="1400" dirty="0">
                <a:latin typeface="+mn-lt"/>
                <a:ea typeface="+mn-ea"/>
                <a:cs typeface="Courier New" panose="02070309020205020404" pitchFamily="49" charset="0"/>
              </a:rPr>
              <a:t>Destination/Masque Proto Pré-indicateurs de coût	</a:t>
            </a:r>
            <a:r>
              <a:rPr lang="en-US" altLang="zh-CN" sz="1400" dirty="0" err="1">
                <a:latin typeface="+mn-lt"/>
                <a:ea typeface="+mn-ea"/>
                <a:cs typeface="Courier New" panose="02070309020205020404" pitchFamily="49" charset="0"/>
              </a:rPr>
              <a:t>NextHop</a:t>
            </a:r>
            <a:r>
              <a:rPr lang="en-US" altLang="zh-CN" sz="1400" dirty="0">
                <a:latin typeface="+mn-lt"/>
                <a:ea typeface="+mn-ea"/>
                <a:cs typeface="Courier New" panose="02070309020205020404" pitchFamily="49" charset="0"/>
              </a:rPr>
              <a:t>	Interface</a:t>
            </a:r>
            <a:endParaRPr lang="zh-CN" altLang="en-US" sz="1400" dirty="0">
              <a:latin typeface="+mn-lt"/>
              <a:ea typeface="+mn-ea"/>
              <a:cs typeface="Courier New" panose="02070309020205020404" pitchFamily="49" charset="0"/>
            </a:endParaRPr>
          </a:p>
          <a:p>
            <a:pPr algn="l" rtl="0"/>
            <a:r>
              <a:rPr lang="en-US" altLang="zh-CN" sz="1800" dirty="0">
                <a:solidFill>
                  <a:srgbClr val="C00000"/>
                </a:solidFill>
                <a:latin typeface="+mn-lt"/>
                <a:ea typeface="+mn-ea"/>
              </a:rPr>
              <a:t> </a:t>
            </a:r>
            <a:r>
              <a:rPr lang="en-US" altLang="zh-CN" sz="1400" dirty="0">
                <a:solidFill>
                  <a:srgbClr val="C00000"/>
                </a:solidFill>
                <a:latin typeface="+mn-lt"/>
                <a:ea typeface="+mn-ea"/>
              </a:rPr>
              <a:t>10.1.3.0/24	</a:t>
            </a:r>
            <a:r>
              <a:rPr lang="en-US" altLang="zh-CN" sz="1400" dirty="0">
                <a:latin typeface="+mn-lt"/>
                <a:ea typeface="+mn-ea"/>
                <a:cs typeface="Courier New" panose="02070309020205020404" pitchFamily="49" charset="0"/>
              </a:rPr>
              <a:t>OSPF 10 3 D	</a:t>
            </a:r>
            <a:r>
              <a:rPr lang="en-US" altLang="zh-CN" sz="1400" dirty="0">
                <a:solidFill>
                  <a:srgbClr val="C00000"/>
                </a:solidFill>
                <a:latin typeface="+mn-lt"/>
                <a:ea typeface="+mn-ea"/>
              </a:rPr>
              <a:t>12.1.1.2	</a:t>
            </a:r>
            <a:r>
              <a:rPr lang="en-US" altLang="zh-CN" sz="1400" dirty="0" err="1">
                <a:latin typeface="+mn-lt"/>
                <a:ea typeface="+mn-ea"/>
                <a:cs typeface="Courier New" panose="02070309020205020404" pitchFamily="49" charset="0"/>
              </a:rPr>
              <a:t>Gigabit Ethernet</a:t>
            </a:r>
            <a:r>
              <a:rPr lang="en-US" altLang="zh-CN" sz="1400" dirty="0">
                <a:latin typeface="+mn-lt"/>
                <a:ea typeface="+mn-ea"/>
                <a:cs typeface="Courier New" panose="02070309020205020404" pitchFamily="49" charset="0"/>
              </a:rPr>
              <a:t> 0/0/0</a:t>
            </a:r>
            <a:endParaRPr lang="zh-CN" altLang="en-US" sz="1400" dirty="0">
              <a:latin typeface="+mn-lt"/>
              <a:ea typeface="+mn-ea"/>
              <a:cs typeface="Courier New" panose="02070309020205020404" pitchFamily="49" charset="0"/>
            </a:endParaRPr>
          </a:p>
        </p:txBody>
      </p:sp>
      <p:graphicFrame>
        <p:nvGraphicFramePr>
          <p:cNvPr id="50" name="对象 49"/>
          <p:cNvGraphicFramePr>
            <a:graphicFrameLocks noChangeAspect="1"/>
          </p:cNvGraphicFramePr>
          <p:nvPr>
            <p:extLst>
              <p:ext uri="{D42A27DB-BD31-4B8C-83A1-F6EECF244321}">
                <p14:modId xmlns:p14="http://schemas.microsoft.com/office/powerpoint/2010/main" val="27182745"/>
              </p:ext>
            </p:extLst>
          </p:nvPr>
        </p:nvGraphicFramePr>
        <p:xfrm>
          <a:off x="8515557" y="4150044"/>
          <a:ext cx="1619249" cy="886437"/>
        </p:xfrm>
        <a:graphic>
          <a:graphicData uri="http://schemas.openxmlformats.org/presentationml/2006/ole">
            <mc:AlternateContent xmlns:mc="http://schemas.openxmlformats.org/markup-compatibility/2006">
              <mc:Choice xmlns:v="urn:schemas-microsoft-com:vml" Requires="v">
                <p:oleObj name="包装程序外壳对象" showAsIcon="1" r:id="rId6" imgW="914400" imgH="828720" progId="Package">
                  <p:embed/>
                </p:oleObj>
              </mc:Choice>
              <mc:Fallback>
                <p:oleObj name="包装程序外壳对象" showAsIcon="1" r:id="rId6" imgW="914400" imgH="828720" progId="Package">
                  <p:embed/>
                  <p:pic>
                    <p:nvPicPr>
                      <p:cNvPr id="0" name=""/>
                      <p:cNvPicPr/>
                      <p:nvPr/>
                    </p:nvPicPr>
                    <p:blipFill>
                      <a:blip r:embed="rId7"/>
                      <a:stretch>
                        <a:fillRect/>
                      </a:stretch>
                    </p:blipFill>
                    <p:spPr>
                      <a:xfrm>
                        <a:off x="8515557" y="4150044"/>
                        <a:ext cx="1619249" cy="886437"/>
                      </a:xfrm>
                      <a:prstGeom prst="rect">
                        <a:avLst/>
                      </a:prstGeom>
                    </p:spPr>
                  </p:pic>
                </p:oleObj>
              </mc:Fallback>
            </mc:AlternateContent>
          </a:graphicData>
        </a:graphic>
      </p:graphicFrame>
    </p:spTree>
    <p:extLst>
      <p:ext uri="{BB962C8B-B14F-4D97-AF65-F5344CB8AC3E}">
        <p14:creationId xmlns:p14="http://schemas.microsoft.com/office/powerpoint/2010/main" val="36660046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912285" y="1233488"/>
            <a:ext cx="10560048" cy="5148262"/>
          </a:xfrm>
        </p:spPr>
        <p:txBody>
          <a:bodyPr/>
          <a:lstStyle/>
          <a:p>
            <a:pPr algn="l" rtl="0"/>
            <a:r>
              <a:rPr lang="en-US" altLang="zh-CN" sz="2000" dirty="0">
                <a:sym typeface="FrutigerNext LT Regular" pitchFamily="34" charset="0"/>
              </a:rPr>
              <a:t>Le trajet du service marketing au siège social est RTA-RTB-RTD, et le trajet du service financier au siège social est RTA-RTC-RTD.</a:t>
            </a:r>
          </a:p>
          <a:p>
            <a:pPr algn="l" rtl="0"/>
            <a:endParaRPr lang="en-US" altLang="zh-CN" sz="2000" dirty="0"/>
          </a:p>
          <a:p>
            <a:pPr algn="l" rtl="0"/>
            <a:endParaRPr lang="en-US" altLang="zh-CN" sz="2000" dirty="0"/>
          </a:p>
          <a:p>
            <a:pPr marL="0" indent="0" algn="l" rtl="0">
              <a:buNone/>
            </a:pPr>
            <a:endParaRPr lang="en-US" altLang="zh-CN" sz="2000" dirty="0"/>
          </a:p>
          <a:p>
            <a:pPr marL="0" indent="0" algn="l" rtl="0">
              <a:buNone/>
            </a:pPr>
            <a:endParaRPr lang="en-US" altLang="zh-CN" sz="2000" dirty="0"/>
          </a:p>
          <a:p>
            <a:pPr marL="0" indent="0" algn="l" rtl="0">
              <a:buNone/>
            </a:pPr>
            <a:endParaRPr lang="en-US" altLang="zh-CN" sz="2000" dirty="0"/>
          </a:p>
          <a:p>
            <a:pPr algn="l" rtl="0"/>
            <a:r>
              <a:rPr lang="en-US" altLang="zh-CN" sz="1800" dirty="0"/>
              <a:t>Comme le montre la figure, la solution 1 ne peut satisfaire aux exigences car les paquets sont acheminés en fonction de l'adresse de destination. Elle ne répond donc pas aux exigences d'acheminement basé sur l'adresse source, l'adresse de destination ou la couche application.</a:t>
            </a:r>
            <a:endParaRPr lang="zh-CN" altLang="en-US" sz="1800" dirty="0"/>
          </a:p>
        </p:txBody>
      </p:sp>
      <p:sp>
        <p:nvSpPr>
          <p:cNvPr id="5" name="文本占位符 4"/>
          <p:cNvSpPr>
            <a:spLocks noGrp="1"/>
          </p:cNvSpPr>
          <p:nvPr>
            <p:ph type="body" sz="quarter" idx="12"/>
          </p:nvPr>
        </p:nvSpPr>
        <p:spPr/>
        <p:txBody>
          <a:bodyPr/>
          <a:lstStyle/>
          <a:p>
            <a:pPr algn="l" rtl="0"/>
            <a:r>
              <a:rPr lang="en-US" altLang="zh-CN"/>
              <a:t>Limite de la solution 1</a:t>
            </a:r>
            <a:endParaRPr lang="zh-CN" altLang="en-US" dirty="0"/>
          </a:p>
        </p:txBody>
      </p:sp>
      <p:grpSp>
        <p:nvGrpSpPr>
          <p:cNvPr id="8" name="组合 7"/>
          <p:cNvGrpSpPr/>
          <p:nvPr/>
        </p:nvGrpSpPr>
        <p:grpSpPr>
          <a:xfrm>
            <a:off x="2319555" y="2646363"/>
            <a:ext cx="7770435" cy="2273131"/>
            <a:chOff x="2319555" y="2646363"/>
            <a:chExt cx="7770435" cy="2273131"/>
          </a:xfrm>
        </p:grpSpPr>
        <p:cxnSp>
          <p:nvCxnSpPr>
            <p:cNvPr id="44034" name="直接连接符 10"/>
            <p:cNvCxnSpPr>
              <a:cxnSpLocks noChangeShapeType="1"/>
            </p:cNvCxnSpPr>
            <p:nvPr/>
          </p:nvCxnSpPr>
          <p:spPr bwMode="auto">
            <a:xfrm>
              <a:off x="6356351" y="2840038"/>
              <a:ext cx="1103313" cy="908050"/>
            </a:xfrm>
            <a:prstGeom prst="line">
              <a:avLst/>
            </a:prstGeom>
            <a:noFill/>
            <a:ln w="28575" algn="ctr">
              <a:solidFill>
                <a:schemeClr val="tx1"/>
              </a:solidFill>
              <a:round/>
              <a:headEnd/>
              <a:tailEnd/>
            </a:ln>
          </p:spPr>
        </p:cxnSp>
        <p:cxnSp>
          <p:nvCxnSpPr>
            <p:cNvPr id="9" name="直接连接符 8"/>
            <p:cNvCxnSpPr>
              <a:cxnSpLocks noChangeAspect="1"/>
            </p:cNvCxnSpPr>
            <p:nvPr/>
          </p:nvCxnSpPr>
          <p:spPr bwMode="auto">
            <a:xfrm rot="60000" flipV="1">
              <a:off x="5305425" y="2932113"/>
              <a:ext cx="884238" cy="717550"/>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直接连接符 41"/>
            <p:cNvCxnSpPr>
              <a:cxnSpLocks noChangeAspect="1"/>
            </p:cNvCxnSpPr>
            <p:nvPr/>
          </p:nvCxnSpPr>
          <p:spPr bwMode="auto">
            <a:xfrm rot="17520000">
              <a:off x="6303963" y="3709988"/>
              <a:ext cx="1260475" cy="869950"/>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4040" name="文本框 44"/>
            <p:cNvSpPr txBox="1">
              <a:spLocks noChangeArrowheads="1"/>
            </p:cNvSpPr>
            <p:nvPr/>
          </p:nvSpPr>
          <p:spPr bwMode="auto">
            <a:xfrm>
              <a:off x="6426201" y="4589463"/>
              <a:ext cx="773113" cy="31591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RTC</a:t>
              </a:r>
            </a:p>
          </p:txBody>
        </p:sp>
        <p:sp>
          <p:nvSpPr>
            <p:cNvPr id="44042" name="文本框 45"/>
            <p:cNvSpPr txBox="1">
              <a:spLocks noChangeArrowheads="1"/>
            </p:cNvSpPr>
            <p:nvPr/>
          </p:nvSpPr>
          <p:spPr bwMode="auto">
            <a:xfrm>
              <a:off x="6402388" y="2646363"/>
              <a:ext cx="773112" cy="31591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RTB</a:t>
              </a:r>
            </a:p>
          </p:txBody>
        </p:sp>
        <p:sp>
          <p:nvSpPr>
            <p:cNvPr id="40" name="圆角矩形 39"/>
            <p:cNvSpPr/>
            <p:nvPr/>
          </p:nvSpPr>
          <p:spPr bwMode="auto">
            <a:xfrm>
              <a:off x="2459597" y="3814763"/>
              <a:ext cx="1786967" cy="90805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宋体" pitchFamily="2" charset="-122"/>
              </a:endParaRPr>
            </a:p>
          </p:txBody>
        </p:sp>
        <p:sp>
          <p:nvSpPr>
            <p:cNvPr id="38" name="圆角矩形 37"/>
            <p:cNvSpPr/>
            <p:nvPr/>
          </p:nvSpPr>
          <p:spPr bwMode="auto">
            <a:xfrm>
              <a:off x="2459597" y="2774951"/>
              <a:ext cx="1782204" cy="906463"/>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宋体" pitchFamily="2" charset="-122"/>
              </a:endParaRPr>
            </a:p>
          </p:txBody>
        </p:sp>
        <p:sp>
          <p:nvSpPr>
            <p:cNvPr id="37" name="圆角矩形 36"/>
            <p:cNvSpPr/>
            <p:nvPr/>
          </p:nvSpPr>
          <p:spPr bwMode="auto">
            <a:xfrm>
              <a:off x="8366126" y="3213101"/>
              <a:ext cx="1617663" cy="96837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宋体" pitchFamily="2" charset="-122"/>
              </a:endParaRPr>
            </a:p>
          </p:txBody>
        </p:sp>
        <p:cxnSp>
          <p:nvCxnSpPr>
            <p:cNvPr id="44046" name="直接连接符 7"/>
            <p:cNvCxnSpPr>
              <a:cxnSpLocks noChangeShapeType="1"/>
            </p:cNvCxnSpPr>
            <p:nvPr/>
          </p:nvCxnSpPr>
          <p:spPr bwMode="auto">
            <a:xfrm flipH="1" flipV="1">
              <a:off x="3603625" y="3205163"/>
              <a:ext cx="1676400" cy="595312"/>
            </a:xfrm>
            <a:prstGeom prst="line">
              <a:avLst/>
            </a:prstGeom>
            <a:noFill/>
            <a:ln w="28575" algn="ctr">
              <a:solidFill>
                <a:schemeClr val="tx1"/>
              </a:solidFill>
              <a:round/>
              <a:headEnd/>
              <a:tailEnd/>
            </a:ln>
          </p:spPr>
        </p:cxnSp>
        <p:cxnSp>
          <p:nvCxnSpPr>
            <p:cNvPr id="44047" name="直接连接符 9"/>
            <p:cNvCxnSpPr>
              <a:cxnSpLocks noChangeShapeType="1"/>
            </p:cNvCxnSpPr>
            <p:nvPr/>
          </p:nvCxnSpPr>
          <p:spPr bwMode="auto">
            <a:xfrm flipH="1">
              <a:off x="3714750" y="3751264"/>
              <a:ext cx="1392238" cy="528637"/>
            </a:xfrm>
            <a:prstGeom prst="line">
              <a:avLst/>
            </a:prstGeom>
            <a:noFill/>
            <a:ln w="28575" algn="ctr">
              <a:solidFill>
                <a:schemeClr val="tx1"/>
              </a:solidFill>
              <a:round/>
              <a:headEnd/>
              <a:tailEnd/>
            </a:ln>
          </p:spPr>
        </p:cxnSp>
        <p:cxnSp>
          <p:nvCxnSpPr>
            <p:cNvPr id="44048" name="直接连接符 11"/>
            <p:cNvCxnSpPr>
              <a:cxnSpLocks noChangeShapeType="1"/>
            </p:cNvCxnSpPr>
            <p:nvPr/>
          </p:nvCxnSpPr>
          <p:spPr bwMode="auto">
            <a:xfrm flipV="1">
              <a:off x="7415214" y="3784600"/>
              <a:ext cx="1304925" cy="0"/>
            </a:xfrm>
            <a:prstGeom prst="line">
              <a:avLst/>
            </a:prstGeom>
            <a:noFill/>
            <a:ln w="28575" algn="ctr">
              <a:solidFill>
                <a:schemeClr val="tx1"/>
              </a:solidFill>
              <a:round/>
              <a:headEnd/>
              <a:tailEnd/>
            </a:ln>
          </p:spPr>
        </p:cxnSp>
        <p:sp>
          <p:nvSpPr>
            <p:cNvPr id="44049" name="矩形 12"/>
            <p:cNvSpPr>
              <a:spLocks noChangeArrowheads="1"/>
            </p:cNvSpPr>
            <p:nvPr/>
          </p:nvSpPr>
          <p:spPr bwMode="auto">
            <a:xfrm>
              <a:off x="2319555" y="3943493"/>
              <a:ext cx="1212413" cy="600164"/>
            </a:xfrm>
            <a:prstGeom prst="rect">
              <a:avLst/>
            </a:prstGeom>
            <a:noFill/>
            <a:ln w="9525">
              <a:noFill/>
              <a:miter lim="800000"/>
              <a:headEnd/>
              <a:tailEnd/>
            </a:ln>
          </p:spPr>
          <p:txBody>
            <a:bodyPr wrap="square">
              <a:spAutoFit/>
            </a:bodyPr>
            <a:lstStyle/>
            <a:p>
              <a:pPr algn="ctr" rtl="0" eaLnBrk="0" fontAlgn="t" hangingPunct="0">
                <a:buSzPct val="100000"/>
              </a:pPr>
              <a:r>
                <a:rPr lang="en-US" altLang="zh-CN" sz="1100" b="1" dirty="0">
                  <a:solidFill>
                    <a:srgbClr val="000000"/>
                  </a:solidFill>
                  <a:latin typeface="+mn-lt"/>
                  <a:ea typeface="华文细黑" pitchFamily="2" charset="-122"/>
                  <a:sym typeface="FrutigerNext LT Regular" pitchFamily="34" charset="0"/>
                </a:rPr>
                <a:t>département financier</a:t>
              </a:r>
            </a:p>
            <a:p>
              <a:pPr algn="ctr" rtl="0" eaLnBrk="0" fontAlgn="t" hangingPunct="0">
                <a:buSzPct val="100000"/>
              </a:pPr>
              <a:r>
                <a:rPr lang="en-US" altLang="zh-CN" sz="1100" b="1" dirty="0">
                  <a:solidFill>
                    <a:srgbClr val="000000"/>
                  </a:solidFill>
                  <a:latin typeface="+mn-lt"/>
                  <a:ea typeface="华文细黑" pitchFamily="2" charset="-122"/>
                  <a:sym typeface="FrutigerNext LT Regular" pitchFamily="34" charset="0"/>
                </a:rPr>
                <a:t>10 personnes</a:t>
              </a:r>
            </a:p>
          </p:txBody>
        </p:sp>
        <p:sp>
          <p:nvSpPr>
            <p:cNvPr id="44050" name="矩形 13"/>
            <p:cNvSpPr>
              <a:spLocks noChangeArrowheads="1"/>
            </p:cNvSpPr>
            <p:nvPr/>
          </p:nvSpPr>
          <p:spPr bwMode="auto">
            <a:xfrm>
              <a:off x="8940316" y="3273425"/>
              <a:ext cx="1149674" cy="261610"/>
            </a:xfrm>
            <a:prstGeom prst="rect">
              <a:avLst/>
            </a:prstGeom>
            <a:noFill/>
            <a:ln w="9525">
              <a:noFill/>
              <a:miter lim="800000"/>
              <a:headEnd/>
              <a:tailEnd/>
            </a:ln>
          </p:spPr>
          <p:txBody>
            <a:bodyPr wrap="none">
              <a:spAutoFit/>
            </a:bodyPr>
            <a:lstStyle/>
            <a:p>
              <a:pPr algn="l" rtl="0" eaLnBrk="0" fontAlgn="t" hangingPunct="0">
                <a:buSzPct val="100000"/>
              </a:pPr>
              <a:r>
                <a:rPr lang="en-US" altLang="zh-CN" sz="1100" b="1" dirty="0">
                  <a:solidFill>
                    <a:srgbClr val="000000"/>
                  </a:solidFill>
                  <a:latin typeface="+mn-lt"/>
                  <a:ea typeface="华文细黑" pitchFamily="2" charset="-122"/>
                  <a:sym typeface="FrutigerNext LT Regular" pitchFamily="34" charset="0"/>
                </a:rPr>
                <a:t>Quartier général</a:t>
              </a:r>
            </a:p>
          </p:txBody>
        </p:sp>
        <p:sp>
          <p:nvSpPr>
            <p:cNvPr id="44051" name="文本框 14"/>
            <p:cNvSpPr txBox="1">
              <a:spLocks noChangeArrowheads="1"/>
            </p:cNvSpPr>
            <p:nvPr/>
          </p:nvSpPr>
          <p:spPr bwMode="auto">
            <a:xfrm>
              <a:off x="5843588" y="3636963"/>
              <a:ext cx="793750" cy="34766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600" b="1" dirty="0">
                  <a:solidFill>
                    <a:srgbClr val="C00000"/>
                  </a:solidFill>
                  <a:latin typeface="+mn-lt"/>
                  <a:ea typeface="华文细黑" pitchFamily="2" charset="-122"/>
                  <a:cs typeface="Arial" charset="0"/>
                  <a:sym typeface="FrutigerNext LT Regular" pitchFamily="34" charset="0"/>
                </a:rPr>
                <a:t>OSPF</a:t>
              </a:r>
            </a:p>
          </p:txBody>
        </p:sp>
        <p:sp>
          <p:nvSpPr>
            <p:cNvPr id="44052" name="文本框 15"/>
            <p:cNvSpPr txBox="1">
              <a:spLocks noChangeArrowheads="1"/>
            </p:cNvSpPr>
            <p:nvPr/>
          </p:nvSpPr>
          <p:spPr bwMode="auto">
            <a:xfrm>
              <a:off x="2351585" y="2928232"/>
              <a:ext cx="1152525" cy="608780"/>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b="1" dirty="0">
                  <a:solidFill>
                    <a:srgbClr val="000000"/>
                  </a:solidFill>
                  <a:latin typeface="+mn-lt"/>
                  <a:ea typeface="华文细黑" pitchFamily="2" charset="-122"/>
                  <a:cs typeface="Arial" charset="0"/>
                  <a:sym typeface="FrutigerNext LT Regular" pitchFamily="34" charset="0"/>
                </a:rPr>
                <a:t>département marketing</a:t>
              </a:r>
            </a:p>
            <a:p>
              <a:pPr algn="ctr" defTabSz="1000125" rtl="0" eaLnBrk="0" hangingPunct="0">
                <a:buSzPct val="100000"/>
              </a:pPr>
              <a:r>
                <a:rPr lang="en-US" altLang="zh-CN" sz="1100" b="1" dirty="0">
                  <a:solidFill>
                    <a:srgbClr val="000000"/>
                  </a:solidFill>
                  <a:latin typeface="+mn-lt"/>
                  <a:ea typeface="华文细黑" pitchFamily="2" charset="-122"/>
                  <a:cs typeface="Arial" charset="0"/>
                  <a:sym typeface="FrutigerNext LT Regular" pitchFamily="34" charset="0"/>
                </a:rPr>
                <a:t>20 personnes</a:t>
              </a:r>
            </a:p>
          </p:txBody>
        </p:sp>
        <p:sp>
          <p:nvSpPr>
            <p:cNvPr id="44056" name="文本框 28"/>
            <p:cNvSpPr txBox="1">
              <a:spLocks noChangeArrowheads="1"/>
            </p:cNvSpPr>
            <p:nvPr/>
          </p:nvSpPr>
          <p:spPr bwMode="auto">
            <a:xfrm>
              <a:off x="5365750" y="3225801"/>
              <a:ext cx="979488" cy="239713"/>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10M</a:t>
              </a:r>
            </a:p>
          </p:txBody>
        </p:sp>
        <p:sp>
          <p:nvSpPr>
            <p:cNvPr id="44057" name="文本框 29"/>
            <p:cNvSpPr txBox="1">
              <a:spLocks noChangeArrowheads="1"/>
            </p:cNvSpPr>
            <p:nvPr/>
          </p:nvSpPr>
          <p:spPr bwMode="auto">
            <a:xfrm>
              <a:off x="6235701" y="3227389"/>
              <a:ext cx="1001713" cy="2381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10M</a:t>
              </a:r>
            </a:p>
          </p:txBody>
        </p:sp>
        <p:sp>
          <p:nvSpPr>
            <p:cNvPr id="44058" name="文本框 30"/>
            <p:cNvSpPr txBox="1">
              <a:spLocks noChangeArrowheads="1"/>
            </p:cNvSpPr>
            <p:nvPr/>
          </p:nvSpPr>
          <p:spPr bwMode="auto">
            <a:xfrm>
              <a:off x="6164264" y="3973513"/>
              <a:ext cx="1150937" cy="23971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10M</a:t>
              </a:r>
            </a:p>
          </p:txBody>
        </p:sp>
        <p:sp>
          <p:nvSpPr>
            <p:cNvPr id="44059" name="文本框 31"/>
            <p:cNvSpPr txBox="1">
              <a:spLocks noChangeArrowheads="1"/>
            </p:cNvSpPr>
            <p:nvPr/>
          </p:nvSpPr>
          <p:spPr bwMode="auto">
            <a:xfrm>
              <a:off x="5335588" y="3973513"/>
              <a:ext cx="1060450" cy="23971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5M</a:t>
              </a:r>
            </a:p>
          </p:txBody>
        </p:sp>
        <p:cxnSp>
          <p:nvCxnSpPr>
            <p:cNvPr id="39" name="直接连接符 38"/>
            <p:cNvCxnSpPr>
              <a:cxnSpLocks noChangeAspect="1"/>
            </p:cNvCxnSpPr>
            <p:nvPr/>
          </p:nvCxnSpPr>
          <p:spPr bwMode="auto">
            <a:xfrm rot="180000">
              <a:off x="5297489" y="3851276"/>
              <a:ext cx="998537" cy="663575"/>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4063" name="文本框 43"/>
            <p:cNvSpPr txBox="1">
              <a:spLocks noChangeArrowheads="1"/>
            </p:cNvSpPr>
            <p:nvPr/>
          </p:nvSpPr>
          <p:spPr bwMode="auto">
            <a:xfrm>
              <a:off x="7185026" y="4038600"/>
              <a:ext cx="773113" cy="317500"/>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RTD</a:t>
              </a:r>
            </a:p>
          </p:txBody>
        </p:sp>
        <p:sp>
          <p:nvSpPr>
            <p:cNvPr id="44064" name="文本框 46"/>
            <p:cNvSpPr txBox="1">
              <a:spLocks noChangeArrowheads="1"/>
            </p:cNvSpPr>
            <p:nvPr/>
          </p:nvSpPr>
          <p:spPr bwMode="auto">
            <a:xfrm>
              <a:off x="4727576" y="4041776"/>
              <a:ext cx="773113" cy="315913"/>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RTA</a:t>
              </a:r>
            </a:p>
          </p:txBody>
        </p:sp>
        <p:pic>
          <p:nvPicPr>
            <p:cNvPr id="41" name="图片 4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372405" y="4105460"/>
              <a:ext cx="540000" cy="442800"/>
            </a:xfrm>
            <a:prstGeom prst="rect">
              <a:avLst/>
            </a:prstGeom>
          </p:spPr>
        </p:pic>
        <p:pic>
          <p:nvPicPr>
            <p:cNvPr id="43" name="图片 4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948303" y="3573312"/>
              <a:ext cx="540000" cy="442800"/>
            </a:xfrm>
            <a:prstGeom prst="rect">
              <a:avLst/>
            </a:prstGeom>
          </p:spPr>
        </p:pic>
        <p:pic>
          <p:nvPicPr>
            <p:cNvPr id="4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931553" y="2646363"/>
              <a:ext cx="628652" cy="514351"/>
            </a:xfrm>
            <a:prstGeom prst="rect">
              <a:avLst/>
            </a:prstGeom>
            <a:noFill/>
          </p:spPr>
        </p:pic>
        <p:pic>
          <p:nvPicPr>
            <p:cNvPr id="45"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931553" y="4405143"/>
              <a:ext cx="628652" cy="514351"/>
            </a:xfrm>
            <a:prstGeom prst="rect">
              <a:avLst/>
            </a:prstGeom>
            <a:noFill/>
          </p:spPr>
        </p:pic>
        <p:pic>
          <p:nvPicPr>
            <p:cNvPr id="46"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131219" y="3525309"/>
              <a:ext cx="628652" cy="514351"/>
            </a:xfrm>
            <a:prstGeom prst="rect">
              <a:avLst/>
            </a:prstGeom>
            <a:noFill/>
          </p:spPr>
        </p:pic>
        <p:pic>
          <p:nvPicPr>
            <p:cNvPr id="4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830627" y="3507267"/>
              <a:ext cx="628652" cy="514351"/>
            </a:xfrm>
            <a:prstGeom prst="rect">
              <a:avLst/>
            </a:prstGeom>
            <a:noFill/>
          </p:spPr>
        </p:pic>
        <p:pic>
          <p:nvPicPr>
            <p:cNvPr id="48" name="图片 47" descr="市场部.png"/>
            <p:cNvPicPr>
              <a:picLocks noChangeAspect="1"/>
            </p:cNvPicPr>
            <p:nvPr/>
          </p:nvPicPr>
          <p:blipFill>
            <a:blip r:embed="rId5" cstate="print"/>
            <a:stretch>
              <a:fillRect/>
            </a:stretch>
          </p:blipFill>
          <p:spPr>
            <a:xfrm>
              <a:off x="3362050" y="2961358"/>
              <a:ext cx="540000" cy="441818"/>
            </a:xfrm>
            <a:prstGeom prst="rect">
              <a:avLst/>
            </a:prstGeom>
          </p:spPr>
        </p:pic>
        <p:sp>
          <p:nvSpPr>
            <p:cNvPr id="44066" name="任意多边形 40"/>
            <p:cNvSpPr>
              <a:spLocks/>
            </p:cNvSpPr>
            <p:nvPr/>
          </p:nvSpPr>
          <p:spPr bwMode="auto">
            <a:xfrm>
              <a:off x="3937001" y="2755900"/>
              <a:ext cx="4894263" cy="979488"/>
            </a:xfrm>
            <a:custGeom>
              <a:avLst/>
              <a:gdLst>
                <a:gd name="T0" fmla="*/ 0 w 6087808"/>
                <a:gd name="T1" fmla="*/ 526123 h 863137"/>
                <a:gd name="T2" fmla="*/ 973358 w 6087808"/>
                <a:gd name="T3" fmla="*/ 919120 h 863137"/>
                <a:gd name="T4" fmla="*/ 1752440 w 6087808"/>
                <a:gd name="T5" fmla="*/ 78477 h 863137"/>
                <a:gd name="T6" fmla="*/ 2015026 w 6087808"/>
                <a:gd name="T7" fmla="*/ 95320 h 863137"/>
                <a:gd name="T8" fmla="*/ 2732974 w 6087808"/>
                <a:gd name="T9" fmla="*/ 864275 h 863137"/>
                <a:gd name="T10" fmla="*/ 3081683 w 6087808"/>
                <a:gd name="T11" fmla="*/ 1110740 h 863137"/>
                <a:gd name="T12" fmla="*/ 3935575 w 6087808"/>
                <a:gd name="T13" fmla="*/ 1100071 h 863137"/>
                <a:gd name="T14" fmla="*/ 0 60000 65536"/>
                <a:gd name="T15" fmla="*/ 0 60000 65536"/>
                <a:gd name="T16" fmla="*/ 0 60000 65536"/>
                <a:gd name="T17" fmla="*/ 0 60000 65536"/>
                <a:gd name="T18" fmla="*/ 0 60000 65536"/>
                <a:gd name="T19" fmla="*/ 0 60000 65536"/>
                <a:gd name="T20" fmla="*/ 0 60000 65536"/>
                <a:gd name="T21" fmla="*/ 0 w 6087808"/>
                <a:gd name="T22" fmla="*/ 0 h 863137"/>
                <a:gd name="T23" fmla="*/ 6087808 w 6087808"/>
                <a:gd name="T24" fmla="*/ 863137 h 8631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87808" h="863137">
                  <a:moveTo>
                    <a:pt x="0" y="408841"/>
                  </a:moveTo>
                  <a:cubicBezTo>
                    <a:pt x="651593" y="615458"/>
                    <a:pt x="1053856" y="772208"/>
                    <a:pt x="1505654" y="714232"/>
                  </a:cubicBezTo>
                  <a:cubicBezTo>
                    <a:pt x="1957452" y="656256"/>
                    <a:pt x="2442236" y="167677"/>
                    <a:pt x="2710790" y="60983"/>
                  </a:cubicBezTo>
                  <a:cubicBezTo>
                    <a:pt x="2979344" y="-45711"/>
                    <a:pt x="2972770" y="6535"/>
                    <a:pt x="3116976" y="74071"/>
                  </a:cubicBezTo>
                  <a:cubicBezTo>
                    <a:pt x="3319004" y="152595"/>
                    <a:pt x="3922790" y="498019"/>
                    <a:pt x="4227547" y="671613"/>
                  </a:cubicBezTo>
                  <a:cubicBezTo>
                    <a:pt x="4492906" y="805402"/>
                    <a:pt x="4460123" y="793875"/>
                    <a:pt x="4766954" y="863137"/>
                  </a:cubicBezTo>
                  <a:cubicBezTo>
                    <a:pt x="5425676" y="846706"/>
                    <a:pt x="5564004" y="843943"/>
                    <a:pt x="6087808" y="854846"/>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dirty="0">
                <a:solidFill>
                  <a:srgbClr val="C00000"/>
                </a:solidFill>
                <a:latin typeface="+mn-lt"/>
              </a:endParaRPr>
            </a:p>
          </p:txBody>
        </p:sp>
        <p:sp>
          <p:nvSpPr>
            <p:cNvPr id="44067" name="任意多边形 48"/>
            <p:cNvSpPr>
              <a:spLocks/>
            </p:cNvSpPr>
            <p:nvPr/>
          </p:nvSpPr>
          <p:spPr bwMode="auto">
            <a:xfrm>
              <a:off x="3995738" y="3879850"/>
              <a:ext cx="4849812" cy="679450"/>
            </a:xfrm>
            <a:custGeom>
              <a:avLst/>
              <a:gdLst>
                <a:gd name="T0" fmla="*/ 0 w 6030952"/>
                <a:gd name="T1" fmla="*/ 409345 h 599852"/>
                <a:gd name="T2" fmla="*/ 936846 w 6030952"/>
                <a:gd name="T3" fmla="*/ 24808 h 599852"/>
                <a:gd name="T4" fmla="*/ 1789660 w 6030952"/>
                <a:gd name="T5" fmla="*/ 756593 h 599852"/>
                <a:gd name="T6" fmla="*/ 2334188 w 6030952"/>
                <a:gd name="T7" fmla="*/ 445419 h 599852"/>
                <a:gd name="T8" fmla="*/ 2954280 w 6030952"/>
                <a:gd name="T9" fmla="*/ 4594 h 599852"/>
                <a:gd name="T10" fmla="*/ 3293924 w 6030952"/>
                <a:gd name="T11" fmla="*/ 7585 h 599852"/>
                <a:gd name="T12" fmla="*/ 3597208 w 6030952"/>
                <a:gd name="T13" fmla="*/ 26190 h 599852"/>
                <a:gd name="T14" fmla="*/ 3899830 w 6030952"/>
                <a:gd name="T15" fmla="*/ 50065 h 599852"/>
                <a:gd name="T16" fmla="*/ 0 60000 65536"/>
                <a:gd name="T17" fmla="*/ 0 60000 65536"/>
                <a:gd name="T18" fmla="*/ 0 60000 65536"/>
                <a:gd name="T19" fmla="*/ 0 60000 65536"/>
                <a:gd name="T20" fmla="*/ 0 60000 65536"/>
                <a:gd name="T21" fmla="*/ 0 60000 65536"/>
                <a:gd name="T22" fmla="*/ 0 60000 65536"/>
                <a:gd name="T23" fmla="*/ 0 60000 65536"/>
                <a:gd name="T24" fmla="*/ 0 w 6030952"/>
                <a:gd name="T25" fmla="*/ 0 h 599852"/>
                <a:gd name="T26" fmla="*/ 6030952 w 6030952"/>
                <a:gd name="T27" fmla="*/ 599852 h 5998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030952" h="599852">
                  <a:moveTo>
                    <a:pt x="0" y="318685"/>
                  </a:moveTo>
                  <a:cubicBezTo>
                    <a:pt x="916927" y="108689"/>
                    <a:pt x="987524" y="-25743"/>
                    <a:pt x="1448799" y="19314"/>
                  </a:cubicBezTo>
                  <a:cubicBezTo>
                    <a:pt x="1910074" y="64371"/>
                    <a:pt x="2407491" y="534451"/>
                    <a:pt x="2767648" y="589027"/>
                  </a:cubicBezTo>
                  <a:cubicBezTo>
                    <a:pt x="3127805" y="643603"/>
                    <a:pt x="3257058" y="480820"/>
                    <a:pt x="3609740" y="346770"/>
                  </a:cubicBezTo>
                  <a:cubicBezTo>
                    <a:pt x="4171864" y="49000"/>
                    <a:pt x="4017555" y="98766"/>
                    <a:pt x="4568693" y="3577"/>
                  </a:cubicBezTo>
                  <a:cubicBezTo>
                    <a:pt x="4831855" y="522"/>
                    <a:pt x="4966134" y="-3617"/>
                    <a:pt x="5093940" y="5905"/>
                  </a:cubicBezTo>
                  <a:lnTo>
                    <a:pt x="5562956" y="20390"/>
                  </a:lnTo>
                  <a:cubicBezTo>
                    <a:pt x="6221678" y="3959"/>
                    <a:pt x="5507148" y="28074"/>
                    <a:pt x="6030952" y="38977"/>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dirty="0">
                <a:latin typeface="+mn-lt"/>
              </a:endParaRPr>
            </a:p>
          </p:txBody>
        </p:sp>
      </p:grpSp>
    </p:spTree>
    <p:extLst>
      <p:ext uri="{BB962C8B-B14F-4D97-AF65-F5344CB8AC3E}">
        <p14:creationId xmlns:p14="http://schemas.microsoft.com/office/powerpoint/2010/main" val="3829012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文本占位符 3"/>
          <p:cNvSpPr>
            <a:spLocks noGrp="1"/>
          </p:cNvSpPr>
          <p:nvPr>
            <p:ph type="body" sz="quarter" idx="10"/>
          </p:nvPr>
        </p:nvSpPr>
        <p:spPr/>
        <p:txBody>
          <a:bodyPr/>
          <a:lstStyle/>
          <a:p>
            <a:pPr algn="l" rtl="0"/>
            <a:r>
              <a:rPr lang="en-US" altLang="zh-CN" dirty="0">
                <a:solidFill>
                  <a:schemeClr val="bg1">
                    <a:lumMod val="50000"/>
                  </a:schemeClr>
                </a:solidFill>
                <a:sym typeface="FrutigerNext LT Regular" pitchFamily="34" charset="0"/>
              </a:rPr>
              <a:t>Exigence de contrôle du comportement de la circulation</a:t>
            </a:r>
          </a:p>
          <a:p>
            <a:pPr algn="l" rtl="0"/>
            <a:r>
              <a:rPr lang="en-US" altLang="zh-CN" dirty="0">
                <a:solidFill>
                  <a:schemeClr val="bg1">
                    <a:lumMod val="50000"/>
                  </a:schemeClr>
                </a:solidFill>
                <a:sym typeface="FrutigerNext LT Regular" pitchFamily="34" charset="0"/>
              </a:rPr>
              <a:t>Portée du contrôle</a:t>
            </a:r>
          </a:p>
          <a:p>
            <a:pPr algn="l" rtl="0"/>
            <a:r>
              <a:rPr lang="en-US" altLang="zh-CN" b="1" dirty="0">
                <a:sym typeface="FrutigerNext LT Regular" pitchFamily="34" charset="0"/>
              </a:rPr>
              <a:t>Ajuster le chemin du trafic réseau</a:t>
            </a:r>
          </a:p>
          <a:p>
            <a:pPr lvl="1" algn="l" rtl="0"/>
            <a:r>
              <a:rPr lang="en-US" altLang="zh-CN" dirty="0">
                <a:solidFill>
                  <a:schemeClr val="bg1">
                    <a:lumMod val="50000"/>
                  </a:schemeClr>
                </a:solidFill>
                <a:sym typeface="FrutigerNext LT Regular" pitchFamily="34" charset="0"/>
              </a:rPr>
              <a:t>Politique de routage</a:t>
            </a:r>
          </a:p>
          <a:p>
            <a:pPr lvl="1" algn="l" rtl="0">
              <a:buSzPct val="60000"/>
              <a:buFont typeface="Wingdings" panose="05000000000000000000" pitchFamily="2" charset="2"/>
              <a:buChar char="n"/>
            </a:pPr>
            <a:r>
              <a:rPr lang="en-US" altLang="zh-CN" dirty="0">
                <a:sym typeface="FrutigerNext LT Regular" pitchFamily="34" charset="0"/>
              </a:rPr>
              <a:t>Routage basé sur des politiques</a:t>
            </a:r>
          </a:p>
          <a:p>
            <a:pPr algn="l" rtl="0"/>
            <a:r>
              <a:rPr lang="en-US" altLang="zh-CN" dirty="0">
                <a:solidFill>
                  <a:schemeClr val="bg1">
                    <a:lumMod val="50000"/>
                  </a:schemeClr>
                </a:solidFill>
                <a:sym typeface="FrutigerNext LT Regular" pitchFamily="34" charset="0"/>
              </a:rPr>
              <a:t>Problèmes liés à l'importation d'itinéraires et solutions</a:t>
            </a:r>
          </a:p>
        </p:txBody>
      </p:sp>
    </p:spTree>
    <p:extLst>
      <p:ext uri="{BB962C8B-B14F-4D97-AF65-F5344CB8AC3E}">
        <p14:creationId xmlns:p14="http://schemas.microsoft.com/office/powerpoint/2010/main" val="34847094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2"/>
          </p:nvPr>
        </p:nvSpPr>
        <p:spPr/>
        <p:txBody>
          <a:bodyPr/>
          <a:lstStyle/>
          <a:p>
            <a:pPr algn="l" rtl="0"/>
            <a:r>
              <a:rPr lang="en-US" altLang="zh-CN" dirty="0"/>
              <a:t>Solution 2 : Routage basé sur des politiques (1)</a:t>
            </a:r>
            <a:endParaRPr lang="zh-CN" altLang="en-US" dirty="0"/>
          </a:p>
        </p:txBody>
      </p:sp>
      <p:sp>
        <p:nvSpPr>
          <p:cNvPr id="80" name="文本占位符 2"/>
          <p:cNvSpPr txBox="1">
            <a:spLocks/>
          </p:cNvSpPr>
          <p:nvPr/>
        </p:nvSpPr>
        <p:spPr bwMode="auto">
          <a:xfrm>
            <a:off x="2216151" y="4810126"/>
            <a:ext cx="7115175" cy="1355725"/>
          </a:xfrm>
          <a:prstGeom prst="rect">
            <a:avLst/>
          </a:prstGeom>
          <a:noFill/>
          <a:ln w="9525">
            <a:noFill/>
            <a:miter lim="800000"/>
            <a:headEnd/>
            <a:tailEnd/>
          </a:ln>
        </p:spPr>
        <p:txBody>
          <a:bodyPr/>
          <a:lstStyle/>
          <a:p>
            <a:pPr marL="360363" indent="-360363" algn="l" defTabSz="801688" rtl="0" eaLnBrk="0" hangingPunct="0">
              <a:lnSpc>
                <a:spcPct val="140000"/>
              </a:lnSpc>
              <a:spcBef>
                <a:spcPct val="30000"/>
              </a:spcBef>
              <a:buClr>
                <a:srgbClr val="808080"/>
              </a:buClr>
              <a:buSzPct val="60000"/>
              <a:buFont typeface="Wingdings" pitchFamily="2" charset="2"/>
              <a:buChar char="l"/>
            </a:pPr>
            <a:r>
              <a:rPr lang="en-US" altLang="zh-CN" sz="1800" dirty="0">
                <a:solidFill>
                  <a:srgbClr val="000000"/>
                </a:solidFill>
                <a:latin typeface="+mn-lt"/>
                <a:ea typeface="华文细黑" pitchFamily="2" charset="-122"/>
                <a:sym typeface="FrutigerNext LT Regular" pitchFamily="34" charset="0"/>
              </a:rPr>
              <a:t>Le routage basé sur des politiques est mis en œuvre à l'aide de politiques de trafic :</a:t>
            </a:r>
          </a:p>
          <a:p>
            <a:pPr marL="646112" lvl="1" indent="-285750" algn="l" defTabSz="801688" rtl="0" eaLnBrk="0" hangingPunct="0">
              <a:lnSpc>
                <a:spcPct val="140000"/>
              </a:lnSpc>
              <a:spcBef>
                <a:spcPct val="30000"/>
              </a:spcBef>
              <a:buClr>
                <a:schemeClr val="bg1">
                  <a:lumMod val="50000"/>
                </a:schemeClr>
              </a:buClr>
              <a:buSzPct val="60000"/>
              <a:buFont typeface="Wingdings" panose="05000000000000000000" pitchFamily="2" charset="2"/>
              <a:buChar char="p"/>
            </a:pPr>
            <a:r>
              <a:rPr lang="en-US" altLang="zh-CN" sz="1600" dirty="0">
                <a:solidFill>
                  <a:srgbClr val="000000"/>
                </a:solidFill>
                <a:latin typeface="+mn-lt"/>
                <a:ea typeface="华文细黑" pitchFamily="2" charset="-122"/>
                <a:sym typeface="FrutigerNext LT Regular" pitchFamily="34" charset="0"/>
              </a:rPr>
              <a:t>Utilisez les ACL pour faire correspondre le trafic ;</a:t>
            </a:r>
          </a:p>
          <a:p>
            <a:pPr marL="628650" lvl="1" indent="-268288" algn="l" defTabSz="801688" rtl="0" eaLnBrk="0" hangingPunct="0">
              <a:lnSpc>
                <a:spcPct val="140000"/>
              </a:lnSpc>
              <a:spcBef>
                <a:spcPct val="30000"/>
              </a:spcBef>
              <a:buClr>
                <a:schemeClr val="bg1">
                  <a:lumMod val="50000"/>
                </a:schemeClr>
              </a:buClr>
              <a:buSzPct val="60000"/>
              <a:buFont typeface="Wingdings" pitchFamily="2" charset="2"/>
              <a:buChar char="p"/>
            </a:pPr>
            <a:r>
              <a:rPr lang="en-US" altLang="zh-CN" sz="1600" dirty="0">
                <a:solidFill>
                  <a:srgbClr val="000000"/>
                </a:solidFill>
                <a:latin typeface="+mn-lt"/>
                <a:ea typeface="华文细黑" pitchFamily="2" charset="-122"/>
                <a:sym typeface="FrutigerNext LT Regular" pitchFamily="34" charset="0"/>
              </a:rPr>
              <a:t>Définir le comportement du trafic, par exemple, modifier le prochain saut.</a:t>
            </a:r>
          </a:p>
        </p:txBody>
      </p:sp>
      <p:grpSp>
        <p:nvGrpSpPr>
          <p:cNvPr id="7" name="组合 6"/>
          <p:cNvGrpSpPr/>
          <p:nvPr/>
        </p:nvGrpSpPr>
        <p:grpSpPr>
          <a:xfrm>
            <a:off x="2219353" y="1611982"/>
            <a:ext cx="7656486" cy="3198143"/>
            <a:chOff x="2219353" y="1611982"/>
            <a:chExt cx="7656486" cy="3198143"/>
          </a:xfrm>
        </p:grpSpPr>
        <p:cxnSp>
          <p:nvCxnSpPr>
            <p:cNvPr id="46082" name="直接连接符 76"/>
            <p:cNvCxnSpPr>
              <a:cxnSpLocks noChangeShapeType="1"/>
            </p:cNvCxnSpPr>
            <p:nvPr/>
          </p:nvCxnSpPr>
          <p:spPr bwMode="auto">
            <a:xfrm>
              <a:off x="6248401" y="2744789"/>
              <a:ext cx="1103313" cy="909637"/>
            </a:xfrm>
            <a:prstGeom prst="line">
              <a:avLst/>
            </a:prstGeom>
            <a:noFill/>
            <a:ln w="28575" algn="ctr">
              <a:solidFill>
                <a:schemeClr val="tx1"/>
              </a:solidFill>
              <a:round/>
              <a:headEnd/>
              <a:tailEnd/>
            </a:ln>
          </p:spPr>
        </p:cxnSp>
        <p:cxnSp>
          <p:nvCxnSpPr>
            <p:cNvPr id="69" name="直接连接符 68"/>
            <p:cNvCxnSpPr>
              <a:cxnSpLocks noChangeAspect="1"/>
            </p:cNvCxnSpPr>
            <p:nvPr/>
          </p:nvCxnSpPr>
          <p:spPr bwMode="auto">
            <a:xfrm rot="60000" flipV="1">
              <a:off x="5197475" y="2836864"/>
              <a:ext cx="884238" cy="719137"/>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1" name="AutoShape 21"/>
            <p:cNvSpPr>
              <a:spLocks noChangeArrowheads="1"/>
            </p:cNvSpPr>
            <p:nvPr/>
          </p:nvSpPr>
          <p:spPr bwMode="auto">
            <a:xfrm>
              <a:off x="3049589" y="1611982"/>
              <a:ext cx="5098639" cy="758157"/>
            </a:xfrm>
            <a:prstGeom prst="wedgeRectCallout">
              <a:avLst>
                <a:gd name="adj1" fmla="val -10528"/>
                <a:gd name="adj2" fmla="val 222759"/>
              </a:avLst>
            </a:prstGeom>
            <a:noFill/>
            <a:ln w="3175" algn="ctr">
              <a:solidFill>
                <a:srgbClr val="999999"/>
              </a:solidFill>
              <a:miter lim="800000"/>
              <a:headEnd/>
              <a:tailEnd/>
            </a:ln>
          </p:spPr>
          <p:txBody>
            <a:bodyPr lIns="0" tIns="0" rIns="0" bIns="0" anchor="ctr" anchorCtr="1"/>
            <a:lstStyle/>
            <a:p>
              <a:pPr algn="l" rtl="0" eaLnBrk="0" fontAlgn="t" hangingPunct="0">
                <a:buSzPct val="100000"/>
              </a:pPr>
              <a:r>
                <a:rPr lang="en-US" altLang="zh-CN" sz="1400" dirty="0">
                  <a:solidFill>
                    <a:srgbClr val="000000"/>
                  </a:solidFill>
                  <a:latin typeface="+mn-lt"/>
                  <a:ea typeface="华文细黑" pitchFamily="2" charset="-122"/>
                  <a:sym typeface="FrutigerNext LT Regular" pitchFamily="34" charset="0"/>
                </a:rPr>
                <a:t>Le routage est basé sur l'adresse source. Ainsi, le prochain saut pour le trafic provenant du service marketing est RTB et le prochain saut pour le trafic provenant du service financier est RTC.</a:t>
              </a:r>
            </a:p>
          </p:txBody>
        </p:sp>
        <p:cxnSp>
          <p:nvCxnSpPr>
            <p:cNvPr id="46" name="直接连接符 45"/>
            <p:cNvCxnSpPr>
              <a:cxnSpLocks noChangeAspect="1"/>
            </p:cNvCxnSpPr>
            <p:nvPr/>
          </p:nvCxnSpPr>
          <p:spPr bwMode="auto">
            <a:xfrm rot="17520000">
              <a:off x="6196807" y="3615532"/>
              <a:ext cx="1258887" cy="869950"/>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6088" name="文本框 46"/>
            <p:cNvSpPr txBox="1">
              <a:spLocks noChangeArrowheads="1"/>
            </p:cNvSpPr>
            <p:nvPr/>
          </p:nvSpPr>
          <p:spPr bwMode="auto">
            <a:xfrm>
              <a:off x="6318251" y="4494213"/>
              <a:ext cx="771525" cy="31591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RTC</a:t>
              </a:r>
            </a:p>
          </p:txBody>
        </p:sp>
        <p:sp>
          <p:nvSpPr>
            <p:cNvPr id="46090" name="文本框 58"/>
            <p:cNvSpPr txBox="1">
              <a:spLocks noChangeArrowheads="1"/>
            </p:cNvSpPr>
            <p:nvPr/>
          </p:nvSpPr>
          <p:spPr bwMode="auto">
            <a:xfrm>
              <a:off x="6294438" y="2551113"/>
              <a:ext cx="773112" cy="31591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RTB</a:t>
              </a:r>
            </a:p>
          </p:txBody>
        </p:sp>
        <p:sp>
          <p:nvSpPr>
            <p:cNvPr id="72" name="圆角矩形 71"/>
            <p:cNvSpPr/>
            <p:nvPr/>
          </p:nvSpPr>
          <p:spPr bwMode="auto">
            <a:xfrm>
              <a:off x="2387589" y="3719513"/>
              <a:ext cx="1751025" cy="90805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宋体" pitchFamily="2" charset="-122"/>
              </a:endParaRPr>
            </a:p>
          </p:txBody>
        </p:sp>
        <p:sp>
          <p:nvSpPr>
            <p:cNvPr id="73" name="圆角矩形 72"/>
            <p:cNvSpPr/>
            <p:nvPr/>
          </p:nvSpPr>
          <p:spPr bwMode="auto">
            <a:xfrm>
              <a:off x="2387589" y="2679700"/>
              <a:ext cx="1746262" cy="908050"/>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宋体" pitchFamily="2" charset="-122"/>
              </a:endParaRPr>
            </a:p>
          </p:txBody>
        </p:sp>
        <p:sp>
          <p:nvSpPr>
            <p:cNvPr id="74" name="圆角矩形 73"/>
            <p:cNvSpPr/>
            <p:nvPr/>
          </p:nvSpPr>
          <p:spPr bwMode="auto">
            <a:xfrm>
              <a:off x="8258176" y="3117851"/>
              <a:ext cx="1617663" cy="96837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dirty="0">
                <a:latin typeface="+mn-lt"/>
                <a:ea typeface="宋体" pitchFamily="2" charset="-122"/>
              </a:endParaRPr>
            </a:p>
          </p:txBody>
        </p:sp>
        <p:cxnSp>
          <p:nvCxnSpPr>
            <p:cNvPr id="46094" name="直接连接符 74"/>
            <p:cNvCxnSpPr>
              <a:cxnSpLocks noChangeShapeType="1"/>
            </p:cNvCxnSpPr>
            <p:nvPr/>
          </p:nvCxnSpPr>
          <p:spPr bwMode="auto">
            <a:xfrm flipH="1" flipV="1">
              <a:off x="3495675" y="3109913"/>
              <a:ext cx="1676400" cy="595312"/>
            </a:xfrm>
            <a:prstGeom prst="line">
              <a:avLst/>
            </a:prstGeom>
            <a:noFill/>
            <a:ln w="28575" algn="ctr">
              <a:solidFill>
                <a:schemeClr val="tx1"/>
              </a:solidFill>
              <a:round/>
              <a:headEnd/>
              <a:tailEnd/>
            </a:ln>
          </p:spPr>
        </p:cxnSp>
        <p:cxnSp>
          <p:nvCxnSpPr>
            <p:cNvPr id="46095" name="直接连接符 75"/>
            <p:cNvCxnSpPr>
              <a:cxnSpLocks noChangeShapeType="1"/>
            </p:cNvCxnSpPr>
            <p:nvPr/>
          </p:nvCxnSpPr>
          <p:spPr bwMode="auto">
            <a:xfrm flipH="1">
              <a:off x="3606800" y="3657600"/>
              <a:ext cx="1392238" cy="527050"/>
            </a:xfrm>
            <a:prstGeom prst="line">
              <a:avLst/>
            </a:prstGeom>
            <a:noFill/>
            <a:ln w="28575" algn="ctr">
              <a:solidFill>
                <a:schemeClr val="tx1"/>
              </a:solidFill>
              <a:round/>
              <a:headEnd/>
              <a:tailEnd/>
            </a:ln>
          </p:spPr>
        </p:cxnSp>
        <p:cxnSp>
          <p:nvCxnSpPr>
            <p:cNvPr id="46096" name="直接连接符 77"/>
            <p:cNvCxnSpPr>
              <a:cxnSpLocks noChangeShapeType="1"/>
            </p:cNvCxnSpPr>
            <p:nvPr/>
          </p:nvCxnSpPr>
          <p:spPr bwMode="auto">
            <a:xfrm flipV="1">
              <a:off x="7307264" y="3689350"/>
              <a:ext cx="1304925" cy="0"/>
            </a:xfrm>
            <a:prstGeom prst="line">
              <a:avLst/>
            </a:prstGeom>
            <a:noFill/>
            <a:ln w="28575" algn="ctr">
              <a:solidFill>
                <a:schemeClr val="tx1"/>
              </a:solidFill>
              <a:round/>
              <a:headEnd/>
              <a:tailEnd/>
            </a:ln>
          </p:spPr>
        </p:cxnSp>
        <p:sp>
          <p:nvSpPr>
            <p:cNvPr id="46097" name="矩形 78"/>
            <p:cNvSpPr>
              <a:spLocks noChangeArrowheads="1"/>
            </p:cNvSpPr>
            <p:nvPr/>
          </p:nvSpPr>
          <p:spPr bwMode="auto">
            <a:xfrm>
              <a:off x="2219353" y="3872952"/>
              <a:ext cx="1140343" cy="553998"/>
            </a:xfrm>
            <a:prstGeom prst="rect">
              <a:avLst/>
            </a:prstGeom>
            <a:noFill/>
            <a:ln w="9525">
              <a:noFill/>
              <a:miter lim="800000"/>
              <a:headEnd/>
              <a:tailEnd/>
            </a:ln>
          </p:spPr>
          <p:txBody>
            <a:bodyPr wrap="square">
              <a:spAutoFit/>
            </a:bodyPr>
            <a:lstStyle/>
            <a:p>
              <a:pPr algn="ctr" rtl="0" eaLnBrk="0" fontAlgn="t" hangingPunct="0">
                <a:buSzPct val="100000"/>
              </a:pPr>
              <a:r>
                <a:rPr lang="en-US" altLang="zh-CN" b="1" dirty="0">
                  <a:solidFill>
                    <a:srgbClr val="000000"/>
                  </a:solidFill>
                  <a:latin typeface="+mn-lt"/>
                  <a:ea typeface="华文细黑" pitchFamily="2" charset="-122"/>
                  <a:sym typeface="FrutigerNext LT Regular" pitchFamily="34" charset="0"/>
                </a:rPr>
                <a:t>département financier</a:t>
              </a:r>
            </a:p>
            <a:p>
              <a:pPr algn="ctr" rtl="0" eaLnBrk="0" fontAlgn="t" hangingPunct="0">
                <a:buSzPct val="100000"/>
              </a:pPr>
              <a:r>
                <a:rPr lang="en-US" altLang="zh-CN" b="1" dirty="0">
                  <a:solidFill>
                    <a:srgbClr val="000000"/>
                  </a:solidFill>
                  <a:latin typeface="+mn-lt"/>
                  <a:ea typeface="华文细黑" pitchFamily="2" charset="-122"/>
                  <a:sym typeface="FrutigerNext LT Regular" pitchFamily="34" charset="0"/>
                </a:rPr>
                <a:t>10 personnes</a:t>
              </a:r>
            </a:p>
          </p:txBody>
        </p:sp>
        <p:sp>
          <p:nvSpPr>
            <p:cNvPr id="46098" name="矩形 80"/>
            <p:cNvSpPr>
              <a:spLocks noChangeArrowheads="1"/>
            </p:cNvSpPr>
            <p:nvPr/>
          </p:nvSpPr>
          <p:spPr bwMode="auto">
            <a:xfrm>
              <a:off x="8724292" y="3140968"/>
              <a:ext cx="1149674" cy="261610"/>
            </a:xfrm>
            <a:prstGeom prst="rect">
              <a:avLst/>
            </a:prstGeom>
            <a:noFill/>
            <a:ln w="9525">
              <a:noFill/>
              <a:miter lim="800000"/>
              <a:headEnd/>
              <a:tailEnd/>
            </a:ln>
          </p:spPr>
          <p:txBody>
            <a:bodyPr wrap="none">
              <a:spAutoFit/>
            </a:bodyPr>
            <a:lstStyle/>
            <a:p>
              <a:pPr algn="l" rtl="0" eaLnBrk="0" fontAlgn="t" hangingPunct="0">
                <a:buSzPct val="100000"/>
              </a:pPr>
              <a:r>
                <a:rPr lang="en-US" altLang="zh-CN" sz="1100" b="1" dirty="0">
                  <a:solidFill>
                    <a:srgbClr val="000000"/>
                  </a:solidFill>
                  <a:latin typeface="+mn-lt"/>
                  <a:ea typeface="华文细黑" pitchFamily="2" charset="-122"/>
                  <a:sym typeface="FrutigerNext LT Regular" pitchFamily="34" charset="0"/>
                </a:rPr>
                <a:t>Quartier général</a:t>
              </a:r>
            </a:p>
          </p:txBody>
        </p:sp>
        <p:sp>
          <p:nvSpPr>
            <p:cNvPr id="46099" name="文本框 81"/>
            <p:cNvSpPr txBox="1">
              <a:spLocks noChangeArrowheads="1"/>
            </p:cNvSpPr>
            <p:nvPr/>
          </p:nvSpPr>
          <p:spPr bwMode="auto">
            <a:xfrm>
              <a:off x="5735638" y="3541713"/>
              <a:ext cx="793750" cy="34766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600" b="1" dirty="0">
                  <a:solidFill>
                    <a:srgbClr val="C00000"/>
                  </a:solidFill>
                  <a:latin typeface="+mn-lt"/>
                  <a:ea typeface="华文细黑" pitchFamily="2" charset="-122"/>
                  <a:cs typeface="Arial" charset="0"/>
                  <a:sym typeface="FrutigerNext LT Regular" pitchFamily="34" charset="0"/>
                </a:rPr>
                <a:t>OSPF</a:t>
              </a:r>
            </a:p>
          </p:txBody>
        </p:sp>
        <p:sp>
          <p:nvSpPr>
            <p:cNvPr id="46100" name="文本框 82"/>
            <p:cNvSpPr txBox="1">
              <a:spLocks noChangeArrowheads="1"/>
            </p:cNvSpPr>
            <p:nvPr/>
          </p:nvSpPr>
          <p:spPr bwMode="auto">
            <a:xfrm>
              <a:off x="2279577" y="2820220"/>
              <a:ext cx="1152525" cy="608780"/>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100" b="1" dirty="0">
                  <a:solidFill>
                    <a:srgbClr val="000000"/>
                  </a:solidFill>
                  <a:latin typeface="+mn-lt"/>
                  <a:ea typeface="华文细黑" pitchFamily="2" charset="-122"/>
                  <a:cs typeface="Arial" charset="0"/>
                  <a:sym typeface="FrutigerNext LT Regular" pitchFamily="34" charset="0"/>
                </a:rPr>
                <a:t>département marketing</a:t>
              </a:r>
            </a:p>
            <a:p>
              <a:pPr algn="ctr" defTabSz="1000125" rtl="0" eaLnBrk="0" hangingPunct="0">
                <a:buSzPct val="100000"/>
              </a:pPr>
              <a:r>
                <a:rPr lang="en-US" altLang="zh-CN" sz="1100" b="1" dirty="0">
                  <a:solidFill>
                    <a:srgbClr val="000000"/>
                  </a:solidFill>
                  <a:latin typeface="+mn-lt"/>
                  <a:ea typeface="华文细黑" pitchFamily="2" charset="-122"/>
                  <a:cs typeface="Arial" charset="0"/>
                  <a:sym typeface="FrutigerNext LT Regular" pitchFamily="34" charset="0"/>
                </a:rPr>
                <a:t>20 personnes</a:t>
              </a:r>
            </a:p>
          </p:txBody>
        </p:sp>
        <p:sp>
          <p:nvSpPr>
            <p:cNvPr id="46104" name="文本框 86"/>
            <p:cNvSpPr txBox="1">
              <a:spLocks noChangeArrowheads="1"/>
            </p:cNvSpPr>
            <p:nvPr/>
          </p:nvSpPr>
          <p:spPr bwMode="auto">
            <a:xfrm>
              <a:off x="5256214" y="3130551"/>
              <a:ext cx="981075" cy="239713"/>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10M</a:t>
              </a:r>
            </a:p>
          </p:txBody>
        </p:sp>
        <p:sp>
          <p:nvSpPr>
            <p:cNvPr id="46105" name="文本框 87"/>
            <p:cNvSpPr txBox="1">
              <a:spLocks noChangeArrowheads="1"/>
            </p:cNvSpPr>
            <p:nvPr/>
          </p:nvSpPr>
          <p:spPr bwMode="auto">
            <a:xfrm>
              <a:off x="6127751" y="3132138"/>
              <a:ext cx="1001713" cy="23971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10M</a:t>
              </a:r>
            </a:p>
          </p:txBody>
        </p:sp>
        <p:sp>
          <p:nvSpPr>
            <p:cNvPr id="46106" name="文本框 88"/>
            <p:cNvSpPr txBox="1">
              <a:spLocks noChangeArrowheads="1"/>
            </p:cNvSpPr>
            <p:nvPr/>
          </p:nvSpPr>
          <p:spPr bwMode="auto">
            <a:xfrm>
              <a:off x="6056314" y="3879851"/>
              <a:ext cx="1150937" cy="2381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10M</a:t>
              </a:r>
            </a:p>
          </p:txBody>
        </p:sp>
        <p:sp>
          <p:nvSpPr>
            <p:cNvPr id="46107" name="文本框 89"/>
            <p:cNvSpPr txBox="1">
              <a:spLocks noChangeArrowheads="1"/>
            </p:cNvSpPr>
            <p:nvPr/>
          </p:nvSpPr>
          <p:spPr bwMode="auto">
            <a:xfrm>
              <a:off x="5227638" y="3879851"/>
              <a:ext cx="1060450" cy="238125"/>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5M</a:t>
              </a:r>
            </a:p>
          </p:txBody>
        </p:sp>
        <p:cxnSp>
          <p:nvCxnSpPr>
            <p:cNvPr id="91" name="直接连接符 90"/>
            <p:cNvCxnSpPr>
              <a:cxnSpLocks noChangeAspect="1"/>
            </p:cNvCxnSpPr>
            <p:nvPr/>
          </p:nvCxnSpPr>
          <p:spPr bwMode="auto">
            <a:xfrm rot="180000">
              <a:off x="5189539" y="3756026"/>
              <a:ext cx="998537" cy="663575"/>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6111" name="文本框 93"/>
            <p:cNvSpPr txBox="1">
              <a:spLocks noChangeArrowheads="1"/>
            </p:cNvSpPr>
            <p:nvPr/>
          </p:nvSpPr>
          <p:spPr bwMode="auto">
            <a:xfrm>
              <a:off x="7077076" y="3944938"/>
              <a:ext cx="773113" cy="315912"/>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RTD</a:t>
              </a:r>
            </a:p>
          </p:txBody>
        </p:sp>
        <p:sp>
          <p:nvSpPr>
            <p:cNvPr id="46112" name="文本框 94"/>
            <p:cNvSpPr txBox="1">
              <a:spLocks noChangeArrowheads="1"/>
            </p:cNvSpPr>
            <p:nvPr/>
          </p:nvSpPr>
          <p:spPr bwMode="auto">
            <a:xfrm>
              <a:off x="4619626" y="3946526"/>
              <a:ext cx="771525" cy="315913"/>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400" b="1" dirty="0">
                  <a:solidFill>
                    <a:srgbClr val="000000"/>
                  </a:solidFill>
                  <a:latin typeface="+mn-lt"/>
                  <a:ea typeface="华文细黑" pitchFamily="2" charset="-122"/>
                  <a:cs typeface="Arial" charset="0"/>
                  <a:sym typeface="FrutigerNext LT Regular" pitchFamily="34" charset="0"/>
                </a:rPr>
                <a:t>RTA</a:t>
              </a:r>
            </a:p>
          </p:txBody>
        </p:sp>
        <p:sp>
          <p:nvSpPr>
            <p:cNvPr id="46116" name="文本框 4"/>
            <p:cNvSpPr txBox="1">
              <a:spLocks noChangeArrowheads="1"/>
            </p:cNvSpPr>
            <p:nvPr/>
          </p:nvSpPr>
          <p:spPr bwMode="auto">
            <a:xfrm rot="1002396">
              <a:off x="3890963" y="3451226"/>
              <a:ext cx="1223962" cy="239713"/>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G0/0/2</a:t>
              </a:r>
            </a:p>
          </p:txBody>
        </p:sp>
        <p:sp>
          <p:nvSpPr>
            <p:cNvPr id="46117" name="文本框 98"/>
            <p:cNvSpPr txBox="1">
              <a:spLocks noChangeArrowheads="1"/>
            </p:cNvSpPr>
            <p:nvPr/>
          </p:nvSpPr>
          <p:spPr bwMode="auto">
            <a:xfrm rot="-1189032">
              <a:off x="3967163" y="3889376"/>
              <a:ext cx="1223962" cy="239713"/>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900" dirty="0">
                  <a:solidFill>
                    <a:srgbClr val="000000"/>
                  </a:solidFill>
                  <a:latin typeface="+mn-lt"/>
                  <a:ea typeface="华文细黑" pitchFamily="2" charset="-122"/>
                  <a:cs typeface="Arial" charset="0"/>
                  <a:sym typeface="FrutigerNext LT Regular" pitchFamily="34" charset="0"/>
                </a:rPr>
                <a:t>G4/0/0</a:t>
              </a:r>
            </a:p>
          </p:txBody>
        </p:sp>
        <p:sp>
          <p:nvSpPr>
            <p:cNvPr id="46118" name="文本框 37"/>
            <p:cNvSpPr txBox="1">
              <a:spLocks noChangeArrowheads="1"/>
            </p:cNvSpPr>
            <p:nvPr/>
          </p:nvSpPr>
          <p:spPr bwMode="auto">
            <a:xfrm rot="-2220000">
              <a:off x="4689475" y="3024564"/>
              <a:ext cx="1473200" cy="254837"/>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dirty="0">
                  <a:solidFill>
                    <a:srgbClr val="000000"/>
                  </a:solidFill>
                  <a:latin typeface="+mn-lt"/>
                  <a:ea typeface="华文细黑" pitchFamily="2" charset="-122"/>
                  <a:cs typeface="Arial" charset="0"/>
                  <a:sym typeface="FrutigerNext LT Regular" pitchFamily="34" charset="0"/>
                </a:rPr>
                <a:t>12.1.1.0</a:t>
              </a:r>
            </a:p>
          </p:txBody>
        </p:sp>
        <p:sp>
          <p:nvSpPr>
            <p:cNvPr id="46119" name="文本框 38"/>
            <p:cNvSpPr txBox="1">
              <a:spLocks noChangeArrowheads="1"/>
            </p:cNvSpPr>
            <p:nvPr/>
          </p:nvSpPr>
          <p:spPr bwMode="auto">
            <a:xfrm rot="2520000">
              <a:off x="6235700" y="2958683"/>
              <a:ext cx="1473200" cy="254837"/>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dirty="0">
                  <a:solidFill>
                    <a:srgbClr val="000000"/>
                  </a:solidFill>
                  <a:latin typeface="+mn-lt"/>
                  <a:ea typeface="华文细黑" pitchFamily="2" charset="-122"/>
                  <a:cs typeface="Arial" charset="0"/>
                  <a:sym typeface="FrutigerNext LT Regular" pitchFamily="34" charset="0"/>
                </a:rPr>
                <a:t>12.1.2.0</a:t>
              </a:r>
            </a:p>
          </p:txBody>
        </p:sp>
        <p:sp>
          <p:nvSpPr>
            <p:cNvPr id="46120" name="文本框 39"/>
            <p:cNvSpPr txBox="1">
              <a:spLocks noChangeArrowheads="1"/>
            </p:cNvSpPr>
            <p:nvPr/>
          </p:nvSpPr>
          <p:spPr bwMode="auto">
            <a:xfrm rot="2160000">
              <a:off x="4775200" y="4122320"/>
              <a:ext cx="1473200" cy="254837"/>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dirty="0">
                  <a:solidFill>
                    <a:srgbClr val="000000"/>
                  </a:solidFill>
                  <a:latin typeface="+mn-lt"/>
                  <a:ea typeface="华文细黑" pitchFamily="2" charset="-122"/>
                  <a:cs typeface="Arial" charset="0"/>
                  <a:sym typeface="FrutigerNext LT Regular" pitchFamily="34" charset="0"/>
                </a:rPr>
                <a:t>12.1.3.0</a:t>
              </a:r>
            </a:p>
          </p:txBody>
        </p:sp>
        <p:sp>
          <p:nvSpPr>
            <p:cNvPr id="46121" name="文本框 40"/>
            <p:cNvSpPr txBox="1">
              <a:spLocks noChangeArrowheads="1"/>
            </p:cNvSpPr>
            <p:nvPr/>
          </p:nvSpPr>
          <p:spPr bwMode="auto">
            <a:xfrm rot="-2137503">
              <a:off x="6159500" y="4127083"/>
              <a:ext cx="1473200" cy="254837"/>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dirty="0">
                  <a:solidFill>
                    <a:srgbClr val="000000"/>
                  </a:solidFill>
                  <a:latin typeface="+mn-lt"/>
                  <a:ea typeface="华文细黑" pitchFamily="2" charset="-122"/>
                  <a:cs typeface="Arial" charset="0"/>
                  <a:sym typeface="FrutigerNext LT Regular" pitchFamily="34" charset="0"/>
                </a:rPr>
                <a:t>12.1.4.0</a:t>
              </a:r>
            </a:p>
          </p:txBody>
        </p:sp>
        <p:sp>
          <p:nvSpPr>
            <p:cNvPr id="46122" name="文本框 41"/>
            <p:cNvSpPr txBox="1">
              <a:spLocks noChangeArrowheads="1"/>
            </p:cNvSpPr>
            <p:nvPr/>
          </p:nvSpPr>
          <p:spPr bwMode="auto">
            <a:xfrm rot="1516141">
              <a:off x="3825876" y="3132139"/>
              <a:ext cx="1198563" cy="261937"/>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dirty="0">
                  <a:solidFill>
                    <a:srgbClr val="000000"/>
                  </a:solidFill>
                  <a:latin typeface="+mn-lt"/>
                  <a:ea typeface="华文细黑" pitchFamily="2" charset="-122"/>
                  <a:cs typeface="Arial" charset="0"/>
                  <a:sym typeface="FrutigerNext LT Regular" pitchFamily="34" charset="0"/>
                </a:rPr>
                <a:t>10.1.1.0</a:t>
              </a:r>
            </a:p>
          </p:txBody>
        </p:sp>
        <p:sp>
          <p:nvSpPr>
            <p:cNvPr id="46123" name="文本框 42"/>
            <p:cNvSpPr txBox="1">
              <a:spLocks noChangeArrowheads="1"/>
            </p:cNvSpPr>
            <p:nvPr/>
          </p:nvSpPr>
          <p:spPr bwMode="auto">
            <a:xfrm rot="-1213741">
              <a:off x="3541713" y="3712745"/>
              <a:ext cx="1471612" cy="254837"/>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dirty="0">
                  <a:solidFill>
                    <a:srgbClr val="000000"/>
                  </a:solidFill>
                  <a:latin typeface="+mn-lt"/>
                  <a:ea typeface="华文细黑" pitchFamily="2" charset="-122"/>
                  <a:cs typeface="Arial" charset="0"/>
                  <a:sym typeface="FrutigerNext LT Regular" pitchFamily="34" charset="0"/>
                </a:rPr>
                <a:t>10.1.2.0</a:t>
              </a:r>
            </a:p>
          </p:txBody>
        </p:sp>
        <p:sp>
          <p:nvSpPr>
            <p:cNvPr id="46124" name="文本框 43"/>
            <p:cNvSpPr txBox="1">
              <a:spLocks noChangeArrowheads="1"/>
            </p:cNvSpPr>
            <p:nvPr/>
          </p:nvSpPr>
          <p:spPr bwMode="auto">
            <a:xfrm>
              <a:off x="7359650" y="3806826"/>
              <a:ext cx="1473200" cy="254837"/>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dirty="0">
                  <a:solidFill>
                    <a:srgbClr val="000000"/>
                  </a:solidFill>
                  <a:latin typeface="+mn-lt"/>
                  <a:ea typeface="华文细黑" pitchFamily="2" charset="-122"/>
                  <a:cs typeface="Arial" charset="0"/>
                  <a:sym typeface="FrutigerNext LT Regular" pitchFamily="34" charset="0"/>
                </a:rPr>
                <a:t>10.1.3.0</a:t>
              </a:r>
            </a:p>
          </p:txBody>
        </p:sp>
        <p:pic>
          <p:nvPicPr>
            <p:cNvPr id="50" name="图片 4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236377" y="3945651"/>
              <a:ext cx="540000" cy="442800"/>
            </a:xfrm>
            <a:prstGeom prst="rect">
              <a:avLst/>
            </a:prstGeom>
          </p:spPr>
        </p:pic>
        <p:pic>
          <p:nvPicPr>
            <p:cNvPr id="51" name="图片 5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812275" y="3413503"/>
              <a:ext cx="540000" cy="442800"/>
            </a:xfrm>
            <a:prstGeom prst="rect">
              <a:avLst/>
            </a:prstGeom>
          </p:spPr>
        </p:pic>
        <p:pic>
          <p:nvPicPr>
            <p:cNvPr id="5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795525" y="2486554"/>
              <a:ext cx="628652" cy="514351"/>
            </a:xfrm>
            <a:prstGeom prst="rect">
              <a:avLst/>
            </a:prstGeom>
            <a:noFill/>
          </p:spPr>
        </p:pic>
        <p:pic>
          <p:nvPicPr>
            <p:cNvPr id="5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795525" y="4245334"/>
              <a:ext cx="628652" cy="514351"/>
            </a:xfrm>
            <a:prstGeom prst="rect">
              <a:avLst/>
            </a:prstGeom>
            <a:noFill/>
          </p:spPr>
        </p:pic>
        <p:pic>
          <p:nvPicPr>
            <p:cNvPr id="5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6995191" y="3365500"/>
              <a:ext cx="628652" cy="514351"/>
            </a:xfrm>
            <a:prstGeom prst="rect">
              <a:avLst/>
            </a:prstGeom>
            <a:noFill/>
          </p:spPr>
        </p:pic>
        <p:pic>
          <p:nvPicPr>
            <p:cNvPr id="55"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694599" y="3347458"/>
              <a:ext cx="628652" cy="514351"/>
            </a:xfrm>
            <a:prstGeom prst="rect">
              <a:avLst/>
            </a:prstGeom>
            <a:noFill/>
          </p:spPr>
        </p:pic>
        <p:pic>
          <p:nvPicPr>
            <p:cNvPr id="56" name="图片 55" descr="市场部.png"/>
            <p:cNvPicPr>
              <a:picLocks noChangeAspect="1"/>
            </p:cNvPicPr>
            <p:nvPr/>
          </p:nvPicPr>
          <p:blipFill>
            <a:blip r:embed="rId5" cstate="print"/>
            <a:stretch>
              <a:fillRect/>
            </a:stretch>
          </p:blipFill>
          <p:spPr>
            <a:xfrm>
              <a:off x="3278205" y="2852742"/>
              <a:ext cx="540000" cy="441818"/>
            </a:xfrm>
            <a:prstGeom prst="rect">
              <a:avLst/>
            </a:prstGeom>
          </p:spPr>
        </p:pic>
        <p:sp>
          <p:nvSpPr>
            <p:cNvPr id="46114" name="任意多边形 96"/>
            <p:cNvSpPr>
              <a:spLocks/>
            </p:cNvSpPr>
            <p:nvPr/>
          </p:nvSpPr>
          <p:spPr bwMode="auto">
            <a:xfrm>
              <a:off x="3829051" y="2660650"/>
              <a:ext cx="4894263" cy="979488"/>
            </a:xfrm>
            <a:custGeom>
              <a:avLst/>
              <a:gdLst>
                <a:gd name="T0" fmla="*/ 0 w 6087808"/>
                <a:gd name="T1" fmla="*/ 526123 h 863137"/>
                <a:gd name="T2" fmla="*/ 973358 w 6087808"/>
                <a:gd name="T3" fmla="*/ 919120 h 863137"/>
                <a:gd name="T4" fmla="*/ 1752440 w 6087808"/>
                <a:gd name="T5" fmla="*/ 78477 h 863137"/>
                <a:gd name="T6" fmla="*/ 2015026 w 6087808"/>
                <a:gd name="T7" fmla="*/ 95320 h 863137"/>
                <a:gd name="T8" fmla="*/ 2732974 w 6087808"/>
                <a:gd name="T9" fmla="*/ 864275 h 863137"/>
                <a:gd name="T10" fmla="*/ 3081683 w 6087808"/>
                <a:gd name="T11" fmla="*/ 1110740 h 863137"/>
                <a:gd name="T12" fmla="*/ 3935575 w 6087808"/>
                <a:gd name="T13" fmla="*/ 1100071 h 863137"/>
                <a:gd name="T14" fmla="*/ 0 60000 65536"/>
                <a:gd name="T15" fmla="*/ 0 60000 65536"/>
                <a:gd name="T16" fmla="*/ 0 60000 65536"/>
                <a:gd name="T17" fmla="*/ 0 60000 65536"/>
                <a:gd name="T18" fmla="*/ 0 60000 65536"/>
                <a:gd name="T19" fmla="*/ 0 60000 65536"/>
                <a:gd name="T20" fmla="*/ 0 60000 65536"/>
                <a:gd name="T21" fmla="*/ 0 w 6087808"/>
                <a:gd name="T22" fmla="*/ 0 h 863137"/>
                <a:gd name="T23" fmla="*/ 6087808 w 6087808"/>
                <a:gd name="T24" fmla="*/ 863137 h 8631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87808" h="863137">
                  <a:moveTo>
                    <a:pt x="0" y="408841"/>
                  </a:moveTo>
                  <a:cubicBezTo>
                    <a:pt x="651593" y="615458"/>
                    <a:pt x="1053856" y="772208"/>
                    <a:pt x="1505654" y="714232"/>
                  </a:cubicBezTo>
                  <a:cubicBezTo>
                    <a:pt x="1957452" y="656256"/>
                    <a:pt x="2442236" y="167677"/>
                    <a:pt x="2710790" y="60983"/>
                  </a:cubicBezTo>
                  <a:cubicBezTo>
                    <a:pt x="2979344" y="-45711"/>
                    <a:pt x="2972770" y="6535"/>
                    <a:pt x="3116976" y="74071"/>
                  </a:cubicBezTo>
                  <a:cubicBezTo>
                    <a:pt x="3319004" y="152595"/>
                    <a:pt x="3922790" y="498019"/>
                    <a:pt x="4227547" y="671613"/>
                  </a:cubicBezTo>
                  <a:cubicBezTo>
                    <a:pt x="4492906" y="805402"/>
                    <a:pt x="4460123" y="793875"/>
                    <a:pt x="4766954" y="863137"/>
                  </a:cubicBezTo>
                  <a:cubicBezTo>
                    <a:pt x="5425676" y="846706"/>
                    <a:pt x="5564004" y="843943"/>
                    <a:pt x="6087808" y="854846"/>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dirty="0">
                <a:latin typeface="+mn-lt"/>
              </a:endParaRPr>
            </a:p>
          </p:txBody>
        </p:sp>
        <p:sp>
          <p:nvSpPr>
            <p:cNvPr id="46115" name="任意多边形 97"/>
            <p:cNvSpPr>
              <a:spLocks/>
            </p:cNvSpPr>
            <p:nvPr/>
          </p:nvSpPr>
          <p:spPr bwMode="auto">
            <a:xfrm>
              <a:off x="3887788" y="3784600"/>
              <a:ext cx="4849812" cy="679450"/>
            </a:xfrm>
            <a:custGeom>
              <a:avLst/>
              <a:gdLst>
                <a:gd name="T0" fmla="*/ 0 w 6030952"/>
                <a:gd name="T1" fmla="*/ 409345 h 599852"/>
                <a:gd name="T2" fmla="*/ 936846 w 6030952"/>
                <a:gd name="T3" fmla="*/ 24808 h 599852"/>
                <a:gd name="T4" fmla="*/ 1789660 w 6030952"/>
                <a:gd name="T5" fmla="*/ 756593 h 599852"/>
                <a:gd name="T6" fmla="*/ 2334188 w 6030952"/>
                <a:gd name="T7" fmla="*/ 445419 h 599852"/>
                <a:gd name="T8" fmla="*/ 2954280 w 6030952"/>
                <a:gd name="T9" fmla="*/ 4594 h 599852"/>
                <a:gd name="T10" fmla="*/ 3293924 w 6030952"/>
                <a:gd name="T11" fmla="*/ 7585 h 599852"/>
                <a:gd name="T12" fmla="*/ 3597208 w 6030952"/>
                <a:gd name="T13" fmla="*/ 26190 h 599852"/>
                <a:gd name="T14" fmla="*/ 3899830 w 6030952"/>
                <a:gd name="T15" fmla="*/ 50065 h 599852"/>
                <a:gd name="T16" fmla="*/ 0 60000 65536"/>
                <a:gd name="T17" fmla="*/ 0 60000 65536"/>
                <a:gd name="T18" fmla="*/ 0 60000 65536"/>
                <a:gd name="T19" fmla="*/ 0 60000 65536"/>
                <a:gd name="T20" fmla="*/ 0 60000 65536"/>
                <a:gd name="T21" fmla="*/ 0 60000 65536"/>
                <a:gd name="T22" fmla="*/ 0 60000 65536"/>
                <a:gd name="T23" fmla="*/ 0 60000 65536"/>
                <a:gd name="T24" fmla="*/ 0 w 6030952"/>
                <a:gd name="T25" fmla="*/ 0 h 599852"/>
                <a:gd name="T26" fmla="*/ 6030952 w 6030952"/>
                <a:gd name="T27" fmla="*/ 599852 h 5998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030952" h="599852">
                  <a:moveTo>
                    <a:pt x="0" y="318685"/>
                  </a:moveTo>
                  <a:cubicBezTo>
                    <a:pt x="916927" y="108689"/>
                    <a:pt x="987524" y="-25743"/>
                    <a:pt x="1448799" y="19314"/>
                  </a:cubicBezTo>
                  <a:cubicBezTo>
                    <a:pt x="1910074" y="64371"/>
                    <a:pt x="2407491" y="534451"/>
                    <a:pt x="2767648" y="589027"/>
                  </a:cubicBezTo>
                  <a:cubicBezTo>
                    <a:pt x="3127805" y="643603"/>
                    <a:pt x="3257058" y="480820"/>
                    <a:pt x="3609740" y="346770"/>
                  </a:cubicBezTo>
                  <a:cubicBezTo>
                    <a:pt x="4171864" y="49000"/>
                    <a:pt x="4017555" y="98766"/>
                    <a:pt x="4568693" y="3577"/>
                  </a:cubicBezTo>
                  <a:cubicBezTo>
                    <a:pt x="4831855" y="522"/>
                    <a:pt x="4966134" y="-3617"/>
                    <a:pt x="5093940" y="5905"/>
                  </a:cubicBezTo>
                  <a:lnTo>
                    <a:pt x="5562956" y="20390"/>
                  </a:lnTo>
                  <a:cubicBezTo>
                    <a:pt x="6221678" y="3959"/>
                    <a:pt x="5507148" y="28074"/>
                    <a:pt x="6030952" y="38977"/>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dirty="0">
                <a:latin typeface="+mn-lt"/>
              </a:endParaRPr>
            </a:p>
          </p:txBody>
        </p:sp>
      </p:grpSp>
    </p:spTree>
    <p:extLst>
      <p:ext uri="{BB962C8B-B14F-4D97-AF65-F5344CB8AC3E}">
        <p14:creationId xmlns:p14="http://schemas.microsoft.com/office/powerpoint/2010/main" val="3554142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1000"/>
                                        <p:tgtEl>
                                          <p:spTgt spid="80"/>
                                        </p:tgtEl>
                                      </p:cBhvr>
                                    </p:animEffect>
                                    <p:anim calcmode="lin" valueType="num">
                                      <p:cBhvr>
                                        <p:cTn id="8" dur="1000" fill="hold"/>
                                        <p:tgtEl>
                                          <p:spTgt spid="80"/>
                                        </p:tgtEl>
                                        <p:attrNameLst>
                                          <p:attrName>ppt_x</p:attrName>
                                        </p:attrNameLst>
                                      </p:cBhvr>
                                      <p:tavLst>
                                        <p:tav tm="0">
                                          <p:val>
                                            <p:strVal val="#ppt_x"/>
                                          </p:val>
                                        </p:tav>
                                        <p:tav tm="100000">
                                          <p:val>
                                            <p:strVal val="#ppt_x"/>
                                          </p:val>
                                        </p:tav>
                                      </p:tavLst>
                                    </p:anim>
                                    <p:anim calcmode="lin" valueType="num">
                                      <p:cBhvr>
                                        <p:cTn id="9"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2"/>
          </p:nvPr>
        </p:nvSpPr>
        <p:spPr/>
        <p:txBody>
          <a:bodyPr/>
          <a:lstStyle/>
          <a:p>
            <a:pPr algn="l" rtl="0"/>
            <a:r>
              <a:rPr lang="en-US" altLang="zh-CN" dirty="0"/>
              <a:t>Solution 2 : Fondée sur des politiquesRoutage (2)</a:t>
            </a:r>
            <a:endParaRPr lang="zh-CN" altLang="en-US" dirty="0"/>
          </a:p>
        </p:txBody>
      </p:sp>
      <p:sp>
        <p:nvSpPr>
          <p:cNvPr id="9" name="矩形 8"/>
          <p:cNvSpPr/>
          <p:nvPr/>
        </p:nvSpPr>
        <p:spPr bwMode="auto">
          <a:xfrm>
            <a:off x="2351584" y="4005064"/>
            <a:ext cx="6984776" cy="2052228"/>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a:r>
              <a:rPr lang="en-US" altLang="zh-CN" sz="1300" b="1" dirty="0">
                <a:latin typeface="+mn-lt"/>
                <a:ea typeface="+mn-ea"/>
                <a:cs typeface="Courier New" panose="02070309020205020404" pitchFamily="49" charset="0"/>
              </a:rPr>
              <a:t>[RTA]</a:t>
            </a:r>
            <a:r>
              <a:rPr lang="en-US" altLang="zh-CN" sz="1300" b="1" dirty="0" err="1">
                <a:latin typeface="+mn-lt"/>
                <a:ea typeface="+mn-ea"/>
                <a:cs typeface="Courier New" panose="02070309020205020404" pitchFamily="49" charset="0"/>
              </a:rPr>
              <a:t>acl</a:t>
            </a:r>
            <a:r>
              <a:rPr lang="en-US" altLang="zh-CN" sz="1300" b="1" dirty="0">
                <a:latin typeface="+mn-lt"/>
                <a:ea typeface="+mn-ea"/>
                <a:cs typeface="Courier New" panose="02070309020205020404" pitchFamily="49" charset="0"/>
              </a:rPr>
              <a:t>3001	</a:t>
            </a:r>
          </a:p>
          <a:p>
            <a:pPr algn="l" rtl="0"/>
            <a:r>
              <a:rPr lang="en-US" altLang="zh-CN" sz="1300" b="1" dirty="0">
                <a:latin typeface="+mn-lt"/>
                <a:ea typeface="+mn-ea"/>
                <a:cs typeface="Courier New" panose="02070309020205020404" pitchFamily="49" charset="0"/>
              </a:rPr>
              <a:t>permis de la règle 5</a:t>
            </a:r>
            <a:r>
              <a:rPr lang="en-US" altLang="zh-CN" sz="1300" b="1" dirty="0" err="1">
                <a:latin typeface="+mn-lt"/>
                <a:ea typeface="+mn-ea"/>
                <a:cs typeface="Courier New" panose="02070309020205020404" pitchFamily="49" charset="0"/>
              </a:rPr>
              <a:t>adresse IP</a:t>
            </a:r>
            <a:r>
              <a:rPr lang="en-US" altLang="zh-CN" sz="1300" b="1" dirty="0">
                <a:latin typeface="+mn-lt"/>
                <a:ea typeface="+mn-ea"/>
                <a:cs typeface="Courier New" panose="02070309020205020404" pitchFamily="49" charset="0"/>
              </a:rPr>
              <a:t>source 10.1.2.0 0.0.0.255</a:t>
            </a:r>
            <a:r>
              <a:rPr lang="en-US" altLang="zh-CN" sz="1300" b="1" dirty="0" err="1">
                <a:latin typeface="+mn-lt"/>
                <a:ea typeface="+mn-ea"/>
                <a:cs typeface="Courier New" panose="02070309020205020404" pitchFamily="49" charset="0"/>
              </a:rPr>
              <a:t>dest</a:t>
            </a:r>
            <a:r>
              <a:rPr lang="en-US" altLang="zh-CN" sz="1300" b="1" dirty="0">
                <a:latin typeface="+mn-lt"/>
                <a:ea typeface="+mn-ea"/>
                <a:cs typeface="Courier New" panose="02070309020205020404" pitchFamily="49" charset="0"/>
              </a:rPr>
              <a:t>10.1.3.0 0.0.0.255</a:t>
            </a:r>
          </a:p>
          <a:p>
            <a:pPr algn="l" rtl="0"/>
            <a:r>
              <a:rPr lang="en-US" altLang="zh-CN" sz="1300" b="1" dirty="0">
                <a:latin typeface="+mn-lt"/>
                <a:ea typeface="+mn-ea"/>
                <a:cs typeface="Courier New" panose="02070309020205020404" pitchFamily="49" charset="0"/>
              </a:rPr>
              <a:t>classificateur de trafic huawei-control2</a:t>
            </a:r>
          </a:p>
          <a:p>
            <a:pPr algn="l" rtl="0"/>
            <a:r>
              <a:rPr lang="en-US" altLang="zh-CN" sz="1300" b="1" dirty="0">
                <a:latin typeface="+mn-lt"/>
                <a:ea typeface="+mn-ea"/>
                <a:cs typeface="Courier New" panose="02070309020205020404" pitchFamily="49" charset="0"/>
              </a:rPr>
              <a:t> </a:t>
            </a:r>
            <a:r>
              <a:rPr lang="en-US" altLang="zh-CN" sz="1300" b="1" dirty="0">
                <a:solidFill>
                  <a:srgbClr val="C00000"/>
                </a:solidFill>
                <a:latin typeface="+mn-lt"/>
                <a:ea typeface="+mn-ea"/>
                <a:cs typeface="Courier New" panose="02070309020205020404" pitchFamily="49" charset="0"/>
              </a:rPr>
              <a:t>si-correspondance</a:t>
            </a:r>
            <a:r>
              <a:rPr lang="en-US" altLang="zh-CN" sz="1300" b="1" dirty="0" err="1">
                <a:solidFill>
                  <a:srgbClr val="C00000"/>
                </a:solidFill>
                <a:latin typeface="+mn-lt"/>
                <a:ea typeface="+mn-ea"/>
                <a:cs typeface="Courier New" panose="02070309020205020404" pitchFamily="49" charset="0"/>
              </a:rPr>
              <a:t>acl</a:t>
            </a:r>
            <a:r>
              <a:rPr lang="en-US" altLang="zh-CN" sz="1300" b="1" dirty="0">
                <a:solidFill>
                  <a:srgbClr val="C00000"/>
                </a:solidFill>
                <a:latin typeface="+mn-lt"/>
                <a:ea typeface="+mn-ea"/>
                <a:cs typeface="Courier New" panose="02070309020205020404" pitchFamily="49" charset="0"/>
              </a:rPr>
              <a:t>3001</a:t>
            </a:r>
          </a:p>
          <a:p>
            <a:pPr algn="l" rtl="0"/>
            <a:r>
              <a:rPr lang="en-US" altLang="zh-CN" sz="1300" b="1" dirty="0">
                <a:latin typeface="+mn-lt"/>
                <a:ea typeface="+mn-ea"/>
                <a:cs typeface="Courier New" panose="02070309020205020404" pitchFamily="49" charset="0"/>
              </a:rPr>
              <a:t>comportement du trafic huawei-control2</a:t>
            </a:r>
          </a:p>
          <a:p>
            <a:pPr algn="l" rtl="0"/>
            <a:r>
              <a:rPr lang="en-US" altLang="zh-CN" sz="1300" b="1" dirty="0">
                <a:latin typeface="+mn-lt"/>
                <a:ea typeface="+mn-ea"/>
                <a:cs typeface="Courier New" panose="02070309020205020404" pitchFamily="49" charset="0"/>
              </a:rPr>
              <a:t> </a:t>
            </a:r>
            <a:r>
              <a:rPr lang="en-US" altLang="zh-CN" sz="1300" b="1" dirty="0">
                <a:solidFill>
                  <a:srgbClr val="C00000"/>
                </a:solidFill>
                <a:latin typeface="+mn-lt"/>
                <a:ea typeface="+mn-ea"/>
                <a:cs typeface="Courier New" panose="02070309020205020404" pitchFamily="49" charset="0"/>
              </a:rPr>
              <a:t>réorienter</a:t>
            </a:r>
            <a:r>
              <a:rPr lang="en-US" altLang="zh-CN" sz="1300" b="1" dirty="0" err="1">
                <a:solidFill>
                  <a:srgbClr val="C00000"/>
                </a:solidFill>
                <a:latin typeface="+mn-lt"/>
                <a:ea typeface="+mn-ea"/>
                <a:cs typeface="Courier New" panose="02070309020205020404" pitchFamily="49" charset="0"/>
              </a:rPr>
              <a:t>ip-nexthop</a:t>
            </a:r>
            <a:r>
              <a:rPr lang="en-US" altLang="zh-CN" sz="1300" b="1" dirty="0">
                <a:solidFill>
                  <a:srgbClr val="C00000"/>
                </a:solidFill>
                <a:latin typeface="+mn-lt"/>
                <a:ea typeface="+mn-ea"/>
                <a:cs typeface="Courier New" panose="02070309020205020404" pitchFamily="49" charset="0"/>
              </a:rPr>
              <a:t>12.1.3.2</a:t>
            </a:r>
          </a:p>
          <a:p>
            <a:pPr algn="l" rtl="0"/>
            <a:r>
              <a:rPr lang="en-US" altLang="zh-CN" sz="1300" b="1" dirty="0">
                <a:latin typeface="+mn-lt"/>
                <a:ea typeface="+mn-ea"/>
                <a:cs typeface="Courier New" panose="02070309020205020404" pitchFamily="49" charset="0"/>
              </a:rPr>
              <a:t>politique de trafic huawei-control2</a:t>
            </a:r>
          </a:p>
          <a:p>
            <a:pPr algn="l" rtl="0"/>
            <a:r>
              <a:rPr lang="en-US" altLang="zh-CN" sz="1300" b="1" dirty="0">
                <a:latin typeface="+mn-lt"/>
                <a:ea typeface="+mn-ea"/>
                <a:cs typeface="Courier New" panose="02070309020205020404" pitchFamily="49" charset="0"/>
              </a:rPr>
              <a:t>classificateur huawei-control2 comportement huawei-control2</a:t>
            </a:r>
          </a:p>
          <a:p>
            <a:pPr algn="l" rtl="0"/>
            <a:r>
              <a:rPr lang="en-US" altLang="zh-CN" sz="1300" b="1" dirty="0" err="1">
                <a:latin typeface="+mn-lt"/>
                <a:ea typeface="+mn-ea"/>
                <a:cs typeface="Courier New" panose="02070309020205020404" pitchFamily="49" charset="0"/>
              </a:rPr>
              <a:t>int</a:t>
            </a:r>
            <a:r>
              <a:rPr lang="en-US" altLang="zh-CN" sz="1300" b="1" dirty="0">
                <a:latin typeface="+mn-lt"/>
                <a:ea typeface="+mn-ea"/>
                <a:cs typeface="Courier New" panose="02070309020205020404" pitchFamily="49" charset="0"/>
              </a:rPr>
              <a:t>g4/0/0</a:t>
            </a:r>
          </a:p>
          <a:p>
            <a:pPr algn="l" rtl="0"/>
            <a:r>
              <a:rPr lang="en-US" altLang="zh-CN" sz="1300" b="1" dirty="0">
                <a:latin typeface="+mn-lt"/>
                <a:ea typeface="+mn-ea"/>
                <a:cs typeface="Courier New" panose="02070309020205020404" pitchFamily="49" charset="0"/>
              </a:rPr>
              <a:t>politique de trafic huawei-control2 entrant</a:t>
            </a:r>
          </a:p>
        </p:txBody>
      </p:sp>
      <p:sp>
        <p:nvSpPr>
          <p:cNvPr id="10" name="矩形 9"/>
          <p:cNvSpPr/>
          <p:nvPr/>
        </p:nvSpPr>
        <p:spPr bwMode="auto">
          <a:xfrm>
            <a:off x="2351584" y="1736812"/>
            <a:ext cx="6948772" cy="2088232"/>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a:r>
              <a:rPr lang="en-US" altLang="zh-CN" sz="1300" b="1" dirty="0">
                <a:latin typeface="+mn-lt"/>
                <a:ea typeface="+mn-ea"/>
                <a:cs typeface="Courier New" panose="02070309020205020404" pitchFamily="49" charset="0"/>
              </a:rPr>
              <a:t>[RTA]</a:t>
            </a:r>
            <a:r>
              <a:rPr lang="en-US" altLang="zh-CN" sz="1300" b="1" dirty="0" err="1">
                <a:latin typeface="+mn-lt"/>
                <a:ea typeface="+mn-ea"/>
                <a:cs typeface="Courier New" panose="02070309020205020404" pitchFamily="49" charset="0"/>
              </a:rPr>
              <a:t>acl</a:t>
            </a:r>
            <a:r>
              <a:rPr lang="en-US" altLang="zh-CN" sz="1300" b="1" dirty="0">
                <a:latin typeface="+mn-lt"/>
                <a:ea typeface="+mn-ea"/>
                <a:cs typeface="Courier New" panose="02070309020205020404" pitchFamily="49" charset="0"/>
              </a:rPr>
              <a:t>3000</a:t>
            </a:r>
          </a:p>
          <a:p>
            <a:pPr algn="l" rtl="0"/>
            <a:r>
              <a:rPr lang="en-US" altLang="zh-CN" sz="1300" b="1" dirty="0">
                <a:latin typeface="+mn-lt"/>
                <a:ea typeface="+mn-ea"/>
                <a:cs typeface="Courier New" panose="02070309020205020404" pitchFamily="49" charset="0"/>
              </a:rPr>
              <a:t>  permis de la règle 5</a:t>
            </a:r>
            <a:r>
              <a:rPr lang="en-US" altLang="zh-CN" sz="1300" b="1" dirty="0" err="1">
                <a:latin typeface="+mn-lt"/>
                <a:ea typeface="+mn-ea"/>
                <a:cs typeface="Courier New" panose="02070309020205020404" pitchFamily="49" charset="0"/>
              </a:rPr>
              <a:t>adresse IP</a:t>
            </a:r>
            <a:r>
              <a:rPr lang="en-US" altLang="zh-CN" sz="1300" b="1" dirty="0">
                <a:latin typeface="+mn-lt"/>
                <a:ea typeface="+mn-ea"/>
                <a:cs typeface="Courier New" panose="02070309020205020404" pitchFamily="49" charset="0"/>
              </a:rPr>
              <a:t>source 10.1.1.0 0.0.0.255</a:t>
            </a:r>
            <a:r>
              <a:rPr lang="en-US" altLang="zh-CN" sz="1300" b="1" dirty="0" err="1">
                <a:latin typeface="+mn-lt"/>
                <a:ea typeface="+mn-ea"/>
                <a:cs typeface="Courier New" panose="02070309020205020404" pitchFamily="49" charset="0"/>
              </a:rPr>
              <a:t>dest</a:t>
            </a:r>
            <a:r>
              <a:rPr lang="en-US" altLang="zh-CN" sz="1300" b="1" dirty="0">
                <a:latin typeface="+mn-lt"/>
                <a:ea typeface="+mn-ea"/>
                <a:cs typeface="Courier New" panose="02070309020205020404" pitchFamily="49" charset="0"/>
              </a:rPr>
              <a:t>10.1.3.0 0.0.0.255</a:t>
            </a:r>
          </a:p>
          <a:p>
            <a:pPr algn="l" rtl="0"/>
            <a:r>
              <a:rPr lang="en-US" altLang="zh-CN" sz="1300" b="1" dirty="0">
                <a:latin typeface="+mn-lt"/>
                <a:ea typeface="+mn-ea"/>
                <a:cs typeface="Courier New" panose="02070309020205020404" pitchFamily="49" charset="0"/>
              </a:rPr>
              <a:t>classificateur de trafic huawei-control1</a:t>
            </a:r>
          </a:p>
          <a:p>
            <a:pPr algn="l" rtl="0"/>
            <a:r>
              <a:rPr lang="en-US" altLang="zh-CN" sz="1300" b="1" dirty="0">
                <a:solidFill>
                  <a:srgbClr val="C00000"/>
                </a:solidFill>
                <a:latin typeface="+mn-lt"/>
                <a:ea typeface="+mn-ea"/>
                <a:cs typeface="Courier New" panose="02070309020205020404" pitchFamily="49" charset="0"/>
              </a:rPr>
              <a:t>si-correspondance</a:t>
            </a:r>
            <a:r>
              <a:rPr lang="en-US" altLang="zh-CN" sz="1300" b="1" dirty="0" err="1">
                <a:solidFill>
                  <a:srgbClr val="C00000"/>
                </a:solidFill>
                <a:latin typeface="+mn-lt"/>
                <a:ea typeface="+mn-ea"/>
                <a:cs typeface="Courier New" panose="02070309020205020404" pitchFamily="49" charset="0"/>
              </a:rPr>
              <a:t>acl</a:t>
            </a:r>
            <a:r>
              <a:rPr lang="en-US" altLang="zh-CN" sz="1300" b="1" dirty="0">
                <a:solidFill>
                  <a:srgbClr val="C00000"/>
                </a:solidFill>
                <a:latin typeface="+mn-lt"/>
                <a:ea typeface="+mn-ea"/>
                <a:cs typeface="Courier New" panose="02070309020205020404" pitchFamily="49" charset="0"/>
              </a:rPr>
              <a:t>3000</a:t>
            </a:r>
          </a:p>
          <a:p>
            <a:pPr algn="l" rtl="0"/>
            <a:r>
              <a:rPr lang="en-US" altLang="zh-CN" sz="1300" b="1" dirty="0">
                <a:latin typeface="+mn-lt"/>
                <a:ea typeface="+mn-ea"/>
                <a:cs typeface="Courier New" panose="02070309020205020404" pitchFamily="49" charset="0"/>
              </a:rPr>
              <a:t>comportement du trafic huawei-control1</a:t>
            </a:r>
          </a:p>
          <a:p>
            <a:pPr algn="l" rtl="0"/>
            <a:r>
              <a:rPr lang="en-US" altLang="zh-CN" sz="1300" b="1" dirty="0">
                <a:solidFill>
                  <a:srgbClr val="C00000"/>
                </a:solidFill>
                <a:latin typeface="+mn-lt"/>
                <a:ea typeface="+mn-ea"/>
                <a:cs typeface="Courier New" panose="02070309020205020404" pitchFamily="49" charset="0"/>
              </a:rPr>
              <a:t>réorienter</a:t>
            </a:r>
            <a:r>
              <a:rPr lang="en-US" altLang="zh-CN" sz="1300" b="1" dirty="0" err="1">
                <a:solidFill>
                  <a:srgbClr val="C00000"/>
                </a:solidFill>
                <a:latin typeface="+mn-lt"/>
                <a:ea typeface="+mn-ea"/>
                <a:cs typeface="Courier New" panose="02070309020205020404" pitchFamily="49" charset="0"/>
              </a:rPr>
              <a:t>ip-nexthop</a:t>
            </a:r>
            <a:r>
              <a:rPr lang="en-US" altLang="zh-CN" sz="1300" b="1" dirty="0">
                <a:solidFill>
                  <a:srgbClr val="C00000"/>
                </a:solidFill>
                <a:latin typeface="+mn-lt"/>
                <a:ea typeface="+mn-ea"/>
                <a:cs typeface="Courier New" panose="02070309020205020404" pitchFamily="49" charset="0"/>
              </a:rPr>
              <a:t>12.1.1.2</a:t>
            </a:r>
          </a:p>
          <a:p>
            <a:pPr algn="l" rtl="0"/>
            <a:r>
              <a:rPr lang="en-US" altLang="zh-CN" sz="1300" b="1" dirty="0">
                <a:latin typeface="+mn-lt"/>
                <a:ea typeface="+mn-ea"/>
                <a:cs typeface="Courier New" panose="02070309020205020404" pitchFamily="49" charset="0"/>
              </a:rPr>
              <a:t>politique de trafic huawei-control1</a:t>
            </a:r>
          </a:p>
          <a:p>
            <a:pPr algn="l" rtl="0"/>
            <a:r>
              <a:rPr lang="en-US" altLang="zh-CN" sz="1300" b="1" dirty="0">
                <a:latin typeface="+mn-lt"/>
                <a:ea typeface="+mn-ea"/>
                <a:cs typeface="Courier New" panose="02070309020205020404" pitchFamily="49" charset="0"/>
              </a:rPr>
              <a:t>classificateur huawei-control1 comportement huawei-control1</a:t>
            </a:r>
          </a:p>
          <a:p>
            <a:pPr algn="l" rtl="0"/>
            <a:r>
              <a:rPr lang="en-US" altLang="zh-CN" sz="1300" b="1" dirty="0" err="1">
                <a:latin typeface="+mn-lt"/>
                <a:ea typeface="+mn-ea"/>
                <a:cs typeface="Courier New" panose="02070309020205020404" pitchFamily="49" charset="0"/>
              </a:rPr>
              <a:t>int</a:t>
            </a:r>
            <a:r>
              <a:rPr lang="en-US" altLang="zh-CN" sz="1300" b="1" dirty="0">
                <a:latin typeface="+mn-lt"/>
                <a:ea typeface="+mn-ea"/>
                <a:cs typeface="Courier New" panose="02070309020205020404" pitchFamily="49" charset="0"/>
              </a:rPr>
              <a:t>g0/0/2</a:t>
            </a:r>
          </a:p>
          <a:p>
            <a:pPr algn="l" rtl="0"/>
            <a:r>
              <a:rPr lang="en-US" altLang="zh-CN" sz="1300" b="1" dirty="0">
                <a:latin typeface="+mn-lt"/>
                <a:ea typeface="+mn-ea"/>
                <a:cs typeface="Courier New" panose="02070309020205020404" pitchFamily="49" charset="0"/>
              </a:rPr>
              <a:t>politique de trafic huawei-control1 entrant</a:t>
            </a:r>
          </a:p>
        </p:txBody>
      </p:sp>
      <p:graphicFrame>
        <p:nvGraphicFramePr>
          <p:cNvPr id="5" name="对象 4"/>
          <p:cNvGraphicFramePr>
            <a:graphicFrameLocks noChangeAspect="1"/>
          </p:cNvGraphicFramePr>
          <p:nvPr>
            <p:extLst>
              <p:ext uri="{D42A27DB-BD31-4B8C-83A1-F6EECF244321}">
                <p14:modId xmlns:p14="http://schemas.microsoft.com/office/powerpoint/2010/main" val="2398452372"/>
              </p:ext>
            </p:extLst>
          </p:nvPr>
        </p:nvGraphicFramePr>
        <p:xfrm>
          <a:off x="9552384" y="5209246"/>
          <a:ext cx="1476164" cy="848046"/>
        </p:xfrm>
        <a:graphic>
          <a:graphicData uri="http://schemas.openxmlformats.org/presentationml/2006/ole">
            <mc:AlternateContent xmlns:mc="http://schemas.openxmlformats.org/markup-compatibility/2006">
              <mc:Choice xmlns:v="urn:schemas-microsoft-com:vml" Requires="v">
                <p:oleObj name="包装程序外壳对象" showAsIcon="1" r:id="rId3" imgW="914400" imgH="828720" progId="Package">
                  <p:embed/>
                </p:oleObj>
              </mc:Choice>
              <mc:Fallback>
                <p:oleObj name="包装程序外壳对象" showAsIcon="1" r:id="rId3" imgW="914400" imgH="828720" progId="Package">
                  <p:embed/>
                  <p:pic>
                    <p:nvPicPr>
                      <p:cNvPr id="0" name=""/>
                      <p:cNvPicPr/>
                      <p:nvPr/>
                    </p:nvPicPr>
                    <p:blipFill>
                      <a:blip r:embed="rId4"/>
                      <a:stretch>
                        <a:fillRect/>
                      </a:stretch>
                    </p:blipFill>
                    <p:spPr>
                      <a:xfrm>
                        <a:off x="9552384" y="5209246"/>
                        <a:ext cx="1476164" cy="848046"/>
                      </a:xfrm>
                      <a:prstGeom prst="rect">
                        <a:avLst/>
                      </a:prstGeom>
                    </p:spPr>
                  </p:pic>
                </p:oleObj>
              </mc:Fallback>
            </mc:AlternateContent>
          </a:graphicData>
        </a:graphic>
      </p:graphicFrame>
    </p:spTree>
    <p:extLst>
      <p:ext uri="{BB962C8B-B14F-4D97-AF65-F5344CB8AC3E}">
        <p14:creationId xmlns:p14="http://schemas.microsoft.com/office/powerpoint/2010/main" val="3987950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pPr algn="l" rtl="0"/>
            <a:r>
              <a:rPr lang="en-US" altLang="zh-CN" dirty="0"/>
              <a:t>Solution 2 : Routage basé sur des politiques (3)</a:t>
            </a:r>
            <a:endParaRPr lang="zh-CN" altLang="en-US" dirty="0"/>
          </a:p>
        </p:txBody>
      </p:sp>
      <p:sp>
        <p:nvSpPr>
          <p:cNvPr id="47107" name="矩形 157"/>
          <p:cNvSpPr>
            <a:spLocks noChangeArrowheads="1"/>
          </p:cNvSpPr>
          <p:nvPr/>
        </p:nvSpPr>
        <p:spPr bwMode="auto">
          <a:xfrm>
            <a:off x="1996970" y="4148138"/>
            <a:ext cx="3476625" cy="1693130"/>
          </a:xfrm>
          <a:prstGeom prst="rect">
            <a:avLst/>
          </a:prstGeom>
          <a:noFill/>
          <a:ln w="9525" algn="ctr">
            <a:solidFill>
              <a:schemeClr val="tx1"/>
            </a:solidFill>
            <a:prstDash val="dash"/>
            <a:round/>
            <a:headEnd/>
            <a:tailEnd/>
          </a:ln>
        </p:spPr>
        <p:txBody>
          <a:bodyPr/>
          <a:lstStyle/>
          <a:p>
            <a:pPr algn="l" rtl="0"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Service marketing PC &gt; tracert 10.1.3.1</a:t>
            </a:r>
          </a:p>
          <a:p>
            <a:pPr algn="l" rtl="0" eaLnBrk="0" fontAlgn="t" hangingPunct="0">
              <a:buSzPct val="100000"/>
            </a:pPr>
            <a:endParaRPr lang="en-US" altLang="zh-CN" sz="1200" b="1" dirty="0">
              <a:solidFill>
                <a:srgbClr val="000000"/>
              </a:solidFill>
              <a:latin typeface="+mn-lt"/>
              <a:ea typeface="+mn-ea"/>
              <a:cs typeface="Courier New" panose="02070309020205020404" pitchFamily="49" charset="0"/>
              <a:sym typeface="FrutigerNext LT Regular" pitchFamily="34" charset="0"/>
            </a:endParaRPr>
          </a:p>
          <a:p>
            <a:pPr algn="l" rtl="0"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Traceroute vers 10.1.3.1, 8 sauts max.</a:t>
            </a:r>
          </a:p>
          <a:p>
            <a:pPr algn="l" rtl="0"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(ICMP), appuyez sur Ctrl+C pour arrêter</a:t>
            </a:r>
          </a:p>
          <a:p>
            <a:pPr algn="l" rtl="0"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1 10.1.1.2 47 ms 31 ms 15 ms</a:t>
            </a:r>
          </a:p>
          <a:p>
            <a:pPr algn="l" rtl="0"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2  </a:t>
            </a:r>
            <a:r>
              <a:rPr lang="en-US" altLang="zh-CN" sz="1200" b="1" dirty="0">
                <a:solidFill>
                  <a:srgbClr val="C00000"/>
                </a:solidFill>
                <a:latin typeface="+mn-lt"/>
                <a:ea typeface="+mn-ea"/>
                <a:cs typeface="Courier New" panose="02070309020205020404" pitchFamily="49" charset="0"/>
                <a:sym typeface="FrutigerNext LT Regular" pitchFamily="34" charset="0"/>
              </a:rPr>
              <a:t>12.1.1.2</a:t>
            </a:r>
            <a:r>
              <a:rPr lang="en-US" altLang="zh-CN" sz="1200" b="1" dirty="0">
                <a:solidFill>
                  <a:srgbClr val="000000"/>
                </a:solidFill>
                <a:latin typeface="+mn-lt"/>
                <a:ea typeface="+mn-ea"/>
                <a:cs typeface="Courier New" panose="02070309020205020404" pitchFamily="49" charset="0"/>
                <a:sym typeface="FrutigerNext LT Regular" pitchFamily="34" charset="0"/>
              </a:rPr>
              <a:t>   47 ms 31 ms 32 ms</a:t>
            </a:r>
          </a:p>
          <a:p>
            <a:pPr algn="l" rtl="0"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3 12.1.2.2 93 ms 63 ms 46 ms</a:t>
            </a:r>
          </a:p>
          <a:p>
            <a:pPr algn="l" rtl="0"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4 *10.1.3.1 62 ms 31 ms</a:t>
            </a:r>
          </a:p>
        </p:txBody>
      </p:sp>
      <p:sp>
        <p:nvSpPr>
          <p:cNvPr id="47109" name="矩形 5"/>
          <p:cNvSpPr>
            <a:spLocks noChangeArrowheads="1"/>
          </p:cNvSpPr>
          <p:nvPr/>
        </p:nvSpPr>
        <p:spPr bwMode="auto">
          <a:xfrm>
            <a:off x="6664430" y="4148138"/>
            <a:ext cx="3530600" cy="1693130"/>
          </a:xfrm>
          <a:prstGeom prst="rect">
            <a:avLst/>
          </a:prstGeom>
          <a:noFill/>
          <a:ln w="9525" algn="ctr">
            <a:solidFill>
              <a:schemeClr val="tx1"/>
            </a:solidFill>
            <a:prstDash val="dash"/>
            <a:round/>
            <a:headEnd/>
            <a:tailEnd/>
          </a:ln>
        </p:spPr>
        <p:txBody>
          <a:bodyPr/>
          <a:lstStyle/>
          <a:p>
            <a:pPr algn="l" rtl="0"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Département financier PC &gt; tracert 10.1.3.1</a:t>
            </a:r>
          </a:p>
          <a:p>
            <a:pPr algn="l" rtl="0" eaLnBrk="0" fontAlgn="t" hangingPunct="0">
              <a:buSzPct val="100000"/>
            </a:pPr>
            <a:endParaRPr lang="en-US" altLang="zh-CN" sz="1200" b="1" dirty="0">
              <a:solidFill>
                <a:srgbClr val="000000"/>
              </a:solidFill>
              <a:latin typeface="+mn-lt"/>
              <a:ea typeface="+mn-ea"/>
              <a:cs typeface="Courier New" panose="02070309020205020404" pitchFamily="49" charset="0"/>
              <a:sym typeface="FrutigerNext LT Regular" pitchFamily="34" charset="0"/>
            </a:endParaRPr>
          </a:p>
          <a:p>
            <a:pPr algn="l" rtl="0"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Traceroute vers 10.1.3.1, 8 sauts max.</a:t>
            </a:r>
          </a:p>
          <a:p>
            <a:pPr algn="l" rtl="0"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(ICMP), appuyez sur Ctrl+C pour arrêter</a:t>
            </a:r>
          </a:p>
          <a:p>
            <a:pPr algn="l" rtl="0"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1 10.1.2.2 16 ms 31 ms 16 ms</a:t>
            </a:r>
          </a:p>
          <a:p>
            <a:pPr algn="l" rtl="0"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2  </a:t>
            </a:r>
            <a:r>
              <a:rPr lang="en-US" altLang="zh-CN" sz="1200" b="1" dirty="0">
                <a:solidFill>
                  <a:srgbClr val="C00000"/>
                </a:solidFill>
                <a:latin typeface="+mn-lt"/>
                <a:ea typeface="+mn-ea"/>
                <a:cs typeface="Courier New" panose="02070309020205020404" pitchFamily="49" charset="0"/>
                <a:sym typeface="FrutigerNext LT Regular" pitchFamily="34" charset="0"/>
              </a:rPr>
              <a:t>12.1.3.2</a:t>
            </a:r>
            <a:r>
              <a:rPr lang="en-US" altLang="zh-CN" sz="1200" b="1" dirty="0">
                <a:solidFill>
                  <a:srgbClr val="000000"/>
                </a:solidFill>
                <a:latin typeface="+mn-lt"/>
                <a:ea typeface="+mn-ea"/>
                <a:cs typeface="Courier New" panose="02070309020205020404" pitchFamily="49" charset="0"/>
                <a:sym typeface="FrutigerNext LT Regular" pitchFamily="34" charset="0"/>
              </a:rPr>
              <a:t>  62 ms 47 ms 31 ms</a:t>
            </a:r>
          </a:p>
          <a:p>
            <a:pPr algn="l" rtl="0"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3 12.1.4.2 47 ms 47 ms 31 ms</a:t>
            </a:r>
          </a:p>
          <a:p>
            <a:pPr algn="l" rtl="0" eaLnBrk="0" fontAlgn="t" hangingPunct="0">
              <a:buSzPct val="100000"/>
            </a:pPr>
            <a:r>
              <a:rPr lang="en-US" altLang="zh-CN" sz="1200" b="1" dirty="0">
                <a:solidFill>
                  <a:srgbClr val="000000"/>
                </a:solidFill>
                <a:latin typeface="+mn-lt"/>
                <a:ea typeface="+mn-ea"/>
                <a:cs typeface="Courier New" panose="02070309020205020404" pitchFamily="49" charset="0"/>
                <a:sym typeface="FrutigerNext LT Regular" pitchFamily="34" charset="0"/>
              </a:rPr>
              <a:t>4 10.1.3.1 32 ms 46 ms 32 ms</a:t>
            </a:r>
          </a:p>
        </p:txBody>
      </p:sp>
      <p:sp>
        <p:nvSpPr>
          <p:cNvPr id="8" name="矩形 7"/>
          <p:cNvSpPr/>
          <p:nvPr/>
        </p:nvSpPr>
        <p:spPr bwMode="auto">
          <a:xfrm>
            <a:off x="1996970" y="1772816"/>
            <a:ext cx="8198060" cy="2124236"/>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rtl="0"/>
            <a:r>
              <a:rPr lang="en-US" altLang="zh-CN" sz="1200" b="1" dirty="0">
                <a:latin typeface="+mn-lt"/>
                <a:ea typeface="+mn-ea"/>
                <a:cs typeface="Courier New" panose="02070309020205020404" pitchFamily="49" charset="0"/>
              </a:rPr>
              <a:t>&lt;RTA&gt;dis</a:t>
            </a:r>
            <a:r>
              <a:rPr lang="en-US" altLang="zh-CN" sz="1200" b="1" dirty="0" err="1">
                <a:latin typeface="+mn-lt"/>
                <a:ea typeface="+mn-ea"/>
                <a:cs typeface="Courier New" panose="02070309020205020404" pitchFamily="49" charset="0"/>
              </a:rPr>
              <a:t>adresse IP</a:t>
            </a:r>
            <a:r>
              <a:rPr lang="en-US" altLang="zh-CN" sz="1200" b="1" dirty="0">
                <a:latin typeface="+mn-lt"/>
                <a:ea typeface="+mn-ea"/>
                <a:cs typeface="Courier New" panose="02070309020205020404" pitchFamily="49" charset="0"/>
              </a:rPr>
              <a:t>table de routage</a:t>
            </a:r>
            <a:endParaRPr lang="zh-CN" altLang="en-US" sz="1200" b="1" dirty="0">
              <a:latin typeface="+mn-lt"/>
              <a:ea typeface="+mn-ea"/>
              <a:cs typeface="Courier New" panose="02070309020205020404" pitchFamily="49" charset="0"/>
            </a:endParaRPr>
          </a:p>
          <a:p>
            <a:pPr algn="l" rtl="0"/>
            <a:r>
              <a:rPr lang="en-US" altLang="zh-CN" sz="1200" b="1" dirty="0">
                <a:latin typeface="+mn-lt"/>
                <a:ea typeface="+mn-ea"/>
                <a:cs typeface="Courier New" panose="02070309020205020404" pitchFamily="49" charset="0"/>
              </a:rPr>
              <a:t>Indicateurs de route : R - relais, D - téléchargement vers fibrillation</a:t>
            </a:r>
            <a:endParaRPr lang="zh-CN" altLang="en-US" sz="1200" b="1" dirty="0">
              <a:latin typeface="+mn-lt"/>
              <a:ea typeface="+mn-ea"/>
              <a:cs typeface="Courier New" panose="02070309020205020404" pitchFamily="49" charset="0"/>
            </a:endParaRPr>
          </a:p>
          <a:p>
            <a:pPr algn="l" rtl="0"/>
            <a:r>
              <a:rPr lang="en-US" altLang="zh-CN" sz="1200" b="1" dirty="0">
                <a:latin typeface="+mn-lt"/>
                <a:ea typeface="+mn-ea"/>
                <a:cs typeface="Courier New" panose="02070309020205020404" pitchFamily="49" charset="0"/>
              </a:rPr>
              <a:t>-------------------------------------------------------------------------</a:t>
            </a:r>
            <a:endParaRPr lang="zh-CN" altLang="en-US" sz="1200" b="1" dirty="0">
              <a:latin typeface="+mn-lt"/>
              <a:ea typeface="+mn-ea"/>
              <a:cs typeface="Courier New" panose="02070309020205020404" pitchFamily="49" charset="0"/>
            </a:endParaRPr>
          </a:p>
          <a:p>
            <a:pPr algn="l" rtl="0"/>
            <a:r>
              <a:rPr lang="en-US" altLang="zh-CN" sz="1200" b="1" dirty="0">
                <a:latin typeface="+mn-lt"/>
                <a:ea typeface="+mn-ea"/>
                <a:cs typeface="Courier New" panose="02070309020205020404" pitchFamily="49" charset="0"/>
              </a:rPr>
              <a:t>Tables de routage : publiques</a:t>
            </a:r>
            <a:endParaRPr lang="zh-CN" altLang="en-US" sz="1200" b="1" dirty="0">
              <a:latin typeface="+mn-lt"/>
              <a:ea typeface="+mn-ea"/>
              <a:cs typeface="Courier New" panose="02070309020205020404" pitchFamily="49" charset="0"/>
            </a:endParaRPr>
          </a:p>
          <a:p>
            <a:pPr algn="l" rtl="0"/>
            <a:r>
              <a:rPr lang="zh-CN" altLang="en-US" sz="1200" b="1" dirty="0">
                <a:latin typeface="+mn-lt"/>
                <a:ea typeface="+mn-ea"/>
                <a:cs typeface="Courier New" panose="02070309020205020404" pitchFamily="49" charset="0"/>
              </a:rPr>
              <a:t>         </a:t>
            </a:r>
            <a:r>
              <a:rPr lang="en-US" altLang="zh-CN" sz="1200" b="1" dirty="0">
                <a:latin typeface="+mn-lt"/>
                <a:ea typeface="+mn-ea"/>
                <a:cs typeface="Courier New" panose="02070309020205020404" pitchFamily="49" charset="0"/>
              </a:rPr>
              <a:t>Destinations : 19 Itinéraires : 20       </a:t>
            </a:r>
            <a:endParaRPr lang="zh-CN" altLang="en-US" sz="1200" b="1" dirty="0">
              <a:latin typeface="+mn-lt"/>
              <a:ea typeface="+mn-ea"/>
              <a:cs typeface="Courier New" panose="02070309020205020404" pitchFamily="49" charset="0"/>
            </a:endParaRPr>
          </a:p>
          <a:p>
            <a:pPr algn="l" rtl="0"/>
            <a:endParaRPr lang="zh-CN" altLang="en-US" sz="1200" b="1" dirty="0">
              <a:latin typeface="+mn-lt"/>
              <a:ea typeface="+mn-ea"/>
              <a:cs typeface="Courier New" panose="02070309020205020404" pitchFamily="49" charset="0"/>
            </a:endParaRPr>
          </a:p>
          <a:p>
            <a:pPr algn="l" rtl="0"/>
            <a:r>
              <a:rPr lang="en-US" altLang="zh-CN" sz="1200" b="1" dirty="0">
                <a:latin typeface="+mn-lt"/>
                <a:ea typeface="+mn-ea"/>
                <a:cs typeface="Courier New" panose="02070309020205020404" pitchFamily="49" charset="0"/>
              </a:rPr>
              <a:t>Destination/Masque Proto Pré-indicateurs de coût	</a:t>
            </a:r>
            <a:r>
              <a:rPr lang="en-US" altLang="zh-CN" sz="1200" b="1" dirty="0" err="1">
                <a:latin typeface="+mn-lt"/>
                <a:ea typeface="+mn-ea"/>
                <a:cs typeface="Courier New" panose="02070309020205020404" pitchFamily="49" charset="0"/>
              </a:rPr>
              <a:t>NextHop</a:t>
            </a:r>
            <a:r>
              <a:rPr lang="en-US" altLang="zh-CN" sz="1200" b="1" dirty="0">
                <a:latin typeface="+mn-lt"/>
                <a:ea typeface="+mn-ea"/>
                <a:cs typeface="Courier New" panose="02070309020205020404" pitchFamily="49" charset="0"/>
              </a:rPr>
              <a:t>   Interface</a:t>
            </a:r>
            <a:endParaRPr lang="zh-CN" altLang="en-US" sz="1200" b="1" dirty="0">
              <a:latin typeface="+mn-lt"/>
              <a:ea typeface="+mn-ea"/>
              <a:cs typeface="Courier New" panose="02070309020205020404" pitchFamily="49" charset="0"/>
            </a:endParaRPr>
          </a:p>
          <a:p>
            <a:pPr algn="l" rtl="0"/>
            <a:r>
              <a:rPr lang="zh-CN" altLang="en-US" sz="1200" b="1" dirty="0">
                <a:latin typeface="+mn-lt"/>
                <a:ea typeface="+mn-ea"/>
                <a:cs typeface="Courier New" panose="02070309020205020404" pitchFamily="49" charset="0"/>
              </a:rPr>
              <a:t>   </a:t>
            </a:r>
            <a:r>
              <a:rPr lang="en-US" altLang="zh-CN" sz="1200" b="1" dirty="0">
                <a:latin typeface="+mn-lt"/>
                <a:ea typeface="+mn-ea"/>
                <a:cs typeface="Courier New" panose="02070309020205020404" pitchFamily="49" charset="0"/>
              </a:rPr>
              <a:t>10.1.1.0/24 Direct 0 0 D 10.1.1.2   </a:t>
            </a:r>
            <a:r>
              <a:rPr lang="en-US" altLang="zh-CN" sz="1200" b="1" dirty="0" err="1">
                <a:latin typeface="+mn-lt"/>
                <a:ea typeface="+mn-ea"/>
                <a:cs typeface="Courier New" panose="02070309020205020404" pitchFamily="49" charset="0"/>
              </a:rPr>
              <a:t>Gigabit Ethernet</a:t>
            </a:r>
            <a:r>
              <a:rPr lang="en-US" altLang="zh-CN" sz="1200" b="1" dirty="0">
                <a:latin typeface="+mn-lt"/>
                <a:ea typeface="+mn-ea"/>
                <a:cs typeface="Courier New" panose="02070309020205020404" pitchFamily="49" charset="0"/>
              </a:rPr>
              <a:t>0/0/2</a:t>
            </a:r>
            <a:endParaRPr lang="zh-CN" altLang="en-US" sz="1200" b="1" dirty="0">
              <a:latin typeface="+mn-lt"/>
              <a:ea typeface="+mn-ea"/>
              <a:cs typeface="Courier New" panose="02070309020205020404" pitchFamily="49" charset="0"/>
            </a:endParaRPr>
          </a:p>
          <a:p>
            <a:pPr algn="l" rtl="0"/>
            <a:r>
              <a:rPr lang="en-US" altLang="zh-CN" sz="1200" b="1" dirty="0">
                <a:latin typeface="+mn-lt"/>
                <a:ea typeface="+mn-ea"/>
                <a:cs typeface="Courier New" panose="02070309020205020404" pitchFamily="49" charset="0"/>
              </a:rPr>
              <a:t>   10.1.2.0/24 Direct 0 0 D 10.1.2.2   </a:t>
            </a:r>
            <a:r>
              <a:rPr lang="en-US" altLang="zh-CN" sz="1200" b="1" dirty="0" err="1">
                <a:latin typeface="+mn-lt"/>
                <a:ea typeface="+mn-ea"/>
                <a:cs typeface="Courier New" panose="02070309020205020404" pitchFamily="49" charset="0"/>
              </a:rPr>
              <a:t>Gigabit Ethernet</a:t>
            </a:r>
            <a:r>
              <a:rPr lang="en-US" altLang="zh-CN" sz="1200" b="1" dirty="0">
                <a:latin typeface="+mn-lt"/>
                <a:ea typeface="+mn-ea"/>
                <a:cs typeface="Courier New" panose="02070309020205020404" pitchFamily="49" charset="0"/>
              </a:rPr>
              <a:t>4/0/0</a:t>
            </a:r>
            <a:endParaRPr lang="zh-CN" altLang="en-US" sz="1200" b="1" dirty="0">
              <a:latin typeface="+mn-lt"/>
              <a:ea typeface="+mn-ea"/>
              <a:cs typeface="Courier New" panose="02070309020205020404" pitchFamily="49" charset="0"/>
            </a:endParaRPr>
          </a:p>
          <a:p>
            <a:pPr algn="l" rtl="0"/>
            <a:r>
              <a:rPr lang="en-US" altLang="zh-CN" sz="1200" b="1" dirty="0">
                <a:solidFill>
                  <a:srgbClr val="C00000"/>
                </a:solidFill>
                <a:latin typeface="+mn-lt"/>
                <a:ea typeface="+mn-ea"/>
                <a:cs typeface="Courier New" panose="02070309020205020404" pitchFamily="49" charset="0"/>
              </a:rPr>
              <a:t>   10.1.3.0/24	</a:t>
            </a:r>
            <a:r>
              <a:rPr lang="en-US" altLang="zh-CN" sz="1200" b="1" dirty="0">
                <a:latin typeface="+mn-lt"/>
                <a:ea typeface="+mn-ea"/>
                <a:cs typeface="Courier New" panose="02070309020205020404" pitchFamily="49" charset="0"/>
              </a:rPr>
              <a:t>OSPF 10 3 D	</a:t>
            </a:r>
            <a:r>
              <a:rPr lang="en-US" altLang="zh-CN" sz="1200" b="1" dirty="0">
                <a:solidFill>
                  <a:srgbClr val="C00000"/>
                </a:solidFill>
                <a:latin typeface="+mn-lt"/>
                <a:ea typeface="+mn-ea"/>
                <a:cs typeface="Courier New" panose="02070309020205020404" pitchFamily="49" charset="0"/>
              </a:rPr>
              <a:t>12.1.1.2</a:t>
            </a:r>
            <a:r>
              <a:rPr lang="en-US" altLang="zh-CN" sz="1200" b="1" dirty="0">
                <a:latin typeface="+mn-lt"/>
                <a:ea typeface="+mn-ea"/>
                <a:cs typeface="Courier New" panose="02070309020205020404" pitchFamily="49" charset="0"/>
              </a:rPr>
              <a:t>  </a:t>
            </a:r>
            <a:r>
              <a:rPr lang="en-US" altLang="zh-CN" sz="1200" b="1" dirty="0" err="1">
                <a:latin typeface="+mn-lt"/>
                <a:ea typeface="+mn-ea"/>
                <a:cs typeface="Courier New" panose="02070309020205020404" pitchFamily="49" charset="0"/>
              </a:rPr>
              <a:t>Gigabit Ethernet</a:t>
            </a:r>
            <a:r>
              <a:rPr lang="en-US" altLang="zh-CN" sz="1200" b="1" dirty="0">
                <a:latin typeface="+mn-lt"/>
                <a:ea typeface="+mn-ea"/>
                <a:cs typeface="Courier New" panose="02070309020205020404" pitchFamily="49" charset="0"/>
              </a:rPr>
              <a:t>0/0/0</a:t>
            </a:r>
            <a:endParaRPr lang="zh-CN" altLang="en-US" sz="1200" b="1" dirty="0">
              <a:latin typeface="+mn-lt"/>
              <a:ea typeface="+mn-ea"/>
              <a:cs typeface="Courier New" panose="02070309020205020404" pitchFamily="49" charset="0"/>
            </a:endParaRPr>
          </a:p>
        </p:txBody>
      </p:sp>
    </p:spTree>
    <p:extLst>
      <p:ext uri="{BB962C8B-B14F-4D97-AF65-F5344CB8AC3E}">
        <p14:creationId xmlns:p14="http://schemas.microsoft.com/office/powerpoint/2010/main" val="24284871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2"/>
          </p:nvPr>
        </p:nvSpPr>
        <p:spPr>
          <a:xfrm>
            <a:off x="1595500" y="44624"/>
            <a:ext cx="9831600" cy="1178168"/>
          </a:xfrm>
        </p:spPr>
        <p:txBody>
          <a:bodyPr/>
          <a:lstStyle/>
          <a:p>
            <a:pPr algn="l" rtl="0"/>
            <a:r>
              <a:rPr lang="en-US" altLang="zh-CN" dirty="0"/>
              <a:t>Différences entre la politique de routage et le PBR</a:t>
            </a:r>
            <a:endParaRPr lang="zh-CN" altLang="en-US" dirty="0"/>
          </a:p>
        </p:txBody>
      </p:sp>
      <p:graphicFrame>
        <p:nvGraphicFramePr>
          <p:cNvPr id="2" name="表格 1"/>
          <p:cNvGraphicFramePr>
            <a:graphicFrameLocks noGrp="1"/>
          </p:cNvGraphicFramePr>
          <p:nvPr>
            <p:extLst>
              <p:ext uri="{D42A27DB-BD31-4B8C-83A1-F6EECF244321}">
                <p14:modId xmlns:p14="http://schemas.microsoft.com/office/powerpoint/2010/main" val="188963047"/>
              </p:ext>
            </p:extLst>
          </p:nvPr>
        </p:nvGraphicFramePr>
        <p:xfrm>
          <a:off x="2423592" y="1304764"/>
          <a:ext cx="7560840" cy="4850916"/>
        </p:xfrm>
        <a:graphic>
          <a:graphicData uri="http://schemas.openxmlformats.org/drawingml/2006/table">
            <a:tbl>
              <a:tblPr/>
              <a:tblGrid>
                <a:gridCol w="3020232">
                  <a:extLst>
                    <a:ext uri="{9D8B030D-6E8A-4147-A177-3AD203B41FA5}">
                      <a16:colId xmlns:a16="http://schemas.microsoft.com/office/drawing/2014/main" val="20000"/>
                    </a:ext>
                  </a:extLst>
                </a:gridCol>
                <a:gridCol w="4540608">
                  <a:extLst>
                    <a:ext uri="{9D8B030D-6E8A-4147-A177-3AD203B41FA5}">
                      <a16:colId xmlns:a16="http://schemas.microsoft.com/office/drawing/2014/main" val="20001"/>
                    </a:ext>
                  </a:extLst>
                </a:gridCol>
              </a:tblGrid>
              <a:tr h="569865">
                <a:tc>
                  <a:txBody>
                    <a:bodyPr/>
                    <a:lstStyle/>
                    <a:p>
                      <a:pPr marL="0" marR="0" lvl="0" indent="0" algn="ctr" defTabSz="914400" rtl="0" eaLnBrk="0" fontAlgn="t" latinLnBrk="0" hangingPunct="0">
                        <a:lnSpc>
                          <a:spcPct val="100000"/>
                        </a:lnSpc>
                        <a:spcBef>
                          <a:spcPct val="0"/>
                        </a:spcBef>
                        <a:spcAft>
                          <a:spcPct val="0"/>
                        </a:spcAft>
                        <a:buClrTx/>
                        <a:buSzPct val="100000"/>
                        <a:buFontTx/>
                        <a:buNone/>
                        <a:tabLst/>
                      </a:pPr>
                      <a:r>
                        <a:rPr kumimoji="0" lang="zh-CN" altLang="zh-CN" sz="2000" b="1" u="none" strike="noStrike" cap="none" normalizeH="0" baseline="0" dirty="0">
                          <a:ln>
                            <a:noFill/>
                          </a:ln>
                          <a:effectLst/>
                          <a:latin typeface="+mn-lt"/>
                          <a:sym typeface="FrutigerNext LT Regular" pitchFamily="34" charset="0"/>
                        </a:rPr>
                        <a:t>Politique de routage</a:t>
                      </a:r>
                      <a:endParaRPr kumimoji="0" lang="zh-CN" altLang="zh-CN" sz="2000" b="1" i="0" u="none" strike="noStrike" cap="none" normalizeH="0" baseline="0" dirty="0">
                        <a:ln>
                          <a:noFill/>
                        </a:ln>
                        <a:solidFill>
                          <a:srgbClr val="000000"/>
                        </a:solidFill>
                        <a:effectLst/>
                        <a:latin typeface="+mn-lt"/>
                        <a:ea typeface="华文细黑" pitchFamily="2" charset="-122"/>
                        <a:sym typeface="FrutigerNext LT Regular"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400" rtl="0" eaLnBrk="0" fontAlgn="t" latinLnBrk="0" hangingPunct="0">
                        <a:lnSpc>
                          <a:spcPct val="100000"/>
                        </a:lnSpc>
                        <a:spcBef>
                          <a:spcPct val="0"/>
                        </a:spcBef>
                        <a:spcAft>
                          <a:spcPct val="0"/>
                        </a:spcAft>
                        <a:buClrTx/>
                        <a:buSzPct val="100000"/>
                        <a:buFontTx/>
                        <a:buNone/>
                        <a:tabLst/>
                      </a:pPr>
                      <a:r>
                        <a:rPr kumimoji="0" lang="zh-CN" altLang="zh-CN" sz="2000" b="1" u="none" strike="noStrike" cap="none" normalizeH="0" baseline="0" dirty="0">
                          <a:ln>
                            <a:noFill/>
                          </a:ln>
                          <a:effectLst/>
                          <a:latin typeface="+mn-lt"/>
                          <a:sym typeface="FrutigerNext LT Regular" pitchFamily="34" charset="0"/>
                        </a:rPr>
                        <a:t>Routage basé sur des politiques</a:t>
                      </a:r>
                      <a:endParaRPr kumimoji="0" lang="zh-CN" altLang="zh-CN" sz="2000" b="1" i="0" u="none" strike="noStrike" cap="none" normalizeH="0" baseline="0" dirty="0">
                        <a:ln>
                          <a:noFill/>
                        </a:ln>
                        <a:solidFill>
                          <a:srgbClr val="000000"/>
                        </a:solidFill>
                        <a:effectLst/>
                        <a:latin typeface="+mn-lt"/>
                        <a:ea typeface="华文细黑" pitchFamily="2" charset="-122"/>
                        <a:sym typeface="FrutigerNext LT Regular"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250725">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a:ln>
                            <a:noFill/>
                          </a:ln>
                          <a:effectLst/>
                          <a:latin typeface="+mn-lt"/>
                          <a:sym typeface="FrutigerNext LT Regular" pitchFamily="34" charset="0"/>
                        </a:rPr>
                        <a:t>En fonction du plan de contrôle, affecter les entrées de routage.</a:t>
                      </a:r>
                      <a:endParaRPr kumimoji="0" lang="zh-CN" altLang="zh-CN" sz="1800" b="0" i="0" u="none" strike="noStrike" cap="none" normalizeH="0" baseline="0" dirty="0">
                        <a:ln>
                          <a:noFill/>
                        </a:ln>
                        <a:solidFill>
                          <a:srgbClr val="000000"/>
                        </a:solidFill>
                        <a:effectLst/>
                        <a:latin typeface="+mn-lt"/>
                        <a:ea typeface="华文细黑" pitchFamily="2" charset="-122"/>
                        <a:sym typeface="FrutigerNext LT Regular"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a:ln>
                            <a:noFill/>
                          </a:ln>
                          <a:effectLst/>
                          <a:latin typeface="+mn-lt"/>
                          <a:sym typeface="FrutigerNext LT Regular" pitchFamily="34" charset="0"/>
                        </a:rPr>
                        <a:t>En fonction du plan de transmission,</a:t>
                      </a:r>
                      <a:r>
                        <a:rPr kumimoji="0" lang="en-US" altLang="zh-CN" sz="1800" u="none" strike="noStrike" cap="none" normalizeH="0" baseline="0" dirty="0">
                          <a:ln>
                            <a:noFill/>
                          </a:ln>
                          <a:effectLst/>
                          <a:latin typeface="+mn-lt"/>
                          <a:sym typeface="FrutigerNext LT Regular" pitchFamily="34" charset="0"/>
                        </a:rPr>
                        <a:t>faire</a:t>
                      </a:r>
                      <a:r>
                        <a:rPr kumimoji="0" lang="zh-CN" altLang="zh-CN" sz="1800" u="none" strike="noStrike" cap="none" normalizeH="0" baseline="0" dirty="0">
                          <a:ln>
                            <a:noFill/>
                          </a:ln>
                          <a:effectLst/>
                          <a:latin typeface="+mn-lt"/>
                          <a:sym typeface="FrutigerNext LT Regular" pitchFamily="34" charset="0"/>
                        </a:rPr>
                        <a:t>Cela n'affecte pas les entrées de routage. Les paquets sont acheminés en priorité selon la politique de routage, puis selon la table de routage si l'acheminement basé sur la politique échoue.</a:t>
                      </a:r>
                      <a:endParaRPr kumimoji="0" lang="zh-CN" altLang="zh-CN" sz="1800" b="0" i="0" u="none" strike="noStrike" cap="none" normalizeH="0" baseline="0" dirty="0">
                        <a:ln>
                          <a:noFill/>
                        </a:ln>
                        <a:solidFill>
                          <a:srgbClr val="000000"/>
                        </a:solidFill>
                        <a:effectLst/>
                        <a:latin typeface="+mn-lt"/>
                        <a:ea typeface="华文细黑" pitchFamily="2" charset="-122"/>
                        <a:sym typeface="FrutigerNext LT Regular"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14891">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a:ln>
                            <a:noFill/>
                          </a:ln>
                          <a:effectLst/>
                          <a:latin typeface="+mn-lt"/>
                          <a:sym typeface="FrutigerNext LT Regular" pitchFamily="34" charset="0"/>
                        </a:rPr>
                        <a:t>Politique basée sur l'adresse de destination.</a:t>
                      </a:r>
                      <a:endParaRPr kumimoji="0" lang="zh-CN" altLang="zh-CN" sz="1800" b="0" i="0" u="none" strike="noStrike" cap="none" normalizeH="0" baseline="0" dirty="0">
                        <a:ln>
                          <a:noFill/>
                        </a:ln>
                        <a:solidFill>
                          <a:srgbClr val="000000"/>
                        </a:solidFill>
                        <a:effectLst/>
                        <a:latin typeface="+mn-lt"/>
                        <a:ea typeface="华文细黑" pitchFamily="2" charset="-122"/>
                        <a:sym typeface="FrutigerNext LT Regular"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a:ln>
                            <a:noFill/>
                          </a:ln>
                          <a:effectLst/>
                          <a:latin typeface="+mn-lt"/>
                          <a:sym typeface="FrutigerNext LT Regular" pitchFamily="34" charset="0"/>
                        </a:rPr>
                        <a:t>Politique basée sur l'adresse source, l'adresse de destination, le type de protocole et la taille du paquet.</a:t>
                      </a:r>
                      <a:endParaRPr kumimoji="0" lang="zh-CN" altLang="zh-CN" sz="1800" b="0" i="0" u="none" strike="noStrike" cap="none" normalizeH="0" baseline="0" dirty="0">
                        <a:ln>
                          <a:noFill/>
                        </a:ln>
                        <a:solidFill>
                          <a:srgbClr val="000000"/>
                        </a:solidFill>
                        <a:effectLst/>
                        <a:latin typeface="+mn-lt"/>
                        <a:ea typeface="华文细黑" pitchFamily="2" charset="-122"/>
                        <a:sym typeface="FrutigerNext LT Regular"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962096">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a:ln>
                            <a:noFill/>
                          </a:ln>
                          <a:effectLst/>
                          <a:latin typeface="+mn-lt"/>
                          <a:sym typeface="FrutigerNext LT Regular" pitchFamily="34" charset="0"/>
                        </a:rPr>
                        <a:t>Utilisé avec le protocole de routage.</a:t>
                      </a:r>
                      <a:endParaRPr kumimoji="0" lang="zh-CN" altLang="zh-CN" sz="1800" b="0" i="0" u="none" strike="noStrike" cap="none" normalizeH="0" baseline="0" dirty="0">
                        <a:ln>
                          <a:noFill/>
                        </a:ln>
                        <a:solidFill>
                          <a:srgbClr val="000000"/>
                        </a:solidFill>
                        <a:effectLst/>
                        <a:latin typeface="+mn-lt"/>
                        <a:ea typeface="华文细黑" pitchFamily="2" charset="-122"/>
                        <a:sym typeface="FrutigerNext LT Regular"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a:ln>
                            <a:noFill/>
                          </a:ln>
                          <a:effectLst/>
                          <a:latin typeface="+mn-lt"/>
                          <a:sym typeface="FrutigerNext LT Regular" pitchFamily="34" charset="0"/>
                        </a:rPr>
                        <a:t>Une politique de routage doit être configurée manuellement, saut par saut, pour garantir que les paquets sont acheminés conformément à cette politique.</a:t>
                      </a:r>
                      <a:endParaRPr kumimoji="0" lang="zh-CN" altLang="zh-CN" sz="1800" b="0" i="0" u="none" strike="noStrike" cap="none" normalizeH="0" baseline="0" dirty="0">
                        <a:ln>
                          <a:noFill/>
                        </a:ln>
                        <a:solidFill>
                          <a:srgbClr val="000000"/>
                        </a:solidFill>
                        <a:effectLst/>
                        <a:latin typeface="+mn-lt"/>
                        <a:ea typeface="华文细黑" pitchFamily="2" charset="-122"/>
                        <a:sym typeface="FrutigerNext LT Regular"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14891">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a:ln>
                            <a:noFill/>
                          </a:ln>
                          <a:effectLst/>
                          <a:latin typeface="+mn-lt"/>
                          <a:sym typeface="FrutigerNext LT Regular" pitchFamily="34" charset="0"/>
                        </a:rPr>
                        <a:t>Outils : stratégie de routage, stratégie de filtrage, etc.</a:t>
                      </a:r>
                      <a:r>
                        <a:rPr kumimoji="0" lang="en-US" altLang="zh-CN" sz="1800" u="none" strike="noStrike" cap="none" normalizeH="0" baseline="0" dirty="0">
                          <a:ln>
                            <a:noFill/>
                          </a:ln>
                          <a:effectLst/>
                          <a:latin typeface="+mn-lt"/>
                          <a:sym typeface="FrutigerNext LT Regular" pitchFamily="34" charset="0"/>
                        </a:rPr>
                        <a:t>.</a:t>
                      </a:r>
                      <a:endParaRPr kumimoji="0" lang="zh-CN" altLang="zh-CN" sz="1800" b="0" i="0" u="none" strike="noStrike" cap="none" normalizeH="0" baseline="0" dirty="0">
                        <a:ln>
                          <a:noFill/>
                        </a:ln>
                        <a:solidFill>
                          <a:srgbClr val="000000"/>
                        </a:solidFill>
                        <a:effectLst/>
                        <a:latin typeface="+mn-lt"/>
                        <a:ea typeface="华文细黑" pitchFamily="2" charset="-122"/>
                        <a:sym typeface="FrutigerNext LT Regular"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400" rtl="0" eaLnBrk="0" fontAlgn="t" latinLnBrk="0" hangingPunct="0">
                        <a:lnSpc>
                          <a:spcPct val="100000"/>
                        </a:lnSpc>
                        <a:spcBef>
                          <a:spcPct val="0"/>
                        </a:spcBef>
                        <a:spcAft>
                          <a:spcPct val="0"/>
                        </a:spcAft>
                        <a:buClrTx/>
                        <a:buSzPct val="100000"/>
                        <a:buFontTx/>
                        <a:buNone/>
                        <a:tabLst/>
                      </a:pPr>
                      <a:r>
                        <a:rPr kumimoji="0" lang="zh-CN" altLang="zh-CN" sz="1800" u="none" strike="noStrike" cap="none" normalizeH="0" baseline="0" dirty="0">
                          <a:ln>
                            <a:noFill/>
                          </a:ln>
                          <a:effectLst/>
                          <a:latin typeface="+mn-lt"/>
                          <a:sym typeface="FrutigerNext LT Regular" pitchFamily="34" charset="0"/>
                        </a:rPr>
                        <a:t>Outils : Filtre de trafic, Politique de trafic, Routage basé sur les politiques, etc.</a:t>
                      </a:r>
                      <a:r>
                        <a:rPr kumimoji="0" lang="en-US" altLang="zh-CN" sz="1800" u="none" strike="noStrike" cap="none" normalizeH="0" baseline="0" dirty="0">
                          <a:ln>
                            <a:noFill/>
                          </a:ln>
                          <a:effectLst/>
                          <a:latin typeface="+mn-lt"/>
                          <a:sym typeface="FrutigerNext LT Regular" pitchFamily="34" charset="0"/>
                        </a:rPr>
                        <a:t>.</a:t>
                      </a:r>
                      <a:endParaRPr kumimoji="0" lang="zh-CN" altLang="zh-CN" sz="1800" b="0" i="0" u="none" strike="noStrike" cap="none" normalizeH="0" baseline="0" dirty="0">
                        <a:ln>
                          <a:noFill/>
                        </a:ln>
                        <a:solidFill>
                          <a:srgbClr val="000000"/>
                        </a:solidFill>
                        <a:effectLst/>
                        <a:latin typeface="+mn-lt"/>
                        <a:ea typeface="华文细黑" pitchFamily="2" charset="-122"/>
                        <a:sym typeface="FrutigerNext LT Regular"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211826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文本占位符 3"/>
          <p:cNvSpPr>
            <a:spLocks noGrp="1"/>
          </p:cNvSpPr>
          <p:nvPr>
            <p:ph type="body" sz="quarter" idx="10"/>
          </p:nvPr>
        </p:nvSpPr>
        <p:spPr/>
        <p:txBody>
          <a:bodyPr/>
          <a:lstStyle/>
          <a:p>
            <a:pPr algn="l" rtl="0"/>
            <a:r>
              <a:rPr lang="en-US" altLang="zh-CN" dirty="0">
                <a:solidFill>
                  <a:schemeClr val="bg1">
                    <a:lumMod val="50000"/>
                  </a:schemeClr>
                </a:solidFill>
                <a:sym typeface="FrutigerNext LT Regular" pitchFamily="34" charset="0"/>
              </a:rPr>
              <a:t>Exigence de contrôle du comportement de la circulation</a:t>
            </a:r>
          </a:p>
          <a:p>
            <a:pPr algn="l" rtl="0"/>
            <a:r>
              <a:rPr lang="en-US" altLang="zh-CN" dirty="0">
                <a:solidFill>
                  <a:schemeClr val="bg1">
                    <a:lumMod val="50000"/>
                  </a:schemeClr>
                </a:solidFill>
                <a:sym typeface="FrutigerNext LT Regular" pitchFamily="34" charset="0"/>
              </a:rPr>
              <a:t>Portée du contrôle</a:t>
            </a:r>
          </a:p>
          <a:p>
            <a:pPr algn="l" rtl="0"/>
            <a:r>
              <a:rPr lang="en-US" altLang="zh-CN" dirty="0">
                <a:solidFill>
                  <a:schemeClr val="bg1">
                    <a:lumMod val="50000"/>
                  </a:schemeClr>
                </a:solidFill>
                <a:sym typeface="FrutigerNext LT Regular" pitchFamily="34" charset="0"/>
              </a:rPr>
              <a:t>Ajuster le chemin du trafic réseau</a:t>
            </a:r>
          </a:p>
          <a:p>
            <a:pPr algn="l" rtl="0"/>
            <a:r>
              <a:rPr lang="en-US" altLang="zh-CN" b="1" dirty="0">
                <a:sym typeface="FrutigerNext LT Regular" pitchFamily="34" charset="0"/>
              </a:rPr>
              <a:t>Problèmes liés à l'importation d'itinéraires et solutions</a:t>
            </a:r>
          </a:p>
        </p:txBody>
      </p:sp>
    </p:spTree>
    <p:extLst>
      <p:ext uri="{BB962C8B-B14F-4D97-AF65-F5344CB8AC3E}">
        <p14:creationId xmlns:p14="http://schemas.microsoft.com/office/powerpoint/2010/main" val="20552274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lgn="l" rtl="0"/>
            <a:r>
              <a:rPr lang="en-US" altLang="zh-CN" dirty="0">
                <a:latin typeface="+mn-lt"/>
                <a:sym typeface="FrutigerNext LT Regular" pitchFamily="34" charset="0"/>
              </a:rPr>
              <a:t>Dans l'exemple précédent, quatre routeurs utilisent le même protocole. Que se passera-t-il s'ils utilisent des protocoles différents ?</a:t>
            </a:r>
          </a:p>
        </p:txBody>
      </p:sp>
      <p:sp>
        <p:nvSpPr>
          <p:cNvPr id="5" name="文本占位符 4"/>
          <p:cNvSpPr>
            <a:spLocks noGrp="1"/>
          </p:cNvSpPr>
          <p:nvPr>
            <p:ph type="body" sz="quarter" idx="12"/>
          </p:nvPr>
        </p:nvSpPr>
        <p:spPr>
          <a:xfrm>
            <a:off x="1595500" y="54588"/>
            <a:ext cx="9831600" cy="1178168"/>
          </a:xfrm>
        </p:spPr>
        <p:txBody>
          <a:bodyPr/>
          <a:lstStyle/>
          <a:p>
            <a:pPr algn="l" rtl="0"/>
            <a:r>
              <a:rPr lang="en-US" altLang="zh-CN" dirty="0"/>
              <a:t>Ajustement du chemin du trafic réseau - Protocoles multiples</a:t>
            </a:r>
            <a:endParaRPr lang="zh-CN" altLang="en-US" dirty="0"/>
          </a:p>
        </p:txBody>
      </p:sp>
      <p:grpSp>
        <p:nvGrpSpPr>
          <p:cNvPr id="6" name="组合 5"/>
          <p:cNvGrpSpPr/>
          <p:nvPr/>
        </p:nvGrpSpPr>
        <p:grpSpPr>
          <a:xfrm>
            <a:off x="2198188" y="2241068"/>
            <a:ext cx="7838840" cy="3916071"/>
            <a:chOff x="2198188" y="2241068"/>
            <a:chExt cx="7838840" cy="3916071"/>
          </a:xfrm>
        </p:grpSpPr>
        <p:sp>
          <p:nvSpPr>
            <p:cNvPr id="45" name="圆角矩形 44"/>
            <p:cNvSpPr/>
            <p:nvPr/>
          </p:nvSpPr>
          <p:spPr bwMode="auto">
            <a:xfrm>
              <a:off x="2402808" y="4200526"/>
              <a:ext cx="1578642" cy="96837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800" dirty="0">
                <a:latin typeface="+mn-lt"/>
                <a:ea typeface="+mn-ea"/>
              </a:endParaRPr>
            </a:p>
          </p:txBody>
        </p:sp>
        <p:sp>
          <p:nvSpPr>
            <p:cNvPr id="44" name="圆角矩形 43"/>
            <p:cNvSpPr/>
            <p:nvPr/>
          </p:nvSpPr>
          <p:spPr bwMode="auto">
            <a:xfrm>
              <a:off x="2402809" y="3024189"/>
              <a:ext cx="1584991" cy="96837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800" dirty="0">
                <a:latin typeface="+mn-lt"/>
                <a:ea typeface="+mn-ea"/>
              </a:endParaRPr>
            </a:p>
          </p:txBody>
        </p:sp>
        <p:sp>
          <p:nvSpPr>
            <p:cNvPr id="42" name="圆角矩形 41"/>
            <p:cNvSpPr/>
            <p:nvPr/>
          </p:nvSpPr>
          <p:spPr bwMode="auto">
            <a:xfrm>
              <a:off x="8858250" y="3621089"/>
              <a:ext cx="1099216" cy="1089025"/>
            </a:xfrm>
            <a:prstGeom prst="roundRect">
              <a:avLst/>
            </a:prstGeom>
            <a:solidFill>
              <a:schemeClr val="bg1">
                <a:lumMod val="85000"/>
              </a:schemeClr>
            </a:solidFill>
            <a:ln w="28575" cap="flat" cmpd="sng" algn="ctr">
              <a:solidFill>
                <a:schemeClr val="bg2"/>
              </a:solidFill>
              <a:prstDash val="sysDot"/>
              <a:round/>
              <a:headEnd type="none" w="med" len="med"/>
              <a:tailEnd type="none" w="med" len="med"/>
            </a:ln>
            <a:effectLst/>
          </p:spPr>
          <p:txBody>
            <a:bodyPr/>
            <a:lstStyle/>
            <a:p>
              <a:pPr algn="l" rtl="0" fontAlgn="t">
                <a:defRPr/>
              </a:pPr>
              <a:endParaRPr lang="en-US" altLang="zh-CN" sz="800" dirty="0">
                <a:latin typeface="+mn-lt"/>
                <a:ea typeface="+mn-ea"/>
              </a:endParaRPr>
            </a:p>
          </p:txBody>
        </p:sp>
        <p:sp>
          <p:nvSpPr>
            <p:cNvPr id="72" name="AutoShape 21"/>
            <p:cNvSpPr>
              <a:spLocks noChangeArrowheads="1"/>
            </p:cNvSpPr>
            <p:nvPr/>
          </p:nvSpPr>
          <p:spPr bwMode="auto">
            <a:xfrm>
              <a:off x="6069806" y="5676127"/>
              <a:ext cx="2241550" cy="481012"/>
            </a:xfrm>
            <a:prstGeom prst="wedgeRectCallout">
              <a:avLst>
                <a:gd name="adj1" fmla="val -26889"/>
                <a:gd name="adj2" fmla="val -111403"/>
              </a:avLst>
            </a:prstGeom>
            <a:noFill/>
            <a:ln w="3175" algn="ctr">
              <a:solidFill>
                <a:srgbClr val="999999"/>
              </a:solidFill>
              <a:miter lim="800000"/>
              <a:headEnd/>
              <a:tailEnd/>
            </a:ln>
          </p:spPr>
          <p:txBody>
            <a:bodyPr lIns="0" tIns="0" rIns="0" bIns="0" anchor="ctr" anchorCtr="1"/>
            <a:lstStyle/>
            <a:p>
              <a:pPr marL="228600" indent="-228600" algn="l" rtl="0" eaLnBrk="0" hangingPunct="0">
                <a:buSzPct val="80000"/>
                <a:buFont typeface="+mj-ea"/>
                <a:buAutoNum type="circleNumDbPlain" startAt="2"/>
              </a:pPr>
              <a:r>
                <a:rPr lang="en-US" altLang="zh-CN" sz="1100" dirty="0">
                  <a:solidFill>
                    <a:srgbClr val="000000"/>
                  </a:solidFill>
                  <a:latin typeface="+mn-lt"/>
                  <a:ea typeface="+mn-ea"/>
                  <a:cs typeface="Courier New" panose="02070309020205020404" pitchFamily="49" charset="0"/>
                  <a:sym typeface="FrutigerNext LT Regular" pitchFamily="34" charset="0"/>
                </a:rPr>
                <a:t>ospf 1</a:t>
              </a:r>
            </a:p>
            <a:p>
              <a:pPr algn="l" rtl="0" eaLnBrk="0" fontAlgn="t" hangingPunct="0">
                <a:buSzPct val="80000"/>
              </a:pPr>
              <a:r>
                <a:rPr lang="en-US" altLang="zh-CN" sz="1100" dirty="0">
                  <a:solidFill>
                    <a:srgbClr val="000000"/>
                  </a:solidFill>
                  <a:latin typeface="+mn-lt"/>
                  <a:ea typeface="+mn-ea"/>
                  <a:cs typeface="Courier New" panose="02070309020205020404" pitchFamily="49" charset="0"/>
                  <a:sym typeface="FrutigerNext LT Regular" pitchFamily="34" charset="0"/>
                </a:rPr>
                <a:t>route d'importation rip 1 type 1</a:t>
              </a:r>
            </a:p>
          </p:txBody>
        </p:sp>
        <p:sp>
          <p:nvSpPr>
            <p:cNvPr id="71" name="AutoShape 21"/>
            <p:cNvSpPr>
              <a:spLocks noChangeArrowheads="1"/>
            </p:cNvSpPr>
            <p:nvPr/>
          </p:nvSpPr>
          <p:spPr bwMode="auto">
            <a:xfrm>
              <a:off x="6069806" y="2241068"/>
              <a:ext cx="2241550" cy="436562"/>
            </a:xfrm>
            <a:prstGeom prst="wedgeRectCallout">
              <a:avLst>
                <a:gd name="adj1" fmla="val -28412"/>
                <a:gd name="adj2" fmla="val 108269"/>
              </a:avLst>
            </a:prstGeom>
            <a:noFill/>
            <a:ln w="3175" algn="ctr">
              <a:solidFill>
                <a:srgbClr val="999999"/>
              </a:solidFill>
              <a:miter lim="800000"/>
              <a:headEnd/>
              <a:tailEnd/>
            </a:ln>
          </p:spPr>
          <p:txBody>
            <a:bodyPr lIns="0" tIns="0" rIns="0" bIns="0" anchor="ctr" anchorCtr="1"/>
            <a:lstStyle/>
            <a:p>
              <a:pPr algn="l" rtl="0" eaLnBrk="0" fontAlgn="t" hangingPunct="0">
                <a:buSzPct val="80000"/>
                <a:buFont typeface="黑体" pitchFamily="49" charset="-122"/>
                <a:buAutoNum type="circleNumDbPlain"/>
              </a:pPr>
              <a:r>
                <a:rPr lang="en-US" altLang="zh-CN" sz="1100" dirty="0">
                  <a:solidFill>
                    <a:srgbClr val="000000"/>
                  </a:solidFill>
                  <a:latin typeface="+mn-lt"/>
                  <a:ea typeface="+mn-ea"/>
                  <a:cs typeface="Courier New" panose="02070309020205020404" pitchFamily="49" charset="0"/>
                  <a:sym typeface="FrutigerNext LT Regular" pitchFamily="34" charset="0"/>
                </a:rPr>
                <a:t>ospf 1</a:t>
              </a:r>
            </a:p>
            <a:p>
              <a:pPr algn="l" rtl="0" eaLnBrk="0" fontAlgn="t" hangingPunct="0">
                <a:buSzPct val="100000"/>
              </a:pPr>
              <a:r>
                <a:rPr lang="en-US" altLang="zh-CN" sz="1100" dirty="0">
                  <a:solidFill>
                    <a:srgbClr val="000000"/>
                  </a:solidFill>
                  <a:latin typeface="+mn-lt"/>
                  <a:ea typeface="+mn-ea"/>
                  <a:cs typeface="Courier New" panose="02070309020205020404" pitchFamily="49" charset="0"/>
                  <a:sym typeface="FrutigerNext LT Regular" pitchFamily="34" charset="0"/>
                </a:rPr>
                <a:t>route d'importation rip 1 type 1</a:t>
              </a:r>
            </a:p>
          </p:txBody>
        </p:sp>
        <p:cxnSp>
          <p:nvCxnSpPr>
            <p:cNvPr id="50184" name="直接连接符 37"/>
            <p:cNvCxnSpPr>
              <a:cxnSpLocks noChangeShapeType="1"/>
            </p:cNvCxnSpPr>
            <p:nvPr/>
          </p:nvCxnSpPr>
          <p:spPr bwMode="auto">
            <a:xfrm flipH="1" flipV="1">
              <a:off x="3603625" y="3621088"/>
              <a:ext cx="1676400" cy="595312"/>
            </a:xfrm>
            <a:prstGeom prst="line">
              <a:avLst/>
            </a:prstGeom>
            <a:noFill/>
            <a:ln w="28575" algn="ctr">
              <a:solidFill>
                <a:schemeClr val="tx1"/>
              </a:solidFill>
              <a:round/>
              <a:headEnd/>
              <a:tailEnd/>
            </a:ln>
          </p:spPr>
        </p:cxnSp>
        <p:cxnSp>
          <p:nvCxnSpPr>
            <p:cNvPr id="40" name="直接连接符 39"/>
            <p:cNvCxnSpPr>
              <a:cxnSpLocks noChangeAspect="1"/>
            </p:cNvCxnSpPr>
            <p:nvPr/>
          </p:nvCxnSpPr>
          <p:spPr bwMode="auto">
            <a:xfrm rot="60000" flipV="1">
              <a:off x="5383213" y="3228975"/>
              <a:ext cx="1033462" cy="839788"/>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0186" name="直接连接符 40"/>
            <p:cNvCxnSpPr>
              <a:cxnSpLocks noChangeShapeType="1"/>
            </p:cNvCxnSpPr>
            <p:nvPr/>
          </p:nvCxnSpPr>
          <p:spPr bwMode="auto">
            <a:xfrm flipH="1">
              <a:off x="3643313" y="4138614"/>
              <a:ext cx="1738312" cy="534987"/>
            </a:xfrm>
            <a:prstGeom prst="line">
              <a:avLst/>
            </a:prstGeom>
            <a:noFill/>
            <a:ln w="28575" algn="ctr">
              <a:solidFill>
                <a:schemeClr val="tx1"/>
              </a:solidFill>
              <a:round/>
              <a:headEnd/>
              <a:tailEnd/>
            </a:ln>
          </p:spPr>
        </p:cxnSp>
        <p:cxnSp>
          <p:nvCxnSpPr>
            <p:cNvPr id="50187" name="直接连接符 42"/>
            <p:cNvCxnSpPr>
              <a:cxnSpLocks noChangeShapeType="1"/>
            </p:cNvCxnSpPr>
            <p:nvPr/>
          </p:nvCxnSpPr>
          <p:spPr bwMode="auto">
            <a:xfrm>
              <a:off x="6684963" y="3213101"/>
              <a:ext cx="1308100" cy="1057275"/>
            </a:xfrm>
            <a:prstGeom prst="line">
              <a:avLst/>
            </a:prstGeom>
            <a:noFill/>
            <a:ln w="28575" algn="ctr">
              <a:solidFill>
                <a:schemeClr val="tx1"/>
              </a:solidFill>
              <a:round/>
              <a:headEnd/>
              <a:tailEnd/>
            </a:ln>
          </p:spPr>
        </p:cxnSp>
        <p:cxnSp>
          <p:nvCxnSpPr>
            <p:cNvPr id="50188" name="直接连接符 47"/>
            <p:cNvCxnSpPr>
              <a:cxnSpLocks noChangeShapeType="1"/>
            </p:cNvCxnSpPr>
            <p:nvPr/>
          </p:nvCxnSpPr>
          <p:spPr bwMode="auto">
            <a:xfrm flipV="1">
              <a:off x="7851776" y="4292600"/>
              <a:ext cx="1304925" cy="0"/>
            </a:xfrm>
            <a:prstGeom prst="line">
              <a:avLst/>
            </a:prstGeom>
            <a:noFill/>
            <a:ln w="28575" algn="ctr">
              <a:solidFill>
                <a:schemeClr val="tx1"/>
              </a:solidFill>
              <a:round/>
              <a:headEnd/>
              <a:tailEnd/>
            </a:ln>
          </p:spPr>
        </p:cxnSp>
        <p:sp>
          <p:nvSpPr>
            <p:cNvPr id="50189" name="矩形 48"/>
            <p:cNvSpPr>
              <a:spLocks noChangeArrowheads="1"/>
            </p:cNvSpPr>
            <p:nvPr/>
          </p:nvSpPr>
          <p:spPr bwMode="auto">
            <a:xfrm>
              <a:off x="2247258" y="4257092"/>
              <a:ext cx="1076434" cy="553998"/>
            </a:xfrm>
            <a:prstGeom prst="rect">
              <a:avLst/>
            </a:prstGeom>
            <a:noFill/>
            <a:ln w="9525">
              <a:noFill/>
              <a:miter lim="800000"/>
              <a:headEnd/>
              <a:tailEnd/>
            </a:ln>
          </p:spPr>
          <p:txBody>
            <a:bodyPr wrap="square">
              <a:spAutoFit/>
            </a:bodyPr>
            <a:lstStyle/>
            <a:p>
              <a:pPr algn="ctr" rtl="0" eaLnBrk="0" fontAlgn="t" hangingPunct="0">
                <a:buSzPct val="100000"/>
              </a:pPr>
              <a:r>
                <a:rPr lang="en-US" altLang="zh-CN" b="1" dirty="0">
                  <a:solidFill>
                    <a:srgbClr val="000000"/>
                  </a:solidFill>
                  <a:latin typeface="+mn-lt"/>
                  <a:ea typeface="+mn-ea"/>
                  <a:sym typeface="FrutigerNext LT Regular" pitchFamily="34" charset="0"/>
                </a:rPr>
                <a:t>département financier</a:t>
              </a:r>
            </a:p>
            <a:p>
              <a:pPr algn="ctr" rtl="0" eaLnBrk="0" fontAlgn="t" hangingPunct="0">
                <a:buSzPct val="100000"/>
              </a:pPr>
              <a:r>
                <a:rPr lang="en-US" altLang="zh-CN" b="1" dirty="0">
                  <a:solidFill>
                    <a:srgbClr val="000000"/>
                  </a:solidFill>
                  <a:latin typeface="+mn-lt"/>
                  <a:ea typeface="+mn-ea"/>
                  <a:sym typeface="FrutigerNext LT Regular" pitchFamily="34" charset="0"/>
                </a:rPr>
                <a:t>10 personnes</a:t>
              </a:r>
            </a:p>
          </p:txBody>
        </p:sp>
        <p:sp>
          <p:nvSpPr>
            <p:cNvPr id="50190" name="矩形 49"/>
            <p:cNvSpPr>
              <a:spLocks noChangeArrowheads="1"/>
            </p:cNvSpPr>
            <p:nvPr/>
          </p:nvSpPr>
          <p:spPr bwMode="auto">
            <a:xfrm>
              <a:off x="8887354" y="3657134"/>
              <a:ext cx="1149674" cy="261610"/>
            </a:xfrm>
            <a:prstGeom prst="rect">
              <a:avLst/>
            </a:prstGeom>
            <a:noFill/>
            <a:ln w="9525">
              <a:noFill/>
              <a:miter lim="800000"/>
              <a:headEnd/>
              <a:tailEnd/>
            </a:ln>
          </p:spPr>
          <p:txBody>
            <a:bodyPr wrap="none">
              <a:spAutoFit/>
            </a:bodyPr>
            <a:lstStyle/>
            <a:p>
              <a:pPr algn="l" rtl="0" eaLnBrk="0" fontAlgn="t" hangingPunct="0">
                <a:buSzPct val="100000"/>
              </a:pPr>
              <a:r>
                <a:rPr lang="en-US" altLang="zh-CN" sz="1100" b="1" dirty="0">
                  <a:solidFill>
                    <a:srgbClr val="000000"/>
                  </a:solidFill>
                  <a:latin typeface="+mn-lt"/>
                  <a:ea typeface="+mn-ea"/>
                  <a:sym typeface="FrutigerNext LT Regular" pitchFamily="34" charset="0"/>
                </a:rPr>
                <a:t>Quartier général</a:t>
              </a:r>
            </a:p>
          </p:txBody>
        </p:sp>
        <p:sp>
          <p:nvSpPr>
            <p:cNvPr id="50191" name="文本框 51"/>
            <p:cNvSpPr txBox="1">
              <a:spLocks noChangeArrowheads="1"/>
            </p:cNvSpPr>
            <p:nvPr/>
          </p:nvSpPr>
          <p:spPr bwMode="auto">
            <a:xfrm>
              <a:off x="2198188" y="3058475"/>
              <a:ext cx="1185040" cy="562613"/>
            </a:xfrm>
            <a:prstGeom prst="rect">
              <a:avLst/>
            </a:prstGeom>
            <a:noFill/>
            <a:ln w="9525">
              <a:noFill/>
              <a:miter lim="800000"/>
              <a:headEnd/>
              <a:tailEnd/>
            </a:ln>
          </p:spPr>
          <p:txBody>
            <a:bodyPr wrap="square" lIns="99980" tIns="49986" rIns="99980" bIns="49986">
              <a:spAutoFit/>
            </a:bodyPr>
            <a:lstStyle/>
            <a:p>
              <a:pPr algn="ctr" defTabSz="1000125" rtl="0" eaLnBrk="0" hangingPunct="0">
                <a:buSzPct val="100000"/>
              </a:pPr>
              <a:r>
                <a:rPr lang="en-US" altLang="zh-CN" b="1" dirty="0">
                  <a:solidFill>
                    <a:srgbClr val="000000"/>
                  </a:solidFill>
                  <a:latin typeface="+mn-lt"/>
                  <a:ea typeface="+mn-ea"/>
                  <a:cs typeface="Arial" charset="0"/>
                  <a:sym typeface="FrutigerNext LT Regular" pitchFamily="34" charset="0"/>
                </a:rPr>
                <a:t>département marketing</a:t>
              </a:r>
            </a:p>
            <a:p>
              <a:pPr algn="ctr" defTabSz="1000125" rtl="0" eaLnBrk="0" hangingPunct="0">
                <a:buSzPct val="100000"/>
              </a:pPr>
              <a:r>
                <a:rPr lang="en-US" altLang="zh-CN" b="1" dirty="0">
                  <a:solidFill>
                    <a:srgbClr val="000000"/>
                  </a:solidFill>
                  <a:latin typeface="+mn-lt"/>
                  <a:ea typeface="+mn-ea"/>
                  <a:cs typeface="Arial" charset="0"/>
                  <a:sym typeface="FrutigerNext LT Regular" pitchFamily="34" charset="0"/>
                </a:rPr>
                <a:t>20 personnes</a:t>
              </a:r>
            </a:p>
          </p:txBody>
        </p:sp>
        <p:sp>
          <p:nvSpPr>
            <p:cNvPr id="50196" name="文本框 56"/>
            <p:cNvSpPr txBox="1">
              <a:spLocks noChangeArrowheads="1"/>
            </p:cNvSpPr>
            <p:nvPr/>
          </p:nvSpPr>
          <p:spPr bwMode="auto">
            <a:xfrm>
              <a:off x="5691189" y="3463926"/>
              <a:ext cx="979487" cy="224059"/>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800" dirty="0">
                  <a:solidFill>
                    <a:srgbClr val="C00000"/>
                  </a:solidFill>
                  <a:latin typeface="+mn-lt"/>
                  <a:ea typeface="+mn-ea"/>
                  <a:cs typeface="Arial" charset="0"/>
                  <a:sym typeface="FrutigerNext LT Regular" pitchFamily="34" charset="0"/>
                </a:rPr>
                <a:t>10M</a:t>
              </a:r>
            </a:p>
          </p:txBody>
        </p:sp>
        <p:sp>
          <p:nvSpPr>
            <p:cNvPr id="50197" name="文本框 59"/>
            <p:cNvSpPr txBox="1">
              <a:spLocks noChangeArrowheads="1"/>
            </p:cNvSpPr>
            <p:nvPr/>
          </p:nvSpPr>
          <p:spPr bwMode="auto">
            <a:xfrm>
              <a:off x="5610225" y="4670426"/>
              <a:ext cx="1062038" cy="224059"/>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800" dirty="0">
                  <a:solidFill>
                    <a:srgbClr val="C00000"/>
                  </a:solidFill>
                  <a:latin typeface="+mn-lt"/>
                  <a:ea typeface="+mn-ea"/>
                  <a:cs typeface="Arial" charset="0"/>
                  <a:sym typeface="FrutigerNext LT Regular" pitchFamily="34" charset="0"/>
                </a:rPr>
                <a:t>5M</a:t>
              </a:r>
            </a:p>
          </p:txBody>
        </p:sp>
        <p:cxnSp>
          <p:nvCxnSpPr>
            <p:cNvPr id="61" name="直接连接符 60"/>
            <p:cNvCxnSpPr>
              <a:cxnSpLocks noChangeAspect="1"/>
            </p:cNvCxnSpPr>
            <p:nvPr/>
          </p:nvCxnSpPr>
          <p:spPr bwMode="auto">
            <a:xfrm rot="240000">
              <a:off x="5326063" y="4367213"/>
              <a:ext cx="1116012" cy="741362"/>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2" name="直接连接符 61"/>
            <p:cNvCxnSpPr>
              <a:cxnSpLocks noChangeAspect="1"/>
            </p:cNvCxnSpPr>
            <p:nvPr/>
          </p:nvCxnSpPr>
          <p:spPr bwMode="auto">
            <a:xfrm rot="17520000">
              <a:off x="6771482" y="4317207"/>
              <a:ext cx="1258887" cy="869950"/>
            </a:xfrm>
            <a:prstGeom prst="line">
              <a:avLst/>
            </a:prstGeom>
            <a:noFill/>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0202" name="文本框 64"/>
            <p:cNvSpPr txBox="1">
              <a:spLocks noChangeArrowheads="1"/>
            </p:cNvSpPr>
            <p:nvPr/>
          </p:nvSpPr>
          <p:spPr bwMode="auto">
            <a:xfrm>
              <a:off x="8005764" y="3819525"/>
              <a:ext cx="771525"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RTD</a:t>
              </a:r>
            </a:p>
          </p:txBody>
        </p:sp>
        <p:sp>
          <p:nvSpPr>
            <p:cNvPr id="50203" name="文本框 65"/>
            <p:cNvSpPr txBox="1">
              <a:spLocks noChangeArrowheads="1"/>
            </p:cNvSpPr>
            <p:nvPr/>
          </p:nvSpPr>
          <p:spPr bwMode="auto">
            <a:xfrm>
              <a:off x="5683251" y="5121275"/>
              <a:ext cx="773113"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RTC</a:t>
              </a:r>
            </a:p>
          </p:txBody>
        </p:sp>
        <p:sp>
          <p:nvSpPr>
            <p:cNvPr id="50204" name="文本框 66"/>
            <p:cNvSpPr txBox="1">
              <a:spLocks noChangeArrowheads="1"/>
            </p:cNvSpPr>
            <p:nvPr/>
          </p:nvSpPr>
          <p:spPr bwMode="auto">
            <a:xfrm>
              <a:off x="5648326" y="2913063"/>
              <a:ext cx="771525"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RTB</a:t>
              </a:r>
            </a:p>
          </p:txBody>
        </p:sp>
        <p:sp>
          <p:nvSpPr>
            <p:cNvPr id="50205" name="文本框 67"/>
            <p:cNvSpPr txBox="1">
              <a:spLocks noChangeArrowheads="1"/>
            </p:cNvSpPr>
            <p:nvPr/>
          </p:nvSpPr>
          <p:spPr bwMode="auto">
            <a:xfrm>
              <a:off x="4478338" y="3716338"/>
              <a:ext cx="773112" cy="285614"/>
            </a:xfrm>
            <a:prstGeom prst="rect">
              <a:avLst/>
            </a:prstGeom>
            <a:noFill/>
            <a:ln w="9525">
              <a:noFill/>
              <a:miter lim="800000"/>
              <a:headEnd/>
              <a:tailEnd/>
            </a:ln>
          </p:spPr>
          <p:txBody>
            <a:bodyPr lIns="99980" tIns="49986" rIns="99980" bIns="49986">
              <a:spAutoFit/>
            </a:bodyPr>
            <a:lstStyle/>
            <a:p>
              <a:pPr algn="ctr" defTabSz="1000125" rtl="0" eaLnBrk="0" hangingPunct="0">
                <a:buSzPct val="100000"/>
              </a:pPr>
              <a:r>
                <a:rPr lang="en-US" altLang="zh-CN" sz="1200" b="1" dirty="0">
                  <a:solidFill>
                    <a:srgbClr val="000000"/>
                  </a:solidFill>
                  <a:latin typeface="+mn-lt"/>
                  <a:ea typeface="+mn-ea"/>
                  <a:cs typeface="Arial" charset="0"/>
                  <a:sym typeface="FrutigerNext LT Regular" pitchFamily="34" charset="0"/>
                </a:rPr>
                <a:t>RTA</a:t>
              </a:r>
            </a:p>
          </p:txBody>
        </p:sp>
        <p:sp>
          <p:nvSpPr>
            <p:cNvPr id="86" name="AutoShape 21"/>
            <p:cNvSpPr>
              <a:spLocks noChangeArrowheads="1"/>
            </p:cNvSpPr>
            <p:nvPr/>
          </p:nvSpPr>
          <p:spPr bwMode="auto">
            <a:xfrm>
              <a:off x="4121020" y="3363528"/>
              <a:ext cx="1470925" cy="317500"/>
            </a:xfrm>
            <a:prstGeom prst="wedgeRectCallout">
              <a:avLst>
                <a:gd name="adj1" fmla="val 22722"/>
                <a:gd name="adj2" fmla="val 180185"/>
              </a:avLst>
            </a:prstGeom>
            <a:noFill/>
            <a:ln w="3175" algn="ctr">
              <a:solidFill>
                <a:srgbClr val="999999"/>
              </a:solidFill>
              <a:miter lim="800000"/>
              <a:headEnd/>
              <a:tailEnd/>
            </a:ln>
          </p:spPr>
          <p:txBody>
            <a:bodyPr lIns="0" tIns="0" rIns="0" bIns="0" anchor="ctr" anchorCtr="1"/>
            <a:lstStyle/>
            <a:p>
              <a:pPr algn="l" rtl="0" eaLnBrk="0" fontAlgn="t" hangingPunct="0">
                <a:buSzPct val="80000"/>
                <a:buFont typeface="黑体" pitchFamily="49" charset="-122"/>
                <a:buAutoNum type="circleNumDbPlain" startAt="3"/>
              </a:pPr>
              <a:r>
                <a:rPr lang="en-US" altLang="zh-CN" sz="1100" dirty="0">
                  <a:solidFill>
                    <a:srgbClr val="000000"/>
                  </a:solidFill>
                  <a:latin typeface="+mn-lt"/>
                  <a:ea typeface="+mn-ea"/>
                  <a:sym typeface="FrutigerNext LT Regular" pitchFamily="34" charset="0"/>
                </a:rPr>
                <a:t>10.1.3.0/24 150 3</a:t>
              </a:r>
            </a:p>
          </p:txBody>
        </p:sp>
        <p:sp>
          <p:nvSpPr>
            <p:cNvPr id="87" name="AutoShape 21"/>
            <p:cNvSpPr>
              <a:spLocks noChangeArrowheads="1"/>
            </p:cNvSpPr>
            <p:nvPr/>
          </p:nvSpPr>
          <p:spPr bwMode="auto">
            <a:xfrm>
              <a:off x="4043363" y="4724400"/>
              <a:ext cx="1662112" cy="317500"/>
            </a:xfrm>
            <a:prstGeom prst="wedgeRectCallout">
              <a:avLst>
                <a:gd name="adj1" fmla="val 25338"/>
                <a:gd name="adj2" fmla="val -190167"/>
              </a:avLst>
            </a:prstGeom>
            <a:noFill/>
            <a:ln w="3175" algn="ctr">
              <a:solidFill>
                <a:srgbClr val="999999"/>
              </a:solidFill>
              <a:miter lim="800000"/>
              <a:headEnd/>
              <a:tailEnd/>
            </a:ln>
          </p:spPr>
          <p:txBody>
            <a:bodyPr lIns="0" tIns="0" rIns="0" bIns="0" anchor="ctr" anchorCtr="1"/>
            <a:lstStyle/>
            <a:p>
              <a:pPr algn="l" rtl="0" eaLnBrk="0" fontAlgn="t" hangingPunct="0">
                <a:buSzPct val="80000"/>
                <a:buFont typeface="黑体" pitchFamily="49" charset="-122"/>
                <a:buAutoNum type="circleNumDbPlain" startAt="4"/>
              </a:pPr>
              <a:r>
                <a:rPr lang="en-US" altLang="zh-CN" sz="1100" dirty="0">
                  <a:solidFill>
                    <a:srgbClr val="000000"/>
                  </a:solidFill>
                  <a:latin typeface="+mn-lt"/>
                  <a:ea typeface="+mn-ea"/>
                  <a:sym typeface="FrutigerNext LT Regular" pitchFamily="34" charset="0"/>
                </a:rPr>
                <a:t>10.1.3.0/24 150 4</a:t>
              </a:r>
            </a:p>
          </p:txBody>
        </p:sp>
        <p:sp>
          <p:nvSpPr>
            <p:cNvPr id="89" name="AutoShape 21"/>
            <p:cNvSpPr>
              <a:spLocks noChangeArrowheads="1"/>
            </p:cNvSpPr>
            <p:nvPr/>
          </p:nvSpPr>
          <p:spPr bwMode="auto">
            <a:xfrm>
              <a:off x="7251700" y="5146676"/>
              <a:ext cx="2605088" cy="352425"/>
            </a:xfrm>
            <a:prstGeom prst="wedgeRectCallout">
              <a:avLst>
                <a:gd name="adj1" fmla="val -41347"/>
                <a:gd name="adj2" fmla="val -156769"/>
              </a:avLst>
            </a:prstGeom>
            <a:noFill/>
            <a:ln w="3175" algn="ctr">
              <a:solidFill>
                <a:srgbClr val="999999"/>
              </a:solidFill>
              <a:miter lim="800000"/>
              <a:headEnd/>
              <a:tailEnd/>
            </a:ln>
          </p:spPr>
          <p:txBody>
            <a:bodyPr lIns="0" tIns="0" rIns="0" bIns="0" anchor="ctr" anchorCtr="1"/>
            <a:lstStyle/>
            <a:p>
              <a:pPr algn="l" rtl="0" eaLnBrk="0" fontAlgn="t" hangingPunct="0">
                <a:buSzPct val="80000"/>
                <a:buFont typeface="黑体" pitchFamily="49" charset="-122"/>
                <a:buAutoNum type="circleNumDbPlain" startAt="5"/>
              </a:pPr>
              <a:r>
                <a:rPr lang="en-US" altLang="zh-CN" sz="1100" dirty="0">
                  <a:solidFill>
                    <a:srgbClr val="000000"/>
                  </a:solidFill>
                  <a:latin typeface="+mn-lt"/>
                  <a:ea typeface="+mn-ea"/>
                  <a:sym typeface="FrutigerNext LT Regular" pitchFamily="34" charset="0"/>
                </a:rPr>
                <a:t>La liaison est inactive. Faible efficacité d'utilisation de la liaison.</a:t>
              </a:r>
            </a:p>
          </p:txBody>
        </p:sp>
        <p:sp>
          <p:nvSpPr>
            <p:cNvPr id="69" name="AutoShape 21"/>
            <p:cNvSpPr>
              <a:spLocks noChangeArrowheads="1"/>
            </p:cNvSpPr>
            <p:nvPr/>
          </p:nvSpPr>
          <p:spPr bwMode="auto">
            <a:xfrm>
              <a:off x="3157538" y="5260976"/>
              <a:ext cx="2398712" cy="544513"/>
            </a:xfrm>
            <a:prstGeom prst="wedgeRectCallout">
              <a:avLst>
                <a:gd name="adj1" fmla="val 31889"/>
                <a:gd name="adj2" fmla="val -90000"/>
              </a:avLst>
            </a:prstGeom>
            <a:noFill/>
            <a:ln w="3175" algn="ctr">
              <a:solidFill>
                <a:srgbClr val="999999"/>
              </a:solidFill>
              <a:miter lim="800000"/>
              <a:headEnd/>
              <a:tailEnd/>
            </a:ln>
          </p:spPr>
          <p:txBody>
            <a:bodyPr lIns="0" tIns="0" rIns="0" bIns="0" anchor="ctr" anchorCtr="1"/>
            <a:lstStyle/>
            <a:p>
              <a:pPr algn="l" rtl="0" eaLnBrk="0" fontAlgn="t" hangingPunct="0">
                <a:buSzPct val="80000"/>
                <a:buFont typeface="黑体" pitchFamily="49" charset="-122"/>
                <a:buAutoNum type="circleNumDbPlain" startAt="6"/>
              </a:pPr>
              <a:r>
                <a:rPr lang="en-US" altLang="zh-CN" sz="1100" dirty="0">
                  <a:solidFill>
                    <a:srgbClr val="000000"/>
                  </a:solidFill>
                  <a:latin typeface="+mn-lt"/>
                  <a:ea typeface="+mn-ea"/>
                  <a:sym typeface="FrutigerNext LT Regular" pitchFamily="34" charset="0"/>
                </a:rPr>
                <a:t>  Solution : Modifier le coût OSPF sur l'interface pour implémenter l'équilibrage de charge.</a:t>
              </a:r>
            </a:p>
          </p:txBody>
        </p:sp>
        <p:sp>
          <p:nvSpPr>
            <p:cNvPr id="50212" name="WordArt 10"/>
            <p:cNvSpPr>
              <a:spLocks noChangeAspect="1" noChangeArrowheads="1" noChangeShapeType="1" noTextEdit="1"/>
            </p:cNvSpPr>
            <p:nvPr/>
          </p:nvSpPr>
          <p:spPr bwMode="auto">
            <a:xfrm>
              <a:off x="6888164" y="4041776"/>
              <a:ext cx="530225" cy="276225"/>
            </a:xfrm>
            <a:prstGeom prst="rect">
              <a:avLst/>
            </a:prstGeom>
          </p:spPr>
          <p:txBody>
            <a:bodyPr wrap="none" fromWordArt="1">
              <a:prstTxWarp prst="textPlain">
                <a:avLst>
                  <a:gd name="adj" fmla="val 50000"/>
                </a:avLst>
              </a:prstTxWarp>
            </a:bodyPr>
            <a:lstStyle/>
            <a:p>
              <a:pPr algn="ctr" rtl="0"/>
              <a:r>
                <a:rPr lang="en-US" altLang="zh-CN" sz="700" kern="10" dirty="0">
                  <a:ln w="9525">
                    <a:solidFill>
                      <a:srgbClr val="000000"/>
                    </a:solidFill>
                    <a:round/>
                    <a:headEnd/>
                    <a:tailEnd/>
                  </a:ln>
                  <a:solidFill>
                    <a:srgbClr val="FFFFFF"/>
                  </a:solidFill>
                  <a:latin typeface="+mn-lt"/>
                  <a:ea typeface="+mn-ea"/>
                </a:rPr>
                <a:t>DÉCHIRER</a:t>
              </a:r>
            </a:p>
          </p:txBody>
        </p:sp>
        <p:sp>
          <p:nvSpPr>
            <p:cNvPr id="50213" name="WordArt 11"/>
            <p:cNvSpPr>
              <a:spLocks noChangeAspect="1" noChangeArrowheads="1" noChangeShapeType="1" noTextEdit="1"/>
            </p:cNvSpPr>
            <p:nvPr/>
          </p:nvSpPr>
          <p:spPr bwMode="auto">
            <a:xfrm>
              <a:off x="5843589" y="4041775"/>
              <a:ext cx="549275" cy="292100"/>
            </a:xfrm>
            <a:prstGeom prst="rect">
              <a:avLst/>
            </a:prstGeom>
          </p:spPr>
          <p:txBody>
            <a:bodyPr wrap="none" fromWordArt="1">
              <a:prstTxWarp prst="textPlain">
                <a:avLst>
                  <a:gd name="adj" fmla="val 50000"/>
                </a:avLst>
              </a:prstTxWarp>
            </a:bodyPr>
            <a:lstStyle/>
            <a:p>
              <a:pPr algn="ctr" rtl="0"/>
              <a:r>
                <a:rPr lang="en-US" altLang="zh-CN" sz="2800" kern="10" dirty="0">
                  <a:ln w="9525">
                    <a:solidFill>
                      <a:srgbClr val="000000"/>
                    </a:solidFill>
                    <a:round/>
                    <a:headEnd/>
                    <a:tailEnd/>
                  </a:ln>
                  <a:solidFill>
                    <a:srgbClr val="FFFFFF"/>
                  </a:solidFill>
                  <a:latin typeface="+mn-lt"/>
                  <a:ea typeface="+mn-ea"/>
                </a:rPr>
                <a:t>OSPF</a:t>
              </a:r>
            </a:p>
          </p:txBody>
        </p:sp>
        <p:sp>
          <p:nvSpPr>
            <p:cNvPr id="50214" name="Line 9"/>
            <p:cNvSpPr>
              <a:spLocks noChangeShapeType="1"/>
            </p:cNvSpPr>
            <p:nvPr/>
          </p:nvSpPr>
          <p:spPr bwMode="auto">
            <a:xfrm>
              <a:off x="6600825" y="2852739"/>
              <a:ext cx="0" cy="2592387"/>
            </a:xfrm>
            <a:prstGeom prst="line">
              <a:avLst/>
            </a:prstGeom>
            <a:noFill/>
            <a:ln w="19050">
              <a:solidFill>
                <a:schemeClr val="tx1"/>
              </a:solidFill>
              <a:prstDash val="dash"/>
              <a:round/>
              <a:headEnd/>
              <a:tailEnd/>
            </a:ln>
          </p:spPr>
          <p:txBody>
            <a:bodyPr/>
            <a:lstStyle/>
            <a:p>
              <a:pPr algn="l" rtl="0"/>
              <a:endParaRPr lang="en-US" altLang="zh-CN" sz="800" dirty="0">
                <a:latin typeface="+mn-lt"/>
                <a:ea typeface="+mn-ea"/>
              </a:endParaRPr>
            </a:p>
          </p:txBody>
        </p:sp>
        <p:pic>
          <p:nvPicPr>
            <p:cNvPr id="58" name="图片 5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161487" y="4524699"/>
              <a:ext cx="540000" cy="442800"/>
            </a:xfrm>
            <a:prstGeom prst="rect">
              <a:avLst/>
            </a:prstGeom>
          </p:spPr>
        </p:pic>
        <p:pic>
          <p:nvPicPr>
            <p:cNvPr id="59" name="图片 5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9174324" y="4059138"/>
              <a:ext cx="540000" cy="442800"/>
            </a:xfrm>
            <a:prstGeom prst="rect">
              <a:avLst/>
            </a:prstGeom>
          </p:spPr>
        </p:pic>
        <p:pic>
          <p:nvPicPr>
            <p:cNvPr id="60"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6285669" y="2985707"/>
              <a:ext cx="628652" cy="514351"/>
            </a:xfrm>
            <a:prstGeom prst="rect">
              <a:avLst/>
            </a:prstGeom>
            <a:noFill/>
          </p:spPr>
        </p:pic>
        <p:pic>
          <p:nvPicPr>
            <p:cNvPr id="6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6279142" y="4857301"/>
              <a:ext cx="628652" cy="514351"/>
            </a:xfrm>
            <a:prstGeom prst="rect">
              <a:avLst/>
            </a:prstGeom>
            <a:noFill/>
          </p:spPr>
        </p:pic>
        <p:pic>
          <p:nvPicPr>
            <p:cNvPr id="6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962967" y="3927630"/>
              <a:ext cx="628652" cy="514351"/>
            </a:xfrm>
            <a:prstGeom prst="rect">
              <a:avLst/>
            </a:prstGeom>
            <a:noFill/>
          </p:spPr>
        </p:pic>
        <p:pic>
          <p:nvPicPr>
            <p:cNvPr id="65" name="图片 64" descr="市场部.png"/>
            <p:cNvPicPr>
              <a:picLocks noChangeAspect="1"/>
            </p:cNvPicPr>
            <p:nvPr/>
          </p:nvPicPr>
          <p:blipFill>
            <a:blip r:embed="rId5" cstate="print"/>
            <a:stretch>
              <a:fillRect/>
            </a:stretch>
          </p:blipFill>
          <p:spPr>
            <a:xfrm>
              <a:off x="3199822" y="3304888"/>
              <a:ext cx="540000" cy="441818"/>
            </a:xfrm>
            <a:prstGeom prst="rect">
              <a:avLst/>
            </a:prstGeom>
          </p:spPr>
        </p:pic>
        <p:pic>
          <p:nvPicPr>
            <p:cNvPr id="66"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7680485" y="4018117"/>
              <a:ext cx="628652" cy="514351"/>
            </a:xfrm>
            <a:prstGeom prst="rect">
              <a:avLst/>
            </a:prstGeom>
            <a:noFill/>
          </p:spPr>
        </p:pic>
        <p:sp>
          <p:nvSpPr>
            <p:cNvPr id="46" name="任意多边形 45"/>
            <p:cNvSpPr>
              <a:spLocks noChangeAspect="1"/>
            </p:cNvSpPr>
            <p:nvPr/>
          </p:nvSpPr>
          <p:spPr bwMode="auto">
            <a:xfrm>
              <a:off x="5159375" y="3140076"/>
              <a:ext cx="4311650" cy="1103313"/>
            </a:xfrm>
            <a:custGeom>
              <a:avLst/>
              <a:gdLst>
                <a:gd name="T0" fmla="*/ 0 w 4791807"/>
                <a:gd name="T1" fmla="*/ 1245231 h 860399"/>
                <a:gd name="T2" fmla="*/ 345121 w 4791807"/>
                <a:gd name="T3" fmla="*/ 826288 h 860399"/>
                <a:gd name="T4" fmla="*/ 1071055 w 4791807"/>
                <a:gd name="T5" fmla="*/ 67276 h 860399"/>
                <a:gd name="T6" fmla="*/ 1368662 w 4791807"/>
                <a:gd name="T7" fmla="*/ 21406 h 860399"/>
                <a:gd name="T8" fmla="*/ 2590150 w 4791807"/>
                <a:gd name="T9" fmla="*/ 1285632 h 860399"/>
                <a:gd name="T10" fmla="*/ 3879017 w 4791807"/>
                <a:gd name="T11" fmla="*/ 1342602 h 860399"/>
                <a:gd name="T12" fmla="*/ 0 60000 65536"/>
                <a:gd name="T13" fmla="*/ 0 60000 65536"/>
                <a:gd name="T14" fmla="*/ 0 60000 65536"/>
                <a:gd name="T15" fmla="*/ 0 60000 65536"/>
                <a:gd name="T16" fmla="*/ 0 60000 65536"/>
                <a:gd name="T17" fmla="*/ 0 60000 65536"/>
                <a:gd name="T18" fmla="*/ 0 w 4791807"/>
                <a:gd name="T19" fmla="*/ 0 h 860399"/>
                <a:gd name="T20" fmla="*/ 4791807 w 4791807"/>
                <a:gd name="T21" fmla="*/ 860399 h 860399"/>
              </a:gdLst>
              <a:ahLst/>
              <a:cxnLst>
                <a:cxn ang="T12">
                  <a:pos x="T0" y="T1"/>
                </a:cxn>
                <a:cxn ang="T13">
                  <a:pos x="T2" y="T3"/>
                </a:cxn>
                <a:cxn ang="T14">
                  <a:pos x="T4" y="T5"/>
                </a:cxn>
                <a:cxn ang="T15">
                  <a:pos x="T6" y="T7"/>
                </a:cxn>
                <a:cxn ang="T16">
                  <a:pos x="T8" y="T9"/>
                </a:cxn>
                <a:cxn ang="T17">
                  <a:pos x="T10" y="T11"/>
                </a:cxn>
              </a:cxnLst>
              <a:rect l="T18" t="T19" r="T20" b="T21"/>
              <a:pathLst>
                <a:path w="4791807" h="860399">
                  <a:moveTo>
                    <a:pt x="0" y="757808"/>
                  </a:moveTo>
                  <a:cubicBezTo>
                    <a:pt x="458855" y="472416"/>
                    <a:pt x="205817" y="622331"/>
                    <a:pt x="426332" y="502853"/>
                  </a:cubicBezTo>
                  <a:cubicBezTo>
                    <a:pt x="646847" y="383375"/>
                    <a:pt x="1112357" y="122580"/>
                    <a:pt x="1323089" y="40942"/>
                  </a:cubicBezTo>
                  <a:cubicBezTo>
                    <a:pt x="1533821" y="-40696"/>
                    <a:pt x="1488699" y="27493"/>
                    <a:pt x="1690727" y="13027"/>
                  </a:cubicBezTo>
                  <a:cubicBezTo>
                    <a:pt x="1892755" y="91551"/>
                    <a:pt x="2894892" y="608801"/>
                    <a:pt x="3199649" y="782395"/>
                  </a:cubicBezTo>
                  <a:cubicBezTo>
                    <a:pt x="3500633" y="918357"/>
                    <a:pt x="4158833" y="840098"/>
                    <a:pt x="4791807" y="817065"/>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sz="800" dirty="0">
                <a:latin typeface="+mn-lt"/>
                <a:ea typeface="+mn-ea"/>
              </a:endParaRPr>
            </a:p>
          </p:txBody>
        </p:sp>
      </p:grpSp>
    </p:spTree>
    <p:extLst>
      <p:ext uri="{BB962C8B-B14F-4D97-AF65-F5344CB8AC3E}">
        <p14:creationId xmlns:p14="http://schemas.microsoft.com/office/powerpoint/2010/main" val="31241068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a:xfrm>
            <a:off x="1595500" y="54588"/>
            <a:ext cx="9831600" cy="1178168"/>
          </a:xfrm>
        </p:spPr>
        <p:txBody>
          <a:bodyPr/>
          <a:lstStyle/>
          <a:p>
            <a:pPr algn="l" rtl="0"/>
            <a:r>
              <a:rPr lang="en-US" altLang="zh-CN" dirty="0"/>
              <a:t>Autres problèmes causés parMulti-protocole - Sous-optimalItinéraire</a:t>
            </a:r>
            <a:endParaRPr lang="zh-CN" altLang="en-US" dirty="0"/>
          </a:p>
        </p:txBody>
      </p:sp>
      <p:sp>
        <p:nvSpPr>
          <p:cNvPr id="51203" name="Line 3"/>
          <p:cNvSpPr>
            <a:spLocks noChangeShapeType="1"/>
          </p:cNvSpPr>
          <p:nvPr/>
        </p:nvSpPr>
        <p:spPr bwMode="auto">
          <a:xfrm flipV="1">
            <a:off x="3602038" y="2605089"/>
            <a:ext cx="1295400" cy="739775"/>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1204" name="Line 4"/>
          <p:cNvSpPr>
            <a:spLocks noChangeShapeType="1"/>
          </p:cNvSpPr>
          <p:nvPr/>
        </p:nvSpPr>
        <p:spPr bwMode="auto">
          <a:xfrm>
            <a:off x="5576888" y="2605088"/>
            <a:ext cx="1357312" cy="679450"/>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1205" name="Line 5"/>
          <p:cNvSpPr>
            <a:spLocks noChangeShapeType="1"/>
          </p:cNvSpPr>
          <p:nvPr/>
        </p:nvSpPr>
        <p:spPr bwMode="auto">
          <a:xfrm flipV="1">
            <a:off x="5576889" y="3530601"/>
            <a:ext cx="1419225" cy="739775"/>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1206" name="Line 6"/>
          <p:cNvSpPr>
            <a:spLocks noChangeShapeType="1"/>
          </p:cNvSpPr>
          <p:nvPr/>
        </p:nvSpPr>
        <p:spPr bwMode="auto">
          <a:xfrm>
            <a:off x="3541714" y="3590925"/>
            <a:ext cx="1330325" cy="630238"/>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1207" name="Line 7"/>
          <p:cNvSpPr>
            <a:spLocks noChangeShapeType="1"/>
          </p:cNvSpPr>
          <p:nvPr/>
        </p:nvSpPr>
        <p:spPr bwMode="auto">
          <a:xfrm>
            <a:off x="7535863" y="3379788"/>
            <a:ext cx="468312" cy="0"/>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1208" name="Text Box 8"/>
          <p:cNvSpPr txBox="1">
            <a:spLocks noChangeArrowheads="1"/>
          </p:cNvSpPr>
          <p:nvPr/>
        </p:nvSpPr>
        <p:spPr bwMode="auto">
          <a:xfrm>
            <a:off x="8048626" y="3162300"/>
            <a:ext cx="1719263" cy="338138"/>
          </a:xfrm>
          <a:prstGeom prst="rect">
            <a:avLst/>
          </a:prstGeom>
          <a:noFill/>
          <a:ln w="9525">
            <a:noFill/>
            <a:miter lim="800000"/>
            <a:headEnd/>
            <a:tailEnd/>
          </a:ln>
        </p:spPr>
        <p:txBody>
          <a:bodyPr lIns="91424" tIns="45712" rIns="91424" bIns="45712">
            <a:spAutoFit/>
          </a:bodyPr>
          <a:lstStyle/>
          <a:p>
            <a:pPr algn="l" rtl="0" eaLnBrk="0" fontAlgn="t" hangingPunct="0">
              <a:spcBef>
                <a:spcPct val="50000"/>
              </a:spcBef>
              <a:buSzPct val="100000"/>
            </a:pPr>
            <a:r>
              <a:rPr lang="en-US" altLang="zh-CN" sz="1600" b="1" dirty="0">
                <a:solidFill>
                  <a:srgbClr val="000000"/>
                </a:solidFill>
                <a:latin typeface="+mn-lt"/>
                <a:sym typeface="FrutigerNext LT Regular" pitchFamily="34" charset="0"/>
              </a:rPr>
              <a:t>Lo0:2.2.2.2</a:t>
            </a:r>
          </a:p>
        </p:txBody>
      </p:sp>
      <p:sp>
        <p:nvSpPr>
          <p:cNvPr id="99" name="AutoShape 12"/>
          <p:cNvSpPr>
            <a:spLocks noChangeArrowheads="1"/>
          </p:cNvSpPr>
          <p:nvPr/>
        </p:nvSpPr>
        <p:spPr bwMode="auto">
          <a:xfrm rot="1469401">
            <a:off x="5521325" y="2327275"/>
            <a:ext cx="1727200" cy="552450"/>
          </a:xfrm>
          <a:prstGeom prst="leftArrow">
            <a:avLst>
              <a:gd name="adj1" fmla="val 50000"/>
              <a:gd name="adj2" fmla="val 78161"/>
            </a:avLst>
          </a:prstGeom>
          <a:noFill/>
          <a:ln w="9525" algn="ctr">
            <a:solidFill>
              <a:schemeClr val="tx1"/>
            </a:solidFill>
            <a:miter lim="800000"/>
            <a:headEnd/>
            <a:tailEnd/>
          </a:ln>
        </p:spPr>
        <p:txBody>
          <a:bodyPr wrap="none" lIns="78355" tIns="39177" rIns="78355" bIns="39177" anchor="ctr"/>
          <a:lstStyle/>
          <a:p>
            <a:pPr algn="ctr" defTabSz="784225" rtl="0" eaLnBrk="0" hangingPunct="0">
              <a:buFont typeface="黑体" pitchFamily="49" charset="-122"/>
              <a:buAutoNum type="circleNumDbPlain"/>
            </a:pPr>
            <a:r>
              <a:rPr lang="en-US" altLang="zh-CN" sz="1400" dirty="0">
                <a:solidFill>
                  <a:srgbClr val="000000"/>
                </a:solidFill>
                <a:latin typeface="+mn-lt"/>
                <a:ea typeface="MS PGothic" pitchFamily="34" charset="-128"/>
                <a:sym typeface="FrutigerNext LT Regular" pitchFamily="34" charset="0"/>
              </a:rPr>
              <a:t>Dest. RIP 100</a:t>
            </a:r>
          </a:p>
        </p:txBody>
      </p:sp>
      <p:sp>
        <p:nvSpPr>
          <p:cNvPr id="100" name="AutoShape 13"/>
          <p:cNvSpPr>
            <a:spLocks noChangeArrowheads="1"/>
          </p:cNvSpPr>
          <p:nvPr/>
        </p:nvSpPr>
        <p:spPr bwMode="auto">
          <a:xfrm rot="-1668039">
            <a:off x="5589588" y="3940175"/>
            <a:ext cx="1541462" cy="528638"/>
          </a:xfrm>
          <a:prstGeom prst="leftArrow">
            <a:avLst>
              <a:gd name="adj1" fmla="val 50000"/>
              <a:gd name="adj2" fmla="val 81700"/>
            </a:avLst>
          </a:prstGeom>
          <a:noFill/>
          <a:ln w="9525" algn="ctr">
            <a:solidFill>
              <a:schemeClr val="tx1"/>
            </a:solidFill>
            <a:miter lim="800000"/>
            <a:headEnd/>
            <a:tailEnd/>
          </a:ln>
        </p:spPr>
        <p:txBody>
          <a:bodyPr wrap="none" lIns="78355" tIns="39177" rIns="78355" bIns="39177" anchor="ctr"/>
          <a:lstStyle/>
          <a:p>
            <a:pPr algn="ctr" defTabSz="784225" rtl="0" eaLnBrk="0" hangingPunct="0">
              <a:buFont typeface="黑体" pitchFamily="49" charset="-122"/>
              <a:buAutoNum type="circleNumDbPlain"/>
            </a:pPr>
            <a:r>
              <a:rPr lang="en-US" altLang="zh-CN" sz="1400" b="1" dirty="0">
                <a:solidFill>
                  <a:srgbClr val="000000"/>
                </a:solidFill>
                <a:latin typeface="+mn-lt"/>
                <a:ea typeface="MS PGothic" pitchFamily="34" charset="-128"/>
                <a:sym typeface="FrutigerNext LT Regular" pitchFamily="34" charset="0"/>
              </a:rPr>
              <a:t> </a:t>
            </a:r>
            <a:r>
              <a:rPr lang="en-US" altLang="zh-CN" sz="1400" dirty="0">
                <a:solidFill>
                  <a:srgbClr val="000000"/>
                </a:solidFill>
                <a:latin typeface="+mn-lt"/>
                <a:ea typeface="MS PGothic" pitchFamily="34" charset="-128"/>
                <a:sym typeface="FrutigerNext LT Regular" pitchFamily="34" charset="0"/>
              </a:rPr>
              <a:t>Dest. RIP 100</a:t>
            </a:r>
          </a:p>
        </p:txBody>
      </p:sp>
      <p:sp>
        <p:nvSpPr>
          <p:cNvPr id="101" name="AutoShape 14"/>
          <p:cNvSpPr>
            <a:spLocks noChangeArrowheads="1"/>
          </p:cNvSpPr>
          <p:nvPr/>
        </p:nvSpPr>
        <p:spPr bwMode="auto">
          <a:xfrm>
            <a:off x="4281488" y="1555750"/>
            <a:ext cx="1727200" cy="554038"/>
          </a:xfrm>
          <a:prstGeom prst="leftArrow">
            <a:avLst>
              <a:gd name="adj1" fmla="val 50000"/>
              <a:gd name="adj2" fmla="val 77937"/>
            </a:avLst>
          </a:prstGeom>
          <a:noFill/>
          <a:ln w="9525" algn="ctr">
            <a:solidFill>
              <a:schemeClr val="tx1"/>
            </a:solidFill>
            <a:miter lim="800000"/>
            <a:headEnd/>
            <a:tailEnd/>
          </a:ln>
        </p:spPr>
        <p:txBody>
          <a:bodyPr wrap="none" lIns="78355" tIns="39177" rIns="78355" bIns="39177" anchor="ctr"/>
          <a:lstStyle/>
          <a:p>
            <a:pPr algn="ctr" defTabSz="784225" rtl="0" eaLnBrk="0" hangingPunct="0">
              <a:buFont typeface="黑体" pitchFamily="49" charset="-122"/>
              <a:buAutoNum type="circleNumDbPlain" startAt="2"/>
            </a:pPr>
            <a:r>
              <a:rPr lang="en-US" altLang="zh-CN" sz="1400" dirty="0">
                <a:solidFill>
                  <a:srgbClr val="000000"/>
                </a:solidFill>
                <a:latin typeface="+mn-lt"/>
                <a:ea typeface="MS PGothic" pitchFamily="34" charset="-128"/>
                <a:cs typeface="Courier New" panose="02070309020205020404" pitchFamily="49" charset="0"/>
                <a:sym typeface="FrutigerNext LT Regular" pitchFamily="34" charset="0"/>
              </a:rPr>
              <a:t>importation rip</a:t>
            </a:r>
          </a:p>
        </p:txBody>
      </p:sp>
      <p:sp>
        <p:nvSpPr>
          <p:cNvPr id="102" name="AutoShape 15"/>
          <p:cNvSpPr>
            <a:spLocks noChangeArrowheads="1"/>
          </p:cNvSpPr>
          <p:nvPr/>
        </p:nvSpPr>
        <p:spPr bwMode="auto">
          <a:xfrm rot="-1595261">
            <a:off x="3013075" y="2352676"/>
            <a:ext cx="1727200" cy="538163"/>
          </a:xfrm>
          <a:prstGeom prst="leftArrow">
            <a:avLst>
              <a:gd name="adj1" fmla="val 50000"/>
              <a:gd name="adj2" fmla="val 80236"/>
            </a:avLst>
          </a:prstGeom>
          <a:noFill/>
          <a:ln w="9525" algn="ctr">
            <a:solidFill>
              <a:schemeClr val="tx1"/>
            </a:solidFill>
            <a:miter lim="800000"/>
            <a:headEnd/>
            <a:tailEnd/>
          </a:ln>
        </p:spPr>
        <p:txBody>
          <a:bodyPr wrap="none" lIns="78355" tIns="39177" rIns="78355" bIns="39177" anchor="ctr"/>
          <a:lstStyle/>
          <a:p>
            <a:pPr algn="ctr" defTabSz="784225" rtl="0" eaLnBrk="0" hangingPunct="0">
              <a:buFont typeface="黑体" pitchFamily="49" charset="-122"/>
              <a:buAutoNum type="circleNumDbPlain" startAt="3"/>
            </a:pPr>
            <a:r>
              <a:rPr lang="en-US" altLang="zh-CN" sz="1400" dirty="0">
                <a:solidFill>
                  <a:srgbClr val="000000"/>
                </a:solidFill>
                <a:latin typeface="+mn-lt"/>
                <a:ea typeface="MS PGothic" pitchFamily="34" charset="-128"/>
                <a:sym typeface="FrutigerNext LT Regular" pitchFamily="34" charset="0"/>
              </a:rPr>
              <a:t>Dest. ISIS 15</a:t>
            </a:r>
          </a:p>
        </p:txBody>
      </p:sp>
      <p:sp>
        <p:nvSpPr>
          <p:cNvPr id="103" name="AutoShape 16"/>
          <p:cNvSpPr>
            <a:spLocks noChangeArrowheads="1"/>
          </p:cNvSpPr>
          <p:nvPr/>
        </p:nvSpPr>
        <p:spPr bwMode="auto">
          <a:xfrm rot="1612353">
            <a:off x="3233739" y="4027488"/>
            <a:ext cx="1722437" cy="506412"/>
          </a:xfrm>
          <a:prstGeom prst="rightArrow">
            <a:avLst>
              <a:gd name="adj1" fmla="val 50000"/>
              <a:gd name="adj2" fmla="val 85031"/>
            </a:avLst>
          </a:prstGeom>
          <a:noFill/>
          <a:ln w="9525" algn="ctr">
            <a:solidFill>
              <a:schemeClr val="tx1"/>
            </a:solidFill>
            <a:miter lim="800000"/>
            <a:headEnd/>
            <a:tailEnd/>
          </a:ln>
        </p:spPr>
        <p:txBody>
          <a:bodyPr wrap="none" lIns="78355" tIns="39177" rIns="78355" bIns="39177" anchor="ctr"/>
          <a:lstStyle/>
          <a:p>
            <a:pPr algn="ctr" defTabSz="784225" rtl="0" eaLnBrk="0" hangingPunct="0">
              <a:buFont typeface="黑体" pitchFamily="49" charset="-122"/>
              <a:buAutoNum type="circleNumDbPlain" startAt="4"/>
            </a:pPr>
            <a:r>
              <a:rPr lang="en-US" altLang="zh-CN" sz="1400" dirty="0">
                <a:solidFill>
                  <a:srgbClr val="000000"/>
                </a:solidFill>
                <a:latin typeface="+mn-lt"/>
                <a:ea typeface="MS PGothic" pitchFamily="34" charset="-128"/>
                <a:sym typeface="FrutigerNext LT Regular" pitchFamily="34" charset="0"/>
              </a:rPr>
              <a:t>Dest. ISIS 15</a:t>
            </a:r>
          </a:p>
        </p:txBody>
      </p:sp>
      <p:sp>
        <p:nvSpPr>
          <p:cNvPr id="51214" name="Rectangle 17"/>
          <p:cNvSpPr>
            <a:spLocks noChangeArrowheads="1"/>
          </p:cNvSpPr>
          <p:nvPr/>
        </p:nvSpPr>
        <p:spPr bwMode="auto">
          <a:xfrm>
            <a:off x="2495550" y="3284538"/>
            <a:ext cx="590642" cy="339180"/>
          </a:xfrm>
          <a:prstGeom prst="rect">
            <a:avLst/>
          </a:prstGeom>
          <a:noFill/>
          <a:ln w="9525">
            <a:noFill/>
            <a:miter lim="800000"/>
            <a:headEnd/>
            <a:tailEnd/>
          </a:ln>
        </p:spPr>
        <p:txBody>
          <a:bodyPr wrap="none" lIns="92059" tIns="46030" rIns="92059" bIns="46030">
            <a:spAutoFit/>
          </a:bodyPr>
          <a:lstStyle/>
          <a:p>
            <a:pPr algn="l" rtl="0" eaLnBrk="0" fontAlgn="t" hangingPunct="0">
              <a:buSzPct val="100000"/>
            </a:pPr>
            <a:r>
              <a:rPr lang="en-US" altLang="zh-CN" sz="1600" b="1" dirty="0">
                <a:solidFill>
                  <a:srgbClr val="000000"/>
                </a:solidFill>
                <a:latin typeface="+mn-lt"/>
                <a:sym typeface="FrutigerNext LT Regular" pitchFamily="34" charset="0"/>
              </a:rPr>
              <a:t>RTA</a:t>
            </a:r>
          </a:p>
        </p:txBody>
      </p:sp>
      <p:sp>
        <p:nvSpPr>
          <p:cNvPr id="51215" name="Rectangle 18"/>
          <p:cNvSpPr>
            <a:spLocks noChangeArrowheads="1"/>
          </p:cNvSpPr>
          <p:nvPr/>
        </p:nvSpPr>
        <p:spPr bwMode="auto">
          <a:xfrm>
            <a:off x="4478339" y="2771775"/>
            <a:ext cx="582178" cy="339180"/>
          </a:xfrm>
          <a:prstGeom prst="rect">
            <a:avLst/>
          </a:prstGeom>
          <a:noFill/>
          <a:ln w="9525">
            <a:noFill/>
            <a:miter lim="800000"/>
            <a:headEnd/>
            <a:tailEnd/>
          </a:ln>
        </p:spPr>
        <p:txBody>
          <a:bodyPr wrap="none" lIns="92059" tIns="46030" rIns="92059" bIns="46030">
            <a:spAutoFit/>
          </a:bodyPr>
          <a:lstStyle/>
          <a:p>
            <a:pPr algn="l" rtl="0" eaLnBrk="0" fontAlgn="t" hangingPunct="0">
              <a:buSzPct val="100000"/>
            </a:pPr>
            <a:r>
              <a:rPr lang="en-US" altLang="zh-CN" sz="1600" b="1" dirty="0">
                <a:solidFill>
                  <a:srgbClr val="000000"/>
                </a:solidFill>
                <a:latin typeface="+mn-lt"/>
                <a:sym typeface="FrutigerNext LT Regular" pitchFamily="34" charset="0"/>
              </a:rPr>
              <a:t>RTC</a:t>
            </a:r>
          </a:p>
        </p:txBody>
      </p:sp>
      <p:sp>
        <p:nvSpPr>
          <p:cNvPr id="51216" name="Rectangle 19"/>
          <p:cNvSpPr>
            <a:spLocks noChangeArrowheads="1"/>
          </p:cNvSpPr>
          <p:nvPr/>
        </p:nvSpPr>
        <p:spPr bwMode="auto">
          <a:xfrm>
            <a:off x="5226051" y="3708400"/>
            <a:ext cx="605903" cy="339180"/>
          </a:xfrm>
          <a:prstGeom prst="rect">
            <a:avLst/>
          </a:prstGeom>
          <a:noFill/>
          <a:ln w="9525">
            <a:noFill/>
            <a:miter lim="800000"/>
            <a:headEnd/>
            <a:tailEnd/>
          </a:ln>
        </p:spPr>
        <p:txBody>
          <a:bodyPr wrap="none" lIns="92059" tIns="46030" rIns="92059" bIns="46030">
            <a:spAutoFit/>
          </a:bodyPr>
          <a:lstStyle/>
          <a:p>
            <a:pPr algn="l" rtl="0" eaLnBrk="0" fontAlgn="t" hangingPunct="0">
              <a:buSzPct val="100000"/>
            </a:pPr>
            <a:r>
              <a:rPr lang="en-US" altLang="zh-CN" sz="1600" b="1" dirty="0">
                <a:solidFill>
                  <a:srgbClr val="000000"/>
                </a:solidFill>
                <a:latin typeface="+mn-lt"/>
                <a:sym typeface="FrutigerNext LT Regular" pitchFamily="34" charset="0"/>
              </a:rPr>
              <a:t>RTB</a:t>
            </a:r>
          </a:p>
        </p:txBody>
      </p:sp>
      <p:sp>
        <p:nvSpPr>
          <p:cNvPr id="51217" name="Rectangle 20"/>
          <p:cNvSpPr>
            <a:spLocks noChangeArrowheads="1"/>
          </p:cNvSpPr>
          <p:nvPr/>
        </p:nvSpPr>
        <p:spPr bwMode="auto">
          <a:xfrm>
            <a:off x="7612064" y="3530600"/>
            <a:ext cx="614238" cy="339180"/>
          </a:xfrm>
          <a:prstGeom prst="rect">
            <a:avLst/>
          </a:prstGeom>
          <a:noFill/>
          <a:ln w="9525">
            <a:noFill/>
            <a:miter lim="800000"/>
            <a:headEnd/>
            <a:tailEnd/>
          </a:ln>
        </p:spPr>
        <p:txBody>
          <a:bodyPr wrap="none" lIns="92059" tIns="46030" rIns="92059" bIns="46030">
            <a:spAutoFit/>
          </a:bodyPr>
          <a:lstStyle/>
          <a:p>
            <a:pPr algn="l" rtl="0" eaLnBrk="0" fontAlgn="t" hangingPunct="0">
              <a:buSzPct val="100000"/>
            </a:pPr>
            <a:r>
              <a:rPr lang="en-US" altLang="zh-CN" sz="1600" b="1" dirty="0">
                <a:solidFill>
                  <a:srgbClr val="000000"/>
                </a:solidFill>
                <a:latin typeface="+mn-lt"/>
                <a:sym typeface="FrutigerNext LT Regular" pitchFamily="34" charset="0"/>
              </a:rPr>
              <a:t>RTD</a:t>
            </a:r>
          </a:p>
        </p:txBody>
      </p:sp>
      <p:sp>
        <p:nvSpPr>
          <p:cNvPr id="51220" name="Rectangle 28"/>
          <p:cNvSpPr>
            <a:spLocks noChangeArrowheads="1"/>
          </p:cNvSpPr>
          <p:nvPr/>
        </p:nvSpPr>
        <p:spPr bwMode="auto">
          <a:xfrm>
            <a:off x="4603750" y="3930651"/>
            <a:ext cx="341408" cy="246847"/>
          </a:xfrm>
          <a:prstGeom prst="rect">
            <a:avLst/>
          </a:prstGeom>
          <a:noFill/>
          <a:ln w="9525">
            <a:noFill/>
            <a:miter lim="800000"/>
            <a:headEnd/>
            <a:tailEnd/>
          </a:ln>
        </p:spPr>
        <p:txBody>
          <a:bodyPr wrap="none" lIns="92059" tIns="46030" rIns="92059" bIns="46030">
            <a:spAutoFit/>
          </a:bodyPr>
          <a:lstStyle/>
          <a:p>
            <a:pPr algn="l" rtl="0" eaLnBrk="0" fontAlgn="t" hangingPunct="0">
              <a:buSzPct val="100000"/>
            </a:pPr>
            <a:r>
              <a:rPr lang="en-US" altLang="zh-CN" b="1" dirty="0">
                <a:solidFill>
                  <a:srgbClr val="000000"/>
                </a:solidFill>
                <a:latin typeface="+mn-lt"/>
                <a:sym typeface="FrutigerNext LT Regular" pitchFamily="34" charset="0"/>
              </a:rPr>
              <a:t>S0</a:t>
            </a:r>
          </a:p>
        </p:txBody>
      </p:sp>
      <p:sp>
        <p:nvSpPr>
          <p:cNvPr id="51221" name="Line 7"/>
          <p:cNvSpPr>
            <a:spLocks noChangeShapeType="1"/>
          </p:cNvSpPr>
          <p:nvPr/>
        </p:nvSpPr>
        <p:spPr bwMode="auto">
          <a:xfrm>
            <a:off x="8004175" y="3213100"/>
            <a:ext cx="0" cy="287338"/>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1222" name="Rectangle 9"/>
          <p:cNvSpPr>
            <a:spLocks noChangeArrowheads="1"/>
          </p:cNvSpPr>
          <p:nvPr/>
        </p:nvSpPr>
        <p:spPr bwMode="auto">
          <a:xfrm>
            <a:off x="3719514" y="3511551"/>
            <a:ext cx="835723" cy="262371"/>
          </a:xfrm>
          <a:prstGeom prst="rect">
            <a:avLst/>
          </a:prstGeom>
          <a:noFill/>
          <a:ln w="9525">
            <a:noFill/>
            <a:miter lim="800000"/>
            <a:headEnd/>
            <a:tailEnd/>
          </a:ln>
        </p:spPr>
        <p:txBody>
          <a:bodyPr wrap="none" lIns="107433" tIns="53717" rIns="107433" bIns="53717">
            <a:spAutoFit/>
          </a:bodyPr>
          <a:lstStyle/>
          <a:p>
            <a:pPr algn="l" defTabSz="1066800" rtl="0" eaLnBrk="0" hangingPunct="0">
              <a:buSzPct val="100000"/>
            </a:pPr>
            <a:r>
              <a:rPr lang="en-US" altLang="zh-CN" dirty="0">
                <a:solidFill>
                  <a:srgbClr val="000000"/>
                </a:solidFill>
                <a:latin typeface="+mn-lt"/>
                <a:sym typeface="FrutigerNext LT Regular" pitchFamily="34" charset="0"/>
              </a:rPr>
              <a:t>12.12.12.1</a:t>
            </a:r>
          </a:p>
        </p:txBody>
      </p:sp>
      <p:sp>
        <p:nvSpPr>
          <p:cNvPr id="51227" name="WordArt 9"/>
          <p:cNvSpPr>
            <a:spLocks noChangeAspect="1" noChangeArrowheads="1" noChangeShapeType="1" noTextEdit="1"/>
          </p:cNvSpPr>
          <p:nvPr/>
        </p:nvSpPr>
        <p:spPr bwMode="auto">
          <a:xfrm>
            <a:off x="5570538" y="3249613"/>
            <a:ext cx="563562" cy="252412"/>
          </a:xfrm>
          <a:prstGeom prst="rect">
            <a:avLst/>
          </a:prstGeom>
        </p:spPr>
        <p:txBody>
          <a:bodyPr wrap="none" fromWordArt="1">
            <a:prstTxWarp prst="textPlain">
              <a:avLst>
                <a:gd name="adj" fmla="val 50000"/>
              </a:avLst>
            </a:prstTxWarp>
          </a:bodyPr>
          <a:lstStyle/>
          <a:p>
            <a:pPr algn="ctr" rtl="0"/>
            <a:r>
              <a:rPr lang="en-US" altLang="zh-CN" sz="3600" kern="10" dirty="0">
                <a:ln w="9525">
                  <a:solidFill>
                    <a:srgbClr val="000000"/>
                  </a:solidFill>
                  <a:round/>
                  <a:headEnd/>
                  <a:tailEnd/>
                </a:ln>
                <a:solidFill>
                  <a:srgbClr val="FFFFFF"/>
                </a:solidFill>
                <a:latin typeface="+mn-lt"/>
                <a:ea typeface="宋体"/>
              </a:rPr>
              <a:t>DÉCHIRER</a:t>
            </a:r>
          </a:p>
        </p:txBody>
      </p:sp>
      <p:sp>
        <p:nvSpPr>
          <p:cNvPr id="51228" name="WordArt 10"/>
          <p:cNvSpPr>
            <a:spLocks noChangeAspect="1" noChangeArrowheads="1" noChangeShapeType="1" noTextEdit="1"/>
          </p:cNvSpPr>
          <p:nvPr/>
        </p:nvSpPr>
        <p:spPr bwMode="auto">
          <a:xfrm>
            <a:off x="4346575" y="3249614"/>
            <a:ext cx="585788" cy="263525"/>
          </a:xfrm>
          <a:prstGeom prst="rect">
            <a:avLst/>
          </a:prstGeom>
        </p:spPr>
        <p:txBody>
          <a:bodyPr wrap="none" fromWordArt="1">
            <a:prstTxWarp prst="textPlain">
              <a:avLst>
                <a:gd name="adj" fmla="val 50000"/>
              </a:avLst>
            </a:prstTxWarp>
          </a:bodyPr>
          <a:lstStyle/>
          <a:p>
            <a:pPr algn="ctr" rtl="0"/>
            <a:r>
              <a:rPr lang="en-US" altLang="zh-CN" sz="3600" kern="10" dirty="0">
                <a:ln w="9525">
                  <a:solidFill>
                    <a:srgbClr val="000000"/>
                  </a:solidFill>
                  <a:round/>
                  <a:headEnd/>
                  <a:tailEnd/>
                </a:ln>
                <a:solidFill>
                  <a:srgbClr val="FFFFFF"/>
                </a:solidFill>
                <a:latin typeface="+mn-lt"/>
                <a:ea typeface="宋体"/>
              </a:rPr>
              <a:t>L'EI</a:t>
            </a:r>
          </a:p>
        </p:txBody>
      </p:sp>
      <p:sp>
        <p:nvSpPr>
          <p:cNvPr id="51229" name="Line 9"/>
          <p:cNvSpPr>
            <a:spLocks noChangeShapeType="1"/>
          </p:cNvSpPr>
          <p:nvPr/>
        </p:nvSpPr>
        <p:spPr bwMode="auto">
          <a:xfrm>
            <a:off x="5256213" y="2133601"/>
            <a:ext cx="0" cy="2555875"/>
          </a:xfrm>
          <a:prstGeom prst="line">
            <a:avLst/>
          </a:prstGeom>
          <a:noFill/>
          <a:ln w="28575">
            <a:solidFill>
              <a:schemeClr val="tx1"/>
            </a:solidFill>
            <a:prstDash val="dash"/>
            <a:round/>
            <a:headEnd/>
            <a:tailEnd/>
          </a:ln>
        </p:spPr>
        <p:txBody>
          <a:bodyPr/>
          <a:lstStyle/>
          <a:p>
            <a:pPr algn="l" rtl="0"/>
            <a:endParaRPr lang="en-US" altLang="zh-CN" dirty="0">
              <a:latin typeface="+mn-lt"/>
            </a:endParaRPr>
          </a:p>
        </p:txBody>
      </p:sp>
      <p:pic>
        <p:nvPicPr>
          <p:cNvPr id="3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941888" y="2237968"/>
            <a:ext cx="628652" cy="514351"/>
          </a:xfrm>
          <a:prstGeom prst="rect">
            <a:avLst/>
          </a:prstGeom>
          <a:noFill/>
        </p:spPr>
      </p:pic>
      <p:pic>
        <p:nvPicPr>
          <p:cNvPr id="3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047021" y="3200053"/>
            <a:ext cx="628652" cy="514351"/>
          </a:xfrm>
          <a:prstGeom prst="rect">
            <a:avLst/>
          </a:prstGeom>
          <a:noFill/>
        </p:spPr>
      </p:pic>
      <p:pic>
        <p:nvPicPr>
          <p:cNvPr id="3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920801" y="4011669"/>
            <a:ext cx="628652" cy="514351"/>
          </a:xfrm>
          <a:prstGeom prst="rect">
            <a:avLst/>
          </a:prstGeom>
          <a:noFill/>
        </p:spPr>
      </p:pic>
      <p:pic>
        <p:nvPicPr>
          <p:cNvPr id="3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947399" y="3188824"/>
            <a:ext cx="628652" cy="514351"/>
          </a:xfrm>
          <a:prstGeom prst="rect">
            <a:avLst/>
          </a:prstGeom>
          <a:noFill/>
        </p:spPr>
      </p:pic>
      <p:sp>
        <p:nvSpPr>
          <p:cNvPr id="31" name="任意多边形 30"/>
          <p:cNvSpPr>
            <a:spLocks noChangeAspect="1"/>
          </p:cNvSpPr>
          <p:nvPr/>
        </p:nvSpPr>
        <p:spPr bwMode="auto">
          <a:xfrm>
            <a:off x="3455988" y="2355851"/>
            <a:ext cx="4506912" cy="2106613"/>
          </a:xfrm>
          <a:custGeom>
            <a:avLst/>
            <a:gdLst>
              <a:gd name="T0" fmla="*/ 1602565 w 5010353"/>
              <a:gd name="T1" fmla="*/ 2699458 h 1643952"/>
              <a:gd name="T2" fmla="*/ 944 w 5010353"/>
              <a:gd name="T3" fmla="*/ 1441059 h 1643952"/>
              <a:gd name="T4" fmla="*/ 1384673 w 5010353"/>
              <a:gd name="T5" fmla="*/ 77177 h 1643952"/>
              <a:gd name="T6" fmla="*/ 1737022 w 5010353"/>
              <a:gd name="T7" fmla="*/ 31339 h 1643952"/>
              <a:gd name="T8" fmla="*/ 3314560 w 5010353"/>
              <a:gd name="T9" fmla="*/ 1216567 h 1643952"/>
              <a:gd name="T10" fmla="*/ 4054684 w 5010353"/>
              <a:gd name="T11" fmla="*/ 1234439 h 1643952"/>
              <a:gd name="T12" fmla="*/ 0 60000 65536"/>
              <a:gd name="T13" fmla="*/ 0 60000 65536"/>
              <a:gd name="T14" fmla="*/ 0 60000 65536"/>
              <a:gd name="T15" fmla="*/ 0 60000 65536"/>
              <a:gd name="T16" fmla="*/ 0 60000 65536"/>
              <a:gd name="T17" fmla="*/ 0 60000 65536"/>
              <a:gd name="T18" fmla="*/ 0 w 5010353"/>
              <a:gd name="T19" fmla="*/ 0 h 1643952"/>
              <a:gd name="T20" fmla="*/ 5010353 w 5010353"/>
              <a:gd name="T21" fmla="*/ 1643952 h 1643952"/>
            </a:gdLst>
            <a:ahLst/>
            <a:cxnLst>
              <a:cxn ang="T12">
                <a:pos x="T0" y="T1"/>
              </a:cxn>
              <a:cxn ang="T13">
                <a:pos x="T2" y="T3"/>
              </a:cxn>
              <a:cxn ang="T14">
                <a:pos x="T4" y="T5"/>
              </a:cxn>
              <a:cxn ang="T15">
                <a:pos x="T6" y="T7"/>
              </a:cxn>
              <a:cxn ang="T16">
                <a:pos x="T8" y="T9"/>
              </a:cxn>
              <a:cxn ang="T17">
                <a:pos x="T10" y="T11"/>
              </a:cxn>
            </a:cxnLst>
            <a:rect l="T18" t="T19" r="T20" b="T21"/>
            <a:pathLst>
              <a:path w="5010353" h="1643952">
                <a:moveTo>
                  <a:pt x="1980280" y="1643952"/>
                </a:moveTo>
                <a:cubicBezTo>
                  <a:pt x="1626028" y="1536957"/>
                  <a:pt x="46041" y="1143754"/>
                  <a:pt x="1167" y="877595"/>
                </a:cubicBezTo>
                <a:cubicBezTo>
                  <a:pt x="-43707" y="611436"/>
                  <a:pt x="1217970" y="142513"/>
                  <a:pt x="1711033" y="47000"/>
                </a:cubicBezTo>
                <a:cubicBezTo>
                  <a:pt x="2204096" y="-48513"/>
                  <a:pt x="1944401" y="33551"/>
                  <a:pt x="2146429" y="19085"/>
                </a:cubicBezTo>
                <a:cubicBezTo>
                  <a:pt x="2348457" y="97609"/>
                  <a:pt x="3689389" y="567287"/>
                  <a:pt x="4095784" y="740881"/>
                </a:cubicBezTo>
                <a:cubicBezTo>
                  <a:pt x="4633925" y="781699"/>
                  <a:pt x="4377379" y="739119"/>
                  <a:pt x="5010353" y="751765"/>
                </a:cubicBezTo>
              </a:path>
            </a:pathLst>
          </a:custGeom>
          <a:noFill/>
          <a:ln w="28575" cap="flat" cmpd="sng" algn="ctr">
            <a:solidFill>
              <a:srgbClr val="C00000"/>
            </a:solidFill>
            <a:prstDash val="dash"/>
            <a:round/>
            <a:headEnd type="none" w="med" len="med"/>
            <a:tailEnd type="stealth" w="lg" len="lg"/>
          </a:ln>
        </p:spPr>
        <p:txBody>
          <a:bodyPr/>
          <a:lstStyle/>
          <a:p>
            <a:pPr algn="l" rtl="0"/>
            <a:endParaRPr lang="en-US" altLang="zh-CN" dirty="0">
              <a:latin typeface="+mn-lt"/>
            </a:endParaRPr>
          </a:p>
        </p:txBody>
      </p:sp>
      <p:grpSp>
        <p:nvGrpSpPr>
          <p:cNvPr id="2" name="组合 1"/>
          <p:cNvGrpSpPr/>
          <p:nvPr/>
        </p:nvGrpSpPr>
        <p:grpSpPr>
          <a:xfrm>
            <a:off x="5256214" y="1625885"/>
            <a:ext cx="4097684" cy="612083"/>
            <a:chOff x="5256214" y="1625885"/>
            <a:chExt cx="4097684" cy="612083"/>
          </a:xfrm>
        </p:grpSpPr>
        <p:sp>
          <p:nvSpPr>
            <p:cNvPr id="114" name="AutoShape 27"/>
            <p:cNvSpPr>
              <a:spLocks/>
            </p:cNvSpPr>
            <p:nvPr/>
          </p:nvSpPr>
          <p:spPr bwMode="auto">
            <a:xfrm>
              <a:off x="6977410" y="1625885"/>
              <a:ext cx="2376488" cy="573087"/>
            </a:xfrm>
            <a:prstGeom prst="rect">
              <a:avLst/>
            </a:prstGeom>
            <a:solidFill>
              <a:schemeClr val="bg1">
                <a:lumMod val="85000"/>
              </a:schemeClr>
            </a:solidFill>
            <a:ln w="9525" algn="ctr">
              <a:noFill/>
              <a:miter lim="800000"/>
              <a:headEnd/>
              <a:tailEnd/>
            </a:ln>
          </p:spPr>
          <p:txBody>
            <a:bodyPr anchor="ctr"/>
            <a:lstStyle/>
            <a:p>
              <a:pPr algn="l" defTabSz="784225" rtl="0" eaLnBrk="0" hangingPunct="0">
                <a:lnSpc>
                  <a:spcPct val="60000"/>
                </a:lnSpc>
                <a:spcBef>
                  <a:spcPct val="20000"/>
                </a:spcBef>
                <a:spcAft>
                  <a:spcPct val="20000"/>
                </a:spcAft>
                <a:buSzPct val="100000"/>
                <a:buFont typeface="黑体" pitchFamily="49" charset="-122"/>
                <a:buAutoNum type="circleNumDbPlain" startAt="2"/>
              </a:pPr>
              <a:r>
                <a:rPr lang="en-US" altLang="zh-CN" sz="1400" dirty="0">
                  <a:solidFill>
                    <a:srgbClr val="000000"/>
                  </a:solidFill>
                  <a:latin typeface="+mn-lt"/>
                  <a:cs typeface="Courier New" panose="02070309020205020404" pitchFamily="49" charset="0"/>
                  <a:sym typeface="FrutigerNext LT Regular" pitchFamily="34" charset="0"/>
                </a:rPr>
                <a:t>isis 1      </a:t>
              </a:r>
            </a:p>
            <a:p>
              <a:pPr algn="l" defTabSz="784225" rtl="0" eaLnBrk="0" hangingPunct="0">
                <a:lnSpc>
                  <a:spcPct val="60000"/>
                </a:lnSpc>
                <a:spcBef>
                  <a:spcPct val="20000"/>
                </a:spcBef>
                <a:spcAft>
                  <a:spcPct val="20000"/>
                </a:spcAft>
                <a:buSzPct val="100000"/>
              </a:pPr>
              <a:r>
                <a:rPr lang="en-US" altLang="zh-CN" sz="1400" dirty="0">
                  <a:solidFill>
                    <a:srgbClr val="000000"/>
                  </a:solidFill>
                  <a:latin typeface="+mn-lt"/>
                  <a:cs typeface="Courier New" panose="02070309020205020404" pitchFamily="49" charset="0"/>
                  <a:sym typeface="FrutigerNext LT Regular" pitchFamily="34" charset="0"/>
                </a:rPr>
                <a:t> </a:t>
              </a:r>
              <a:r>
                <a:rPr lang="en-US" altLang="zh-CN" sz="1400" b="1" dirty="0">
                  <a:solidFill>
                    <a:srgbClr val="C00000"/>
                  </a:solidFill>
                  <a:latin typeface="+mn-lt"/>
                  <a:cs typeface="Courier New" panose="02070309020205020404" pitchFamily="49" charset="0"/>
                  <a:sym typeface="FrutigerNext LT Regular" pitchFamily="34" charset="0"/>
                </a:rPr>
                <a:t>route d'importation rip 1</a:t>
              </a:r>
            </a:p>
          </p:txBody>
        </p:sp>
        <p:cxnSp>
          <p:nvCxnSpPr>
            <p:cNvPr id="37" name="直接连接符 36"/>
            <p:cNvCxnSpPr/>
            <p:nvPr/>
          </p:nvCxnSpPr>
          <p:spPr bwMode="auto">
            <a:xfrm flipV="1">
              <a:off x="5256214" y="1887351"/>
              <a:ext cx="1739453" cy="350617"/>
            </a:xfrm>
            <a:prstGeom prst="line">
              <a:avLst/>
            </a:prstGeom>
            <a:solidFill>
              <a:schemeClr val="accent1"/>
            </a:solidFill>
            <a:ln w="28575" cap="flat" cmpd="sng" algn="ctr">
              <a:solidFill>
                <a:srgbClr val="C00000"/>
              </a:solidFill>
              <a:prstDash val="sysDot"/>
              <a:round/>
              <a:headEnd type="none" w="med" len="med"/>
              <a:tailEnd type="none" w="med" len="med"/>
            </a:ln>
            <a:effectLst/>
          </p:spPr>
        </p:cxnSp>
      </p:grpSp>
      <p:grpSp>
        <p:nvGrpSpPr>
          <p:cNvPr id="4" name="组合 3"/>
          <p:cNvGrpSpPr/>
          <p:nvPr/>
        </p:nvGrpSpPr>
        <p:grpSpPr>
          <a:xfrm>
            <a:off x="3486908" y="4541418"/>
            <a:ext cx="6461521" cy="1407777"/>
            <a:chOff x="3486908" y="4541418"/>
            <a:chExt cx="6461521" cy="1407777"/>
          </a:xfrm>
        </p:grpSpPr>
        <p:cxnSp>
          <p:nvCxnSpPr>
            <p:cNvPr id="38" name="直接连接符 37"/>
            <p:cNvCxnSpPr/>
            <p:nvPr/>
          </p:nvCxnSpPr>
          <p:spPr bwMode="auto">
            <a:xfrm flipV="1">
              <a:off x="4603095" y="4541418"/>
              <a:ext cx="505791" cy="643518"/>
            </a:xfrm>
            <a:prstGeom prst="line">
              <a:avLst/>
            </a:prstGeom>
            <a:solidFill>
              <a:schemeClr val="accent1"/>
            </a:solidFill>
            <a:ln w="28575" cap="flat" cmpd="sng" algn="ctr">
              <a:solidFill>
                <a:srgbClr val="C00000"/>
              </a:solidFill>
              <a:prstDash val="sysDot"/>
              <a:round/>
              <a:headEnd type="none" w="med" len="med"/>
              <a:tailEnd type="none" w="med" len="med"/>
            </a:ln>
            <a:effectLst/>
          </p:spPr>
        </p:cxnSp>
        <p:sp>
          <p:nvSpPr>
            <p:cNvPr id="39" name="AutoShape 26"/>
            <p:cNvSpPr>
              <a:spLocks/>
            </p:cNvSpPr>
            <p:nvPr/>
          </p:nvSpPr>
          <p:spPr bwMode="auto">
            <a:xfrm>
              <a:off x="3486908" y="5193195"/>
              <a:ext cx="6461521" cy="756000"/>
            </a:xfrm>
            <a:prstGeom prst="rect">
              <a:avLst/>
            </a:prstGeom>
            <a:solidFill>
              <a:schemeClr val="bg1">
                <a:lumMod val="85000"/>
              </a:schemeClr>
            </a:solidFill>
            <a:ln w="9525" algn="ctr">
              <a:noFill/>
              <a:miter lim="800000"/>
              <a:headEnd/>
              <a:tailEnd/>
            </a:ln>
          </p:spPr>
          <p:txBody>
            <a:bodyPr anchor="ctr"/>
            <a:lstStyle/>
            <a:p>
              <a:pPr algn="l" defTabSz="784225" rtl="0" fontAlgn="base">
                <a:lnSpc>
                  <a:spcPct val="60000"/>
                </a:lnSpc>
                <a:spcBef>
                  <a:spcPct val="20000"/>
                </a:spcBef>
                <a:spcAft>
                  <a:spcPct val="20000"/>
                </a:spcAft>
                <a:buSzPct val="100000"/>
                <a:buFont typeface="+mj-ea"/>
                <a:buAutoNum type="circleNumDbPlain" startAt="5"/>
              </a:pPr>
              <a:r>
                <a:rPr lang="en-US" altLang="zh-CN" sz="1400" dirty="0">
                  <a:latin typeface="+mn-lt"/>
                  <a:ea typeface="+mn-ea"/>
                </a:rPr>
                <a:t>[RTB]affichage</a:t>
              </a:r>
              <a:r>
                <a:rPr lang="en-US" altLang="zh-CN" sz="1400" dirty="0" err="1">
                  <a:latin typeface="+mn-lt"/>
                  <a:ea typeface="+mn-ea"/>
                </a:rPr>
                <a:t>adresse IP</a:t>
              </a:r>
              <a:r>
                <a:rPr lang="en-US" altLang="zh-CN" sz="1400" dirty="0">
                  <a:latin typeface="+mn-lt"/>
                  <a:ea typeface="+mn-ea"/>
                </a:rPr>
                <a:t>table de routage</a:t>
              </a:r>
            </a:p>
            <a:p>
              <a:pPr algn="l" defTabSz="784225" rtl="0" fontAlgn="base">
                <a:lnSpc>
                  <a:spcPct val="60000"/>
                </a:lnSpc>
                <a:spcBef>
                  <a:spcPct val="20000"/>
                </a:spcBef>
                <a:spcAft>
                  <a:spcPct val="20000"/>
                </a:spcAft>
                <a:buClr>
                  <a:srgbClr val="990000"/>
                </a:buClr>
                <a:buSzPct val="85000"/>
              </a:pPr>
              <a:r>
                <a:rPr lang="en-US" altLang="zh-CN" sz="1400" dirty="0">
                  <a:latin typeface="+mn-lt"/>
                  <a:ea typeface="+mn-ea"/>
                </a:rPr>
                <a:t>Coût du prototype de destination/masque	</a:t>
              </a:r>
              <a:r>
                <a:rPr lang="en-US" altLang="zh-CN" sz="1400" dirty="0" err="1">
                  <a:latin typeface="+mn-lt"/>
                  <a:ea typeface="+mn-ea"/>
                </a:rPr>
                <a:t>NextHop</a:t>
              </a:r>
              <a:r>
                <a:rPr lang="en-US" altLang="zh-CN" sz="1400" dirty="0">
                  <a:latin typeface="+mn-lt"/>
                  <a:ea typeface="+mn-ea"/>
                </a:rPr>
                <a:t>		Interface</a:t>
              </a:r>
            </a:p>
            <a:p>
              <a:pPr algn="l" defTabSz="784225" rtl="0" fontAlgn="base">
                <a:lnSpc>
                  <a:spcPct val="60000"/>
                </a:lnSpc>
                <a:spcBef>
                  <a:spcPct val="20000"/>
                </a:spcBef>
                <a:spcAft>
                  <a:spcPct val="20000"/>
                </a:spcAft>
                <a:buClr>
                  <a:srgbClr val="990000"/>
                </a:buClr>
                <a:buSzPct val="85000"/>
              </a:pPr>
              <a:r>
                <a:rPr lang="en-US" altLang="zh-CN" sz="1400" b="1" dirty="0">
                  <a:solidFill>
                    <a:srgbClr val="C00000"/>
                  </a:solidFill>
                  <a:latin typeface="+mn-lt"/>
                  <a:ea typeface="+mn-ea"/>
                </a:rPr>
                <a:t>2.0.0.0/8	</a:t>
              </a:r>
              <a:r>
                <a:rPr lang="zh-CN" altLang="en-US" sz="1400" b="1" dirty="0">
                  <a:solidFill>
                    <a:srgbClr val="C00000"/>
                  </a:solidFill>
                  <a:latin typeface="+mn-lt"/>
                  <a:ea typeface="+mn-ea"/>
                </a:rPr>
                <a:t> </a:t>
              </a:r>
              <a:r>
                <a:rPr lang="en-US" altLang="zh-CN" sz="1400" b="1" dirty="0">
                  <a:solidFill>
                    <a:srgbClr val="C00000"/>
                  </a:solidFill>
                  <a:latin typeface="+mn-lt"/>
                  <a:ea typeface="+mn-ea"/>
                </a:rPr>
                <a:t>ISIS 15 84 12.12.12.1 Numéro de série 0</a:t>
              </a:r>
            </a:p>
          </p:txBody>
        </p:sp>
      </p:grpSp>
    </p:spTree>
    <p:extLst>
      <p:ext uri="{BB962C8B-B14F-4D97-AF65-F5344CB8AC3E}">
        <p14:creationId xmlns:p14="http://schemas.microsoft.com/office/powerpoint/2010/main" val="4252682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right)">
                                      <p:cBhvr>
                                        <p:cTn id="7" dur="500"/>
                                        <p:tgtEl>
                                          <p:spTgt spid="99"/>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00"/>
                                        </p:tgtEl>
                                        <p:attrNameLst>
                                          <p:attrName>style.visibility</p:attrName>
                                        </p:attrNameLst>
                                      </p:cBhvr>
                                      <p:to>
                                        <p:strVal val="visible"/>
                                      </p:to>
                                    </p:set>
                                    <p:animEffect transition="in" filter="wipe(right)">
                                      <p:cBhvr>
                                        <p:cTn id="10" dur="500"/>
                                        <p:tgtEl>
                                          <p:spTgt spid="10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101"/>
                                        </p:tgtEl>
                                        <p:attrNameLst>
                                          <p:attrName>style.visibility</p:attrName>
                                        </p:attrNameLst>
                                      </p:cBhvr>
                                      <p:to>
                                        <p:strVal val="visible"/>
                                      </p:to>
                                    </p:set>
                                    <p:animEffect transition="in" filter="wipe(right)">
                                      <p:cBhvr>
                                        <p:cTn id="15" dur="500"/>
                                        <p:tgtEl>
                                          <p:spTgt spid="101"/>
                                        </p:tgtEl>
                                      </p:cBhvr>
                                    </p:animEffect>
                                  </p:childTnLst>
                                </p:cTn>
                              </p:par>
                              <p:par>
                                <p:cTn id="16" presetID="22" presetClass="entr" presetSubtype="8"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grpId="0" nodeType="clickEffect">
                                  <p:stCondLst>
                                    <p:cond delay="0"/>
                                  </p:stCondLst>
                                  <p:childTnLst>
                                    <p:set>
                                      <p:cBhvr>
                                        <p:cTn id="22" dur="1" fill="hold">
                                          <p:stCondLst>
                                            <p:cond delay="0"/>
                                          </p:stCondLst>
                                        </p:cTn>
                                        <p:tgtEl>
                                          <p:spTgt spid="102"/>
                                        </p:tgtEl>
                                        <p:attrNameLst>
                                          <p:attrName>style.visibility</p:attrName>
                                        </p:attrNameLst>
                                      </p:cBhvr>
                                      <p:to>
                                        <p:strVal val="visible"/>
                                      </p:to>
                                    </p:set>
                                    <p:animEffect transition="in" filter="wipe(right)">
                                      <p:cBhvr>
                                        <p:cTn id="23" dur="500"/>
                                        <p:tgtEl>
                                          <p:spTgt spid="10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3"/>
                                        </p:tgtEl>
                                        <p:attrNameLst>
                                          <p:attrName>style.visibility</p:attrName>
                                        </p:attrNameLst>
                                      </p:cBhvr>
                                      <p:to>
                                        <p:strVal val="visible"/>
                                      </p:to>
                                    </p:set>
                                    <p:animEffect transition="in" filter="wipe(left)">
                                      <p:cBhvr>
                                        <p:cTn id="28" dur="500"/>
                                        <p:tgtEl>
                                          <p:spTgt spid="10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wipe(left)">
                                      <p:cBhvr>
                                        <p:cTn id="33" dur="500"/>
                                        <p:tgtEl>
                                          <p:spTgt spid="3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left)">
                                      <p:cBhvr>
                                        <p:cTn id="3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00" grpId="0" animBg="1"/>
      <p:bldP spid="101" grpId="0" animBg="1"/>
      <p:bldP spid="102" grpId="0" animBg="1"/>
      <p:bldP spid="103" grpId="0" animBg="1"/>
      <p:bldP spid="3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226" name="直接连接符 41"/>
          <p:cNvCxnSpPr>
            <a:cxnSpLocks noChangeShapeType="1"/>
          </p:cNvCxnSpPr>
          <p:nvPr/>
        </p:nvCxnSpPr>
        <p:spPr bwMode="auto">
          <a:xfrm flipH="1">
            <a:off x="5610672" y="1587402"/>
            <a:ext cx="1528762" cy="288925"/>
          </a:xfrm>
          <a:prstGeom prst="line">
            <a:avLst/>
          </a:prstGeom>
          <a:noFill/>
          <a:ln w="28575" algn="ctr">
            <a:solidFill>
              <a:srgbClr val="C00000"/>
            </a:solidFill>
            <a:prstDash val="sysDot"/>
            <a:round/>
            <a:headEnd/>
            <a:tailEnd/>
          </a:ln>
        </p:spPr>
      </p:cxnSp>
      <p:cxnSp>
        <p:nvCxnSpPr>
          <p:cNvPr id="52227" name="直接连接符 40"/>
          <p:cNvCxnSpPr>
            <a:cxnSpLocks noChangeShapeType="1"/>
          </p:cNvCxnSpPr>
          <p:nvPr/>
        </p:nvCxnSpPr>
        <p:spPr bwMode="auto">
          <a:xfrm>
            <a:off x="5796410" y="3690838"/>
            <a:ext cx="1863725" cy="2025650"/>
          </a:xfrm>
          <a:prstGeom prst="line">
            <a:avLst/>
          </a:prstGeom>
          <a:noFill/>
          <a:ln w="28575" algn="ctr">
            <a:solidFill>
              <a:srgbClr val="C00000"/>
            </a:solidFill>
            <a:prstDash val="sysDot"/>
            <a:round/>
            <a:headEnd/>
            <a:tailEnd/>
          </a:ln>
        </p:spPr>
      </p:cxnSp>
      <p:cxnSp>
        <p:nvCxnSpPr>
          <p:cNvPr id="52228" name="直接连接符 23"/>
          <p:cNvCxnSpPr>
            <a:cxnSpLocks noChangeShapeType="1"/>
          </p:cNvCxnSpPr>
          <p:nvPr/>
        </p:nvCxnSpPr>
        <p:spPr bwMode="auto">
          <a:xfrm flipH="1">
            <a:off x="4572447" y="3652739"/>
            <a:ext cx="1219200" cy="942975"/>
          </a:xfrm>
          <a:prstGeom prst="line">
            <a:avLst/>
          </a:prstGeom>
          <a:noFill/>
          <a:ln w="28575" algn="ctr">
            <a:solidFill>
              <a:srgbClr val="C00000"/>
            </a:solidFill>
            <a:prstDash val="sysDot"/>
            <a:round/>
            <a:headEnd/>
            <a:tailEnd/>
          </a:ln>
        </p:spPr>
      </p:cxnSp>
      <p:sp>
        <p:nvSpPr>
          <p:cNvPr id="3" name="文本占位符 2"/>
          <p:cNvSpPr>
            <a:spLocks noGrp="1"/>
          </p:cNvSpPr>
          <p:nvPr>
            <p:ph type="body" sz="quarter" idx="12"/>
          </p:nvPr>
        </p:nvSpPr>
        <p:spPr/>
        <p:txBody>
          <a:bodyPr/>
          <a:lstStyle/>
          <a:p>
            <a:pPr algn="l" rtl="0"/>
            <a:r>
              <a:rPr lang="en-US" altLang="zh-CN" dirty="0"/>
              <a:t>Solution 1 : Filtrer les itinéraires</a:t>
            </a:r>
            <a:endParaRPr lang="zh-CN" altLang="en-US" dirty="0"/>
          </a:p>
        </p:txBody>
      </p:sp>
      <p:sp>
        <p:nvSpPr>
          <p:cNvPr id="52230" name="Line 3"/>
          <p:cNvSpPr>
            <a:spLocks noChangeShapeType="1"/>
          </p:cNvSpPr>
          <p:nvPr/>
        </p:nvSpPr>
        <p:spPr bwMode="auto">
          <a:xfrm flipV="1">
            <a:off x="4126359" y="1987452"/>
            <a:ext cx="1295400" cy="739775"/>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2231" name="Line 4"/>
          <p:cNvSpPr>
            <a:spLocks noChangeShapeType="1"/>
          </p:cNvSpPr>
          <p:nvPr/>
        </p:nvSpPr>
        <p:spPr bwMode="auto">
          <a:xfrm>
            <a:off x="5967860" y="1947763"/>
            <a:ext cx="1490663" cy="719138"/>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2232" name="Line 5"/>
          <p:cNvSpPr>
            <a:spLocks noChangeShapeType="1"/>
          </p:cNvSpPr>
          <p:nvPr/>
        </p:nvSpPr>
        <p:spPr bwMode="auto">
          <a:xfrm flipV="1">
            <a:off x="5956748" y="2912964"/>
            <a:ext cx="1563687" cy="815975"/>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2233" name="Line 6"/>
          <p:cNvSpPr>
            <a:spLocks noChangeShapeType="1"/>
          </p:cNvSpPr>
          <p:nvPr/>
        </p:nvSpPr>
        <p:spPr bwMode="auto">
          <a:xfrm>
            <a:off x="4066035" y="2973288"/>
            <a:ext cx="1293813" cy="679450"/>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2234" name="Line 7"/>
          <p:cNvSpPr>
            <a:spLocks noChangeShapeType="1"/>
          </p:cNvSpPr>
          <p:nvPr/>
        </p:nvSpPr>
        <p:spPr bwMode="auto">
          <a:xfrm>
            <a:off x="8055422" y="2852638"/>
            <a:ext cx="360362" cy="0"/>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2235" name="Text Box 8"/>
          <p:cNvSpPr txBox="1">
            <a:spLocks noChangeArrowheads="1"/>
          </p:cNvSpPr>
          <p:nvPr/>
        </p:nvSpPr>
        <p:spPr bwMode="auto">
          <a:xfrm>
            <a:off x="8388798" y="2660551"/>
            <a:ext cx="1558925" cy="336550"/>
          </a:xfrm>
          <a:prstGeom prst="rect">
            <a:avLst/>
          </a:prstGeom>
          <a:noFill/>
          <a:ln w="9525">
            <a:noFill/>
            <a:miter lim="800000"/>
            <a:headEnd/>
            <a:tailEnd/>
          </a:ln>
        </p:spPr>
        <p:txBody>
          <a:bodyPr lIns="91424" tIns="45712" rIns="91424" bIns="45712">
            <a:spAutoFit/>
          </a:bodyPr>
          <a:lstStyle/>
          <a:p>
            <a:pPr algn="l" rtl="0" eaLnBrk="0" fontAlgn="t" hangingPunct="0">
              <a:spcBef>
                <a:spcPct val="50000"/>
              </a:spcBef>
              <a:buSzPct val="100000"/>
            </a:pPr>
            <a:r>
              <a:rPr lang="en-US" altLang="zh-CN" sz="1600" b="1" dirty="0">
                <a:solidFill>
                  <a:srgbClr val="000000"/>
                </a:solidFill>
                <a:latin typeface="+mn-lt"/>
                <a:sym typeface="FrutigerNext LT Regular" pitchFamily="34" charset="0"/>
              </a:rPr>
              <a:t>Lo0:2.2.2.2</a:t>
            </a:r>
          </a:p>
        </p:txBody>
      </p:sp>
      <p:sp>
        <p:nvSpPr>
          <p:cNvPr id="52236" name="WordArt 9"/>
          <p:cNvSpPr>
            <a:spLocks noChangeAspect="1" noChangeArrowheads="1" noChangeShapeType="1" noTextEdit="1"/>
          </p:cNvSpPr>
          <p:nvPr/>
        </p:nvSpPr>
        <p:spPr bwMode="auto">
          <a:xfrm>
            <a:off x="6112322" y="2709764"/>
            <a:ext cx="563562" cy="252413"/>
          </a:xfrm>
          <a:prstGeom prst="rect">
            <a:avLst/>
          </a:prstGeom>
        </p:spPr>
        <p:txBody>
          <a:bodyPr wrap="none" fromWordArt="1">
            <a:prstTxWarp prst="textPlain">
              <a:avLst>
                <a:gd name="adj" fmla="val 50000"/>
              </a:avLst>
            </a:prstTxWarp>
          </a:bodyPr>
          <a:lstStyle/>
          <a:p>
            <a:pPr algn="ctr" rtl="0"/>
            <a:r>
              <a:rPr lang="en-US" altLang="zh-CN" sz="3600" kern="10" dirty="0">
                <a:ln w="9525">
                  <a:solidFill>
                    <a:srgbClr val="000000"/>
                  </a:solidFill>
                  <a:round/>
                  <a:headEnd/>
                  <a:tailEnd/>
                </a:ln>
                <a:solidFill>
                  <a:srgbClr val="FFFFFF"/>
                </a:solidFill>
                <a:latin typeface="+mn-lt"/>
                <a:ea typeface="宋体"/>
              </a:rPr>
              <a:t>DÉCHIRER</a:t>
            </a:r>
          </a:p>
        </p:txBody>
      </p:sp>
      <p:sp>
        <p:nvSpPr>
          <p:cNvPr id="52237" name="WordArt 10"/>
          <p:cNvSpPr>
            <a:spLocks noChangeAspect="1" noChangeArrowheads="1" noChangeShapeType="1" noTextEdit="1"/>
          </p:cNvSpPr>
          <p:nvPr/>
        </p:nvSpPr>
        <p:spPr bwMode="auto">
          <a:xfrm>
            <a:off x="4888359" y="2709764"/>
            <a:ext cx="585788" cy="263525"/>
          </a:xfrm>
          <a:prstGeom prst="rect">
            <a:avLst/>
          </a:prstGeom>
        </p:spPr>
        <p:txBody>
          <a:bodyPr wrap="none" fromWordArt="1">
            <a:prstTxWarp prst="textPlain">
              <a:avLst>
                <a:gd name="adj" fmla="val 50000"/>
              </a:avLst>
            </a:prstTxWarp>
          </a:bodyPr>
          <a:lstStyle/>
          <a:p>
            <a:pPr algn="ctr" rtl="0"/>
            <a:r>
              <a:rPr lang="en-US" altLang="zh-CN" sz="3600" kern="10" dirty="0">
                <a:ln w="9525">
                  <a:solidFill>
                    <a:srgbClr val="000000"/>
                  </a:solidFill>
                  <a:round/>
                  <a:headEnd/>
                  <a:tailEnd/>
                </a:ln>
                <a:solidFill>
                  <a:srgbClr val="FFFFFF"/>
                </a:solidFill>
                <a:latin typeface="+mn-lt"/>
                <a:ea typeface="宋体"/>
              </a:rPr>
              <a:t>L'EI</a:t>
            </a:r>
          </a:p>
        </p:txBody>
      </p:sp>
      <p:sp>
        <p:nvSpPr>
          <p:cNvPr id="52238" name="Rectangle 11"/>
          <p:cNvSpPr>
            <a:spLocks noChangeArrowheads="1"/>
          </p:cNvSpPr>
          <p:nvPr/>
        </p:nvSpPr>
        <p:spPr bwMode="auto">
          <a:xfrm>
            <a:off x="3753205" y="2249361"/>
            <a:ext cx="590642" cy="339180"/>
          </a:xfrm>
          <a:prstGeom prst="rect">
            <a:avLst/>
          </a:prstGeom>
          <a:noFill/>
          <a:ln w="9525">
            <a:noFill/>
            <a:miter lim="800000"/>
            <a:headEnd/>
            <a:tailEnd/>
          </a:ln>
        </p:spPr>
        <p:txBody>
          <a:bodyPr wrap="none" lIns="92059" tIns="46030" rIns="92059" bIns="46030">
            <a:spAutoFit/>
          </a:bodyPr>
          <a:lstStyle/>
          <a:p>
            <a:pPr algn="l" rtl="0" eaLnBrk="0" fontAlgn="t" hangingPunct="0">
              <a:buSzPct val="100000"/>
            </a:pPr>
            <a:r>
              <a:rPr lang="en-US" altLang="zh-CN" sz="1600" b="1" dirty="0">
                <a:solidFill>
                  <a:srgbClr val="000000"/>
                </a:solidFill>
                <a:latin typeface="+mn-lt"/>
                <a:sym typeface="FrutigerNext LT Regular" pitchFamily="34" charset="0"/>
              </a:rPr>
              <a:t>RTA</a:t>
            </a:r>
          </a:p>
        </p:txBody>
      </p:sp>
      <p:sp>
        <p:nvSpPr>
          <p:cNvPr id="52239" name="Rectangle 12"/>
          <p:cNvSpPr>
            <a:spLocks noChangeArrowheads="1"/>
          </p:cNvSpPr>
          <p:nvPr/>
        </p:nvSpPr>
        <p:spPr bwMode="auto">
          <a:xfrm>
            <a:off x="7491860" y="2292251"/>
            <a:ext cx="614238" cy="339180"/>
          </a:xfrm>
          <a:prstGeom prst="rect">
            <a:avLst/>
          </a:prstGeom>
          <a:noFill/>
          <a:ln w="9525">
            <a:noFill/>
            <a:miter lim="800000"/>
            <a:headEnd/>
            <a:tailEnd/>
          </a:ln>
        </p:spPr>
        <p:txBody>
          <a:bodyPr wrap="none" lIns="92059" tIns="46030" rIns="92059" bIns="46030">
            <a:spAutoFit/>
          </a:bodyPr>
          <a:lstStyle/>
          <a:p>
            <a:pPr algn="l" rtl="0" eaLnBrk="0" fontAlgn="t" hangingPunct="0">
              <a:buSzPct val="100000"/>
            </a:pPr>
            <a:r>
              <a:rPr lang="en-US" altLang="zh-CN" sz="1600" b="1" dirty="0">
                <a:solidFill>
                  <a:srgbClr val="000000"/>
                </a:solidFill>
                <a:latin typeface="+mn-lt"/>
                <a:sym typeface="FrutigerNext LT Regular" pitchFamily="34" charset="0"/>
              </a:rPr>
              <a:t>RTD</a:t>
            </a:r>
          </a:p>
        </p:txBody>
      </p:sp>
      <p:sp>
        <p:nvSpPr>
          <p:cNvPr id="52240" name="Rectangle 18"/>
          <p:cNvSpPr>
            <a:spLocks noChangeArrowheads="1"/>
          </p:cNvSpPr>
          <p:nvPr/>
        </p:nvSpPr>
        <p:spPr bwMode="auto">
          <a:xfrm>
            <a:off x="5171195" y="2200449"/>
            <a:ext cx="582178" cy="339180"/>
          </a:xfrm>
          <a:prstGeom prst="rect">
            <a:avLst/>
          </a:prstGeom>
          <a:noFill/>
          <a:ln w="9525">
            <a:noFill/>
            <a:miter lim="800000"/>
            <a:headEnd/>
            <a:tailEnd/>
          </a:ln>
        </p:spPr>
        <p:txBody>
          <a:bodyPr wrap="none" lIns="92059" tIns="46030" rIns="92059" bIns="46030">
            <a:spAutoFit/>
          </a:bodyPr>
          <a:lstStyle/>
          <a:p>
            <a:pPr algn="l" rtl="0" eaLnBrk="0" fontAlgn="t" hangingPunct="0">
              <a:buSzPct val="100000"/>
            </a:pPr>
            <a:r>
              <a:rPr lang="en-US" altLang="zh-CN" sz="1600" b="1" dirty="0">
                <a:solidFill>
                  <a:srgbClr val="000000"/>
                </a:solidFill>
                <a:latin typeface="+mn-lt"/>
                <a:sym typeface="FrutigerNext LT Regular" pitchFamily="34" charset="0"/>
              </a:rPr>
              <a:t>RTC</a:t>
            </a:r>
          </a:p>
        </p:txBody>
      </p:sp>
      <p:sp>
        <p:nvSpPr>
          <p:cNvPr id="52241" name="Rectangle 19"/>
          <p:cNvSpPr>
            <a:spLocks noChangeArrowheads="1"/>
          </p:cNvSpPr>
          <p:nvPr/>
        </p:nvSpPr>
        <p:spPr bwMode="auto">
          <a:xfrm>
            <a:off x="5718623" y="3084413"/>
            <a:ext cx="605903" cy="339180"/>
          </a:xfrm>
          <a:prstGeom prst="rect">
            <a:avLst/>
          </a:prstGeom>
          <a:noFill/>
          <a:ln w="9525">
            <a:noFill/>
            <a:miter lim="800000"/>
            <a:headEnd/>
            <a:tailEnd/>
          </a:ln>
        </p:spPr>
        <p:txBody>
          <a:bodyPr wrap="none" lIns="92059" tIns="46030" rIns="92059" bIns="46030">
            <a:spAutoFit/>
          </a:bodyPr>
          <a:lstStyle/>
          <a:p>
            <a:pPr algn="l" rtl="0" eaLnBrk="0" fontAlgn="t" hangingPunct="0">
              <a:buSzPct val="100000"/>
            </a:pPr>
            <a:r>
              <a:rPr lang="en-US" altLang="zh-CN" sz="1600" b="1" dirty="0">
                <a:solidFill>
                  <a:srgbClr val="000000"/>
                </a:solidFill>
                <a:latin typeface="+mn-lt"/>
                <a:sym typeface="FrutigerNext LT Regular" pitchFamily="34" charset="0"/>
              </a:rPr>
              <a:t>RTB</a:t>
            </a:r>
          </a:p>
        </p:txBody>
      </p:sp>
      <p:sp>
        <p:nvSpPr>
          <p:cNvPr id="52242" name="Line 7"/>
          <p:cNvSpPr>
            <a:spLocks noChangeShapeType="1"/>
          </p:cNvSpPr>
          <p:nvPr/>
        </p:nvSpPr>
        <p:spPr bwMode="auto">
          <a:xfrm>
            <a:off x="8415784" y="2709763"/>
            <a:ext cx="0" cy="287338"/>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2243" name="Rectangle 9"/>
          <p:cNvSpPr>
            <a:spLocks noChangeArrowheads="1"/>
          </p:cNvSpPr>
          <p:nvPr/>
        </p:nvSpPr>
        <p:spPr bwMode="auto">
          <a:xfrm>
            <a:off x="6855272" y="3171317"/>
            <a:ext cx="955949" cy="293149"/>
          </a:xfrm>
          <a:prstGeom prst="rect">
            <a:avLst/>
          </a:prstGeom>
          <a:noFill/>
          <a:ln w="9525">
            <a:noFill/>
            <a:miter lim="800000"/>
            <a:headEnd/>
            <a:tailEnd/>
          </a:ln>
        </p:spPr>
        <p:txBody>
          <a:bodyPr wrap="none" lIns="107433" tIns="53717" rIns="107433" bIns="53717">
            <a:spAutoFit/>
          </a:bodyPr>
          <a:lstStyle/>
          <a:p>
            <a:pPr algn="l" defTabSz="1066800" rtl="0" eaLnBrk="0" hangingPunct="0">
              <a:buSzPct val="100000"/>
            </a:pPr>
            <a:r>
              <a:rPr lang="en-US" altLang="zh-CN" sz="1200" dirty="0">
                <a:solidFill>
                  <a:srgbClr val="000000"/>
                </a:solidFill>
                <a:latin typeface="+mn-lt"/>
                <a:sym typeface="FrutigerNext LT Regular" pitchFamily="34" charset="0"/>
              </a:rPr>
              <a:t>24.24.24.2</a:t>
            </a:r>
          </a:p>
        </p:txBody>
      </p:sp>
      <p:sp>
        <p:nvSpPr>
          <p:cNvPr id="52248" name="Line 17"/>
          <p:cNvSpPr>
            <a:spLocks noChangeShapeType="1"/>
          </p:cNvSpPr>
          <p:nvPr/>
        </p:nvSpPr>
        <p:spPr bwMode="auto">
          <a:xfrm>
            <a:off x="5751959" y="1412776"/>
            <a:ext cx="0" cy="2736850"/>
          </a:xfrm>
          <a:prstGeom prst="line">
            <a:avLst/>
          </a:prstGeom>
          <a:noFill/>
          <a:ln w="28575">
            <a:solidFill>
              <a:schemeClr val="tx1"/>
            </a:solidFill>
            <a:prstDash val="dash"/>
            <a:round/>
            <a:headEnd/>
            <a:tailEnd/>
          </a:ln>
        </p:spPr>
        <p:txBody>
          <a:bodyPr/>
          <a:lstStyle/>
          <a:p>
            <a:pPr algn="l" rtl="0"/>
            <a:endParaRPr lang="en-US" altLang="zh-CN" dirty="0">
              <a:latin typeface="+mn-lt"/>
            </a:endParaRPr>
          </a:p>
        </p:txBody>
      </p:sp>
      <p:sp>
        <p:nvSpPr>
          <p:cNvPr id="43" name="AutoShape 17"/>
          <p:cNvSpPr>
            <a:spLocks noChangeArrowheads="1"/>
          </p:cNvSpPr>
          <p:nvPr/>
        </p:nvSpPr>
        <p:spPr bwMode="auto">
          <a:xfrm>
            <a:off x="6839398" y="1471709"/>
            <a:ext cx="1848891" cy="442816"/>
          </a:xfrm>
          <a:prstGeom prst="roundRect">
            <a:avLst>
              <a:gd name="adj" fmla="val 0"/>
            </a:avLst>
          </a:prstGeom>
          <a:solidFill>
            <a:schemeClr val="bg1">
              <a:lumMod val="85000"/>
            </a:schemeClr>
          </a:solidFill>
          <a:ln w="12700" algn="ctr">
            <a:noFill/>
            <a:round/>
            <a:headEnd/>
            <a:tailEnd/>
          </a:ln>
          <a:effectLst/>
        </p:spPr>
        <p:txBody>
          <a:bodyPr lIns="0" tIns="0" rIns="0" bIns="0" anchor="ctr" anchorCtr="1">
            <a:noAutofit/>
          </a:bodyPr>
          <a:lstStyle/>
          <a:p>
            <a:pPr algn="l" defTabSz="784225" rtl="0" eaLnBrk="0" hangingPunct="0">
              <a:lnSpc>
                <a:spcPct val="60000"/>
              </a:lnSpc>
              <a:spcBef>
                <a:spcPct val="20000"/>
              </a:spcBef>
              <a:spcAft>
                <a:spcPct val="20000"/>
              </a:spcAft>
              <a:buSzPct val="100000"/>
              <a:defRPr/>
            </a:pPr>
            <a:r>
              <a:rPr lang="en-US" altLang="zh-CN" sz="1200" b="1" dirty="0">
                <a:solidFill>
                  <a:srgbClr val="000000"/>
                </a:solidFill>
                <a:latin typeface="+mn-lt"/>
                <a:cs typeface="Courier New" panose="02070309020205020404" pitchFamily="49" charset="0"/>
                <a:sym typeface="FrutigerNext LT Regular" pitchFamily="34" charset="0"/>
              </a:rPr>
              <a:t>isis 1      </a:t>
            </a:r>
          </a:p>
          <a:p>
            <a:pPr algn="l" defTabSz="784225" rtl="0" eaLnBrk="0" hangingPunct="0">
              <a:lnSpc>
                <a:spcPct val="60000"/>
              </a:lnSpc>
              <a:spcBef>
                <a:spcPct val="20000"/>
              </a:spcBef>
              <a:spcAft>
                <a:spcPct val="20000"/>
              </a:spcAft>
              <a:buSzPct val="100000"/>
              <a:defRPr/>
            </a:pPr>
            <a:r>
              <a:rPr lang="en-US" altLang="zh-CN" sz="1200" b="1" dirty="0">
                <a:solidFill>
                  <a:srgbClr val="000000"/>
                </a:solidFill>
                <a:latin typeface="+mn-lt"/>
                <a:cs typeface="Courier New" panose="02070309020205020404" pitchFamily="49" charset="0"/>
                <a:sym typeface="FrutigerNext LT Regular" pitchFamily="34" charset="0"/>
              </a:rPr>
              <a:t> </a:t>
            </a:r>
            <a:r>
              <a:rPr lang="en-US" altLang="zh-CN" sz="1200" b="1" dirty="0">
                <a:solidFill>
                  <a:srgbClr val="C00000"/>
                </a:solidFill>
                <a:latin typeface="+mn-lt"/>
                <a:cs typeface="Courier New" panose="02070309020205020404" pitchFamily="49" charset="0"/>
                <a:sym typeface="FrutigerNext LT Regular" pitchFamily="34" charset="0"/>
              </a:rPr>
              <a:t>route d'importation rip 1</a:t>
            </a:r>
          </a:p>
        </p:txBody>
      </p:sp>
      <p:pic>
        <p:nvPicPr>
          <p:cNvPr id="3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739548" y="2607524"/>
            <a:ext cx="628652" cy="514351"/>
          </a:xfrm>
          <a:prstGeom prst="rect">
            <a:avLst/>
          </a:prstGeom>
          <a:noFill/>
        </p:spPr>
      </p:pic>
      <p:pic>
        <p:nvPicPr>
          <p:cNvPr id="3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387420" y="1665198"/>
            <a:ext cx="628652" cy="514351"/>
          </a:xfrm>
          <a:prstGeom prst="rect">
            <a:avLst/>
          </a:prstGeom>
          <a:noFill/>
        </p:spPr>
      </p:pic>
      <p:pic>
        <p:nvPicPr>
          <p:cNvPr id="3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387420" y="3453643"/>
            <a:ext cx="628652" cy="514351"/>
          </a:xfrm>
          <a:prstGeom prst="rect">
            <a:avLst/>
          </a:prstGeom>
          <a:noFill/>
        </p:spPr>
      </p:pic>
      <p:pic>
        <p:nvPicPr>
          <p:cNvPr id="3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397563" y="2560736"/>
            <a:ext cx="628652" cy="514351"/>
          </a:xfrm>
          <a:prstGeom prst="rect">
            <a:avLst/>
          </a:prstGeom>
          <a:noFill/>
        </p:spPr>
      </p:pic>
      <p:sp>
        <p:nvSpPr>
          <p:cNvPr id="34" name="AutoShape 17"/>
          <p:cNvSpPr>
            <a:spLocks noChangeArrowheads="1"/>
          </p:cNvSpPr>
          <p:nvPr/>
        </p:nvSpPr>
        <p:spPr bwMode="auto">
          <a:xfrm>
            <a:off x="4013614" y="5495968"/>
            <a:ext cx="6510878" cy="654667"/>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algn="l" defTabSz="784225" rtl="0" fontAlgn="base">
              <a:lnSpc>
                <a:spcPct val="60000"/>
              </a:lnSpc>
              <a:spcBef>
                <a:spcPct val="20000"/>
              </a:spcBef>
              <a:spcAft>
                <a:spcPct val="20000"/>
              </a:spcAft>
              <a:buClr>
                <a:srgbClr val="990000"/>
              </a:buClr>
              <a:buSzPct val="85000"/>
            </a:pPr>
            <a:r>
              <a:rPr lang="en-US" altLang="zh-CN" sz="1400" b="1" dirty="0">
                <a:latin typeface="+mn-lt"/>
                <a:ea typeface="+mn-ea"/>
              </a:rPr>
              <a:t>afficher</a:t>
            </a:r>
            <a:r>
              <a:rPr lang="en-US" altLang="zh-CN" sz="1400" b="1" dirty="0" err="1">
                <a:latin typeface="+mn-lt"/>
                <a:ea typeface="+mn-ea"/>
              </a:rPr>
              <a:t>adresse IP</a:t>
            </a:r>
            <a:r>
              <a:rPr lang="en-US" altLang="zh-CN" sz="1400" b="1" dirty="0">
                <a:latin typeface="+mn-lt"/>
                <a:ea typeface="+mn-ea"/>
              </a:rPr>
              <a:t>table de routage</a:t>
            </a:r>
          </a:p>
          <a:p>
            <a:pPr algn="l" defTabSz="784225" rtl="0" fontAlgn="base">
              <a:lnSpc>
                <a:spcPct val="60000"/>
              </a:lnSpc>
              <a:spcBef>
                <a:spcPct val="20000"/>
              </a:spcBef>
              <a:spcAft>
                <a:spcPct val="20000"/>
              </a:spcAft>
              <a:buClr>
                <a:srgbClr val="990000"/>
              </a:buClr>
              <a:buSzPct val="85000"/>
            </a:pPr>
            <a:r>
              <a:rPr lang="en-US" altLang="zh-CN" sz="1400" dirty="0">
                <a:latin typeface="+mn-lt"/>
                <a:ea typeface="+mn-ea"/>
              </a:rPr>
              <a:t>Coût du prototype de destination/masque	</a:t>
            </a:r>
            <a:r>
              <a:rPr lang="en-US" altLang="zh-CN" sz="1400" dirty="0" err="1">
                <a:latin typeface="+mn-lt"/>
                <a:ea typeface="+mn-ea"/>
              </a:rPr>
              <a:t>NextHop</a:t>
            </a:r>
            <a:r>
              <a:rPr lang="en-US" altLang="zh-CN" sz="1400" dirty="0">
                <a:latin typeface="+mn-lt"/>
                <a:ea typeface="+mn-ea"/>
              </a:rPr>
              <a:t>		Interface</a:t>
            </a:r>
          </a:p>
          <a:p>
            <a:pPr algn="l" defTabSz="784225" rtl="0" fontAlgn="base">
              <a:lnSpc>
                <a:spcPct val="60000"/>
              </a:lnSpc>
              <a:spcBef>
                <a:spcPct val="20000"/>
              </a:spcBef>
              <a:spcAft>
                <a:spcPct val="20000"/>
              </a:spcAft>
              <a:buClr>
                <a:srgbClr val="990000"/>
              </a:buClr>
              <a:buSzPct val="85000"/>
            </a:pPr>
            <a:r>
              <a:rPr lang="en-US" altLang="zh-CN" sz="1400" dirty="0">
                <a:solidFill>
                  <a:srgbClr val="C00000"/>
                </a:solidFill>
                <a:latin typeface="+mn-lt"/>
                <a:ea typeface="+mn-ea"/>
              </a:rPr>
              <a:t>2.0.0.0/8 RIP 100 1 24.24.24.2 Numéro de série 1</a:t>
            </a:r>
          </a:p>
        </p:txBody>
      </p:sp>
      <p:sp>
        <p:nvSpPr>
          <p:cNvPr id="35" name="AutoShape 17"/>
          <p:cNvSpPr>
            <a:spLocks noChangeArrowheads="1"/>
          </p:cNvSpPr>
          <p:nvPr/>
        </p:nvSpPr>
        <p:spPr bwMode="auto">
          <a:xfrm>
            <a:off x="1799222" y="4339041"/>
            <a:ext cx="4404791" cy="1085555"/>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algn="l" defTabSz="784225" rtl="0" fontAlgn="base">
              <a:lnSpc>
                <a:spcPct val="60000"/>
              </a:lnSpc>
              <a:spcBef>
                <a:spcPct val="20000"/>
              </a:spcBef>
              <a:spcAft>
                <a:spcPct val="20000"/>
              </a:spcAft>
              <a:buClr>
                <a:srgbClr val="990000"/>
              </a:buClr>
              <a:buSzPct val="85000"/>
            </a:pPr>
            <a:r>
              <a:rPr lang="en-US" altLang="zh-CN" sz="1400" b="1" dirty="0" err="1">
                <a:latin typeface="+mn-lt"/>
                <a:ea typeface="+mn-ea"/>
              </a:rPr>
              <a:t>acl</a:t>
            </a:r>
            <a:r>
              <a:rPr lang="en-US" altLang="zh-CN" sz="1400" b="1" dirty="0">
                <a:latin typeface="+mn-lt"/>
                <a:ea typeface="+mn-ea"/>
              </a:rPr>
              <a:t>2001</a:t>
            </a:r>
          </a:p>
          <a:p>
            <a:pPr algn="l" defTabSz="784225" rtl="0" fontAlgn="base">
              <a:lnSpc>
                <a:spcPct val="60000"/>
              </a:lnSpc>
              <a:spcBef>
                <a:spcPct val="20000"/>
              </a:spcBef>
              <a:spcAft>
                <a:spcPct val="20000"/>
              </a:spcAft>
              <a:buClr>
                <a:srgbClr val="990000"/>
              </a:buClr>
              <a:buSzPct val="85000"/>
            </a:pPr>
            <a:r>
              <a:rPr lang="en-US" altLang="zh-CN" sz="1400" b="1" dirty="0">
                <a:latin typeface="+mn-lt"/>
                <a:ea typeface="+mn-ea"/>
              </a:rPr>
              <a:t>règle 5</a:t>
            </a:r>
            <a:r>
              <a:rPr lang="en-US" altLang="zh-CN" sz="1400" b="1" dirty="0">
                <a:solidFill>
                  <a:srgbClr val="C00000"/>
                </a:solidFill>
                <a:latin typeface="+mn-lt"/>
                <a:ea typeface="+mn-ea"/>
              </a:rPr>
              <a:t>refuser</a:t>
            </a:r>
            <a:r>
              <a:rPr lang="en-US" altLang="zh-CN" sz="1400" b="1" dirty="0">
                <a:latin typeface="+mn-lt"/>
                <a:ea typeface="+mn-ea"/>
              </a:rPr>
              <a:t>source 2.0.0.0 0.255.255.255</a:t>
            </a:r>
          </a:p>
          <a:p>
            <a:pPr algn="l" defTabSz="784225" rtl="0" fontAlgn="base">
              <a:lnSpc>
                <a:spcPct val="60000"/>
              </a:lnSpc>
              <a:spcBef>
                <a:spcPct val="20000"/>
              </a:spcBef>
              <a:spcAft>
                <a:spcPct val="20000"/>
              </a:spcAft>
              <a:buClr>
                <a:srgbClr val="990000"/>
              </a:buClr>
              <a:buSzPct val="85000"/>
            </a:pPr>
            <a:r>
              <a:rPr lang="en-US" altLang="zh-CN" sz="1400" b="1" dirty="0">
                <a:latin typeface="+mn-lt"/>
                <a:ea typeface="+mn-ea"/>
              </a:rPr>
              <a:t>permis de la règle 10</a:t>
            </a:r>
          </a:p>
          <a:p>
            <a:pPr algn="l" defTabSz="784225" rtl="0" fontAlgn="base">
              <a:lnSpc>
                <a:spcPct val="60000"/>
              </a:lnSpc>
              <a:spcBef>
                <a:spcPct val="20000"/>
              </a:spcBef>
              <a:spcAft>
                <a:spcPct val="20000"/>
              </a:spcAft>
              <a:buClr>
                <a:srgbClr val="990000"/>
              </a:buClr>
              <a:buSzPct val="85000"/>
            </a:pPr>
            <a:r>
              <a:rPr lang="en-US" altLang="zh-CN" sz="1400" b="1" dirty="0">
                <a:latin typeface="+mn-lt"/>
                <a:ea typeface="+mn-ea"/>
              </a:rPr>
              <a:t>isis 1</a:t>
            </a:r>
          </a:p>
          <a:p>
            <a:pPr algn="l" defTabSz="784225" rtl="0" fontAlgn="base">
              <a:lnSpc>
                <a:spcPct val="60000"/>
              </a:lnSpc>
              <a:spcBef>
                <a:spcPct val="20000"/>
              </a:spcBef>
              <a:spcAft>
                <a:spcPct val="20000"/>
              </a:spcAft>
              <a:buClr>
                <a:srgbClr val="990000"/>
              </a:buClr>
              <a:buSzPct val="85000"/>
            </a:pPr>
            <a:r>
              <a:rPr lang="en-US" altLang="zh-CN" sz="1400" b="1" dirty="0">
                <a:solidFill>
                  <a:srgbClr val="C00000"/>
                </a:solidFill>
                <a:latin typeface="+mn-lt"/>
                <a:ea typeface="+mn-ea"/>
              </a:rPr>
              <a:t>politique de filtrage 2001 importation</a:t>
            </a:r>
          </a:p>
        </p:txBody>
      </p:sp>
    </p:spTree>
    <p:extLst>
      <p:ext uri="{BB962C8B-B14F-4D97-AF65-F5344CB8AC3E}">
        <p14:creationId xmlns:p14="http://schemas.microsoft.com/office/powerpoint/2010/main" val="35779101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pPr algn="l" rtl="0"/>
            <a:r>
              <a:rPr lang="en-US" altLang="zh-CN" dirty="0"/>
              <a:t>Solution 2 : Ajuster les priorités des protocoles</a:t>
            </a:r>
            <a:endParaRPr lang="zh-CN" altLang="en-US" dirty="0"/>
          </a:p>
        </p:txBody>
      </p:sp>
      <p:grpSp>
        <p:nvGrpSpPr>
          <p:cNvPr id="30" name="组合 29"/>
          <p:cNvGrpSpPr/>
          <p:nvPr/>
        </p:nvGrpSpPr>
        <p:grpSpPr>
          <a:xfrm>
            <a:off x="2801867" y="1605654"/>
            <a:ext cx="7398589" cy="4228791"/>
            <a:chOff x="2801867" y="1605654"/>
            <a:chExt cx="7398589" cy="4228791"/>
          </a:xfrm>
        </p:grpSpPr>
        <p:cxnSp>
          <p:nvCxnSpPr>
            <p:cNvPr id="33" name="直接连接符 32"/>
            <p:cNvCxnSpPr/>
            <p:nvPr/>
          </p:nvCxnSpPr>
          <p:spPr bwMode="auto">
            <a:xfrm flipH="1">
              <a:off x="5212667" y="1842367"/>
              <a:ext cx="1371841" cy="267791"/>
            </a:xfrm>
            <a:prstGeom prst="line">
              <a:avLst/>
            </a:prstGeom>
            <a:solidFill>
              <a:schemeClr val="accent1"/>
            </a:solidFill>
            <a:ln w="28575" cap="flat" cmpd="sng" algn="ctr">
              <a:solidFill>
                <a:srgbClr val="C00000"/>
              </a:solidFill>
              <a:prstDash val="sysDot"/>
              <a:round/>
              <a:headEnd type="none" w="med" len="med"/>
              <a:tailEnd type="none" w="med" len="med"/>
            </a:ln>
            <a:effectLst/>
          </p:spPr>
        </p:cxnSp>
        <p:cxnSp>
          <p:nvCxnSpPr>
            <p:cNvPr id="34" name="直接连接符 33"/>
            <p:cNvCxnSpPr/>
            <p:nvPr/>
          </p:nvCxnSpPr>
          <p:spPr bwMode="auto">
            <a:xfrm>
              <a:off x="5026085" y="3753512"/>
              <a:ext cx="1323436" cy="1430933"/>
            </a:xfrm>
            <a:prstGeom prst="line">
              <a:avLst/>
            </a:prstGeom>
            <a:solidFill>
              <a:schemeClr val="accent1"/>
            </a:solidFill>
            <a:ln w="28575" cap="flat" cmpd="sng" algn="ctr">
              <a:solidFill>
                <a:srgbClr val="C00000"/>
              </a:solidFill>
              <a:prstDash val="sysDot"/>
              <a:round/>
              <a:headEnd type="none" w="med" len="med"/>
              <a:tailEnd type="none" w="med" len="med"/>
            </a:ln>
            <a:effectLst/>
          </p:spPr>
        </p:cxnSp>
        <p:cxnSp>
          <p:nvCxnSpPr>
            <p:cNvPr id="36" name="直接连接符 35"/>
            <p:cNvCxnSpPr/>
            <p:nvPr/>
          </p:nvCxnSpPr>
          <p:spPr bwMode="auto">
            <a:xfrm flipH="1">
              <a:off x="3915971" y="3938293"/>
              <a:ext cx="1218705" cy="942575"/>
            </a:xfrm>
            <a:prstGeom prst="line">
              <a:avLst/>
            </a:prstGeom>
            <a:solidFill>
              <a:schemeClr val="accent1"/>
            </a:solidFill>
            <a:ln w="28575" cap="flat" cmpd="sng" algn="ctr">
              <a:solidFill>
                <a:srgbClr val="C00000"/>
              </a:solidFill>
              <a:prstDash val="sysDot"/>
              <a:round/>
              <a:headEnd type="none" w="med" len="med"/>
              <a:tailEnd type="none" w="med" len="med"/>
            </a:ln>
            <a:effectLst/>
          </p:spPr>
        </p:cxnSp>
        <p:sp>
          <p:nvSpPr>
            <p:cNvPr id="37" name="Line 3"/>
            <p:cNvSpPr>
              <a:spLocks noChangeShapeType="1"/>
            </p:cNvSpPr>
            <p:nvPr/>
          </p:nvSpPr>
          <p:spPr bwMode="auto">
            <a:xfrm flipV="1">
              <a:off x="3568397" y="2239132"/>
              <a:ext cx="1295400" cy="739775"/>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38" name="Line 4"/>
            <p:cNvSpPr>
              <a:spLocks noChangeShapeType="1"/>
            </p:cNvSpPr>
            <p:nvPr/>
          </p:nvSpPr>
          <p:spPr bwMode="auto">
            <a:xfrm>
              <a:off x="5438161" y="2203419"/>
              <a:ext cx="1462399" cy="715163"/>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39" name="Line 5"/>
            <p:cNvSpPr>
              <a:spLocks noChangeShapeType="1"/>
            </p:cNvSpPr>
            <p:nvPr/>
          </p:nvSpPr>
          <p:spPr bwMode="auto">
            <a:xfrm flipV="1">
              <a:off x="5438161" y="3164642"/>
              <a:ext cx="1524312" cy="788378"/>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40" name="Line 6"/>
            <p:cNvSpPr>
              <a:spLocks noChangeShapeType="1"/>
            </p:cNvSpPr>
            <p:nvPr/>
          </p:nvSpPr>
          <p:spPr bwMode="auto">
            <a:xfrm>
              <a:off x="3508072" y="3224968"/>
              <a:ext cx="1293812" cy="679450"/>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41" name="Line 7"/>
            <p:cNvSpPr>
              <a:spLocks noChangeShapeType="1"/>
            </p:cNvSpPr>
            <p:nvPr/>
          </p:nvSpPr>
          <p:spPr bwMode="auto">
            <a:xfrm>
              <a:off x="7500836" y="3104963"/>
              <a:ext cx="324000" cy="0"/>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42" name="Text Box 8"/>
            <p:cNvSpPr txBox="1">
              <a:spLocks noChangeArrowheads="1"/>
            </p:cNvSpPr>
            <p:nvPr/>
          </p:nvSpPr>
          <p:spPr bwMode="auto">
            <a:xfrm>
              <a:off x="7831579" y="2912429"/>
              <a:ext cx="1558925" cy="336550"/>
            </a:xfrm>
            <a:prstGeom prst="rect">
              <a:avLst/>
            </a:prstGeom>
            <a:noFill/>
            <a:ln w="9525">
              <a:noFill/>
              <a:miter lim="800000"/>
              <a:headEnd/>
              <a:tailEnd/>
            </a:ln>
          </p:spPr>
          <p:txBody>
            <a:bodyPr lIns="91424" tIns="45712" rIns="91424" bIns="45712">
              <a:spAutoFit/>
            </a:bodyPr>
            <a:lstStyle/>
            <a:p>
              <a:pPr algn="l" rtl="0" fontAlgn="base">
                <a:spcBef>
                  <a:spcPct val="50000"/>
                </a:spcBef>
              </a:pPr>
              <a:r>
                <a:rPr lang="en-US" altLang="zh-CN" sz="1600" b="1" dirty="0">
                  <a:latin typeface="+mn-ea"/>
                  <a:ea typeface="+mn-ea"/>
                </a:rPr>
                <a:t>Lo0:2.2.2.2</a:t>
              </a:r>
            </a:p>
          </p:txBody>
        </p:sp>
        <p:sp>
          <p:nvSpPr>
            <p:cNvPr id="43" name="Rectangle 11"/>
            <p:cNvSpPr>
              <a:spLocks noChangeArrowheads="1"/>
            </p:cNvSpPr>
            <p:nvPr/>
          </p:nvSpPr>
          <p:spPr bwMode="auto">
            <a:xfrm>
              <a:off x="3079050" y="2528899"/>
              <a:ext cx="590642"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RTA</a:t>
              </a:r>
            </a:p>
          </p:txBody>
        </p:sp>
        <p:sp>
          <p:nvSpPr>
            <p:cNvPr id="44" name="Rectangle 12"/>
            <p:cNvSpPr>
              <a:spLocks noChangeArrowheads="1"/>
            </p:cNvSpPr>
            <p:nvPr/>
          </p:nvSpPr>
          <p:spPr bwMode="auto">
            <a:xfrm>
              <a:off x="6933167" y="2492895"/>
              <a:ext cx="614238"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RTD</a:t>
              </a:r>
            </a:p>
          </p:txBody>
        </p:sp>
        <p:sp>
          <p:nvSpPr>
            <p:cNvPr id="45" name="Rectangle 18"/>
            <p:cNvSpPr>
              <a:spLocks noChangeArrowheads="1"/>
            </p:cNvSpPr>
            <p:nvPr/>
          </p:nvSpPr>
          <p:spPr bwMode="auto">
            <a:xfrm>
              <a:off x="4224107" y="1832756"/>
              <a:ext cx="582178"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RTC</a:t>
              </a:r>
            </a:p>
          </p:txBody>
        </p:sp>
        <p:sp>
          <p:nvSpPr>
            <p:cNvPr id="46" name="Rectangle 19"/>
            <p:cNvSpPr>
              <a:spLocks noChangeArrowheads="1"/>
            </p:cNvSpPr>
            <p:nvPr/>
          </p:nvSpPr>
          <p:spPr bwMode="auto">
            <a:xfrm>
              <a:off x="5300803" y="3401338"/>
              <a:ext cx="605903"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RTB</a:t>
              </a:r>
            </a:p>
          </p:txBody>
        </p:sp>
        <p:sp>
          <p:nvSpPr>
            <p:cNvPr id="47" name="Line 7"/>
            <p:cNvSpPr>
              <a:spLocks noChangeShapeType="1"/>
            </p:cNvSpPr>
            <p:nvPr/>
          </p:nvSpPr>
          <p:spPr bwMode="auto">
            <a:xfrm>
              <a:off x="7831578" y="2960947"/>
              <a:ext cx="0" cy="288032"/>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48" name="Rectangle 9"/>
            <p:cNvSpPr>
              <a:spLocks noChangeArrowheads="1"/>
            </p:cNvSpPr>
            <p:nvPr/>
          </p:nvSpPr>
          <p:spPr bwMode="auto">
            <a:xfrm>
              <a:off x="6344761" y="3393105"/>
              <a:ext cx="1087395" cy="323927"/>
            </a:xfrm>
            <a:prstGeom prst="rect">
              <a:avLst/>
            </a:prstGeom>
            <a:noFill/>
            <a:ln w="9525">
              <a:noFill/>
              <a:miter lim="800000"/>
              <a:headEnd/>
              <a:tailEnd/>
            </a:ln>
          </p:spPr>
          <p:txBody>
            <a:bodyPr wrap="none" lIns="107433" tIns="53717" rIns="107433" bIns="53717">
              <a:spAutoFit/>
            </a:bodyPr>
            <a:lstStyle/>
            <a:p>
              <a:pPr algn="l" defTabSz="1066800" rtl="0" eaLnBrk="0" fontAlgn="base" hangingPunct="0"/>
              <a:r>
                <a:rPr lang="en-GB" altLang="zh-CN" sz="1400" dirty="0">
                  <a:latin typeface="+mn-ea"/>
                  <a:ea typeface="+mn-ea"/>
                </a:rPr>
                <a:t>24.24.24.2</a:t>
              </a:r>
              <a:endParaRPr lang="zh-CN" altLang="en-GB" sz="1400" dirty="0">
                <a:latin typeface="+mn-ea"/>
                <a:ea typeface="+mn-ea"/>
              </a:endParaRPr>
            </a:p>
          </p:txBody>
        </p:sp>
        <p:sp>
          <p:nvSpPr>
            <p:cNvPr id="49" name="WordArt 9"/>
            <p:cNvSpPr>
              <a:spLocks noChangeAspect="1" noChangeArrowheads="1" noChangeShapeType="1" noTextEdit="1"/>
            </p:cNvSpPr>
            <p:nvPr/>
          </p:nvSpPr>
          <p:spPr bwMode="auto">
            <a:xfrm>
              <a:off x="5496762" y="2877347"/>
              <a:ext cx="563879" cy="253460"/>
            </a:xfrm>
            <a:prstGeom prst="rect">
              <a:avLst/>
            </a:prstGeom>
          </p:spPr>
          <p:txBody>
            <a:bodyPr wrap="none" fromWordArt="1">
              <a:prstTxWarp prst="textPlain">
                <a:avLst>
                  <a:gd name="adj" fmla="val 50000"/>
                </a:avLst>
              </a:prstTxWarp>
            </a:bodyPr>
            <a:lstStyle/>
            <a:p>
              <a:pPr algn="ctr" rtl="0"/>
              <a:r>
                <a:rPr lang="en-US" altLang="zh-CN" sz="3600" kern="10" dirty="0">
                  <a:ln w="9525">
                    <a:solidFill>
                      <a:srgbClr val="000000"/>
                    </a:solidFill>
                    <a:round/>
                    <a:headEnd/>
                    <a:tailEnd/>
                  </a:ln>
                  <a:solidFill>
                    <a:srgbClr val="FFFFFF"/>
                  </a:solidFill>
                  <a:latin typeface="+mn-ea"/>
                  <a:ea typeface="+mn-ea"/>
                </a:rPr>
                <a:t>DÉCHIRER</a:t>
              </a:r>
              <a:endParaRPr lang="zh-CN" altLang="en-US" sz="3600" kern="10" dirty="0">
                <a:ln w="9525">
                  <a:solidFill>
                    <a:srgbClr val="000000"/>
                  </a:solidFill>
                  <a:round/>
                  <a:headEnd/>
                  <a:tailEnd/>
                </a:ln>
                <a:solidFill>
                  <a:srgbClr val="FFFFFF"/>
                </a:solidFill>
                <a:latin typeface="+mn-ea"/>
                <a:ea typeface="+mn-ea"/>
              </a:endParaRPr>
            </a:p>
          </p:txBody>
        </p:sp>
        <p:sp>
          <p:nvSpPr>
            <p:cNvPr id="50" name="WordArt 10"/>
            <p:cNvSpPr>
              <a:spLocks noChangeAspect="1" noChangeArrowheads="1" noChangeShapeType="1" noTextEdit="1"/>
            </p:cNvSpPr>
            <p:nvPr/>
          </p:nvSpPr>
          <p:spPr bwMode="auto">
            <a:xfrm>
              <a:off x="4272625" y="2877348"/>
              <a:ext cx="586484" cy="263621"/>
            </a:xfrm>
            <a:prstGeom prst="rect">
              <a:avLst/>
            </a:prstGeom>
          </p:spPr>
          <p:txBody>
            <a:bodyPr wrap="none" fromWordArt="1">
              <a:prstTxWarp prst="textPlain">
                <a:avLst>
                  <a:gd name="adj" fmla="val 50000"/>
                </a:avLst>
              </a:prstTxWarp>
            </a:bodyPr>
            <a:lstStyle/>
            <a:p>
              <a:pPr algn="ctr" rtl="0"/>
              <a:r>
                <a:rPr lang="en-US" altLang="zh-CN" sz="3600" kern="10" dirty="0">
                  <a:ln w="9525">
                    <a:solidFill>
                      <a:srgbClr val="000000"/>
                    </a:solidFill>
                    <a:round/>
                    <a:headEnd/>
                    <a:tailEnd/>
                  </a:ln>
                  <a:solidFill>
                    <a:srgbClr val="FFFFFF"/>
                  </a:solidFill>
                  <a:latin typeface="+mn-ea"/>
                  <a:ea typeface="+mn-ea"/>
                </a:rPr>
                <a:t>L'EI</a:t>
              </a:r>
              <a:endParaRPr lang="zh-CN" altLang="en-US" sz="3600" kern="10" dirty="0">
                <a:ln w="9525">
                  <a:solidFill>
                    <a:srgbClr val="000000"/>
                  </a:solidFill>
                  <a:round/>
                  <a:headEnd/>
                  <a:tailEnd/>
                </a:ln>
                <a:solidFill>
                  <a:srgbClr val="FFFFFF"/>
                </a:solidFill>
                <a:latin typeface="+mn-ea"/>
                <a:ea typeface="+mn-ea"/>
              </a:endParaRPr>
            </a:p>
          </p:txBody>
        </p:sp>
        <p:sp>
          <p:nvSpPr>
            <p:cNvPr id="51" name="AutoShape 17"/>
            <p:cNvSpPr>
              <a:spLocks noChangeArrowheads="1"/>
            </p:cNvSpPr>
            <p:nvPr/>
          </p:nvSpPr>
          <p:spPr bwMode="auto">
            <a:xfrm>
              <a:off x="2801867" y="4579436"/>
              <a:ext cx="1836000" cy="439224"/>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algn="l" rtl="0" fontAlgn="base">
                <a:lnSpc>
                  <a:spcPct val="60000"/>
                </a:lnSpc>
                <a:spcBef>
                  <a:spcPct val="20000"/>
                </a:spcBef>
                <a:spcAft>
                  <a:spcPct val="20000"/>
                </a:spcAft>
              </a:pPr>
              <a:r>
                <a:rPr kumimoji="1" lang="en-US" altLang="zh-CN" sz="1400" b="1" dirty="0">
                  <a:latin typeface="+mn-ea"/>
                  <a:ea typeface="+mn-ea"/>
                </a:rPr>
                <a:t>isis 1</a:t>
              </a:r>
            </a:p>
            <a:p>
              <a:pPr algn="l" rtl="0" fontAlgn="base">
                <a:lnSpc>
                  <a:spcPct val="60000"/>
                </a:lnSpc>
                <a:spcBef>
                  <a:spcPct val="20000"/>
                </a:spcBef>
                <a:spcAft>
                  <a:spcPct val="20000"/>
                </a:spcAft>
              </a:pPr>
              <a:r>
                <a:rPr kumimoji="1" lang="en-US" altLang="zh-CN" sz="1400" b="1" dirty="0">
                  <a:latin typeface="+mn-ea"/>
                  <a:ea typeface="+mn-ea"/>
                </a:rPr>
                <a:t> </a:t>
              </a:r>
              <a:r>
                <a:rPr kumimoji="1" lang="en-US" altLang="zh-CN" sz="1400" b="1" dirty="0">
                  <a:solidFill>
                    <a:srgbClr val="C00000"/>
                  </a:solidFill>
                  <a:latin typeface="+mn-ea"/>
                  <a:ea typeface="+mn-ea"/>
                </a:rPr>
                <a:t>préférence 150</a:t>
              </a:r>
            </a:p>
          </p:txBody>
        </p:sp>
        <p:sp>
          <p:nvSpPr>
            <p:cNvPr id="52" name="AutoShape 17"/>
            <p:cNvSpPr>
              <a:spLocks noChangeArrowheads="1"/>
            </p:cNvSpPr>
            <p:nvPr/>
          </p:nvSpPr>
          <p:spPr bwMode="auto">
            <a:xfrm>
              <a:off x="3648372" y="5179778"/>
              <a:ext cx="6552084" cy="654667"/>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algn="l" rtl="0" fontAlgn="base">
                <a:lnSpc>
                  <a:spcPct val="60000"/>
                </a:lnSpc>
                <a:spcBef>
                  <a:spcPct val="20000"/>
                </a:spcBef>
                <a:spcAft>
                  <a:spcPct val="20000"/>
                </a:spcAft>
              </a:pPr>
              <a:r>
                <a:rPr kumimoji="1" lang="en-US" altLang="zh-CN" sz="1400" b="1" dirty="0">
                  <a:latin typeface="+mn-ea"/>
                  <a:ea typeface="+mn-ea"/>
                </a:rPr>
                <a:t>afficher</a:t>
              </a:r>
              <a:r>
                <a:rPr kumimoji="1" lang="en-US" altLang="zh-CN" sz="1400" b="1" dirty="0" err="1">
                  <a:latin typeface="+mn-ea"/>
                  <a:ea typeface="+mn-ea"/>
                </a:rPr>
                <a:t>adresse IP</a:t>
              </a:r>
              <a:r>
                <a:rPr kumimoji="1" lang="en-US" altLang="zh-CN" sz="1400" b="1" dirty="0">
                  <a:latin typeface="+mn-ea"/>
                  <a:ea typeface="+mn-ea"/>
                </a:rPr>
                <a:t>table de routage</a:t>
              </a:r>
            </a:p>
            <a:p>
              <a:pPr algn="l" rtl="0" fontAlgn="base">
                <a:lnSpc>
                  <a:spcPct val="60000"/>
                </a:lnSpc>
                <a:spcBef>
                  <a:spcPct val="20000"/>
                </a:spcBef>
                <a:spcAft>
                  <a:spcPct val="20000"/>
                </a:spcAft>
              </a:pPr>
              <a:r>
                <a:rPr kumimoji="1" lang="en-US" altLang="zh-CN" sz="1400" dirty="0">
                  <a:latin typeface="+mn-ea"/>
                  <a:ea typeface="+mn-ea"/>
                </a:rPr>
                <a:t>Coût du prototype de destination/masque	</a:t>
              </a:r>
              <a:r>
                <a:rPr kumimoji="1" lang="en-US" altLang="zh-CN" sz="1400" dirty="0" err="1">
                  <a:latin typeface="+mn-ea"/>
                  <a:ea typeface="+mn-ea"/>
                </a:rPr>
                <a:t>NextHop</a:t>
              </a:r>
              <a:r>
                <a:rPr kumimoji="1" lang="en-US" altLang="zh-CN" sz="1400" dirty="0">
                  <a:latin typeface="+mn-ea"/>
                  <a:ea typeface="+mn-ea"/>
                </a:rPr>
                <a:t>     Interface</a:t>
              </a:r>
            </a:p>
            <a:p>
              <a:pPr algn="l" rtl="0" fontAlgn="base">
                <a:lnSpc>
                  <a:spcPct val="60000"/>
                </a:lnSpc>
                <a:spcBef>
                  <a:spcPct val="20000"/>
                </a:spcBef>
                <a:spcAft>
                  <a:spcPct val="20000"/>
                </a:spcAft>
              </a:pPr>
              <a:r>
                <a:rPr kumimoji="1" lang="en-US" altLang="zh-CN" sz="1400" dirty="0">
                  <a:solidFill>
                    <a:srgbClr val="C00000"/>
                  </a:solidFill>
                  <a:latin typeface="+mn-ea"/>
                  <a:ea typeface="+mn-ea"/>
                </a:rPr>
                <a:t>2.0.0.0/8 RIP 100 1 24.24.24.2 Numéro de série 1</a:t>
              </a:r>
            </a:p>
          </p:txBody>
        </p:sp>
        <p:sp>
          <p:nvSpPr>
            <p:cNvPr id="53" name="AutoShape 17"/>
            <p:cNvSpPr>
              <a:spLocks noChangeArrowheads="1"/>
            </p:cNvSpPr>
            <p:nvPr/>
          </p:nvSpPr>
          <p:spPr bwMode="auto">
            <a:xfrm>
              <a:off x="6232160" y="1605654"/>
              <a:ext cx="2332808" cy="439224"/>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algn="l" defTabSz="784225" rtl="0" fontAlgn="base">
                <a:lnSpc>
                  <a:spcPct val="60000"/>
                </a:lnSpc>
                <a:spcBef>
                  <a:spcPct val="20000"/>
                </a:spcBef>
                <a:spcAft>
                  <a:spcPct val="20000"/>
                </a:spcAft>
                <a:buClr>
                  <a:srgbClr val="990000"/>
                </a:buClr>
                <a:buSzPct val="85000"/>
              </a:pPr>
              <a:r>
                <a:rPr lang="en-US" altLang="zh-CN" sz="1400" b="1" dirty="0">
                  <a:latin typeface="+mn-ea"/>
                  <a:ea typeface="+mn-ea"/>
                </a:rPr>
                <a:t>isis 1      </a:t>
              </a:r>
            </a:p>
            <a:p>
              <a:pPr algn="l" defTabSz="784225" rtl="0" fontAlgn="base">
                <a:lnSpc>
                  <a:spcPct val="60000"/>
                </a:lnSpc>
                <a:spcBef>
                  <a:spcPct val="20000"/>
                </a:spcBef>
                <a:spcAft>
                  <a:spcPct val="20000"/>
                </a:spcAft>
                <a:buClr>
                  <a:srgbClr val="990000"/>
                </a:buClr>
                <a:buSzPct val="85000"/>
              </a:pPr>
              <a:r>
                <a:rPr lang="en-US" altLang="zh-CN" sz="1400" b="1" dirty="0">
                  <a:latin typeface="+mn-ea"/>
                  <a:ea typeface="+mn-ea"/>
                </a:rPr>
                <a:t> </a:t>
              </a:r>
              <a:r>
                <a:rPr lang="en-US" altLang="zh-CN" sz="1400" b="1" dirty="0">
                  <a:solidFill>
                    <a:srgbClr val="C00000"/>
                  </a:solidFill>
                  <a:latin typeface="+mn-ea"/>
                  <a:ea typeface="+mn-ea"/>
                </a:rPr>
                <a:t>route d'importation rip 1</a:t>
              </a:r>
            </a:p>
          </p:txBody>
        </p:sp>
        <p:pic>
          <p:nvPicPr>
            <p:cNvPr id="5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842854" y="1918021"/>
              <a:ext cx="628652" cy="514351"/>
            </a:xfrm>
            <a:prstGeom prst="rect">
              <a:avLst/>
            </a:prstGeom>
            <a:noFill/>
          </p:spPr>
        </p:pic>
        <p:pic>
          <p:nvPicPr>
            <p:cNvPr id="5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009398" y="2936824"/>
              <a:ext cx="628652" cy="514351"/>
            </a:xfrm>
            <a:prstGeom prst="rect">
              <a:avLst/>
            </a:prstGeom>
            <a:noFill/>
          </p:spPr>
        </p:pic>
        <p:pic>
          <p:nvPicPr>
            <p:cNvPr id="5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842854" y="3738433"/>
              <a:ext cx="628652" cy="514351"/>
            </a:xfrm>
            <a:prstGeom prst="rect">
              <a:avLst/>
            </a:prstGeom>
            <a:noFill/>
          </p:spPr>
        </p:pic>
        <p:pic>
          <p:nvPicPr>
            <p:cNvPr id="5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900560" y="2847787"/>
              <a:ext cx="628652" cy="514351"/>
            </a:xfrm>
            <a:prstGeom prst="rect">
              <a:avLst/>
            </a:prstGeom>
            <a:noFill/>
          </p:spPr>
        </p:pic>
        <p:sp>
          <p:nvSpPr>
            <p:cNvPr id="58" name="Line 17"/>
            <p:cNvSpPr>
              <a:spLocks noChangeShapeType="1"/>
            </p:cNvSpPr>
            <p:nvPr/>
          </p:nvSpPr>
          <p:spPr bwMode="auto">
            <a:xfrm>
              <a:off x="5167282" y="1664805"/>
              <a:ext cx="0" cy="2736303"/>
            </a:xfrm>
            <a:prstGeom prst="line">
              <a:avLst/>
            </a:prstGeom>
            <a:noFill/>
            <a:ln w="28575">
              <a:solidFill>
                <a:schemeClr val="tx1"/>
              </a:solidFill>
              <a:prstDash val="dash"/>
              <a:round/>
              <a:headEnd/>
              <a:tailEnd/>
            </a:ln>
          </p:spPr>
          <p:txBody>
            <a:bodyPr/>
            <a:lstStyle/>
            <a:p>
              <a:pPr algn="l" rtl="0"/>
              <a:endParaRPr lang="zh-CN" altLang="en-US">
                <a:latin typeface="+mn-ea"/>
                <a:ea typeface="+mn-ea"/>
              </a:endParaRPr>
            </a:p>
          </p:txBody>
        </p:sp>
      </p:grpSp>
    </p:spTree>
    <p:extLst>
      <p:ext uri="{BB962C8B-B14F-4D97-AF65-F5344CB8AC3E}">
        <p14:creationId xmlns:p14="http://schemas.microsoft.com/office/powerpoint/2010/main" val="15552924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2"/>
          </p:nvPr>
        </p:nvSpPr>
        <p:spPr>
          <a:xfrm>
            <a:off x="1595500" y="44624"/>
            <a:ext cx="9831600" cy="1178168"/>
          </a:xfrm>
        </p:spPr>
        <p:txBody>
          <a:bodyPr/>
          <a:lstStyle/>
          <a:p>
            <a:pPr algn="l" rtl="0"/>
            <a:r>
              <a:rPr lang="en-US" altLang="zh-CN" dirty="0"/>
              <a:t>Autres problèmes causés par la boucle multiprotocole</a:t>
            </a:r>
            <a:endParaRPr lang="zh-CN" altLang="en-US" dirty="0"/>
          </a:p>
        </p:txBody>
      </p:sp>
      <p:sp>
        <p:nvSpPr>
          <p:cNvPr id="59" name="Line 12"/>
          <p:cNvSpPr>
            <a:spLocks noChangeShapeType="1"/>
          </p:cNvSpPr>
          <p:nvPr/>
        </p:nvSpPr>
        <p:spPr bwMode="auto">
          <a:xfrm flipV="1">
            <a:off x="3683732" y="3762375"/>
            <a:ext cx="0" cy="1295400"/>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60" name="Line 8"/>
          <p:cNvSpPr>
            <a:spLocks noChangeShapeType="1"/>
          </p:cNvSpPr>
          <p:nvPr/>
        </p:nvSpPr>
        <p:spPr bwMode="auto">
          <a:xfrm flipV="1">
            <a:off x="3893840" y="5286027"/>
            <a:ext cx="689694" cy="0"/>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61" name="Line 4"/>
          <p:cNvSpPr>
            <a:spLocks noChangeShapeType="1"/>
          </p:cNvSpPr>
          <p:nvPr/>
        </p:nvSpPr>
        <p:spPr bwMode="auto">
          <a:xfrm flipV="1">
            <a:off x="3987800" y="2204864"/>
            <a:ext cx="2108200" cy="1124124"/>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62" name="Line 5"/>
          <p:cNvSpPr>
            <a:spLocks noChangeShapeType="1"/>
          </p:cNvSpPr>
          <p:nvPr/>
        </p:nvSpPr>
        <p:spPr bwMode="auto">
          <a:xfrm>
            <a:off x="6558704" y="2158832"/>
            <a:ext cx="2460810" cy="1247705"/>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63" name="Line 6"/>
          <p:cNvSpPr>
            <a:spLocks noChangeShapeType="1"/>
          </p:cNvSpPr>
          <p:nvPr/>
        </p:nvSpPr>
        <p:spPr bwMode="auto">
          <a:xfrm flipV="1">
            <a:off x="6565170" y="3698875"/>
            <a:ext cx="2454345" cy="1364056"/>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64" name="Line 7"/>
          <p:cNvSpPr>
            <a:spLocks noChangeShapeType="1"/>
          </p:cNvSpPr>
          <p:nvPr/>
        </p:nvSpPr>
        <p:spPr bwMode="auto">
          <a:xfrm>
            <a:off x="3893841" y="3617021"/>
            <a:ext cx="2160885" cy="1358205"/>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65" name="Text Box 9"/>
          <p:cNvSpPr txBox="1">
            <a:spLocks noChangeArrowheads="1"/>
          </p:cNvSpPr>
          <p:nvPr/>
        </p:nvSpPr>
        <p:spPr bwMode="auto">
          <a:xfrm>
            <a:off x="4043772" y="5394040"/>
            <a:ext cx="1481138" cy="303213"/>
          </a:xfrm>
          <a:prstGeom prst="rect">
            <a:avLst/>
          </a:prstGeom>
          <a:noFill/>
          <a:ln w="9525" algn="ctr">
            <a:noFill/>
            <a:miter lim="800000"/>
            <a:headEnd/>
            <a:tailEnd/>
          </a:ln>
        </p:spPr>
        <p:txBody>
          <a:bodyPr wrap="none" lIns="78355" tIns="39177" rIns="78355" bIns="39177" anchor="ctr"/>
          <a:lstStyle/>
          <a:p>
            <a:pPr algn="ctr" defTabSz="784225" rtl="0" eaLnBrk="0" fontAlgn="base" hangingPunct="0"/>
            <a:r>
              <a:rPr lang="en-US" altLang="zh-CN" sz="1400" b="1" dirty="0">
                <a:latin typeface="+mn-ea"/>
                <a:ea typeface="+mn-ea"/>
              </a:rPr>
              <a:t>Lo0:2.2.2.2/32</a:t>
            </a:r>
          </a:p>
        </p:txBody>
      </p:sp>
      <p:sp>
        <p:nvSpPr>
          <p:cNvPr id="66" name="WordArt 10"/>
          <p:cNvSpPr>
            <a:spLocks noChangeArrowheads="1" noChangeShapeType="1" noTextEdit="1"/>
          </p:cNvSpPr>
          <p:nvPr/>
        </p:nvSpPr>
        <p:spPr bwMode="auto">
          <a:xfrm>
            <a:off x="6816081" y="3576639"/>
            <a:ext cx="534045" cy="284410"/>
          </a:xfrm>
          <a:prstGeom prst="rect">
            <a:avLst/>
          </a:prstGeom>
        </p:spPr>
        <p:txBody>
          <a:bodyPr wrap="none" fromWordArt="1">
            <a:prstTxWarp prst="textPlain">
              <a:avLst>
                <a:gd name="adj" fmla="val 50000"/>
              </a:avLst>
            </a:prstTxWarp>
          </a:bodyPr>
          <a:lstStyle/>
          <a:p>
            <a:pPr algn="ctr" rtl="0"/>
            <a:r>
              <a:rPr lang="en-US" altLang="zh-CN" sz="3600" kern="10" dirty="0">
                <a:ln w="9525">
                  <a:solidFill>
                    <a:srgbClr val="000000"/>
                  </a:solidFill>
                  <a:round/>
                  <a:headEnd/>
                  <a:tailEnd/>
                </a:ln>
                <a:solidFill>
                  <a:srgbClr val="FFFFFF"/>
                </a:solidFill>
                <a:latin typeface="+mn-ea"/>
                <a:ea typeface="+mn-ea"/>
              </a:rPr>
              <a:t>L'EI</a:t>
            </a:r>
            <a:endParaRPr lang="zh-CN" altLang="en-US" sz="3600" kern="10" dirty="0">
              <a:ln w="9525">
                <a:solidFill>
                  <a:srgbClr val="000000"/>
                </a:solidFill>
                <a:round/>
                <a:headEnd/>
                <a:tailEnd/>
              </a:ln>
              <a:solidFill>
                <a:srgbClr val="FFFFFF"/>
              </a:solidFill>
              <a:latin typeface="+mn-ea"/>
              <a:ea typeface="+mn-ea"/>
            </a:endParaRPr>
          </a:p>
        </p:txBody>
      </p:sp>
      <p:sp>
        <p:nvSpPr>
          <p:cNvPr id="67" name="WordArt 11"/>
          <p:cNvSpPr>
            <a:spLocks noChangeArrowheads="1" noChangeShapeType="1" noTextEdit="1"/>
          </p:cNvSpPr>
          <p:nvPr/>
        </p:nvSpPr>
        <p:spPr bwMode="auto">
          <a:xfrm>
            <a:off x="5447928" y="3576639"/>
            <a:ext cx="546472" cy="284410"/>
          </a:xfrm>
          <a:prstGeom prst="rect">
            <a:avLst/>
          </a:prstGeom>
        </p:spPr>
        <p:txBody>
          <a:bodyPr wrap="none" fromWordArt="1">
            <a:prstTxWarp prst="textPlain">
              <a:avLst>
                <a:gd name="adj" fmla="val 50000"/>
              </a:avLst>
            </a:prstTxWarp>
          </a:bodyPr>
          <a:lstStyle/>
          <a:p>
            <a:pPr algn="ctr" rtl="0"/>
            <a:r>
              <a:rPr lang="en-US" altLang="zh-CN" sz="3600" kern="10" dirty="0">
                <a:ln w="9525">
                  <a:solidFill>
                    <a:srgbClr val="000000"/>
                  </a:solidFill>
                  <a:round/>
                  <a:headEnd/>
                  <a:tailEnd/>
                </a:ln>
                <a:solidFill>
                  <a:srgbClr val="FFFFFF"/>
                </a:solidFill>
                <a:latin typeface="+mn-ea"/>
                <a:ea typeface="+mn-ea"/>
              </a:rPr>
              <a:t>OSPF</a:t>
            </a:r>
            <a:endParaRPr lang="zh-CN" altLang="en-US" sz="3600" kern="10" dirty="0">
              <a:ln w="9525">
                <a:solidFill>
                  <a:srgbClr val="000000"/>
                </a:solidFill>
                <a:round/>
                <a:headEnd/>
                <a:tailEnd/>
              </a:ln>
              <a:solidFill>
                <a:srgbClr val="FFFFFF"/>
              </a:solidFill>
              <a:latin typeface="+mn-ea"/>
              <a:ea typeface="+mn-ea"/>
            </a:endParaRPr>
          </a:p>
        </p:txBody>
      </p:sp>
      <p:sp>
        <p:nvSpPr>
          <p:cNvPr id="68" name="AutoShape 20"/>
          <p:cNvSpPr>
            <a:spLocks noChangeArrowheads="1"/>
          </p:cNvSpPr>
          <p:nvPr/>
        </p:nvSpPr>
        <p:spPr bwMode="auto">
          <a:xfrm rot="10800000" flipH="1">
            <a:off x="6960096" y="2852936"/>
            <a:ext cx="792088" cy="1595437"/>
          </a:xfrm>
          <a:prstGeom prst="curvedLeftArrow">
            <a:avLst>
              <a:gd name="adj1" fmla="val 40281"/>
              <a:gd name="adj2" fmla="val 80561"/>
              <a:gd name="adj3" fmla="val 33333"/>
            </a:avLst>
          </a:prstGeom>
          <a:noFill/>
          <a:ln w="9525">
            <a:solidFill>
              <a:schemeClr val="tx1"/>
            </a:solidFill>
            <a:miter lim="800000"/>
            <a:headEnd/>
            <a:tailEnd/>
          </a:ln>
        </p:spPr>
        <p:txBody>
          <a:bodyPr wrap="none" anchor="ctr"/>
          <a:lstStyle/>
          <a:p>
            <a:pPr algn="l" rtl="0"/>
            <a:endParaRPr lang="zh-CN" altLang="en-US">
              <a:latin typeface="+mn-ea"/>
              <a:ea typeface="+mn-ea"/>
            </a:endParaRPr>
          </a:p>
        </p:txBody>
      </p:sp>
      <p:sp>
        <p:nvSpPr>
          <p:cNvPr id="69" name="Rectangle 22"/>
          <p:cNvSpPr>
            <a:spLocks noChangeArrowheads="1"/>
          </p:cNvSpPr>
          <p:nvPr/>
        </p:nvSpPr>
        <p:spPr bwMode="auto">
          <a:xfrm>
            <a:off x="2670397" y="5207921"/>
            <a:ext cx="590642"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RTA</a:t>
            </a:r>
          </a:p>
        </p:txBody>
      </p:sp>
      <p:sp>
        <p:nvSpPr>
          <p:cNvPr id="70" name="Rectangle 23"/>
          <p:cNvSpPr>
            <a:spLocks noChangeArrowheads="1"/>
          </p:cNvSpPr>
          <p:nvPr/>
        </p:nvSpPr>
        <p:spPr bwMode="auto">
          <a:xfrm>
            <a:off x="3279923" y="2966017"/>
            <a:ext cx="605903"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RTB</a:t>
            </a:r>
          </a:p>
        </p:txBody>
      </p:sp>
      <p:sp>
        <p:nvSpPr>
          <p:cNvPr id="71" name="Rectangle 24"/>
          <p:cNvSpPr>
            <a:spLocks noChangeArrowheads="1"/>
          </p:cNvSpPr>
          <p:nvPr/>
        </p:nvSpPr>
        <p:spPr bwMode="auto">
          <a:xfrm>
            <a:off x="5699957" y="2384884"/>
            <a:ext cx="582178"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RTC</a:t>
            </a:r>
          </a:p>
        </p:txBody>
      </p:sp>
      <p:sp>
        <p:nvSpPr>
          <p:cNvPr id="72" name="Rectangle 25"/>
          <p:cNvSpPr>
            <a:spLocks noChangeArrowheads="1"/>
          </p:cNvSpPr>
          <p:nvPr/>
        </p:nvSpPr>
        <p:spPr bwMode="auto">
          <a:xfrm>
            <a:off x="9480377" y="3390472"/>
            <a:ext cx="614238"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RTD</a:t>
            </a:r>
          </a:p>
        </p:txBody>
      </p:sp>
      <p:sp>
        <p:nvSpPr>
          <p:cNvPr id="73" name="Rectangle 26"/>
          <p:cNvSpPr>
            <a:spLocks noChangeArrowheads="1"/>
          </p:cNvSpPr>
          <p:nvPr/>
        </p:nvSpPr>
        <p:spPr bwMode="auto">
          <a:xfrm>
            <a:off x="6380112" y="4375134"/>
            <a:ext cx="569354"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RTE</a:t>
            </a:r>
          </a:p>
        </p:txBody>
      </p:sp>
      <p:sp>
        <p:nvSpPr>
          <p:cNvPr id="74" name="Line 7"/>
          <p:cNvSpPr>
            <a:spLocks noChangeShapeType="1"/>
          </p:cNvSpPr>
          <p:nvPr/>
        </p:nvSpPr>
        <p:spPr bwMode="auto">
          <a:xfrm>
            <a:off x="4583534" y="5121188"/>
            <a:ext cx="0" cy="288032"/>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75" name="AutoShape 20"/>
          <p:cNvSpPr>
            <a:spLocks noChangeArrowheads="1"/>
          </p:cNvSpPr>
          <p:nvPr/>
        </p:nvSpPr>
        <p:spPr bwMode="auto">
          <a:xfrm flipH="1">
            <a:off x="5159896" y="2996953"/>
            <a:ext cx="720080" cy="1595437"/>
          </a:xfrm>
          <a:prstGeom prst="curvedLeftArrow">
            <a:avLst>
              <a:gd name="adj1" fmla="val 40281"/>
              <a:gd name="adj2" fmla="val 91371"/>
              <a:gd name="adj3" fmla="val 33333"/>
            </a:avLst>
          </a:prstGeom>
          <a:noFill/>
          <a:ln w="9525">
            <a:solidFill>
              <a:schemeClr val="tx1"/>
            </a:solidFill>
            <a:miter lim="800000"/>
            <a:headEnd/>
            <a:tailEnd/>
          </a:ln>
        </p:spPr>
        <p:txBody>
          <a:bodyPr wrap="none" anchor="ctr"/>
          <a:lstStyle/>
          <a:p>
            <a:pPr algn="l" rtl="0"/>
            <a:endParaRPr lang="zh-CN" altLang="en-US">
              <a:latin typeface="+mn-ea"/>
              <a:ea typeface="+mn-ea"/>
            </a:endParaRPr>
          </a:p>
        </p:txBody>
      </p:sp>
      <p:sp>
        <p:nvSpPr>
          <p:cNvPr id="76" name="AutoShape 13"/>
          <p:cNvSpPr>
            <a:spLocks noChangeArrowheads="1"/>
          </p:cNvSpPr>
          <p:nvPr/>
        </p:nvSpPr>
        <p:spPr bwMode="auto">
          <a:xfrm rot="16200000">
            <a:off x="3513677" y="4699105"/>
            <a:ext cx="592138" cy="2268252"/>
          </a:xfrm>
          <a:prstGeom prst="upArrow">
            <a:avLst>
              <a:gd name="adj1" fmla="val 50000"/>
              <a:gd name="adj2" fmla="val 88204"/>
            </a:avLst>
          </a:prstGeom>
          <a:noFill/>
          <a:ln w="9525" algn="ctr">
            <a:solidFill>
              <a:schemeClr val="tx1"/>
            </a:solidFill>
            <a:miter lim="800000"/>
            <a:headEnd/>
            <a:tailEnd/>
          </a:ln>
        </p:spPr>
        <p:txBody>
          <a:bodyPr vert="eaVert" wrap="none" lIns="78355" tIns="39177" rIns="78355" bIns="39177" anchor="ctr"/>
          <a:lstStyle/>
          <a:p>
            <a:pPr algn="ctr" defTabSz="784225" rtl="0" eaLnBrk="0" fontAlgn="base" hangingPunct="0"/>
            <a:r>
              <a:rPr lang="en-US" altLang="zh-CN" sz="1400" dirty="0">
                <a:latin typeface="+mn-ea"/>
                <a:ea typeface="+mn-ea"/>
              </a:rPr>
              <a:t>  </a:t>
            </a:r>
            <a:r>
              <a:rPr lang="zh-CN" altLang="en-US" sz="1400" dirty="0">
                <a:latin typeface="+mn-ea"/>
                <a:ea typeface="+mn-ea"/>
              </a:rPr>
              <a:t>①</a:t>
            </a:r>
            <a:r>
              <a:rPr lang="en-US" altLang="zh-CN" sz="1400" dirty="0">
                <a:latin typeface="+mn-ea"/>
                <a:ea typeface="+mn-ea"/>
              </a:rPr>
              <a:t>importercoût direct 2</a:t>
            </a:r>
          </a:p>
        </p:txBody>
      </p:sp>
      <p:sp>
        <p:nvSpPr>
          <p:cNvPr id="77" name="AutoShape 14"/>
          <p:cNvSpPr>
            <a:spLocks noChangeArrowheads="1"/>
          </p:cNvSpPr>
          <p:nvPr/>
        </p:nvSpPr>
        <p:spPr bwMode="auto">
          <a:xfrm>
            <a:off x="2790024" y="3335461"/>
            <a:ext cx="535211" cy="1930736"/>
          </a:xfrm>
          <a:prstGeom prst="upArrow">
            <a:avLst>
              <a:gd name="adj1" fmla="val 50000"/>
              <a:gd name="adj2" fmla="val 70997"/>
            </a:avLst>
          </a:prstGeom>
          <a:noFill/>
          <a:ln w="9525" algn="ctr">
            <a:solidFill>
              <a:schemeClr val="tx1"/>
            </a:solidFill>
            <a:miter lim="800000"/>
            <a:headEnd/>
            <a:tailEnd/>
          </a:ln>
        </p:spPr>
        <p:txBody>
          <a:bodyPr vert="eaVert" wrap="none" lIns="78355" tIns="39177" rIns="78355" bIns="39177" anchor="ctr"/>
          <a:lstStyle/>
          <a:p>
            <a:pPr algn="ctr" defTabSz="784225" rtl="0" eaLnBrk="0" fontAlgn="base" hangingPunct="0"/>
            <a:r>
              <a:rPr lang="en-US" altLang="zh-CN" sz="1400" dirty="0">
                <a:latin typeface="+mn-ea"/>
                <a:ea typeface="+mn-ea"/>
              </a:rPr>
              <a:t>  </a:t>
            </a:r>
            <a:r>
              <a:rPr lang="zh-CN" altLang="en-US" sz="1400" dirty="0">
                <a:latin typeface="+mn-ea"/>
                <a:ea typeface="+mn-ea"/>
              </a:rPr>
              <a:t>②</a:t>
            </a:r>
            <a:r>
              <a:rPr lang="en-US" altLang="zh-CN" sz="1400" dirty="0" err="1">
                <a:latin typeface="+mn-ea"/>
                <a:ea typeface="+mn-ea"/>
              </a:rPr>
              <a:t>Dest</a:t>
            </a:r>
            <a:r>
              <a:rPr lang="en-US" altLang="zh-CN" sz="1400" dirty="0">
                <a:latin typeface="+mn-ea"/>
                <a:ea typeface="+mn-ea"/>
              </a:rPr>
              <a:t>ASE 150</a:t>
            </a:r>
            <a:r>
              <a:rPr lang="en-US" altLang="zh-CN" sz="1400" b="1" dirty="0">
                <a:solidFill>
                  <a:srgbClr val="C00000"/>
                </a:solidFill>
                <a:latin typeface="+mn-ea"/>
                <a:ea typeface="+mn-ea"/>
              </a:rPr>
              <a:t>2</a:t>
            </a:r>
          </a:p>
        </p:txBody>
      </p:sp>
      <p:sp>
        <p:nvSpPr>
          <p:cNvPr id="78" name="AutoShape 15"/>
          <p:cNvSpPr>
            <a:spLocks noChangeArrowheads="1"/>
          </p:cNvSpPr>
          <p:nvPr/>
        </p:nvSpPr>
        <p:spPr bwMode="auto">
          <a:xfrm rot="1897125">
            <a:off x="4016445" y="4520929"/>
            <a:ext cx="1851025" cy="557212"/>
          </a:xfrm>
          <a:prstGeom prst="rightArrow">
            <a:avLst>
              <a:gd name="adj1" fmla="val 50000"/>
              <a:gd name="adj2" fmla="val 83049"/>
            </a:avLst>
          </a:prstGeom>
          <a:noFill/>
          <a:ln w="9525" algn="ctr">
            <a:solidFill>
              <a:schemeClr val="tx1"/>
            </a:solidFill>
            <a:miter lim="800000"/>
            <a:headEnd/>
            <a:tailEnd/>
          </a:ln>
        </p:spPr>
        <p:txBody>
          <a:bodyPr wrap="none" lIns="78355" tIns="39177" rIns="78355" bIns="39177" anchor="ctr"/>
          <a:lstStyle/>
          <a:p>
            <a:pPr algn="ctr" defTabSz="784225" rtl="0" eaLnBrk="0" fontAlgn="base" hangingPunct="0"/>
            <a:r>
              <a:rPr lang="en-US" altLang="zh-CN" sz="1400" dirty="0">
                <a:latin typeface="+mn-ea"/>
                <a:ea typeface="+mn-ea"/>
              </a:rPr>
              <a:t> </a:t>
            </a:r>
            <a:r>
              <a:rPr lang="zh-CN" altLang="en-US" sz="1400" dirty="0">
                <a:latin typeface="+mn-ea"/>
                <a:ea typeface="+mn-ea"/>
              </a:rPr>
              <a:t>③</a:t>
            </a:r>
            <a:r>
              <a:rPr lang="en-US" altLang="zh-CN" sz="1400" dirty="0" err="1">
                <a:latin typeface="+mn-ea"/>
                <a:ea typeface="+mn-ea"/>
              </a:rPr>
              <a:t>Dest</a:t>
            </a:r>
            <a:r>
              <a:rPr lang="en-US" altLang="zh-CN" sz="1400" dirty="0">
                <a:latin typeface="+mn-ea"/>
                <a:ea typeface="+mn-ea"/>
              </a:rPr>
              <a:t>ASE 150</a:t>
            </a:r>
          </a:p>
        </p:txBody>
      </p:sp>
      <p:sp>
        <p:nvSpPr>
          <p:cNvPr id="79" name="AutoShape 32"/>
          <p:cNvSpPr>
            <a:spLocks noChangeArrowheads="1"/>
          </p:cNvSpPr>
          <p:nvPr/>
        </p:nvSpPr>
        <p:spPr bwMode="auto">
          <a:xfrm>
            <a:off x="5765800" y="5301209"/>
            <a:ext cx="1912938" cy="523875"/>
          </a:xfrm>
          <a:prstGeom prst="rightArrow">
            <a:avLst>
              <a:gd name="adj1" fmla="val 50000"/>
              <a:gd name="adj2" fmla="val 91288"/>
            </a:avLst>
          </a:prstGeom>
          <a:noFill/>
          <a:ln w="9525" algn="ctr">
            <a:solidFill>
              <a:schemeClr val="tx1"/>
            </a:solidFill>
            <a:miter lim="800000"/>
            <a:headEnd/>
            <a:tailEnd/>
          </a:ln>
        </p:spPr>
        <p:txBody>
          <a:bodyPr wrap="none" lIns="78355" tIns="39177" rIns="78355" bIns="39177" anchor="ctr"/>
          <a:lstStyle/>
          <a:p>
            <a:pPr algn="ctr" defTabSz="784225" rtl="0" eaLnBrk="0" fontAlgn="base" hangingPunct="0"/>
            <a:r>
              <a:rPr lang="zh-CN" altLang="en-US" sz="1400" dirty="0">
                <a:latin typeface="+mn-ea"/>
                <a:ea typeface="+mn-ea"/>
              </a:rPr>
              <a:t>④</a:t>
            </a:r>
            <a:r>
              <a:rPr lang="en-US" altLang="zh-CN" sz="1400" dirty="0">
                <a:latin typeface="+mn-ea"/>
                <a:ea typeface="+mn-ea"/>
              </a:rPr>
              <a:t>importerospf</a:t>
            </a:r>
          </a:p>
        </p:txBody>
      </p:sp>
      <p:sp>
        <p:nvSpPr>
          <p:cNvPr id="80" name="AutoShape 17"/>
          <p:cNvSpPr>
            <a:spLocks noChangeArrowheads="1"/>
          </p:cNvSpPr>
          <p:nvPr/>
        </p:nvSpPr>
        <p:spPr bwMode="auto">
          <a:xfrm rot="19738618">
            <a:off x="7119888" y="4402489"/>
            <a:ext cx="1912938" cy="592138"/>
          </a:xfrm>
          <a:prstGeom prst="rightArrow">
            <a:avLst>
              <a:gd name="adj1" fmla="val 50000"/>
              <a:gd name="adj2" fmla="val 80764"/>
            </a:avLst>
          </a:prstGeom>
          <a:noFill/>
          <a:ln w="9525" algn="ctr">
            <a:solidFill>
              <a:schemeClr val="tx1"/>
            </a:solidFill>
            <a:miter lim="800000"/>
            <a:headEnd/>
            <a:tailEnd/>
          </a:ln>
        </p:spPr>
        <p:txBody>
          <a:bodyPr wrap="none" lIns="78355" tIns="39177" rIns="78355" bIns="39177" anchor="ctr"/>
          <a:lstStyle/>
          <a:p>
            <a:pPr algn="ctr" defTabSz="784225" rtl="0" eaLnBrk="0" fontAlgn="base" hangingPunct="0"/>
            <a:r>
              <a:rPr lang="zh-CN" altLang="en-US" sz="1400" dirty="0">
                <a:latin typeface="+mn-ea"/>
                <a:ea typeface="+mn-ea"/>
              </a:rPr>
              <a:t>⑤</a:t>
            </a:r>
            <a:r>
              <a:rPr lang="en-US" altLang="zh-CN" sz="1400" dirty="0" err="1">
                <a:latin typeface="+mn-ea"/>
                <a:ea typeface="+mn-ea"/>
              </a:rPr>
              <a:t>Dest</a:t>
            </a:r>
            <a:r>
              <a:rPr lang="en-US" altLang="zh-CN" sz="1400" dirty="0">
                <a:latin typeface="+mn-ea"/>
                <a:ea typeface="+mn-ea"/>
              </a:rPr>
              <a:t>. ISIS 15</a:t>
            </a:r>
          </a:p>
        </p:txBody>
      </p:sp>
      <p:sp>
        <p:nvSpPr>
          <p:cNvPr id="81" name="AutoShape 18"/>
          <p:cNvSpPr>
            <a:spLocks noChangeArrowheads="1"/>
          </p:cNvSpPr>
          <p:nvPr/>
        </p:nvSpPr>
        <p:spPr bwMode="auto">
          <a:xfrm rot="17953393">
            <a:off x="7749145" y="1431786"/>
            <a:ext cx="579437" cy="1941512"/>
          </a:xfrm>
          <a:prstGeom prst="upArrow">
            <a:avLst>
              <a:gd name="adj1" fmla="val 50000"/>
              <a:gd name="adj2" fmla="val 83767"/>
            </a:avLst>
          </a:prstGeom>
          <a:noFill/>
          <a:ln w="9525" algn="ctr">
            <a:solidFill>
              <a:schemeClr val="tx1"/>
            </a:solidFill>
            <a:miter lim="800000"/>
            <a:headEnd/>
            <a:tailEnd/>
          </a:ln>
        </p:spPr>
        <p:txBody>
          <a:bodyPr vert="eaVert" wrap="none" lIns="78355" tIns="39177" rIns="78355" bIns="39177" anchor="ctr"/>
          <a:lstStyle/>
          <a:p>
            <a:pPr algn="ctr" defTabSz="784225" rtl="0" eaLnBrk="0" fontAlgn="base" hangingPunct="0"/>
            <a:r>
              <a:rPr lang="en-US" altLang="zh-CN" sz="1400" dirty="0">
                <a:latin typeface="+mn-ea"/>
                <a:ea typeface="+mn-ea"/>
              </a:rPr>
              <a:t> </a:t>
            </a:r>
            <a:r>
              <a:rPr lang="zh-CN" altLang="en-US" sz="1400" dirty="0">
                <a:latin typeface="+mn-ea"/>
                <a:ea typeface="+mn-ea"/>
              </a:rPr>
              <a:t>⑥</a:t>
            </a:r>
            <a:r>
              <a:rPr lang="en-US" altLang="zh-CN" sz="1400" dirty="0" err="1">
                <a:latin typeface="+mn-ea"/>
                <a:ea typeface="+mn-ea"/>
              </a:rPr>
              <a:t>Dest</a:t>
            </a:r>
            <a:r>
              <a:rPr lang="en-US" altLang="zh-CN" sz="1400" dirty="0">
                <a:latin typeface="+mn-ea"/>
                <a:ea typeface="+mn-ea"/>
              </a:rPr>
              <a:t>. ISIS 15</a:t>
            </a:r>
          </a:p>
        </p:txBody>
      </p:sp>
      <p:sp>
        <p:nvSpPr>
          <p:cNvPr id="82" name="AutoShape 16"/>
          <p:cNvSpPr>
            <a:spLocks noChangeArrowheads="1"/>
          </p:cNvSpPr>
          <p:nvPr/>
        </p:nvSpPr>
        <p:spPr bwMode="auto">
          <a:xfrm rot="19941620">
            <a:off x="3899756" y="2168861"/>
            <a:ext cx="1911350" cy="530225"/>
          </a:xfrm>
          <a:prstGeom prst="rightArrow">
            <a:avLst>
              <a:gd name="adj1" fmla="val 50000"/>
              <a:gd name="adj2" fmla="val 90120"/>
            </a:avLst>
          </a:prstGeom>
          <a:noFill/>
          <a:ln w="9525" algn="ctr">
            <a:solidFill>
              <a:schemeClr val="tx1"/>
            </a:solidFill>
            <a:miter lim="800000"/>
            <a:headEnd/>
            <a:tailEnd/>
          </a:ln>
        </p:spPr>
        <p:txBody>
          <a:bodyPr wrap="none" lIns="78355" tIns="39177" rIns="78355" bIns="39177" anchor="ctr"/>
          <a:lstStyle/>
          <a:p>
            <a:pPr algn="ctr" defTabSz="784225" rtl="0" eaLnBrk="0" fontAlgn="base" hangingPunct="0"/>
            <a:r>
              <a:rPr lang="en-US" altLang="zh-CN" sz="1400" dirty="0">
                <a:latin typeface="+mn-ea"/>
                <a:ea typeface="+mn-ea"/>
              </a:rPr>
              <a:t>  </a:t>
            </a:r>
            <a:r>
              <a:rPr lang="zh-CN" altLang="en-US" sz="1400" dirty="0">
                <a:latin typeface="+mn-ea"/>
                <a:ea typeface="+mn-ea"/>
              </a:rPr>
              <a:t>③</a:t>
            </a:r>
            <a:r>
              <a:rPr lang="en-US" altLang="zh-CN" sz="1400" dirty="0" err="1">
                <a:latin typeface="+mn-ea"/>
                <a:ea typeface="+mn-ea"/>
              </a:rPr>
              <a:t>Dest</a:t>
            </a:r>
            <a:r>
              <a:rPr lang="en-US" altLang="zh-CN" sz="1400" dirty="0">
                <a:latin typeface="+mn-ea"/>
                <a:ea typeface="+mn-ea"/>
              </a:rPr>
              <a:t>ASE 150</a:t>
            </a:r>
          </a:p>
        </p:txBody>
      </p:sp>
      <p:sp>
        <p:nvSpPr>
          <p:cNvPr id="83" name="AutoShape 19"/>
          <p:cNvSpPr>
            <a:spLocks noChangeArrowheads="1"/>
          </p:cNvSpPr>
          <p:nvPr/>
        </p:nvSpPr>
        <p:spPr bwMode="auto">
          <a:xfrm rot="16200000">
            <a:off x="5988051" y="832570"/>
            <a:ext cx="627063" cy="1541463"/>
          </a:xfrm>
          <a:prstGeom prst="upArrow">
            <a:avLst>
              <a:gd name="adj1" fmla="val 50000"/>
              <a:gd name="adj2" fmla="val 61456"/>
            </a:avLst>
          </a:prstGeom>
          <a:noFill/>
          <a:ln w="9525" algn="ctr">
            <a:solidFill>
              <a:schemeClr val="tx1"/>
            </a:solidFill>
            <a:miter lim="800000"/>
            <a:headEnd/>
            <a:tailEnd/>
          </a:ln>
        </p:spPr>
        <p:txBody>
          <a:bodyPr vert="eaVert" wrap="none" lIns="78355" tIns="39177" rIns="78355" bIns="39177" anchor="ctr"/>
          <a:lstStyle/>
          <a:p>
            <a:pPr algn="ctr" defTabSz="784225" rtl="0" eaLnBrk="0" fontAlgn="base" hangingPunct="0"/>
            <a:r>
              <a:rPr lang="en-US" altLang="zh-CN" sz="1400" dirty="0">
                <a:latin typeface="+mn-ea"/>
                <a:ea typeface="+mn-ea"/>
              </a:rPr>
              <a:t> </a:t>
            </a:r>
            <a:r>
              <a:rPr lang="zh-CN" altLang="en-US" sz="1400" dirty="0">
                <a:latin typeface="+mn-ea"/>
                <a:ea typeface="+mn-ea"/>
              </a:rPr>
              <a:t>⑦</a:t>
            </a:r>
            <a:r>
              <a:rPr lang="en-US" altLang="zh-CN" sz="1400" dirty="0">
                <a:latin typeface="+mn-ea"/>
                <a:ea typeface="+mn-ea"/>
              </a:rPr>
              <a:t>importerise</a:t>
            </a:r>
          </a:p>
        </p:txBody>
      </p:sp>
      <p:sp>
        <p:nvSpPr>
          <p:cNvPr id="84" name="AutoShape 19"/>
          <p:cNvSpPr>
            <a:spLocks noChangeArrowheads="1"/>
          </p:cNvSpPr>
          <p:nvPr/>
        </p:nvSpPr>
        <p:spPr bwMode="auto">
          <a:xfrm rot="14640000">
            <a:off x="4151192" y="1187952"/>
            <a:ext cx="627063" cy="1797194"/>
          </a:xfrm>
          <a:prstGeom prst="upArrow">
            <a:avLst>
              <a:gd name="adj1" fmla="val 50000"/>
              <a:gd name="adj2" fmla="val 61456"/>
            </a:avLst>
          </a:prstGeom>
          <a:noFill/>
          <a:ln w="9525" algn="ctr">
            <a:solidFill>
              <a:schemeClr val="tx1"/>
            </a:solidFill>
            <a:miter lim="800000"/>
            <a:headEnd/>
            <a:tailEnd/>
          </a:ln>
        </p:spPr>
        <p:txBody>
          <a:bodyPr vert="eaVert" wrap="none" lIns="78355" tIns="39177" rIns="78355" bIns="39177" anchor="ctr"/>
          <a:lstStyle/>
          <a:p>
            <a:pPr algn="ctr" defTabSz="784225" rtl="0" eaLnBrk="0" fontAlgn="base" hangingPunct="0"/>
            <a:r>
              <a:rPr lang="en-US" altLang="zh-CN" sz="1400" dirty="0">
                <a:latin typeface="+mn-ea"/>
                <a:ea typeface="+mn-ea"/>
              </a:rPr>
              <a:t> </a:t>
            </a:r>
            <a:r>
              <a:rPr lang="zh-CN" altLang="en-US" sz="1400" dirty="0">
                <a:latin typeface="+mn-ea"/>
                <a:ea typeface="+mn-ea"/>
              </a:rPr>
              <a:t>⑧</a:t>
            </a:r>
            <a:r>
              <a:rPr lang="en-US" altLang="zh-CN" sz="1400" dirty="0" err="1">
                <a:latin typeface="+mn-ea"/>
                <a:ea typeface="+mn-ea"/>
              </a:rPr>
              <a:t>Dest</a:t>
            </a:r>
            <a:r>
              <a:rPr lang="en-US" altLang="zh-CN" sz="1400" dirty="0">
                <a:latin typeface="+mn-ea"/>
                <a:ea typeface="+mn-ea"/>
              </a:rPr>
              <a:t>ASE 150</a:t>
            </a:r>
            <a:r>
              <a:rPr lang="en-US" altLang="zh-CN" sz="1400" b="1" dirty="0">
                <a:solidFill>
                  <a:srgbClr val="C00000"/>
                </a:solidFill>
                <a:latin typeface="+mn-ea"/>
                <a:ea typeface="+mn-ea"/>
              </a:rPr>
              <a:t>1</a:t>
            </a:r>
          </a:p>
        </p:txBody>
      </p:sp>
      <p:sp>
        <p:nvSpPr>
          <p:cNvPr id="85" name="Line 31"/>
          <p:cNvSpPr>
            <a:spLocks noChangeShapeType="1"/>
          </p:cNvSpPr>
          <p:nvPr/>
        </p:nvSpPr>
        <p:spPr bwMode="auto">
          <a:xfrm flipH="1">
            <a:off x="6384032" y="1806576"/>
            <a:ext cx="31056" cy="3566641"/>
          </a:xfrm>
          <a:prstGeom prst="line">
            <a:avLst/>
          </a:prstGeom>
          <a:noFill/>
          <a:ln w="28575">
            <a:solidFill>
              <a:schemeClr val="tx1"/>
            </a:solidFill>
            <a:prstDash val="dash"/>
            <a:round/>
            <a:headEnd/>
            <a:tailEnd/>
          </a:ln>
        </p:spPr>
        <p:txBody>
          <a:bodyPr/>
          <a:lstStyle/>
          <a:p>
            <a:pPr algn="l" rtl="0"/>
            <a:endParaRPr lang="zh-CN" altLang="en-US">
              <a:latin typeface="+mn-ea"/>
              <a:ea typeface="+mn-ea"/>
            </a:endParaRPr>
          </a:p>
        </p:txBody>
      </p:sp>
      <p:pic>
        <p:nvPicPr>
          <p:cNvPr id="8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114528" y="1891163"/>
            <a:ext cx="628652" cy="514351"/>
          </a:xfrm>
          <a:prstGeom prst="rect">
            <a:avLst/>
          </a:prstGeom>
          <a:noFill/>
        </p:spPr>
      </p:pic>
      <p:pic>
        <p:nvPicPr>
          <p:cNvPr id="8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753268" y="3335461"/>
            <a:ext cx="628652" cy="514351"/>
          </a:xfrm>
          <a:prstGeom prst="rect">
            <a:avLst/>
          </a:prstGeom>
          <a:noFill/>
        </p:spPr>
      </p:pic>
      <p:pic>
        <p:nvPicPr>
          <p:cNvPr id="8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082957" y="4842027"/>
            <a:ext cx="628652" cy="514351"/>
          </a:xfrm>
          <a:prstGeom prst="rect">
            <a:avLst/>
          </a:prstGeom>
          <a:noFill/>
        </p:spPr>
      </p:pic>
      <p:pic>
        <p:nvPicPr>
          <p:cNvPr id="8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352434" y="3244064"/>
            <a:ext cx="628652" cy="514351"/>
          </a:xfrm>
          <a:prstGeom prst="rect">
            <a:avLst/>
          </a:prstGeom>
          <a:noFill/>
        </p:spPr>
      </p:pic>
      <p:pic>
        <p:nvPicPr>
          <p:cNvPr id="9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365002" y="4925858"/>
            <a:ext cx="628652" cy="514351"/>
          </a:xfrm>
          <a:prstGeom prst="rect">
            <a:avLst/>
          </a:prstGeom>
          <a:noFill/>
        </p:spPr>
      </p:pic>
      <p:sp>
        <p:nvSpPr>
          <p:cNvPr id="91" name="任意多边形 90"/>
          <p:cNvSpPr>
            <a:spLocks noChangeAspect="1"/>
          </p:cNvSpPr>
          <p:nvPr/>
        </p:nvSpPr>
        <p:spPr bwMode="auto">
          <a:xfrm rot="11040000">
            <a:off x="3427290" y="2143232"/>
            <a:ext cx="5611481" cy="3032649"/>
          </a:xfrm>
          <a:custGeom>
            <a:avLst/>
            <a:gdLst>
              <a:gd name="connsiteX0" fmla="*/ 0 w 1320800"/>
              <a:gd name="connsiteY0" fmla="*/ 0 h 2006600"/>
              <a:gd name="connsiteX1" fmla="*/ 228600 w 1320800"/>
              <a:gd name="connsiteY1" fmla="*/ 819150 h 2006600"/>
              <a:gd name="connsiteX2" fmla="*/ 1085850 w 1320800"/>
              <a:gd name="connsiteY2" fmla="*/ 1143000 h 2006600"/>
              <a:gd name="connsiteX3" fmla="*/ 1200150 w 1320800"/>
              <a:gd name="connsiteY3" fmla="*/ 1866900 h 2006600"/>
              <a:gd name="connsiteX4" fmla="*/ 361950 w 1320800"/>
              <a:gd name="connsiteY4" fmla="*/ 1981200 h 2006600"/>
              <a:gd name="connsiteX0" fmla="*/ 0 w 1320800"/>
              <a:gd name="connsiteY0" fmla="*/ 0 h 2006600"/>
              <a:gd name="connsiteX1" fmla="*/ 413048 w 1320800"/>
              <a:gd name="connsiteY1" fmla="*/ 730188 h 2006600"/>
              <a:gd name="connsiteX2" fmla="*/ 1085850 w 1320800"/>
              <a:gd name="connsiteY2" fmla="*/ 1143000 h 2006600"/>
              <a:gd name="connsiteX3" fmla="*/ 1200150 w 1320800"/>
              <a:gd name="connsiteY3" fmla="*/ 1866900 h 2006600"/>
              <a:gd name="connsiteX4" fmla="*/ 361950 w 1320800"/>
              <a:gd name="connsiteY4" fmla="*/ 1981200 h 2006600"/>
              <a:gd name="connsiteX0" fmla="*/ 0 w 1339800"/>
              <a:gd name="connsiteY0" fmla="*/ 0 h 2140508"/>
              <a:gd name="connsiteX1" fmla="*/ 432048 w 1339800"/>
              <a:gd name="connsiteY1" fmla="*/ 864096 h 2140508"/>
              <a:gd name="connsiteX2" fmla="*/ 1104850 w 1339800"/>
              <a:gd name="connsiteY2" fmla="*/ 1276908 h 2140508"/>
              <a:gd name="connsiteX3" fmla="*/ 1219150 w 1339800"/>
              <a:gd name="connsiteY3" fmla="*/ 2000808 h 2140508"/>
              <a:gd name="connsiteX4" fmla="*/ 380950 w 1339800"/>
              <a:gd name="connsiteY4" fmla="*/ 2115108 h 2140508"/>
              <a:gd name="connsiteX0" fmla="*/ 0 w 1427328"/>
              <a:gd name="connsiteY0" fmla="*/ 0 h 2131301"/>
              <a:gd name="connsiteX1" fmla="*/ 432048 w 1427328"/>
              <a:gd name="connsiteY1" fmla="*/ 864096 h 2131301"/>
              <a:gd name="connsiteX2" fmla="*/ 1296144 w 1427328"/>
              <a:gd name="connsiteY2" fmla="*/ 1332148 h 2131301"/>
              <a:gd name="connsiteX3" fmla="*/ 1219150 w 1427328"/>
              <a:gd name="connsiteY3" fmla="*/ 2000808 h 2131301"/>
              <a:gd name="connsiteX4" fmla="*/ 380950 w 1427328"/>
              <a:gd name="connsiteY4" fmla="*/ 2115108 h 2131301"/>
              <a:gd name="connsiteX0" fmla="*/ 0 w 1448676"/>
              <a:gd name="connsiteY0" fmla="*/ 0 h 2182722"/>
              <a:gd name="connsiteX1" fmla="*/ 432048 w 1448676"/>
              <a:gd name="connsiteY1" fmla="*/ 864096 h 2182722"/>
              <a:gd name="connsiteX2" fmla="*/ 1296144 w 1448676"/>
              <a:gd name="connsiteY2" fmla="*/ 1332148 h 2182722"/>
              <a:gd name="connsiteX3" fmla="*/ 1296144 w 1448676"/>
              <a:gd name="connsiteY3" fmla="*/ 2052229 h 2182722"/>
              <a:gd name="connsiteX4" fmla="*/ 380950 w 1448676"/>
              <a:gd name="connsiteY4" fmla="*/ 2115108 h 2182722"/>
              <a:gd name="connsiteX0" fmla="*/ 0 w 1430674"/>
              <a:gd name="connsiteY0" fmla="*/ 0 h 2182722"/>
              <a:gd name="connsiteX1" fmla="*/ 432048 w 1430674"/>
              <a:gd name="connsiteY1" fmla="*/ 864096 h 2182722"/>
              <a:gd name="connsiteX2" fmla="*/ 1188132 w 1430674"/>
              <a:gd name="connsiteY2" fmla="*/ 1332148 h 2182722"/>
              <a:gd name="connsiteX3" fmla="*/ 1296144 w 1430674"/>
              <a:gd name="connsiteY3" fmla="*/ 2052229 h 2182722"/>
              <a:gd name="connsiteX4" fmla="*/ 380950 w 1430674"/>
              <a:gd name="connsiteY4" fmla="*/ 2115108 h 2182722"/>
              <a:gd name="connsiteX0" fmla="*/ 0 w 1308145"/>
              <a:gd name="connsiteY0" fmla="*/ 0 h 2146717"/>
              <a:gd name="connsiteX1" fmla="*/ 432048 w 1308145"/>
              <a:gd name="connsiteY1" fmla="*/ 864096 h 2146717"/>
              <a:gd name="connsiteX2" fmla="*/ 1188132 w 1308145"/>
              <a:gd name="connsiteY2" fmla="*/ 1332148 h 2146717"/>
              <a:gd name="connsiteX3" fmla="*/ 1152128 w 1308145"/>
              <a:gd name="connsiteY3" fmla="*/ 2016224 h 2146717"/>
              <a:gd name="connsiteX4" fmla="*/ 380950 w 1308145"/>
              <a:gd name="connsiteY4" fmla="*/ 2115108 h 2146717"/>
              <a:gd name="connsiteX0" fmla="*/ 0 w 1308145"/>
              <a:gd name="connsiteY0" fmla="*/ 0 h 2136237"/>
              <a:gd name="connsiteX1" fmla="*/ 432048 w 1308145"/>
              <a:gd name="connsiteY1" fmla="*/ 864096 h 2136237"/>
              <a:gd name="connsiteX2" fmla="*/ 1188132 w 1308145"/>
              <a:gd name="connsiteY2" fmla="*/ 1332148 h 2136237"/>
              <a:gd name="connsiteX3" fmla="*/ 1152128 w 1308145"/>
              <a:gd name="connsiteY3" fmla="*/ 2016224 h 2136237"/>
              <a:gd name="connsiteX4" fmla="*/ 360041 w 1308145"/>
              <a:gd name="connsiteY4" fmla="*/ 2052229 h 2136237"/>
              <a:gd name="connsiteX0" fmla="*/ 0 w 1302144"/>
              <a:gd name="connsiteY0" fmla="*/ 0 h 2136237"/>
              <a:gd name="connsiteX1" fmla="*/ 468053 w 1302144"/>
              <a:gd name="connsiteY1" fmla="*/ 936105 h 2136237"/>
              <a:gd name="connsiteX2" fmla="*/ 1188132 w 1302144"/>
              <a:gd name="connsiteY2" fmla="*/ 1332148 h 2136237"/>
              <a:gd name="connsiteX3" fmla="*/ 1152128 w 1302144"/>
              <a:gd name="connsiteY3" fmla="*/ 2016224 h 2136237"/>
              <a:gd name="connsiteX4" fmla="*/ 360041 w 1302144"/>
              <a:gd name="connsiteY4" fmla="*/ 2052229 h 2136237"/>
              <a:gd name="connsiteX0" fmla="*/ 0 w 1266139"/>
              <a:gd name="connsiteY0" fmla="*/ 0 h 2208244"/>
              <a:gd name="connsiteX1" fmla="*/ 432048 w 1266139"/>
              <a:gd name="connsiteY1" fmla="*/ 1008112 h 2208244"/>
              <a:gd name="connsiteX2" fmla="*/ 1152127 w 1266139"/>
              <a:gd name="connsiteY2" fmla="*/ 1404155 h 2208244"/>
              <a:gd name="connsiteX3" fmla="*/ 1116123 w 1266139"/>
              <a:gd name="connsiteY3" fmla="*/ 2088231 h 2208244"/>
              <a:gd name="connsiteX4" fmla="*/ 324036 w 1266139"/>
              <a:gd name="connsiteY4" fmla="*/ 2124236 h 2208244"/>
              <a:gd name="connsiteX0" fmla="*/ 0 w 1254138"/>
              <a:gd name="connsiteY0" fmla="*/ 0 h 2208244"/>
              <a:gd name="connsiteX1" fmla="*/ 504056 w 1254138"/>
              <a:gd name="connsiteY1" fmla="*/ 972108 h 2208244"/>
              <a:gd name="connsiteX2" fmla="*/ 1152127 w 1254138"/>
              <a:gd name="connsiteY2" fmla="*/ 1404155 h 2208244"/>
              <a:gd name="connsiteX3" fmla="*/ 1116123 w 1254138"/>
              <a:gd name="connsiteY3" fmla="*/ 2088231 h 2208244"/>
              <a:gd name="connsiteX4" fmla="*/ 324036 w 1254138"/>
              <a:gd name="connsiteY4" fmla="*/ 2124236 h 2208244"/>
              <a:gd name="connsiteX0" fmla="*/ 0 w 5682933"/>
              <a:gd name="connsiteY0" fmla="*/ 35868 h 2128771"/>
              <a:gd name="connsiteX1" fmla="*/ 504056 w 5682933"/>
              <a:gd name="connsiteY1" fmla="*/ 1007976 h 2128771"/>
              <a:gd name="connsiteX2" fmla="*/ 1152127 w 5682933"/>
              <a:gd name="connsiteY2" fmla="*/ 1440023 h 2128771"/>
              <a:gd name="connsiteX3" fmla="*/ 1116123 w 5682933"/>
              <a:gd name="connsiteY3" fmla="*/ 2124099 h 2128771"/>
              <a:gd name="connsiteX4" fmla="*/ 5664662 w 5682933"/>
              <a:gd name="connsiteY4" fmla="*/ 0 h 2128771"/>
              <a:gd name="connsiteX0" fmla="*/ 0 w 5734399"/>
              <a:gd name="connsiteY0" fmla="*/ 35868 h 1451397"/>
              <a:gd name="connsiteX1" fmla="*/ 504056 w 5734399"/>
              <a:gd name="connsiteY1" fmla="*/ 1007976 h 1451397"/>
              <a:gd name="connsiteX2" fmla="*/ 1152127 w 5734399"/>
              <a:gd name="connsiteY2" fmla="*/ 1440023 h 1451397"/>
              <a:gd name="connsiteX3" fmla="*/ 5012263 w 5734399"/>
              <a:gd name="connsiteY3" fmla="*/ 586847 h 1451397"/>
              <a:gd name="connsiteX4" fmla="*/ 5664662 w 5734399"/>
              <a:gd name="connsiteY4" fmla="*/ 0 h 1451397"/>
              <a:gd name="connsiteX0" fmla="*/ 2085 w 5736484"/>
              <a:gd name="connsiteY0" fmla="*/ 35868 h 1023543"/>
              <a:gd name="connsiteX1" fmla="*/ 506141 w 5736484"/>
              <a:gd name="connsiteY1" fmla="*/ 1007976 h 1023543"/>
              <a:gd name="connsiteX2" fmla="*/ 3857655 w 5736484"/>
              <a:gd name="connsiteY2" fmla="*/ 631641 h 1023543"/>
              <a:gd name="connsiteX3" fmla="*/ 5014348 w 5736484"/>
              <a:gd name="connsiteY3" fmla="*/ 586847 h 1023543"/>
              <a:gd name="connsiteX4" fmla="*/ 5666747 w 5736484"/>
              <a:gd name="connsiteY4" fmla="*/ 0 h 1023543"/>
              <a:gd name="connsiteX0" fmla="*/ 0 w 5734399"/>
              <a:gd name="connsiteY0" fmla="*/ 35868 h 634279"/>
              <a:gd name="connsiteX1" fmla="*/ 2717169 w 5734399"/>
              <a:gd name="connsiteY1" fmla="*/ 424880 h 634279"/>
              <a:gd name="connsiteX2" fmla="*/ 3855570 w 5734399"/>
              <a:gd name="connsiteY2" fmla="*/ 631641 h 634279"/>
              <a:gd name="connsiteX3" fmla="*/ 5012263 w 5734399"/>
              <a:gd name="connsiteY3" fmla="*/ 586847 h 634279"/>
              <a:gd name="connsiteX4" fmla="*/ 5664662 w 5734399"/>
              <a:gd name="connsiteY4" fmla="*/ 0 h 634279"/>
              <a:gd name="connsiteX0" fmla="*/ 0 w 4210399"/>
              <a:gd name="connsiteY0" fmla="*/ 194894 h 634279"/>
              <a:gd name="connsiteX1" fmla="*/ 1193169 w 4210399"/>
              <a:gd name="connsiteY1" fmla="*/ 424880 h 634279"/>
              <a:gd name="connsiteX2" fmla="*/ 2331570 w 4210399"/>
              <a:gd name="connsiteY2" fmla="*/ 631641 h 634279"/>
              <a:gd name="connsiteX3" fmla="*/ 3488263 w 4210399"/>
              <a:gd name="connsiteY3" fmla="*/ 586847 h 634279"/>
              <a:gd name="connsiteX4" fmla="*/ 4140662 w 4210399"/>
              <a:gd name="connsiteY4" fmla="*/ 0 h 634279"/>
              <a:gd name="connsiteX0" fmla="*/ 0 w 4210399"/>
              <a:gd name="connsiteY0" fmla="*/ 194894 h 634279"/>
              <a:gd name="connsiteX1" fmla="*/ 1193169 w 4210399"/>
              <a:gd name="connsiteY1" fmla="*/ 424880 h 634279"/>
              <a:gd name="connsiteX2" fmla="*/ 2331570 w 4210399"/>
              <a:gd name="connsiteY2" fmla="*/ 631641 h 634279"/>
              <a:gd name="connsiteX3" fmla="*/ 3488263 w 4210399"/>
              <a:gd name="connsiteY3" fmla="*/ 586847 h 634279"/>
              <a:gd name="connsiteX4" fmla="*/ 4140662 w 4210399"/>
              <a:gd name="connsiteY4" fmla="*/ 0 h 634279"/>
              <a:gd name="connsiteX0" fmla="*/ 0 w 4207819"/>
              <a:gd name="connsiteY0" fmla="*/ 194894 h 634279"/>
              <a:gd name="connsiteX1" fmla="*/ 1193169 w 4207819"/>
              <a:gd name="connsiteY1" fmla="*/ 424880 h 634279"/>
              <a:gd name="connsiteX2" fmla="*/ 2331570 w 4207819"/>
              <a:gd name="connsiteY2" fmla="*/ 631641 h 634279"/>
              <a:gd name="connsiteX3" fmla="*/ 3435254 w 4207819"/>
              <a:gd name="connsiteY3" fmla="*/ 586847 h 634279"/>
              <a:gd name="connsiteX4" fmla="*/ 4140662 w 4207819"/>
              <a:gd name="connsiteY4" fmla="*/ 0 h 634279"/>
              <a:gd name="connsiteX0" fmla="*/ 0 w 4207819"/>
              <a:gd name="connsiteY0" fmla="*/ 194894 h 639853"/>
              <a:gd name="connsiteX1" fmla="*/ 1193169 w 4207819"/>
              <a:gd name="connsiteY1" fmla="*/ 424880 h 639853"/>
              <a:gd name="connsiteX2" fmla="*/ 2331570 w 4207819"/>
              <a:gd name="connsiteY2" fmla="*/ 631641 h 639853"/>
              <a:gd name="connsiteX3" fmla="*/ 3435254 w 4207819"/>
              <a:gd name="connsiteY3" fmla="*/ 586847 h 639853"/>
              <a:gd name="connsiteX4" fmla="*/ 4140662 w 4207819"/>
              <a:gd name="connsiteY4" fmla="*/ 0 h 639853"/>
              <a:gd name="connsiteX0" fmla="*/ 0 w 4207819"/>
              <a:gd name="connsiteY0" fmla="*/ 194894 h 639853"/>
              <a:gd name="connsiteX1" fmla="*/ 1193169 w 4207819"/>
              <a:gd name="connsiteY1" fmla="*/ 424880 h 639853"/>
              <a:gd name="connsiteX2" fmla="*/ 2331570 w 4207819"/>
              <a:gd name="connsiteY2" fmla="*/ 631641 h 639853"/>
              <a:gd name="connsiteX3" fmla="*/ 3435254 w 4207819"/>
              <a:gd name="connsiteY3" fmla="*/ 586847 h 639853"/>
              <a:gd name="connsiteX4" fmla="*/ 4140662 w 4207819"/>
              <a:gd name="connsiteY4" fmla="*/ 0 h 639853"/>
              <a:gd name="connsiteX0" fmla="*/ 0 w 4207819"/>
              <a:gd name="connsiteY0" fmla="*/ 194894 h 651316"/>
              <a:gd name="connsiteX1" fmla="*/ 1193169 w 4207819"/>
              <a:gd name="connsiteY1" fmla="*/ 424880 h 651316"/>
              <a:gd name="connsiteX2" fmla="*/ 2331570 w 4207819"/>
              <a:gd name="connsiteY2" fmla="*/ 631641 h 651316"/>
              <a:gd name="connsiteX3" fmla="*/ 3435254 w 4207819"/>
              <a:gd name="connsiteY3" fmla="*/ 586847 h 651316"/>
              <a:gd name="connsiteX4" fmla="*/ 4140662 w 4207819"/>
              <a:gd name="connsiteY4" fmla="*/ 0 h 651316"/>
              <a:gd name="connsiteX0" fmla="*/ 0 w 4207819"/>
              <a:gd name="connsiteY0" fmla="*/ 194894 h 662576"/>
              <a:gd name="connsiteX1" fmla="*/ 1193169 w 4207819"/>
              <a:gd name="connsiteY1" fmla="*/ 424880 h 662576"/>
              <a:gd name="connsiteX2" fmla="*/ 2225553 w 4207819"/>
              <a:gd name="connsiteY2" fmla="*/ 644893 h 662576"/>
              <a:gd name="connsiteX3" fmla="*/ 3435254 w 4207819"/>
              <a:gd name="connsiteY3" fmla="*/ 586847 h 662576"/>
              <a:gd name="connsiteX4" fmla="*/ 4140662 w 4207819"/>
              <a:gd name="connsiteY4" fmla="*/ 0 h 662576"/>
              <a:gd name="connsiteX0" fmla="*/ 0 w 4207819"/>
              <a:gd name="connsiteY0" fmla="*/ 194894 h 659926"/>
              <a:gd name="connsiteX1" fmla="*/ 1193169 w 4207819"/>
              <a:gd name="connsiteY1" fmla="*/ 424880 h 659926"/>
              <a:gd name="connsiteX2" fmla="*/ 2225553 w 4207819"/>
              <a:gd name="connsiteY2" fmla="*/ 644893 h 659926"/>
              <a:gd name="connsiteX3" fmla="*/ 3435254 w 4207819"/>
              <a:gd name="connsiteY3" fmla="*/ 586847 h 659926"/>
              <a:gd name="connsiteX4" fmla="*/ 4140662 w 4207819"/>
              <a:gd name="connsiteY4" fmla="*/ 0 h 659926"/>
              <a:gd name="connsiteX0" fmla="*/ 0 w 4207819"/>
              <a:gd name="connsiteY0" fmla="*/ 194894 h 653454"/>
              <a:gd name="connsiteX1" fmla="*/ 1193169 w 4207819"/>
              <a:gd name="connsiteY1" fmla="*/ 424880 h 653454"/>
              <a:gd name="connsiteX2" fmla="*/ 2225553 w 4207819"/>
              <a:gd name="connsiteY2" fmla="*/ 644893 h 653454"/>
              <a:gd name="connsiteX3" fmla="*/ 3435254 w 4207819"/>
              <a:gd name="connsiteY3" fmla="*/ 586847 h 653454"/>
              <a:gd name="connsiteX4" fmla="*/ 4140662 w 4207819"/>
              <a:gd name="connsiteY4" fmla="*/ 0 h 653454"/>
              <a:gd name="connsiteX0" fmla="*/ 0 w 4209735"/>
              <a:gd name="connsiteY0" fmla="*/ 194894 h 692061"/>
              <a:gd name="connsiteX1" fmla="*/ 1193169 w 4209735"/>
              <a:gd name="connsiteY1" fmla="*/ 424880 h 692061"/>
              <a:gd name="connsiteX2" fmla="*/ 2225553 w 4209735"/>
              <a:gd name="connsiteY2" fmla="*/ 644893 h 692061"/>
              <a:gd name="connsiteX3" fmla="*/ 3475010 w 4209735"/>
              <a:gd name="connsiteY3" fmla="*/ 679613 h 692061"/>
              <a:gd name="connsiteX4" fmla="*/ 4140662 w 4209735"/>
              <a:gd name="connsiteY4" fmla="*/ 0 h 692061"/>
              <a:gd name="connsiteX0" fmla="*/ 0 w 4203982"/>
              <a:gd name="connsiteY0" fmla="*/ 194894 h 683935"/>
              <a:gd name="connsiteX1" fmla="*/ 1193169 w 4203982"/>
              <a:gd name="connsiteY1" fmla="*/ 424880 h 683935"/>
              <a:gd name="connsiteX2" fmla="*/ 2225553 w 4203982"/>
              <a:gd name="connsiteY2" fmla="*/ 644893 h 683935"/>
              <a:gd name="connsiteX3" fmla="*/ 3475010 w 4203982"/>
              <a:gd name="connsiteY3" fmla="*/ 679613 h 683935"/>
              <a:gd name="connsiteX4" fmla="*/ 4140662 w 4203982"/>
              <a:gd name="connsiteY4" fmla="*/ 0 h 683935"/>
              <a:gd name="connsiteX0" fmla="*/ 0 w 4203982"/>
              <a:gd name="connsiteY0" fmla="*/ 194894 h 683935"/>
              <a:gd name="connsiteX1" fmla="*/ 1193169 w 4203982"/>
              <a:gd name="connsiteY1" fmla="*/ 424880 h 683935"/>
              <a:gd name="connsiteX2" fmla="*/ 2225553 w 4203982"/>
              <a:gd name="connsiteY2" fmla="*/ 644893 h 683935"/>
              <a:gd name="connsiteX3" fmla="*/ 3475010 w 4203982"/>
              <a:gd name="connsiteY3" fmla="*/ 679613 h 683935"/>
              <a:gd name="connsiteX4" fmla="*/ 4140662 w 4203982"/>
              <a:gd name="connsiteY4" fmla="*/ 0 h 683935"/>
              <a:gd name="connsiteX0" fmla="*/ 0 w 4201436"/>
              <a:gd name="connsiteY0" fmla="*/ 194894 h 679613"/>
              <a:gd name="connsiteX1" fmla="*/ 1193169 w 4201436"/>
              <a:gd name="connsiteY1" fmla="*/ 424880 h 679613"/>
              <a:gd name="connsiteX2" fmla="*/ 2225553 w 4201436"/>
              <a:gd name="connsiteY2" fmla="*/ 644893 h 679613"/>
              <a:gd name="connsiteX3" fmla="*/ 3475010 w 4201436"/>
              <a:gd name="connsiteY3" fmla="*/ 679613 h 679613"/>
              <a:gd name="connsiteX4" fmla="*/ 4140662 w 4201436"/>
              <a:gd name="connsiteY4" fmla="*/ 0 h 679613"/>
              <a:gd name="connsiteX0" fmla="*/ 0 w 4201436"/>
              <a:gd name="connsiteY0" fmla="*/ 194894 h 791628"/>
              <a:gd name="connsiteX1" fmla="*/ 1193169 w 4201436"/>
              <a:gd name="connsiteY1" fmla="*/ 424880 h 791628"/>
              <a:gd name="connsiteX2" fmla="*/ 2225553 w 4201436"/>
              <a:gd name="connsiteY2" fmla="*/ 644893 h 791628"/>
              <a:gd name="connsiteX3" fmla="*/ 3475010 w 4201436"/>
              <a:gd name="connsiteY3" fmla="*/ 679613 h 791628"/>
              <a:gd name="connsiteX4" fmla="*/ 4140662 w 4201436"/>
              <a:gd name="connsiteY4" fmla="*/ 0 h 791628"/>
              <a:gd name="connsiteX0" fmla="*/ 0 w 4233636"/>
              <a:gd name="connsiteY0" fmla="*/ 194894 h 791628"/>
              <a:gd name="connsiteX1" fmla="*/ 1193169 w 4233636"/>
              <a:gd name="connsiteY1" fmla="*/ 424880 h 791628"/>
              <a:gd name="connsiteX2" fmla="*/ 2225553 w 4233636"/>
              <a:gd name="connsiteY2" fmla="*/ 644893 h 791628"/>
              <a:gd name="connsiteX3" fmla="*/ 3475010 w 4233636"/>
              <a:gd name="connsiteY3" fmla="*/ 679613 h 791628"/>
              <a:gd name="connsiteX4" fmla="*/ 4140662 w 4233636"/>
              <a:gd name="connsiteY4" fmla="*/ 0 h 791628"/>
              <a:gd name="connsiteX0" fmla="*/ 0 w 4225188"/>
              <a:gd name="connsiteY0" fmla="*/ 194894 h 781360"/>
              <a:gd name="connsiteX1" fmla="*/ 1193169 w 4225188"/>
              <a:gd name="connsiteY1" fmla="*/ 424880 h 781360"/>
              <a:gd name="connsiteX2" fmla="*/ 2225553 w 4225188"/>
              <a:gd name="connsiteY2" fmla="*/ 644893 h 781360"/>
              <a:gd name="connsiteX3" fmla="*/ 3368993 w 4225188"/>
              <a:gd name="connsiteY3" fmla="*/ 666361 h 781360"/>
              <a:gd name="connsiteX4" fmla="*/ 4140662 w 4225188"/>
              <a:gd name="connsiteY4" fmla="*/ 0 h 781360"/>
              <a:gd name="connsiteX0" fmla="*/ 0 w 4221712"/>
              <a:gd name="connsiteY0" fmla="*/ 194894 h 781360"/>
              <a:gd name="connsiteX1" fmla="*/ 1193169 w 4221712"/>
              <a:gd name="connsiteY1" fmla="*/ 424880 h 781360"/>
              <a:gd name="connsiteX2" fmla="*/ 2225553 w 4221712"/>
              <a:gd name="connsiteY2" fmla="*/ 644893 h 781360"/>
              <a:gd name="connsiteX3" fmla="*/ 3368993 w 4221712"/>
              <a:gd name="connsiteY3" fmla="*/ 666361 h 781360"/>
              <a:gd name="connsiteX4" fmla="*/ 4140662 w 4221712"/>
              <a:gd name="connsiteY4" fmla="*/ 0 h 781360"/>
              <a:gd name="connsiteX0" fmla="*/ 0 w 4221712"/>
              <a:gd name="connsiteY0" fmla="*/ 194894 h 734271"/>
              <a:gd name="connsiteX1" fmla="*/ 1193169 w 4221712"/>
              <a:gd name="connsiteY1" fmla="*/ 424880 h 734271"/>
              <a:gd name="connsiteX2" fmla="*/ 2225553 w 4221712"/>
              <a:gd name="connsiteY2" fmla="*/ 644893 h 734271"/>
              <a:gd name="connsiteX3" fmla="*/ 3368993 w 4221712"/>
              <a:gd name="connsiteY3" fmla="*/ 666361 h 734271"/>
              <a:gd name="connsiteX4" fmla="*/ 4140662 w 4221712"/>
              <a:gd name="connsiteY4" fmla="*/ 0 h 734271"/>
              <a:gd name="connsiteX0" fmla="*/ 0 w 4221712"/>
              <a:gd name="connsiteY0" fmla="*/ 194894 h 772236"/>
              <a:gd name="connsiteX1" fmla="*/ 1193169 w 4221712"/>
              <a:gd name="connsiteY1" fmla="*/ 424880 h 772236"/>
              <a:gd name="connsiteX2" fmla="*/ 2265309 w 4221712"/>
              <a:gd name="connsiteY2" fmla="*/ 737658 h 772236"/>
              <a:gd name="connsiteX3" fmla="*/ 3368993 w 4221712"/>
              <a:gd name="connsiteY3" fmla="*/ 666361 h 772236"/>
              <a:gd name="connsiteX4" fmla="*/ 4140662 w 4221712"/>
              <a:gd name="connsiteY4" fmla="*/ 0 h 772236"/>
              <a:gd name="connsiteX0" fmla="*/ 0 w 4221712"/>
              <a:gd name="connsiteY0" fmla="*/ 194894 h 765974"/>
              <a:gd name="connsiteX1" fmla="*/ 1206421 w 4221712"/>
              <a:gd name="connsiteY1" fmla="*/ 517645 h 765974"/>
              <a:gd name="connsiteX2" fmla="*/ 2265309 w 4221712"/>
              <a:gd name="connsiteY2" fmla="*/ 737658 h 765974"/>
              <a:gd name="connsiteX3" fmla="*/ 3368993 w 4221712"/>
              <a:gd name="connsiteY3" fmla="*/ 666361 h 765974"/>
              <a:gd name="connsiteX4" fmla="*/ 4140662 w 4221712"/>
              <a:gd name="connsiteY4" fmla="*/ 0 h 765974"/>
              <a:gd name="connsiteX0" fmla="*/ 0 w 4181956"/>
              <a:gd name="connsiteY0" fmla="*/ 261155 h 765974"/>
              <a:gd name="connsiteX1" fmla="*/ 1166665 w 4181956"/>
              <a:gd name="connsiteY1" fmla="*/ 517645 h 765974"/>
              <a:gd name="connsiteX2" fmla="*/ 2225553 w 4181956"/>
              <a:gd name="connsiteY2" fmla="*/ 737658 h 765974"/>
              <a:gd name="connsiteX3" fmla="*/ 3329237 w 4181956"/>
              <a:gd name="connsiteY3" fmla="*/ 666361 h 765974"/>
              <a:gd name="connsiteX4" fmla="*/ 4100906 w 4181956"/>
              <a:gd name="connsiteY4" fmla="*/ 0 h 765974"/>
              <a:gd name="connsiteX0" fmla="*/ 0 w 4181956"/>
              <a:gd name="connsiteY0" fmla="*/ 261155 h 765974"/>
              <a:gd name="connsiteX1" fmla="*/ 1166665 w 4181956"/>
              <a:gd name="connsiteY1" fmla="*/ 517645 h 765974"/>
              <a:gd name="connsiteX2" fmla="*/ 2225553 w 4181956"/>
              <a:gd name="connsiteY2" fmla="*/ 737658 h 765974"/>
              <a:gd name="connsiteX3" fmla="*/ 3329237 w 4181956"/>
              <a:gd name="connsiteY3" fmla="*/ 666361 h 765974"/>
              <a:gd name="connsiteX4" fmla="*/ 4100906 w 4181956"/>
              <a:gd name="connsiteY4" fmla="*/ 0 h 765974"/>
              <a:gd name="connsiteX0" fmla="*/ 0 w 4256460"/>
              <a:gd name="connsiteY0" fmla="*/ 261155 h 765974"/>
              <a:gd name="connsiteX1" fmla="*/ 1166665 w 4256460"/>
              <a:gd name="connsiteY1" fmla="*/ 517645 h 765974"/>
              <a:gd name="connsiteX2" fmla="*/ 2225553 w 4256460"/>
              <a:gd name="connsiteY2" fmla="*/ 737658 h 765974"/>
              <a:gd name="connsiteX3" fmla="*/ 3329237 w 4256460"/>
              <a:gd name="connsiteY3" fmla="*/ 666361 h 765974"/>
              <a:gd name="connsiteX4" fmla="*/ 4180419 w 4256460"/>
              <a:gd name="connsiteY4" fmla="*/ 0 h 765974"/>
              <a:gd name="connsiteX0" fmla="*/ 0 w 4483074"/>
              <a:gd name="connsiteY0" fmla="*/ 261155 h 765974"/>
              <a:gd name="connsiteX1" fmla="*/ 1166665 w 4483074"/>
              <a:gd name="connsiteY1" fmla="*/ 517645 h 765974"/>
              <a:gd name="connsiteX2" fmla="*/ 2225553 w 4483074"/>
              <a:gd name="connsiteY2" fmla="*/ 737658 h 765974"/>
              <a:gd name="connsiteX3" fmla="*/ 3329237 w 4483074"/>
              <a:gd name="connsiteY3" fmla="*/ 666361 h 765974"/>
              <a:gd name="connsiteX4" fmla="*/ 4418958 w 4483074"/>
              <a:gd name="connsiteY4" fmla="*/ 0 h 765974"/>
              <a:gd name="connsiteX0" fmla="*/ 0 w 4418958"/>
              <a:gd name="connsiteY0" fmla="*/ 261155 h 765974"/>
              <a:gd name="connsiteX1" fmla="*/ 1166665 w 4418958"/>
              <a:gd name="connsiteY1" fmla="*/ 517645 h 765974"/>
              <a:gd name="connsiteX2" fmla="*/ 2225553 w 4418958"/>
              <a:gd name="connsiteY2" fmla="*/ 737658 h 765974"/>
              <a:gd name="connsiteX3" fmla="*/ 3329237 w 4418958"/>
              <a:gd name="connsiteY3" fmla="*/ 666361 h 765974"/>
              <a:gd name="connsiteX4" fmla="*/ 4418958 w 4418958"/>
              <a:gd name="connsiteY4" fmla="*/ 0 h 765974"/>
              <a:gd name="connsiteX0" fmla="*/ 0 w 4418958"/>
              <a:gd name="connsiteY0" fmla="*/ 261155 h 686516"/>
              <a:gd name="connsiteX1" fmla="*/ 1166665 w 4418958"/>
              <a:gd name="connsiteY1" fmla="*/ 517645 h 686516"/>
              <a:gd name="connsiteX2" fmla="*/ 2396035 w 4418958"/>
              <a:gd name="connsiteY2" fmla="*/ 102227 h 686516"/>
              <a:gd name="connsiteX3" fmla="*/ 3329237 w 4418958"/>
              <a:gd name="connsiteY3" fmla="*/ 666361 h 686516"/>
              <a:gd name="connsiteX4" fmla="*/ 4418958 w 4418958"/>
              <a:gd name="connsiteY4" fmla="*/ 0 h 686516"/>
              <a:gd name="connsiteX0" fmla="*/ 0 w 4418958"/>
              <a:gd name="connsiteY0" fmla="*/ 261155 h 687109"/>
              <a:gd name="connsiteX1" fmla="*/ 1399140 w 4418958"/>
              <a:gd name="connsiteY1" fmla="*/ 378160 h 687109"/>
              <a:gd name="connsiteX2" fmla="*/ 2396035 w 4418958"/>
              <a:gd name="connsiteY2" fmla="*/ 102227 h 687109"/>
              <a:gd name="connsiteX3" fmla="*/ 3329237 w 4418958"/>
              <a:gd name="connsiteY3" fmla="*/ 666361 h 687109"/>
              <a:gd name="connsiteX4" fmla="*/ 4418958 w 4418958"/>
              <a:gd name="connsiteY4" fmla="*/ 0 h 687109"/>
              <a:gd name="connsiteX0" fmla="*/ 0 w 4341466"/>
              <a:gd name="connsiteY0" fmla="*/ 447134 h 687109"/>
              <a:gd name="connsiteX1" fmla="*/ 1321648 w 4341466"/>
              <a:gd name="connsiteY1" fmla="*/ 378160 h 687109"/>
              <a:gd name="connsiteX2" fmla="*/ 2318543 w 4341466"/>
              <a:gd name="connsiteY2" fmla="*/ 102227 h 687109"/>
              <a:gd name="connsiteX3" fmla="*/ 3251745 w 4341466"/>
              <a:gd name="connsiteY3" fmla="*/ 666361 h 687109"/>
              <a:gd name="connsiteX4" fmla="*/ 4341466 w 4341466"/>
              <a:gd name="connsiteY4" fmla="*/ 0 h 687109"/>
              <a:gd name="connsiteX0" fmla="*/ 0 w 4341466"/>
              <a:gd name="connsiteY0" fmla="*/ 447134 h 687109"/>
              <a:gd name="connsiteX1" fmla="*/ 1321648 w 4341466"/>
              <a:gd name="connsiteY1" fmla="*/ 378160 h 687109"/>
              <a:gd name="connsiteX2" fmla="*/ 2318543 w 4341466"/>
              <a:gd name="connsiteY2" fmla="*/ 102227 h 687109"/>
              <a:gd name="connsiteX3" fmla="*/ 3251745 w 4341466"/>
              <a:gd name="connsiteY3" fmla="*/ 666361 h 687109"/>
              <a:gd name="connsiteX4" fmla="*/ 4341466 w 4341466"/>
              <a:gd name="connsiteY4" fmla="*/ 0 h 687109"/>
              <a:gd name="connsiteX0" fmla="*/ 0 w 4294971"/>
              <a:gd name="connsiteY0" fmla="*/ 555622 h 687109"/>
              <a:gd name="connsiteX1" fmla="*/ 1275153 w 4294971"/>
              <a:gd name="connsiteY1" fmla="*/ 378160 h 687109"/>
              <a:gd name="connsiteX2" fmla="*/ 2272048 w 4294971"/>
              <a:gd name="connsiteY2" fmla="*/ 102227 h 687109"/>
              <a:gd name="connsiteX3" fmla="*/ 3205250 w 4294971"/>
              <a:gd name="connsiteY3" fmla="*/ 666361 h 687109"/>
              <a:gd name="connsiteX4" fmla="*/ 4294971 w 4294971"/>
              <a:gd name="connsiteY4" fmla="*/ 0 h 687109"/>
              <a:gd name="connsiteX0" fmla="*/ 0 w 4294971"/>
              <a:gd name="connsiteY0" fmla="*/ 555622 h 687245"/>
              <a:gd name="connsiteX1" fmla="*/ 1089173 w 4294971"/>
              <a:gd name="connsiteY1" fmla="*/ 347163 h 687245"/>
              <a:gd name="connsiteX2" fmla="*/ 2272048 w 4294971"/>
              <a:gd name="connsiteY2" fmla="*/ 102227 h 687245"/>
              <a:gd name="connsiteX3" fmla="*/ 3205250 w 4294971"/>
              <a:gd name="connsiteY3" fmla="*/ 666361 h 687245"/>
              <a:gd name="connsiteX4" fmla="*/ 4294971 w 4294971"/>
              <a:gd name="connsiteY4" fmla="*/ 0 h 687245"/>
              <a:gd name="connsiteX0" fmla="*/ 0 w 4294971"/>
              <a:gd name="connsiteY0" fmla="*/ 555622 h 687109"/>
              <a:gd name="connsiteX1" fmla="*/ 1228658 w 4294971"/>
              <a:gd name="connsiteY1" fmla="*/ 378160 h 687109"/>
              <a:gd name="connsiteX2" fmla="*/ 2272048 w 4294971"/>
              <a:gd name="connsiteY2" fmla="*/ 102227 h 687109"/>
              <a:gd name="connsiteX3" fmla="*/ 3205250 w 4294971"/>
              <a:gd name="connsiteY3" fmla="*/ 666361 h 687109"/>
              <a:gd name="connsiteX4" fmla="*/ 4294971 w 4294971"/>
              <a:gd name="connsiteY4" fmla="*/ 0 h 687109"/>
              <a:gd name="connsiteX0" fmla="*/ 0 w 4294971"/>
              <a:gd name="connsiteY0" fmla="*/ 555622 h 687245"/>
              <a:gd name="connsiteX1" fmla="*/ 1275153 w 4294971"/>
              <a:gd name="connsiteY1" fmla="*/ 347163 h 687245"/>
              <a:gd name="connsiteX2" fmla="*/ 2272048 w 4294971"/>
              <a:gd name="connsiteY2" fmla="*/ 102227 h 687245"/>
              <a:gd name="connsiteX3" fmla="*/ 3205250 w 4294971"/>
              <a:gd name="connsiteY3" fmla="*/ 666361 h 687245"/>
              <a:gd name="connsiteX4" fmla="*/ 4294971 w 4294971"/>
              <a:gd name="connsiteY4" fmla="*/ 0 h 687245"/>
              <a:gd name="connsiteX0" fmla="*/ 0 w 4294971"/>
              <a:gd name="connsiteY0" fmla="*/ 555622 h 687245"/>
              <a:gd name="connsiteX1" fmla="*/ 1275153 w 4294971"/>
              <a:gd name="connsiteY1" fmla="*/ 347163 h 687245"/>
              <a:gd name="connsiteX2" fmla="*/ 2272048 w 4294971"/>
              <a:gd name="connsiteY2" fmla="*/ 102227 h 687245"/>
              <a:gd name="connsiteX3" fmla="*/ 3205250 w 4294971"/>
              <a:gd name="connsiteY3" fmla="*/ 666361 h 687245"/>
              <a:gd name="connsiteX4" fmla="*/ 4294971 w 4294971"/>
              <a:gd name="connsiteY4" fmla="*/ 0 h 687245"/>
              <a:gd name="connsiteX0" fmla="*/ 0 w 4294971"/>
              <a:gd name="connsiteY0" fmla="*/ 555622 h 555622"/>
              <a:gd name="connsiteX1" fmla="*/ 1275153 w 4294971"/>
              <a:gd name="connsiteY1" fmla="*/ 347163 h 555622"/>
              <a:gd name="connsiteX2" fmla="*/ 2272048 w 4294971"/>
              <a:gd name="connsiteY2" fmla="*/ 102227 h 555622"/>
              <a:gd name="connsiteX3" fmla="*/ 3484219 w 4294971"/>
              <a:gd name="connsiteY3" fmla="*/ 15432 h 555622"/>
              <a:gd name="connsiteX4" fmla="*/ 4294971 w 4294971"/>
              <a:gd name="connsiteY4" fmla="*/ 0 h 555622"/>
              <a:gd name="connsiteX0" fmla="*/ 0 w 4294971"/>
              <a:gd name="connsiteY0" fmla="*/ 555622 h 555622"/>
              <a:gd name="connsiteX1" fmla="*/ 1275153 w 4294971"/>
              <a:gd name="connsiteY1" fmla="*/ 347163 h 555622"/>
              <a:gd name="connsiteX2" fmla="*/ 2272048 w 4294971"/>
              <a:gd name="connsiteY2" fmla="*/ 102227 h 555622"/>
              <a:gd name="connsiteX3" fmla="*/ 3484219 w 4294971"/>
              <a:gd name="connsiteY3" fmla="*/ 15432 h 555622"/>
              <a:gd name="connsiteX4" fmla="*/ 4294971 w 4294971"/>
              <a:gd name="connsiteY4" fmla="*/ 0 h 555622"/>
              <a:gd name="connsiteX0" fmla="*/ 0 w 4294971"/>
              <a:gd name="connsiteY0" fmla="*/ 555622 h 555622"/>
              <a:gd name="connsiteX1" fmla="*/ 1275153 w 4294971"/>
              <a:gd name="connsiteY1" fmla="*/ 347163 h 555622"/>
              <a:gd name="connsiteX2" fmla="*/ 2272048 w 4294971"/>
              <a:gd name="connsiteY2" fmla="*/ 102227 h 555622"/>
              <a:gd name="connsiteX3" fmla="*/ 3484219 w 4294971"/>
              <a:gd name="connsiteY3" fmla="*/ 15432 h 555622"/>
              <a:gd name="connsiteX4" fmla="*/ 4294971 w 4294971"/>
              <a:gd name="connsiteY4" fmla="*/ 0 h 555622"/>
              <a:gd name="connsiteX0" fmla="*/ 0 w 4294971"/>
              <a:gd name="connsiteY0" fmla="*/ 555622 h 555622"/>
              <a:gd name="connsiteX1" fmla="*/ 1275153 w 4294971"/>
              <a:gd name="connsiteY1" fmla="*/ 347163 h 555622"/>
              <a:gd name="connsiteX2" fmla="*/ 2272048 w 4294971"/>
              <a:gd name="connsiteY2" fmla="*/ 102227 h 555622"/>
              <a:gd name="connsiteX3" fmla="*/ 2621410 w 4294971"/>
              <a:gd name="connsiteY3" fmla="*/ 58815 h 555622"/>
              <a:gd name="connsiteX4" fmla="*/ 3484219 w 4294971"/>
              <a:gd name="connsiteY4" fmla="*/ 15432 h 555622"/>
              <a:gd name="connsiteX5" fmla="*/ 4294971 w 4294971"/>
              <a:gd name="connsiteY5" fmla="*/ 0 h 555622"/>
              <a:gd name="connsiteX0" fmla="*/ 0 w 4294971"/>
              <a:gd name="connsiteY0" fmla="*/ 555622 h 555622"/>
              <a:gd name="connsiteX1" fmla="*/ 1275153 w 4294971"/>
              <a:gd name="connsiteY1" fmla="*/ 347163 h 555622"/>
              <a:gd name="connsiteX2" fmla="*/ 2272048 w 4294971"/>
              <a:gd name="connsiteY2" fmla="*/ 102227 h 555622"/>
              <a:gd name="connsiteX3" fmla="*/ 2621410 w 4294971"/>
              <a:gd name="connsiteY3" fmla="*/ 58815 h 555622"/>
              <a:gd name="connsiteX4" fmla="*/ 3375731 w 4294971"/>
              <a:gd name="connsiteY4" fmla="*/ 92924 h 555622"/>
              <a:gd name="connsiteX5" fmla="*/ 4294971 w 4294971"/>
              <a:gd name="connsiteY5" fmla="*/ 0 h 555622"/>
              <a:gd name="connsiteX0" fmla="*/ 0 w 4697927"/>
              <a:gd name="connsiteY0" fmla="*/ 499043 h 539153"/>
              <a:gd name="connsiteX1" fmla="*/ 1275153 w 4697927"/>
              <a:gd name="connsiteY1" fmla="*/ 290584 h 539153"/>
              <a:gd name="connsiteX2" fmla="*/ 2272048 w 4697927"/>
              <a:gd name="connsiteY2" fmla="*/ 45648 h 539153"/>
              <a:gd name="connsiteX3" fmla="*/ 2621410 w 4697927"/>
              <a:gd name="connsiteY3" fmla="*/ 2236 h 539153"/>
              <a:gd name="connsiteX4" fmla="*/ 3375731 w 4697927"/>
              <a:gd name="connsiteY4" fmla="*/ 36345 h 539153"/>
              <a:gd name="connsiteX5" fmla="*/ 4697927 w 4697927"/>
              <a:gd name="connsiteY5" fmla="*/ 454865 h 539153"/>
              <a:gd name="connsiteX0" fmla="*/ 0 w 4697927"/>
              <a:gd name="connsiteY0" fmla="*/ 499043 h 499043"/>
              <a:gd name="connsiteX1" fmla="*/ 1275153 w 4697927"/>
              <a:gd name="connsiteY1" fmla="*/ 290584 h 499043"/>
              <a:gd name="connsiteX2" fmla="*/ 2272048 w 4697927"/>
              <a:gd name="connsiteY2" fmla="*/ 45648 h 499043"/>
              <a:gd name="connsiteX3" fmla="*/ 2621410 w 4697927"/>
              <a:gd name="connsiteY3" fmla="*/ 2236 h 499043"/>
              <a:gd name="connsiteX4" fmla="*/ 3375731 w 4697927"/>
              <a:gd name="connsiteY4" fmla="*/ 36345 h 499043"/>
              <a:gd name="connsiteX5" fmla="*/ 4697927 w 4697927"/>
              <a:gd name="connsiteY5" fmla="*/ 454865 h 499043"/>
              <a:gd name="connsiteX0" fmla="*/ 0 w 4697927"/>
              <a:gd name="connsiteY0" fmla="*/ 499043 h 733835"/>
              <a:gd name="connsiteX1" fmla="*/ 1275153 w 4697927"/>
              <a:gd name="connsiteY1" fmla="*/ 290584 h 733835"/>
              <a:gd name="connsiteX2" fmla="*/ 2272048 w 4697927"/>
              <a:gd name="connsiteY2" fmla="*/ 45648 h 733835"/>
              <a:gd name="connsiteX3" fmla="*/ 2621410 w 4697927"/>
              <a:gd name="connsiteY3" fmla="*/ 2236 h 733835"/>
              <a:gd name="connsiteX4" fmla="*/ 3375731 w 4697927"/>
              <a:gd name="connsiteY4" fmla="*/ 36345 h 733835"/>
              <a:gd name="connsiteX5" fmla="*/ 4697927 w 4697927"/>
              <a:gd name="connsiteY5" fmla="*/ 733835 h 733835"/>
              <a:gd name="connsiteX0" fmla="*/ 0 w 4697927"/>
              <a:gd name="connsiteY0" fmla="*/ 472472 h 707264"/>
              <a:gd name="connsiteX1" fmla="*/ 1275153 w 4697927"/>
              <a:gd name="connsiteY1" fmla="*/ 264013 h 707264"/>
              <a:gd name="connsiteX2" fmla="*/ 2272048 w 4697927"/>
              <a:gd name="connsiteY2" fmla="*/ 19077 h 707264"/>
              <a:gd name="connsiteX3" fmla="*/ 2760895 w 4697927"/>
              <a:gd name="connsiteY3" fmla="*/ 6661 h 707264"/>
              <a:gd name="connsiteX4" fmla="*/ 3375731 w 4697927"/>
              <a:gd name="connsiteY4" fmla="*/ 9774 h 707264"/>
              <a:gd name="connsiteX5" fmla="*/ 4697927 w 4697927"/>
              <a:gd name="connsiteY5" fmla="*/ 707264 h 707264"/>
              <a:gd name="connsiteX0" fmla="*/ 0 w 4697927"/>
              <a:gd name="connsiteY0" fmla="*/ 493694 h 728486"/>
              <a:gd name="connsiteX1" fmla="*/ 1275153 w 4697927"/>
              <a:gd name="connsiteY1" fmla="*/ 285235 h 728486"/>
              <a:gd name="connsiteX2" fmla="*/ 2272048 w 4697927"/>
              <a:gd name="connsiteY2" fmla="*/ 40299 h 728486"/>
              <a:gd name="connsiteX3" fmla="*/ 2760895 w 4697927"/>
              <a:gd name="connsiteY3" fmla="*/ 27883 h 728486"/>
              <a:gd name="connsiteX4" fmla="*/ 3453222 w 4697927"/>
              <a:gd name="connsiteY4" fmla="*/ 0 h 728486"/>
              <a:gd name="connsiteX5" fmla="*/ 4697927 w 4697927"/>
              <a:gd name="connsiteY5" fmla="*/ 728486 h 728486"/>
              <a:gd name="connsiteX0" fmla="*/ 0 w 4697927"/>
              <a:gd name="connsiteY0" fmla="*/ 515181 h 749973"/>
              <a:gd name="connsiteX1" fmla="*/ 1275153 w 4697927"/>
              <a:gd name="connsiteY1" fmla="*/ 306722 h 749973"/>
              <a:gd name="connsiteX2" fmla="*/ 2272048 w 4697927"/>
              <a:gd name="connsiteY2" fmla="*/ 61786 h 749973"/>
              <a:gd name="connsiteX3" fmla="*/ 2636908 w 4697927"/>
              <a:gd name="connsiteY3" fmla="*/ 2875 h 749973"/>
              <a:gd name="connsiteX4" fmla="*/ 3453222 w 4697927"/>
              <a:gd name="connsiteY4" fmla="*/ 21487 h 749973"/>
              <a:gd name="connsiteX5" fmla="*/ 4697927 w 4697927"/>
              <a:gd name="connsiteY5" fmla="*/ 749973 h 749973"/>
              <a:gd name="connsiteX0" fmla="*/ 0 w 4697927"/>
              <a:gd name="connsiteY0" fmla="*/ 515181 h 749973"/>
              <a:gd name="connsiteX1" fmla="*/ 1275153 w 4697927"/>
              <a:gd name="connsiteY1" fmla="*/ 306722 h 749973"/>
              <a:gd name="connsiteX2" fmla="*/ 2132564 w 4697927"/>
              <a:gd name="connsiteY2" fmla="*/ 30790 h 749973"/>
              <a:gd name="connsiteX3" fmla="*/ 2636908 w 4697927"/>
              <a:gd name="connsiteY3" fmla="*/ 2875 h 749973"/>
              <a:gd name="connsiteX4" fmla="*/ 3453222 w 4697927"/>
              <a:gd name="connsiteY4" fmla="*/ 21487 h 749973"/>
              <a:gd name="connsiteX5" fmla="*/ 4697927 w 4697927"/>
              <a:gd name="connsiteY5" fmla="*/ 749973 h 749973"/>
              <a:gd name="connsiteX0" fmla="*/ 0 w 4697927"/>
              <a:gd name="connsiteY0" fmla="*/ 497680 h 732472"/>
              <a:gd name="connsiteX1" fmla="*/ 1275153 w 4697927"/>
              <a:gd name="connsiteY1" fmla="*/ 289221 h 732472"/>
              <a:gd name="connsiteX2" fmla="*/ 2132564 w 4697927"/>
              <a:gd name="connsiteY2" fmla="*/ 13289 h 732472"/>
              <a:gd name="connsiteX3" fmla="*/ 2683403 w 4697927"/>
              <a:gd name="connsiteY3" fmla="*/ 31869 h 732472"/>
              <a:gd name="connsiteX4" fmla="*/ 3453222 w 4697927"/>
              <a:gd name="connsiteY4" fmla="*/ 3986 h 732472"/>
              <a:gd name="connsiteX5" fmla="*/ 4697927 w 4697927"/>
              <a:gd name="connsiteY5" fmla="*/ 732472 h 732472"/>
              <a:gd name="connsiteX0" fmla="*/ 0 w 4697927"/>
              <a:gd name="connsiteY0" fmla="*/ 493694 h 728486"/>
              <a:gd name="connsiteX1" fmla="*/ 1275153 w 4697927"/>
              <a:gd name="connsiteY1" fmla="*/ 285235 h 728486"/>
              <a:gd name="connsiteX2" fmla="*/ 2241053 w 4697927"/>
              <a:gd name="connsiteY2" fmla="*/ 24801 h 728486"/>
              <a:gd name="connsiteX3" fmla="*/ 2683403 w 4697927"/>
              <a:gd name="connsiteY3" fmla="*/ 27883 h 728486"/>
              <a:gd name="connsiteX4" fmla="*/ 3453222 w 4697927"/>
              <a:gd name="connsiteY4" fmla="*/ 0 h 728486"/>
              <a:gd name="connsiteX5" fmla="*/ 4697927 w 4697927"/>
              <a:gd name="connsiteY5" fmla="*/ 728486 h 728486"/>
              <a:gd name="connsiteX0" fmla="*/ 0 w 4697927"/>
              <a:gd name="connsiteY0" fmla="*/ 493694 h 728486"/>
              <a:gd name="connsiteX1" fmla="*/ 1275153 w 4697927"/>
              <a:gd name="connsiteY1" fmla="*/ 285235 h 728486"/>
              <a:gd name="connsiteX2" fmla="*/ 2241053 w 4697927"/>
              <a:gd name="connsiteY2" fmla="*/ 24801 h 728486"/>
              <a:gd name="connsiteX3" fmla="*/ 2683403 w 4697927"/>
              <a:gd name="connsiteY3" fmla="*/ 27883 h 728486"/>
              <a:gd name="connsiteX4" fmla="*/ 3453222 w 4697927"/>
              <a:gd name="connsiteY4" fmla="*/ 0 h 728486"/>
              <a:gd name="connsiteX5" fmla="*/ 4697927 w 4697927"/>
              <a:gd name="connsiteY5" fmla="*/ 728486 h 728486"/>
              <a:gd name="connsiteX0" fmla="*/ 0 w 4697927"/>
              <a:gd name="connsiteY0" fmla="*/ 501451 h 736243"/>
              <a:gd name="connsiteX1" fmla="*/ 1275153 w 4697927"/>
              <a:gd name="connsiteY1" fmla="*/ 292992 h 736243"/>
              <a:gd name="connsiteX2" fmla="*/ 2272050 w 4697927"/>
              <a:gd name="connsiteY2" fmla="*/ 1561 h 736243"/>
              <a:gd name="connsiteX3" fmla="*/ 2683403 w 4697927"/>
              <a:gd name="connsiteY3" fmla="*/ 35640 h 736243"/>
              <a:gd name="connsiteX4" fmla="*/ 3453222 w 4697927"/>
              <a:gd name="connsiteY4" fmla="*/ 7757 h 736243"/>
              <a:gd name="connsiteX5" fmla="*/ 4697927 w 4697927"/>
              <a:gd name="connsiteY5" fmla="*/ 736243 h 736243"/>
              <a:gd name="connsiteX0" fmla="*/ 0 w 4697927"/>
              <a:gd name="connsiteY0" fmla="*/ 501451 h 736243"/>
              <a:gd name="connsiteX1" fmla="*/ 1275153 w 4697927"/>
              <a:gd name="connsiteY1" fmla="*/ 292992 h 736243"/>
              <a:gd name="connsiteX2" fmla="*/ 2272050 w 4697927"/>
              <a:gd name="connsiteY2" fmla="*/ 1561 h 736243"/>
              <a:gd name="connsiteX3" fmla="*/ 2683403 w 4697927"/>
              <a:gd name="connsiteY3" fmla="*/ 35640 h 736243"/>
              <a:gd name="connsiteX4" fmla="*/ 3422225 w 4697927"/>
              <a:gd name="connsiteY4" fmla="*/ 23255 h 736243"/>
              <a:gd name="connsiteX5" fmla="*/ 4697927 w 4697927"/>
              <a:gd name="connsiteY5" fmla="*/ 736243 h 736243"/>
              <a:gd name="connsiteX0" fmla="*/ 0 w 4697927"/>
              <a:gd name="connsiteY0" fmla="*/ 514229 h 749021"/>
              <a:gd name="connsiteX1" fmla="*/ 1275153 w 4697927"/>
              <a:gd name="connsiteY1" fmla="*/ 305770 h 749021"/>
              <a:gd name="connsiteX2" fmla="*/ 2272050 w 4697927"/>
              <a:gd name="connsiteY2" fmla="*/ 14339 h 749021"/>
              <a:gd name="connsiteX3" fmla="*/ 2667905 w 4697927"/>
              <a:gd name="connsiteY3" fmla="*/ 32920 h 749021"/>
              <a:gd name="connsiteX4" fmla="*/ 3422225 w 4697927"/>
              <a:gd name="connsiteY4" fmla="*/ 36033 h 749021"/>
              <a:gd name="connsiteX5" fmla="*/ 4697927 w 4697927"/>
              <a:gd name="connsiteY5" fmla="*/ 749021 h 749021"/>
              <a:gd name="connsiteX0" fmla="*/ 0 w 4697927"/>
              <a:gd name="connsiteY0" fmla="*/ 514229 h 749021"/>
              <a:gd name="connsiteX1" fmla="*/ 1275153 w 4697927"/>
              <a:gd name="connsiteY1" fmla="*/ 305770 h 749021"/>
              <a:gd name="connsiteX2" fmla="*/ 2272050 w 4697927"/>
              <a:gd name="connsiteY2" fmla="*/ 14339 h 749021"/>
              <a:gd name="connsiteX3" fmla="*/ 2667905 w 4697927"/>
              <a:gd name="connsiteY3" fmla="*/ 32920 h 749021"/>
              <a:gd name="connsiteX4" fmla="*/ 3422225 w 4697927"/>
              <a:gd name="connsiteY4" fmla="*/ 20534 h 749021"/>
              <a:gd name="connsiteX5" fmla="*/ 4697927 w 4697927"/>
              <a:gd name="connsiteY5" fmla="*/ 749021 h 749021"/>
              <a:gd name="connsiteX0" fmla="*/ 0 w 4697927"/>
              <a:gd name="connsiteY0" fmla="*/ 522409 h 757201"/>
              <a:gd name="connsiteX1" fmla="*/ 1275153 w 4697927"/>
              <a:gd name="connsiteY1" fmla="*/ 313950 h 757201"/>
              <a:gd name="connsiteX2" fmla="*/ 2272050 w 4697927"/>
              <a:gd name="connsiteY2" fmla="*/ 22519 h 757201"/>
              <a:gd name="connsiteX3" fmla="*/ 2636909 w 4697927"/>
              <a:gd name="connsiteY3" fmla="*/ 10103 h 757201"/>
              <a:gd name="connsiteX4" fmla="*/ 3422225 w 4697927"/>
              <a:gd name="connsiteY4" fmla="*/ 28714 h 757201"/>
              <a:gd name="connsiteX5" fmla="*/ 4697927 w 4697927"/>
              <a:gd name="connsiteY5" fmla="*/ 757201 h 757201"/>
              <a:gd name="connsiteX0" fmla="*/ 0 w 4697927"/>
              <a:gd name="connsiteY0" fmla="*/ 522409 h 757201"/>
              <a:gd name="connsiteX1" fmla="*/ 1275153 w 4697927"/>
              <a:gd name="connsiteY1" fmla="*/ 313950 h 757201"/>
              <a:gd name="connsiteX2" fmla="*/ 2272050 w 4697927"/>
              <a:gd name="connsiteY2" fmla="*/ 22519 h 757201"/>
              <a:gd name="connsiteX3" fmla="*/ 2636909 w 4697927"/>
              <a:gd name="connsiteY3" fmla="*/ 10103 h 757201"/>
              <a:gd name="connsiteX4" fmla="*/ 3391228 w 4697927"/>
              <a:gd name="connsiteY4" fmla="*/ 28714 h 757201"/>
              <a:gd name="connsiteX5" fmla="*/ 4697927 w 4697927"/>
              <a:gd name="connsiteY5" fmla="*/ 757201 h 757201"/>
              <a:gd name="connsiteX0" fmla="*/ 0 w 4589439"/>
              <a:gd name="connsiteY0" fmla="*/ 522409 h 664212"/>
              <a:gd name="connsiteX1" fmla="*/ 1275153 w 4589439"/>
              <a:gd name="connsiteY1" fmla="*/ 313950 h 664212"/>
              <a:gd name="connsiteX2" fmla="*/ 2272050 w 4589439"/>
              <a:gd name="connsiteY2" fmla="*/ 22519 h 664212"/>
              <a:gd name="connsiteX3" fmla="*/ 2636909 w 4589439"/>
              <a:gd name="connsiteY3" fmla="*/ 10103 h 664212"/>
              <a:gd name="connsiteX4" fmla="*/ 3391228 w 4589439"/>
              <a:gd name="connsiteY4" fmla="*/ 28714 h 664212"/>
              <a:gd name="connsiteX5" fmla="*/ 4589439 w 4589439"/>
              <a:gd name="connsiteY5" fmla="*/ 664212 h 664212"/>
              <a:gd name="connsiteX0" fmla="*/ 0 w 4604937"/>
              <a:gd name="connsiteY0" fmla="*/ 398423 h 664212"/>
              <a:gd name="connsiteX1" fmla="*/ 1290651 w 4604937"/>
              <a:gd name="connsiteY1" fmla="*/ 313950 h 664212"/>
              <a:gd name="connsiteX2" fmla="*/ 2287548 w 4604937"/>
              <a:gd name="connsiteY2" fmla="*/ 22519 h 664212"/>
              <a:gd name="connsiteX3" fmla="*/ 2652407 w 4604937"/>
              <a:gd name="connsiteY3" fmla="*/ 10103 h 664212"/>
              <a:gd name="connsiteX4" fmla="*/ 3406726 w 4604937"/>
              <a:gd name="connsiteY4" fmla="*/ 28714 h 664212"/>
              <a:gd name="connsiteX5" fmla="*/ 4604937 w 4604937"/>
              <a:gd name="connsiteY5" fmla="*/ 664212 h 664212"/>
              <a:gd name="connsiteX0" fmla="*/ 0 w 4604937"/>
              <a:gd name="connsiteY0" fmla="*/ 391196 h 656985"/>
              <a:gd name="connsiteX1" fmla="*/ 1213159 w 4604937"/>
              <a:gd name="connsiteY1" fmla="*/ 198234 h 656985"/>
              <a:gd name="connsiteX2" fmla="*/ 2287548 w 4604937"/>
              <a:gd name="connsiteY2" fmla="*/ 15292 h 656985"/>
              <a:gd name="connsiteX3" fmla="*/ 2652407 w 4604937"/>
              <a:gd name="connsiteY3" fmla="*/ 2876 h 656985"/>
              <a:gd name="connsiteX4" fmla="*/ 3406726 w 4604937"/>
              <a:gd name="connsiteY4" fmla="*/ 21487 h 656985"/>
              <a:gd name="connsiteX5" fmla="*/ 4604937 w 4604937"/>
              <a:gd name="connsiteY5" fmla="*/ 656985 h 656985"/>
              <a:gd name="connsiteX0" fmla="*/ 0 w 4604937"/>
              <a:gd name="connsiteY0" fmla="*/ 391196 h 656985"/>
              <a:gd name="connsiteX1" fmla="*/ 1213159 w 4604937"/>
              <a:gd name="connsiteY1" fmla="*/ 167238 h 656985"/>
              <a:gd name="connsiteX2" fmla="*/ 2287548 w 4604937"/>
              <a:gd name="connsiteY2" fmla="*/ 15292 h 656985"/>
              <a:gd name="connsiteX3" fmla="*/ 2652407 w 4604937"/>
              <a:gd name="connsiteY3" fmla="*/ 2876 h 656985"/>
              <a:gd name="connsiteX4" fmla="*/ 3406726 w 4604937"/>
              <a:gd name="connsiteY4" fmla="*/ 21487 h 656985"/>
              <a:gd name="connsiteX5" fmla="*/ 4604937 w 4604937"/>
              <a:gd name="connsiteY5" fmla="*/ 656985 h 656985"/>
              <a:gd name="connsiteX0" fmla="*/ 0 w 4604937"/>
              <a:gd name="connsiteY0" fmla="*/ 428410 h 694199"/>
              <a:gd name="connsiteX1" fmla="*/ 1213159 w 4604937"/>
              <a:gd name="connsiteY1" fmla="*/ 204452 h 694199"/>
              <a:gd name="connsiteX2" fmla="*/ 2241053 w 4604937"/>
              <a:gd name="connsiteY2" fmla="*/ 6011 h 694199"/>
              <a:gd name="connsiteX3" fmla="*/ 2652407 w 4604937"/>
              <a:gd name="connsiteY3" fmla="*/ 40090 h 694199"/>
              <a:gd name="connsiteX4" fmla="*/ 3406726 w 4604937"/>
              <a:gd name="connsiteY4" fmla="*/ 58701 h 694199"/>
              <a:gd name="connsiteX5" fmla="*/ 4604937 w 4604937"/>
              <a:gd name="connsiteY5" fmla="*/ 694199 h 694199"/>
              <a:gd name="connsiteX0" fmla="*/ 0 w 4604937"/>
              <a:gd name="connsiteY0" fmla="*/ 391196 h 656985"/>
              <a:gd name="connsiteX1" fmla="*/ 1213159 w 4604937"/>
              <a:gd name="connsiteY1" fmla="*/ 167238 h 656985"/>
              <a:gd name="connsiteX2" fmla="*/ 2241053 w 4604937"/>
              <a:gd name="connsiteY2" fmla="*/ 15292 h 656985"/>
              <a:gd name="connsiteX3" fmla="*/ 2652407 w 4604937"/>
              <a:gd name="connsiteY3" fmla="*/ 2876 h 656985"/>
              <a:gd name="connsiteX4" fmla="*/ 3406726 w 4604937"/>
              <a:gd name="connsiteY4" fmla="*/ 21487 h 656985"/>
              <a:gd name="connsiteX5" fmla="*/ 4604937 w 4604937"/>
              <a:gd name="connsiteY5" fmla="*/ 656985 h 656985"/>
              <a:gd name="connsiteX0" fmla="*/ 0 w 3861822"/>
              <a:gd name="connsiteY0" fmla="*/ 561677 h 656985"/>
              <a:gd name="connsiteX1" fmla="*/ 470044 w 3861822"/>
              <a:gd name="connsiteY1" fmla="*/ 167238 h 656985"/>
              <a:gd name="connsiteX2" fmla="*/ 1497938 w 3861822"/>
              <a:gd name="connsiteY2" fmla="*/ 15292 h 656985"/>
              <a:gd name="connsiteX3" fmla="*/ 1909292 w 3861822"/>
              <a:gd name="connsiteY3" fmla="*/ 2876 h 656985"/>
              <a:gd name="connsiteX4" fmla="*/ 2663611 w 3861822"/>
              <a:gd name="connsiteY4" fmla="*/ 21487 h 656985"/>
              <a:gd name="connsiteX5" fmla="*/ 3861822 w 3861822"/>
              <a:gd name="connsiteY5" fmla="*/ 656985 h 656985"/>
              <a:gd name="connsiteX0" fmla="*/ 0 w 3861822"/>
              <a:gd name="connsiteY0" fmla="*/ 561677 h 656985"/>
              <a:gd name="connsiteX1" fmla="*/ 470044 w 3861822"/>
              <a:gd name="connsiteY1" fmla="*/ 167238 h 656985"/>
              <a:gd name="connsiteX2" fmla="*/ 1497938 w 3861822"/>
              <a:gd name="connsiteY2" fmla="*/ 15292 h 656985"/>
              <a:gd name="connsiteX3" fmla="*/ 1909292 w 3861822"/>
              <a:gd name="connsiteY3" fmla="*/ 2876 h 656985"/>
              <a:gd name="connsiteX4" fmla="*/ 2663611 w 3861822"/>
              <a:gd name="connsiteY4" fmla="*/ 21487 h 656985"/>
              <a:gd name="connsiteX5" fmla="*/ 3861822 w 3861822"/>
              <a:gd name="connsiteY5" fmla="*/ 656985 h 656985"/>
              <a:gd name="connsiteX0" fmla="*/ 0 w 3708828"/>
              <a:gd name="connsiteY0" fmla="*/ 499684 h 656985"/>
              <a:gd name="connsiteX1" fmla="*/ 317050 w 3708828"/>
              <a:gd name="connsiteY1" fmla="*/ 167238 h 656985"/>
              <a:gd name="connsiteX2" fmla="*/ 1344944 w 3708828"/>
              <a:gd name="connsiteY2" fmla="*/ 15292 h 656985"/>
              <a:gd name="connsiteX3" fmla="*/ 1756298 w 3708828"/>
              <a:gd name="connsiteY3" fmla="*/ 2876 h 656985"/>
              <a:gd name="connsiteX4" fmla="*/ 2510617 w 3708828"/>
              <a:gd name="connsiteY4" fmla="*/ 21487 h 656985"/>
              <a:gd name="connsiteX5" fmla="*/ 3708828 w 3708828"/>
              <a:gd name="connsiteY5" fmla="*/ 656985 h 656985"/>
              <a:gd name="connsiteX0" fmla="*/ 0 w 3708828"/>
              <a:gd name="connsiteY0" fmla="*/ 672782 h 830083"/>
              <a:gd name="connsiteX1" fmla="*/ 317050 w 3708828"/>
              <a:gd name="connsiteY1" fmla="*/ 340336 h 830083"/>
              <a:gd name="connsiteX2" fmla="*/ 1497939 w 3708828"/>
              <a:gd name="connsiteY2" fmla="*/ 2410 h 830083"/>
              <a:gd name="connsiteX3" fmla="*/ 1756298 w 3708828"/>
              <a:gd name="connsiteY3" fmla="*/ 175974 h 830083"/>
              <a:gd name="connsiteX4" fmla="*/ 2510617 w 3708828"/>
              <a:gd name="connsiteY4" fmla="*/ 194585 h 830083"/>
              <a:gd name="connsiteX5" fmla="*/ 3708828 w 3708828"/>
              <a:gd name="connsiteY5" fmla="*/ 830083 h 830083"/>
              <a:gd name="connsiteX0" fmla="*/ 0 w 3708828"/>
              <a:gd name="connsiteY0" fmla="*/ 674131 h 831432"/>
              <a:gd name="connsiteX1" fmla="*/ 470044 w 3708828"/>
              <a:gd name="connsiteY1" fmla="*/ 388180 h 831432"/>
              <a:gd name="connsiteX2" fmla="*/ 1497939 w 3708828"/>
              <a:gd name="connsiteY2" fmla="*/ 3759 h 831432"/>
              <a:gd name="connsiteX3" fmla="*/ 1756298 w 3708828"/>
              <a:gd name="connsiteY3" fmla="*/ 177323 h 831432"/>
              <a:gd name="connsiteX4" fmla="*/ 2510617 w 3708828"/>
              <a:gd name="connsiteY4" fmla="*/ 195934 h 831432"/>
              <a:gd name="connsiteX5" fmla="*/ 3708828 w 3708828"/>
              <a:gd name="connsiteY5" fmla="*/ 831432 h 831432"/>
              <a:gd name="connsiteX0" fmla="*/ 0 w 3708828"/>
              <a:gd name="connsiteY0" fmla="*/ 735368 h 892669"/>
              <a:gd name="connsiteX1" fmla="*/ 470044 w 3708828"/>
              <a:gd name="connsiteY1" fmla="*/ 449417 h 892669"/>
              <a:gd name="connsiteX2" fmla="*/ 1454227 w 3708828"/>
              <a:gd name="connsiteY2" fmla="*/ 3003 h 892669"/>
              <a:gd name="connsiteX3" fmla="*/ 1756298 w 3708828"/>
              <a:gd name="connsiteY3" fmla="*/ 238560 h 892669"/>
              <a:gd name="connsiteX4" fmla="*/ 2510617 w 3708828"/>
              <a:gd name="connsiteY4" fmla="*/ 257171 h 892669"/>
              <a:gd name="connsiteX5" fmla="*/ 3708828 w 3708828"/>
              <a:gd name="connsiteY5" fmla="*/ 892669 h 892669"/>
              <a:gd name="connsiteX0" fmla="*/ 0 w 3708828"/>
              <a:gd name="connsiteY0" fmla="*/ 757535 h 914836"/>
              <a:gd name="connsiteX1" fmla="*/ 470044 w 3708828"/>
              <a:gd name="connsiteY1" fmla="*/ 471584 h 914836"/>
              <a:gd name="connsiteX2" fmla="*/ 1454227 w 3708828"/>
              <a:gd name="connsiteY2" fmla="*/ 25170 h 914836"/>
              <a:gd name="connsiteX3" fmla="*/ 1734442 w 3708828"/>
              <a:gd name="connsiteY3" fmla="*/ 43751 h 914836"/>
              <a:gd name="connsiteX4" fmla="*/ 2510617 w 3708828"/>
              <a:gd name="connsiteY4" fmla="*/ 279338 h 914836"/>
              <a:gd name="connsiteX5" fmla="*/ 3708828 w 3708828"/>
              <a:gd name="connsiteY5" fmla="*/ 914836 h 914836"/>
              <a:gd name="connsiteX0" fmla="*/ 0 w 3708828"/>
              <a:gd name="connsiteY0" fmla="*/ 772183 h 929484"/>
              <a:gd name="connsiteX1" fmla="*/ 470044 w 3708828"/>
              <a:gd name="connsiteY1" fmla="*/ 486232 h 929484"/>
              <a:gd name="connsiteX2" fmla="*/ 1454227 w 3708828"/>
              <a:gd name="connsiteY2" fmla="*/ 39818 h 929484"/>
              <a:gd name="connsiteX3" fmla="*/ 1778153 w 3708828"/>
              <a:gd name="connsiteY3" fmla="*/ 11904 h 929484"/>
              <a:gd name="connsiteX4" fmla="*/ 2510617 w 3708828"/>
              <a:gd name="connsiteY4" fmla="*/ 293986 h 929484"/>
              <a:gd name="connsiteX5" fmla="*/ 3708828 w 3708828"/>
              <a:gd name="connsiteY5" fmla="*/ 929484 h 929484"/>
              <a:gd name="connsiteX0" fmla="*/ 0 w 3708828"/>
              <a:gd name="connsiteY0" fmla="*/ 772183 h 929484"/>
              <a:gd name="connsiteX1" fmla="*/ 470044 w 3708828"/>
              <a:gd name="connsiteY1" fmla="*/ 486232 h 929484"/>
              <a:gd name="connsiteX2" fmla="*/ 1454227 w 3708828"/>
              <a:gd name="connsiteY2" fmla="*/ 39818 h 929484"/>
              <a:gd name="connsiteX3" fmla="*/ 1778153 w 3708828"/>
              <a:gd name="connsiteY3" fmla="*/ 11904 h 929484"/>
              <a:gd name="connsiteX4" fmla="*/ 2510617 w 3708828"/>
              <a:gd name="connsiteY4" fmla="*/ 293986 h 929484"/>
              <a:gd name="connsiteX5" fmla="*/ 3708828 w 3708828"/>
              <a:gd name="connsiteY5" fmla="*/ 929484 h 929484"/>
              <a:gd name="connsiteX0" fmla="*/ 0 w 3708828"/>
              <a:gd name="connsiteY0" fmla="*/ 772183 h 929484"/>
              <a:gd name="connsiteX1" fmla="*/ 470044 w 3708828"/>
              <a:gd name="connsiteY1" fmla="*/ 486232 h 929484"/>
              <a:gd name="connsiteX2" fmla="*/ 1454227 w 3708828"/>
              <a:gd name="connsiteY2" fmla="*/ 39818 h 929484"/>
              <a:gd name="connsiteX3" fmla="*/ 1778153 w 3708828"/>
              <a:gd name="connsiteY3" fmla="*/ 11904 h 929484"/>
              <a:gd name="connsiteX4" fmla="*/ 2576186 w 3708828"/>
              <a:gd name="connsiteY4" fmla="*/ 340481 h 929484"/>
              <a:gd name="connsiteX5" fmla="*/ 3708828 w 3708828"/>
              <a:gd name="connsiteY5" fmla="*/ 929484 h 929484"/>
              <a:gd name="connsiteX0" fmla="*/ 0 w 3708828"/>
              <a:gd name="connsiteY0" fmla="*/ 772183 h 929484"/>
              <a:gd name="connsiteX1" fmla="*/ 470044 w 3708828"/>
              <a:gd name="connsiteY1" fmla="*/ 486232 h 929484"/>
              <a:gd name="connsiteX2" fmla="*/ 1454227 w 3708828"/>
              <a:gd name="connsiteY2" fmla="*/ 39818 h 929484"/>
              <a:gd name="connsiteX3" fmla="*/ 1778153 w 3708828"/>
              <a:gd name="connsiteY3" fmla="*/ 11904 h 929484"/>
              <a:gd name="connsiteX4" fmla="*/ 2576186 w 3708828"/>
              <a:gd name="connsiteY4" fmla="*/ 340481 h 929484"/>
              <a:gd name="connsiteX5" fmla="*/ 3708828 w 3708828"/>
              <a:gd name="connsiteY5" fmla="*/ 929484 h 929484"/>
              <a:gd name="connsiteX0" fmla="*/ 0 w 3708828"/>
              <a:gd name="connsiteY0" fmla="*/ 772183 h 929484"/>
              <a:gd name="connsiteX1" fmla="*/ 470044 w 3708828"/>
              <a:gd name="connsiteY1" fmla="*/ 486232 h 929484"/>
              <a:gd name="connsiteX2" fmla="*/ 1454227 w 3708828"/>
              <a:gd name="connsiteY2" fmla="*/ 39818 h 929484"/>
              <a:gd name="connsiteX3" fmla="*/ 1778153 w 3708828"/>
              <a:gd name="connsiteY3" fmla="*/ 11904 h 929484"/>
              <a:gd name="connsiteX4" fmla="*/ 2576186 w 3708828"/>
              <a:gd name="connsiteY4" fmla="*/ 340481 h 929484"/>
              <a:gd name="connsiteX5" fmla="*/ 3708828 w 3708828"/>
              <a:gd name="connsiteY5" fmla="*/ 929484 h 929484"/>
              <a:gd name="connsiteX0" fmla="*/ 0 w 3971104"/>
              <a:gd name="connsiteY0" fmla="*/ 772183 h 772183"/>
              <a:gd name="connsiteX1" fmla="*/ 470044 w 3971104"/>
              <a:gd name="connsiteY1" fmla="*/ 486232 h 772183"/>
              <a:gd name="connsiteX2" fmla="*/ 1454227 w 3971104"/>
              <a:gd name="connsiteY2" fmla="*/ 39818 h 772183"/>
              <a:gd name="connsiteX3" fmla="*/ 1778153 w 3971104"/>
              <a:gd name="connsiteY3" fmla="*/ 11904 h 772183"/>
              <a:gd name="connsiteX4" fmla="*/ 2576186 w 3971104"/>
              <a:gd name="connsiteY4" fmla="*/ 340481 h 772183"/>
              <a:gd name="connsiteX5" fmla="*/ 3971104 w 3971104"/>
              <a:gd name="connsiteY5" fmla="*/ 728006 h 772183"/>
              <a:gd name="connsiteX0" fmla="*/ 0 w 3971104"/>
              <a:gd name="connsiteY0" fmla="*/ 772183 h 805813"/>
              <a:gd name="connsiteX1" fmla="*/ 470044 w 3971104"/>
              <a:gd name="connsiteY1" fmla="*/ 486232 h 805813"/>
              <a:gd name="connsiteX2" fmla="*/ 1454227 w 3971104"/>
              <a:gd name="connsiteY2" fmla="*/ 39818 h 805813"/>
              <a:gd name="connsiteX3" fmla="*/ 1778153 w 3971104"/>
              <a:gd name="connsiteY3" fmla="*/ 11904 h 805813"/>
              <a:gd name="connsiteX4" fmla="*/ 3057025 w 3971104"/>
              <a:gd name="connsiteY4" fmla="*/ 774434 h 805813"/>
              <a:gd name="connsiteX5" fmla="*/ 3971104 w 3971104"/>
              <a:gd name="connsiteY5" fmla="*/ 728006 h 805813"/>
              <a:gd name="connsiteX0" fmla="*/ 0 w 3971104"/>
              <a:gd name="connsiteY0" fmla="*/ 772183 h 772183"/>
              <a:gd name="connsiteX1" fmla="*/ 470044 w 3971104"/>
              <a:gd name="connsiteY1" fmla="*/ 486232 h 772183"/>
              <a:gd name="connsiteX2" fmla="*/ 1454227 w 3971104"/>
              <a:gd name="connsiteY2" fmla="*/ 39818 h 772183"/>
              <a:gd name="connsiteX3" fmla="*/ 1778153 w 3971104"/>
              <a:gd name="connsiteY3" fmla="*/ 11904 h 772183"/>
              <a:gd name="connsiteX4" fmla="*/ 3057025 w 3971104"/>
              <a:gd name="connsiteY4" fmla="*/ 681444 h 772183"/>
              <a:gd name="connsiteX5" fmla="*/ 3971104 w 3971104"/>
              <a:gd name="connsiteY5" fmla="*/ 728006 h 772183"/>
              <a:gd name="connsiteX0" fmla="*/ 0 w 3971104"/>
              <a:gd name="connsiteY0" fmla="*/ 807348 h 807348"/>
              <a:gd name="connsiteX1" fmla="*/ 470044 w 3971104"/>
              <a:gd name="connsiteY1" fmla="*/ 521397 h 807348"/>
              <a:gd name="connsiteX2" fmla="*/ 1344945 w 3971104"/>
              <a:gd name="connsiteY2" fmla="*/ 28489 h 807348"/>
              <a:gd name="connsiteX3" fmla="*/ 1778153 w 3971104"/>
              <a:gd name="connsiteY3" fmla="*/ 47069 h 807348"/>
              <a:gd name="connsiteX4" fmla="*/ 3057025 w 3971104"/>
              <a:gd name="connsiteY4" fmla="*/ 716609 h 807348"/>
              <a:gd name="connsiteX5" fmla="*/ 3971104 w 3971104"/>
              <a:gd name="connsiteY5" fmla="*/ 763171 h 807348"/>
              <a:gd name="connsiteX0" fmla="*/ 0 w 3971104"/>
              <a:gd name="connsiteY0" fmla="*/ 807348 h 807348"/>
              <a:gd name="connsiteX1" fmla="*/ 470044 w 3971104"/>
              <a:gd name="connsiteY1" fmla="*/ 521397 h 807348"/>
              <a:gd name="connsiteX2" fmla="*/ 1344945 w 3971104"/>
              <a:gd name="connsiteY2" fmla="*/ 28489 h 807348"/>
              <a:gd name="connsiteX3" fmla="*/ 1690727 w 3971104"/>
              <a:gd name="connsiteY3" fmla="*/ 47069 h 807348"/>
              <a:gd name="connsiteX4" fmla="*/ 3057025 w 3971104"/>
              <a:gd name="connsiteY4" fmla="*/ 716609 h 807348"/>
              <a:gd name="connsiteX5" fmla="*/ 3971104 w 3971104"/>
              <a:gd name="connsiteY5" fmla="*/ 763171 h 807348"/>
              <a:gd name="connsiteX0" fmla="*/ 0 w 4932780"/>
              <a:gd name="connsiteY0" fmla="*/ 807348 h 856161"/>
              <a:gd name="connsiteX1" fmla="*/ 470044 w 4932780"/>
              <a:gd name="connsiteY1" fmla="*/ 521397 h 856161"/>
              <a:gd name="connsiteX2" fmla="*/ 1344945 w 4932780"/>
              <a:gd name="connsiteY2" fmla="*/ 28489 h 856161"/>
              <a:gd name="connsiteX3" fmla="*/ 1690727 w 4932780"/>
              <a:gd name="connsiteY3" fmla="*/ 47069 h 856161"/>
              <a:gd name="connsiteX4" fmla="*/ 3057025 w 4932780"/>
              <a:gd name="connsiteY4" fmla="*/ 716609 h 856161"/>
              <a:gd name="connsiteX5" fmla="*/ 4932780 w 4932780"/>
              <a:gd name="connsiteY5" fmla="*/ 856161 h 856161"/>
              <a:gd name="connsiteX0" fmla="*/ 0 w 4932780"/>
              <a:gd name="connsiteY0" fmla="*/ 807348 h 856161"/>
              <a:gd name="connsiteX1" fmla="*/ 470044 w 4932780"/>
              <a:gd name="connsiteY1" fmla="*/ 521397 h 856161"/>
              <a:gd name="connsiteX2" fmla="*/ 1344945 w 4932780"/>
              <a:gd name="connsiteY2" fmla="*/ 28489 h 856161"/>
              <a:gd name="connsiteX3" fmla="*/ 1690727 w 4932780"/>
              <a:gd name="connsiteY3" fmla="*/ 47069 h 856161"/>
              <a:gd name="connsiteX4" fmla="*/ 3057025 w 4932780"/>
              <a:gd name="connsiteY4" fmla="*/ 716609 h 856161"/>
              <a:gd name="connsiteX5" fmla="*/ 4932780 w 4932780"/>
              <a:gd name="connsiteY5" fmla="*/ 856161 h 856161"/>
              <a:gd name="connsiteX0" fmla="*/ 0 w 5042061"/>
              <a:gd name="connsiteY0" fmla="*/ 807348 h 809667"/>
              <a:gd name="connsiteX1" fmla="*/ 470044 w 5042061"/>
              <a:gd name="connsiteY1" fmla="*/ 521397 h 809667"/>
              <a:gd name="connsiteX2" fmla="*/ 1344945 w 5042061"/>
              <a:gd name="connsiteY2" fmla="*/ 28489 h 809667"/>
              <a:gd name="connsiteX3" fmla="*/ 1690727 w 5042061"/>
              <a:gd name="connsiteY3" fmla="*/ 47069 h 809667"/>
              <a:gd name="connsiteX4" fmla="*/ 3057025 w 5042061"/>
              <a:gd name="connsiteY4" fmla="*/ 716609 h 809667"/>
              <a:gd name="connsiteX5" fmla="*/ 5042061 w 5042061"/>
              <a:gd name="connsiteY5" fmla="*/ 809667 h 809667"/>
              <a:gd name="connsiteX0" fmla="*/ 0 w 5042061"/>
              <a:gd name="connsiteY0" fmla="*/ 807348 h 809667"/>
              <a:gd name="connsiteX1" fmla="*/ 470044 w 5042061"/>
              <a:gd name="connsiteY1" fmla="*/ 521397 h 809667"/>
              <a:gd name="connsiteX2" fmla="*/ 1344945 w 5042061"/>
              <a:gd name="connsiteY2" fmla="*/ 28489 h 809667"/>
              <a:gd name="connsiteX3" fmla="*/ 1690727 w 5042061"/>
              <a:gd name="connsiteY3" fmla="*/ 47069 h 809667"/>
              <a:gd name="connsiteX4" fmla="*/ 3057025 w 5042061"/>
              <a:gd name="connsiteY4" fmla="*/ 716609 h 809667"/>
              <a:gd name="connsiteX5" fmla="*/ 5042061 w 5042061"/>
              <a:gd name="connsiteY5" fmla="*/ 809667 h 809667"/>
              <a:gd name="connsiteX0" fmla="*/ 0 w 4954635"/>
              <a:gd name="connsiteY0" fmla="*/ 807348 h 807348"/>
              <a:gd name="connsiteX1" fmla="*/ 470044 w 4954635"/>
              <a:gd name="connsiteY1" fmla="*/ 521397 h 807348"/>
              <a:gd name="connsiteX2" fmla="*/ 1344945 w 4954635"/>
              <a:gd name="connsiteY2" fmla="*/ 28489 h 807348"/>
              <a:gd name="connsiteX3" fmla="*/ 1690727 w 4954635"/>
              <a:gd name="connsiteY3" fmla="*/ 47069 h 807348"/>
              <a:gd name="connsiteX4" fmla="*/ 3057025 w 4954635"/>
              <a:gd name="connsiteY4" fmla="*/ 716609 h 807348"/>
              <a:gd name="connsiteX5" fmla="*/ 4954635 w 4954635"/>
              <a:gd name="connsiteY5" fmla="*/ 747674 h 807348"/>
              <a:gd name="connsiteX0" fmla="*/ 0 w 4954635"/>
              <a:gd name="connsiteY0" fmla="*/ 807348 h 807348"/>
              <a:gd name="connsiteX1" fmla="*/ 470044 w 4954635"/>
              <a:gd name="connsiteY1" fmla="*/ 521397 h 807348"/>
              <a:gd name="connsiteX2" fmla="*/ 1344945 w 4954635"/>
              <a:gd name="connsiteY2" fmla="*/ 28489 h 807348"/>
              <a:gd name="connsiteX3" fmla="*/ 1690727 w 4954635"/>
              <a:gd name="connsiteY3" fmla="*/ 47069 h 807348"/>
              <a:gd name="connsiteX4" fmla="*/ 3057025 w 4954635"/>
              <a:gd name="connsiteY4" fmla="*/ 716609 h 807348"/>
              <a:gd name="connsiteX5" fmla="*/ 4954635 w 4954635"/>
              <a:gd name="connsiteY5" fmla="*/ 747674 h 807348"/>
              <a:gd name="connsiteX0" fmla="*/ 0 w 4954635"/>
              <a:gd name="connsiteY0" fmla="*/ 807348 h 807348"/>
              <a:gd name="connsiteX1" fmla="*/ 470044 w 4954635"/>
              <a:gd name="connsiteY1" fmla="*/ 521397 h 807348"/>
              <a:gd name="connsiteX2" fmla="*/ 1344945 w 4954635"/>
              <a:gd name="connsiteY2" fmla="*/ 28489 h 807348"/>
              <a:gd name="connsiteX3" fmla="*/ 1690727 w 4954635"/>
              <a:gd name="connsiteY3" fmla="*/ 47069 h 807348"/>
              <a:gd name="connsiteX4" fmla="*/ 2991456 w 4954635"/>
              <a:gd name="connsiteY4" fmla="*/ 732107 h 807348"/>
              <a:gd name="connsiteX5" fmla="*/ 4954635 w 4954635"/>
              <a:gd name="connsiteY5" fmla="*/ 747674 h 807348"/>
              <a:gd name="connsiteX0" fmla="*/ 0 w 4954635"/>
              <a:gd name="connsiteY0" fmla="*/ 783008 h 783008"/>
              <a:gd name="connsiteX1" fmla="*/ 470044 w 4954635"/>
              <a:gd name="connsiteY1" fmla="*/ 497057 h 783008"/>
              <a:gd name="connsiteX2" fmla="*/ 1235664 w 4954635"/>
              <a:gd name="connsiteY2" fmla="*/ 35145 h 783008"/>
              <a:gd name="connsiteX3" fmla="*/ 1690727 w 4954635"/>
              <a:gd name="connsiteY3" fmla="*/ 22729 h 783008"/>
              <a:gd name="connsiteX4" fmla="*/ 2991456 w 4954635"/>
              <a:gd name="connsiteY4" fmla="*/ 707767 h 783008"/>
              <a:gd name="connsiteX5" fmla="*/ 4954635 w 4954635"/>
              <a:gd name="connsiteY5" fmla="*/ 723334 h 783008"/>
              <a:gd name="connsiteX0" fmla="*/ 0 w 4954635"/>
              <a:gd name="connsiteY0" fmla="*/ 785303 h 785303"/>
              <a:gd name="connsiteX1" fmla="*/ 426332 w 4954635"/>
              <a:gd name="connsiteY1" fmla="*/ 530348 h 785303"/>
              <a:gd name="connsiteX2" fmla="*/ 1235664 w 4954635"/>
              <a:gd name="connsiteY2" fmla="*/ 37440 h 785303"/>
              <a:gd name="connsiteX3" fmla="*/ 1690727 w 4954635"/>
              <a:gd name="connsiteY3" fmla="*/ 25024 h 785303"/>
              <a:gd name="connsiteX4" fmla="*/ 2991456 w 4954635"/>
              <a:gd name="connsiteY4" fmla="*/ 710062 h 785303"/>
              <a:gd name="connsiteX5" fmla="*/ 4954635 w 4954635"/>
              <a:gd name="connsiteY5" fmla="*/ 725629 h 785303"/>
              <a:gd name="connsiteX0" fmla="*/ 0 w 4954635"/>
              <a:gd name="connsiteY0" fmla="*/ 785303 h 785303"/>
              <a:gd name="connsiteX1" fmla="*/ 426332 w 4954635"/>
              <a:gd name="connsiteY1" fmla="*/ 530348 h 785303"/>
              <a:gd name="connsiteX2" fmla="*/ 1235664 w 4954635"/>
              <a:gd name="connsiteY2" fmla="*/ 37440 h 785303"/>
              <a:gd name="connsiteX3" fmla="*/ 1690727 w 4954635"/>
              <a:gd name="connsiteY3" fmla="*/ 25024 h 785303"/>
              <a:gd name="connsiteX4" fmla="*/ 2991456 w 4954635"/>
              <a:gd name="connsiteY4" fmla="*/ 710062 h 785303"/>
              <a:gd name="connsiteX5" fmla="*/ 4954635 w 4954635"/>
              <a:gd name="connsiteY5" fmla="*/ 725629 h 785303"/>
              <a:gd name="connsiteX0" fmla="*/ 0 w 4954635"/>
              <a:gd name="connsiteY0" fmla="*/ 785303 h 785303"/>
              <a:gd name="connsiteX1" fmla="*/ 426332 w 4954635"/>
              <a:gd name="connsiteY1" fmla="*/ 530348 h 785303"/>
              <a:gd name="connsiteX2" fmla="*/ 1235664 w 4954635"/>
              <a:gd name="connsiteY2" fmla="*/ 37440 h 785303"/>
              <a:gd name="connsiteX3" fmla="*/ 1690727 w 4954635"/>
              <a:gd name="connsiteY3" fmla="*/ 25024 h 785303"/>
              <a:gd name="connsiteX4" fmla="*/ 2947743 w 4954635"/>
              <a:gd name="connsiteY4" fmla="*/ 617072 h 785303"/>
              <a:gd name="connsiteX5" fmla="*/ 4954635 w 4954635"/>
              <a:gd name="connsiteY5" fmla="*/ 725629 h 785303"/>
              <a:gd name="connsiteX0" fmla="*/ 0 w 4954635"/>
              <a:gd name="connsiteY0" fmla="*/ 764907 h 764907"/>
              <a:gd name="connsiteX1" fmla="*/ 426332 w 4954635"/>
              <a:gd name="connsiteY1" fmla="*/ 509952 h 764907"/>
              <a:gd name="connsiteX2" fmla="*/ 1323089 w 4954635"/>
              <a:gd name="connsiteY2" fmla="*/ 48041 h 764907"/>
              <a:gd name="connsiteX3" fmla="*/ 1690727 w 4954635"/>
              <a:gd name="connsiteY3" fmla="*/ 4628 h 764907"/>
              <a:gd name="connsiteX4" fmla="*/ 2947743 w 4954635"/>
              <a:gd name="connsiteY4" fmla="*/ 596676 h 764907"/>
              <a:gd name="connsiteX5" fmla="*/ 4954635 w 4954635"/>
              <a:gd name="connsiteY5" fmla="*/ 705233 h 764907"/>
              <a:gd name="connsiteX0" fmla="*/ 0 w 4954635"/>
              <a:gd name="connsiteY0" fmla="*/ 757808 h 757808"/>
              <a:gd name="connsiteX1" fmla="*/ 426332 w 4954635"/>
              <a:gd name="connsiteY1" fmla="*/ 502853 h 757808"/>
              <a:gd name="connsiteX2" fmla="*/ 1323089 w 4954635"/>
              <a:gd name="connsiteY2" fmla="*/ 40942 h 757808"/>
              <a:gd name="connsiteX3" fmla="*/ 1690727 w 4954635"/>
              <a:gd name="connsiteY3" fmla="*/ 13027 h 757808"/>
              <a:gd name="connsiteX4" fmla="*/ 2947743 w 4954635"/>
              <a:gd name="connsiteY4" fmla="*/ 589577 h 757808"/>
              <a:gd name="connsiteX5" fmla="*/ 4954635 w 4954635"/>
              <a:gd name="connsiteY5" fmla="*/ 698134 h 757808"/>
              <a:gd name="connsiteX0" fmla="*/ 0 w 4954635"/>
              <a:gd name="connsiteY0" fmla="*/ 757808 h 757808"/>
              <a:gd name="connsiteX1" fmla="*/ 426332 w 4954635"/>
              <a:gd name="connsiteY1" fmla="*/ 502853 h 757808"/>
              <a:gd name="connsiteX2" fmla="*/ 1323089 w 4954635"/>
              <a:gd name="connsiteY2" fmla="*/ 40942 h 757808"/>
              <a:gd name="connsiteX3" fmla="*/ 1690727 w 4954635"/>
              <a:gd name="connsiteY3" fmla="*/ 13027 h 757808"/>
              <a:gd name="connsiteX4" fmla="*/ 3013312 w 4954635"/>
              <a:gd name="connsiteY4" fmla="*/ 651571 h 757808"/>
              <a:gd name="connsiteX5" fmla="*/ 4954635 w 4954635"/>
              <a:gd name="connsiteY5" fmla="*/ 698134 h 757808"/>
              <a:gd name="connsiteX0" fmla="*/ 0 w 4757928"/>
              <a:gd name="connsiteY0" fmla="*/ 757808 h 757808"/>
              <a:gd name="connsiteX1" fmla="*/ 426332 w 4757928"/>
              <a:gd name="connsiteY1" fmla="*/ 502853 h 757808"/>
              <a:gd name="connsiteX2" fmla="*/ 1323089 w 4757928"/>
              <a:gd name="connsiteY2" fmla="*/ 40942 h 757808"/>
              <a:gd name="connsiteX3" fmla="*/ 1690727 w 4757928"/>
              <a:gd name="connsiteY3" fmla="*/ 13027 h 757808"/>
              <a:gd name="connsiteX4" fmla="*/ 3013312 w 4757928"/>
              <a:gd name="connsiteY4" fmla="*/ 651571 h 757808"/>
              <a:gd name="connsiteX5" fmla="*/ 4757928 w 4757928"/>
              <a:gd name="connsiteY5" fmla="*/ 698134 h 757808"/>
              <a:gd name="connsiteX0" fmla="*/ 0 w 4757928"/>
              <a:gd name="connsiteY0" fmla="*/ 757808 h 829831"/>
              <a:gd name="connsiteX1" fmla="*/ 426332 w 4757928"/>
              <a:gd name="connsiteY1" fmla="*/ 502853 h 829831"/>
              <a:gd name="connsiteX2" fmla="*/ 1323089 w 4757928"/>
              <a:gd name="connsiteY2" fmla="*/ 40942 h 829831"/>
              <a:gd name="connsiteX3" fmla="*/ 1690727 w 4757928"/>
              <a:gd name="connsiteY3" fmla="*/ 13027 h 829831"/>
              <a:gd name="connsiteX4" fmla="*/ 3199649 w 4757928"/>
              <a:gd name="connsiteY4" fmla="*/ 782395 h 829831"/>
              <a:gd name="connsiteX5" fmla="*/ 4757928 w 4757928"/>
              <a:gd name="connsiteY5" fmla="*/ 698134 h 829831"/>
              <a:gd name="connsiteX0" fmla="*/ 0 w 4859566"/>
              <a:gd name="connsiteY0" fmla="*/ 757808 h 851687"/>
              <a:gd name="connsiteX1" fmla="*/ 426332 w 4859566"/>
              <a:gd name="connsiteY1" fmla="*/ 502853 h 851687"/>
              <a:gd name="connsiteX2" fmla="*/ 1323089 w 4859566"/>
              <a:gd name="connsiteY2" fmla="*/ 40942 h 851687"/>
              <a:gd name="connsiteX3" fmla="*/ 1690727 w 4859566"/>
              <a:gd name="connsiteY3" fmla="*/ 13027 h 851687"/>
              <a:gd name="connsiteX4" fmla="*/ 3199649 w 4859566"/>
              <a:gd name="connsiteY4" fmla="*/ 782395 h 851687"/>
              <a:gd name="connsiteX5" fmla="*/ 4859566 w 4859566"/>
              <a:gd name="connsiteY5" fmla="*/ 793279 h 851687"/>
              <a:gd name="connsiteX0" fmla="*/ 0 w 4791807"/>
              <a:gd name="connsiteY0" fmla="*/ 757808 h 860399"/>
              <a:gd name="connsiteX1" fmla="*/ 426332 w 4791807"/>
              <a:gd name="connsiteY1" fmla="*/ 502853 h 860399"/>
              <a:gd name="connsiteX2" fmla="*/ 1323089 w 4791807"/>
              <a:gd name="connsiteY2" fmla="*/ 40942 h 860399"/>
              <a:gd name="connsiteX3" fmla="*/ 1690727 w 4791807"/>
              <a:gd name="connsiteY3" fmla="*/ 13027 h 860399"/>
              <a:gd name="connsiteX4" fmla="*/ 3199649 w 4791807"/>
              <a:gd name="connsiteY4" fmla="*/ 782395 h 860399"/>
              <a:gd name="connsiteX5" fmla="*/ 4791807 w 4791807"/>
              <a:gd name="connsiteY5" fmla="*/ 817065 h 860399"/>
              <a:gd name="connsiteX0" fmla="*/ 1150814 w 4367225"/>
              <a:gd name="connsiteY0" fmla="*/ 1721145 h 1721145"/>
              <a:gd name="connsiteX1" fmla="*/ 1750 w 4367225"/>
              <a:gd name="connsiteY1" fmla="*/ 502853 h 1721145"/>
              <a:gd name="connsiteX2" fmla="*/ 898507 w 4367225"/>
              <a:gd name="connsiteY2" fmla="*/ 40942 h 1721145"/>
              <a:gd name="connsiteX3" fmla="*/ 1266145 w 4367225"/>
              <a:gd name="connsiteY3" fmla="*/ 13027 h 1721145"/>
              <a:gd name="connsiteX4" fmla="*/ 2775067 w 4367225"/>
              <a:gd name="connsiteY4" fmla="*/ 782395 h 1721145"/>
              <a:gd name="connsiteX5" fmla="*/ 4367225 w 4367225"/>
              <a:gd name="connsiteY5" fmla="*/ 817065 h 1721145"/>
              <a:gd name="connsiteX0" fmla="*/ 1150814 w 4367225"/>
              <a:gd name="connsiteY0" fmla="*/ 1721145 h 1722812"/>
              <a:gd name="connsiteX1" fmla="*/ 1750 w 4367225"/>
              <a:gd name="connsiteY1" fmla="*/ 502853 h 1722812"/>
              <a:gd name="connsiteX2" fmla="*/ 898507 w 4367225"/>
              <a:gd name="connsiteY2" fmla="*/ 40942 h 1722812"/>
              <a:gd name="connsiteX3" fmla="*/ 1266145 w 4367225"/>
              <a:gd name="connsiteY3" fmla="*/ 13027 h 1722812"/>
              <a:gd name="connsiteX4" fmla="*/ 2775067 w 4367225"/>
              <a:gd name="connsiteY4" fmla="*/ 782395 h 1722812"/>
              <a:gd name="connsiteX5" fmla="*/ 4367225 w 4367225"/>
              <a:gd name="connsiteY5" fmla="*/ 817065 h 1722812"/>
              <a:gd name="connsiteX0" fmla="*/ 1963095 w 5179506"/>
              <a:gd name="connsiteY0" fmla="*/ 1740276 h 1742515"/>
              <a:gd name="connsiteX1" fmla="*/ 923 w 5179506"/>
              <a:gd name="connsiteY1" fmla="*/ 783631 h 1742515"/>
              <a:gd name="connsiteX2" fmla="*/ 1710788 w 5179506"/>
              <a:gd name="connsiteY2" fmla="*/ 60073 h 1742515"/>
              <a:gd name="connsiteX3" fmla="*/ 2078426 w 5179506"/>
              <a:gd name="connsiteY3" fmla="*/ 32158 h 1742515"/>
              <a:gd name="connsiteX4" fmla="*/ 3587348 w 5179506"/>
              <a:gd name="connsiteY4" fmla="*/ 801526 h 1742515"/>
              <a:gd name="connsiteX5" fmla="*/ 5179506 w 5179506"/>
              <a:gd name="connsiteY5" fmla="*/ 836196 h 1742515"/>
              <a:gd name="connsiteX0" fmla="*/ 1793800 w 5010211"/>
              <a:gd name="connsiteY0" fmla="*/ 1749903 h 1752606"/>
              <a:gd name="connsiteX1" fmla="*/ 1025 w 5010211"/>
              <a:gd name="connsiteY1" fmla="*/ 924081 h 1752606"/>
              <a:gd name="connsiteX2" fmla="*/ 1541493 w 5010211"/>
              <a:gd name="connsiteY2" fmla="*/ 69700 h 1752606"/>
              <a:gd name="connsiteX3" fmla="*/ 1909131 w 5010211"/>
              <a:gd name="connsiteY3" fmla="*/ 41785 h 1752606"/>
              <a:gd name="connsiteX4" fmla="*/ 3418053 w 5010211"/>
              <a:gd name="connsiteY4" fmla="*/ 811153 h 1752606"/>
              <a:gd name="connsiteX5" fmla="*/ 5010211 w 5010211"/>
              <a:gd name="connsiteY5" fmla="*/ 845823 h 1752606"/>
              <a:gd name="connsiteX0" fmla="*/ 1792877 w 5009288"/>
              <a:gd name="connsiteY0" fmla="*/ 1734022 h 1736708"/>
              <a:gd name="connsiteX1" fmla="*/ 102 w 5009288"/>
              <a:gd name="connsiteY1" fmla="*/ 908200 h 1736708"/>
              <a:gd name="connsiteX2" fmla="*/ 1709968 w 5009288"/>
              <a:gd name="connsiteY2" fmla="*/ 77605 h 1736708"/>
              <a:gd name="connsiteX3" fmla="*/ 1908208 w 5009288"/>
              <a:gd name="connsiteY3" fmla="*/ 25904 h 1736708"/>
              <a:gd name="connsiteX4" fmla="*/ 3417130 w 5009288"/>
              <a:gd name="connsiteY4" fmla="*/ 795272 h 1736708"/>
              <a:gd name="connsiteX5" fmla="*/ 5009288 w 5009288"/>
              <a:gd name="connsiteY5" fmla="*/ 829942 h 1736708"/>
              <a:gd name="connsiteX0" fmla="*/ 1792879 w 5009290"/>
              <a:gd name="connsiteY0" fmla="*/ 1724366 h 1727052"/>
              <a:gd name="connsiteX1" fmla="*/ 104 w 5009290"/>
              <a:gd name="connsiteY1" fmla="*/ 898544 h 1727052"/>
              <a:gd name="connsiteX2" fmla="*/ 1709970 w 5009290"/>
              <a:gd name="connsiteY2" fmla="*/ 67949 h 1727052"/>
              <a:gd name="connsiteX3" fmla="*/ 2145366 w 5009290"/>
              <a:gd name="connsiteY3" fmla="*/ 40034 h 1727052"/>
              <a:gd name="connsiteX4" fmla="*/ 3417132 w 5009290"/>
              <a:gd name="connsiteY4" fmla="*/ 785616 h 1727052"/>
              <a:gd name="connsiteX5" fmla="*/ 5009290 w 5009290"/>
              <a:gd name="connsiteY5" fmla="*/ 820286 h 1727052"/>
              <a:gd name="connsiteX0" fmla="*/ 1792879 w 5009290"/>
              <a:gd name="connsiteY0" fmla="*/ 1724366 h 1727052"/>
              <a:gd name="connsiteX1" fmla="*/ 104 w 5009290"/>
              <a:gd name="connsiteY1" fmla="*/ 898544 h 1727052"/>
              <a:gd name="connsiteX2" fmla="*/ 1709970 w 5009290"/>
              <a:gd name="connsiteY2" fmla="*/ 67949 h 1727052"/>
              <a:gd name="connsiteX3" fmla="*/ 2145366 w 5009290"/>
              <a:gd name="connsiteY3" fmla="*/ 40034 h 1727052"/>
              <a:gd name="connsiteX4" fmla="*/ 3417132 w 5009290"/>
              <a:gd name="connsiteY4" fmla="*/ 785616 h 1727052"/>
              <a:gd name="connsiteX5" fmla="*/ 5009290 w 5009290"/>
              <a:gd name="connsiteY5" fmla="*/ 820286 h 1727052"/>
              <a:gd name="connsiteX0" fmla="*/ 1792890 w 5009301"/>
              <a:gd name="connsiteY0" fmla="*/ 1703417 h 1706103"/>
              <a:gd name="connsiteX1" fmla="*/ 115 w 5009301"/>
              <a:gd name="connsiteY1" fmla="*/ 877595 h 1706103"/>
              <a:gd name="connsiteX2" fmla="*/ 1709981 w 5009301"/>
              <a:gd name="connsiteY2" fmla="*/ 47000 h 1706103"/>
              <a:gd name="connsiteX3" fmla="*/ 2145377 w 5009301"/>
              <a:gd name="connsiteY3" fmla="*/ 19085 h 1706103"/>
              <a:gd name="connsiteX4" fmla="*/ 3417143 w 5009301"/>
              <a:gd name="connsiteY4" fmla="*/ 764667 h 1706103"/>
              <a:gd name="connsiteX5" fmla="*/ 5009301 w 5009301"/>
              <a:gd name="connsiteY5" fmla="*/ 799337 h 1706103"/>
              <a:gd name="connsiteX0" fmla="*/ 1792890 w 5009301"/>
              <a:gd name="connsiteY0" fmla="*/ 1703417 h 1706103"/>
              <a:gd name="connsiteX1" fmla="*/ 115 w 5009301"/>
              <a:gd name="connsiteY1" fmla="*/ 877595 h 1706103"/>
              <a:gd name="connsiteX2" fmla="*/ 1709981 w 5009301"/>
              <a:gd name="connsiteY2" fmla="*/ 47000 h 1706103"/>
              <a:gd name="connsiteX3" fmla="*/ 2145377 w 5009301"/>
              <a:gd name="connsiteY3" fmla="*/ 19085 h 1706103"/>
              <a:gd name="connsiteX4" fmla="*/ 4026974 w 5009301"/>
              <a:gd name="connsiteY4" fmla="*/ 776560 h 1706103"/>
              <a:gd name="connsiteX5" fmla="*/ 5009301 w 5009301"/>
              <a:gd name="connsiteY5" fmla="*/ 799337 h 1706103"/>
              <a:gd name="connsiteX0" fmla="*/ 1792890 w 5009301"/>
              <a:gd name="connsiteY0" fmla="*/ 1703417 h 1706103"/>
              <a:gd name="connsiteX1" fmla="*/ 115 w 5009301"/>
              <a:gd name="connsiteY1" fmla="*/ 877595 h 1706103"/>
              <a:gd name="connsiteX2" fmla="*/ 1709981 w 5009301"/>
              <a:gd name="connsiteY2" fmla="*/ 47000 h 1706103"/>
              <a:gd name="connsiteX3" fmla="*/ 2145377 w 5009301"/>
              <a:gd name="connsiteY3" fmla="*/ 19085 h 1706103"/>
              <a:gd name="connsiteX4" fmla="*/ 4043913 w 5009301"/>
              <a:gd name="connsiteY4" fmla="*/ 740881 h 1706103"/>
              <a:gd name="connsiteX5" fmla="*/ 5009301 w 5009301"/>
              <a:gd name="connsiteY5" fmla="*/ 799337 h 1706103"/>
              <a:gd name="connsiteX0" fmla="*/ 1792890 w 5009301"/>
              <a:gd name="connsiteY0" fmla="*/ 1703417 h 1706103"/>
              <a:gd name="connsiteX1" fmla="*/ 115 w 5009301"/>
              <a:gd name="connsiteY1" fmla="*/ 877595 h 1706103"/>
              <a:gd name="connsiteX2" fmla="*/ 1709981 w 5009301"/>
              <a:gd name="connsiteY2" fmla="*/ 47000 h 1706103"/>
              <a:gd name="connsiteX3" fmla="*/ 2145377 w 5009301"/>
              <a:gd name="connsiteY3" fmla="*/ 19085 h 1706103"/>
              <a:gd name="connsiteX4" fmla="*/ 4043913 w 5009301"/>
              <a:gd name="connsiteY4" fmla="*/ 740881 h 1706103"/>
              <a:gd name="connsiteX5" fmla="*/ 5009301 w 5009301"/>
              <a:gd name="connsiteY5" fmla="*/ 799337 h 1706103"/>
              <a:gd name="connsiteX0" fmla="*/ 1792890 w 5009301"/>
              <a:gd name="connsiteY0" fmla="*/ 1703417 h 1706103"/>
              <a:gd name="connsiteX1" fmla="*/ 115 w 5009301"/>
              <a:gd name="connsiteY1" fmla="*/ 877595 h 1706103"/>
              <a:gd name="connsiteX2" fmla="*/ 1709981 w 5009301"/>
              <a:gd name="connsiteY2" fmla="*/ 47000 h 1706103"/>
              <a:gd name="connsiteX3" fmla="*/ 2145377 w 5009301"/>
              <a:gd name="connsiteY3" fmla="*/ 19085 h 1706103"/>
              <a:gd name="connsiteX4" fmla="*/ 4043913 w 5009301"/>
              <a:gd name="connsiteY4" fmla="*/ 740881 h 1706103"/>
              <a:gd name="connsiteX5" fmla="*/ 5009301 w 5009301"/>
              <a:gd name="connsiteY5" fmla="*/ 799337 h 1706103"/>
              <a:gd name="connsiteX0" fmla="*/ 1792890 w 4975422"/>
              <a:gd name="connsiteY0" fmla="*/ 1703417 h 1706103"/>
              <a:gd name="connsiteX1" fmla="*/ 115 w 4975422"/>
              <a:gd name="connsiteY1" fmla="*/ 877595 h 1706103"/>
              <a:gd name="connsiteX2" fmla="*/ 1709981 w 4975422"/>
              <a:gd name="connsiteY2" fmla="*/ 47000 h 1706103"/>
              <a:gd name="connsiteX3" fmla="*/ 2145377 w 4975422"/>
              <a:gd name="connsiteY3" fmla="*/ 19085 h 1706103"/>
              <a:gd name="connsiteX4" fmla="*/ 4043913 w 4975422"/>
              <a:gd name="connsiteY4" fmla="*/ 740881 h 1706103"/>
              <a:gd name="connsiteX5" fmla="*/ 4975422 w 4975422"/>
              <a:gd name="connsiteY5" fmla="*/ 751765 h 1706103"/>
              <a:gd name="connsiteX0" fmla="*/ 1792890 w 4975422"/>
              <a:gd name="connsiteY0" fmla="*/ 1703417 h 1706103"/>
              <a:gd name="connsiteX1" fmla="*/ 115 w 4975422"/>
              <a:gd name="connsiteY1" fmla="*/ 877595 h 1706103"/>
              <a:gd name="connsiteX2" fmla="*/ 1709981 w 4975422"/>
              <a:gd name="connsiteY2" fmla="*/ 47000 h 1706103"/>
              <a:gd name="connsiteX3" fmla="*/ 2145377 w 4975422"/>
              <a:gd name="connsiteY3" fmla="*/ 19085 h 1706103"/>
              <a:gd name="connsiteX4" fmla="*/ 4043913 w 4975422"/>
              <a:gd name="connsiteY4" fmla="*/ 740881 h 1706103"/>
              <a:gd name="connsiteX5" fmla="*/ 4975422 w 4975422"/>
              <a:gd name="connsiteY5" fmla="*/ 751765 h 1706103"/>
              <a:gd name="connsiteX0" fmla="*/ 1792890 w 4975422"/>
              <a:gd name="connsiteY0" fmla="*/ 1703417 h 1706103"/>
              <a:gd name="connsiteX1" fmla="*/ 115 w 4975422"/>
              <a:gd name="connsiteY1" fmla="*/ 877595 h 1706103"/>
              <a:gd name="connsiteX2" fmla="*/ 1709981 w 4975422"/>
              <a:gd name="connsiteY2" fmla="*/ 47000 h 1706103"/>
              <a:gd name="connsiteX3" fmla="*/ 2145377 w 4975422"/>
              <a:gd name="connsiteY3" fmla="*/ 19085 h 1706103"/>
              <a:gd name="connsiteX4" fmla="*/ 4094732 w 4975422"/>
              <a:gd name="connsiteY4" fmla="*/ 740881 h 1706103"/>
              <a:gd name="connsiteX5" fmla="*/ 4975422 w 4975422"/>
              <a:gd name="connsiteY5" fmla="*/ 751765 h 1706103"/>
              <a:gd name="connsiteX0" fmla="*/ 1792890 w 4975422"/>
              <a:gd name="connsiteY0" fmla="*/ 1703417 h 1706103"/>
              <a:gd name="connsiteX1" fmla="*/ 115 w 4975422"/>
              <a:gd name="connsiteY1" fmla="*/ 877595 h 1706103"/>
              <a:gd name="connsiteX2" fmla="*/ 1709981 w 4975422"/>
              <a:gd name="connsiteY2" fmla="*/ 47000 h 1706103"/>
              <a:gd name="connsiteX3" fmla="*/ 2145377 w 4975422"/>
              <a:gd name="connsiteY3" fmla="*/ 19085 h 1706103"/>
              <a:gd name="connsiteX4" fmla="*/ 4094732 w 4975422"/>
              <a:gd name="connsiteY4" fmla="*/ 740881 h 1706103"/>
              <a:gd name="connsiteX5" fmla="*/ 4975422 w 4975422"/>
              <a:gd name="connsiteY5" fmla="*/ 751765 h 1706103"/>
              <a:gd name="connsiteX0" fmla="*/ 1792890 w 4975422"/>
              <a:gd name="connsiteY0" fmla="*/ 1703417 h 1706103"/>
              <a:gd name="connsiteX1" fmla="*/ 115 w 4975422"/>
              <a:gd name="connsiteY1" fmla="*/ 877595 h 1706103"/>
              <a:gd name="connsiteX2" fmla="*/ 1709981 w 4975422"/>
              <a:gd name="connsiteY2" fmla="*/ 47000 h 1706103"/>
              <a:gd name="connsiteX3" fmla="*/ 2145377 w 4975422"/>
              <a:gd name="connsiteY3" fmla="*/ 19085 h 1706103"/>
              <a:gd name="connsiteX4" fmla="*/ 4094732 w 4975422"/>
              <a:gd name="connsiteY4" fmla="*/ 740881 h 1706103"/>
              <a:gd name="connsiteX5" fmla="*/ 4975422 w 4975422"/>
              <a:gd name="connsiteY5" fmla="*/ 751765 h 1706103"/>
              <a:gd name="connsiteX0" fmla="*/ 1792890 w 5009301"/>
              <a:gd name="connsiteY0" fmla="*/ 1703417 h 1706103"/>
              <a:gd name="connsiteX1" fmla="*/ 115 w 5009301"/>
              <a:gd name="connsiteY1" fmla="*/ 877595 h 1706103"/>
              <a:gd name="connsiteX2" fmla="*/ 1709981 w 5009301"/>
              <a:gd name="connsiteY2" fmla="*/ 47000 h 1706103"/>
              <a:gd name="connsiteX3" fmla="*/ 2145377 w 5009301"/>
              <a:gd name="connsiteY3" fmla="*/ 19085 h 1706103"/>
              <a:gd name="connsiteX4" fmla="*/ 4094732 w 5009301"/>
              <a:gd name="connsiteY4" fmla="*/ 740881 h 1706103"/>
              <a:gd name="connsiteX5" fmla="*/ 5009301 w 5009301"/>
              <a:gd name="connsiteY5" fmla="*/ 751765 h 1706103"/>
              <a:gd name="connsiteX0" fmla="*/ 1792890 w 5009301"/>
              <a:gd name="connsiteY0" fmla="*/ 1703417 h 1703417"/>
              <a:gd name="connsiteX1" fmla="*/ 115 w 5009301"/>
              <a:gd name="connsiteY1" fmla="*/ 877595 h 1703417"/>
              <a:gd name="connsiteX2" fmla="*/ 1709981 w 5009301"/>
              <a:gd name="connsiteY2" fmla="*/ 47000 h 1703417"/>
              <a:gd name="connsiteX3" fmla="*/ 2145377 w 5009301"/>
              <a:gd name="connsiteY3" fmla="*/ 19085 h 1703417"/>
              <a:gd name="connsiteX4" fmla="*/ 4094732 w 5009301"/>
              <a:gd name="connsiteY4" fmla="*/ 740881 h 1703417"/>
              <a:gd name="connsiteX5" fmla="*/ 5009301 w 5009301"/>
              <a:gd name="connsiteY5" fmla="*/ 751765 h 1703417"/>
              <a:gd name="connsiteX0" fmla="*/ 1980280 w 5010353"/>
              <a:gd name="connsiteY0" fmla="*/ 1643952 h 1643952"/>
              <a:gd name="connsiteX1" fmla="*/ 1167 w 5010353"/>
              <a:gd name="connsiteY1" fmla="*/ 877595 h 1643952"/>
              <a:gd name="connsiteX2" fmla="*/ 1711033 w 5010353"/>
              <a:gd name="connsiteY2" fmla="*/ 47000 h 1643952"/>
              <a:gd name="connsiteX3" fmla="*/ 2146429 w 5010353"/>
              <a:gd name="connsiteY3" fmla="*/ 19085 h 1643952"/>
              <a:gd name="connsiteX4" fmla="*/ 4095784 w 5010353"/>
              <a:gd name="connsiteY4" fmla="*/ 740881 h 1643952"/>
              <a:gd name="connsiteX5" fmla="*/ 5010353 w 5010353"/>
              <a:gd name="connsiteY5" fmla="*/ 751765 h 1643952"/>
              <a:gd name="connsiteX0" fmla="*/ 4148325 w 5071160"/>
              <a:gd name="connsiteY0" fmla="*/ 1063131 h 1063131"/>
              <a:gd name="connsiteX1" fmla="*/ 61974 w 5071160"/>
              <a:gd name="connsiteY1" fmla="*/ 877595 h 1063131"/>
              <a:gd name="connsiteX2" fmla="*/ 1771840 w 5071160"/>
              <a:gd name="connsiteY2" fmla="*/ 47000 h 1063131"/>
              <a:gd name="connsiteX3" fmla="*/ 2207236 w 5071160"/>
              <a:gd name="connsiteY3" fmla="*/ 19085 h 1063131"/>
              <a:gd name="connsiteX4" fmla="*/ 4156591 w 5071160"/>
              <a:gd name="connsiteY4" fmla="*/ 740881 h 1063131"/>
              <a:gd name="connsiteX5" fmla="*/ 5071160 w 5071160"/>
              <a:gd name="connsiteY5" fmla="*/ 751765 h 1063131"/>
              <a:gd name="connsiteX0" fmla="*/ 4148325 w 5071160"/>
              <a:gd name="connsiteY0" fmla="*/ 1063131 h 1104958"/>
              <a:gd name="connsiteX1" fmla="*/ 61974 w 5071160"/>
              <a:gd name="connsiteY1" fmla="*/ 877595 h 1104958"/>
              <a:gd name="connsiteX2" fmla="*/ 1771840 w 5071160"/>
              <a:gd name="connsiteY2" fmla="*/ 47000 h 1104958"/>
              <a:gd name="connsiteX3" fmla="*/ 2207236 w 5071160"/>
              <a:gd name="connsiteY3" fmla="*/ 19085 h 1104958"/>
              <a:gd name="connsiteX4" fmla="*/ 4156591 w 5071160"/>
              <a:gd name="connsiteY4" fmla="*/ 740881 h 1104958"/>
              <a:gd name="connsiteX5" fmla="*/ 5071160 w 5071160"/>
              <a:gd name="connsiteY5" fmla="*/ 751765 h 1104958"/>
              <a:gd name="connsiteX0" fmla="*/ 2377398 w 3300233"/>
              <a:gd name="connsiteY0" fmla="*/ 1133434 h 1648824"/>
              <a:gd name="connsiteX1" fmla="*/ 401391 w 3300233"/>
              <a:gd name="connsiteY1" fmla="*/ 1616263 h 1648824"/>
              <a:gd name="connsiteX2" fmla="*/ 913 w 3300233"/>
              <a:gd name="connsiteY2" fmla="*/ 117303 h 1648824"/>
              <a:gd name="connsiteX3" fmla="*/ 436309 w 3300233"/>
              <a:gd name="connsiteY3" fmla="*/ 89388 h 1648824"/>
              <a:gd name="connsiteX4" fmla="*/ 2385664 w 3300233"/>
              <a:gd name="connsiteY4" fmla="*/ 811184 h 1648824"/>
              <a:gd name="connsiteX5" fmla="*/ 3300233 w 3300233"/>
              <a:gd name="connsiteY5" fmla="*/ 822068 h 1648824"/>
              <a:gd name="connsiteX0" fmla="*/ 2377476 w 3300311"/>
              <a:gd name="connsiteY0" fmla="*/ 1133434 h 1624719"/>
              <a:gd name="connsiteX1" fmla="*/ 401469 w 3300311"/>
              <a:gd name="connsiteY1" fmla="*/ 1616263 h 1624719"/>
              <a:gd name="connsiteX2" fmla="*/ 991 w 3300311"/>
              <a:gd name="connsiteY2" fmla="*/ 117303 h 1624719"/>
              <a:gd name="connsiteX3" fmla="*/ 436387 w 3300311"/>
              <a:gd name="connsiteY3" fmla="*/ 89388 h 1624719"/>
              <a:gd name="connsiteX4" fmla="*/ 2385742 w 3300311"/>
              <a:gd name="connsiteY4" fmla="*/ 811184 h 1624719"/>
              <a:gd name="connsiteX5" fmla="*/ 3300311 w 3300311"/>
              <a:gd name="connsiteY5" fmla="*/ 822068 h 1624719"/>
              <a:gd name="connsiteX0" fmla="*/ 4565127 w 5487962"/>
              <a:gd name="connsiteY0" fmla="*/ 1044046 h 1527661"/>
              <a:gd name="connsiteX1" fmla="*/ 2589120 w 5487962"/>
              <a:gd name="connsiteY1" fmla="*/ 1526875 h 1527661"/>
              <a:gd name="connsiteX2" fmla="*/ 13 w 5487962"/>
              <a:gd name="connsiteY2" fmla="*/ 920050 h 1527661"/>
              <a:gd name="connsiteX3" fmla="*/ 2624038 w 5487962"/>
              <a:gd name="connsiteY3" fmla="*/ 0 h 1527661"/>
              <a:gd name="connsiteX4" fmla="*/ 4573393 w 5487962"/>
              <a:gd name="connsiteY4" fmla="*/ 721796 h 1527661"/>
              <a:gd name="connsiteX5" fmla="*/ 5487962 w 5487962"/>
              <a:gd name="connsiteY5" fmla="*/ 732680 h 1527661"/>
              <a:gd name="connsiteX0" fmla="*/ 4565134 w 5487969"/>
              <a:gd name="connsiteY0" fmla="*/ 1044046 h 1601201"/>
              <a:gd name="connsiteX1" fmla="*/ 2672698 w 5487969"/>
              <a:gd name="connsiteY1" fmla="*/ 1600535 h 1601201"/>
              <a:gd name="connsiteX2" fmla="*/ 20 w 5487969"/>
              <a:gd name="connsiteY2" fmla="*/ 920050 h 1601201"/>
              <a:gd name="connsiteX3" fmla="*/ 2624045 w 5487969"/>
              <a:gd name="connsiteY3" fmla="*/ 0 h 1601201"/>
              <a:gd name="connsiteX4" fmla="*/ 4573400 w 5487969"/>
              <a:gd name="connsiteY4" fmla="*/ 721796 h 1601201"/>
              <a:gd name="connsiteX5" fmla="*/ 5487969 w 5487969"/>
              <a:gd name="connsiteY5" fmla="*/ 732680 h 1601201"/>
              <a:gd name="connsiteX0" fmla="*/ 5142345 w 5487969"/>
              <a:gd name="connsiteY0" fmla="*/ 883984 h 1600598"/>
              <a:gd name="connsiteX1" fmla="*/ 2672698 w 5487969"/>
              <a:gd name="connsiteY1" fmla="*/ 1600535 h 1600598"/>
              <a:gd name="connsiteX2" fmla="*/ 20 w 5487969"/>
              <a:gd name="connsiteY2" fmla="*/ 920050 h 1600598"/>
              <a:gd name="connsiteX3" fmla="*/ 2624045 w 5487969"/>
              <a:gd name="connsiteY3" fmla="*/ 0 h 1600598"/>
              <a:gd name="connsiteX4" fmla="*/ 4573400 w 5487969"/>
              <a:gd name="connsiteY4" fmla="*/ 721796 h 1600598"/>
              <a:gd name="connsiteX5" fmla="*/ 5487969 w 5487969"/>
              <a:gd name="connsiteY5" fmla="*/ 732680 h 1600598"/>
              <a:gd name="connsiteX0" fmla="*/ 5142345 w 5487969"/>
              <a:gd name="connsiteY0" fmla="*/ 883984 h 1600598"/>
              <a:gd name="connsiteX1" fmla="*/ 2672698 w 5487969"/>
              <a:gd name="connsiteY1" fmla="*/ 1600535 h 1600598"/>
              <a:gd name="connsiteX2" fmla="*/ 20 w 5487969"/>
              <a:gd name="connsiteY2" fmla="*/ 920050 h 1600598"/>
              <a:gd name="connsiteX3" fmla="*/ 2624045 w 5487969"/>
              <a:gd name="connsiteY3" fmla="*/ 0 h 1600598"/>
              <a:gd name="connsiteX4" fmla="*/ 4573400 w 5487969"/>
              <a:gd name="connsiteY4" fmla="*/ 721796 h 1600598"/>
              <a:gd name="connsiteX5" fmla="*/ 5487969 w 5487969"/>
              <a:gd name="connsiteY5" fmla="*/ 732680 h 1600598"/>
              <a:gd name="connsiteX0" fmla="*/ 5142345 w 5487969"/>
              <a:gd name="connsiteY0" fmla="*/ 883984 h 1600598"/>
              <a:gd name="connsiteX1" fmla="*/ 2672698 w 5487969"/>
              <a:gd name="connsiteY1" fmla="*/ 1600535 h 1600598"/>
              <a:gd name="connsiteX2" fmla="*/ 20 w 5487969"/>
              <a:gd name="connsiteY2" fmla="*/ 920050 h 1600598"/>
              <a:gd name="connsiteX3" fmla="*/ 2624045 w 5487969"/>
              <a:gd name="connsiteY3" fmla="*/ 0 h 1600598"/>
              <a:gd name="connsiteX4" fmla="*/ 4529175 w 5487969"/>
              <a:gd name="connsiteY4" fmla="*/ 603773 h 1600598"/>
              <a:gd name="connsiteX5" fmla="*/ 5487969 w 5487969"/>
              <a:gd name="connsiteY5" fmla="*/ 732680 h 1600598"/>
              <a:gd name="connsiteX0" fmla="*/ 5142345 w 5487969"/>
              <a:gd name="connsiteY0" fmla="*/ 883984 h 1600598"/>
              <a:gd name="connsiteX1" fmla="*/ 2672698 w 5487969"/>
              <a:gd name="connsiteY1" fmla="*/ 1600535 h 1600598"/>
              <a:gd name="connsiteX2" fmla="*/ 20 w 5487969"/>
              <a:gd name="connsiteY2" fmla="*/ 920050 h 1600598"/>
              <a:gd name="connsiteX3" fmla="*/ 2624045 w 5487969"/>
              <a:gd name="connsiteY3" fmla="*/ 0 h 1600598"/>
              <a:gd name="connsiteX4" fmla="*/ 4529175 w 5487969"/>
              <a:gd name="connsiteY4" fmla="*/ 603773 h 1600598"/>
              <a:gd name="connsiteX5" fmla="*/ 5487969 w 5487969"/>
              <a:gd name="connsiteY5" fmla="*/ 732680 h 1600598"/>
              <a:gd name="connsiteX0" fmla="*/ 5142345 w 5487969"/>
              <a:gd name="connsiteY0" fmla="*/ 883984 h 1600598"/>
              <a:gd name="connsiteX1" fmla="*/ 2672698 w 5487969"/>
              <a:gd name="connsiteY1" fmla="*/ 1600535 h 1600598"/>
              <a:gd name="connsiteX2" fmla="*/ 20 w 5487969"/>
              <a:gd name="connsiteY2" fmla="*/ 920050 h 1600598"/>
              <a:gd name="connsiteX3" fmla="*/ 2624045 w 5487969"/>
              <a:gd name="connsiteY3" fmla="*/ 0 h 1600598"/>
              <a:gd name="connsiteX4" fmla="*/ 4624789 w 5487969"/>
              <a:gd name="connsiteY4" fmla="*/ 531483 h 1600598"/>
              <a:gd name="connsiteX5" fmla="*/ 5487969 w 5487969"/>
              <a:gd name="connsiteY5" fmla="*/ 732680 h 1600598"/>
              <a:gd name="connsiteX0" fmla="*/ 5142345 w 5487969"/>
              <a:gd name="connsiteY0" fmla="*/ 883984 h 1600598"/>
              <a:gd name="connsiteX1" fmla="*/ 2672698 w 5487969"/>
              <a:gd name="connsiteY1" fmla="*/ 1600535 h 1600598"/>
              <a:gd name="connsiteX2" fmla="*/ 20 w 5487969"/>
              <a:gd name="connsiteY2" fmla="*/ 920050 h 1600598"/>
              <a:gd name="connsiteX3" fmla="*/ 2624045 w 5487969"/>
              <a:gd name="connsiteY3" fmla="*/ 0 h 1600598"/>
              <a:gd name="connsiteX4" fmla="*/ 4624789 w 5487969"/>
              <a:gd name="connsiteY4" fmla="*/ 531483 h 1600598"/>
              <a:gd name="connsiteX5" fmla="*/ 5487969 w 5487969"/>
              <a:gd name="connsiteY5" fmla="*/ 732680 h 1600598"/>
              <a:gd name="connsiteX0" fmla="*/ 5142345 w 5479353"/>
              <a:gd name="connsiteY0" fmla="*/ 883984 h 1600598"/>
              <a:gd name="connsiteX1" fmla="*/ 2672698 w 5479353"/>
              <a:gd name="connsiteY1" fmla="*/ 1600535 h 1600598"/>
              <a:gd name="connsiteX2" fmla="*/ 20 w 5479353"/>
              <a:gd name="connsiteY2" fmla="*/ 920050 h 1600598"/>
              <a:gd name="connsiteX3" fmla="*/ 2624045 w 5479353"/>
              <a:gd name="connsiteY3" fmla="*/ 0 h 1600598"/>
              <a:gd name="connsiteX4" fmla="*/ 4624789 w 5479353"/>
              <a:gd name="connsiteY4" fmla="*/ 531483 h 1600598"/>
              <a:gd name="connsiteX5" fmla="*/ 5479353 w 5479353"/>
              <a:gd name="connsiteY5" fmla="*/ 784368 h 1600598"/>
              <a:gd name="connsiteX0" fmla="*/ 5142345 w 5479353"/>
              <a:gd name="connsiteY0" fmla="*/ 883984 h 1600598"/>
              <a:gd name="connsiteX1" fmla="*/ 2672698 w 5479353"/>
              <a:gd name="connsiteY1" fmla="*/ 1600535 h 1600598"/>
              <a:gd name="connsiteX2" fmla="*/ 20 w 5479353"/>
              <a:gd name="connsiteY2" fmla="*/ 920050 h 1600598"/>
              <a:gd name="connsiteX3" fmla="*/ 2624045 w 5479353"/>
              <a:gd name="connsiteY3" fmla="*/ 0 h 1600598"/>
              <a:gd name="connsiteX4" fmla="*/ 4624789 w 5479353"/>
              <a:gd name="connsiteY4" fmla="*/ 531483 h 1600598"/>
              <a:gd name="connsiteX5" fmla="*/ 5479353 w 5479353"/>
              <a:gd name="connsiteY5" fmla="*/ 784368 h 1600598"/>
              <a:gd name="connsiteX0" fmla="*/ 5142345 w 5479353"/>
              <a:gd name="connsiteY0" fmla="*/ 883984 h 1600598"/>
              <a:gd name="connsiteX1" fmla="*/ 2672698 w 5479353"/>
              <a:gd name="connsiteY1" fmla="*/ 1600535 h 1600598"/>
              <a:gd name="connsiteX2" fmla="*/ 20 w 5479353"/>
              <a:gd name="connsiteY2" fmla="*/ 920050 h 1600598"/>
              <a:gd name="connsiteX3" fmla="*/ 2624045 w 5479353"/>
              <a:gd name="connsiteY3" fmla="*/ 0 h 1600598"/>
              <a:gd name="connsiteX4" fmla="*/ 4663098 w 5479353"/>
              <a:gd name="connsiteY4" fmla="*/ 478605 h 1600598"/>
              <a:gd name="connsiteX5" fmla="*/ 5479353 w 5479353"/>
              <a:gd name="connsiteY5" fmla="*/ 784368 h 1600598"/>
              <a:gd name="connsiteX0" fmla="*/ 5142345 w 5479353"/>
              <a:gd name="connsiteY0" fmla="*/ 883984 h 1600598"/>
              <a:gd name="connsiteX1" fmla="*/ 2672698 w 5479353"/>
              <a:gd name="connsiteY1" fmla="*/ 1600535 h 1600598"/>
              <a:gd name="connsiteX2" fmla="*/ 20 w 5479353"/>
              <a:gd name="connsiteY2" fmla="*/ 920050 h 1600598"/>
              <a:gd name="connsiteX3" fmla="*/ 2624045 w 5479353"/>
              <a:gd name="connsiteY3" fmla="*/ 0 h 1600598"/>
              <a:gd name="connsiteX4" fmla="*/ 4663098 w 5479353"/>
              <a:gd name="connsiteY4" fmla="*/ 478605 h 1600598"/>
              <a:gd name="connsiteX5" fmla="*/ 5479353 w 5479353"/>
              <a:gd name="connsiteY5" fmla="*/ 784368 h 1600598"/>
              <a:gd name="connsiteX0" fmla="*/ 5142602 w 5479610"/>
              <a:gd name="connsiteY0" fmla="*/ 955858 h 1672474"/>
              <a:gd name="connsiteX1" fmla="*/ 2672955 w 5479610"/>
              <a:gd name="connsiteY1" fmla="*/ 1672409 h 1672474"/>
              <a:gd name="connsiteX2" fmla="*/ 277 w 5479610"/>
              <a:gd name="connsiteY2" fmla="*/ 991924 h 1672474"/>
              <a:gd name="connsiteX3" fmla="*/ 2496195 w 5479610"/>
              <a:gd name="connsiteY3" fmla="*/ 0 h 1672474"/>
              <a:gd name="connsiteX4" fmla="*/ 4663355 w 5479610"/>
              <a:gd name="connsiteY4" fmla="*/ 550479 h 1672474"/>
              <a:gd name="connsiteX5" fmla="*/ 5479610 w 5479610"/>
              <a:gd name="connsiteY5" fmla="*/ 856242 h 1672474"/>
              <a:gd name="connsiteX0" fmla="*/ 5142328 w 5479336"/>
              <a:gd name="connsiteY0" fmla="*/ 996469 h 1713086"/>
              <a:gd name="connsiteX1" fmla="*/ 2672681 w 5479336"/>
              <a:gd name="connsiteY1" fmla="*/ 1713020 h 1713086"/>
              <a:gd name="connsiteX2" fmla="*/ 3 w 5479336"/>
              <a:gd name="connsiteY2" fmla="*/ 1032535 h 1713086"/>
              <a:gd name="connsiteX3" fmla="*/ 2655069 w 5479336"/>
              <a:gd name="connsiteY3" fmla="*/ 0 h 1713086"/>
              <a:gd name="connsiteX4" fmla="*/ 4663081 w 5479336"/>
              <a:gd name="connsiteY4" fmla="*/ 591090 h 1713086"/>
              <a:gd name="connsiteX5" fmla="*/ 5479336 w 5479336"/>
              <a:gd name="connsiteY5" fmla="*/ 896853 h 1713086"/>
              <a:gd name="connsiteX0" fmla="*/ 5143013 w 5480021"/>
              <a:gd name="connsiteY0" fmla="*/ 1020407 h 1737025"/>
              <a:gd name="connsiteX1" fmla="*/ 2673366 w 5480021"/>
              <a:gd name="connsiteY1" fmla="*/ 1736958 h 1737025"/>
              <a:gd name="connsiteX2" fmla="*/ 688 w 5480021"/>
              <a:gd name="connsiteY2" fmla="*/ 1056473 h 1737025"/>
              <a:gd name="connsiteX3" fmla="*/ 2399227 w 5480021"/>
              <a:gd name="connsiteY3" fmla="*/ 0 h 1737025"/>
              <a:gd name="connsiteX4" fmla="*/ 4663766 w 5480021"/>
              <a:gd name="connsiteY4" fmla="*/ 615028 h 1737025"/>
              <a:gd name="connsiteX5" fmla="*/ 5480021 w 5480021"/>
              <a:gd name="connsiteY5" fmla="*/ 920791 h 1737025"/>
              <a:gd name="connsiteX0" fmla="*/ 5143013 w 5480021"/>
              <a:gd name="connsiteY0" fmla="*/ 1020407 h 1737025"/>
              <a:gd name="connsiteX1" fmla="*/ 2673366 w 5480021"/>
              <a:gd name="connsiteY1" fmla="*/ 1736958 h 1737025"/>
              <a:gd name="connsiteX2" fmla="*/ 688 w 5480021"/>
              <a:gd name="connsiteY2" fmla="*/ 1056473 h 1737025"/>
              <a:gd name="connsiteX3" fmla="*/ 2399227 w 5480021"/>
              <a:gd name="connsiteY3" fmla="*/ 0 h 1737025"/>
              <a:gd name="connsiteX4" fmla="*/ 4663766 w 5480021"/>
              <a:gd name="connsiteY4" fmla="*/ 615028 h 1737025"/>
              <a:gd name="connsiteX5" fmla="*/ 5480021 w 5480021"/>
              <a:gd name="connsiteY5" fmla="*/ 920791 h 1737025"/>
              <a:gd name="connsiteX0" fmla="*/ 5143013 w 5480021"/>
              <a:gd name="connsiteY0" fmla="*/ 1020407 h 1737025"/>
              <a:gd name="connsiteX1" fmla="*/ 2673366 w 5480021"/>
              <a:gd name="connsiteY1" fmla="*/ 1736958 h 1737025"/>
              <a:gd name="connsiteX2" fmla="*/ 688 w 5480021"/>
              <a:gd name="connsiteY2" fmla="*/ 1056473 h 1737025"/>
              <a:gd name="connsiteX3" fmla="*/ 2399227 w 5480021"/>
              <a:gd name="connsiteY3" fmla="*/ 0 h 1737025"/>
              <a:gd name="connsiteX4" fmla="*/ 4663766 w 5480021"/>
              <a:gd name="connsiteY4" fmla="*/ 615028 h 1737025"/>
              <a:gd name="connsiteX5" fmla="*/ 5480021 w 5480021"/>
              <a:gd name="connsiteY5" fmla="*/ 920791 h 1737025"/>
              <a:gd name="connsiteX0" fmla="*/ 5142566 w 5479574"/>
              <a:gd name="connsiteY0" fmla="*/ 981999 h 1698616"/>
              <a:gd name="connsiteX1" fmla="*/ 2672919 w 5479574"/>
              <a:gd name="connsiteY1" fmla="*/ 1698550 h 1698616"/>
              <a:gd name="connsiteX2" fmla="*/ 241 w 5479574"/>
              <a:gd name="connsiteY2" fmla="*/ 1018065 h 1698616"/>
              <a:gd name="connsiteX3" fmla="*/ 2507890 w 5479574"/>
              <a:gd name="connsiteY3" fmla="*/ 0 h 1698616"/>
              <a:gd name="connsiteX4" fmla="*/ 4663319 w 5479574"/>
              <a:gd name="connsiteY4" fmla="*/ 576620 h 1698616"/>
              <a:gd name="connsiteX5" fmla="*/ 5479574 w 5479574"/>
              <a:gd name="connsiteY5" fmla="*/ 882383 h 1698616"/>
              <a:gd name="connsiteX0" fmla="*/ 5142573 w 5479581"/>
              <a:gd name="connsiteY0" fmla="*/ 981999 h 1698616"/>
              <a:gd name="connsiteX1" fmla="*/ 2672926 w 5479581"/>
              <a:gd name="connsiteY1" fmla="*/ 1698550 h 1698616"/>
              <a:gd name="connsiteX2" fmla="*/ 248 w 5479581"/>
              <a:gd name="connsiteY2" fmla="*/ 1018065 h 1698616"/>
              <a:gd name="connsiteX3" fmla="*/ 2507897 w 5479581"/>
              <a:gd name="connsiteY3" fmla="*/ 0 h 1698616"/>
              <a:gd name="connsiteX4" fmla="*/ 4663326 w 5479581"/>
              <a:gd name="connsiteY4" fmla="*/ 576620 h 1698616"/>
              <a:gd name="connsiteX5" fmla="*/ 5479581 w 5479581"/>
              <a:gd name="connsiteY5" fmla="*/ 882383 h 1698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79581" h="1698616">
                <a:moveTo>
                  <a:pt x="5142573" y="981999"/>
                </a:moveTo>
                <a:cubicBezTo>
                  <a:pt x="4684816" y="1127305"/>
                  <a:pt x="3529980" y="1692539"/>
                  <a:pt x="2672926" y="1698550"/>
                </a:cubicBezTo>
                <a:cubicBezTo>
                  <a:pt x="1815872" y="1704561"/>
                  <a:pt x="27753" y="1301157"/>
                  <a:pt x="248" y="1018065"/>
                </a:cubicBezTo>
                <a:cubicBezTo>
                  <a:pt x="-27257" y="734973"/>
                  <a:pt x="2232678" y="25959"/>
                  <a:pt x="2507897" y="0"/>
                </a:cubicBezTo>
                <a:cubicBezTo>
                  <a:pt x="2808654" y="31780"/>
                  <a:pt x="4256931" y="403026"/>
                  <a:pt x="4663326" y="576620"/>
                </a:cubicBezTo>
                <a:cubicBezTo>
                  <a:pt x="5188386" y="754873"/>
                  <a:pt x="4980841" y="624759"/>
                  <a:pt x="5479581" y="882383"/>
                </a:cubicBezTo>
              </a:path>
            </a:pathLst>
          </a:custGeom>
          <a:noFill/>
          <a:ln w="28575" cap="flat" cmpd="sng" algn="ctr">
            <a:solidFill>
              <a:srgbClr val="C00000"/>
            </a:solidFill>
            <a:prstDash val="dash"/>
            <a:round/>
            <a:headEnd type="none" w="med" len="med"/>
            <a:tailEnd type="stealth" w="lg" len="lg"/>
          </a:ln>
          <a:effectLst/>
        </p:spPr>
        <p:txBody>
          <a:bodyPr vert="horz" wrap="square" lIns="91440" tIns="45720" rIns="91440" bIns="45720" numCol="1" rtlCol="0" anchor="t" anchorCtr="0" compatLnSpc="1">
            <a:prstTxWarp prst="textNoShape">
              <a:avLst/>
            </a:prstTxWarp>
          </a:bodyPr>
          <a:lstStyle/>
          <a:p>
            <a:pPr algn="l" rtl="0"/>
            <a:endParaRPr lang="zh-CN" altLang="en-US">
              <a:latin typeface="+mn-ea"/>
              <a:ea typeface="+mn-ea"/>
            </a:endParaRPr>
          </a:p>
        </p:txBody>
      </p:sp>
    </p:spTree>
    <p:extLst>
      <p:ext uri="{BB962C8B-B14F-4D97-AF65-F5344CB8AC3E}">
        <p14:creationId xmlns:p14="http://schemas.microsoft.com/office/powerpoint/2010/main" val="1131075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Line 12"/>
          <p:cNvSpPr>
            <a:spLocks noChangeShapeType="1"/>
          </p:cNvSpPr>
          <p:nvPr/>
        </p:nvSpPr>
        <p:spPr bwMode="auto">
          <a:xfrm flipV="1">
            <a:off x="3683000" y="3762375"/>
            <a:ext cx="0" cy="1295400"/>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4276" name="Line 8"/>
          <p:cNvSpPr>
            <a:spLocks noChangeShapeType="1"/>
          </p:cNvSpPr>
          <p:nvPr/>
        </p:nvSpPr>
        <p:spPr bwMode="auto">
          <a:xfrm flipV="1">
            <a:off x="3894139" y="5286375"/>
            <a:ext cx="688975" cy="0"/>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4277" name="Line 4"/>
          <p:cNvSpPr>
            <a:spLocks noChangeShapeType="1"/>
          </p:cNvSpPr>
          <p:nvPr/>
        </p:nvSpPr>
        <p:spPr bwMode="auto">
          <a:xfrm flipV="1">
            <a:off x="3987800" y="2205038"/>
            <a:ext cx="2108200" cy="1123950"/>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4278" name="Line 5"/>
          <p:cNvSpPr>
            <a:spLocks noChangeShapeType="1"/>
          </p:cNvSpPr>
          <p:nvPr/>
        </p:nvSpPr>
        <p:spPr bwMode="auto">
          <a:xfrm>
            <a:off x="6557963" y="2159001"/>
            <a:ext cx="2462212" cy="1247775"/>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4279" name="Line 6"/>
          <p:cNvSpPr>
            <a:spLocks noChangeShapeType="1"/>
          </p:cNvSpPr>
          <p:nvPr/>
        </p:nvSpPr>
        <p:spPr bwMode="auto">
          <a:xfrm flipV="1">
            <a:off x="6565901" y="3698876"/>
            <a:ext cx="2454275" cy="1363663"/>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4280" name="Line 7"/>
          <p:cNvSpPr>
            <a:spLocks noChangeShapeType="1"/>
          </p:cNvSpPr>
          <p:nvPr/>
        </p:nvSpPr>
        <p:spPr bwMode="auto">
          <a:xfrm>
            <a:off x="3894139" y="3616325"/>
            <a:ext cx="2160587" cy="1358900"/>
          </a:xfrm>
          <a:prstGeom prst="line">
            <a:avLst/>
          </a:prstGeom>
          <a:noFill/>
          <a:ln w="28575">
            <a:solidFill>
              <a:schemeClr val="tx1"/>
            </a:solidFill>
            <a:round/>
            <a:headEnd/>
            <a:tailEnd/>
          </a:ln>
        </p:spPr>
        <p:txBody>
          <a:bodyPr/>
          <a:lstStyle/>
          <a:p>
            <a:pPr algn="l" rtl="0"/>
            <a:endParaRPr lang="en-US" altLang="zh-CN" dirty="0">
              <a:latin typeface="+mn-lt"/>
            </a:endParaRPr>
          </a:p>
        </p:txBody>
      </p:sp>
      <p:pic>
        <p:nvPicPr>
          <p:cNvPr id="5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152587" y="1901772"/>
            <a:ext cx="628652" cy="514351"/>
          </a:xfrm>
          <a:prstGeom prst="rect">
            <a:avLst/>
          </a:prstGeom>
          <a:noFill/>
        </p:spPr>
      </p:pic>
      <p:pic>
        <p:nvPicPr>
          <p:cNvPr id="5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791327" y="3346070"/>
            <a:ext cx="628652" cy="514351"/>
          </a:xfrm>
          <a:prstGeom prst="rect">
            <a:avLst/>
          </a:prstGeom>
          <a:noFill/>
        </p:spPr>
      </p:pic>
      <p:pic>
        <p:nvPicPr>
          <p:cNvPr id="5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121016" y="4852636"/>
            <a:ext cx="628652" cy="514351"/>
          </a:xfrm>
          <a:prstGeom prst="rect">
            <a:avLst/>
          </a:prstGeom>
          <a:noFill/>
        </p:spPr>
      </p:pic>
      <p:pic>
        <p:nvPicPr>
          <p:cNvPr id="5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390493" y="3254673"/>
            <a:ext cx="628652" cy="514351"/>
          </a:xfrm>
          <a:prstGeom prst="rect">
            <a:avLst/>
          </a:prstGeom>
          <a:noFill/>
        </p:spPr>
      </p:pic>
      <p:pic>
        <p:nvPicPr>
          <p:cNvPr id="5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403061" y="4936467"/>
            <a:ext cx="628652" cy="514351"/>
          </a:xfrm>
          <a:prstGeom prst="rect">
            <a:avLst/>
          </a:prstGeom>
          <a:noFill/>
        </p:spPr>
      </p:pic>
      <p:sp>
        <p:nvSpPr>
          <p:cNvPr id="54274" name="标题 3"/>
          <p:cNvSpPr>
            <a:spLocks noGrp="1"/>
          </p:cNvSpPr>
          <p:nvPr>
            <p:ph type="title"/>
          </p:nvPr>
        </p:nvSpPr>
        <p:spPr/>
        <p:txBody>
          <a:bodyPr/>
          <a:lstStyle/>
          <a:p>
            <a:pPr algn="l" rtl="0"/>
            <a:r>
              <a:rPr lang="en-US" altLang="zh-CN">
                <a:sym typeface="FrutigerNext LT Regular" pitchFamily="34" charset="0"/>
              </a:rPr>
              <a:t>Autres problèmes causés par la boucle multiprotocole</a:t>
            </a:r>
            <a:endParaRPr lang="en-US" altLang="zh-CN" dirty="0">
              <a:sym typeface="FrutigerNext LT Regular" pitchFamily="34" charset="0"/>
            </a:endParaRPr>
          </a:p>
        </p:txBody>
      </p:sp>
      <p:sp>
        <p:nvSpPr>
          <p:cNvPr id="54281" name="Text Box 9"/>
          <p:cNvSpPr txBox="1">
            <a:spLocks noChangeArrowheads="1"/>
          </p:cNvSpPr>
          <p:nvPr/>
        </p:nvSpPr>
        <p:spPr bwMode="auto">
          <a:xfrm>
            <a:off x="4043364" y="5394326"/>
            <a:ext cx="1481137" cy="303213"/>
          </a:xfrm>
          <a:prstGeom prst="rect">
            <a:avLst/>
          </a:prstGeom>
          <a:noFill/>
          <a:ln w="9525" algn="ctr">
            <a:noFill/>
            <a:miter lim="800000"/>
            <a:headEnd/>
            <a:tailEnd/>
          </a:ln>
        </p:spPr>
        <p:txBody>
          <a:bodyPr wrap="none" lIns="78355" tIns="39177" rIns="78355" bIns="39177" anchor="ctr"/>
          <a:lstStyle/>
          <a:p>
            <a:pPr algn="ctr" defTabSz="784225" rtl="0" eaLnBrk="0" hangingPunct="0">
              <a:buSzPct val="100000"/>
            </a:pPr>
            <a:r>
              <a:rPr lang="en-US" altLang="zh-CN" sz="1400" b="1" dirty="0">
                <a:solidFill>
                  <a:srgbClr val="000000"/>
                </a:solidFill>
                <a:latin typeface="+mn-lt"/>
                <a:ea typeface="MS PGothic" pitchFamily="34" charset="-128"/>
                <a:sym typeface="FrutigerNext LT Regular" pitchFamily="34" charset="0"/>
              </a:rPr>
              <a:t>Lo0:2.2.2.2/32</a:t>
            </a:r>
          </a:p>
        </p:txBody>
      </p:sp>
      <p:sp>
        <p:nvSpPr>
          <p:cNvPr id="54282" name="WordArt 10"/>
          <p:cNvSpPr>
            <a:spLocks noChangeArrowheads="1" noChangeShapeType="1" noTextEdit="1"/>
          </p:cNvSpPr>
          <p:nvPr/>
        </p:nvSpPr>
        <p:spPr bwMode="auto">
          <a:xfrm>
            <a:off x="6816725" y="3576638"/>
            <a:ext cx="533400" cy="284162"/>
          </a:xfrm>
          <a:prstGeom prst="rect">
            <a:avLst/>
          </a:prstGeom>
        </p:spPr>
        <p:txBody>
          <a:bodyPr wrap="none" fromWordArt="1">
            <a:prstTxWarp prst="textPlain">
              <a:avLst>
                <a:gd name="adj" fmla="val 50000"/>
              </a:avLst>
            </a:prstTxWarp>
          </a:bodyPr>
          <a:lstStyle/>
          <a:p>
            <a:pPr algn="ctr" rtl="0"/>
            <a:r>
              <a:rPr lang="en-US" altLang="zh-CN" sz="3600" kern="10" dirty="0">
                <a:ln w="9525">
                  <a:solidFill>
                    <a:srgbClr val="000000"/>
                  </a:solidFill>
                  <a:round/>
                  <a:headEnd/>
                  <a:tailEnd/>
                </a:ln>
                <a:solidFill>
                  <a:srgbClr val="FFFFFF"/>
                </a:solidFill>
                <a:latin typeface="+mn-lt"/>
                <a:ea typeface="宋体"/>
              </a:rPr>
              <a:t>L'EI</a:t>
            </a:r>
          </a:p>
        </p:txBody>
      </p:sp>
      <p:sp>
        <p:nvSpPr>
          <p:cNvPr id="54283" name="WordArt 11"/>
          <p:cNvSpPr>
            <a:spLocks noChangeArrowheads="1" noChangeShapeType="1" noTextEdit="1"/>
          </p:cNvSpPr>
          <p:nvPr/>
        </p:nvSpPr>
        <p:spPr bwMode="auto">
          <a:xfrm>
            <a:off x="5448300" y="3576638"/>
            <a:ext cx="546100" cy="284162"/>
          </a:xfrm>
          <a:prstGeom prst="rect">
            <a:avLst/>
          </a:prstGeom>
        </p:spPr>
        <p:txBody>
          <a:bodyPr wrap="none" fromWordArt="1">
            <a:prstTxWarp prst="textPlain">
              <a:avLst>
                <a:gd name="adj" fmla="val 50000"/>
              </a:avLst>
            </a:prstTxWarp>
          </a:bodyPr>
          <a:lstStyle/>
          <a:p>
            <a:pPr algn="ctr" rtl="0"/>
            <a:r>
              <a:rPr lang="en-US" altLang="zh-CN" sz="3600" kern="10" dirty="0">
                <a:ln w="9525">
                  <a:solidFill>
                    <a:srgbClr val="000000"/>
                  </a:solidFill>
                  <a:round/>
                  <a:headEnd/>
                  <a:tailEnd/>
                </a:ln>
                <a:solidFill>
                  <a:srgbClr val="FFFFFF"/>
                </a:solidFill>
                <a:latin typeface="+mn-lt"/>
                <a:ea typeface="宋体"/>
              </a:rPr>
              <a:t>OSPF</a:t>
            </a:r>
          </a:p>
        </p:txBody>
      </p:sp>
      <p:sp>
        <p:nvSpPr>
          <p:cNvPr id="54284" name="AutoShape 20"/>
          <p:cNvSpPr>
            <a:spLocks noChangeArrowheads="1"/>
          </p:cNvSpPr>
          <p:nvPr/>
        </p:nvSpPr>
        <p:spPr bwMode="auto">
          <a:xfrm rot="10800000" flipH="1">
            <a:off x="6959601" y="2852739"/>
            <a:ext cx="792163" cy="1595437"/>
          </a:xfrm>
          <a:prstGeom prst="curvedLeftArrow">
            <a:avLst>
              <a:gd name="adj1" fmla="val 40271"/>
              <a:gd name="adj2" fmla="val 80552"/>
              <a:gd name="adj3" fmla="val 33333"/>
            </a:avLst>
          </a:prstGeom>
          <a:noFill/>
          <a:ln w="9525">
            <a:solidFill>
              <a:schemeClr val="tx1"/>
            </a:solidFill>
            <a:miter lim="800000"/>
            <a:headEnd/>
            <a:tailEnd/>
          </a:ln>
        </p:spPr>
        <p:txBody>
          <a:bodyPr wrap="none" anchor="ctr"/>
          <a:lstStyle/>
          <a:p>
            <a:pPr algn="l" rtl="0" fontAlgn="t"/>
            <a:endParaRPr lang="en-US" altLang="zh-CN" dirty="0">
              <a:latin typeface="+mn-lt"/>
            </a:endParaRPr>
          </a:p>
        </p:txBody>
      </p:sp>
      <p:sp>
        <p:nvSpPr>
          <p:cNvPr id="54285" name="Rectangle 22"/>
          <p:cNvSpPr>
            <a:spLocks noChangeArrowheads="1"/>
          </p:cNvSpPr>
          <p:nvPr/>
        </p:nvSpPr>
        <p:spPr bwMode="auto">
          <a:xfrm>
            <a:off x="2670175" y="5208588"/>
            <a:ext cx="590707" cy="339180"/>
          </a:xfrm>
          <a:prstGeom prst="rect">
            <a:avLst/>
          </a:prstGeom>
          <a:noFill/>
          <a:ln w="9525">
            <a:noFill/>
            <a:miter lim="800000"/>
            <a:headEnd/>
            <a:tailEnd/>
          </a:ln>
        </p:spPr>
        <p:txBody>
          <a:bodyPr wrap="none" lIns="92059" tIns="46030" rIns="92059" bIns="46030">
            <a:spAutoFit/>
          </a:bodyPr>
          <a:lstStyle/>
          <a:p>
            <a:pPr algn="l" rtl="0" eaLnBrk="0" fontAlgn="t" hangingPunct="0">
              <a:buSzPct val="100000"/>
            </a:pPr>
            <a:r>
              <a:rPr lang="en-US" altLang="zh-CN" sz="1600" b="1" dirty="0">
                <a:solidFill>
                  <a:srgbClr val="000000"/>
                </a:solidFill>
                <a:latin typeface="+mn-lt"/>
                <a:sym typeface="FrutigerNext LT Regular" pitchFamily="34" charset="0"/>
              </a:rPr>
              <a:t>RTA</a:t>
            </a:r>
          </a:p>
        </p:txBody>
      </p:sp>
      <p:sp>
        <p:nvSpPr>
          <p:cNvPr id="54286" name="Rectangle 23"/>
          <p:cNvSpPr>
            <a:spLocks noChangeArrowheads="1"/>
          </p:cNvSpPr>
          <p:nvPr/>
        </p:nvSpPr>
        <p:spPr bwMode="auto">
          <a:xfrm>
            <a:off x="2782888" y="3319463"/>
            <a:ext cx="593400" cy="339180"/>
          </a:xfrm>
          <a:prstGeom prst="rect">
            <a:avLst/>
          </a:prstGeom>
          <a:noFill/>
          <a:ln w="9525">
            <a:noFill/>
            <a:miter lim="800000"/>
            <a:headEnd/>
            <a:tailEnd/>
          </a:ln>
        </p:spPr>
        <p:txBody>
          <a:bodyPr wrap="none" lIns="92059" tIns="46030" rIns="92059" bIns="46030">
            <a:spAutoFit/>
          </a:bodyPr>
          <a:lstStyle/>
          <a:p>
            <a:pPr algn="l" rtl="0" eaLnBrk="0" fontAlgn="t" hangingPunct="0">
              <a:buSzPct val="100000"/>
            </a:pPr>
            <a:r>
              <a:rPr lang="en-US" altLang="zh-CN" sz="1600" b="1" dirty="0">
                <a:solidFill>
                  <a:srgbClr val="000000"/>
                </a:solidFill>
                <a:latin typeface="+mn-lt"/>
                <a:sym typeface="FrutigerNext LT Regular" pitchFamily="34" charset="0"/>
              </a:rPr>
              <a:t>RTB</a:t>
            </a:r>
          </a:p>
        </p:txBody>
      </p:sp>
      <p:sp>
        <p:nvSpPr>
          <p:cNvPr id="54287" name="Rectangle 24"/>
          <p:cNvSpPr>
            <a:spLocks noChangeArrowheads="1"/>
          </p:cNvSpPr>
          <p:nvPr/>
        </p:nvSpPr>
        <p:spPr bwMode="auto">
          <a:xfrm>
            <a:off x="5700713" y="2384425"/>
            <a:ext cx="582178" cy="339180"/>
          </a:xfrm>
          <a:prstGeom prst="rect">
            <a:avLst/>
          </a:prstGeom>
          <a:noFill/>
          <a:ln w="9525">
            <a:noFill/>
            <a:miter lim="800000"/>
            <a:headEnd/>
            <a:tailEnd/>
          </a:ln>
        </p:spPr>
        <p:txBody>
          <a:bodyPr wrap="none" lIns="92059" tIns="46030" rIns="92059" bIns="46030">
            <a:spAutoFit/>
          </a:bodyPr>
          <a:lstStyle/>
          <a:p>
            <a:pPr algn="l" rtl="0" eaLnBrk="0" fontAlgn="t" hangingPunct="0">
              <a:buSzPct val="100000"/>
            </a:pPr>
            <a:r>
              <a:rPr lang="en-US" altLang="zh-CN" sz="1600" b="1" dirty="0">
                <a:solidFill>
                  <a:srgbClr val="000000"/>
                </a:solidFill>
                <a:latin typeface="+mn-lt"/>
                <a:sym typeface="FrutigerNext LT Regular" pitchFamily="34" charset="0"/>
              </a:rPr>
              <a:t>RTC</a:t>
            </a:r>
          </a:p>
        </p:txBody>
      </p:sp>
      <p:sp>
        <p:nvSpPr>
          <p:cNvPr id="54288" name="Rectangle 25"/>
          <p:cNvSpPr>
            <a:spLocks noChangeArrowheads="1"/>
          </p:cNvSpPr>
          <p:nvPr/>
        </p:nvSpPr>
        <p:spPr bwMode="auto">
          <a:xfrm>
            <a:off x="9480550" y="3390900"/>
            <a:ext cx="614238" cy="339180"/>
          </a:xfrm>
          <a:prstGeom prst="rect">
            <a:avLst/>
          </a:prstGeom>
          <a:noFill/>
          <a:ln w="9525">
            <a:noFill/>
            <a:miter lim="800000"/>
            <a:headEnd/>
            <a:tailEnd/>
          </a:ln>
        </p:spPr>
        <p:txBody>
          <a:bodyPr wrap="none" lIns="92059" tIns="46030" rIns="92059" bIns="46030">
            <a:spAutoFit/>
          </a:bodyPr>
          <a:lstStyle/>
          <a:p>
            <a:pPr algn="l" rtl="0" eaLnBrk="0" fontAlgn="t" hangingPunct="0">
              <a:buSzPct val="100000"/>
            </a:pPr>
            <a:r>
              <a:rPr lang="en-US" altLang="zh-CN" sz="1600" b="1" dirty="0">
                <a:solidFill>
                  <a:srgbClr val="000000"/>
                </a:solidFill>
                <a:latin typeface="+mn-lt"/>
                <a:sym typeface="FrutigerNext LT Regular" pitchFamily="34" charset="0"/>
              </a:rPr>
              <a:t>RTD</a:t>
            </a:r>
          </a:p>
        </p:txBody>
      </p:sp>
      <p:sp>
        <p:nvSpPr>
          <p:cNvPr id="54289" name="Rectangle 26"/>
          <p:cNvSpPr>
            <a:spLocks noChangeArrowheads="1"/>
          </p:cNvSpPr>
          <p:nvPr/>
        </p:nvSpPr>
        <p:spPr bwMode="auto">
          <a:xfrm>
            <a:off x="6380163" y="4375150"/>
            <a:ext cx="569354" cy="339180"/>
          </a:xfrm>
          <a:prstGeom prst="rect">
            <a:avLst/>
          </a:prstGeom>
          <a:noFill/>
          <a:ln w="9525">
            <a:noFill/>
            <a:miter lim="800000"/>
            <a:headEnd/>
            <a:tailEnd/>
          </a:ln>
        </p:spPr>
        <p:txBody>
          <a:bodyPr wrap="none" lIns="92059" tIns="46030" rIns="92059" bIns="46030">
            <a:spAutoFit/>
          </a:bodyPr>
          <a:lstStyle/>
          <a:p>
            <a:pPr algn="l" rtl="0" eaLnBrk="0" fontAlgn="t" hangingPunct="0">
              <a:buSzPct val="100000"/>
            </a:pPr>
            <a:r>
              <a:rPr lang="en-US" altLang="zh-CN" sz="1600" b="1" dirty="0">
                <a:solidFill>
                  <a:srgbClr val="000000"/>
                </a:solidFill>
                <a:latin typeface="+mn-lt"/>
                <a:sym typeface="FrutigerNext LT Regular" pitchFamily="34" charset="0"/>
              </a:rPr>
              <a:t>RTE</a:t>
            </a:r>
          </a:p>
        </p:txBody>
      </p:sp>
      <p:sp>
        <p:nvSpPr>
          <p:cNvPr id="54290" name="Line 7"/>
          <p:cNvSpPr>
            <a:spLocks noChangeShapeType="1"/>
          </p:cNvSpPr>
          <p:nvPr/>
        </p:nvSpPr>
        <p:spPr bwMode="auto">
          <a:xfrm>
            <a:off x="4583113" y="5121275"/>
            <a:ext cx="0" cy="287338"/>
          </a:xfrm>
          <a:prstGeom prst="line">
            <a:avLst/>
          </a:prstGeom>
          <a:noFill/>
          <a:ln w="28575">
            <a:solidFill>
              <a:schemeClr val="tx1"/>
            </a:solidFill>
            <a:round/>
            <a:headEnd/>
            <a:tailEnd/>
          </a:ln>
        </p:spPr>
        <p:txBody>
          <a:bodyPr/>
          <a:lstStyle/>
          <a:p>
            <a:pPr algn="l" rtl="0"/>
            <a:endParaRPr lang="en-US" altLang="zh-CN" dirty="0">
              <a:latin typeface="+mn-lt"/>
            </a:endParaRPr>
          </a:p>
        </p:txBody>
      </p:sp>
      <p:sp>
        <p:nvSpPr>
          <p:cNvPr id="54291" name="AutoShape 20"/>
          <p:cNvSpPr>
            <a:spLocks noChangeArrowheads="1"/>
          </p:cNvSpPr>
          <p:nvPr/>
        </p:nvSpPr>
        <p:spPr bwMode="auto">
          <a:xfrm flipH="1">
            <a:off x="5159376" y="2997200"/>
            <a:ext cx="720725" cy="1595438"/>
          </a:xfrm>
          <a:prstGeom prst="curvedLeftArrow">
            <a:avLst>
              <a:gd name="adj1" fmla="val 40235"/>
              <a:gd name="adj2" fmla="val 91293"/>
              <a:gd name="adj3" fmla="val 33333"/>
            </a:avLst>
          </a:prstGeom>
          <a:noFill/>
          <a:ln w="9525">
            <a:solidFill>
              <a:schemeClr val="tx1"/>
            </a:solidFill>
            <a:miter lim="800000"/>
            <a:headEnd/>
            <a:tailEnd/>
          </a:ln>
        </p:spPr>
        <p:txBody>
          <a:bodyPr wrap="none" anchor="ctr"/>
          <a:lstStyle/>
          <a:p>
            <a:pPr algn="l" rtl="0" fontAlgn="t"/>
            <a:endParaRPr lang="en-US" altLang="zh-CN" dirty="0">
              <a:latin typeface="+mn-lt"/>
            </a:endParaRPr>
          </a:p>
        </p:txBody>
      </p:sp>
      <p:grpSp>
        <p:nvGrpSpPr>
          <p:cNvPr id="3" name="组合 2"/>
          <p:cNvGrpSpPr>
            <a:grpSpLocks noChangeAspect="1"/>
          </p:cNvGrpSpPr>
          <p:nvPr/>
        </p:nvGrpSpPr>
        <p:grpSpPr bwMode="auto">
          <a:xfrm rot="-5400000">
            <a:off x="3423444" y="4788694"/>
            <a:ext cx="592138" cy="2089150"/>
            <a:chOff x="969990" y="3579019"/>
            <a:chExt cx="592138" cy="2089150"/>
          </a:xfrm>
        </p:grpSpPr>
        <p:sp>
          <p:nvSpPr>
            <p:cNvPr id="54324" name="AutoShape 13"/>
            <p:cNvSpPr>
              <a:spLocks noChangeArrowheads="1"/>
            </p:cNvSpPr>
            <p:nvPr/>
          </p:nvSpPr>
          <p:spPr bwMode="auto">
            <a:xfrm>
              <a:off x="969990" y="3579019"/>
              <a:ext cx="592138" cy="2089150"/>
            </a:xfrm>
            <a:prstGeom prst="upArrow">
              <a:avLst>
                <a:gd name="adj1" fmla="val 50000"/>
                <a:gd name="adj2" fmla="val 88204"/>
              </a:avLst>
            </a:prstGeom>
            <a:noFill/>
            <a:ln w="9525" algn="ctr">
              <a:solidFill>
                <a:schemeClr val="tx1"/>
              </a:solidFill>
              <a:miter lim="800000"/>
              <a:headEnd/>
              <a:tailEnd/>
            </a:ln>
          </p:spPr>
          <p:txBody>
            <a:bodyPr vert="eaVert" wrap="none" lIns="78355" tIns="39177" rIns="78355" bIns="39177" anchor="ctr"/>
            <a:lstStyle/>
            <a:p>
              <a:pPr algn="ctr" defTabSz="784225" rtl="0" eaLnBrk="0" hangingPunct="0">
                <a:buSzPct val="100000"/>
              </a:pPr>
              <a:r>
                <a:rPr lang="en-US" altLang="zh-CN" sz="1400" dirty="0">
                  <a:solidFill>
                    <a:srgbClr val="000000"/>
                  </a:solidFill>
                  <a:latin typeface="+mn-lt"/>
                  <a:ea typeface="MS PGothic" pitchFamily="34" charset="-128"/>
                  <a:sym typeface="FrutigerNext LT Regular" pitchFamily="34" charset="0"/>
                </a:rPr>
                <a:t>  coût direct d'importation 2</a:t>
              </a:r>
            </a:p>
          </p:txBody>
        </p:sp>
        <p:sp>
          <p:nvSpPr>
            <p:cNvPr id="2" name="文本框 1"/>
            <p:cNvSpPr txBox="1"/>
            <p:nvPr/>
          </p:nvSpPr>
          <p:spPr bwMode="auto">
            <a:xfrm rot="5400000">
              <a:off x="1000231" y="3723561"/>
              <a:ext cx="417356" cy="360362"/>
            </a:xfrm>
            <a:prstGeom prst="rect">
              <a:avLst/>
            </a:prstGeom>
            <a:noFill/>
            <a:ln w="9525">
              <a:noFill/>
              <a:miter lim="800000"/>
              <a:headEnd/>
              <a:tailEnd/>
            </a:ln>
          </p:spPr>
          <p:txBody>
            <a:bodyPr vert="eaVert" lIns="99980" tIns="49986" rIns="99980" bIns="49986">
              <a:spAutoFit/>
            </a:bodyPr>
            <a:lstStyle/>
            <a:p>
              <a:pPr marL="342900" indent="-342900" algn="ctr" defTabSz="1001649" rtl="0" eaLnBrk="0" hangingPunct="0">
                <a:buFont typeface="+mj-ea"/>
                <a:buAutoNum type="circleNumDbPlain"/>
                <a:defRPr/>
              </a:pPr>
              <a:r>
                <a:rPr lang="en-US" altLang="zh-CN" sz="1400" dirty="0">
                  <a:solidFill>
                    <a:srgbClr val="000000"/>
                  </a:solidFill>
                  <a:latin typeface="+mn-lt"/>
                  <a:ea typeface="+mn-ea"/>
                  <a:cs typeface="Arial" pitchFamily="34" charset="0"/>
                </a:rPr>
                <a:t> </a:t>
              </a:r>
            </a:p>
          </p:txBody>
        </p:sp>
      </p:grpSp>
      <p:grpSp>
        <p:nvGrpSpPr>
          <p:cNvPr id="4" name="组合 4"/>
          <p:cNvGrpSpPr>
            <a:grpSpLocks/>
          </p:cNvGrpSpPr>
          <p:nvPr/>
        </p:nvGrpSpPr>
        <p:grpSpPr bwMode="auto">
          <a:xfrm>
            <a:off x="2789239" y="3578226"/>
            <a:ext cx="536575" cy="1687513"/>
            <a:chOff x="2339752" y="3840262"/>
            <a:chExt cx="535211" cy="1688510"/>
          </a:xfrm>
        </p:grpSpPr>
        <p:sp>
          <p:nvSpPr>
            <p:cNvPr id="54322" name="AutoShape 14"/>
            <p:cNvSpPr>
              <a:spLocks noChangeArrowheads="1"/>
            </p:cNvSpPr>
            <p:nvPr/>
          </p:nvSpPr>
          <p:spPr bwMode="auto">
            <a:xfrm>
              <a:off x="2339752" y="3840262"/>
              <a:ext cx="535211" cy="1688510"/>
            </a:xfrm>
            <a:prstGeom prst="upArrow">
              <a:avLst>
                <a:gd name="adj1" fmla="val 50000"/>
                <a:gd name="adj2" fmla="val 70999"/>
              </a:avLst>
            </a:prstGeom>
            <a:noFill/>
            <a:ln w="9525" algn="ctr">
              <a:solidFill>
                <a:schemeClr val="tx1"/>
              </a:solidFill>
              <a:miter lim="800000"/>
              <a:headEnd/>
              <a:tailEnd/>
            </a:ln>
          </p:spPr>
          <p:txBody>
            <a:bodyPr vert="eaVert" wrap="none" lIns="78355" tIns="39177" rIns="78355" bIns="39177" anchor="ctr"/>
            <a:lstStyle/>
            <a:p>
              <a:pPr algn="ctr" defTabSz="784225" rtl="0" eaLnBrk="0" hangingPunct="0">
                <a:buSzPct val="100000"/>
              </a:pPr>
              <a:r>
                <a:rPr lang="en-US" altLang="zh-CN" sz="1400" dirty="0">
                  <a:solidFill>
                    <a:srgbClr val="000000"/>
                  </a:solidFill>
                  <a:latin typeface="+mn-lt"/>
                  <a:ea typeface="MS PGothic" pitchFamily="34" charset="-128"/>
                  <a:sym typeface="FrutigerNext LT Regular" pitchFamily="34" charset="0"/>
                </a:rPr>
                <a:t>  Dest. ASE 150</a:t>
              </a:r>
              <a:r>
                <a:rPr lang="en-US" altLang="zh-CN" sz="1400" b="1" dirty="0">
                  <a:solidFill>
                    <a:srgbClr val="C00000"/>
                  </a:solidFill>
                  <a:latin typeface="+mn-lt"/>
                  <a:ea typeface="MS PGothic" pitchFamily="34" charset="-128"/>
                  <a:sym typeface="FrutigerNext LT Regular" pitchFamily="34" charset="0"/>
                </a:rPr>
                <a:t>2</a:t>
              </a:r>
            </a:p>
          </p:txBody>
        </p:sp>
        <p:sp>
          <p:nvSpPr>
            <p:cNvPr id="113" name="文本框 112"/>
            <p:cNvSpPr txBox="1"/>
            <p:nvPr/>
          </p:nvSpPr>
          <p:spPr bwMode="auto">
            <a:xfrm rot="5400000">
              <a:off x="2340760" y="3900393"/>
              <a:ext cx="417603" cy="359447"/>
            </a:xfrm>
            <a:prstGeom prst="rect">
              <a:avLst/>
            </a:prstGeom>
            <a:noFill/>
            <a:ln w="9525">
              <a:noFill/>
              <a:miter lim="800000"/>
              <a:headEnd/>
              <a:tailEnd/>
            </a:ln>
          </p:spPr>
          <p:txBody>
            <a:bodyPr vert="eaVert" lIns="99980" tIns="49986" rIns="99980" bIns="49986">
              <a:spAutoFit/>
            </a:bodyPr>
            <a:lstStyle/>
            <a:p>
              <a:pPr marL="342900" indent="-342900" algn="ctr" defTabSz="1001649" rtl="0" eaLnBrk="0" hangingPunct="0">
                <a:buFont typeface="+mj-ea"/>
                <a:buAutoNum type="circleNumDbPlain" startAt="2"/>
                <a:defRPr/>
              </a:pPr>
              <a:r>
                <a:rPr lang="en-US" altLang="zh-CN" sz="1400" dirty="0">
                  <a:solidFill>
                    <a:srgbClr val="000000"/>
                  </a:solidFill>
                  <a:latin typeface="+mn-lt"/>
                  <a:ea typeface="+mn-ea"/>
                  <a:cs typeface="Arial" pitchFamily="34" charset="0"/>
                </a:rPr>
                <a:t> </a:t>
              </a:r>
            </a:p>
          </p:txBody>
        </p:sp>
      </p:grpSp>
      <p:grpSp>
        <p:nvGrpSpPr>
          <p:cNvPr id="5" name="组合 5"/>
          <p:cNvGrpSpPr>
            <a:grpSpLocks/>
          </p:cNvGrpSpPr>
          <p:nvPr/>
        </p:nvGrpSpPr>
        <p:grpSpPr bwMode="auto">
          <a:xfrm>
            <a:off x="4016376" y="4265613"/>
            <a:ext cx="1851025" cy="812800"/>
            <a:chOff x="2645136" y="4232858"/>
            <a:chExt cx="1851025" cy="812835"/>
          </a:xfrm>
        </p:grpSpPr>
        <p:sp>
          <p:nvSpPr>
            <p:cNvPr id="54320" name="AutoShape 15"/>
            <p:cNvSpPr>
              <a:spLocks noChangeArrowheads="1"/>
            </p:cNvSpPr>
            <p:nvPr/>
          </p:nvSpPr>
          <p:spPr bwMode="auto">
            <a:xfrm rot="1897125">
              <a:off x="2645136" y="4488481"/>
              <a:ext cx="1851025" cy="557212"/>
            </a:xfrm>
            <a:prstGeom prst="rightArrow">
              <a:avLst>
                <a:gd name="adj1" fmla="val 50000"/>
                <a:gd name="adj2" fmla="val 83049"/>
              </a:avLst>
            </a:prstGeom>
            <a:noFill/>
            <a:ln w="9525" algn="ctr">
              <a:solidFill>
                <a:schemeClr val="tx1"/>
              </a:solidFill>
              <a:miter lim="800000"/>
              <a:headEnd/>
              <a:tailEnd/>
            </a:ln>
          </p:spPr>
          <p:txBody>
            <a:bodyPr wrap="none" lIns="78355" tIns="39177" rIns="78355" bIns="39177" anchor="ctr"/>
            <a:lstStyle/>
            <a:p>
              <a:pPr algn="ctr" defTabSz="784225" rtl="0" eaLnBrk="0" hangingPunct="0">
                <a:buSzPct val="100000"/>
              </a:pPr>
              <a:r>
                <a:rPr lang="en-US" altLang="zh-CN" sz="1400" dirty="0">
                  <a:solidFill>
                    <a:srgbClr val="000000"/>
                  </a:solidFill>
                  <a:latin typeface="+mn-lt"/>
                  <a:ea typeface="MS PGothic" pitchFamily="34" charset="-128"/>
                  <a:sym typeface="FrutigerNext LT Regular" pitchFamily="34" charset="0"/>
                </a:rPr>
                <a:t>Dest. ASE 150</a:t>
              </a:r>
            </a:p>
          </p:txBody>
        </p:sp>
        <p:sp>
          <p:nvSpPr>
            <p:cNvPr id="114" name="文本框 113"/>
            <p:cNvSpPr txBox="1"/>
            <p:nvPr/>
          </p:nvSpPr>
          <p:spPr bwMode="auto">
            <a:xfrm rot="1800000">
              <a:off x="2697602" y="4232858"/>
              <a:ext cx="417356" cy="360378"/>
            </a:xfrm>
            <a:prstGeom prst="rect">
              <a:avLst/>
            </a:prstGeom>
            <a:noFill/>
            <a:ln w="9525">
              <a:noFill/>
              <a:miter lim="800000"/>
              <a:headEnd/>
              <a:tailEnd/>
            </a:ln>
          </p:spPr>
          <p:txBody>
            <a:bodyPr vert="eaVert" lIns="99980" tIns="49986" rIns="99980" bIns="49986">
              <a:spAutoFit/>
            </a:bodyPr>
            <a:lstStyle/>
            <a:p>
              <a:pPr marL="342900" indent="-342900" algn="ctr" defTabSz="1001649" rtl="0" eaLnBrk="0" hangingPunct="0">
                <a:buFont typeface="+mj-ea"/>
                <a:buAutoNum type="circleNumDbPlain" startAt="3"/>
                <a:defRPr/>
              </a:pPr>
              <a:r>
                <a:rPr lang="en-US" altLang="zh-CN" sz="1400" dirty="0">
                  <a:solidFill>
                    <a:srgbClr val="000000"/>
                  </a:solidFill>
                  <a:latin typeface="+mn-lt"/>
                  <a:ea typeface="+mn-ea"/>
                  <a:cs typeface="Arial" pitchFamily="34" charset="0"/>
                </a:rPr>
                <a:t> </a:t>
              </a:r>
            </a:p>
          </p:txBody>
        </p:sp>
      </p:grpSp>
      <p:grpSp>
        <p:nvGrpSpPr>
          <p:cNvPr id="6" name="组合 7"/>
          <p:cNvGrpSpPr>
            <a:grpSpLocks/>
          </p:cNvGrpSpPr>
          <p:nvPr/>
        </p:nvGrpSpPr>
        <p:grpSpPr bwMode="auto">
          <a:xfrm>
            <a:off x="5765800" y="5300664"/>
            <a:ext cx="1912938" cy="523875"/>
            <a:chOff x="4241800" y="5301208"/>
            <a:chExt cx="1912938" cy="523875"/>
          </a:xfrm>
        </p:grpSpPr>
        <p:sp>
          <p:nvSpPr>
            <p:cNvPr id="54318" name="AutoShape 32"/>
            <p:cNvSpPr>
              <a:spLocks noChangeArrowheads="1"/>
            </p:cNvSpPr>
            <p:nvPr/>
          </p:nvSpPr>
          <p:spPr bwMode="auto">
            <a:xfrm>
              <a:off x="4241800" y="5301208"/>
              <a:ext cx="1912938" cy="523875"/>
            </a:xfrm>
            <a:prstGeom prst="rightArrow">
              <a:avLst>
                <a:gd name="adj1" fmla="val 50000"/>
                <a:gd name="adj2" fmla="val 91288"/>
              </a:avLst>
            </a:prstGeom>
            <a:noFill/>
            <a:ln w="9525" algn="ctr">
              <a:solidFill>
                <a:schemeClr val="tx1"/>
              </a:solidFill>
              <a:miter lim="800000"/>
              <a:headEnd/>
              <a:tailEnd/>
            </a:ln>
          </p:spPr>
          <p:txBody>
            <a:bodyPr wrap="none" lIns="78355" tIns="39177" rIns="78355" bIns="39177" anchor="ctr"/>
            <a:lstStyle/>
            <a:p>
              <a:pPr algn="ctr" defTabSz="784225" rtl="0" eaLnBrk="0" hangingPunct="0">
                <a:buSzPct val="100000"/>
              </a:pPr>
              <a:r>
                <a:rPr lang="en-US" altLang="zh-CN" sz="1400" dirty="0">
                  <a:solidFill>
                    <a:srgbClr val="000000"/>
                  </a:solidFill>
                  <a:latin typeface="+mn-lt"/>
                  <a:ea typeface="MS PGothic" pitchFamily="34" charset="-128"/>
                  <a:sym typeface="FrutigerNext LT Regular" pitchFamily="34" charset="0"/>
                </a:rPr>
                <a:t>importer ospf</a:t>
              </a:r>
            </a:p>
          </p:txBody>
        </p:sp>
        <p:sp>
          <p:nvSpPr>
            <p:cNvPr id="115" name="文本框 114"/>
            <p:cNvSpPr txBox="1"/>
            <p:nvPr/>
          </p:nvSpPr>
          <p:spPr bwMode="auto">
            <a:xfrm>
              <a:off x="4283232" y="5428208"/>
              <a:ext cx="417356" cy="360362"/>
            </a:xfrm>
            <a:prstGeom prst="rect">
              <a:avLst/>
            </a:prstGeom>
            <a:noFill/>
            <a:ln w="9525">
              <a:noFill/>
              <a:miter lim="800000"/>
              <a:headEnd/>
              <a:tailEnd/>
            </a:ln>
          </p:spPr>
          <p:txBody>
            <a:bodyPr vert="eaVert" lIns="99980" tIns="49986" rIns="99980" bIns="49986">
              <a:spAutoFit/>
            </a:bodyPr>
            <a:lstStyle/>
            <a:p>
              <a:pPr marL="342900" indent="-342900" algn="ctr" defTabSz="1001649" rtl="0" eaLnBrk="0" hangingPunct="0">
                <a:buFont typeface="+mj-ea"/>
                <a:buAutoNum type="circleNumDbPlain" startAt="4"/>
                <a:defRPr/>
              </a:pPr>
              <a:r>
                <a:rPr lang="en-US" altLang="zh-CN" sz="1400" dirty="0">
                  <a:solidFill>
                    <a:srgbClr val="000000"/>
                  </a:solidFill>
                  <a:latin typeface="+mn-lt"/>
                  <a:ea typeface="+mn-ea"/>
                  <a:cs typeface="Arial" pitchFamily="34" charset="0"/>
                </a:rPr>
                <a:t> </a:t>
              </a:r>
            </a:p>
          </p:txBody>
        </p:sp>
      </p:grpSp>
      <p:grpSp>
        <p:nvGrpSpPr>
          <p:cNvPr id="7" name="组合 6"/>
          <p:cNvGrpSpPr>
            <a:grpSpLocks/>
          </p:cNvGrpSpPr>
          <p:nvPr/>
        </p:nvGrpSpPr>
        <p:grpSpPr bwMode="auto">
          <a:xfrm>
            <a:off x="7119939" y="4402138"/>
            <a:ext cx="1912937" cy="963612"/>
            <a:chOff x="5595888" y="4402488"/>
            <a:chExt cx="1912938" cy="962485"/>
          </a:xfrm>
        </p:grpSpPr>
        <p:sp>
          <p:nvSpPr>
            <p:cNvPr id="54316" name="AutoShape 17"/>
            <p:cNvSpPr>
              <a:spLocks noChangeArrowheads="1"/>
            </p:cNvSpPr>
            <p:nvPr/>
          </p:nvSpPr>
          <p:spPr bwMode="auto">
            <a:xfrm rot="-1861382">
              <a:off x="5595888" y="4402488"/>
              <a:ext cx="1912938" cy="592138"/>
            </a:xfrm>
            <a:prstGeom prst="rightArrow">
              <a:avLst>
                <a:gd name="adj1" fmla="val 50000"/>
                <a:gd name="adj2" fmla="val 80764"/>
              </a:avLst>
            </a:prstGeom>
            <a:noFill/>
            <a:ln w="9525" algn="ctr">
              <a:solidFill>
                <a:schemeClr val="tx1"/>
              </a:solidFill>
              <a:miter lim="800000"/>
              <a:headEnd/>
              <a:tailEnd/>
            </a:ln>
          </p:spPr>
          <p:txBody>
            <a:bodyPr wrap="none" lIns="78355" tIns="39177" rIns="78355" bIns="39177" anchor="ctr"/>
            <a:lstStyle/>
            <a:p>
              <a:pPr algn="ctr" defTabSz="784225" rtl="0" eaLnBrk="0" hangingPunct="0">
                <a:buSzPct val="100000"/>
              </a:pPr>
              <a:r>
                <a:rPr lang="en-US" altLang="zh-CN" sz="1400" dirty="0">
                  <a:solidFill>
                    <a:srgbClr val="000000"/>
                  </a:solidFill>
                  <a:latin typeface="+mn-lt"/>
                  <a:ea typeface="MS PGothic" pitchFamily="34" charset="-128"/>
                  <a:sym typeface="FrutigerNext LT Regular" pitchFamily="34" charset="0"/>
                </a:rPr>
                <a:t>Dest. ISIS 15</a:t>
              </a:r>
            </a:p>
          </p:txBody>
        </p:sp>
        <p:sp>
          <p:nvSpPr>
            <p:cNvPr id="54317" name="文本框 115"/>
            <p:cNvSpPr txBox="1">
              <a:spLocks noChangeArrowheads="1"/>
            </p:cNvSpPr>
            <p:nvPr/>
          </p:nvSpPr>
          <p:spPr bwMode="auto">
            <a:xfrm rot="19740000">
              <a:off x="5756495" y="4983734"/>
              <a:ext cx="417356" cy="381239"/>
            </a:xfrm>
            <a:prstGeom prst="rect">
              <a:avLst/>
            </a:prstGeom>
            <a:noFill/>
            <a:ln w="9525">
              <a:noFill/>
              <a:miter lim="800000"/>
              <a:headEnd/>
              <a:tailEnd/>
            </a:ln>
          </p:spPr>
          <p:txBody>
            <a:bodyPr vert="eaVert" lIns="99980" tIns="49986" rIns="99980" bIns="49986">
              <a:spAutoFit/>
            </a:bodyPr>
            <a:lstStyle/>
            <a:p>
              <a:pPr marL="342900" indent="-342900" algn="ctr" defTabSz="1000125" rtl="0" eaLnBrk="0" hangingPunct="0">
                <a:buFont typeface="黑体" pitchFamily="49" charset="-122"/>
                <a:buAutoNum type="circleNumDbPlain" startAt="5"/>
              </a:pPr>
              <a:r>
                <a:rPr lang="en-US" altLang="zh-CN" sz="1400" dirty="0">
                  <a:solidFill>
                    <a:srgbClr val="000000"/>
                  </a:solidFill>
                  <a:latin typeface="+mn-lt"/>
                  <a:cs typeface="Arial" charset="0"/>
                </a:rPr>
                <a:t> </a:t>
              </a:r>
            </a:p>
          </p:txBody>
        </p:sp>
      </p:grpSp>
      <p:grpSp>
        <p:nvGrpSpPr>
          <p:cNvPr id="8" name="组合 10"/>
          <p:cNvGrpSpPr>
            <a:grpSpLocks/>
          </p:cNvGrpSpPr>
          <p:nvPr/>
        </p:nvGrpSpPr>
        <p:grpSpPr bwMode="auto">
          <a:xfrm>
            <a:off x="7067551" y="2073276"/>
            <a:ext cx="1941513" cy="619125"/>
            <a:chOff x="5453988" y="2156148"/>
            <a:chExt cx="1941512" cy="619765"/>
          </a:xfrm>
        </p:grpSpPr>
        <p:sp>
          <p:nvSpPr>
            <p:cNvPr id="54314" name="AutoShape 18"/>
            <p:cNvSpPr>
              <a:spLocks noChangeArrowheads="1"/>
            </p:cNvSpPr>
            <p:nvPr/>
          </p:nvSpPr>
          <p:spPr bwMode="auto">
            <a:xfrm rot="-3646607">
              <a:off x="6135025" y="1515439"/>
              <a:ext cx="579437" cy="1941512"/>
            </a:xfrm>
            <a:prstGeom prst="upArrow">
              <a:avLst>
                <a:gd name="adj1" fmla="val 50000"/>
                <a:gd name="adj2" fmla="val 83767"/>
              </a:avLst>
            </a:prstGeom>
            <a:noFill/>
            <a:ln w="9525" algn="ctr">
              <a:solidFill>
                <a:schemeClr val="tx1"/>
              </a:solidFill>
              <a:miter lim="800000"/>
              <a:headEnd/>
              <a:tailEnd/>
            </a:ln>
          </p:spPr>
          <p:txBody>
            <a:bodyPr vert="eaVert" wrap="none" lIns="78355" tIns="39177" rIns="78355" bIns="39177" anchor="ctr"/>
            <a:lstStyle/>
            <a:p>
              <a:pPr algn="ctr" defTabSz="784225" rtl="0" eaLnBrk="0" hangingPunct="0">
                <a:buSzPct val="100000"/>
              </a:pPr>
              <a:r>
                <a:rPr lang="en-US" altLang="zh-CN" sz="1400" dirty="0">
                  <a:solidFill>
                    <a:srgbClr val="000000"/>
                  </a:solidFill>
                  <a:latin typeface="+mn-lt"/>
                  <a:ea typeface="MS PGothic" pitchFamily="34" charset="-128"/>
                  <a:sym typeface="FrutigerNext LT Regular" pitchFamily="34" charset="0"/>
                </a:rPr>
                <a:t>Dest. ISIS 15</a:t>
              </a:r>
            </a:p>
          </p:txBody>
        </p:sp>
        <p:sp>
          <p:nvSpPr>
            <p:cNvPr id="54315" name="文本框 116"/>
            <p:cNvSpPr txBox="1">
              <a:spLocks noChangeArrowheads="1"/>
            </p:cNvSpPr>
            <p:nvPr/>
          </p:nvSpPr>
          <p:spPr bwMode="auto">
            <a:xfrm rot="2017077">
              <a:off x="5758084" y="2156148"/>
              <a:ext cx="417356" cy="381239"/>
            </a:xfrm>
            <a:prstGeom prst="rect">
              <a:avLst/>
            </a:prstGeom>
            <a:noFill/>
            <a:ln w="9525">
              <a:noFill/>
              <a:miter lim="800000"/>
              <a:headEnd/>
              <a:tailEnd/>
            </a:ln>
          </p:spPr>
          <p:txBody>
            <a:bodyPr vert="eaVert" lIns="99980" tIns="49986" rIns="99980" bIns="49986">
              <a:spAutoFit/>
            </a:bodyPr>
            <a:lstStyle/>
            <a:p>
              <a:pPr marL="342900" indent="-342900" algn="ctr" defTabSz="1000125" rtl="0" eaLnBrk="0" hangingPunct="0">
                <a:buFont typeface="黑体" pitchFamily="49" charset="-122"/>
                <a:buAutoNum type="circleNumDbPlain" startAt="6"/>
              </a:pPr>
              <a:r>
                <a:rPr lang="en-US" altLang="zh-CN" sz="1400" dirty="0">
                  <a:solidFill>
                    <a:srgbClr val="000000"/>
                  </a:solidFill>
                  <a:latin typeface="+mn-lt"/>
                  <a:cs typeface="Arial" charset="0"/>
                </a:rPr>
                <a:t> </a:t>
              </a:r>
            </a:p>
          </p:txBody>
        </p:sp>
      </p:grpSp>
      <p:grpSp>
        <p:nvGrpSpPr>
          <p:cNvPr id="9" name="组合 9"/>
          <p:cNvGrpSpPr>
            <a:grpSpLocks/>
          </p:cNvGrpSpPr>
          <p:nvPr/>
        </p:nvGrpSpPr>
        <p:grpSpPr bwMode="auto">
          <a:xfrm>
            <a:off x="3900488" y="2168526"/>
            <a:ext cx="1911350" cy="835025"/>
            <a:chOff x="2430696" y="2269658"/>
            <a:chExt cx="1911350" cy="834623"/>
          </a:xfrm>
        </p:grpSpPr>
        <p:sp>
          <p:nvSpPr>
            <p:cNvPr id="54312" name="AutoShape 16"/>
            <p:cNvSpPr>
              <a:spLocks noChangeArrowheads="1"/>
            </p:cNvSpPr>
            <p:nvPr/>
          </p:nvSpPr>
          <p:spPr bwMode="auto">
            <a:xfrm rot="-1658380">
              <a:off x="2430696" y="2269658"/>
              <a:ext cx="1911350" cy="530225"/>
            </a:xfrm>
            <a:prstGeom prst="rightArrow">
              <a:avLst>
                <a:gd name="adj1" fmla="val 50000"/>
                <a:gd name="adj2" fmla="val 90120"/>
              </a:avLst>
            </a:prstGeom>
            <a:noFill/>
            <a:ln w="9525" algn="ctr">
              <a:solidFill>
                <a:schemeClr val="tx1"/>
              </a:solidFill>
              <a:miter lim="800000"/>
              <a:headEnd/>
              <a:tailEnd/>
            </a:ln>
          </p:spPr>
          <p:txBody>
            <a:bodyPr wrap="none" lIns="78355" tIns="39177" rIns="78355" bIns="39177" anchor="ctr"/>
            <a:lstStyle/>
            <a:p>
              <a:pPr algn="ctr" defTabSz="784225" rtl="0" eaLnBrk="0" hangingPunct="0">
                <a:buSzPct val="100000"/>
              </a:pPr>
              <a:r>
                <a:rPr lang="en-US" altLang="zh-CN" sz="1400" dirty="0">
                  <a:solidFill>
                    <a:srgbClr val="000000"/>
                  </a:solidFill>
                  <a:latin typeface="+mn-lt"/>
                  <a:ea typeface="MS PGothic" pitchFamily="34" charset="-128"/>
                  <a:sym typeface="FrutigerNext LT Regular" pitchFamily="34" charset="0"/>
                </a:rPr>
                <a:t>  Dest. ASE 150</a:t>
              </a:r>
            </a:p>
          </p:txBody>
        </p:sp>
        <p:sp>
          <p:nvSpPr>
            <p:cNvPr id="119" name="文本框 118"/>
            <p:cNvSpPr txBox="1"/>
            <p:nvPr/>
          </p:nvSpPr>
          <p:spPr bwMode="auto">
            <a:xfrm rot="20100000">
              <a:off x="2549836" y="2744092"/>
              <a:ext cx="417356" cy="360189"/>
            </a:xfrm>
            <a:prstGeom prst="rect">
              <a:avLst/>
            </a:prstGeom>
            <a:noFill/>
            <a:ln w="9525">
              <a:noFill/>
              <a:miter lim="800000"/>
              <a:headEnd/>
              <a:tailEnd/>
            </a:ln>
          </p:spPr>
          <p:txBody>
            <a:bodyPr vert="eaVert" lIns="99980" tIns="49986" rIns="99980" bIns="49986">
              <a:spAutoFit/>
            </a:bodyPr>
            <a:lstStyle/>
            <a:p>
              <a:pPr marL="342900" indent="-342900" algn="ctr" defTabSz="1001649" rtl="0" eaLnBrk="0" hangingPunct="0">
                <a:buFont typeface="+mj-ea"/>
                <a:buAutoNum type="circleNumDbPlain" startAt="3"/>
                <a:defRPr/>
              </a:pPr>
              <a:r>
                <a:rPr lang="en-US" altLang="zh-CN" sz="1400" dirty="0">
                  <a:solidFill>
                    <a:srgbClr val="000000"/>
                  </a:solidFill>
                  <a:latin typeface="+mn-lt"/>
                  <a:ea typeface="+mn-ea"/>
                  <a:cs typeface="Arial" pitchFamily="34" charset="0"/>
                </a:rPr>
                <a:t> </a:t>
              </a:r>
            </a:p>
          </p:txBody>
        </p:sp>
      </p:grpSp>
      <p:grpSp>
        <p:nvGrpSpPr>
          <p:cNvPr id="10" name="组合 11"/>
          <p:cNvGrpSpPr>
            <a:grpSpLocks/>
          </p:cNvGrpSpPr>
          <p:nvPr/>
        </p:nvGrpSpPr>
        <p:grpSpPr bwMode="auto">
          <a:xfrm>
            <a:off x="5530851" y="1289051"/>
            <a:ext cx="1541463" cy="627063"/>
            <a:chOff x="4006850" y="1289769"/>
            <a:chExt cx="1541463" cy="627063"/>
          </a:xfrm>
        </p:grpSpPr>
        <p:sp>
          <p:nvSpPr>
            <p:cNvPr id="54310" name="AutoShape 19"/>
            <p:cNvSpPr>
              <a:spLocks noChangeArrowheads="1"/>
            </p:cNvSpPr>
            <p:nvPr/>
          </p:nvSpPr>
          <p:spPr bwMode="auto">
            <a:xfrm rot="-5400000">
              <a:off x="4464050" y="832569"/>
              <a:ext cx="627063" cy="1541463"/>
            </a:xfrm>
            <a:prstGeom prst="upArrow">
              <a:avLst>
                <a:gd name="adj1" fmla="val 50000"/>
                <a:gd name="adj2" fmla="val 61456"/>
              </a:avLst>
            </a:prstGeom>
            <a:noFill/>
            <a:ln w="9525" algn="ctr">
              <a:solidFill>
                <a:schemeClr val="tx1"/>
              </a:solidFill>
              <a:miter lim="800000"/>
              <a:headEnd/>
              <a:tailEnd/>
            </a:ln>
          </p:spPr>
          <p:txBody>
            <a:bodyPr vert="eaVert" wrap="none" lIns="78355" tIns="39177" rIns="78355" bIns="39177" anchor="ctr"/>
            <a:lstStyle/>
            <a:p>
              <a:pPr algn="ctr" defTabSz="784225" rtl="0" eaLnBrk="0" hangingPunct="0">
                <a:buSzPct val="100000"/>
              </a:pPr>
              <a:r>
                <a:rPr lang="en-US" altLang="zh-CN" sz="1400" dirty="0">
                  <a:solidFill>
                    <a:srgbClr val="000000"/>
                  </a:solidFill>
                  <a:latin typeface="+mn-lt"/>
                  <a:ea typeface="MS PGothic" pitchFamily="34" charset="-128"/>
                  <a:sym typeface="FrutigerNext LT Regular" pitchFamily="34" charset="0"/>
                </a:rPr>
                <a:t>importer isis</a:t>
              </a:r>
            </a:p>
          </p:txBody>
        </p:sp>
        <p:sp>
          <p:nvSpPr>
            <p:cNvPr id="120" name="文本框 119"/>
            <p:cNvSpPr txBox="1"/>
            <p:nvPr/>
          </p:nvSpPr>
          <p:spPr bwMode="auto">
            <a:xfrm>
              <a:off x="4154644" y="1475507"/>
              <a:ext cx="417356" cy="360362"/>
            </a:xfrm>
            <a:prstGeom prst="rect">
              <a:avLst/>
            </a:prstGeom>
            <a:noFill/>
            <a:ln w="9525">
              <a:noFill/>
              <a:miter lim="800000"/>
              <a:headEnd/>
              <a:tailEnd/>
            </a:ln>
          </p:spPr>
          <p:txBody>
            <a:bodyPr vert="eaVert" lIns="99980" tIns="49986" rIns="99980" bIns="49986">
              <a:spAutoFit/>
            </a:bodyPr>
            <a:lstStyle/>
            <a:p>
              <a:pPr marL="342900" indent="-342900" algn="ctr" defTabSz="1001649" rtl="0" eaLnBrk="0" hangingPunct="0">
                <a:buFont typeface="+mj-ea"/>
                <a:buAutoNum type="circleNumDbPlain" startAt="7"/>
                <a:defRPr/>
              </a:pPr>
              <a:r>
                <a:rPr lang="en-US" altLang="zh-CN" sz="1400" dirty="0">
                  <a:solidFill>
                    <a:srgbClr val="000000"/>
                  </a:solidFill>
                  <a:latin typeface="+mn-lt"/>
                  <a:ea typeface="+mn-ea"/>
                  <a:cs typeface="Arial" pitchFamily="34" charset="0"/>
                </a:rPr>
                <a:t> </a:t>
              </a:r>
            </a:p>
          </p:txBody>
        </p:sp>
      </p:grpSp>
      <p:grpSp>
        <p:nvGrpSpPr>
          <p:cNvPr id="11" name="组合 121"/>
          <p:cNvGrpSpPr>
            <a:grpSpLocks/>
          </p:cNvGrpSpPr>
          <p:nvPr/>
        </p:nvGrpSpPr>
        <p:grpSpPr bwMode="auto">
          <a:xfrm rot="-1560000">
            <a:off x="3554413" y="1795463"/>
            <a:ext cx="1727200" cy="627062"/>
            <a:chOff x="3990894" y="1289769"/>
            <a:chExt cx="1557419" cy="627063"/>
          </a:xfrm>
        </p:grpSpPr>
        <p:sp>
          <p:nvSpPr>
            <p:cNvPr id="54308" name="AutoShape 19"/>
            <p:cNvSpPr>
              <a:spLocks noChangeArrowheads="1"/>
            </p:cNvSpPr>
            <p:nvPr/>
          </p:nvSpPr>
          <p:spPr bwMode="auto">
            <a:xfrm rot="-5400000">
              <a:off x="4464050" y="832569"/>
              <a:ext cx="627063" cy="1541463"/>
            </a:xfrm>
            <a:prstGeom prst="upArrow">
              <a:avLst>
                <a:gd name="adj1" fmla="val 50000"/>
                <a:gd name="adj2" fmla="val 61456"/>
              </a:avLst>
            </a:prstGeom>
            <a:noFill/>
            <a:ln w="9525" algn="ctr">
              <a:solidFill>
                <a:schemeClr val="tx1"/>
              </a:solidFill>
              <a:miter lim="800000"/>
              <a:headEnd/>
              <a:tailEnd/>
            </a:ln>
          </p:spPr>
          <p:txBody>
            <a:bodyPr vert="eaVert" wrap="none" lIns="78355" tIns="39177" rIns="78355" bIns="39177" anchor="ctr"/>
            <a:lstStyle/>
            <a:p>
              <a:pPr algn="ctr" defTabSz="784225" rtl="0" eaLnBrk="0" hangingPunct="0">
                <a:buSzPct val="100000"/>
              </a:pPr>
              <a:r>
                <a:rPr lang="en-US" altLang="zh-CN" sz="1400" dirty="0">
                  <a:solidFill>
                    <a:srgbClr val="000000"/>
                  </a:solidFill>
                  <a:latin typeface="+mn-lt"/>
                  <a:ea typeface="MS PGothic" pitchFamily="34" charset="-128"/>
                  <a:sym typeface="FrutigerNext LT Regular" pitchFamily="34" charset="0"/>
                </a:rPr>
                <a:t>Dest. ASE 150</a:t>
              </a:r>
              <a:r>
                <a:rPr lang="en-US" altLang="zh-CN" sz="1400" b="1" dirty="0">
                  <a:solidFill>
                    <a:srgbClr val="C00000"/>
                  </a:solidFill>
                  <a:latin typeface="+mn-lt"/>
                  <a:ea typeface="MS PGothic" pitchFamily="34" charset="-128"/>
                  <a:sym typeface="FrutigerNext LT Regular" pitchFamily="34" charset="0"/>
                </a:rPr>
                <a:t>1</a:t>
              </a:r>
            </a:p>
          </p:txBody>
        </p:sp>
        <p:sp>
          <p:nvSpPr>
            <p:cNvPr id="124" name="文本框 123"/>
            <p:cNvSpPr txBox="1"/>
            <p:nvPr/>
          </p:nvSpPr>
          <p:spPr bwMode="auto">
            <a:xfrm>
              <a:off x="3989954" y="1467700"/>
              <a:ext cx="417984" cy="360363"/>
            </a:xfrm>
            <a:prstGeom prst="rect">
              <a:avLst/>
            </a:prstGeom>
            <a:noFill/>
            <a:ln w="9525">
              <a:noFill/>
              <a:miter lim="800000"/>
              <a:headEnd/>
              <a:tailEnd/>
            </a:ln>
          </p:spPr>
          <p:txBody>
            <a:bodyPr vert="eaVert" lIns="99980" tIns="49986" rIns="99980" bIns="49986">
              <a:spAutoFit/>
            </a:bodyPr>
            <a:lstStyle/>
            <a:p>
              <a:pPr marL="342900" indent="-342900" algn="ctr" defTabSz="1001649" rtl="0" eaLnBrk="0" hangingPunct="0">
                <a:buFont typeface="+mj-ea"/>
                <a:buAutoNum type="circleNumDbPlain" startAt="8"/>
                <a:defRPr/>
              </a:pPr>
              <a:r>
                <a:rPr lang="en-US" altLang="zh-CN" sz="1400" dirty="0">
                  <a:solidFill>
                    <a:srgbClr val="000000"/>
                  </a:solidFill>
                  <a:latin typeface="+mn-lt"/>
                  <a:ea typeface="+mn-ea"/>
                  <a:cs typeface="Arial" pitchFamily="34" charset="0"/>
                </a:rPr>
                <a:t> </a:t>
              </a:r>
            </a:p>
          </p:txBody>
        </p:sp>
      </p:grpSp>
      <p:sp>
        <p:nvSpPr>
          <p:cNvPr id="54306" name="Line 31"/>
          <p:cNvSpPr>
            <a:spLocks noChangeShapeType="1"/>
          </p:cNvSpPr>
          <p:nvPr/>
        </p:nvSpPr>
        <p:spPr bwMode="auto">
          <a:xfrm flipH="1">
            <a:off x="6383338" y="1806576"/>
            <a:ext cx="31750" cy="3567113"/>
          </a:xfrm>
          <a:prstGeom prst="line">
            <a:avLst/>
          </a:prstGeom>
          <a:noFill/>
          <a:ln w="28575">
            <a:solidFill>
              <a:schemeClr val="tx1"/>
            </a:solidFill>
            <a:prstDash val="dash"/>
            <a:round/>
            <a:headEnd/>
            <a:tailEnd/>
          </a:ln>
        </p:spPr>
        <p:txBody>
          <a:bodyPr/>
          <a:lstStyle/>
          <a:p>
            <a:pPr algn="l" rtl="0"/>
            <a:endParaRPr lang="en-US" altLang="zh-CN" dirty="0">
              <a:latin typeface="+mn-lt"/>
            </a:endParaRPr>
          </a:p>
        </p:txBody>
      </p:sp>
      <p:sp>
        <p:nvSpPr>
          <p:cNvPr id="58" name="任意多边形 57"/>
          <p:cNvSpPr>
            <a:spLocks noChangeAspect="1"/>
          </p:cNvSpPr>
          <p:nvPr/>
        </p:nvSpPr>
        <p:spPr bwMode="auto">
          <a:xfrm rot="-10560000">
            <a:off x="3427413" y="2143126"/>
            <a:ext cx="5611812" cy="3032125"/>
          </a:xfrm>
          <a:custGeom>
            <a:avLst/>
            <a:gdLst>
              <a:gd name="T0" fmla="*/ 5393447 w 5479581"/>
              <a:gd name="T1" fmla="*/ 3129607 h 1698616"/>
              <a:gd name="T2" fmla="*/ 2803321 w 5479581"/>
              <a:gd name="T3" fmla="*/ 5413237 h 1698616"/>
              <a:gd name="T4" fmla="*/ 260 w 5479581"/>
              <a:gd name="T5" fmla="*/ 3244548 h 1698616"/>
              <a:gd name="T6" fmla="*/ 2630241 w 5479581"/>
              <a:gd name="T7" fmla="*/ 0 h 1698616"/>
              <a:gd name="T8" fmla="*/ 4890819 w 5479581"/>
              <a:gd name="T9" fmla="*/ 1837674 h 1698616"/>
              <a:gd name="T10" fmla="*/ 5746895 w 5479581"/>
              <a:gd name="T11" fmla="*/ 2812133 h 1698616"/>
              <a:gd name="T12" fmla="*/ 0 60000 65536"/>
              <a:gd name="T13" fmla="*/ 0 60000 65536"/>
              <a:gd name="T14" fmla="*/ 0 60000 65536"/>
              <a:gd name="T15" fmla="*/ 0 60000 65536"/>
              <a:gd name="T16" fmla="*/ 0 60000 65536"/>
              <a:gd name="T17" fmla="*/ 0 60000 65536"/>
              <a:gd name="T18" fmla="*/ 0 w 5479581"/>
              <a:gd name="T19" fmla="*/ 0 h 1698616"/>
              <a:gd name="T20" fmla="*/ 5479581 w 5479581"/>
              <a:gd name="T21" fmla="*/ 1698616 h 1698616"/>
            </a:gdLst>
            <a:ahLst/>
            <a:cxnLst>
              <a:cxn ang="T12">
                <a:pos x="T0" y="T1"/>
              </a:cxn>
              <a:cxn ang="T13">
                <a:pos x="T2" y="T3"/>
              </a:cxn>
              <a:cxn ang="T14">
                <a:pos x="T4" y="T5"/>
              </a:cxn>
              <a:cxn ang="T15">
                <a:pos x="T6" y="T7"/>
              </a:cxn>
              <a:cxn ang="T16">
                <a:pos x="T8" y="T9"/>
              </a:cxn>
              <a:cxn ang="T17">
                <a:pos x="T10" y="T11"/>
              </a:cxn>
            </a:cxnLst>
            <a:rect l="T18" t="T19" r="T20" b="T21"/>
            <a:pathLst>
              <a:path w="5479581" h="1698616">
                <a:moveTo>
                  <a:pt x="5142573" y="981999"/>
                </a:moveTo>
                <a:cubicBezTo>
                  <a:pt x="4684816" y="1127305"/>
                  <a:pt x="3529980" y="1692539"/>
                  <a:pt x="2672926" y="1698550"/>
                </a:cubicBezTo>
                <a:cubicBezTo>
                  <a:pt x="1815872" y="1704561"/>
                  <a:pt x="27753" y="1301157"/>
                  <a:pt x="248" y="1018065"/>
                </a:cubicBezTo>
                <a:cubicBezTo>
                  <a:pt x="-27257" y="734973"/>
                  <a:pt x="2232678" y="25959"/>
                  <a:pt x="2507897" y="0"/>
                </a:cubicBezTo>
                <a:cubicBezTo>
                  <a:pt x="2808654" y="31780"/>
                  <a:pt x="4256931" y="403026"/>
                  <a:pt x="4663326" y="576620"/>
                </a:cubicBezTo>
                <a:cubicBezTo>
                  <a:pt x="5188386" y="754873"/>
                  <a:pt x="4980841" y="624759"/>
                  <a:pt x="5479581" y="882383"/>
                </a:cubicBezTo>
              </a:path>
            </a:pathLst>
          </a:custGeom>
          <a:noFill/>
          <a:ln w="28575" cap="flat" cmpd="sng" algn="ctr">
            <a:solidFill>
              <a:srgbClr val="FF0000"/>
            </a:solidFill>
            <a:prstDash val="dash"/>
            <a:round/>
            <a:headEnd type="none" w="med" len="med"/>
            <a:tailEnd type="stealth" w="lg" len="lg"/>
          </a:ln>
        </p:spPr>
        <p:txBody>
          <a:bodyPr/>
          <a:lstStyle/>
          <a:p>
            <a:pPr algn="l" rtl="0"/>
            <a:endParaRPr lang="en-US" altLang="zh-CN" dirty="0">
              <a:solidFill>
                <a:srgbClr val="C00000"/>
              </a:solidFill>
              <a:latin typeface="+mn-lt"/>
            </a:endParaRPr>
          </a:p>
        </p:txBody>
      </p:sp>
    </p:spTree>
    <p:extLst>
      <p:ext uri="{BB962C8B-B14F-4D97-AF65-F5344CB8AC3E}">
        <p14:creationId xmlns:p14="http://schemas.microsoft.com/office/powerpoint/2010/main" val="160301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par>
                                <p:cTn id="18" presetID="22" presetClass="entr" presetSubtype="8"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right)">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right)">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right)">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wipe(left)">
                                      <p:cBhvr>
                                        <p:cTn id="5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pPr algn="l" rtl="0"/>
            <a:r>
              <a:rPr lang="en-US" altLang="zh-CN" dirty="0"/>
              <a:t>Solution 1 : Filtrer les itinéraires</a:t>
            </a:r>
            <a:endParaRPr lang="zh-CN" altLang="en-US" dirty="0"/>
          </a:p>
        </p:txBody>
      </p:sp>
      <p:grpSp>
        <p:nvGrpSpPr>
          <p:cNvPr id="4" name="组合 3"/>
          <p:cNvGrpSpPr/>
          <p:nvPr/>
        </p:nvGrpSpPr>
        <p:grpSpPr>
          <a:xfrm>
            <a:off x="1595501" y="1326000"/>
            <a:ext cx="8834759" cy="4804195"/>
            <a:chOff x="1595501" y="1326000"/>
            <a:chExt cx="8834759" cy="4804195"/>
          </a:xfrm>
        </p:grpSpPr>
        <p:cxnSp>
          <p:nvCxnSpPr>
            <p:cNvPr id="34" name="直接连接符 33"/>
            <p:cNvCxnSpPr/>
            <p:nvPr/>
          </p:nvCxnSpPr>
          <p:spPr bwMode="auto">
            <a:xfrm>
              <a:off x="2202102" y="5370551"/>
              <a:ext cx="1088878" cy="629275"/>
            </a:xfrm>
            <a:prstGeom prst="line">
              <a:avLst/>
            </a:prstGeom>
            <a:solidFill>
              <a:schemeClr val="accent1"/>
            </a:solidFill>
            <a:ln w="28575" cap="flat" cmpd="sng" algn="ctr">
              <a:solidFill>
                <a:srgbClr val="C00000"/>
              </a:solidFill>
              <a:prstDash val="sysDot"/>
              <a:round/>
              <a:headEnd type="none" w="med" len="med"/>
              <a:tailEnd type="none" w="med" len="med"/>
            </a:ln>
            <a:effectLst/>
          </p:spPr>
        </p:cxnSp>
        <p:cxnSp>
          <p:nvCxnSpPr>
            <p:cNvPr id="35" name="直接连接符 34"/>
            <p:cNvCxnSpPr/>
            <p:nvPr/>
          </p:nvCxnSpPr>
          <p:spPr bwMode="auto">
            <a:xfrm>
              <a:off x="5279324" y="5339418"/>
              <a:ext cx="1236765" cy="290656"/>
            </a:xfrm>
            <a:prstGeom prst="line">
              <a:avLst/>
            </a:prstGeom>
            <a:solidFill>
              <a:schemeClr val="accent1"/>
            </a:solidFill>
            <a:ln w="28575" cap="flat" cmpd="sng" algn="ctr">
              <a:solidFill>
                <a:srgbClr val="C00000"/>
              </a:solidFill>
              <a:prstDash val="sysDot"/>
              <a:round/>
              <a:headEnd type="none" w="med" len="med"/>
              <a:tailEnd type="none" w="med" len="med"/>
            </a:ln>
            <a:effectLst/>
          </p:spPr>
        </p:cxnSp>
        <p:cxnSp>
          <p:nvCxnSpPr>
            <p:cNvPr id="37" name="直接连接符 36"/>
            <p:cNvCxnSpPr/>
            <p:nvPr/>
          </p:nvCxnSpPr>
          <p:spPr bwMode="auto">
            <a:xfrm flipV="1">
              <a:off x="5307803" y="1448780"/>
              <a:ext cx="928741" cy="813576"/>
            </a:xfrm>
            <a:prstGeom prst="line">
              <a:avLst/>
            </a:prstGeom>
            <a:solidFill>
              <a:schemeClr val="accent1"/>
            </a:solidFill>
            <a:ln w="28575" cap="flat" cmpd="sng" algn="ctr">
              <a:solidFill>
                <a:srgbClr val="C00000"/>
              </a:solidFill>
              <a:prstDash val="sysDot"/>
              <a:round/>
              <a:headEnd type="none" w="med" len="med"/>
              <a:tailEnd type="none" w="med" len="med"/>
            </a:ln>
            <a:effectLst/>
          </p:spPr>
        </p:cxnSp>
        <p:sp>
          <p:nvSpPr>
            <p:cNvPr id="38" name="Line 12"/>
            <p:cNvSpPr>
              <a:spLocks noChangeShapeType="1"/>
            </p:cNvSpPr>
            <p:nvPr/>
          </p:nvSpPr>
          <p:spPr bwMode="auto">
            <a:xfrm flipV="1">
              <a:off x="2528168" y="4047138"/>
              <a:ext cx="0" cy="1295400"/>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39" name="Line 8"/>
            <p:cNvSpPr>
              <a:spLocks noChangeShapeType="1"/>
            </p:cNvSpPr>
            <p:nvPr/>
          </p:nvSpPr>
          <p:spPr bwMode="auto">
            <a:xfrm flipV="1">
              <a:off x="2810284" y="5320086"/>
              <a:ext cx="689694" cy="0"/>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40" name="Line 4"/>
            <p:cNvSpPr>
              <a:spLocks noChangeShapeType="1"/>
            </p:cNvSpPr>
            <p:nvPr/>
          </p:nvSpPr>
          <p:spPr bwMode="auto">
            <a:xfrm flipV="1">
              <a:off x="2874218" y="2489627"/>
              <a:ext cx="2108200" cy="1124124"/>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41" name="Line 5"/>
            <p:cNvSpPr>
              <a:spLocks noChangeShapeType="1"/>
            </p:cNvSpPr>
            <p:nvPr/>
          </p:nvSpPr>
          <p:spPr bwMode="auto">
            <a:xfrm>
              <a:off x="5441754" y="2393768"/>
              <a:ext cx="2306090" cy="1219984"/>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42" name="Line 6"/>
            <p:cNvSpPr>
              <a:spLocks noChangeShapeType="1"/>
            </p:cNvSpPr>
            <p:nvPr/>
          </p:nvSpPr>
          <p:spPr bwMode="auto">
            <a:xfrm flipV="1">
              <a:off x="5504943" y="3903972"/>
              <a:ext cx="2212067" cy="1355050"/>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43" name="Line 7"/>
            <p:cNvSpPr>
              <a:spLocks noChangeShapeType="1"/>
            </p:cNvSpPr>
            <p:nvPr/>
          </p:nvSpPr>
          <p:spPr bwMode="auto">
            <a:xfrm>
              <a:off x="2672185" y="3829776"/>
              <a:ext cx="2363775" cy="1387046"/>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44" name="Text Box 9"/>
            <p:cNvSpPr txBox="1">
              <a:spLocks noChangeArrowheads="1"/>
            </p:cNvSpPr>
            <p:nvPr/>
          </p:nvSpPr>
          <p:spPr bwMode="auto">
            <a:xfrm>
              <a:off x="2927648" y="4905165"/>
              <a:ext cx="1481138" cy="303213"/>
            </a:xfrm>
            <a:prstGeom prst="rect">
              <a:avLst/>
            </a:prstGeom>
            <a:noFill/>
            <a:ln w="9525" algn="ctr">
              <a:noFill/>
              <a:miter lim="800000"/>
              <a:headEnd/>
              <a:tailEnd/>
            </a:ln>
          </p:spPr>
          <p:txBody>
            <a:bodyPr wrap="none" lIns="78355" tIns="39177" rIns="78355" bIns="39177" anchor="ctr"/>
            <a:lstStyle/>
            <a:p>
              <a:pPr algn="ctr" defTabSz="784225" rtl="0" eaLnBrk="0" fontAlgn="base" hangingPunct="0"/>
              <a:r>
                <a:rPr lang="en-US" altLang="zh-CN" sz="1400" b="1" dirty="0">
                  <a:latin typeface="+mn-ea"/>
                  <a:ea typeface="+mn-ea"/>
                </a:rPr>
                <a:t>Lo0:2.2.2.2/32</a:t>
              </a:r>
            </a:p>
          </p:txBody>
        </p:sp>
        <p:sp>
          <p:nvSpPr>
            <p:cNvPr id="45" name="WordArt 10"/>
            <p:cNvSpPr>
              <a:spLocks noChangeArrowheads="1" noChangeShapeType="1" noTextEdit="1"/>
            </p:cNvSpPr>
            <p:nvPr/>
          </p:nvSpPr>
          <p:spPr bwMode="auto">
            <a:xfrm>
              <a:off x="5702499" y="3861402"/>
              <a:ext cx="534045" cy="284410"/>
            </a:xfrm>
            <a:prstGeom prst="rect">
              <a:avLst/>
            </a:prstGeom>
          </p:spPr>
          <p:txBody>
            <a:bodyPr wrap="none" fromWordArt="1">
              <a:prstTxWarp prst="textPlain">
                <a:avLst>
                  <a:gd name="adj" fmla="val 50000"/>
                </a:avLst>
              </a:prstTxWarp>
            </a:bodyPr>
            <a:lstStyle/>
            <a:p>
              <a:pPr algn="ctr" rtl="0"/>
              <a:r>
                <a:rPr lang="en-US" altLang="zh-CN" sz="3600" kern="10" dirty="0">
                  <a:ln w="9525">
                    <a:solidFill>
                      <a:srgbClr val="000000"/>
                    </a:solidFill>
                    <a:round/>
                    <a:headEnd/>
                    <a:tailEnd/>
                  </a:ln>
                  <a:solidFill>
                    <a:srgbClr val="FFFFFF"/>
                  </a:solidFill>
                  <a:latin typeface="+mn-ea"/>
                  <a:ea typeface="+mn-ea"/>
                </a:rPr>
                <a:t>L'EI</a:t>
              </a:r>
              <a:endParaRPr lang="zh-CN" altLang="en-US" sz="3600" kern="10" dirty="0">
                <a:ln w="9525">
                  <a:solidFill>
                    <a:srgbClr val="000000"/>
                  </a:solidFill>
                  <a:round/>
                  <a:headEnd/>
                  <a:tailEnd/>
                </a:ln>
                <a:solidFill>
                  <a:srgbClr val="FFFFFF"/>
                </a:solidFill>
                <a:latin typeface="+mn-ea"/>
                <a:ea typeface="+mn-ea"/>
              </a:endParaRPr>
            </a:p>
          </p:txBody>
        </p:sp>
        <p:sp>
          <p:nvSpPr>
            <p:cNvPr id="46" name="WordArt 11"/>
            <p:cNvSpPr>
              <a:spLocks noChangeArrowheads="1" noChangeShapeType="1" noTextEdit="1"/>
            </p:cNvSpPr>
            <p:nvPr/>
          </p:nvSpPr>
          <p:spPr bwMode="auto">
            <a:xfrm>
              <a:off x="4334346" y="3861402"/>
              <a:ext cx="546472" cy="284410"/>
            </a:xfrm>
            <a:prstGeom prst="rect">
              <a:avLst/>
            </a:prstGeom>
          </p:spPr>
          <p:txBody>
            <a:bodyPr wrap="none" fromWordArt="1">
              <a:prstTxWarp prst="textPlain">
                <a:avLst>
                  <a:gd name="adj" fmla="val 50000"/>
                </a:avLst>
              </a:prstTxWarp>
            </a:bodyPr>
            <a:lstStyle/>
            <a:p>
              <a:pPr algn="ctr" rtl="0"/>
              <a:r>
                <a:rPr lang="en-US" altLang="zh-CN" sz="3600" kern="10" dirty="0">
                  <a:ln w="9525">
                    <a:solidFill>
                      <a:srgbClr val="000000"/>
                    </a:solidFill>
                    <a:round/>
                    <a:headEnd/>
                    <a:tailEnd/>
                  </a:ln>
                  <a:solidFill>
                    <a:srgbClr val="FFFFFF"/>
                  </a:solidFill>
                  <a:latin typeface="+mn-ea"/>
                  <a:ea typeface="+mn-ea"/>
                </a:rPr>
                <a:t>OSPF</a:t>
              </a:r>
              <a:endParaRPr lang="zh-CN" altLang="en-US" sz="3600" kern="10" dirty="0">
                <a:ln w="9525">
                  <a:solidFill>
                    <a:srgbClr val="000000"/>
                  </a:solidFill>
                  <a:round/>
                  <a:headEnd/>
                  <a:tailEnd/>
                </a:ln>
                <a:solidFill>
                  <a:srgbClr val="FFFFFF"/>
                </a:solidFill>
                <a:latin typeface="+mn-ea"/>
                <a:ea typeface="+mn-ea"/>
              </a:endParaRPr>
            </a:p>
          </p:txBody>
        </p:sp>
        <p:sp>
          <p:nvSpPr>
            <p:cNvPr id="47" name="AutoShape 20"/>
            <p:cNvSpPr>
              <a:spLocks noChangeArrowheads="1"/>
            </p:cNvSpPr>
            <p:nvPr/>
          </p:nvSpPr>
          <p:spPr bwMode="auto">
            <a:xfrm rot="10800000" flipH="1">
              <a:off x="5846514" y="3137699"/>
              <a:ext cx="792088" cy="1595437"/>
            </a:xfrm>
            <a:prstGeom prst="curvedLeftArrow">
              <a:avLst>
                <a:gd name="adj1" fmla="val 40281"/>
                <a:gd name="adj2" fmla="val 80561"/>
                <a:gd name="adj3" fmla="val 33333"/>
              </a:avLst>
            </a:prstGeom>
            <a:noFill/>
            <a:ln w="9525">
              <a:solidFill>
                <a:schemeClr val="tx1"/>
              </a:solidFill>
              <a:miter lim="800000"/>
              <a:headEnd/>
              <a:tailEnd/>
            </a:ln>
          </p:spPr>
          <p:txBody>
            <a:bodyPr wrap="none" anchor="ctr"/>
            <a:lstStyle/>
            <a:p>
              <a:pPr algn="l" rtl="0"/>
              <a:endParaRPr lang="zh-CN" altLang="en-US">
                <a:latin typeface="+mn-ea"/>
                <a:ea typeface="+mn-ea"/>
              </a:endParaRPr>
            </a:p>
          </p:txBody>
        </p:sp>
        <p:sp>
          <p:nvSpPr>
            <p:cNvPr id="48" name="Rectangle 22"/>
            <p:cNvSpPr>
              <a:spLocks noChangeArrowheads="1"/>
            </p:cNvSpPr>
            <p:nvPr/>
          </p:nvSpPr>
          <p:spPr bwMode="auto">
            <a:xfrm>
              <a:off x="1595501" y="5121188"/>
              <a:ext cx="680641" cy="339180"/>
            </a:xfrm>
            <a:prstGeom prst="rect">
              <a:avLst/>
            </a:prstGeom>
            <a:noFill/>
            <a:ln w="9525">
              <a:noFill/>
              <a:miter lim="800000"/>
              <a:headEnd/>
              <a:tailEnd/>
            </a:ln>
          </p:spPr>
          <p:txBody>
            <a:bodyPr wrap="square" lIns="92059" tIns="46030" rIns="92059" bIns="46030">
              <a:spAutoFit/>
            </a:bodyPr>
            <a:lstStyle/>
            <a:p>
              <a:pPr algn="l" rtl="0" eaLnBrk="0" fontAlgn="base" hangingPunct="0"/>
              <a:r>
                <a:rPr lang="en-GB" altLang="zh-CN" sz="1600" b="1" dirty="0">
                  <a:latin typeface="+mn-ea"/>
                  <a:ea typeface="+mn-ea"/>
                </a:rPr>
                <a:t>RTA</a:t>
              </a:r>
            </a:p>
          </p:txBody>
        </p:sp>
        <p:sp>
          <p:nvSpPr>
            <p:cNvPr id="49" name="Rectangle 23"/>
            <p:cNvSpPr>
              <a:spLocks noChangeArrowheads="1"/>
            </p:cNvSpPr>
            <p:nvPr/>
          </p:nvSpPr>
          <p:spPr bwMode="auto">
            <a:xfrm>
              <a:off x="2373115" y="3097036"/>
              <a:ext cx="605903"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RTB</a:t>
              </a:r>
            </a:p>
          </p:txBody>
        </p:sp>
        <p:sp>
          <p:nvSpPr>
            <p:cNvPr id="50" name="Rectangle 24"/>
            <p:cNvSpPr>
              <a:spLocks noChangeArrowheads="1"/>
            </p:cNvSpPr>
            <p:nvPr/>
          </p:nvSpPr>
          <p:spPr bwMode="auto">
            <a:xfrm>
              <a:off x="4766395" y="2633643"/>
              <a:ext cx="582178"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RTC</a:t>
              </a:r>
            </a:p>
          </p:txBody>
        </p:sp>
        <p:sp>
          <p:nvSpPr>
            <p:cNvPr id="51" name="Rectangle 25"/>
            <p:cNvSpPr>
              <a:spLocks noChangeArrowheads="1"/>
            </p:cNvSpPr>
            <p:nvPr/>
          </p:nvSpPr>
          <p:spPr bwMode="auto">
            <a:xfrm>
              <a:off x="8104599" y="3568867"/>
              <a:ext cx="614238"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RTD</a:t>
              </a:r>
            </a:p>
          </p:txBody>
        </p:sp>
        <p:sp>
          <p:nvSpPr>
            <p:cNvPr id="52" name="Rectangle 26"/>
            <p:cNvSpPr>
              <a:spLocks noChangeArrowheads="1"/>
            </p:cNvSpPr>
            <p:nvPr/>
          </p:nvSpPr>
          <p:spPr bwMode="auto">
            <a:xfrm>
              <a:off x="5275584" y="4641607"/>
              <a:ext cx="569354"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RTE</a:t>
              </a:r>
            </a:p>
          </p:txBody>
        </p:sp>
        <p:sp>
          <p:nvSpPr>
            <p:cNvPr id="53" name="Line 7"/>
            <p:cNvSpPr>
              <a:spLocks noChangeShapeType="1"/>
            </p:cNvSpPr>
            <p:nvPr/>
          </p:nvSpPr>
          <p:spPr bwMode="auto">
            <a:xfrm>
              <a:off x="3499978" y="5176070"/>
              <a:ext cx="0" cy="288032"/>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54" name="AutoShape 20"/>
            <p:cNvSpPr>
              <a:spLocks noChangeArrowheads="1"/>
            </p:cNvSpPr>
            <p:nvPr/>
          </p:nvSpPr>
          <p:spPr bwMode="auto">
            <a:xfrm flipH="1">
              <a:off x="4046314" y="3281716"/>
              <a:ext cx="720080" cy="1595437"/>
            </a:xfrm>
            <a:prstGeom prst="curvedLeftArrow">
              <a:avLst>
                <a:gd name="adj1" fmla="val 40281"/>
                <a:gd name="adj2" fmla="val 91371"/>
                <a:gd name="adj3" fmla="val 33333"/>
              </a:avLst>
            </a:prstGeom>
            <a:noFill/>
            <a:ln w="9525">
              <a:solidFill>
                <a:schemeClr val="tx1"/>
              </a:solidFill>
              <a:miter lim="800000"/>
              <a:headEnd/>
              <a:tailEnd/>
            </a:ln>
          </p:spPr>
          <p:txBody>
            <a:bodyPr wrap="none" anchor="ctr"/>
            <a:lstStyle/>
            <a:p>
              <a:pPr algn="l" rtl="0"/>
              <a:endParaRPr lang="zh-CN" altLang="en-US">
                <a:latin typeface="+mn-ea"/>
                <a:ea typeface="+mn-ea"/>
              </a:endParaRPr>
            </a:p>
          </p:txBody>
        </p:sp>
        <p:sp>
          <p:nvSpPr>
            <p:cNvPr id="55" name="AutoShape 17"/>
            <p:cNvSpPr>
              <a:spLocks noChangeArrowheads="1"/>
            </p:cNvSpPr>
            <p:nvPr/>
          </p:nvSpPr>
          <p:spPr bwMode="auto">
            <a:xfrm>
              <a:off x="5915981" y="1326000"/>
              <a:ext cx="4514279" cy="1505536"/>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algn="l" defTabSz="784225" rtl="0" fontAlgn="base">
                <a:lnSpc>
                  <a:spcPct val="60000"/>
                </a:lnSpc>
                <a:spcBef>
                  <a:spcPct val="20000"/>
                </a:spcBef>
                <a:spcAft>
                  <a:spcPct val="20000"/>
                </a:spcAft>
                <a:buClr>
                  <a:srgbClr val="990000"/>
                </a:buClr>
                <a:buSzPct val="85000"/>
              </a:pPr>
              <a:r>
                <a:rPr lang="en-US" altLang="zh-CN" sz="1400" b="1" dirty="0" err="1">
                  <a:latin typeface="+mn-ea"/>
                  <a:ea typeface="+mn-ea"/>
                </a:rPr>
                <a:t>acl</a:t>
              </a:r>
              <a:r>
                <a:rPr lang="en-US" altLang="zh-CN" sz="1400" b="1" dirty="0">
                  <a:latin typeface="+mn-ea"/>
                  <a:ea typeface="+mn-ea"/>
                </a:rPr>
                <a:t>2001</a:t>
              </a:r>
            </a:p>
            <a:p>
              <a:pPr algn="l" defTabSz="784225" rtl="0" fontAlgn="base">
                <a:lnSpc>
                  <a:spcPct val="60000"/>
                </a:lnSpc>
                <a:spcBef>
                  <a:spcPct val="20000"/>
                </a:spcBef>
                <a:spcAft>
                  <a:spcPct val="20000"/>
                </a:spcAft>
                <a:buClr>
                  <a:srgbClr val="990000"/>
                </a:buClr>
                <a:buSzPct val="85000"/>
              </a:pPr>
              <a:r>
                <a:rPr lang="en-US" altLang="zh-CN" sz="1400" b="1" dirty="0">
                  <a:latin typeface="+mn-ea"/>
                  <a:ea typeface="+mn-ea"/>
                </a:rPr>
                <a:t>Règle 0 : refuser la source 2.0.0.0 0.255.255.255</a:t>
              </a:r>
            </a:p>
            <a:p>
              <a:pPr algn="l" defTabSz="784225" rtl="0" fontAlgn="base">
                <a:lnSpc>
                  <a:spcPct val="60000"/>
                </a:lnSpc>
                <a:spcBef>
                  <a:spcPct val="20000"/>
                </a:spcBef>
                <a:spcAft>
                  <a:spcPct val="20000"/>
                </a:spcAft>
                <a:buClr>
                  <a:srgbClr val="990000"/>
                </a:buClr>
                <a:buSzPct val="85000"/>
              </a:pPr>
              <a:r>
                <a:rPr lang="en-US" altLang="zh-CN" sz="1400" b="1" dirty="0">
                  <a:latin typeface="+mn-ea"/>
                  <a:ea typeface="+mn-ea"/>
                </a:rPr>
                <a:t>règle 1 permis</a:t>
              </a:r>
            </a:p>
            <a:p>
              <a:pPr algn="l" defTabSz="784225" rtl="0" fontAlgn="base">
                <a:lnSpc>
                  <a:spcPct val="60000"/>
                </a:lnSpc>
                <a:spcBef>
                  <a:spcPct val="20000"/>
                </a:spcBef>
                <a:spcAft>
                  <a:spcPct val="20000"/>
                </a:spcAft>
                <a:buClr>
                  <a:srgbClr val="990000"/>
                </a:buClr>
                <a:buSzPct val="85000"/>
              </a:pPr>
              <a:r>
                <a:rPr lang="en-US" altLang="zh-CN" sz="1400" b="1" dirty="0">
                  <a:latin typeface="+mn-ea"/>
                  <a:ea typeface="+mn-ea"/>
                </a:rPr>
                <a:t>ospf 1</a:t>
              </a:r>
            </a:p>
            <a:p>
              <a:pPr algn="l" defTabSz="784225" rtl="0" fontAlgn="base">
                <a:lnSpc>
                  <a:spcPct val="60000"/>
                </a:lnSpc>
                <a:spcBef>
                  <a:spcPct val="20000"/>
                </a:spcBef>
                <a:spcAft>
                  <a:spcPct val="20000"/>
                </a:spcAft>
                <a:buClr>
                  <a:srgbClr val="990000"/>
                </a:buClr>
                <a:buSzPct val="85000"/>
              </a:pPr>
              <a:r>
                <a:rPr lang="en-US" altLang="zh-CN" sz="1400" b="1" dirty="0">
                  <a:solidFill>
                    <a:srgbClr val="990000"/>
                  </a:solidFill>
                  <a:latin typeface="+mn-ea"/>
                  <a:ea typeface="+mn-ea"/>
                </a:rPr>
                <a:t> </a:t>
              </a:r>
              <a:r>
                <a:rPr lang="en-US" altLang="zh-CN" sz="1400" b="1" dirty="0">
                  <a:solidFill>
                    <a:srgbClr val="C00000"/>
                  </a:solidFill>
                  <a:latin typeface="+mn-ea"/>
                  <a:ea typeface="+mn-ea"/>
                </a:rPr>
                <a:t>route d'importation isis 1 politique de routage RP1</a:t>
              </a:r>
            </a:p>
            <a:p>
              <a:pPr algn="l" defTabSz="784225" rtl="0" fontAlgn="base">
                <a:lnSpc>
                  <a:spcPct val="60000"/>
                </a:lnSpc>
                <a:spcBef>
                  <a:spcPct val="20000"/>
                </a:spcBef>
                <a:spcAft>
                  <a:spcPct val="20000"/>
                </a:spcAft>
                <a:buClr>
                  <a:srgbClr val="990000"/>
                </a:buClr>
                <a:buSzPct val="85000"/>
              </a:pPr>
              <a:r>
                <a:rPr lang="en-US" altLang="zh-CN" sz="1400" b="1" dirty="0">
                  <a:latin typeface="+mn-ea"/>
                  <a:ea typeface="+mn-ea"/>
                </a:rPr>
                <a:t>stratégie de routage RP1 autoriser le nœud 10</a:t>
              </a:r>
            </a:p>
            <a:p>
              <a:pPr algn="l" defTabSz="784225" rtl="0" fontAlgn="base">
                <a:lnSpc>
                  <a:spcPct val="60000"/>
                </a:lnSpc>
                <a:spcBef>
                  <a:spcPct val="20000"/>
                </a:spcBef>
                <a:spcAft>
                  <a:spcPct val="20000"/>
                </a:spcAft>
                <a:buClr>
                  <a:srgbClr val="990000"/>
                </a:buClr>
                <a:buSzPct val="85000"/>
              </a:pPr>
              <a:r>
                <a:rPr lang="en-US" altLang="zh-CN" sz="1400" b="1" dirty="0">
                  <a:latin typeface="+mn-ea"/>
                  <a:ea typeface="+mn-ea"/>
                </a:rPr>
                <a:t>si-correspondance</a:t>
              </a:r>
              <a:r>
                <a:rPr lang="en-US" altLang="zh-CN" sz="1400" b="1" dirty="0" err="1">
                  <a:latin typeface="+mn-ea"/>
                  <a:ea typeface="+mn-ea"/>
                </a:rPr>
                <a:t>acl</a:t>
              </a:r>
              <a:r>
                <a:rPr lang="en-US" altLang="zh-CN" sz="1400" b="1" dirty="0">
                  <a:latin typeface="+mn-ea"/>
                  <a:ea typeface="+mn-ea"/>
                </a:rPr>
                <a:t>2001</a:t>
              </a:r>
            </a:p>
          </p:txBody>
        </p:sp>
        <p:sp>
          <p:nvSpPr>
            <p:cNvPr id="56" name="AutoShape 17"/>
            <p:cNvSpPr>
              <a:spLocks noChangeArrowheads="1"/>
            </p:cNvSpPr>
            <p:nvPr/>
          </p:nvSpPr>
          <p:spPr bwMode="auto">
            <a:xfrm>
              <a:off x="6168008" y="5371328"/>
              <a:ext cx="2268000" cy="439224"/>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algn="l" defTabSz="784225" rtl="0" fontAlgn="base">
                <a:lnSpc>
                  <a:spcPct val="60000"/>
                </a:lnSpc>
                <a:spcBef>
                  <a:spcPct val="20000"/>
                </a:spcBef>
                <a:spcAft>
                  <a:spcPct val="20000"/>
                </a:spcAft>
                <a:buClr>
                  <a:srgbClr val="990000"/>
                </a:buClr>
                <a:buSzPct val="85000"/>
              </a:pPr>
              <a:r>
                <a:rPr lang="fr-FR" altLang="zh-CN" sz="1400" b="1" dirty="0">
                  <a:latin typeface="+mn-ea"/>
                  <a:ea typeface="+mn-ea"/>
                </a:rPr>
                <a:t>isis 1</a:t>
              </a:r>
            </a:p>
            <a:p>
              <a:pPr algn="l" defTabSz="784225" rtl="0" fontAlgn="base">
                <a:lnSpc>
                  <a:spcPct val="60000"/>
                </a:lnSpc>
                <a:spcBef>
                  <a:spcPct val="20000"/>
                </a:spcBef>
                <a:spcAft>
                  <a:spcPct val="20000"/>
                </a:spcAft>
                <a:buClr>
                  <a:srgbClr val="990000"/>
                </a:buClr>
                <a:buSzPct val="85000"/>
              </a:pPr>
              <a:r>
                <a:rPr lang="fr-FR" altLang="zh-CN" sz="1400" b="1" dirty="0">
                  <a:latin typeface="+mn-ea"/>
                  <a:ea typeface="+mn-ea"/>
                </a:rPr>
                <a:t>route d'importation ospf 1</a:t>
              </a:r>
            </a:p>
          </p:txBody>
        </p:sp>
        <p:sp>
          <p:nvSpPr>
            <p:cNvPr id="57" name="AutoShape 17"/>
            <p:cNvSpPr>
              <a:spLocks noChangeArrowheads="1"/>
            </p:cNvSpPr>
            <p:nvPr/>
          </p:nvSpPr>
          <p:spPr bwMode="auto">
            <a:xfrm>
              <a:off x="2958292" y="5690971"/>
              <a:ext cx="2885680" cy="439224"/>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algn="l" defTabSz="784225" rtl="0" fontAlgn="base">
                <a:lnSpc>
                  <a:spcPct val="60000"/>
                </a:lnSpc>
                <a:spcBef>
                  <a:spcPct val="20000"/>
                </a:spcBef>
                <a:spcAft>
                  <a:spcPct val="20000"/>
                </a:spcAft>
                <a:buClr>
                  <a:srgbClr val="990000"/>
                </a:buClr>
                <a:buSzPct val="85000"/>
              </a:pPr>
              <a:r>
                <a:rPr lang="en-US" altLang="zh-CN" sz="1400" b="1" dirty="0">
                  <a:latin typeface="+mn-ea"/>
                  <a:ea typeface="+mn-ea"/>
                </a:rPr>
                <a:t>ospf 1</a:t>
              </a:r>
            </a:p>
            <a:p>
              <a:pPr algn="l" defTabSz="784225" rtl="0" fontAlgn="base">
                <a:lnSpc>
                  <a:spcPct val="60000"/>
                </a:lnSpc>
                <a:spcBef>
                  <a:spcPct val="20000"/>
                </a:spcBef>
                <a:spcAft>
                  <a:spcPct val="20000"/>
                </a:spcAft>
                <a:buClr>
                  <a:srgbClr val="990000"/>
                </a:buClr>
                <a:buSzPct val="85000"/>
              </a:pPr>
              <a:r>
                <a:rPr lang="en-US" altLang="zh-CN" sz="1400" b="1" dirty="0">
                  <a:latin typeface="+mn-ea"/>
                  <a:ea typeface="+mn-ea"/>
                </a:rPr>
                <a:t>coût direct de la voie d'importation 2</a:t>
              </a:r>
            </a:p>
          </p:txBody>
        </p:sp>
        <p:pic>
          <p:nvPicPr>
            <p:cNvPr id="5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944493" y="2085427"/>
              <a:ext cx="628652" cy="514351"/>
            </a:xfrm>
            <a:prstGeom prst="rect">
              <a:avLst/>
            </a:prstGeom>
            <a:noFill/>
          </p:spPr>
        </p:pic>
        <p:pic>
          <p:nvPicPr>
            <p:cNvPr id="5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275510" y="3449676"/>
              <a:ext cx="628652" cy="514351"/>
            </a:xfrm>
            <a:prstGeom prst="rect">
              <a:avLst/>
            </a:prstGeom>
            <a:noFill/>
          </p:spPr>
        </p:pic>
        <p:pic>
          <p:nvPicPr>
            <p:cNvPr id="6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445113" y="3516138"/>
              <a:ext cx="628652" cy="514351"/>
            </a:xfrm>
            <a:prstGeom prst="rect">
              <a:avLst/>
            </a:prstGeom>
            <a:noFill/>
          </p:spPr>
        </p:pic>
        <p:pic>
          <p:nvPicPr>
            <p:cNvPr id="6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951737" y="5011279"/>
              <a:ext cx="628652" cy="514351"/>
            </a:xfrm>
            <a:prstGeom prst="rect">
              <a:avLst/>
            </a:prstGeom>
            <a:noFill/>
          </p:spPr>
        </p:pic>
        <p:pic>
          <p:nvPicPr>
            <p:cNvPr id="6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253876" y="5044031"/>
              <a:ext cx="628652" cy="514351"/>
            </a:xfrm>
            <a:prstGeom prst="rect">
              <a:avLst/>
            </a:prstGeom>
            <a:noFill/>
          </p:spPr>
        </p:pic>
        <p:sp>
          <p:nvSpPr>
            <p:cNvPr id="63" name="Line 31"/>
            <p:cNvSpPr>
              <a:spLocks noChangeShapeType="1"/>
            </p:cNvSpPr>
            <p:nvPr/>
          </p:nvSpPr>
          <p:spPr bwMode="auto">
            <a:xfrm flipH="1">
              <a:off x="5270450" y="2091339"/>
              <a:ext cx="0" cy="3566641"/>
            </a:xfrm>
            <a:prstGeom prst="line">
              <a:avLst/>
            </a:prstGeom>
            <a:noFill/>
            <a:ln w="28575">
              <a:solidFill>
                <a:schemeClr val="tx1"/>
              </a:solidFill>
              <a:prstDash val="dash"/>
              <a:round/>
              <a:headEnd/>
              <a:tailEnd/>
            </a:ln>
          </p:spPr>
          <p:txBody>
            <a:bodyPr/>
            <a:lstStyle/>
            <a:p>
              <a:pPr algn="l" rtl="0"/>
              <a:endParaRPr lang="zh-CN" altLang="en-US" sz="1400">
                <a:latin typeface="+mn-ea"/>
                <a:ea typeface="+mn-ea"/>
              </a:endParaRPr>
            </a:p>
          </p:txBody>
        </p:sp>
      </p:grpSp>
    </p:spTree>
    <p:extLst>
      <p:ext uri="{BB962C8B-B14F-4D97-AF65-F5344CB8AC3E}">
        <p14:creationId xmlns:p14="http://schemas.microsoft.com/office/powerpoint/2010/main" val="18314382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pPr algn="l" rtl="0"/>
            <a:r>
              <a:rPr lang="en-US" altLang="zh-CN" dirty="0"/>
              <a:t>Solution 2 : Ajuster les priorités des protocoles</a:t>
            </a:r>
            <a:endParaRPr lang="zh-CN" altLang="en-US" dirty="0"/>
          </a:p>
        </p:txBody>
      </p:sp>
      <p:cxnSp>
        <p:nvCxnSpPr>
          <p:cNvPr id="37" name="直接连接符 36"/>
          <p:cNvCxnSpPr/>
          <p:nvPr/>
        </p:nvCxnSpPr>
        <p:spPr bwMode="auto">
          <a:xfrm>
            <a:off x="3158681" y="5079226"/>
            <a:ext cx="681964" cy="844106"/>
          </a:xfrm>
          <a:prstGeom prst="line">
            <a:avLst/>
          </a:prstGeom>
          <a:solidFill>
            <a:schemeClr val="accent1"/>
          </a:solidFill>
          <a:ln w="28575" cap="flat" cmpd="sng" algn="ctr">
            <a:solidFill>
              <a:srgbClr val="C00000"/>
            </a:solidFill>
            <a:prstDash val="sysDot"/>
            <a:round/>
            <a:headEnd type="none" w="med" len="med"/>
            <a:tailEnd type="none" w="med" len="med"/>
          </a:ln>
          <a:effectLst/>
        </p:spPr>
      </p:cxnSp>
      <p:cxnSp>
        <p:nvCxnSpPr>
          <p:cNvPr id="38" name="直接连接符 37"/>
          <p:cNvCxnSpPr/>
          <p:nvPr/>
        </p:nvCxnSpPr>
        <p:spPr bwMode="auto">
          <a:xfrm>
            <a:off x="5919835" y="4890739"/>
            <a:ext cx="1431341" cy="220593"/>
          </a:xfrm>
          <a:prstGeom prst="line">
            <a:avLst/>
          </a:prstGeom>
          <a:solidFill>
            <a:schemeClr val="accent1"/>
          </a:solidFill>
          <a:ln w="28575" cap="flat" cmpd="sng" algn="ctr">
            <a:solidFill>
              <a:srgbClr val="C00000"/>
            </a:solidFill>
            <a:prstDash val="sysDot"/>
            <a:round/>
            <a:headEnd type="none" w="med" len="med"/>
            <a:tailEnd type="none" w="med" len="med"/>
          </a:ln>
          <a:effectLst/>
        </p:spPr>
      </p:cxnSp>
      <p:cxnSp>
        <p:nvCxnSpPr>
          <p:cNvPr id="39" name="直接连接符 38"/>
          <p:cNvCxnSpPr/>
          <p:nvPr/>
        </p:nvCxnSpPr>
        <p:spPr bwMode="auto">
          <a:xfrm flipV="1">
            <a:off x="3297663" y="2664005"/>
            <a:ext cx="1765322" cy="636277"/>
          </a:xfrm>
          <a:prstGeom prst="line">
            <a:avLst/>
          </a:prstGeom>
          <a:solidFill>
            <a:schemeClr val="accent1"/>
          </a:solidFill>
          <a:ln w="28575" cap="flat" cmpd="sng" algn="ctr">
            <a:solidFill>
              <a:srgbClr val="C00000"/>
            </a:solidFill>
            <a:prstDash val="sysDot"/>
            <a:round/>
            <a:headEnd type="none" w="med" len="med"/>
            <a:tailEnd type="none" w="med" len="med"/>
          </a:ln>
          <a:effectLst/>
        </p:spPr>
      </p:cxnSp>
      <p:sp>
        <p:nvSpPr>
          <p:cNvPr id="40" name="Line 5"/>
          <p:cNvSpPr>
            <a:spLocks noChangeShapeType="1"/>
          </p:cNvSpPr>
          <p:nvPr/>
        </p:nvSpPr>
        <p:spPr bwMode="auto">
          <a:xfrm>
            <a:off x="6149890" y="1904761"/>
            <a:ext cx="2326593" cy="1235297"/>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cxnSp>
        <p:nvCxnSpPr>
          <p:cNvPr id="41" name="直接连接符 40"/>
          <p:cNvCxnSpPr/>
          <p:nvPr/>
        </p:nvCxnSpPr>
        <p:spPr bwMode="auto">
          <a:xfrm flipV="1">
            <a:off x="6142889" y="1657110"/>
            <a:ext cx="1208286" cy="201023"/>
          </a:xfrm>
          <a:prstGeom prst="line">
            <a:avLst/>
          </a:prstGeom>
          <a:solidFill>
            <a:schemeClr val="accent1"/>
          </a:solidFill>
          <a:ln w="28575" cap="flat" cmpd="sng" algn="ctr">
            <a:solidFill>
              <a:srgbClr val="C00000"/>
            </a:solidFill>
            <a:prstDash val="sysDot"/>
            <a:round/>
            <a:headEnd type="none" w="med" len="med"/>
            <a:tailEnd type="none" w="med" len="med"/>
          </a:ln>
          <a:effectLst/>
        </p:spPr>
      </p:cxnSp>
      <p:sp>
        <p:nvSpPr>
          <p:cNvPr id="42" name="Line 6"/>
          <p:cNvSpPr>
            <a:spLocks noChangeShapeType="1"/>
          </p:cNvSpPr>
          <p:nvPr/>
        </p:nvSpPr>
        <p:spPr bwMode="auto">
          <a:xfrm flipV="1">
            <a:off x="6245140" y="3608209"/>
            <a:ext cx="2087563" cy="1152525"/>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43" name="Line 12"/>
          <p:cNvSpPr>
            <a:spLocks noChangeShapeType="1"/>
          </p:cNvSpPr>
          <p:nvPr/>
        </p:nvSpPr>
        <p:spPr bwMode="auto">
          <a:xfrm flipV="1">
            <a:off x="3256807" y="3573444"/>
            <a:ext cx="0" cy="1295400"/>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44" name="Line 8"/>
          <p:cNvSpPr>
            <a:spLocks noChangeShapeType="1"/>
          </p:cNvSpPr>
          <p:nvPr/>
        </p:nvSpPr>
        <p:spPr bwMode="auto">
          <a:xfrm flipV="1">
            <a:off x="3538923" y="5084372"/>
            <a:ext cx="689694" cy="0"/>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47" name="Line 4"/>
          <p:cNvSpPr>
            <a:spLocks noChangeShapeType="1"/>
          </p:cNvSpPr>
          <p:nvPr/>
        </p:nvSpPr>
        <p:spPr bwMode="auto">
          <a:xfrm flipV="1">
            <a:off x="3100599" y="2015933"/>
            <a:ext cx="2610459" cy="1371775"/>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49" name="Line 7"/>
          <p:cNvSpPr>
            <a:spLocks noChangeShapeType="1"/>
          </p:cNvSpPr>
          <p:nvPr/>
        </p:nvSpPr>
        <p:spPr bwMode="auto">
          <a:xfrm>
            <a:off x="3433934" y="3500097"/>
            <a:ext cx="2271146" cy="1240445"/>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50" name="Text Box 9"/>
          <p:cNvSpPr txBox="1">
            <a:spLocks noChangeArrowheads="1"/>
          </p:cNvSpPr>
          <p:nvPr/>
        </p:nvSpPr>
        <p:spPr bwMode="auto">
          <a:xfrm>
            <a:off x="3647728" y="5156381"/>
            <a:ext cx="1481138" cy="303213"/>
          </a:xfrm>
          <a:prstGeom prst="rect">
            <a:avLst/>
          </a:prstGeom>
          <a:noFill/>
          <a:ln w="9525" algn="ctr">
            <a:noFill/>
            <a:miter lim="800000"/>
            <a:headEnd/>
            <a:tailEnd/>
          </a:ln>
        </p:spPr>
        <p:txBody>
          <a:bodyPr wrap="none" lIns="78355" tIns="39177" rIns="78355" bIns="39177" anchor="ctr"/>
          <a:lstStyle/>
          <a:p>
            <a:pPr algn="ctr" defTabSz="784225" rtl="0" eaLnBrk="0" fontAlgn="base" hangingPunct="0"/>
            <a:r>
              <a:rPr lang="en-US" altLang="zh-CN" sz="1400" b="1" dirty="0">
                <a:latin typeface="+mn-ea"/>
                <a:ea typeface="+mn-ea"/>
              </a:rPr>
              <a:t>Lo0:2.2.2.2/32</a:t>
            </a:r>
          </a:p>
        </p:txBody>
      </p:sp>
      <p:sp>
        <p:nvSpPr>
          <p:cNvPr id="51" name="WordArt 10"/>
          <p:cNvSpPr>
            <a:spLocks noChangeArrowheads="1" noChangeShapeType="1" noTextEdit="1"/>
          </p:cNvSpPr>
          <p:nvPr/>
        </p:nvSpPr>
        <p:spPr bwMode="auto">
          <a:xfrm>
            <a:off x="6431138" y="3387708"/>
            <a:ext cx="534045" cy="284410"/>
          </a:xfrm>
          <a:prstGeom prst="rect">
            <a:avLst/>
          </a:prstGeom>
        </p:spPr>
        <p:txBody>
          <a:bodyPr wrap="none" fromWordArt="1">
            <a:prstTxWarp prst="textPlain">
              <a:avLst>
                <a:gd name="adj" fmla="val 50000"/>
              </a:avLst>
            </a:prstTxWarp>
          </a:bodyPr>
          <a:lstStyle/>
          <a:p>
            <a:pPr algn="ctr" rtl="0"/>
            <a:r>
              <a:rPr lang="en-US" altLang="zh-CN" sz="3600" kern="10" dirty="0">
                <a:ln w="9525">
                  <a:solidFill>
                    <a:srgbClr val="000000"/>
                  </a:solidFill>
                  <a:round/>
                  <a:headEnd/>
                  <a:tailEnd/>
                </a:ln>
                <a:solidFill>
                  <a:srgbClr val="FFFFFF"/>
                </a:solidFill>
                <a:latin typeface="+mn-ea"/>
                <a:ea typeface="+mn-ea"/>
              </a:rPr>
              <a:t>L'EI</a:t>
            </a:r>
            <a:endParaRPr lang="zh-CN" altLang="en-US" sz="3600" kern="10" dirty="0">
              <a:ln w="9525">
                <a:solidFill>
                  <a:srgbClr val="000000"/>
                </a:solidFill>
                <a:round/>
                <a:headEnd/>
                <a:tailEnd/>
              </a:ln>
              <a:solidFill>
                <a:srgbClr val="FFFFFF"/>
              </a:solidFill>
              <a:latin typeface="+mn-ea"/>
              <a:ea typeface="+mn-ea"/>
            </a:endParaRPr>
          </a:p>
        </p:txBody>
      </p:sp>
      <p:sp>
        <p:nvSpPr>
          <p:cNvPr id="52" name="WordArt 11"/>
          <p:cNvSpPr>
            <a:spLocks noChangeArrowheads="1" noChangeShapeType="1" noTextEdit="1"/>
          </p:cNvSpPr>
          <p:nvPr/>
        </p:nvSpPr>
        <p:spPr bwMode="auto">
          <a:xfrm>
            <a:off x="5062985" y="3387708"/>
            <a:ext cx="546472" cy="284410"/>
          </a:xfrm>
          <a:prstGeom prst="rect">
            <a:avLst/>
          </a:prstGeom>
        </p:spPr>
        <p:txBody>
          <a:bodyPr wrap="none" fromWordArt="1">
            <a:prstTxWarp prst="textPlain">
              <a:avLst>
                <a:gd name="adj" fmla="val 50000"/>
              </a:avLst>
            </a:prstTxWarp>
          </a:bodyPr>
          <a:lstStyle/>
          <a:p>
            <a:pPr algn="ctr" rtl="0"/>
            <a:r>
              <a:rPr lang="en-US" altLang="zh-CN" sz="3600" kern="10" dirty="0">
                <a:ln w="9525">
                  <a:solidFill>
                    <a:srgbClr val="000000"/>
                  </a:solidFill>
                  <a:round/>
                  <a:headEnd/>
                  <a:tailEnd/>
                </a:ln>
                <a:solidFill>
                  <a:srgbClr val="FFFFFF"/>
                </a:solidFill>
                <a:latin typeface="+mn-ea"/>
                <a:ea typeface="+mn-ea"/>
              </a:rPr>
              <a:t>OSPF</a:t>
            </a:r>
            <a:endParaRPr lang="zh-CN" altLang="en-US" sz="3600" kern="10" dirty="0">
              <a:ln w="9525">
                <a:solidFill>
                  <a:srgbClr val="000000"/>
                </a:solidFill>
                <a:round/>
                <a:headEnd/>
                <a:tailEnd/>
              </a:ln>
              <a:solidFill>
                <a:srgbClr val="FFFFFF"/>
              </a:solidFill>
              <a:latin typeface="+mn-ea"/>
              <a:ea typeface="+mn-ea"/>
            </a:endParaRPr>
          </a:p>
        </p:txBody>
      </p:sp>
      <p:sp>
        <p:nvSpPr>
          <p:cNvPr id="53" name="AutoShape 20"/>
          <p:cNvSpPr>
            <a:spLocks noChangeArrowheads="1"/>
          </p:cNvSpPr>
          <p:nvPr/>
        </p:nvSpPr>
        <p:spPr bwMode="auto">
          <a:xfrm rot="10800000" flipH="1">
            <a:off x="6575153" y="2664005"/>
            <a:ext cx="792088" cy="1595437"/>
          </a:xfrm>
          <a:prstGeom prst="curvedLeftArrow">
            <a:avLst>
              <a:gd name="adj1" fmla="val 40281"/>
              <a:gd name="adj2" fmla="val 80561"/>
              <a:gd name="adj3" fmla="val 33333"/>
            </a:avLst>
          </a:prstGeom>
          <a:noFill/>
          <a:ln w="9525">
            <a:solidFill>
              <a:schemeClr val="tx1"/>
            </a:solidFill>
            <a:miter lim="800000"/>
            <a:headEnd/>
            <a:tailEnd/>
          </a:ln>
        </p:spPr>
        <p:txBody>
          <a:bodyPr wrap="none" anchor="ctr"/>
          <a:lstStyle/>
          <a:p>
            <a:pPr algn="l" rtl="0"/>
            <a:endParaRPr lang="zh-CN" altLang="en-US">
              <a:latin typeface="+mn-ea"/>
              <a:ea typeface="+mn-ea"/>
            </a:endParaRPr>
          </a:p>
        </p:txBody>
      </p:sp>
      <p:sp>
        <p:nvSpPr>
          <p:cNvPr id="54" name="Rectangle 22"/>
          <p:cNvSpPr>
            <a:spLocks noChangeArrowheads="1"/>
          </p:cNvSpPr>
          <p:nvPr/>
        </p:nvSpPr>
        <p:spPr bwMode="auto">
          <a:xfrm>
            <a:off x="2351584" y="5106533"/>
            <a:ext cx="590642"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RTA</a:t>
            </a:r>
          </a:p>
        </p:txBody>
      </p:sp>
      <p:sp>
        <p:nvSpPr>
          <p:cNvPr id="55" name="Rectangle 23"/>
          <p:cNvSpPr>
            <a:spLocks noChangeArrowheads="1"/>
          </p:cNvSpPr>
          <p:nvPr/>
        </p:nvSpPr>
        <p:spPr bwMode="auto">
          <a:xfrm>
            <a:off x="2387589" y="3197832"/>
            <a:ext cx="605903"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RTB</a:t>
            </a:r>
          </a:p>
        </p:txBody>
      </p:sp>
      <p:sp>
        <p:nvSpPr>
          <p:cNvPr id="56" name="Rectangle 24"/>
          <p:cNvSpPr>
            <a:spLocks noChangeArrowheads="1"/>
          </p:cNvSpPr>
          <p:nvPr/>
        </p:nvSpPr>
        <p:spPr bwMode="auto">
          <a:xfrm>
            <a:off x="5096529" y="1749341"/>
            <a:ext cx="582178"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RTC</a:t>
            </a:r>
          </a:p>
        </p:txBody>
      </p:sp>
      <p:sp>
        <p:nvSpPr>
          <p:cNvPr id="57" name="Rectangle 25"/>
          <p:cNvSpPr>
            <a:spLocks noChangeArrowheads="1"/>
          </p:cNvSpPr>
          <p:nvPr/>
        </p:nvSpPr>
        <p:spPr bwMode="auto">
          <a:xfrm>
            <a:off x="8720102" y="3201969"/>
            <a:ext cx="614238"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RTD</a:t>
            </a:r>
          </a:p>
        </p:txBody>
      </p:sp>
      <p:sp>
        <p:nvSpPr>
          <p:cNvPr id="58" name="Rectangle 26"/>
          <p:cNvSpPr>
            <a:spLocks noChangeArrowheads="1"/>
          </p:cNvSpPr>
          <p:nvPr/>
        </p:nvSpPr>
        <p:spPr bwMode="auto">
          <a:xfrm>
            <a:off x="5965273" y="4167913"/>
            <a:ext cx="569354" cy="339180"/>
          </a:xfrm>
          <a:prstGeom prst="rect">
            <a:avLst/>
          </a:prstGeom>
          <a:noFill/>
          <a:ln w="9525">
            <a:noFill/>
            <a:miter lim="800000"/>
            <a:headEnd/>
            <a:tailEnd/>
          </a:ln>
        </p:spPr>
        <p:txBody>
          <a:bodyPr wrap="none" lIns="92059" tIns="46030" rIns="92059" bIns="46030">
            <a:spAutoFit/>
          </a:bodyPr>
          <a:lstStyle/>
          <a:p>
            <a:pPr algn="l" rtl="0" eaLnBrk="0" fontAlgn="base" hangingPunct="0"/>
            <a:r>
              <a:rPr lang="en-GB" altLang="zh-CN" sz="1600" b="1" dirty="0">
                <a:latin typeface="+mn-ea"/>
                <a:ea typeface="+mn-ea"/>
              </a:rPr>
              <a:t>RTE</a:t>
            </a:r>
          </a:p>
        </p:txBody>
      </p:sp>
      <p:sp>
        <p:nvSpPr>
          <p:cNvPr id="59" name="Line 7"/>
          <p:cNvSpPr>
            <a:spLocks noChangeShapeType="1"/>
          </p:cNvSpPr>
          <p:nvPr/>
        </p:nvSpPr>
        <p:spPr bwMode="auto">
          <a:xfrm>
            <a:off x="4228617" y="4940356"/>
            <a:ext cx="0" cy="288032"/>
          </a:xfrm>
          <a:prstGeom prst="line">
            <a:avLst/>
          </a:prstGeom>
          <a:noFill/>
          <a:ln w="28575">
            <a:solidFill>
              <a:schemeClr val="tx1"/>
            </a:solidFill>
            <a:round/>
            <a:headEnd/>
            <a:tailEnd/>
          </a:ln>
        </p:spPr>
        <p:txBody>
          <a:bodyPr/>
          <a:lstStyle/>
          <a:p>
            <a:pPr algn="l" rtl="0"/>
            <a:endParaRPr lang="zh-CN" altLang="en-US">
              <a:latin typeface="+mn-ea"/>
              <a:ea typeface="+mn-ea"/>
            </a:endParaRPr>
          </a:p>
        </p:txBody>
      </p:sp>
      <p:sp>
        <p:nvSpPr>
          <p:cNvPr id="60" name="AutoShape 20"/>
          <p:cNvSpPr>
            <a:spLocks noChangeArrowheads="1"/>
          </p:cNvSpPr>
          <p:nvPr/>
        </p:nvSpPr>
        <p:spPr bwMode="auto">
          <a:xfrm flipH="1">
            <a:off x="4774953" y="2808022"/>
            <a:ext cx="720080" cy="1595437"/>
          </a:xfrm>
          <a:prstGeom prst="curvedLeftArrow">
            <a:avLst>
              <a:gd name="adj1" fmla="val 40281"/>
              <a:gd name="adj2" fmla="val 91371"/>
              <a:gd name="adj3" fmla="val 33333"/>
            </a:avLst>
          </a:prstGeom>
          <a:noFill/>
          <a:ln w="9525">
            <a:solidFill>
              <a:schemeClr val="tx1"/>
            </a:solidFill>
            <a:miter lim="800000"/>
            <a:headEnd/>
            <a:tailEnd/>
          </a:ln>
        </p:spPr>
        <p:txBody>
          <a:bodyPr wrap="none" anchor="ctr"/>
          <a:lstStyle/>
          <a:p>
            <a:pPr algn="l" rtl="0"/>
            <a:endParaRPr lang="zh-CN" altLang="en-US">
              <a:latin typeface="+mn-ea"/>
              <a:ea typeface="+mn-ea"/>
            </a:endParaRPr>
          </a:p>
        </p:txBody>
      </p:sp>
      <p:sp>
        <p:nvSpPr>
          <p:cNvPr id="61" name="Rectangle 9"/>
          <p:cNvSpPr>
            <a:spLocks noChangeArrowheads="1"/>
          </p:cNvSpPr>
          <p:nvPr/>
        </p:nvSpPr>
        <p:spPr bwMode="auto">
          <a:xfrm>
            <a:off x="3184800" y="4554584"/>
            <a:ext cx="870989" cy="277760"/>
          </a:xfrm>
          <a:prstGeom prst="rect">
            <a:avLst/>
          </a:prstGeom>
          <a:noFill/>
          <a:ln w="9525">
            <a:noFill/>
            <a:miter lim="800000"/>
            <a:headEnd/>
            <a:tailEnd/>
          </a:ln>
        </p:spPr>
        <p:txBody>
          <a:bodyPr wrap="none" lIns="107433" tIns="53717" rIns="107433" bIns="53717">
            <a:spAutoFit/>
          </a:bodyPr>
          <a:lstStyle/>
          <a:p>
            <a:pPr algn="l" defTabSz="1066800" rtl="0" eaLnBrk="0" fontAlgn="base" hangingPunct="0"/>
            <a:r>
              <a:rPr lang="en-GB" altLang="zh-CN" sz="1050" dirty="0">
                <a:latin typeface="+mn-ea"/>
                <a:ea typeface="+mn-ea"/>
              </a:rPr>
              <a:t>12.12.12.1</a:t>
            </a:r>
            <a:endParaRPr lang="zh-CN" altLang="en-GB" sz="1050" dirty="0">
              <a:latin typeface="+mn-ea"/>
              <a:ea typeface="+mn-ea"/>
            </a:endParaRPr>
          </a:p>
        </p:txBody>
      </p:sp>
      <p:sp>
        <p:nvSpPr>
          <p:cNvPr id="62" name="AutoShape 17"/>
          <p:cNvSpPr>
            <a:spLocks noChangeArrowheads="1"/>
          </p:cNvSpPr>
          <p:nvPr/>
        </p:nvSpPr>
        <p:spPr bwMode="auto">
          <a:xfrm>
            <a:off x="7170152" y="1319803"/>
            <a:ext cx="2304000" cy="870111"/>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algn="l" rtl="0" fontAlgn="base">
              <a:lnSpc>
                <a:spcPct val="60000"/>
              </a:lnSpc>
              <a:spcBef>
                <a:spcPct val="20000"/>
              </a:spcBef>
              <a:spcAft>
                <a:spcPct val="20000"/>
              </a:spcAft>
            </a:pPr>
            <a:r>
              <a:rPr kumimoji="1" lang="en-US" altLang="zh-CN" sz="1400" b="1" dirty="0">
                <a:latin typeface="+mn-ea"/>
                <a:ea typeface="+mn-ea"/>
              </a:rPr>
              <a:t>isis 1</a:t>
            </a:r>
          </a:p>
          <a:p>
            <a:pPr algn="l" rtl="0" fontAlgn="base">
              <a:lnSpc>
                <a:spcPct val="60000"/>
              </a:lnSpc>
              <a:spcBef>
                <a:spcPct val="20000"/>
              </a:spcBef>
              <a:spcAft>
                <a:spcPct val="20000"/>
              </a:spcAft>
            </a:pPr>
            <a:r>
              <a:rPr kumimoji="1" lang="en-US" altLang="zh-CN" sz="1400" b="1" dirty="0">
                <a:latin typeface="+mn-ea"/>
                <a:ea typeface="+mn-ea"/>
              </a:rPr>
              <a:t> </a:t>
            </a:r>
            <a:r>
              <a:rPr kumimoji="1" lang="en-US" altLang="zh-CN" sz="1400" b="1" dirty="0">
                <a:solidFill>
                  <a:srgbClr val="C00000"/>
                </a:solidFill>
                <a:latin typeface="+mn-ea"/>
                <a:ea typeface="+mn-ea"/>
              </a:rPr>
              <a:t>préférence 160</a:t>
            </a:r>
          </a:p>
          <a:p>
            <a:pPr algn="l" rtl="0" fontAlgn="base">
              <a:lnSpc>
                <a:spcPct val="60000"/>
              </a:lnSpc>
              <a:spcBef>
                <a:spcPct val="20000"/>
              </a:spcBef>
              <a:spcAft>
                <a:spcPct val="20000"/>
              </a:spcAft>
            </a:pPr>
            <a:r>
              <a:rPr kumimoji="1" lang="en-US" altLang="zh-CN" sz="1400" b="1" dirty="0">
                <a:latin typeface="+mn-ea"/>
                <a:ea typeface="+mn-ea"/>
              </a:rPr>
              <a:t>ospf 1</a:t>
            </a:r>
          </a:p>
          <a:p>
            <a:pPr algn="l" rtl="0" fontAlgn="base">
              <a:lnSpc>
                <a:spcPct val="60000"/>
              </a:lnSpc>
              <a:spcBef>
                <a:spcPct val="20000"/>
              </a:spcBef>
              <a:spcAft>
                <a:spcPct val="20000"/>
              </a:spcAft>
            </a:pPr>
            <a:r>
              <a:rPr kumimoji="1" lang="en-US" altLang="zh-CN" sz="1400" b="1" dirty="0">
                <a:latin typeface="+mn-ea"/>
                <a:ea typeface="+mn-ea"/>
              </a:rPr>
              <a:t>route d'importation isis 1</a:t>
            </a:r>
          </a:p>
        </p:txBody>
      </p:sp>
      <p:sp>
        <p:nvSpPr>
          <p:cNvPr id="64" name="AutoShape 17"/>
          <p:cNvSpPr>
            <a:spLocks noChangeArrowheads="1"/>
          </p:cNvSpPr>
          <p:nvPr/>
        </p:nvSpPr>
        <p:spPr bwMode="auto">
          <a:xfrm>
            <a:off x="7080176" y="4916162"/>
            <a:ext cx="2268000" cy="439224"/>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algn="l" defTabSz="784225" rtl="0" fontAlgn="base">
              <a:lnSpc>
                <a:spcPct val="60000"/>
              </a:lnSpc>
              <a:spcBef>
                <a:spcPct val="20000"/>
              </a:spcBef>
              <a:spcAft>
                <a:spcPct val="20000"/>
              </a:spcAft>
              <a:buClr>
                <a:srgbClr val="990000"/>
              </a:buClr>
              <a:buSzPct val="85000"/>
            </a:pPr>
            <a:r>
              <a:rPr lang="fr-FR" altLang="zh-CN" sz="1400" b="1" dirty="0">
                <a:latin typeface="+mn-ea"/>
                <a:ea typeface="+mn-ea"/>
              </a:rPr>
              <a:t>isis 1</a:t>
            </a:r>
          </a:p>
          <a:p>
            <a:pPr algn="l" defTabSz="784225" rtl="0" fontAlgn="base">
              <a:lnSpc>
                <a:spcPct val="60000"/>
              </a:lnSpc>
              <a:spcBef>
                <a:spcPct val="20000"/>
              </a:spcBef>
              <a:spcAft>
                <a:spcPct val="20000"/>
              </a:spcAft>
              <a:buClr>
                <a:srgbClr val="990000"/>
              </a:buClr>
              <a:buSzPct val="85000"/>
            </a:pPr>
            <a:r>
              <a:rPr lang="fr-FR" altLang="zh-CN" sz="1400" b="1" dirty="0">
                <a:latin typeface="+mn-ea"/>
                <a:ea typeface="+mn-ea"/>
              </a:rPr>
              <a:t>route d'importation ospf 1</a:t>
            </a:r>
          </a:p>
        </p:txBody>
      </p:sp>
      <p:sp>
        <p:nvSpPr>
          <p:cNvPr id="65" name="AutoShape 17"/>
          <p:cNvSpPr>
            <a:spLocks noChangeArrowheads="1"/>
          </p:cNvSpPr>
          <p:nvPr/>
        </p:nvSpPr>
        <p:spPr bwMode="auto">
          <a:xfrm>
            <a:off x="2919199" y="5729645"/>
            <a:ext cx="3046074" cy="439224"/>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algn="l" defTabSz="784225" rtl="0" fontAlgn="base">
              <a:lnSpc>
                <a:spcPct val="60000"/>
              </a:lnSpc>
              <a:spcBef>
                <a:spcPct val="20000"/>
              </a:spcBef>
              <a:spcAft>
                <a:spcPct val="20000"/>
              </a:spcAft>
              <a:buClr>
                <a:srgbClr val="990000"/>
              </a:buClr>
              <a:buSzPct val="85000"/>
            </a:pPr>
            <a:r>
              <a:rPr lang="en-US" altLang="zh-CN" sz="1400" b="1" dirty="0">
                <a:latin typeface="+mn-ea"/>
                <a:ea typeface="+mn-ea"/>
              </a:rPr>
              <a:t>ospf 1</a:t>
            </a:r>
          </a:p>
          <a:p>
            <a:pPr algn="l" defTabSz="784225" rtl="0" fontAlgn="base">
              <a:lnSpc>
                <a:spcPct val="60000"/>
              </a:lnSpc>
              <a:spcBef>
                <a:spcPct val="20000"/>
              </a:spcBef>
              <a:spcAft>
                <a:spcPct val="20000"/>
              </a:spcAft>
              <a:buClr>
                <a:srgbClr val="990000"/>
              </a:buClr>
              <a:buSzPct val="85000"/>
            </a:pPr>
            <a:r>
              <a:rPr lang="en-US" altLang="zh-CN" sz="1400" b="1" dirty="0">
                <a:latin typeface="+mn-ea"/>
                <a:ea typeface="+mn-ea"/>
              </a:rPr>
              <a:t>coût direct de la voie d'importation 2</a:t>
            </a:r>
          </a:p>
        </p:txBody>
      </p:sp>
      <p:pic>
        <p:nvPicPr>
          <p:cNvPr id="6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700291" y="1524914"/>
            <a:ext cx="628652" cy="514351"/>
          </a:xfrm>
          <a:prstGeom prst="rect">
            <a:avLst/>
          </a:prstGeom>
          <a:noFill/>
        </p:spPr>
      </p:pic>
      <p:pic>
        <p:nvPicPr>
          <p:cNvPr id="6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088126" y="3100240"/>
            <a:ext cx="628652" cy="514351"/>
          </a:xfrm>
          <a:prstGeom prst="rect">
            <a:avLst/>
          </a:prstGeom>
          <a:noFill/>
        </p:spPr>
      </p:pic>
      <p:pic>
        <p:nvPicPr>
          <p:cNvPr id="6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674329" y="4502028"/>
            <a:ext cx="628652" cy="514351"/>
          </a:xfrm>
          <a:prstGeom prst="rect">
            <a:avLst/>
          </a:prstGeom>
          <a:noFill/>
        </p:spPr>
      </p:pic>
      <p:pic>
        <p:nvPicPr>
          <p:cNvPr id="6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963467" y="3093620"/>
            <a:ext cx="628652" cy="514351"/>
          </a:xfrm>
          <a:prstGeom prst="rect">
            <a:avLst/>
          </a:prstGeom>
          <a:noFill/>
        </p:spPr>
      </p:pic>
      <p:pic>
        <p:nvPicPr>
          <p:cNvPr id="7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942481" y="4822050"/>
            <a:ext cx="628652" cy="514351"/>
          </a:xfrm>
          <a:prstGeom prst="rect">
            <a:avLst/>
          </a:prstGeom>
          <a:noFill/>
        </p:spPr>
      </p:pic>
      <p:sp>
        <p:nvSpPr>
          <p:cNvPr id="71" name="Line 31"/>
          <p:cNvSpPr>
            <a:spLocks noChangeShapeType="1"/>
          </p:cNvSpPr>
          <p:nvPr/>
        </p:nvSpPr>
        <p:spPr bwMode="auto">
          <a:xfrm flipH="1">
            <a:off x="5999089" y="1617645"/>
            <a:ext cx="31056" cy="3566641"/>
          </a:xfrm>
          <a:prstGeom prst="line">
            <a:avLst/>
          </a:prstGeom>
          <a:noFill/>
          <a:ln w="28575">
            <a:solidFill>
              <a:schemeClr val="tx1"/>
            </a:solidFill>
            <a:prstDash val="dash"/>
            <a:round/>
            <a:headEnd/>
            <a:tailEnd/>
          </a:ln>
        </p:spPr>
        <p:txBody>
          <a:bodyPr/>
          <a:lstStyle/>
          <a:p>
            <a:pPr algn="l" rtl="0"/>
            <a:endParaRPr lang="zh-CN" altLang="en-US">
              <a:latin typeface="+mn-ea"/>
              <a:ea typeface="+mn-ea"/>
            </a:endParaRPr>
          </a:p>
        </p:txBody>
      </p:sp>
      <p:sp>
        <p:nvSpPr>
          <p:cNvPr id="72" name="AutoShape 17"/>
          <p:cNvSpPr>
            <a:spLocks noChangeArrowheads="1"/>
          </p:cNvSpPr>
          <p:nvPr/>
        </p:nvSpPr>
        <p:spPr bwMode="auto">
          <a:xfrm>
            <a:off x="3020118" y="2291544"/>
            <a:ext cx="6314409" cy="654667"/>
          </a:xfrm>
          <a:prstGeom prst="roundRect">
            <a:avLst>
              <a:gd name="adj" fmla="val 0"/>
            </a:avLst>
          </a:prstGeom>
          <a:solidFill>
            <a:schemeClr val="bg1">
              <a:lumMod val="85000"/>
            </a:schemeClr>
          </a:solidFill>
          <a:ln w="12700" algn="ctr">
            <a:noFill/>
            <a:round/>
            <a:headEnd/>
            <a:tailEnd/>
          </a:ln>
          <a:effectLst/>
        </p:spPr>
        <p:txBody>
          <a:bodyPr wrap="square" lIns="90000" tIns="46800" rIns="90000" bIns="46800" anchor="ctr" anchorCtr="1">
            <a:spAutoFit/>
          </a:bodyPr>
          <a:lstStyle/>
          <a:p>
            <a:pPr algn="l" rtl="0" fontAlgn="base">
              <a:lnSpc>
                <a:spcPct val="60000"/>
              </a:lnSpc>
              <a:spcBef>
                <a:spcPct val="20000"/>
              </a:spcBef>
              <a:spcAft>
                <a:spcPct val="20000"/>
              </a:spcAft>
            </a:pPr>
            <a:r>
              <a:rPr kumimoji="1" lang="en-US" altLang="zh-CN" sz="1400" b="1" dirty="0">
                <a:latin typeface="+mn-ea"/>
                <a:ea typeface="+mn-ea"/>
              </a:rPr>
              <a:t>afficher</a:t>
            </a:r>
            <a:r>
              <a:rPr kumimoji="1" lang="en-US" altLang="zh-CN" sz="1400" b="1" dirty="0" err="1">
                <a:latin typeface="+mn-ea"/>
                <a:ea typeface="+mn-ea"/>
              </a:rPr>
              <a:t>adresse IP</a:t>
            </a:r>
            <a:r>
              <a:rPr kumimoji="1" lang="en-US" altLang="zh-CN" sz="1400" b="1" dirty="0">
                <a:latin typeface="+mn-ea"/>
                <a:ea typeface="+mn-ea"/>
              </a:rPr>
              <a:t>table de routage</a:t>
            </a:r>
          </a:p>
          <a:p>
            <a:pPr algn="l" rtl="0" fontAlgn="base">
              <a:lnSpc>
                <a:spcPct val="60000"/>
              </a:lnSpc>
              <a:spcBef>
                <a:spcPct val="20000"/>
              </a:spcBef>
              <a:spcAft>
                <a:spcPct val="20000"/>
              </a:spcAft>
            </a:pPr>
            <a:r>
              <a:rPr kumimoji="1" lang="en-US" altLang="zh-CN" sz="1400" dirty="0">
                <a:latin typeface="+mn-ea"/>
                <a:ea typeface="+mn-ea"/>
              </a:rPr>
              <a:t>Coût du prototype de destination/masque     </a:t>
            </a:r>
            <a:r>
              <a:rPr kumimoji="1" lang="en-US" altLang="zh-CN" sz="1400" dirty="0" err="1">
                <a:latin typeface="+mn-ea"/>
                <a:ea typeface="+mn-ea"/>
              </a:rPr>
              <a:t>NextHop</a:t>
            </a:r>
            <a:r>
              <a:rPr kumimoji="1" lang="en-US" altLang="zh-CN" sz="1400" dirty="0">
                <a:latin typeface="+mn-ea"/>
                <a:ea typeface="+mn-ea"/>
              </a:rPr>
              <a:t>     Interface</a:t>
            </a:r>
          </a:p>
          <a:p>
            <a:pPr algn="l" rtl="0" fontAlgn="base">
              <a:lnSpc>
                <a:spcPct val="60000"/>
              </a:lnSpc>
              <a:spcBef>
                <a:spcPct val="20000"/>
              </a:spcBef>
              <a:spcAft>
                <a:spcPct val="20000"/>
              </a:spcAft>
            </a:pPr>
            <a:r>
              <a:rPr kumimoji="1" lang="en-US" altLang="zh-CN" sz="1400" dirty="0">
                <a:latin typeface="+mn-ea"/>
                <a:ea typeface="+mn-ea"/>
              </a:rPr>
              <a:t>2.2.2.2/32 O_ASE   150     2 12.12.12.1 Numéro de série 0</a:t>
            </a:r>
          </a:p>
        </p:txBody>
      </p:sp>
    </p:spTree>
    <p:extLst>
      <p:ext uri="{BB962C8B-B14F-4D97-AF65-F5344CB8AC3E}">
        <p14:creationId xmlns:p14="http://schemas.microsoft.com/office/powerpoint/2010/main" val="17890589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文本占位符 2"/>
          <p:cNvSpPr>
            <a:spLocks noGrp="1"/>
          </p:cNvSpPr>
          <p:nvPr>
            <p:ph type="body" sz="quarter" idx="10"/>
          </p:nvPr>
        </p:nvSpPr>
        <p:spPr/>
        <p:txBody>
          <a:bodyPr/>
          <a:lstStyle/>
          <a:p>
            <a:pPr algn="l" rtl="0"/>
            <a:r>
              <a:rPr lang="en-US" altLang="zh-CN">
                <a:sym typeface="FrutigerNext LT Regular" pitchFamily="34" charset="0"/>
              </a:rPr>
              <a:t>Peut-on utiliser la liste des préfixes IP pour filtrer les paquets IP ?</a:t>
            </a:r>
          </a:p>
          <a:p>
            <a:pPr algn="l" rtl="0"/>
            <a:r>
              <a:rPr lang="en-US" altLang="zh-CN">
                <a:sym typeface="FrutigerNext LT Regular" pitchFamily="34" charset="0"/>
              </a:rPr>
              <a:t>Quelles méthodes peuvent être utilisées pour modifier les itinéraires de circulation ?</a:t>
            </a:r>
          </a:p>
          <a:p>
            <a:pPr algn="l" rtl="0"/>
            <a:r>
              <a:rPr lang="en-US" altLang="zh-CN">
                <a:sym typeface="FrutigerNext LT Regular" pitchFamily="34" charset="0"/>
              </a:rPr>
              <a:t>Quels problèmes peuvent être causés par l'importation d'itinéraires et quelles sont les solutions ?</a:t>
            </a:r>
            <a:endParaRPr lang="en-US" altLang="zh-CN" dirty="0">
              <a:sym typeface="FrutigerNext LT Regular" pitchFamily="34" charset="0"/>
            </a:endParaRPr>
          </a:p>
        </p:txBody>
      </p:sp>
    </p:spTree>
    <p:extLst>
      <p:ext uri="{BB962C8B-B14F-4D97-AF65-F5344CB8AC3E}">
        <p14:creationId xmlns:p14="http://schemas.microsoft.com/office/powerpoint/2010/main" val="11909053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55713619"/>
      </p:ext>
    </p:extLst>
  </p:cSld>
  <p:clrMapOvr>
    <a:masterClrMapping/>
  </p:clrMapOvr>
</p:sld>
</file>

<file path=ppt/theme/theme1.xml><?xml version="1.0" encoding="utf-8"?>
<a:theme xmlns:a="http://schemas.openxmlformats.org/drawingml/2006/main" name="培训与认证部-母版">
  <a:themeElements>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fontScheme name="V3.0胶片模板字体">
      <a:majorFont>
        <a:latin typeface="微软雅黑"/>
        <a:ea typeface="黑体"/>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lnDef>
    <a:txDef>
      <a:spPr bwMode="auto">
        <a:noFill/>
        <a:ln w="9525" algn="ctr">
          <a:noFill/>
          <a:miter lim="800000"/>
          <a:headEnd/>
          <a:tailEnd/>
        </a:ln>
      </a:spPr>
      <a:bodyPr vert="horz" wrap="square" lIns="87802" tIns="43901" rIns="87802" bIns="43901" numCol="1" anchor="ctr" anchorCtr="0" compatLnSpc="1">
        <a:prstTxWarp prst="textNoShape">
          <a:avLst/>
        </a:prstTxWarp>
      </a:bodyPr>
      <a:lstStyle>
        <a:defPPr>
          <a:defRPr dirty="0" smtClean="0"/>
        </a:defPPr>
      </a:lstStyle>
    </a:txDef>
  </a:objectDefaults>
  <a:extraClrSchemeLst>
    <a:extraClrScheme>
      <a:clrScheme name="default 1">
        <a:dk1>
          <a:srgbClr val="000000"/>
        </a:dk1>
        <a:lt1>
          <a:srgbClr val="FFFFFF"/>
        </a:lt1>
        <a:dk2>
          <a:srgbClr val="990000"/>
        </a:dk2>
        <a:lt2>
          <a:srgbClr val="CCCCCC"/>
        </a:lt2>
        <a:accent1>
          <a:srgbClr val="99CCCC"/>
        </a:accent1>
        <a:accent2>
          <a:srgbClr val="990000"/>
        </a:accent2>
        <a:accent3>
          <a:srgbClr val="FFFFFF"/>
        </a:accent3>
        <a:accent4>
          <a:srgbClr val="000000"/>
        </a:accent4>
        <a:accent5>
          <a:srgbClr val="CAE2E2"/>
        </a:accent5>
        <a:accent6>
          <a:srgbClr val="8A0000"/>
        </a:accent6>
        <a:hlink>
          <a:srgbClr val="009999"/>
        </a:hlink>
        <a:folHlink>
          <a:srgbClr val="999999"/>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CCCCCC"/>
        </a:lt2>
        <a:accent1>
          <a:srgbClr val="CCFF99"/>
        </a:accent1>
        <a:accent2>
          <a:srgbClr val="990000"/>
        </a:accent2>
        <a:accent3>
          <a:srgbClr val="FFFFFF"/>
        </a:accent3>
        <a:accent4>
          <a:srgbClr val="000000"/>
        </a:accent4>
        <a:accent5>
          <a:srgbClr val="E2FFCA"/>
        </a:accent5>
        <a:accent6>
          <a:srgbClr val="8A0000"/>
        </a:accent6>
        <a:hlink>
          <a:srgbClr val="669900"/>
        </a:hlink>
        <a:folHlink>
          <a:srgbClr val="9999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CCCCCC"/>
        </a:lt2>
        <a:accent1>
          <a:srgbClr val="FFCC99"/>
        </a:accent1>
        <a:accent2>
          <a:srgbClr val="990000"/>
        </a:accent2>
        <a:accent3>
          <a:srgbClr val="FFFFFF"/>
        </a:accent3>
        <a:accent4>
          <a:srgbClr val="000000"/>
        </a:accent4>
        <a:accent5>
          <a:srgbClr val="FFE2CA"/>
        </a:accent5>
        <a:accent6>
          <a:srgbClr val="8A0000"/>
        </a:accent6>
        <a:hlink>
          <a:srgbClr val="FF9900"/>
        </a:hlink>
        <a:folHlink>
          <a:srgbClr val="99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CCCCCC"/>
        </a:lt2>
        <a:accent1>
          <a:srgbClr val="FF9900"/>
        </a:accent1>
        <a:accent2>
          <a:srgbClr val="990000"/>
        </a:accent2>
        <a:accent3>
          <a:srgbClr val="FFFFFF"/>
        </a:accent3>
        <a:accent4>
          <a:srgbClr val="000000"/>
        </a:accent4>
        <a:accent5>
          <a:srgbClr val="FFCAAA"/>
        </a:accent5>
        <a:accent6>
          <a:srgbClr val="8A0000"/>
        </a:accent6>
        <a:hlink>
          <a:srgbClr val="99660A"/>
        </a:hlink>
        <a:folHlink>
          <a:srgbClr val="9999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CCCCCC"/>
        </a:lt2>
        <a:accent1>
          <a:srgbClr val="CCCCFF"/>
        </a:accent1>
        <a:accent2>
          <a:srgbClr val="990000"/>
        </a:accent2>
        <a:accent3>
          <a:srgbClr val="FFFFFF"/>
        </a:accent3>
        <a:accent4>
          <a:srgbClr val="000000"/>
        </a:accent4>
        <a:accent5>
          <a:srgbClr val="E2E2FF"/>
        </a:accent5>
        <a:accent6>
          <a:srgbClr val="8A0000"/>
        </a:accent6>
        <a:hlink>
          <a:srgbClr val="006699"/>
        </a:hlink>
        <a:folHlink>
          <a:srgbClr val="999999"/>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3">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0" ma:contentTypeDescription="Create a new document." ma:contentTypeScope="" ma:versionID="2e6df93c5ac01bc0ba5a39bebe33c6df">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723E6701-3943-4A44-84F3-F772B5088830}">
  <ds:schemaRefs>
    <ds:schemaRef ds:uri="http://schemas.microsoft.com/sharepoint/v3/contenttype/forms"/>
  </ds:schemaRefs>
</ds:datastoreItem>
</file>

<file path=customXml/itemProps2.xml><?xml version="1.0" encoding="utf-8"?>
<ds:datastoreItem xmlns:ds="http://schemas.openxmlformats.org/officeDocument/2006/customXml" ds:itemID="{525852FC-06B0-4DF8-A4EC-FAC137F417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EAE3093B-232B-4C15-AB25-7F1FBE134870}">
  <ds:schemaRef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69681</TotalTime>
  <Words>15126</Words>
  <Application>Microsoft Office PowerPoint</Application>
  <PresentationFormat>Grand écran</PresentationFormat>
  <Paragraphs>761</Paragraphs>
  <Slides>44</Slides>
  <Notes>44</Notes>
  <HiddenSlides>2</HiddenSlides>
  <MMClips>0</MMClips>
  <ScaleCrop>false</ScaleCrop>
  <HeadingPairs>
    <vt:vector size="8" baseType="variant">
      <vt:variant>
        <vt:lpstr>Polices utilisées</vt:lpstr>
      </vt:variant>
      <vt:variant>
        <vt:i4>9</vt:i4>
      </vt:variant>
      <vt:variant>
        <vt:lpstr>Thème</vt:lpstr>
      </vt:variant>
      <vt:variant>
        <vt:i4>1</vt:i4>
      </vt:variant>
      <vt:variant>
        <vt:lpstr>Serveurs OLE incorporés</vt:lpstr>
      </vt:variant>
      <vt:variant>
        <vt:i4>1</vt:i4>
      </vt:variant>
      <vt:variant>
        <vt:lpstr>Titres des diapositives</vt:lpstr>
      </vt:variant>
      <vt:variant>
        <vt:i4>44</vt:i4>
      </vt:variant>
    </vt:vector>
  </HeadingPairs>
  <TitlesOfParts>
    <vt:vector size="55" baseType="lpstr">
      <vt:lpstr>微软雅黑</vt:lpstr>
      <vt:lpstr>黑体</vt:lpstr>
      <vt:lpstr>宋体</vt:lpstr>
      <vt:lpstr>Arial</vt:lpstr>
      <vt:lpstr>Courier New</vt:lpstr>
      <vt:lpstr>FrutigerNext LT Light</vt:lpstr>
      <vt:lpstr>FrutigerNext LT Medium</vt:lpstr>
      <vt:lpstr>FrutigerNext LT Regular</vt:lpstr>
      <vt:lpstr>Wingdings</vt:lpstr>
      <vt:lpstr>培训与认证部-母版</vt:lpstr>
      <vt:lpstr>包装程序外壳对象</vt:lpstr>
      <vt:lpstr>Contrôle d'itinéraire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Autres problèmes causés par la boucle multiprotocole</vt:lpstr>
      <vt:lpstr>Présentation PowerPoint</vt:lpstr>
      <vt:lpstr>Présentation PowerPoint</vt:lpstr>
      <vt:lpstr>Présentation PowerPoint</vt:lpstr>
      <vt:lpstr>Présentation PowerPoint</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0</dc:title>
  <dc:creator>c37402</dc:creator>
  <cp:lastModifiedBy>SOUARE</cp:lastModifiedBy>
  <cp:revision>2534</cp:revision>
  <dcterms:created xsi:type="dcterms:W3CDTF">2003-08-21T06:48:56Z</dcterms:created>
  <dcterms:modified xsi:type="dcterms:W3CDTF">2026-02-13T18:36:08Z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(11)3UhSoOyFRqszoDxskLpj5cCgHy0/Ke5a2v36AUt5KrgSjqJy4EvmEMiX5YGaXFvp9/UK33Tw_x000d_ RaJW6EwaME9+dHZpcw3Qvwx3X7+7GB6JsqeHubWWQ6I3ypfAK+5vZMWsyNDf33Q+yGzlBfYD_x000d_ OIxQyuEVYPacOcTgO0GGMLWMsFSrAduWXi7lDNFdBfllJdxWMbs3FZsryX4VjGFDgDu63a6N_x000d_ xu0BGaqu6EF4Ju8poQ</vt:lpwstr>
  </property>
  <property fmtid="{D5CDD505-2E9C-101B-9397-08002B2CF9AE}" pid="3" name="_ms_pID_7253431">
    <vt:lpwstr>BMOYFB6vneTRz7L1g0JJ22H5/isfqcfzh5pBpQdNEd/89Bu2iKf9rF_x000d_ 8op/8IkqLeMh+keGDgdcj0lWvNSDrOiKETLVLHKf0dAV/wbUZ1Pl7vsyjFd1JF5Sf0W2EphX_x000d_ kKThqtFyyfZrx1rpBmQNejSbMMFaLTOhJRIkS1kte6dPRjiNcn8xXAQwCfg3MVqEesS/QFUS_x000d_ 0434uENqVn3WpAxX7t7QHrSfmaRXx4stZ0aQ</vt:lpwstr>
  </property>
  <property fmtid="{D5CDD505-2E9C-101B-9397-08002B2CF9AE}" pid="4" name="_ms_pID_7253432">
    <vt:lpwstr>GlOhGokx+m1IQbE70sXTnuxTIMf68mvALZnx_x000d_ Ap3/iFwG1LihCpUCHf3Bn2ll5x23Yax8rhDQQtrN1FnZFQ+cIj2o+7GIyP6ibG2HnXSKhrF0_x000d_ vPb1zyvTEXDg5RRTl9mncM3qDJ57f7PknXx06TDv+x7A8WWQj9+kQijlJ2TzwFBui7LtkmpH_x000d_ +mYGiVPOsW+HAtEsl7A7QZExQOhpwhAKMowhwI7jB8gr0KFQzNskLY</vt:lpwstr>
  </property>
  <property fmtid="{D5CDD505-2E9C-101B-9397-08002B2CF9AE}" pid="5" name="_ms_pID_7253433">
    <vt:lpwstr>wdIY6NepULtXPaJiBT_x000d_ /NMRWPBa1Alrv+5zAztbQlwb14ItSrxj60fGWez57M9Y3Nc4tyEb941dzOsuIhoTncg4RVmX_x000d_ eIeh+kU6g7eOHI10wgRC7DyP2ooQ+zhQFN0L7N5Mhaj1f9/5QtY13CoxxVFyGTcNauHWJ/c/_x000d_ xy0hCj36m3LnI3+Mp3x+uuharMKms1ddOydlHr6th8+Xl0sscO+2Zg0PmeesnZ8SxgDRDgR/</vt:lpwstr>
  </property>
  <property fmtid="{D5CDD505-2E9C-101B-9397-08002B2CF9AE}" pid="6" name="_ms_pID_7253434">
    <vt:lpwstr>_x000d_ 06fuLz5Gs8F0062xWxQ4bNWmlQvUIY4ng3ooElJg7LpATs2N9FWODlMO09ItIhhhfBl71QoV_x000d_ TtICtiXbCRS8Mgf/00AXGY8En0/xvatrf6I7cF468IRRjRyCdV90XxXwVeExV5j1jZDrC2Jq_x000d_ l5GwJ4VyV9PDCqrI+drn/Y0ThOgfgW1VVXGo11fNi/vEjhI9/V83n6i9wMsMQkvlBqW/TwEs_x000d_ 6YoFjibjQLqH5ZQL</vt:lpwstr>
  </property>
  <property fmtid="{D5CDD505-2E9C-101B-9397-08002B2CF9AE}" pid="7" name="_ms_pID_7253435">
    <vt:lpwstr>aGcNmArSL7sKVRrXgCFeQCME3tSlGMGc1nn3F68Tlh0VzDGXMvPzk5kK_x000d_ zswiwHIYB5Bp7la8BzkurY4rONAlJzypOuUxaz8M6JW8maYWkfR3VJZ9uDKrtHfxmF7oTknV_x000d_ 0D0s5bhsrWyCgRnFkF9vpWQ0HdNdJ/2yrkO382WhWcp+N1RcxBubAoHCpm0gsHtQiWYFGoBM_x000d_ oL2nyqm6y/khwj5dIudnbisyKT+S1wWA/t</vt:lpwstr>
  </property>
  <property fmtid="{D5CDD505-2E9C-101B-9397-08002B2CF9AE}" pid="8" name="_ms_pID_7253436">
    <vt:lpwstr>TPllG6Veed9GUlfwC8cLvU8QTryE4UhobeLDXG_x000d_ ei/t7XTbTtZri5zsO3DNoARD9e5R0QxzxMu5us2xNAlqcl2eWKopk7Zmn3kTYohGakKPewGh_x000d_ +QpZycsMjFwTpwdQ8yEfaFYb67HvULkFee89Nr2/rJ/FIQdYMD2wcY1bIxGR3TNy2EhIqUh/_x000d_ 0UOiZ8P9lZw1EVxEj6INNKvwYGinwlBZGf2zpYz8UKIDbXx/LEzD</vt:lpwstr>
  </property>
  <property fmtid="{D5CDD505-2E9C-101B-9397-08002B2CF9AE}" pid="9" name="_ms_pID_7253437">
    <vt:lpwstr>ebjDDi5yUz3Atc4gUDb5_x000d_ +tv7+/b3L3sSem+xAm+C56IrhQpLVAKzS4HQh4O4UlqzYfcAOwFKAvwL4r6PwKKbnvmtnSvL_x000d_ fZ/ANFRbTWLaGmxYEefif/jPJGJYmp0uxtoD913402+R83n60akKT2NMT0MpTW3OvYxduzAB_x000d_ EQ2MqKNVY8rsHdLmLSoQxG0nO9feCHgC9YQHC85IolID0ED8MatySi5CL3Xn0lEqewCJQP</vt:lpwstr>
  </property>
  <property fmtid="{D5CDD505-2E9C-101B-9397-08002B2CF9AE}" pid="10" name="_ms_pID_7253438">
    <vt:lpwstr>ab_x000d_ PK8okltMeequt+iVcpdTAysW/K+KW8jBtQQllcDU8kVAs9MhO5sS3OhKCLlTLqy3BUamtgTs_x000d_ Jk3FN3LzrqdNsepuI/v+XhoJU/MWFWnfULsbESAO1BriRWfUJ/2S0GUIASb4l0oCNvkNmlxC_x000d_ 8lhvj9JQArDZg4yz3vBb400F0TLXD1E4n1bhjCvs56P9B4TP1zZ/O5FsGRAXJ+zl68+jNdVz_x000d_ kH+o8OlUWk4t9E</vt:lpwstr>
  </property>
  <property fmtid="{D5CDD505-2E9C-101B-9397-08002B2CF9AE}" pid="11" name="_ms_pID_7253439">
    <vt:lpwstr>gIXfEEoigI1CkVl4g0ENU/CyZuFKpB682zRrdiQadZJHgCspzF0zSSAXy4_x000d_ VKOo5XvgowQ73d4FADinc5+tJv8wHX1LsFToDkFhTzPJqbAUQX1vsQzGvZxlQr78WPj+SQIE_x000d_ fGxkVPlx+pDPs6rnSNZTbRUQwRlfuqU/DsssWUnWyv1gW04vkIWVpodKl604OJ1cms6HPzbe_x000d_ Mzwm3Gft3+DwKhutUMlITUa1+DZtcPe9</vt:lpwstr>
  </property>
  <property fmtid="{D5CDD505-2E9C-101B-9397-08002B2CF9AE}" pid="12" name="_ms_pID_72534310">
    <vt:lpwstr>9Yf9LGFXEnVCZfwfIBUFCxe3M9gP60jstDzRuK52_x000d_ Xcp8/qWzZGKHAdKR4PEqJ+oEpao/6Go6gc41a7KkCXK47Fwt7JL0XCUh</vt:lpwstr>
  </property>
  <property fmtid="{D5CDD505-2E9C-101B-9397-08002B2CF9AE}" pid="13" name="_new_ms_pID_72543">
    <vt:lpwstr>(4)jNL0gM28At52Ieaf1valQ0LhCJhckLvJxApn9P4IOGXs2CxMSeBUEQOsYE7UL6xHmrDTkB0U
8XrwX0U2eGOvdKAbibq/OwBogqOvwFaAolHRNqNy2szIx/vIxGV3RldByVnAXNghwAf/C+Ny
nC0kXXrwMXgmyFvH5Z6NNWCVsONiwda3mR+L5JpGhOxLoPqs7SuuHSITb197MVyCXsGsK2ms
+l0YVy49NdVVuXoIAG</vt:lpwstr>
  </property>
  <property fmtid="{D5CDD505-2E9C-101B-9397-08002B2CF9AE}" pid="14" name="_new_ms_pID_725431">
    <vt:lpwstr>WNXmtkOaoMvO+RtN+AF98axcECtcDzeutF/RA/MuVrkTeP8na2B2yy
m1HCyY09R6IPysdOkoFKaGF95jn8IPRP7dOExBbQlWgSPqEZNo21+gLMWeFfBt+6pUhKdwFx
7ZPjMNuUrMypYPEZngI1VIdsJf4NZKyTLKZJ0nK7WxKub3aP/MoU61sfNyyw1Icb4IGb7OFn
9w8sA6NUyvf/2CAmXCRdXcc6p9josuAb8E0f</vt:lpwstr>
  </property>
  <property fmtid="{D5CDD505-2E9C-101B-9397-08002B2CF9AE}" pid="15" name="_new_ms_pID_725432">
    <vt:lpwstr>VPOcRqDszuG9Ea/DM6UvbMLgh7KalquPd6s3
kDXgkxV66sccXBRFRpUSm24+++OZrzrFJlZ9+cTKshms+WpKgjZh/IhT4aCGlcWjlqWZhRut
yeE31Jc/cvQKXkucHQJfR38BDLb6HDqUWvPBQ8sa4eIzSeLgq189G0a1RIIGyCiIJjSWXf10
g2H9RhGj00eoqTF/R7ak+JOb3Uld8rKRh6p8+RZSbt3zCH/cPW7Uhk</vt:lpwstr>
  </property>
  <property fmtid="{D5CDD505-2E9C-101B-9397-08002B2CF9AE}" pid="16" name="_new_ms_pID_725433">
    <vt:lpwstr>w4/CdPx+g5NrTVBBFR
HKTc81zHE57lJ6Sfop/J3Md4zKo=</vt:lpwstr>
  </property>
  <property fmtid="{D5CDD505-2E9C-101B-9397-08002B2CF9AE}" pid="17" name="_2015_ms_pID_725343">
    <vt:lpwstr>(3)XahdwrTgAbr2OSDTqwJ7c5T8P+Yz+Z9auHXPDxAZfvJYvGN1dE7zignU7EkZfnSSEGcmQPsw
HvOl/dR9INwWQhhJvP1qfbsbKfatpn9SIlil2YZyDAvOuYx1YoTUmVN4Bnii49KTNRYOShzT
sqHBxspArD7IGtM+GpGKojeAOO+1byIikn2c3zwMYg8LGKYrkHZmGuzHgDLzY6V1KGF1Zvxw
hS5srlklDdft2FfjGR</vt:lpwstr>
  </property>
  <property fmtid="{D5CDD505-2E9C-101B-9397-08002B2CF9AE}" pid="18" name="_2015_ms_pID_7253431">
    <vt:lpwstr>mNOfu+Xe03pSOhZ4hz0VI8Sz/VCU69BTkVzGtSQY2UwXyB0N20hlGN
5RwRsdt/U/64lMTE3rp/GJmJxNqo6RG05WQEbov+5+mdhsOeKX20C2X/ml726BhHjavkH1/4
Ra33ZtaQCvRXrplDZ6ku5qgn+4PN4+G8JZfE27oGTywv+SUslj3L2y3gnjPGuVspDdnN9Imq
azVuIpSW0Ve7Ib1YktTdJ+UP0jZXqGSYUQ3T</vt:lpwstr>
  </property>
  <property fmtid="{D5CDD505-2E9C-101B-9397-08002B2CF9AE}" pid="19" name="_2015_ms_pID_7253432">
    <vt:lpwstr>LwArphHaKfcc+V2tg5fzBEDGQT9MWCXlGb4l
2BhjEDmZ48MKnxEeeL5j2sMBgfirZQ==</vt:lpwstr>
  </property>
  <property fmtid="{D5CDD505-2E9C-101B-9397-08002B2CF9AE}" pid="20" name="ContentTypeId">
    <vt:lpwstr>0x01010002C5B4B712841F4C8A7AAEE2CD191271</vt:lpwstr>
  </property>
  <property fmtid="{D5CDD505-2E9C-101B-9397-08002B2CF9AE}" pid="21" name="_readonly">
    <vt:lpwstr/>
  </property>
  <property fmtid="{D5CDD505-2E9C-101B-9397-08002B2CF9AE}" pid="22" name="_change">
    <vt:lpwstr/>
  </property>
  <property fmtid="{D5CDD505-2E9C-101B-9397-08002B2CF9AE}" pid="23" name="_full-control">
    <vt:lpwstr/>
  </property>
  <property fmtid="{D5CDD505-2E9C-101B-9397-08002B2CF9AE}" pid="24" name="sflag">
    <vt:lpwstr>1554856600</vt:lpwstr>
  </property>
</Properties>
</file>