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Actionnaires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FF"/>
              </a:solidFill>
              <a:effectLst/>
            </c:spPr>
          </c:dPt>
          <c:dPt>
            <c:idx val="1"/>
            <c:bubble3D val="0"/>
            <c:spPr>
              <a:solidFill>
                <a:srgbClr val="00D4AA"/>
              </a:solidFill>
              <a:effectLst/>
            </c:spPr>
          </c:dPt>
          <c:dPt>
            <c:idx val="2"/>
            <c:bubble3D val="0"/>
            <c:spPr>
              <a:solidFill>
                <a:srgbClr val="FF6B1A"/>
              </a:solidFill>
              <a:effectLst/>
            </c:spPr>
          </c:dPt>
          <c:dPt>
            <c:idx val="3"/>
            <c:bubble3D val="0"/>
            <c:spPr>
              <a:solidFill>
                <a:srgbClr val="FFD700"/>
              </a:solidFill>
              <a:effectLst/>
            </c:spPr>
          </c:dPt>
          <c:dPt>
            <c:idx val="4"/>
            <c:bubble3D val="0"/>
            <c:spPr>
              <a:solidFill>
                <a:srgbClr val="44556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A0E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A0E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A0E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A0E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A0E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Elon Musk (~42%)</c:v>
                </c:pt>
                <c:pt idx="1">
                  <c:v>Autres dirigeants</c:v>
                </c:pt>
                <c:pt idx="2">
                  <c:v>Google/Alphabet</c:v>
                </c:pt>
                <c:pt idx="3">
                  <c:v>Fidelity</c:v>
                </c:pt>
                <c:pt idx="4">
                  <c:v>Autres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42</c:v>
                </c:pt>
                <c:pt idx="1">
                  <c:v>15</c:v>
                </c:pt>
                <c:pt idx="2">
                  <c:v>8</c:v>
                </c:pt>
                <c:pt idx="3">
                  <c:v>4</c:v>
                </c:pt>
                <c:pt idx="4">
                  <c:v>31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E8EF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7315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0" y="2743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0" y="82296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45720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91440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2743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1168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6459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182880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137160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228600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37360" y="283464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25603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274320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4048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43891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65760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411480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95360" y="374904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475488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457200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0" y="43891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-731520"/>
            <a:ext cx="4114800" cy="4114800"/>
          </a:xfrm>
          <a:prstGeom prst="ellipse">
            <a:avLst/>
          </a:prstGeom>
          <a:solidFill>
            <a:srgbClr val="00B4FF">
              <a:alpha val="10000"/>
            </a:srgbClr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-182880"/>
            <a:ext cx="2743200" cy="2743200"/>
          </a:xfrm>
          <a:prstGeom prst="ellipse">
            <a:avLst/>
          </a:prstGeom>
          <a:solidFill>
            <a:srgbClr val="00B4FF">
              <a:alpha val="15000"/>
            </a:srgbClr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9144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</a:t>
            </a:r>
            <a:endParaRPr lang="en-US" sz="7200" dirty="0"/>
          </a:p>
        </p:txBody>
      </p:sp>
      <p:sp>
        <p:nvSpPr>
          <p:cNvPr id="30" name="Text 28"/>
          <p:cNvSpPr/>
          <p:nvPr/>
        </p:nvSpPr>
        <p:spPr>
          <a:xfrm>
            <a:off x="320040" y="2103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STRATÉGIQUE COMPLÈTE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20040" y="2697480"/>
            <a:ext cx="4572000" cy="36576"/>
          </a:xfrm>
          <a:prstGeom prst="rect">
            <a:avLst/>
          </a:prstGeom>
          <a:solidFill>
            <a:srgbClr val="C8D8E8">
              <a:alpha val="60000"/>
            </a:srgbClr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· Modèle d'affaires · Transformation Plateforme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PESTEL · Porter · SWOT · BSC · Triple Layer Canvas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0040" y="38404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Make humanity multi-planetary »  —  Elon Musk, Fondateur &amp; CEO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4754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| Rapport Stratégique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02920" cy="50292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Stratégique &amp; Gouvernance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502920" cy="50292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Stratégique (DAS)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502920" cy="50292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606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Externe – PESTEL &amp; Porter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337560"/>
            <a:ext cx="502920" cy="50292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Interne – Ressources &amp; Chaîne de Valeur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502920" cy="50292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160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SWOT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502920" cy="50292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Stratégies Business &amp; Modèle d'Affaires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783080"/>
            <a:ext cx="502920" cy="50292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1828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Layer Business Model Canvas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560320"/>
            <a:ext cx="502920" cy="50292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2606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vers un Modèle de Plateforme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337560"/>
            <a:ext cx="502920" cy="50292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0680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 – Balanced Scorecard &amp; KPIs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4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011680" y="13716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Stratégique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11680" y="2560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· Mission · Vision · Légitimité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MISSION &amp; VISION STRATÉGIQUE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474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13716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MISSION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radicalement les coûts d'accès à l'espace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l'humanité multi-planétaire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Accélérer le développement de la technologie des fusées réutilisables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Offrir des services de transport spatial commerciaux fiables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3474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05840"/>
            <a:ext cx="4023360" cy="1371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VISION LONG TERME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Colonie autosuffisante sur Mars (1 million de personnes d'ici 2060)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Internet mondial à très haut débit via Starlink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spatiale civile intégrée et accessible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mondial de l'industrie spatiale privée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Fondée en 2002 par Elon Musk · Valorisation estimée &gt;$350 Md (2024) · &gt;13 000 employés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1.2–1.3  STRUCTURE DE PROPRIÉTÉ &amp; GOUVERNANCE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ACTIONNARIAT ESTIMÉ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128016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ORGANES DE GOUVERNANCE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325880"/>
            <a:ext cx="420624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54880" y="1325880"/>
            <a:ext cx="64008" cy="77724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 Musk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92040" y="16642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CTO · Vision stratégique · Décisions technologiques finales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2221992"/>
            <a:ext cx="420624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221992"/>
            <a:ext cx="64008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2267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Gwynne Shotwell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9204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Présidente &amp; COO · Gestion opérationnelle quotidienne &amp; contrats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54880" y="3118104"/>
            <a:ext cx="420624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3118104"/>
            <a:ext cx="64008" cy="77724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d'admin.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92040" y="3456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financière &amp; conformité réglementaire (FAA, NASA)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54880" y="4014216"/>
            <a:ext cx="420624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4014216"/>
            <a:ext cx="64008" cy="777240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40599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technique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92040" y="4352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Falcon, Dragon, Starship, Starlink – R&amp;D &amp; Ingénierie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1.4–1.5  LIMITES STRATÉGIQUES &amp; LÉGITIMITÉ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Contraintes technologiques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Starship, taux de réussite, risques de développement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20624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Dépendance réglementaire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4173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FAA, FCC : délais d'autorisation impactant les calendriers de lancement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0624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Dépendance NASA/Contrats publics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7432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Artemis &amp; ISS essentiels, risque de concentration client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0624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Débris &amp; Cybersécurité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7432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Starlink : risques de collision, sécurité réseau militaro-civile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3611880"/>
            <a:ext cx="402336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97480" y="3703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Enjeux géopolitiques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4114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Tensions USA/Chine/Russie sur l'accès à l'espace et exportations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LÉGITIMITÉ : Partenariats NASA/ESA · Transparence technologique · Démocratisation accès espace · Starlink humanitaire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4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011680" y="13716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Stratégique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11680" y="2560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Domaines d'Activités Stratégiques &amp; Segmentation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2.1–2.2  DOMAINES D'ACTIVITÉS STRATÉGIQUES (DAS)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103120" cy="3474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103120" cy="109728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51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de Lancement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00B4FF">
              <a:alpha val="20000"/>
            </a:srgbClr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2971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 estimé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3246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9, Falcon Heavy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: NASA, DoD, commercial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68880" y="914400"/>
            <a:ext cx="2103120" cy="3474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914400"/>
            <a:ext cx="210312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051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Starlink (Constellation)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063240" y="2011680"/>
            <a:ext cx="914400" cy="914400"/>
          </a:xfrm>
          <a:prstGeom prst="ellipse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68880" y="2971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 estimé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0" y="3246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12 000+ satellites en orbite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haut débit mondial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914400"/>
            <a:ext cx="2103120" cy="3474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914400"/>
            <a:ext cx="2103120" cy="109728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051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Habité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0" y="2011680"/>
            <a:ext cx="914400" cy="914400"/>
          </a:xfrm>
          <a:prstGeom prst="ellipse">
            <a:avLst/>
          </a:prstGeom>
          <a:solidFill>
            <a:srgbClr val="FF6B1A">
              <a:alpha val="20000"/>
            </a:srgbClr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09160" y="2971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 estimé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3246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 Crew, Artemis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spatiale ISS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49440" y="914400"/>
            <a:ext cx="2103120" cy="3474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9440" y="914400"/>
            <a:ext cx="2103120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1051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Starship &amp; Mars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43800" y="2011680"/>
            <a:ext cx="914400" cy="914400"/>
          </a:xfrm>
          <a:prstGeom prst="ellipse">
            <a:avLst/>
          </a:prstGeom>
          <a:solidFill>
            <a:srgbClr val="FFD700">
              <a:alpha val="2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380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49440" y="2971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 estimé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40880" y="3246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interplanétaire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plateforme orbitale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croisée : Clients (gouvernements / entreprises / particuliers) × Technologies (Falcon / Dragon / Starlink / Starship) × Marchés (LEO / GEO / Interplanétaire)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4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011680" y="13716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Externe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11680" y="2560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PESTEL · Groupes Stratégiques · Porter 5+1 Forces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ANALYSE PESTEL — INDUSTRIE SPATIALE MONDIALE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34640" cy="1874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502920" cy="18745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502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95528" y="987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13716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Soutien gouvernemental US (NASA, DoD)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5528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Tensions géopolitiques Chine/Russie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95528" y="224942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Politiques export control (ITAR)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834640" cy="1874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14400"/>
            <a:ext cx="502920" cy="18745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914400"/>
            <a:ext cx="502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67328" y="987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Économique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67328" y="13716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Marché spatial &gt;$630 Md d'ici 2030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67328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Compétition tarifaire intense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67328" y="224942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Accès aux capitaux privés facilité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914400"/>
            <a:ext cx="2834640" cy="1874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914400"/>
            <a:ext cx="502920" cy="1874520"/>
          </a:xfrm>
          <a:prstGeom prst="rect">
            <a:avLst/>
          </a:prstGeom>
          <a:solidFill>
            <a:srgbClr val="A9D18E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914400"/>
            <a:ext cx="502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39128" y="987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39128" y="13716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Regain d'intérêt public pour l'espace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39128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Polémiques débris Starlink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39128" y="224942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Impact emploi high-tech USA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2926080"/>
            <a:ext cx="2834640" cy="1874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926080"/>
            <a:ext cx="502920" cy="187452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926080"/>
            <a:ext cx="502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95528" y="2999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Technologique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5528" y="33832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IA &amp; fabrication additive spatiale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5528" y="382219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Réutilisabilité des lanceurs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95528" y="426110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Miniaturisation satellites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0" y="2926080"/>
            <a:ext cx="2834640" cy="1874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2926080"/>
            <a:ext cx="502920" cy="18745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2926080"/>
            <a:ext cx="502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3767328" y="2999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767328" y="33832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Émissions CO₂ des lancements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767328" y="382219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Pollution lumineuse Starlink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767328" y="426110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Débris orbitaux (Kessler)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2926080"/>
            <a:ext cx="2834640" cy="1874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2926080"/>
            <a:ext cx="502920" cy="187452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2926080"/>
            <a:ext cx="502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739128" y="2999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Légal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39128" y="33832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Traité de l'Espace (1967)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739128" y="382219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Régulation FAA &amp; FCC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739128" y="426110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Droit spatial international en évolution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3.3–3.4  GROUPES STRATÉGIQUES &amp; PORTER 5+1 FORCES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Stratégiques (Coût vs Innovation)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4160520"/>
            <a:ext cx="4114800" cy="0"/>
          </a:xfrm>
          <a:prstGeom prst="line">
            <a:avLst/>
          </a:prstGeom>
          <a:noFill/>
          <a:ln w="19050">
            <a:solidFill>
              <a:srgbClr val="0D1B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97280"/>
            <a:ext cx="0" cy="3063240"/>
          </a:xfrm>
          <a:prstGeom prst="line">
            <a:avLst/>
          </a:prstGeom>
          <a:noFill/>
          <a:ln w="1905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 rot="16200000">
            <a:off x="0" y="1005840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Réduction coûts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1417320"/>
            <a:ext cx="1005840" cy="502920"/>
          </a:xfrm>
          <a:prstGeom prst="ellipse">
            <a:avLst/>
          </a:prstGeom>
          <a:solidFill>
            <a:srgbClr val="00B4FF">
              <a:alpha val="50000"/>
            </a:srgbClr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80160" y="1920240"/>
            <a:ext cx="914400" cy="457200"/>
          </a:xfrm>
          <a:prstGeom prst="ellipse">
            <a:avLst/>
          </a:prstGeom>
          <a:solidFill>
            <a:srgbClr val="FF6B1A">
              <a:alpha val="50000"/>
            </a:srgbClr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Origin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1005840" cy="457200"/>
          </a:xfrm>
          <a:prstGeom prst="ellipse">
            <a:avLst/>
          </a:prstGeom>
          <a:solidFill>
            <a:srgbClr val="998877">
              <a:alpha val="50000"/>
            </a:srgbClr>
          </a:solidFill>
          <a:ln w="12700">
            <a:solidFill>
              <a:srgbClr val="9988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3200400"/>
            <a:ext cx="1097280" cy="457200"/>
          </a:xfrm>
          <a:prstGeom prst="ellipse">
            <a:avLst/>
          </a:prstGeom>
          <a:solidFill>
            <a:srgbClr val="00D4AA">
              <a:alpha val="5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200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Arianespace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2926080"/>
            <a:ext cx="1005840" cy="457200"/>
          </a:xfrm>
          <a:prstGeom prst="ellipse">
            <a:avLst/>
          </a:prstGeom>
          <a:solidFill>
            <a:srgbClr val="C8D8E8">
              <a:alpha val="50000"/>
            </a:srgbClr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926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ISRO/CNSA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5+1 Forces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77840" y="1280160"/>
            <a:ext cx="164592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1298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Rivalité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Concurrentielle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77840" y="1600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77840" y="18013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Origin, ULA, Ariane6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023360" y="2286000"/>
            <a:ext cx="164592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023360" y="2304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Pouvoir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23360" y="2606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23360" y="2807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critiques, SpaceX intégré verticalement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949440" y="2286000"/>
            <a:ext cx="164592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49440" y="2304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Pouvoir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49440" y="2606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49440" y="2807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dépendance mais clients commerciaux diversifiés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023360" y="3383280"/>
            <a:ext cx="164592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023360" y="34015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023360" y="37033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023360" y="39044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Barrières capitalistiques &amp; technologiques massives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949440" y="3383280"/>
            <a:ext cx="164592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49440" y="34015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49440" y="37033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49440" y="39044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d'alternative viable à court terme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577840" y="4206240"/>
            <a:ext cx="164592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577840" y="42245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Pouvoirs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Publics (+1)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77840" y="4526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77840" y="47274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FAA, DoD, NASA, Congrès US régulent l'industrie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4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011680" y="13716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Interne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11680" y="2560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· Compétences · Chaîne de Valeur · Avantage Concurrentiel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RESSOURCES STRATÉGIQUES &amp; COMPÉTENCES CLÉS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4114800" cy="6217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71600"/>
            <a:ext cx="64008" cy="62179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Capital Technologique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691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 Merlin/Raptor, conception aéronautique, IA embarquée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2075688"/>
            <a:ext cx="4114800" cy="6217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075688"/>
            <a:ext cx="64008" cy="62179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Infrastructures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2395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LC-39A, Boca Chica (Starbase), réseau de récupération fairing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779776"/>
            <a:ext cx="4114800" cy="6217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779776"/>
            <a:ext cx="64008" cy="62179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825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Capital Humain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3099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&gt;13 000 ingénieurs d'élite, culture agile et innovante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483864"/>
            <a:ext cx="4114800" cy="6217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483864"/>
            <a:ext cx="64008" cy="62179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529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Capital Financier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3803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trésorerie Starlink, contrats DoD/NASA &gt;$10 Md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4187952"/>
            <a:ext cx="4114800" cy="6217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4187952"/>
            <a:ext cx="64008" cy="62179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233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Capital Réputationnel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" y="4507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mondiale, confiance des marchés et des clients institutionnels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DISTINCTIVES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Réutilisation Lanceurs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52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1764792"/>
            <a:ext cx="4023360" cy="18288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Intégrée Verticale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8952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2359152"/>
            <a:ext cx="4023360" cy="18288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 d'Innovation (Agile)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8952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46320" y="2953512"/>
            <a:ext cx="4023360" cy="18288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Coûts de Lancement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8952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846320" y="3547872"/>
            <a:ext cx="4023360" cy="18288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Ingénierie Système Spatiale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8952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846320" y="4142232"/>
            <a:ext cx="4023360" cy="18288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Constellation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589520" y="4389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846320" y="4736592"/>
            <a:ext cx="4023360" cy="18288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4.2–4.3  CHAÎNE DE VALEUR &amp; AVANTAGE CONCURRENTIEL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Primaires (Porter)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1627632" cy="164592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298448"/>
            <a:ext cx="162763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Design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892808"/>
            <a:ext cx="1627632" cy="18288"/>
          </a:xfrm>
          <a:prstGeom prst="rect">
            <a:avLst/>
          </a:prstGeom>
          <a:solidFill>
            <a:srgbClr val="0A0E1A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938528"/>
            <a:ext cx="162763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Propulsion, matériaux, IA de pilotage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47672" y="1280160"/>
            <a:ext cx="1627632" cy="1645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47672" y="1298448"/>
            <a:ext cx="162763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47672" y="1892808"/>
            <a:ext cx="1627632" cy="18288"/>
          </a:xfrm>
          <a:prstGeom prst="rect">
            <a:avLst/>
          </a:prstGeom>
          <a:solidFill>
            <a:srgbClr val="0A0E1A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47672" y="1938528"/>
            <a:ext cx="162763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Hawthorne : 80% des composants en interne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66744" y="1280160"/>
            <a:ext cx="1627632" cy="164592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66744" y="1298448"/>
            <a:ext cx="162763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66744" y="1892808"/>
            <a:ext cx="1627632" cy="18288"/>
          </a:xfrm>
          <a:prstGeom prst="rect">
            <a:avLst/>
          </a:prstGeom>
          <a:solidFill>
            <a:srgbClr val="0A0E1A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6744" y="1938528"/>
            <a:ext cx="162763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LC39A, Vandenberg, Boca Chica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85816" y="1280160"/>
            <a:ext cx="1627632" cy="16459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85816" y="1298448"/>
            <a:ext cx="162763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Réutilisation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85816" y="1892808"/>
            <a:ext cx="1627632" cy="18288"/>
          </a:xfrm>
          <a:prstGeom prst="rect">
            <a:avLst/>
          </a:prstGeom>
          <a:solidFill>
            <a:srgbClr val="0A0E1A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85816" y="1938528"/>
            <a:ext cx="162763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DroneShips, Landing Zones, &lt; 24h turnaround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04888" y="1280160"/>
            <a:ext cx="1627632" cy="1645920"/>
          </a:xfrm>
          <a:prstGeom prst="rect">
            <a:avLst/>
          </a:prstGeom>
          <a:solidFill>
            <a:srgbClr val="CC88FF"/>
          </a:solidFill>
          <a:ln w="12700">
            <a:solidFill>
              <a:srgbClr val="CC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04888" y="1298448"/>
            <a:ext cx="162763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04888" y="1892808"/>
            <a:ext cx="1627632" cy="18288"/>
          </a:xfrm>
          <a:prstGeom prst="rect">
            <a:avLst/>
          </a:prstGeom>
          <a:solidFill>
            <a:srgbClr val="0A0E1A">
              <a:alpha val="7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04888" y="1938528"/>
            <a:ext cx="162763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SLA, reporting mission, support technique dédié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2971800"/>
            <a:ext cx="8595360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9992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&amp; VALEUR CRÉÉE  →  Avantage Coût + Différenciation simultanés (Stratégie d'Hybridation)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de Soutien 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3749040"/>
            <a:ext cx="2103120" cy="1143000"/>
          </a:xfrm>
          <a:prstGeom prst="rect">
            <a:avLst/>
          </a:prstGeom>
          <a:solidFill>
            <a:srgbClr val="CDD9E8"/>
          </a:solidFill>
          <a:ln w="6350">
            <a:solidFill>
              <a:srgbClr val="C8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28600" y="3776472"/>
            <a:ext cx="2103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organisationnelle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8600" y="4206240"/>
            <a:ext cx="210312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lean, itérations rapides, flat hierarchy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468880" y="3749040"/>
            <a:ext cx="2103120" cy="1143000"/>
          </a:xfrm>
          <a:prstGeom prst="rect">
            <a:avLst/>
          </a:prstGeom>
          <a:solidFill>
            <a:srgbClr val="CDD9E8"/>
          </a:solidFill>
          <a:ln w="6350">
            <a:solidFill>
              <a:srgbClr val="C8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468880" y="3776472"/>
            <a:ext cx="2103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468880" y="4206240"/>
            <a:ext cx="210312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talents, salaires attractifs, mission inspiring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749040"/>
            <a:ext cx="2103120" cy="1143000"/>
          </a:xfrm>
          <a:prstGeom prst="rect">
            <a:avLst/>
          </a:prstGeom>
          <a:solidFill>
            <a:srgbClr val="CDD9E8"/>
          </a:solidFill>
          <a:ln w="6350">
            <a:solidFill>
              <a:srgbClr val="C8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9160" y="3776472"/>
            <a:ext cx="2103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techno.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09160" y="4206240"/>
            <a:ext cx="210312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Brevets, IA, simulation numérique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49440" y="3749040"/>
            <a:ext cx="2103120" cy="1143000"/>
          </a:xfrm>
          <a:prstGeom prst="rect">
            <a:avLst/>
          </a:prstGeom>
          <a:solidFill>
            <a:srgbClr val="CDD9E8"/>
          </a:solidFill>
          <a:ln w="6350">
            <a:solidFill>
              <a:srgbClr val="C8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49440" y="3776472"/>
            <a:ext cx="2103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Approvisionnement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49440" y="4206240"/>
            <a:ext cx="210312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Verticalisation &gt;80%, sourcing critique internalisé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4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011680" y="13716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SWOT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11680" y="2560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· Faiblesses · Opportunités · Menaces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E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MATRICE SWOT COMPLÈTE — SPACEX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 rot="16200000">
            <a:off x="45720" y="22860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 rot="16200000">
            <a:off x="45720" y="35661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685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0" y="685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DÉFAVORABLE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4206240" cy="1965960"/>
          </a:xfrm>
          <a:prstGeom prst="rect">
            <a:avLst/>
          </a:prstGeom>
          <a:solidFill>
            <a:srgbClr val="0D1B3E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60120"/>
            <a:ext cx="4206240" cy="365760"/>
          </a:xfrm>
          <a:prstGeom prst="rect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87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399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Réutilisation lanceurs (Falcon 9 : &gt;200 vols)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Intégration verticale (80% interne)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1984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Leadership R&amp;D Starship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2768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Coût lancement: ~$2 700/kg (LEO)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5694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Marque &amp; attractivité talents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206240" cy="1965960"/>
          </a:xfrm>
          <a:prstGeom prst="rect">
            <a:avLst/>
          </a:prstGeom>
          <a:solidFill>
            <a:srgbClr val="0D1B3E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60120"/>
            <a:ext cx="4206240" cy="365760"/>
          </a:xfrm>
          <a:prstGeom prst="rect">
            <a:avLst/>
          </a:prstGeom>
          <a:solidFill>
            <a:srgbClr val="E63946">
              <a:alpha val="8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987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1399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Concentration risque sur Elon Musk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Dépendance contrats publics USA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1984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Starship : retards récurrents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22768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Contestations réglementaires FAA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25694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Gouvernance peu transparente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4206240" cy="196596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017520"/>
            <a:ext cx="4206240" cy="365760"/>
          </a:xfrm>
          <a:prstGeom prst="rect">
            <a:avLst/>
          </a:prstGeom>
          <a:solidFill>
            <a:srgbClr val="00B4FF">
              <a:alpha val="80000"/>
            </a:srgbClr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044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Marché spatial x3 d'ici 2030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Tourisme spatial en émergence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4041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Contrats Artemis &amp; ISS extension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334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Déploiement Starlink V3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4626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Économie lunaire (Artemis Accords)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017520"/>
            <a:ext cx="4206240" cy="1965960"/>
          </a:xfrm>
          <a:prstGeom prst="rect">
            <a:avLst/>
          </a:prstGeom>
          <a:solidFill>
            <a:srgbClr val="0D1B3E"/>
          </a:solidFill>
          <a:ln w="19050">
            <a:solidFill>
              <a:srgbClr val="FF6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017520"/>
            <a:ext cx="4206240" cy="365760"/>
          </a:xfrm>
          <a:prstGeom prst="rect">
            <a:avLst/>
          </a:prstGeom>
          <a:solidFill>
            <a:srgbClr val="FF6B1A">
              <a:alpha val="80000"/>
            </a:srgbClr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044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MENACES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92040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Blue Origin (Jeff Bezos)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9204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Ariane 6 &amp; CNSA compétition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92040" y="4041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Saturation orbite basse (LEO)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92040" y="4334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Risque de catastrophe &amp; réputation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92040" y="4626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Réglementation espace durabilité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26280" y="685800"/>
            <a:ext cx="0" cy="4297680"/>
          </a:xfrm>
          <a:prstGeom prst="line">
            <a:avLst/>
          </a:prstGeom>
          <a:noFill/>
          <a:ln w="9525">
            <a:solidFill>
              <a:srgbClr val="8899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2944368"/>
            <a:ext cx="8595360" cy="0"/>
          </a:xfrm>
          <a:prstGeom prst="line">
            <a:avLst/>
          </a:prstGeom>
          <a:noFill/>
          <a:ln w="9525">
            <a:solidFill>
              <a:srgbClr val="8899AA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4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011680" y="13716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Stratégies Business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11680" y="2560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Horloge Stratégique · Modèle d'Affaires · Barrières à l'imitation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E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6.1–6.2  STRATÉGIE GÉNÉRIQUE &amp; MODÈLE D'AFFAIRES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(Horloge Stratégique)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3840480" cy="2926080"/>
          </a:xfrm>
          <a:prstGeom prst="ellipse">
            <a:avLst/>
          </a:prstGeom>
          <a:solidFill>
            <a:srgbClr val="D0E8F5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bas / V. standard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3703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valeur ajoutée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Domination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les coûts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2103120"/>
            <a:ext cx="1371600" cy="914400"/>
          </a:xfrm>
          <a:prstGeom prst="ellipse">
            <a:avLst/>
          </a:prstGeom>
          <a:solidFill>
            <a:srgbClr val="00B4FF">
              <a:alpha val="80000"/>
            </a:srgbClr>
          </a:solidFill>
          <a:ln w="25400">
            <a:solidFill>
              <a:srgbClr val="00B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2103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 (Synthèse)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325880"/>
            <a:ext cx="2011680" cy="114300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Valeur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1764792"/>
            <a:ext cx="201168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fiable, coûts réduits, innovation continue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95160" y="1325880"/>
            <a:ext cx="2011680" cy="1143000"/>
          </a:xfrm>
          <a:prstGeom prst="rect">
            <a:avLst/>
          </a:prstGeom>
          <a:solidFill>
            <a:srgbClr val="0D1B3E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Clients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95160" y="1764792"/>
            <a:ext cx="201168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NASA, DoD, opérateurs commerciaux, particuliers (Starlink)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587752"/>
            <a:ext cx="2011680" cy="1143000"/>
          </a:xfrm>
          <a:prstGeom prst="rect">
            <a:avLst/>
          </a:prstGeom>
          <a:solidFill>
            <a:srgbClr val="0D1B3E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633472"/>
            <a:ext cx="20116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Revenus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3026664"/>
            <a:ext cx="201168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lancement + abonnements Starlink + services orbitaux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95160" y="2587752"/>
            <a:ext cx="2011680" cy="1143000"/>
          </a:xfrm>
          <a:prstGeom prst="rect">
            <a:avLst/>
          </a:prstGeom>
          <a:solidFill>
            <a:srgbClr val="0D1B3E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95160" y="2633472"/>
            <a:ext cx="20116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Clés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95160" y="3026664"/>
            <a:ext cx="201168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Lanceurs réutilisables, ingénierie, satellites, licences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3849624"/>
            <a:ext cx="2011680" cy="1143000"/>
          </a:xfrm>
          <a:prstGeom prst="rect">
            <a:avLst/>
          </a:prstGeom>
          <a:solidFill>
            <a:srgbClr val="0D1B3E"/>
          </a:solidFill>
          <a:ln w="12700">
            <a:solidFill>
              <a:srgbClr val="C8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895344"/>
            <a:ext cx="20116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Partenaires Clés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4288536"/>
            <a:ext cx="201168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NASA, DoD, Google, opérateurs télécom, agences internationales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95160" y="3849624"/>
            <a:ext cx="2011680" cy="1143000"/>
          </a:xfrm>
          <a:prstGeom prst="rect">
            <a:avLst/>
          </a:prstGeom>
          <a:solidFill>
            <a:srgbClr val="0D1B3E"/>
          </a:solidFill>
          <a:ln w="12700">
            <a:solidFill>
              <a:srgbClr val="CC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95160" y="3895344"/>
            <a:ext cx="20116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Clés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95160" y="4288536"/>
            <a:ext cx="201168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R&amp;D, fabrication, lancement, opérations constellation, SAV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4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011680" y="13716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Layer Business Model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11680" y="2560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Économique · Environnemental · Social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E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TRIPLE LAYER BUSINESS MODEL CANVAS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12344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103120" cy="1234440"/>
          </a:xfrm>
          <a:prstGeom prst="rect">
            <a:avLst/>
          </a:prstGeom>
          <a:solidFill>
            <a:srgbClr val="00B4FF">
              <a:alpha val="80000"/>
            </a:srgbClr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0"/>
            <a:ext cx="2057400" cy="12344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COUCHE ÉCONOMIQUE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1005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Valeur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3898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réutilisables, Starlink, transport habité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005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 Valeur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3898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lancement (&gt;$60M/lancement), abonnements Starlink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0" y="1005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Revenus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13898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Mix: institutionnel 60% / commercial 25% / B2C Starlink 15%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286000"/>
            <a:ext cx="8686800" cy="12344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286000"/>
            <a:ext cx="2103120" cy="1234440"/>
          </a:xfrm>
          <a:prstGeom prst="rect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286000"/>
            <a:ext cx="2057400" cy="12344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COUCHE ENVIRONNEMENTALE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CO₂ Lancements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27614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~500t CO₂/lancement Falcon 9 — programme kérosène vert en R&amp;D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Débris Orbitaux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7614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 désorbitation &lt;5 ans, satellites Starlink manoeuvrables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7614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Objectif: propulsion méthane (Starship), réutilisabilité 100%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657600"/>
            <a:ext cx="8686800" cy="1234440"/>
          </a:xfrm>
          <a:prstGeom prst="rect">
            <a:avLst/>
          </a:prstGeom>
          <a:solidFill>
            <a:srgbClr val="0D1B3E"/>
          </a:solidFill>
          <a:ln w="19050">
            <a:solidFill>
              <a:srgbClr val="FF6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657600"/>
            <a:ext cx="2103120" cy="1234440"/>
          </a:xfrm>
          <a:prstGeom prst="rect">
            <a:avLst/>
          </a:prstGeom>
          <a:solidFill>
            <a:srgbClr val="FF6B1A">
              <a:alpha val="80000"/>
            </a:srgbClr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3657600"/>
            <a:ext cx="2057400" cy="12344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COUCHE SOCIALE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6888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Scientifique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41330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 scientifiques, coopération ISS, recherche spatiale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Numérique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41330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Starlink: 80+ pays desservis, zones isolées connectées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Technologique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1330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Retombées : propulsion, matériaux, IA — &gt;2 000 brevets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4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011680" y="13716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Plateforme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11680" y="2560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d'un écosystème spatial de plateforme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8E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SPACEX → PLATEFORME SPATIALE MULTIDIMENSIONNELLE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91840" y="1920240"/>
            <a:ext cx="2560320" cy="1463040"/>
          </a:xfrm>
          <a:prstGeom prst="ellipse">
            <a:avLst/>
          </a:prstGeom>
          <a:solidFill>
            <a:srgbClr val="00B4FF">
              <a:alpha val="80000"/>
            </a:srgbClr>
          </a:solidFill>
          <a:ln w="25400">
            <a:solidFill>
              <a:srgbClr val="00B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19202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2651760" cy="164592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14400"/>
            <a:ext cx="2651760" cy="109728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Plateforme d'Accès Orbital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82880" y="1536192"/>
            <a:ext cx="2651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réservation lancement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payload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créneaux orbite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914400"/>
            <a:ext cx="2651760" cy="1645920"/>
          </a:xfrm>
          <a:prstGeom prst="rect">
            <a:avLst/>
          </a:prstGeom>
          <a:solidFill>
            <a:srgbClr val="0D1B3E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914400"/>
            <a:ext cx="265176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Services Satellitaires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0" y="1536192"/>
            <a:ext cx="2651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Starlink B2B/B2C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payloads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Connectivité Edge Computing orbital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3200400"/>
            <a:ext cx="2651760" cy="1645920"/>
          </a:xfrm>
          <a:prstGeom prst="rect">
            <a:avLst/>
          </a:prstGeom>
          <a:solidFill>
            <a:srgbClr val="0D1B3E"/>
          </a:solidFill>
          <a:ln w="19050">
            <a:solidFill>
              <a:srgbClr val="FF6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3200400"/>
            <a:ext cx="2651760" cy="109728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333756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Marketplace Données Spatiales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82880" y="3822192"/>
            <a:ext cx="2651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observation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météo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défense data-as-a-service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200400"/>
            <a:ext cx="2651760" cy="1645920"/>
          </a:xfrm>
          <a:prstGeom prst="rect">
            <a:avLst/>
          </a:prstGeom>
          <a:solidFill>
            <a:srgbClr val="0D1B3E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200400"/>
            <a:ext cx="2651760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33756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Hub Startups Spatiales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17920" y="3822192"/>
            <a:ext cx="2651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Accélérateur SpaceX Ventures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petits satellites (Rideshare)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partagée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34640" y="1783080"/>
            <a:ext cx="548640" cy="365760"/>
          </a:xfrm>
          <a:prstGeom prst="line">
            <a:avLst/>
          </a:prstGeom>
          <a:noFill/>
          <a:ln w="12700">
            <a:solidFill>
              <a:srgbClr val="00B4FF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217920" y="1783080"/>
            <a:ext cx="-548640" cy="365760"/>
          </a:xfrm>
          <a:prstGeom prst="line">
            <a:avLst/>
          </a:prstGeom>
          <a:noFill/>
          <a:ln w="12700">
            <a:solidFill>
              <a:srgbClr val="00B4FF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834640" y="3840480"/>
            <a:ext cx="548640" cy="-548640"/>
          </a:xfrm>
          <a:prstGeom prst="line">
            <a:avLst/>
          </a:prstGeom>
          <a:noFill/>
          <a:ln w="12700">
            <a:solidFill>
              <a:srgbClr val="00B4FF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217920" y="3840480"/>
            <a:ext cx="-548640" cy="-548640"/>
          </a:xfrm>
          <a:prstGeom prst="line">
            <a:avLst/>
          </a:prstGeom>
          <a:noFill/>
          <a:ln w="12700">
            <a:solidFill>
              <a:srgbClr val="00B4FF"/>
            </a:solidFill>
            <a:prstDash val="dash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4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011680" y="13716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 Stratégique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11680" y="2560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Scorecard · Carte Stratégique · KPIs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8E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 BALANCED SCORECARD — CARTE STRATÉGIQUE SPACEX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1965960"/>
          </a:xfrm>
          <a:prstGeom prst="rect">
            <a:avLst/>
          </a:prstGeom>
          <a:solidFill>
            <a:srgbClr val="0D1B3E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206240" cy="384048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FINANCIÈRE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Croissance revenus &gt;30% /an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Réduction coût lancement -20%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EBITDA Starlink positif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2331720"/>
            <a:ext cx="4206240" cy="18288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377440"/>
            <a:ext cx="420624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CA Starlink, Marge opér., Rev/lancement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206240" cy="1965960"/>
          </a:xfrm>
          <a:prstGeom prst="rect">
            <a:avLst/>
          </a:prstGeom>
          <a:solidFill>
            <a:srgbClr val="0D1B3E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14400"/>
            <a:ext cx="4206240" cy="384048"/>
          </a:xfrm>
          <a:prstGeom prst="rect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960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CLIENT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Fidélisation clients institutionnels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Expansion Starlink: +5M abonnés/an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1993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NPS leader industrie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331720"/>
            <a:ext cx="4206240" cy="18288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377440"/>
            <a:ext cx="420624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NPS, taux rétention, nb abonnés Starlink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017520"/>
            <a:ext cx="4206240" cy="196596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017520"/>
            <a:ext cx="4206240" cy="384048"/>
          </a:xfrm>
          <a:prstGeom prst="rect">
            <a:avLst/>
          </a:prstGeom>
          <a:solidFill>
            <a:srgbClr val="00B4FF">
              <a:alpha val="80000"/>
            </a:srgbClr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PROCESSUS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493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Taux succès lancement &gt;99%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Cadence: 100 lancements/an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096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Délai turnaround Falcon &lt;48h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4434840"/>
            <a:ext cx="4206240" cy="18288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480560"/>
            <a:ext cx="420624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Taux succès, # lancements, MTTR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3017520"/>
            <a:ext cx="4206240" cy="1965960"/>
          </a:xfrm>
          <a:prstGeom prst="rect">
            <a:avLst/>
          </a:prstGeom>
          <a:solidFill>
            <a:srgbClr val="0D1B3E"/>
          </a:solidFill>
          <a:ln w="19050">
            <a:solidFill>
              <a:srgbClr val="FF6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017520"/>
            <a:ext cx="4206240" cy="384048"/>
          </a:xfrm>
          <a:prstGeom prst="rect">
            <a:avLst/>
          </a:prstGeom>
          <a:solidFill>
            <a:srgbClr val="FF6B1A">
              <a:alpha val="80000"/>
            </a:srgbClr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APPRENTISSAGE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3493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Vitesse innovation Starship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Attractivité talents STEM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4096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Dépôt brevets +15%/an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4434840"/>
            <a:ext cx="4206240" cy="18288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4480560"/>
            <a:ext cx="420624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Délai R&amp;D, taux rétention ingénieurs, #brevets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8E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 TABLEAU DE BORD KPI — PILOTAGE STRATÉGIQUE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34640" cy="1874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05840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Succès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1508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2860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Cible: &gt;99%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9601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834640" cy="1874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05840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par kg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LEO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508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$2 700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0040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Cible: &lt;$1 500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77840" y="9601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0" y="914400"/>
            <a:ext cx="2834640" cy="1874520"/>
          </a:xfrm>
          <a:prstGeom prst="rect">
            <a:avLst/>
          </a:prstGeom>
          <a:solidFill>
            <a:srgbClr val="0D1B3E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005840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Abonnés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508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 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7220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Cible: 10 M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49640" y="9601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28600" y="2926080"/>
            <a:ext cx="2834640" cy="1874520"/>
          </a:xfrm>
          <a:prstGeom prst="rect">
            <a:avLst/>
          </a:prstGeom>
          <a:solidFill>
            <a:srgbClr val="0D1B3E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8600" y="3017520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" y="3520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22860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Cible: 150/an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06040" y="2971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834640" cy="1874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0" y="3017520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Marché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Lancements Comm.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3520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320040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Cible: &gt;70%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2971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2200" y="2926080"/>
            <a:ext cx="2834640" cy="1874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72200" y="3017520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Record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3520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21x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17220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Cible: 40x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49640" y="2971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8E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 ROADMAP STRATÉGIQUE 2025–2035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2834640"/>
            <a:ext cx="8412480" cy="0"/>
          </a:xfrm>
          <a:prstGeom prst="line">
            <a:avLst/>
          </a:prstGeom>
          <a:noFill/>
          <a:ln w="38100">
            <a:solidFill>
              <a:srgbClr val="00B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651760"/>
            <a:ext cx="365760" cy="365760"/>
          </a:xfrm>
          <a:prstGeom prst="ellipse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3090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1097280" cy="1600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1097280" cy="7315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97280"/>
            <a:ext cx="1097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Starship Orbital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orbitale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Starship V2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2651760"/>
            <a:ext cx="365760" cy="3657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3090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1005840"/>
            <a:ext cx="1097280" cy="1600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0" y="1005840"/>
            <a:ext cx="109728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1097280"/>
            <a:ext cx="1097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Starlink V3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86000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Constellation à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 satellites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0560" y="2651760"/>
            <a:ext cx="365760" cy="365760"/>
          </a:xfrm>
          <a:prstGeom prst="ellipse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3090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1005840"/>
            <a:ext cx="1097280" cy="1600200"/>
          </a:xfrm>
          <a:prstGeom prst="rect">
            <a:avLst/>
          </a:prstGeom>
          <a:solidFill>
            <a:srgbClr val="0D1B3E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0" y="1005840"/>
            <a:ext cx="1097280" cy="7315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1097280"/>
            <a:ext cx="1097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Gateway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transport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III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2651760"/>
            <a:ext cx="365760" cy="36576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090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005840"/>
            <a:ext cx="1097280" cy="1600200"/>
          </a:xfrm>
          <a:prstGeom prst="rect">
            <a:avLst/>
          </a:prstGeom>
          <a:solidFill>
            <a:srgbClr val="0D1B3E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005840"/>
            <a:ext cx="109728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097280"/>
            <a:ext cx="1097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Orbitale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 spatial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 LEO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38160" y="2651760"/>
            <a:ext cx="365760" cy="3657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3090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55280" y="1005840"/>
            <a:ext cx="1097280" cy="1600200"/>
          </a:xfrm>
          <a:prstGeom prst="rect">
            <a:avLst/>
          </a:prstGeom>
          <a:solidFill>
            <a:srgbClr val="0D1B3E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55280" y="1005840"/>
            <a:ext cx="109728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1097280"/>
            <a:ext cx="1097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Base Alpha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55280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base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martianne habitée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3520440"/>
            <a:ext cx="8686800" cy="1417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20040" y="35661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STRATÉGIQUES PRIORITAIRES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" y="39776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Diversifier la gouvernance pour réduire la dépendance à Elon Musk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36592" y="39776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Accélérer la certification Starship pour capter le marché institutionnel lunaire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7472" y="44165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Déployer un programme ESG crédible (débris, CO₂, inclusion numérique)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36592" y="44165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Construire une plateforme de données spatiales pour capturer la valeur de l'écosystème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1A3A6B">
              <a:alpha val="25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800" kern="0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: Un Modèle Stratégique Sans Équivalent dans l'Histoire Industrielle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4206240" cy="1325880"/>
          </a:xfrm>
          <a:prstGeom prst="rect">
            <a:avLst/>
          </a:prstGeom>
          <a:solidFill>
            <a:srgbClr val="0D1B3E"/>
          </a:solidFill>
          <a:ln w="635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011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Avantage Concurrentiel Durable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505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Réutilisabilité + intégration verticale = coûts imbattables &amp; vitesse d'innovation inégalée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920240"/>
            <a:ext cx="4206240" cy="1325880"/>
          </a:xfrm>
          <a:prstGeom prst="rect">
            <a:avLst/>
          </a:prstGeom>
          <a:solidFill>
            <a:srgbClr val="0D1B3E"/>
          </a:solidFill>
          <a:ln w="635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011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Transition vers la Plateforme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4505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Starlink ouvre la voie à un modèle de plateforme multi-couches générant des revenus récurrents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383280"/>
            <a:ext cx="4206240" cy="1325880"/>
          </a:xfrm>
          <a:prstGeom prst="rect">
            <a:avLst/>
          </a:prstGeom>
          <a:solidFill>
            <a:srgbClr val="0D1B3E"/>
          </a:solidFill>
          <a:ln w="635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474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Risques à Gérer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91363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Gouvernance, réglementation, durabilité environnementale : axes de progrès stratégiques urgents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383280"/>
            <a:ext cx="4206240" cy="1325880"/>
          </a:xfrm>
          <a:prstGeom prst="rect">
            <a:avLst/>
          </a:prstGeom>
          <a:solidFill>
            <a:srgbClr val="0D1B3E"/>
          </a:solidFill>
          <a:ln w="6350">
            <a:solidFill>
              <a:srgbClr val="00B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474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Vision Transformatrice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91363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remodèle non seulement l'industrie spatiale mais aussi l'économie mondiale du XXIe siècle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The future of humanity is going to bifurcate — either it's going to become multi-planetary, or it's going to remain single-planet. »  — Elon Musk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– Analyse Stratégique Complète</dc:title>
  <dc:subject>PptxGenJS Presentation</dc:subject>
  <dc:creator>Strategic Analysis</dc:creator>
  <cp:lastModifiedBy>Strategic Analysis</cp:lastModifiedBy>
  <cp:revision>1</cp:revision>
  <dcterms:created xsi:type="dcterms:W3CDTF">2026-03-13T20:48:14Z</dcterms:created>
  <dcterms:modified xsi:type="dcterms:W3CDTF">2026-03-13T20:48:14Z</dcterms:modified>
</cp:coreProperties>
</file>