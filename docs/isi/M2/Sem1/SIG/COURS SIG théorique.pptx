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6" r:id="rId10"/>
    <p:sldId id="267" r:id="rId11"/>
    <p:sldId id="269" r:id="rId12"/>
    <p:sldId id="270" r:id="rId13"/>
    <p:sldId id="271" r:id="rId14"/>
    <p:sldId id="264" r:id="rId15"/>
    <p:sldId id="265" r:id="rId16"/>
    <p:sldId id="272" r:id="rId17"/>
    <p:sldId id="273" r:id="rId18"/>
    <p:sldId id="274" r:id="rId19"/>
    <p:sldId id="275" r:id="rId20"/>
    <p:sldId id="280" r:id="rId21"/>
    <p:sldId id="281" r:id="rId22"/>
    <p:sldId id="276" r:id="rId23"/>
    <p:sldId id="277" r:id="rId24"/>
    <p:sldId id="287" r:id="rId25"/>
    <p:sldId id="285" r:id="rId26"/>
    <p:sldId id="286" r:id="rId27"/>
    <p:sldId id="288" r:id="rId28"/>
    <p:sldId id="278" r:id="rId29"/>
    <p:sldId id="279" r:id="rId30"/>
    <p:sldId id="282" r:id="rId31"/>
    <p:sldId id="283" r:id="rId32"/>
    <p:sldId id="284" r:id="rId33"/>
    <p:sldId id="291" r:id="rId34"/>
    <p:sldId id="300" r:id="rId35"/>
    <p:sldId id="289" r:id="rId36"/>
    <p:sldId id="290" r:id="rId37"/>
    <p:sldId id="299" r:id="rId38"/>
    <p:sldId id="292" r:id="rId39"/>
    <p:sldId id="293" r:id="rId40"/>
    <p:sldId id="294" r:id="rId41"/>
    <p:sldId id="301" r:id="rId42"/>
    <p:sldId id="302" r:id="rId43"/>
    <p:sldId id="303" r:id="rId44"/>
    <p:sldId id="305" r:id="rId45"/>
    <p:sldId id="304" r:id="rId46"/>
    <p:sldId id="295" r:id="rId47"/>
    <p:sldId id="296" r:id="rId48"/>
    <p:sldId id="297" r:id="rId49"/>
    <p:sldId id="298" r:id="rId50"/>
    <p:sldId id="306" r:id="rId51"/>
    <p:sldId id="307" r:id="rId52"/>
    <p:sldId id="308" r:id="rId53"/>
    <p:sldId id="309" r:id="rId54"/>
    <p:sldId id="311" r:id="rId5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B8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3" autoAdjust="0"/>
    <p:restoredTop sz="94660"/>
  </p:normalViewPr>
  <p:slideViewPr>
    <p:cSldViewPr>
      <p:cViewPr varScale="1">
        <p:scale>
          <a:sx n="62" d="100"/>
          <a:sy n="62" d="100"/>
        </p:scale>
        <p:origin x="1757"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DB27C2-11AC-4838-857C-477BAB0ECCA5}" type="datetimeFigureOut">
              <a:rPr lang="fr-FR" smtClean="0"/>
              <a:t>17/09/2024</a:t>
            </a:fld>
            <a:endParaRPr lang="fr-FR"/>
          </a:p>
        </p:txBody>
      </p:sp>
      <p:sp>
        <p:nvSpPr>
          <p:cNvPr id="5" name="Footer Placeholder 4"/>
          <p:cNvSpPr>
            <a:spLocks noGrp="1"/>
          </p:cNvSpPr>
          <p:nvPr>
            <p:ph type="ftr" sz="quarter" idx="11"/>
          </p:nvPr>
        </p:nvSpPr>
        <p:spPr/>
        <p:txBody>
          <a:bodyPr/>
          <a:lstStyle/>
          <a:p>
            <a:endParaRPr lang="fr-FR"/>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3D2F5C7C-B688-45FC-8F60-6D577766691D}" type="slidenum">
              <a:rPr lang="fr-FR" smtClean="0"/>
              <a:t>‹N°›</a:t>
            </a:fld>
            <a:endParaRPr lang="fr-FR"/>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fr-FR"/>
              <a:t>Modifiez le style du titre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8DB27C2-11AC-4838-857C-477BAB0ECCA5}" type="datetimeFigureOut">
              <a:rPr lang="fr-FR" smtClean="0"/>
              <a:t>17/09/2024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C8DB27C2-11AC-4838-857C-477BAB0ECCA5}" type="datetimeFigureOut">
              <a:rPr lang="fr-FR" smtClean="0"/>
              <a:t>17/09/2024</a:t>
            </a:fld>
            <a:endParaRPr lang="fr-FR"/>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D2F5C7C-B688-45FC-8F60-6D577766691D}" type="slidenum">
              <a:rPr lang="fr-FR" smtClean="0"/>
              <a:t>‹N°›</a:t>
            </a:fld>
            <a:endParaRPr lang="fr-FR"/>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fr-FR"/>
              <a:t>Modifiez le style du titre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fr-FR"/>
              <a:t>Modifiez le style du titre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8DB27C2-11AC-4838-857C-477BAB0ECCA5}" type="datetimeFigureOut">
              <a:rPr lang="fr-FR" smtClean="0"/>
              <a:t>17/09/2024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fr-FR"/>
              <a:t>Modifiez le style du titre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8DB27C2-11AC-4838-857C-477BAB0ECCA5}" type="datetimeFigureOut">
              <a:rPr lang="fr-FR" smtClean="0"/>
              <a:t>17/09/2024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C8DB27C2-11AC-4838-857C-477BAB0ECCA5}" type="datetimeFigureOut">
              <a:rPr lang="fr-FR" smtClean="0"/>
              <a:t>17/09/2024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C8DB27C2-11AC-4838-857C-477BAB0ECCA5}" type="datetimeFigureOut">
              <a:rPr lang="fr-FR" smtClean="0"/>
              <a:t>17/09/2024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8DB27C2-11AC-4838-857C-477BAB0ECCA5}" type="datetimeFigureOut">
              <a:rPr lang="fr-FR" smtClean="0"/>
              <a:t>17/09/2024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3D2F5C7C-B688-45FC-8F60-6D577766691D}" type="slidenum">
              <a:rPr lang="fr-FR" smtClean="0"/>
              <a:t>‹N°›</a:t>
            </a:fld>
            <a:endParaRPr lang="fr-FR"/>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fr-FR"/>
              <a:t>Modifiez le style du titre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5" name="Date Placeholder 4"/>
          <p:cNvSpPr>
            <a:spLocks noGrp="1"/>
          </p:cNvSpPr>
          <p:nvPr>
            <p:ph type="dt" sz="half" idx="10"/>
          </p:nvPr>
        </p:nvSpPr>
        <p:spPr/>
        <p:txBody>
          <a:bodyPr/>
          <a:lstStyle/>
          <a:p>
            <a:fld id="{C8DB27C2-11AC-4838-857C-477BAB0ECCA5}" type="datetimeFigureOut">
              <a:rPr lang="fr-FR" smtClean="0"/>
              <a:t>17/09/2024</a:t>
            </a:fld>
            <a:endParaRPr lang="fr-FR"/>
          </a:p>
        </p:txBody>
      </p:sp>
      <p:sp>
        <p:nvSpPr>
          <p:cNvPr id="7" name="Slide Number Placeholder 6"/>
          <p:cNvSpPr>
            <a:spLocks noGrp="1"/>
          </p:cNvSpPr>
          <p:nvPr>
            <p:ph type="sldNum" sz="quarter" idx="12"/>
          </p:nvPr>
        </p:nvSpPr>
        <p:spPr/>
        <p:txBody>
          <a:bodyPr/>
          <a:lstStyle/>
          <a:p>
            <a:fld id="{3D2F5C7C-B688-45FC-8F60-6D577766691D}" type="slidenum">
              <a:rPr lang="fr-FR" smtClean="0"/>
              <a:t>‹N°›</a:t>
            </a:fld>
            <a:endParaRPr lang="fr-FR"/>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fr-FR"/>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fr-FR"/>
              <a:t>Modifiez le style du titre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8DB27C2-11AC-4838-857C-477BAB0ECCA5}" type="datetimeFigureOut">
              <a:rPr lang="fr-FR" smtClean="0"/>
              <a:t>17/09/2024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8DB27C2-11AC-4838-857C-477BAB0ECCA5}" type="datetimeFigureOut">
              <a:rPr lang="fr-FR" smtClean="0"/>
              <a:t>17/09/2024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D2F5C7C-B688-45FC-8F60-6D577766691D}"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C8DB27C2-11AC-4838-857C-477BAB0ECCA5}" type="datetimeFigureOut">
              <a:rPr lang="fr-FR" smtClean="0"/>
              <a:t>17/09/2024</a:t>
            </a:fld>
            <a:endParaRPr lang="fr-F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fr-F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3D2F5C7C-B688-45FC-8F60-6D577766691D}" type="slidenum">
              <a:rPr lang="fr-FR" smtClean="0"/>
              <a:t>‹N°›</a:t>
            </a:fld>
            <a:endParaRPr lang="fr-FR"/>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fr-FR"/>
              <a:t>Modifiez le style du titre</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r>
              <a:rPr lang="fr-FR" dirty="0"/>
              <a:t>  Mme Seynabou DIOP</a:t>
            </a:r>
          </a:p>
          <a:p>
            <a:endParaRPr lang="fr-FR" dirty="0"/>
          </a:p>
        </p:txBody>
      </p:sp>
      <p:sp>
        <p:nvSpPr>
          <p:cNvPr id="2" name="Titre 1"/>
          <p:cNvSpPr>
            <a:spLocks noGrp="1"/>
          </p:cNvSpPr>
          <p:nvPr>
            <p:ph type="ctrTitle"/>
          </p:nvPr>
        </p:nvSpPr>
        <p:spPr>
          <a:xfrm>
            <a:off x="611559" y="3212976"/>
            <a:ext cx="6622545" cy="1152128"/>
          </a:xfrm>
        </p:spPr>
        <p:txBody>
          <a:bodyPr/>
          <a:lstStyle/>
          <a:p>
            <a:br>
              <a:rPr lang="fr-FR" b="1" dirty="0"/>
            </a:br>
            <a:br>
              <a:rPr lang="fr-FR" b="1" dirty="0"/>
            </a:br>
            <a:br>
              <a:rPr lang="fr-FR" b="1" dirty="0"/>
            </a:br>
            <a:br>
              <a:rPr lang="fr-FR" b="1" dirty="0"/>
            </a:br>
            <a:br>
              <a:rPr lang="fr-FR" b="1" dirty="0"/>
            </a:br>
            <a:br>
              <a:rPr lang="fr-FR" b="1" dirty="0"/>
            </a:br>
            <a:r>
              <a:rPr lang="fr-FR" b="1" dirty="0"/>
              <a:t>                                                                                           </a:t>
            </a:r>
            <a:br>
              <a:rPr lang="fr-FR" sz="3000" dirty="0"/>
            </a:br>
            <a:br>
              <a:rPr lang="fr-FR" sz="3000" dirty="0"/>
            </a:br>
            <a:r>
              <a:rPr lang="fr-FR" sz="3000" dirty="0"/>
              <a:t>                                                                   </a:t>
            </a:r>
            <a:br>
              <a:rPr lang="fr-FR" sz="3000" dirty="0"/>
            </a:br>
            <a:br>
              <a:rPr lang="fr-FR" sz="3000" dirty="0"/>
            </a:br>
            <a:br>
              <a:rPr lang="fr-FR" sz="3000" dirty="0"/>
            </a:br>
            <a:br>
              <a:rPr lang="fr-FR" sz="3000" dirty="0"/>
            </a:br>
            <a:r>
              <a:rPr lang="fr-FR" sz="3000" dirty="0"/>
              <a:t>                                                                   </a:t>
            </a:r>
            <a:br>
              <a:rPr lang="fr-FR" sz="3000" dirty="0"/>
            </a:br>
            <a:br>
              <a:rPr lang="fr-FR" sz="3000" dirty="0"/>
            </a:br>
            <a:r>
              <a:rPr lang="fr-FR" sz="2000" b="1" dirty="0"/>
              <a:t>                   </a:t>
            </a:r>
            <a:br>
              <a:rPr lang="fr-FR" sz="2000" b="1" dirty="0"/>
            </a:br>
            <a:r>
              <a:rPr lang="fr-FR" sz="2000" b="1" dirty="0"/>
              <a:t>                                                                                                                                 </a:t>
            </a:r>
            <a:br>
              <a:rPr lang="fr-FR" sz="2000" b="1" dirty="0"/>
            </a:br>
            <a:r>
              <a:rPr lang="fr-FR" b="1" dirty="0"/>
              <a:t>COURS SIG</a:t>
            </a:r>
            <a:br>
              <a:rPr lang="fr-FR" dirty="0">
                <a:latin typeface="Times New Roman" charset="0"/>
              </a:rPr>
            </a:br>
            <a:r>
              <a:rPr lang="fr-FR" sz="2000" dirty="0">
                <a:solidFill>
                  <a:srgbClr val="93A299">
                    <a:lumMod val="50000"/>
                  </a:srgbClr>
                </a:solidFill>
                <a:latin typeface="Times New Roman" charset="0"/>
              </a:rPr>
              <a:t>SYSTEMES D’INFORMATION GEOGRAPHIQUE</a:t>
            </a:r>
            <a:endParaRPr lang="fr-FR" dirty="0"/>
          </a:p>
        </p:txBody>
      </p:sp>
    </p:spTree>
    <p:extLst>
      <p:ext uri="{BB962C8B-B14F-4D97-AF65-F5344CB8AC3E}">
        <p14:creationId xmlns:p14="http://schemas.microsoft.com/office/powerpoint/2010/main" val="4009395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Plan de cours</a:t>
            </a:r>
          </a:p>
        </p:txBody>
      </p:sp>
      <p:sp>
        <p:nvSpPr>
          <p:cNvPr id="3" name="Espace réservé du contenu 2"/>
          <p:cNvSpPr>
            <a:spLocks noGrp="1"/>
          </p:cNvSpPr>
          <p:nvPr>
            <p:ph idx="1"/>
          </p:nvPr>
        </p:nvSpPr>
        <p:spPr/>
        <p:txBody>
          <a:bodyPr>
            <a:normAutofit/>
          </a:bodyPr>
          <a:lstStyle/>
          <a:p>
            <a:pPr marL="0" lvl="0" indent="0" fontAlgn="base">
              <a:spcBef>
                <a:spcPct val="50000"/>
              </a:spcBef>
              <a:spcAft>
                <a:spcPct val="0"/>
              </a:spcAft>
              <a:buClrTx/>
              <a:buFontTx/>
              <a:buAutoNum type="arabicPeriod"/>
            </a:pPr>
            <a:r>
              <a:rPr lang="fr-FR" sz="1800" dirty="0">
                <a:solidFill>
                  <a:srgbClr val="000000"/>
                </a:solidFill>
                <a:latin typeface="Times New Roman" charset="0"/>
              </a:rPr>
              <a:t>DÉFINITION ET COMPOSANTES D’UN </a:t>
            </a:r>
            <a:r>
              <a:rPr lang="fr-FR" sz="2000" dirty="0">
                <a:solidFill>
                  <a:srgbClr val="000000"/>
                </a:solidFill>
                <a:latin typeface="Times New Roman" charset="0"/>
              </a:rPr>
              <a:t>SIG</a:t>
            </a:r>
          </a:p>
          <a:p>
            <a:pPr marL="0" lvl="0" indent="0" fontAlgn="base">
              <a:spcBef>
                <a:spcPct val="50000"/>
              </a:spcBef>
              <a:spcAft>
                <a:spcPct val="0"/>
              </a:spcAft>
              <a:buClrTx/>
              <a:buFontTx/>
              <a:buAutoNum type="arabicPeriod"/>
            </a:pPr>
            <a:r>
              <a:rPr lang="fr-FR" sz="2000" dirty="0">
                <a:solidFill>
                  <a:srgbClr val="000000"/>
                </a:solidFill>
                <a:latin typeface="Times New Roman" charset="0"/>
              </a:rPr>
              <a:t>SYSTEMES DE COORDONNEES</a:t>
            </a:r>
          </a:p>
          <a:p>
            <a:pPr marL="0" lvl="0" indent="0" fontAlgn="base">
              <a:spcBef>
                <a:spcPct val="50000"/>
              </a:spcBef>
              <a:spcAft>
                <a:spcPct val="0"/>
              </a:spcAft>
              <a:buClrTx/>
              <a:buFontTx/>
              <a:buAutoNum type="arabicPeriod"/>
            </a:pPr>
            <a:r>
              <a:rPr lang="fr-FR" sz="2000" dirty="0">
                <a:solidFill>
                  <a:srgbClr val="000000"/>
                </a:solidFill>
                <a:latin typeface="Times New Roman" charset="0"/>
              </a:rPr>
              <a:t>BASES DES DONNEES SPATIALES</a:t>
            </a:r>
          </a:p>
          <a:p>
            <a:pPr marL="0" lvl="0" indent="0" fontAlgn="base">
              <a:spcBef>
                <a:spcPct val="50000"/>
              </a:spcBef>
              <a:spcAft>
                <a:spcPct val="0"/>
              </a:spcAft>
              <a:buClrTx/>
              <a:buFontTx/>
              <a:buAutoNum type="arabicPeriod"/>
            </a:pPr>
            <a:r>
              <a:rPr lang="fr-FR" sz="2000" dirty="0">
                <a:solidFill>
                  <a:srgbClr val="000000"/>
                </a:solidFill>
                <a:latin typeface="Times New Roman" charset="0"/>
              </a:rPr>
              <a:t>MISE EN PLACE D’UN SIG</a:t>
            </a:r>
          </a:p>
          <a:p>
            <a:pPr marL="0" lvl="0" indent="0" fontAlgn="base">
              <a:spcBef>
                <a:spcPct val="50000"/>
              </a:spcBef>
              <a:spcAft>
                <a:spcPct val="0"/>
              </a:spcAft>
              <a:buClrTx/>
              <a:buFontTx/>
              <a:buAutoNum type="arabicPeriod"/>
            </a:pPr>
            <a:r>
              <a:rPr lang="fr-FR" sz="2000" dirty="0">
                <a:solidFill>
                  <a:srgbClr val="000000"/>
                </a:solidFill>
                <a:latin typeface="Times New Roman" charset="0"/>
              </a:rPr>
              <a:t>APPLICATIONS</a:t>
            </a:r>
          </a:p>
          <a:p>
            <a:endParaRPr lang="fr-FR" dirty="0"/>
          </a:p>
        </p:txBody>
      </p:sp>
    </p:spTree>
    <p:extLst>
      <p:ext uri="{BB962C8B-B14F-4D97-AF65-F5344CB8AC3E}">
        <p14:creationId xmlns:p14="http://schemas.microsoft.com/office/powerpoint/2010/main" val="21794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6128" y="188640"/>
            <a:ext cx="8260672" cy="1259159"/>
          </a:xfrm>
        </p:spPr>
        <p:txBody>
          <a:bodyPr>
            <a:normAutofit fontScale="90000"/>
          </a:bodyPr>
          <a:lstStyle/>
          <a:p>
            <a:br>
              <a:rPr lang="fr-FR" sz="3600" dirty="0">
                <a:solidFill>
                  <a:srgbClr val="000000"/>
                </a:solidFill>
                <a:latin typeface="Times New Roman" charset="0"/>
              </a:rPr>
            </a:br>
            <a:r>
              <a:rPr lang="fr-FR" sz="3600" dirty="0">
                <a:solidFill>
                  <a:srgbClr val="000000"/>
                </a:solidFill>
                <a:latin typeface="Times New Roman" charset="0"/>
              </a:rPr>
              <a:t>Définition et composantes d’un SIG</a:t>
            </a:r>
            <a:br>
              <a:rPr lang="fr-FR" sz="3600" dirty="0">
                <a:solidFill>
                  <a:srgbClr val="000000"/>
                </a:solidFill>
                <a:latin typeface="Times New Roman" charset="0"/>
              </a:rPr>
            </a:br>
            <a:endParaRPr lang="fr-FR" dirty="0"/>
          </a:p>
        </p:txBody>
      </p:sp>
      <p:sp>
        <p:nvSpPr>
          <p:cNvPr id="3" name="Espace réservé du contenu 2"/>
          <p:cNvSpPr>
            <a:spLocks noGrp="1"/>
          </p:cNvSpPr>
          <p:nvPr>
            <p:ph idx="1"/>
          </p:nvPr>
        </p:nvSpPr>
        <p:spPr/>
        <p:txBody>
          <a:bodyPr>
            <a:normAutofit fontScale="92500"/>
          </a:bodyPr>
          <a:lstStyle/>
          <a:p>
            <a:r>
              <a:rPr lang="fr-FR" b="1" dirty="0">
                <a:latin typeface="Times New Roman" pitchFamily="18" charset="0"/>
                <a:cs typeface="Times New Roman" pitchFamily="18" charset="0"/>
              </a:rPr>
              <a:t>Système d’Information Géographique </a:t>
            </a:r>
          </a:p>
          <a:p>
            <a:pPr marL="114300" indent="0">
              <a:buNone/>
            </a:pPr>
            <a:r>
              <a:rPr lang="fr-FR" b="1" dirty="0">
                <a:latin typeface="Times New Roman" pitchFamily="18" charset="0"/>
                <a:cs typeface="Times New Roman" pitchFamily="18" charset="0"/>
              </a:rPr>
              <a:t> - </a:t>
            </a:r>
            <a:r>
              <a:rPr lang="fr-FR" dirty="0">
                <a:latin typeface="Times New Roman" pitchFamily="18" charset="0"/>
                <a:cs typeface="Times New Roman" pitchFamily="18" charset="0"/>
              </a:rPr>
              <a:t>un système d’information géographique est un ensemble organisé de matériels informatiques (logiciels, données géographiques, personnel)pour la saisie, le stockage, la mise à jour, la manipulation, l’analyse et la présentation de toutes formes d’informations géographiquement référencées ( De BLOMAC, GAL et al., 1994).</a:t>
            </a:r>
          </a:p>
          <a:p>
            <a:r>
              <a:rPr lang="fr-FR" b="1" dirty="0">
                <a:latin typeface="Times New Roman" pitchFamily="18" charset="0"/>
                <a:cs typeface="Times New Roman" pitchFamily="18" charset="0"/>
              </a:rPr>
              <a:t>Système d’Information Géographique </a:t>
            </a:r>
          </a:p>
          <a:p>
            <a:pPr>
              <a:buFontTx/>
              <a:buChar char="-"/>
            </a:pPr>
            <a:r>
              <a:rPr lang="fr-FR" dirty="0">
                <a:latin typeface="Times New Roman" pitchFamily="18" charset="0"/>
                <a:cs typeface="Times New Roman" pitchFamily="18" charset="0"/>
              </a:rPr>
              <a:t>Un système informatisé qui permet l’intégration de bases de données et de cartes numériques . Cette intégration permet la consultation et l’analyse très détaillée d’un territoire avec pour objectifs de le gérer, d’offrir un service, de vendre un produit ou de prendre des décisions. </a:t>
            </a:r>
          </a:p>
        </p:txBody>
      </p:sp>
    </p:spTree>
    <p:extLst>
      <p:ext uri="{BB962C8B-B14F-4D97-AF65-F5344CB8AC3E}">
        <p14:creationId xmlns:p14="http://schemas.microsoft.com/office/powerpoint/2010/main" val="3077919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6128" y="260648"/>
            <a:ext cx="8260672" cy="1187151"/>
          </a:xfrm>
        </p:spPr>
        <p:txBody>
          <a:bodyPr>
            <a:normAutofit/>
          </a:bodyPr>
          <a:lstStyle/>
          <a:p>
            <a:pPr marL="0" lvl="0" indent="0" fontAlgn="base">
              <a:spcBef>
                <a:spcPct val="50000"/>
              </a:spcBef>
              <a:spcAft>
                <a:spcPct val="0"/>
              </a:spcAft>
            </a:pPr>
            <a:br>
              <a:rPr lang="fr-FR" sz="3200" dirty="0">
                <a:solidFill>
                  <a:srgbClr val="000000"/>
                </a:solidFill>
                <a:latin typeface="Times New Roman" charset="0"/>
              </a:rPr>
            </a:br>
            <a:r>
              <a:rPr lang="fr-FR" sz="3200" dirty="0">
                <a:solidFill>
                  <a:srgbClr val="000000"/>
                </a:solidFill>
                <a:latin typeface="Times New Roman" charset="0"/>
              </a:rPr>
              <a:t>Définition et composantes d’un SIG</a:t>
            </a:r>
          </a:p>
        </p:txBody>
      </p:sp>
      <p:sp>
        <p:nvSpPr>
          <p:cNvPr id="3" name="Espace réservé du contenu 2"/>
          <p:cNvSpPr>
            <a:spLocks noGrp="1"/>
          </p:cNvSpPr>
          <p:nvPr>
            <p:ph idx="1"/>
          </p:nvPr>
        </p:nvSpPr>
        <p:spPr/>
        <p:txBody>
          <a:bodyPr>
            <a:normAutofit fontScale="92500" lnSpcReduction="20000"/>
          </a:bodyPr>
          <a:lstStyle/>
          <a:p>
            <a:r>
              <a:rPr lang="fr-FR" b="1" dirty="0">
                <a:latin typeface="Times New Roman" pitchFamily="18" charset="0"/>
                <a:cs typeface="Times New Roman" pitchFamily="18" charset="0"/>
              </a:rPr>
              <a:t>Synonymes</a:t>
            </a:r>
          </a:p>
          <a:p>
            <a:pPr>
              <a:buFontTx/>
              <a:buChar char="-"/>
            </a:pPr>
            <a:r>
              <a:rPr lang="fr-FR" dirty="0">
                <a:latin typeface="Times New Roman" pitchFamily="18" charset="0"/>
                <a:cs typeface="Times New Roman" pitchFamily="18" charset="0"/>
              </a:rPr>
              <a:t>Système d’Information à Référence Spatiale (SIRS)</a:t>
            </a:r>
          </a:p>
          <a:p>
            <a:pPr>
              <a:buFontTx/>
              <a:buChar char="-"/>
            </a:pPr>
            <a:r>
              <a:rPr lang="fr-FR" dirty="0">
                <a:latin typeface="Times New Roman" pitchFamily="18" charset="0"/>
                <a:cs typeface="Times New Roman" pitchFamily="18" charset="0"/>
              </a:rPr>
              <a:t>Système d’Information Spatiale (SIS)</a:t>
            </a:r>
          </a:p>
          <a:p>
            <a:pPr>
              <a:buFontTx/>
              <a:buChar char="-"/>
            </a:pPr>
            <a:r>
              <a:rPr lang="fr-FR" dirty="0">
                <a:latin typeface="Times New Roman" pitchFamily="18" charset="0"/>
                <a:cs typeface="Times New Roman" pitchFamily="18" charset="0"/>
              </a:rPr>
              <a:t>Système d’Information sur le Territoire (SIT)</a:t>
            </a:r>
          </a:p>
          <a:p>
            <a:pPr>
              <a:buFontTx/>
              <a:buChar char="-"/>
            </a:pPr>
            <a:r>
              <a:rPr lang="fr-FR" dirty="0">
                <a:latin typeface="Times New Roman" pitchFamily="18" charset="0"/>
                <a:cs typeface="Times New Roman" pitchFamily="18" charset="0"/>
              </a:rPr>
              <a:t>Système d’Information Géo spatiale</a:t>
            </a:r>
          </a:p>
          <a:p>
            <a:r>
              <a:rPr lang="fr-FR" b="1" dirty="0">
                <a:latin typeface="Times New Roman" pitchFamily="18" charset="0"/>
                <a:cs typeface="Times New Roman" pitchFamily="18" charset="0"/>
              </a:rPr>
              <a:t>Utilité des SIG </a:t>
            </a:r>
          </a:p>
          <a:p>
            <a:pPr>
              <a:buFontTx/>
              <a:buChar char="-"/>
            </a:pPr>
            <a:r>
              <a:rPr lang="fr-FR" dirty="0">
                <a:latin typeface="Times New Roman" pitchFamily="18" charset="0"/>
                <a:cs typeface="Times New Roman" pitchFamily="18" charset="0"/>
              </a:rPr>
              <a:t>Aider à répondre à des questions comportant une composante localisable: </a:t>
            </a:r>
          </a:p>
          <a:p>
            <a:pPr>
              <a:buFontTx/>
              <a:buChar char="-"/>
            </a:pP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Exemples de questions:</a:t>
            </a:r>
          </a:p>
          <a:p>
            <a:pPr>
              <a:buFontTx/>
              <a:buChar char="-"/>
            </a:pPr>
            <a:r>
              <a:rPr lang="fr-FR" dirty="0">
                <a:latin typeface="Times New Roman" pitchFamily="18" charset="0"/>
                <a:cs typeface="Times New Roman" pitchFamily="18" charset="0"/>
              </a:rPr>
              <a:t>- </a:t>
            </a:r>
            <a:r>
              <a:rPr lang="fr-FR" b="1" dirty="0">
                <a:latin typeface="Times New Roman" pitchFamily="18" charset="0"/>
                <a:cs typeface="Times New Roman" pitchFamily="18" charset="0"/>
              </a:rPr>
              <a:t>Où? </a:t>
            </a:r>
            <a:r>
              <a:rPr lang="fr-FR" dirty="0">
                <a:latin typeface="Times New Roman" pitchFamily="18" charset="0"/>
                <a:cs typeface="Times New Roman" pitchFamily="18" charset="0"/>
              </a:rPr>
              <a:t>Où cet objet, ce phénomène se trouve -t-il? Plus généralement, où se trouvent les objets du même type? Cette interrogation permet de mettre en exergue la répartition spatiale d’un objet.</a:t>
            </a:r>
          </a:p>
          <a:p>
            <a:pPr marL="114300" indent="0">
              <a:buNone/>
            </a:pPr>
            <a:endParaRPr lang="fr-FR" b="1" dirty="0">
              <a:latin typeface="Times New Roman" pitchFamily="18" charset="0"/>
              <a:cs typeface="Times New Roman" pitchFamily="18" charset="0"/>
            </a:endParaRPr>
          </a:p>
        </p:txBody>
      </p:sp>
    </p:spTree>
    <p:extLst>
      <p:ext uri="{BB962C8B-B14F-4D97-AF65-F5344CB8AC3E}">
        <p14:creationId xmlns:p14="http://schemas.microsoft.com/office/powerpoint/2010/main" val="2752857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p:txBody>
          <a:bodyPr>
            <a:normAutofit fontScale="92500" lnSpcReduction="10000"/>
          </a:bodyPr>
          <a:lstStyle/>
          <a:p>
            <a:pPr marL="114300" indent="0">
              <a:buNone/>
            </a:pPr>
            <a:r>
              <a:rPr lang="fr-FR" b="1" dirty="0">
                <a:latin typeface="Times New Roman" pitchFamily="18" charset="0"/>
                <a:cs typeface="Times New Roman" pitchFamily="18" charset="0"/>
              </a:rPr>
              <a:t> QUOI? </a:t>
            </a:r>
            <a:r>
              <a:rPr lang="fr-FR" dirty="0">
                <a:latin typeface="Times New Roman" pitchFamily="18" charset="0"/>
                <a:cs typeface="Times New Roman" pitchFamily="18" charset="0"/>
              </a:rPr>
              <a:t>Que trouve- t-on à cet endroit? </a:t>
            </a:r>
          </a:p>
          <a:p>
            <a:pPr marL="114300" indent="0">
              <a:buNone/>
            </a:pPr>
            <a:r>
              <a:rPr lang="fr-FR" dirty="0">
                <a:latin typeface="Times New Roman" pitchFamily="18" charset="0"/>
                <a:cs typeface="Times New Roman" pitchFamily="18" charset="0"/>
              </a:rPr>
              <a:t>Il s’agit de mettre en évidence tous les objets ou phénomènes présents sur un territoire donné (proximité, superposition).</a:t>
            </a:r>
          </a:p>
          <a:p>
            <a:pPr marL="114300" indent="0">
              <a:buNone/>
            </a:pPr>
            <a:r>
              <a:rPr lang="fr-FR" b="1" dirty="0">
                <a:latin typeface="Times New Roman" pitchFamily="18" charset="0"/>
                <a:cs typeface="Times New Roman" pitchFamily="18" charset="0"/>
              </a:rPr>
              <a:t> COMMENT? </a:t>
            </a:r>
            <a:r>
              <a:rPr lang="fr-FR" dirty="0">
                <a:latin typeface="Times New Roman" pitchFamily="18" charset="0"/>
                <a:cs typeface="Times New Roman" pitchFamily="18" charset="0"/>
              </a:rPr>
              <a:t>Quelle relations existent ou non entre les objets et les phénomènes? C’est la problématique de </a:t>
            </a:r>
            <a:r>
              <a:rPr lang="fr-FR" b="1" dirty="0">
                <a:latin typeface="Times New Roman" pitchFamily="18" charset="0"/>
                <a:cs typeface="Times New Roman" pitchFamily="18" charset="0"/>
              </a:rPr>
              <a:t>l’analyse spatiale.</a:t>
            </a:r>
          </a:p>
          <a:p>
            <a:pPr marL="114300" indent="0">
              <a:buNone/>
            </a:pPr>
            <a:r>
              <a:rPr lang="fr-FR" b="1" dirty="0">
                <a:latin typeface="Times New Roman" pitchFamily="18" charset="0"/>
                <a:cs typeface="Times New Roman" pitchFamily="18" charset="0"/>
              </a:rPr>
              <a:t> QUAND? </a:t>
            </a:r>
            <a:r>
              <a:rPr lang="fr-FR" dirty="0">
                <a:latin typeface="Times New Roman" pitchFamily="18" charset="0"/>
                <a:cs typeface="Times New Roman" pitchFamily="18" charset="0"/>
              </a:rPr>
              <a:t>A quel moment des sont-ils intervenus? Quels sont l’âge et l’évolution de tel objet ou phénomène? C’est la problématique de </a:t>
            </a:r>
            <a:r>
              <a:rPr lang="fr-FR" b="1" dirty="0">
                <a:latin typeface="Times New Roman" pitchFamily="18" charset="0"/>
                <a:cs typeface="Times New Roman" pitchFamily="18" charset="0"/>
              </a:rPr>
              <a:t>l’analyse temporelle</a:t>
            </a:r>
            <a:r>
              <a:rPr lang="fr-FR" dirty="0">
                <a:latin typeface="Times New Roman" pitchFamily="18" charset="0"/>
                <a:cs typeface="Times New Roman" pitchFamily="18" charset="0"/>
              </a:rPr>
              <a:t>.</a:t>
            </a:r>
          </a:p>
          <a:p>
            <a:pPr marL="114300" indent="0">
              <a:buNone/>
            </a:pPr>
            <a:r>
              <a:rPr lang="fr-FR" b="1" dirty="0">
                <a:latin typeface="Times New Roman" pitchFamily="18" charset="0"/>
                <a:cs typeface="Times New Roman" pitchFamily="18" charset="0"/>
              </a:rPr>
              <a:t>SI? </a:t>
            </a:r>
            <a:r>
              <a:rPr lang="fr-FR" dirty="0">
                <a:latin typeface="Times New Roman" pitchFamily="18" charset="0"/>
                <a:cs typeface="Times New Roman" pitchFamily="18" charset="0"/>
              </a:rPr>
              <a:t>Que se passera -t-il si tel scénario d’évolution se produisait?   </a:t>
            </a:r>
          </a:p>
          <a:p>
            <a:pPr marL="114300" indent="0">
              <a:buNone/>
            </a:pPr>
            <a:r>
              <a:rPr lang="fr-FR" dirty="0">
                <a:latin typeface="Times New Roman" pitchFamily="18" charset="0"/>
                <a:cs typeface="Times New Roman" pitchFamily="18" charset="0"/>
              </a:rPr>
              <a:t>Il s’agit d’identifier les conséquences qui affecteraient les objets ou phénomènes concernés du fait de leur localisation ( scénario d’évaluation, simulation, études d’impact).</a:t>
            </a:r>
          </a:p>
        </p:txBody>
      </p:sp>
    </p:spTree>
    <p:extLst>
      <p:ext uri="{BB962C8B-B14F-4D97-AF65-F5344CB8AC3E}">
        <p14:creationId xmlns:p14="http://schemas.microsoft.com/office/powerpoint/2010/main" val="341463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p:txBody>
          <a:bodyPr/>
          <a:lstStyle/>
          <a:p>
            <a:r>
              <a:rPr lang="fr-FR" b="1" dirty="0">
                <a:latin typeface="Times New Roman" pitchFamily="18" charset="0"/>
                <a:cs typeface="Times New Roman" pitchFamily="18" charset="0"/>
              </a:rPr>
              <a:t>Autres exemples du questionnement géographique</a:t>
            </a:r>
          </a:p>
          <a:p>
            <a:pPr marL="114300" indent="0">
              <a:buNone/>
            </a:pPr>
            <a:r>
              <a:rPr lang="fr-FR" b="1" dirty="0">
                <a:latin typeface="Times New Roman" pitchFamily="18" charset="0"/>
                <a:cs typeface="Times New Roman" pitchFamily="18" charset="0"/>
              </a:rPr>
              <a:t>  </a:t>
            </a:r>
            <a:r>
              <a:rPr lang="fr-FR" dirty="0">
                <a:latin typeface="Times New Roman" pitchFamily="18" charset="0"/>
                <a:cs typeface="Times New Roman" pitchFamily="18" charset="0"/>
              </a:rPr>
              <a:t>- </a:t>
            </a:r>
            <a:r>
              <a:rPr lang="fr-FR" sz="2000" dirty="0">
                <a:latin typeface="Times New Roman" pitchFamily="18" charset="0"/>
                <a:cs typeface="Times New Roman" pitchFamily="18" charset="0"/>
              </a:rPr>
              <a:t>Quel est l’état des routes dans la commune de Médina?</a:t>
            </a:r>
          </a:p>
          <a:p>
            <a:pPr marL="114300" indent="0">
              <a:buNone/>
            </a:pPr>
            <a:r>
              <a:rPr lang="fr-FR" sz="2000" dirty="0">
                <a:latin typeface="Times New Roman" pitchFamily="18" charset="0"/>
                <a:cs typeface="Times New Roman" pitchFamily="18" charset="0"/>
              </a:rPr>
              <a:t>  - Qu’est ce qui a changé depuis 1954 à Dakar?</a:t>
            </a:r>
          </a:p>
          <a:p>
            <a:pPr marL="114300" indent="0">
              <a:buNone/>
            </a:pPr>
            <a:r>
              <a:rPr lang="fr-FR" sz="2000" dirty="0">
                <a:latin typeface="Times New Roman" pitchFamily="18" charset="0"/>
                <a:cs typeface="Times New Roman" pitchFamily="18" charset="0"/>
              </a:rPr>
              <a:t>  - Quelles sont les quartiers concernés par une inondation éventuelle à Grand Yoff?</a:t>
            </a:r>
          </a:p>
          <a:p>
            <a:pPr marL="114300" indent="0">
              <a:buNone/>
            </a:pPr>
            <a:r>
              <a:rPr lang="fr-FR" sz="2000" dirty="0">
                <a:latin typeface="Times New Roman" pitchFamily="18" charset="0"/>
                <a:cs typeface="Times New Roman" pitchFamily="18" charset="0"/>
              </a:rPr>
              <a:t>  - Que se passe t il si une substance toxique se déverse au plateau de Dakar?</a:t>
            </a:r>
          </a:p>
          <a:p>
            <a:pPr marL="114300" indent="0">
              <a:buNone/>
            </a:pPr>
            <a:r>
              <a:rPr lang="fr-FR" sz="2000" dirty="0">
                <a:latin typeface="Times New Roman" pitchFamily="18" charset="0"/>
                <a:cs typeface="Times New Roman" pitchFamily="18" charset="0"/>
              </a:rPr>
              <a:t>  - Comment évolue la déforestation en Casamance?</a:t>
            </a:r>
          </a:p>
          <a:p>
            <a:pPr marL="114300" indent="0">
              <a:buNone/>
            </a:pPr>
            <a:r>
              <a:rPr lang="fr-FR" sz="2000" dirty="0">
                <a:latin typeface="Times New Roman" pitchFamily="18" charset="0"/>
                <a:cs typeface="Times New Roman" pitchFamily="18" charset="0"/>
              </a:rPr>
              <a:t>  - Quelle est la commune la plus densément peuplée de Dakar?</a:t>
            </a:r>
          </a:p>
          <a:p>
            <a:pPr marL="114300" indent="0">
              <a:buNone/>
            </a:pPr>
            <a:r>
              <a:rPr lang="fr-FR" sz="2000" dirty="0">
                <a:latin typeface="Times New Roman" pitchFamily="18" charset="0"/>
                <a:cs typeface="Times New Roman" pitchFamily="18" charset="0"/>
              </a:rPr>
              <a:t>Pour répondre à ces exemples de questions à l’aide d’un SIG, le processus du questionnement géographique est incontournable. </a:t>
            </a:r>
            <a:endParaRPr lang="fr-FR" dirty="0">
              <a:latin typeface="Times New Roman" pitchFamily="18" charset="0"/>
              <a:cs typeface="Times New Roman" pitchFamily="18" charset="0"/>
            </a:endParaRPr>
          </a:p>
          <a:p>
            <a:pPr marL="114300" indent="0">
              <a:buNone/>
            </a:pPr>
            <a:r>
              <a:rPr lang="fr-FR" sz="2000" dirty="0">
                <a:latin typeface="Times New Roman" pitchFamily="18" charset="0"/>
                <a:cs typeface="Times New Roman" pitchFamily="18" charset="0"/>
              </a:rPr>
              <a:t>  </a:t>
            </a:r>
          </a:p>
        </p:txBody>
      </p:sp>
    </p:spTree>
    <p:extLst>
      <p:ext uri="{BB962C8B-B14F-4D97-AF65-F5344CB8AC3E}">
        <p14:creationId xmlns:p14="http://schemas.microsoft.com/office/powerpoint/2010/main" val="2590634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a:xfrm>
            <a:off x="457200" y="1752600"/>
            <a:ext cx="8229600" cy="4556720"/>
          </a:xfrm>
        </p:spPr>
        <p:txBody>
          <a:bodyPr>
            <a:normAutofit fontScale="92500" lnSpcReduction="20000"/>
          </a:bodyPr>
          <a:lstStyle/>
          <a:p>
            <a:r>
              <a:rPr lang="fr-FR" b="1" dirty="0">
                <a:latin typeface="Times New Roman" pitchFamily="18" charset="0"/>
                <a:cs typeface="Times New Roman" pitchFamily="18" charset="0"/>
              </a:rPr>
              <a:t>Le processus du questionnement géographique:</a:t>
            </a:r>
          </a:p>
          <a:p>
            <a:pPr marL="114300" indent="0">
              <a:buNone/>
            </a:pPr>
            <a:r>
              <a:rPr lang="fr-FR" b="1" dirty="0">
                <a:latin typeface="Times New Roman" pitchFamily="18" charset="0"/>
                <a:cs typeface="Times New Roman" pitchFamily="18" charset="0"/>
              </a:rPr>
              <a:t>                                                                                                        </a:t>
            </a:r>
          </a:p>
          <a:p>
            <a:pPr marL="114300" indent="0">
              <a:buNone/>
            </a:pPr>
            <a:r>
              <a:rPr lang="fr-FR" b="1" dirty="0">
                <a:latin typeface="Times New Roman" pitchFamily="18" charset="0"/>
                <a:cs typeface="Times New Roman" pitchFamily="18" charset="0"/>
              </a:rPr>
              <a:t>                                </a:t>
            </a:r>
            <a:r>
              <a:rPr lang="fr-FR" sz="2000" b="1" dirty="0">
                <a:latin typeface="Times New Roman" pitchFamily="18" charset="0"/>
                <a:cs typeface="Times New Roman" pitchFamily="18" charset="0"/>
              </a:rPr>
              <a:t>Acquérir les ressources géo localisées </a:t>
            </a:r>
            <a:endParaRPr lang="fr-FR" b="1" dirty="0">
              <a:latin typeface="Times New Roman" pitchFamily="18" charset="0"/>
              <a:cs typeface="Times New Roman" pitchFamily="18" charset="0"/>
            </a:endParaRPr>
          </a:p>
          <a:p>
            <a:pPr marL="114300" indent="0">
              <a:buNone/>
            </a:pPr>
            <a:r>
              <a:rPr lang="fr-FR" b="1" dirty="0">
                <a:latin typeface="Times New Roman" pitchFamily="18" charset="0"/>
                <a:cs typeface="Times New Roman" pitchFamily="18" charset="0"/>
              </a:rPr>
              <a:t>                                           </a:t>
            </a:r>
          </a:p>
          <a:p>
            <a:pPr marL="114300" indent="0">
              <a:buNone/>
            </a:pPr>
            <a:r>
              <a:rPr lang="fr-FR" sz="2000" b="1" dirty="0">
                <a:latin typeface="Times New Roman" pitchFamily="18" charset="0"/>
                <a:cs typeface="Times New Roman" pitchFamily="18" charset="0"/>
              </a:rPr>
              <a:t>Poser une question impliquant                                    Explorer les  données une</a:t>
            </a:r>
            <a:r>
              <a:rPr lang="fr-FR" b="1" dirty="0">
                <a:latin typeface="Times New Roman" pitchFamily="18" charset="0"/>
                <a:cs typeface="Times New Roman" pitchFamily="18" charset="0"/>
              </a:rPr>
              <a:t> </a:t>
            </a:r>
            <a:r>
              <a:rPr lang="fr-FR" sz="2000" b="1" dirty="0">
                <a:latin typeface="Times New Roman" pitchFamily="18" charset="0"/>
                <a:cs typeface="Times New Roman" pitchFamily="18" charset="0"/>
              </a:rPr>
              <a:t>géolocalisation                                                        géo localisées                 </a:t>
            </a:r>
          </a:p>
          <a:p>
            <a:pPr marL="114300" indent="0">
              <a:buNone/>
            </a:pPr>
            <a:endParaRPr lang="fr-FR" sz="2000" b="1" dirty="0">
              <a:latin typeface="Times New Roman" pitchFamily="18" charset="0"/>
              <a:cs typeface="Times New Roman" pitchFamily="18" charset="0"/>
            </a:endParaRPr>
          </a:p>
          <a:p>
            <a:pPr marL="114300" indent="0">
              <a:buNone/>
            </a:pPr>
            <a:endParaRPr lang="fr-FR" sz="2000" b="1" dirty="0">
              <a:latin typeface="Times New Roman" pitchFamily="18" charset="0"/>
              <a:cs typeface="Times New Roman" pitchFamily="18" charset="0"/>
            </a:endParaRPr>
          </a:p>
          <a:p>
            <a:pPr marL="114300" indent="0">
              <a:buNone/>
            </a:pPr>
            <a:r>
              <a:rPr lang="fr-FR" sz="2000" b="1" dirty="0">
                <a:latin typeface="Times New Roman" pitchFamily="18" charset="0"/>
                <a:cs typeface="Times New Roman" pitchFamily="18" charset="0"/>
              </a:rPr>
              <a:t>Agir en se basant sur                                             Analyser les informations connaissances géo localisées                                    géo localisées                        </a:t>
            </a:r>
          </a:p>
          <a:p>
            <a:pPr marL="114300" indent="0">
              <a:buNone/>
            </a:pPr>
            <a:r>
              <a:rPr lang="fr-FR" sz="2000" b="1" dirty="0">
                <a:latin typeface="Times New Roman" pitchFamily="18" charset="0"/>
                <a:cs typeface="Times New Roman" pitchFamily="18" charset="0"/>
              </a:rPr>
              <a:t>                                               Prise de la bonne décision    </a:t>
            </a:r>
          </a:p>
          <a:p>
            <a:pPr marL="114300" indent="0">
              <a:buNone/>
            </a:pPr>
            <a:r>
              <a:rPr lang="fr-FR" sz="2000" b="1" dirty="0">
                <a:latin typeface="Times New Roman" pitchFamily="18" charset="0"/>
                <a:cs typeface="Times New Roman" pitchFamily="18" charset="0"/>
              </a:rPr>
              <a:t>                                                                                        </a:t>
            </a:r>
          </a:p>
          <a:p>
            <a:pPr marL="114300" indent="0">
              <a:buNone/>
            </a:pPr>
            <a:endParaRPr lang="fr-FR" sz="2000" b="1" dirty="0">
              <a:latin typeface="Times New Roman" pitchFamily="18" charset="0"/>
              <a:cs typeface="Times New Roman" pitchFamily="18" charset="0"/>
            </a:endParaRPr>
          </a:p>
          <a:p>
            <a:pPr marL="114300" indent="0">
              <a:buNone/>
            </a:pPr>
            <a:r>
              <a:rPr lang="fr-FR" sz="2000" b="1" dirty="0">
                <a:latin typeface="Times New Roman" pitchFamily="18" charset="0"/>
                <a:cs typeface="Times New Roman" pitchFamily="18" charset="0"/>
              </a:rPr>
              <a:t>                                                                                          PALMER et </a:t>
            </a:r>
            <a:r>
              <a:rPr lang="fr-FR" sz="2000" b="1" dirty="0" err="1">
                <a:latin typeface="Times New Roman" pitchFamily="18" charset="0"/>
                <a:cs typeface="Times New Roman" pitchFamily="18" charset="0"/>
              </a:rPr>
              <a:t>als</a:t>
            </a:r>
            <a:r>
              <a:rPr lang="fr-FR" sz="2000" b="1" dirty="0">
                <a:latin typeface="Times New Roman" pitchFamily="18" charset="0"/>
                <a:cs typeface="Times New Roman" pitchFamily="18" charset="0"/>
              </a:rPr>
              <a:t> (2008)</a:t>
            </a:r>
          </a:p>
          <a:p>
            <a:pPr marL="114300" indent="0">
              <a:buNone/>
            </a:pPr>
            <a:r>
              <a:rPr lang="fr-FR" sz="2000" b="1" dirty="0">
                <a:latin typeface="Times New Roman" pitchFamily="18" charset="0"/>
                <a:cs typeface="Times New Roman" pitchFamily="18" charset="0"/>
              </a:rPr>
              <a:t>  </a:t>
            </a:r>
          </a:p>
        </p:txBody>
      </p:sp>
      <p:cxnSp>
        <p:nvCxnSpPr>
          <p:cNvPr id="6" name="Connecteur droit avec flèche 5"/>
          <p:cNvCxnSpPr/>
          <p:nvPr/>
        </p:nvCxnSpPr>
        <p:spPr>
          <a:xfrm flipV="1">
            <a:off x="1587740" y="2569096"/>
            <a:ext cx="1008112" cy="648072"/>
          </a:xfrm>
          <a:prstGeom prst="straightConnector1">
            <a:avLst/>
          </a:prstGeom>
          <a:ln w="38100">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8" name="Connecteur droit avec flèche 7"/>
          <p:cNvCxnSpPr/>
          <p:nvPr/>
        </p:nvCxnSpPr>
        <p:spPr>
          <a:xfrm>
            <a:off x="6804248" y="2564904"/>
            <a:ext cx="576064" cy="50405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flipH="1">
            <a:off x="7092280" y="3645024"/>
            <a:ext cx="504056" cy="57606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H="1">
            <a:off x="3646570" y="4581128"/>
            <a:ext cx="18002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1953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a:solidFill>
                  <a:srgbClr val="000000"/>
                </a:solidFill>
                <a:latin typeface="Times New Roman" charset="0"/>
              </a:rPr>
              <a:t>Définition et composantes d’un SIG</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2204379845"/>
              </p:ext>
            </p:extLst>
          </p:nvPr>
        </p:nvGraphicFramePr>
        <p:xfrm>
          <a:off x="467544" y="1844824"/>
          <a:ext cx="8208912" cy="4785360"/>
        </p:xfrm>
        <a:graphic>
          <a:graphicData uri="http://schemas.openxmlformats.org/drawingml/2006/table">
            <a:tbl>
              <a:tblPr firstRow="1" bandRow="1">
                <a:tableStyleId>{5C22544A-7EE6-4342-B048-85BDC9FD1C3A}</a:tableStyleId>
              </a:tblPr>
              <a:tblGrid>
                <a:gridCol w="4104456">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355263">
                <a:tc>
                  <a:txBody>
                    <a:bodyPr/>
                    <a:lstStyle/>
                    <a:p>
                      <a:r>
                        <a:rPr lang="fr-FR" dirty="0">
                          <a:latin typeface="Times New Roman" pitchFamily="18" charset="0"/>
                          <a:cs typeface="Times New Roman" pitchFamily="18" charset="0"/>
                        </a:rPr>
                        <a:t>Etapes</a:t>
                      </a:r>
                    </a:p>
                  </a:txBody>
                  <a:tcPr/>
                </a:tc>
                <a:tc>
                  <a:txBody>
                    <a:bodyPr/>
                    <a:lstStyle/>
                    <a:p>
                      <a:r>
                        <a:rPr lang="fr-FR" dirty="0">
                          <a:latin typeface="Times New Roman" pitchFamily="18" charset="0"/>
                          <a:cs typeface="Times New Roman" pitchFamily="18" charset="0"/>
                        </a:rPr>
                        <a:t>Quoi faire?</a:t>
                      </a:r>
                    </a:p>
                  </a:txBody>
                  <a:tcPr/>
                </a:tc>
                <a:extLst>
                  <a:ext uri="{0D108BD9-81ED-4DB2-BD59-A6C34878D82A}">
                    <a16:rowId xmlns:a16="http://schemas.microsoft.com/office/drawing/2014/main" val="10000"/>
                  </a:ext>
                </a:extLst>
              </a:tr>
              <a:tr h="613195">
                <a:tc>
                  <a:txBody>
                    <a:bodyPr/>
                    <a:lstStyle/>
                    <a:p>
                      <a:r>
                        <a:rPr lang="fr-FR" dirty="0">
                          <a:latin typeface="Times New Roman" pitchFamily="18" charset="0"/>
                          <a:cs typeface="Times New Roman" pitchFamily="18" charset="0"/>
                        </a:rPr>
                        <a:t>Poser</a:t>
                      </a:r>
                      <a:r>
                        <a:rPr lang="fr-FR" baseline="0" dirty="0">
                          <a:latin typeface="Times New Roman" pitchFamily="18" charset="0"/>
                          <a:cs typeface="Times New Roman" pitchFamily="18" charset="0"/>
                        </a:rPr>
                        <a:t> une question impliquant  une</a:t>
                      </a:r>
                    </a:p>
                    <a:p>
                      <a:r>
                        <a:rPr lang="fr-FR" baseline="0" dirty="0">
                          <a:latin typeface="Times New Roman" pitchFamily="18" charset="0"/>
                          <a:cs typeface="Times New Roman" pitchFamily="18" charset="0"/>
                        </a:rPr>
                        <a:t>géolocalisation</a:t>
                      </a:r>
                      <a:endParaRPr lang="fr-FR" dirty="0">
                        <a:latin typeface="Times New Roman" pitchFamily="18" charset="0"/>
                        <a:cs typeface="Times New Roman" pitchFamily="18" charset="0"/>
                      </a:endParaRPr>
                    </a:p>
                  </a:txBody>
                  <a:tcPr/>
                </a:tc>
                <a:tc>
                  <a:txBody>
                    <a:bodyPr/>
                    <a:lstStyle/>
                    <a:p>
                      <a:r>
                        <a:rPr lang="fr-FR" sz="1600" dirty="0">
                          <a:latin typeface="Times New Roman" pitchFamily="18" charset="0"/>
                          <a:cs typeface="Times New Roman" pitchFamily="18" charset="0"/>
                        </a:rPr>
                        <a:t>Poser une question ayant un lien avec les relations spatiales existantes autour de nous</a:t>
                      </a:r>
                    </a:p>
                  </a:txBody>
                  <a:tcPr/>
                </a:tc>
                <a:extLst>
                  <a:ext uri="{0D108BD9-81ED-4DB2-BD59-A6C34878D82A}">
                    <a16:rowId xmlns:a16="http://schemas.microsoft.com/office/drawing/2014/main" val="10001"/>
                  </a:ext>
                </a:extLst>
              </a:tr>
              <a:tr h="554795">
                <a:tc>
                  <a:txBody>
                    <a:bodyPr/>
                    <a:lstStyle/>
                    <a:p>
                      <a:r>
                        <a:rPr lang="fr-FR" dirty="0">
                          <a:latin typeface="Times New Roman" pitchFamily="18" charset="0"/>
                          <a:cs typeface="Times New Roman" pitchFamily="18" charset="0"/>
                        </a:rPr>
                        <a:t>Acquérir les ressources géo localisées</a:t>
                      </a:r>
                    </a:p>
                  </a:txBody>
                  <a:tcPr/>
                </a:tc>
                <a:tc>
                  <a:txBody>
                    <a:bodyPr/>
                    <a:lstStyle/>
                    <a:p>
                      <a:r>
                        <a:rPr lang="fr-FR" sz="1600" dirty="0">
                          <a:latin typeface="Times New Roman" pitchFamily="18" charset="0"/>
                          <a:cs typeface="Times New Roman" pitchFamily="18" charset="0"/>
                        </a:rPr>
                        <a:t>Identifier les données et les informations nécessaires pour répondre à la question</a:t>
                      </a:r>
                    </a:p>
                  </a:txBody>
                  <a:tcPr/>
                </a:tc>
                <a:extLst>
                  <a:ext uri="{0D108BD9-81ED-4DB2-BD59-A6C34878D82A}">
                    <a16:rowId xmlns:a16="http://schemas.microsoft.com/office/drawing/2014/main" val="10002"/>
                  </a:ext>
                </a:extLst>
              </a:tr>
              <a:tr h="788393">
                <a:tc>
                  <a:txBody>
                    <a:bodyPr/>
                    <a:lstStyle/>
                    <a:p>
                      <a:r>
                        <a:rPr lang="fr-FR" dirty="0">
                          <a:latin typeface="Times New Roman" pitchFamily="18" charset="0"/>
                          <a:cs typeface="Times New Roman" pitchFamily="18" charset="0"/>
                        </a:rPr>
                        <a:t>Explorer</a:t>
                      </a:r>
                      <a:r>
                        <a:rPr lang="fr-FR" baseline="0" dirty="0">
                          <a:latin typeface="Times New Roman" pitchFamily="18" charset="0"/>
                          <a:cs typeface="Times New Roman" pitchFamily="18" charset="0"/>
                        </a:rPr>
                        <a:t> les ressources géo localisées</a:t>
                      </a:r>
                      <a:endParaRPr lang="fr-FR" dirty="0">
                        <a:latin typeface="Times New Roman" pitchFamily="18" charset="0"/>
                        <a:cs typeface="Times New Roman" pitchFamily="18" charset="0"/>
                      </a:endParaRPr>
                    </a:p>
                  </a:txBody>
                  <a:tcPr/>
                </a:tc>
                <a:tc>
                  <a:txBody>
                    <a:bodyPr/>
                    <a:lstStyle/>
                    <a:p>
                      <a:r>
                        <a:rPr lang="fr-FR" sz="1600" dirty="0">
                          <a:latin typeface="Times New Roman" pitchFamily="18" charset="0"/>
                          <a:cs typeface="Times New Roman" pitchFamily="18" charset="0"/>
                        </a:rPr>
                        <a:t>Transformer les données en cartes, tableaux, graphiques et les consulter pour identifier des modèles et des relations</a:t>
                      </a:r>
                    </a:p>
                  </a:txBody>
                  <a:tcPr/>
                </a:tc>
                <a:extLst>
                  <a:ext uri="{0D108BD9-81ED-4DB2-BD59-A6C34878D82A}">
                    <a16:rowId xmlns:a16="http://schemas.microsoft.com/office/drawing/2014/main" val="10003"/>
                  </a:ext>
                </a:extLst>
              </a:tr>
              <a:tr h="788393">
                <a:tc>
                  <a:txBody>
                    <a:bodyPr/>
                    <a:lstStyle/>
                    <a:p>
                      <a:r>
                        <a:rPr lang="fr-FR" dirty="0">
                          <a:latin typeface="Times New Roman" pitchFamily="18" charset="0"/>
                          <a:cs typeface="Times New Roman" pitchFamily="18" charset="0"/>
                        </a:rPr>
                        <a:t>Analyser les informations</a:t>
                      </a:r>
                      <a:r>
                        <a:rPr lang="fr-FR" baseline="0" dirty="0">
                          <a:latin typeface="Times New Roman" pitchFamily="18" charset="0"/>
                          <a:cs typeface="Times New Roman" pitchFamily="18" charset="0"/>
                        </a:rPr>
                        <a:t> géo localisées</a:t>
                      </a:r>
                      <a:endParaRPr lang="fr-FR" dirty="0">
                        <a:latin typeface="Times New Roman" pitchFamily="18" charset="0"/>
                        <a:cs typeface="Times New Roman" pitchFamily="18" charset="0"/>
                      </a:endParaRPr>
                    </a:p>
                  </a:txBody>
                  <a:tcPr/>
                </a:tc>
                <a:tc>
                  <a:txBody>
                    <a:bodyPr/>
                    <a:lstStyle/>
                    <a:p>
                      <a:r>
                        <a:rPr lang="fr-FR" sz="1600" dirty="0">
                          <a:latin typeface="Times New Roman" pitchFamily="18" charset="0"/>
                          <a:cs typeface="Times New Roman" pitchFamily="18" charset="0"/>
                        </a:rPr>
                        <a:t>Déterminer</a:t>
                      </a:r>
                      <a:r>
                        <a:rPr lang="fr-FR" sz="1600" baseline="0" dirty="0">
                          <a:latin typeface="Times New Roman" pitchFamily="18" charset="0"/>
                          <a:cs typeface="Times New Roman" pitchFamily="18" charset="0"/>
                        </a:rPr>
                        <a:t> quels sont les modèles et les relations qui sont déterminantes en lien avec la question</a:t>
                      </a:r>
                      <a:endParaRPr lang="fr-FR" sz="16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788393">
                <a:tc>
                  <a:txBody>
                    <a:bodyPr/>
                    <a:lstStyle/>
                    <a:p>
                      <a:r>
                        <a:rPr lang="fr-FR" dirty="0">
                          <a:latin typeface="Times New Roman" pitchFamily="18" charset="0"/>
                          <a:cs typeface="Times New Roman" pitchFamily="18" charset="0"/>
                        </a:rPr>
                        <a:t>Agir en se basant sur nos  connaissances géo localisées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a:latin typeface="Times New Roman" pitchFamily="18" charset="0"/>
                          <a:cs typeface="Times New Roman" pitchFamily="18" charset="0"/>
                        </a:rPr>
                        <a:t>Utiliser les résultats de votre travail pour renseigner, prendre une décision ou résoudre un problème</a:t>
                      </a:r>
                    </a:p>
                    <a:p>
                      <a:pPr marL="0" marR="0" indent="0" algn="l" defTabSz="914400" rtl="0" eaLnBrk="1" fontAlgn="auto" latinLnBrk="0" hangingPunct="1">
                        <a:lnSpc>
                          <a:spcPct val="100000"/>
                        </a:lnSpc>
                        <a:spcBef>
                          <a:spcPts val="0"/>
                        </a:spcBef>
                        <a:spcAft>
                          <a:spcPts val="0"/>
                        </a:spcAft>
                        <a:buClrTx/>
                        <a:buSzTx/>
                        <a:buFontTx/>
                        <a:buNone/>
                        <a:tabLst/>
                        <a:defRPr/>
                      </a:pPr>
                      <a:r>
                        <a:rPr lang="fr-FR" sz="1600" baseline="0" dirty="0">
                          <a:latin typeface="Times New Roman" pitchFamily="18" charset="0"/>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fr-FR" sz="1600" b="1" baseline="0" dirty="0">
                          <a:latin typeface="Times New Roman" pitchFamily="18" charset="0"/>
                          <a:cs typeface="Times New Roman" pitchFamily="18" charset="0"/>
                        </a:rPr>
                        <a:t>                                   </a:t>
                      </a:r>
                      <a:r>
                        <a:rPr lang="fr-FR" sz="1600" b="1" i="1" dirty="0">
                          <a:latin typeface="Times New Roman" pitchFamily="18" charset="0"/>
                          <a:cs typeface="Times New Roman" pitchFamily="18" charset="0"/>
                        </a:rPr>
                        <a:t>PALMER et </a:t>
                      </a:r>
                      <a:r>
                        <a:rPr lang="fr-FR" sz="1600" b="1" i="1" dirty="0" err="1">
                          <a:latin typeface="Times New Roman" pitchFamily="18" charset="0"/>
                          <a:cs typeface="Times New Roman" pitchFamily="18" charset="0"/>
                        </a:rPr>
                        <a:t>als</a:t>
                      </a:r>
                      <a:r>
                        <a:rPr lang="fr-FR" sz="1600" b="1" i="1" dirty="0">
                          <a:latin typeface="Times New Roman" pitchFamily="18" charset="0"/>
                          <a:cs typeface="Times New Roman" pitchFamily="18" charset="0"/>
                        </a:rPr>
                        <a:t> (2008</a:t>
                      </a:r>
                      <a:r>
                        <a:rPr lang="fr-FR" sz="1600" b="1" dirty="0">
                          <a:latin typeface="Times New Roman" pitchFamily="18" charset="0"/>
                          <a:cs typeface="Times New Roman" pitchFamily="18" charset="0"/>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600" baseline="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43989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sz="36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p:txBody>
          <a:bodyPr/>
          <a:lstStyle/>
          <a:p>
            <a:r>
              <a:rPr lang="fr-FR" b="1" dirty="0">
                <a:latin typeface="Times New Roman" pitchFamily="18" charset="0"/>
                <a:cs typeface="Times New Roman" pitchFamily="18" charset="0"/>
              </a:rPr>
              <a:t>Organisation et stockage des données</a:t>
            </a:r>
          </a:p>
          <a:p>
            <a:pPr marL="114300" indent="0">
              <a:buNone/>
            </a:pPr>
            <a:r>
              <a:rPr lang="fr-FR" b="1" dirty="0">
                <a:latin typeface="Times New Roman" pitchFamily="18" charset="0"/>
                <a:cs typeface="Times New Roman" pitchFamily="18" charset="0"/>
              </a:rPr>
              <a:t>   - </a:t>
            </a:r>
            <a:r>
              <a:rPr lang="fr-FR" sz="2000" b="1" dirty="0">
                <a:latin typeface="Times New Roman" pitchFamily="18" charset="0"/>
                <a:cs typeface="Times New Roman" pitchFamily="18" charset="0"/>
              </a:rPr>
              <a:t>Références géographiques:</a:t>
            </a:r>
          </a:p>
          <a:p>
            <a:pPr marL="114300" indent="0">
              <a:buNone/>
            </a:pPr>
            <a:r>
              <a:rPr lang="fr-FR" sz="2000" dirty="0">
                <a:latin typeface="Times New Roman" pitchFamily="18" charset="0"/>
                <a:cs typeface="Times New Roman" pitchFamily="18" charset="0"/>
              </a:rPr>
              <a:t>L’information géographique contient</a:t>
            </a:r>
          </a:p>
          <a:p>
            <a:r>
              <a:rPr lang="fr-FR" sz="2000" dirty="0">
                <a:latin typeface="Times New Roman" pitchFamily="18" charset="0"/>
                <a:cs typeface="Times New Roman" pitchFamily="18" charset="0"/>
              </a:rPr>
              <a:t>  soit une référence géographique </a:t>
            </a:r>
            <a:r>
              <a:rPr lang="fr-FR" sz="2000" b="1" dirty="0">
                <a:latin typeface="Times New Roman" pitchFamily="18" charset="0"/>
                <a:cs typeface="Times New Roman" pitchFamily="18" charset="0"/>
              </a:rPr>
              <a:t>explicite </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latitude et longitude ou grille de coordonnées nationales)</a:t>
            </a:r>
          </a:p>
          <a:p>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soit une référence géographique </a:t>
            </a:r>
            <a:r>
              <a:rPr lang="fr-FR" sz="2000" b="1" dirty="0">
                <a:latin typeface="Times New Roman" pitchFamily="18" charset="0"/>
                <a:cs typeface="Times New Roman" pitchFamily="18" charset="0"/>
              </a:rPr>
              <a:t>implicite </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adresse, code postal, nom de route…)</a:t>
            </a:r>
          </a:p>
          <a:p>
            <a:r>
              <a:rPr lang="fr-FR" sz="2000" dirty="0">
                <a:latin typeface="Times New Roman" pitchFamily="18" charset="0"/>
                <a:cs typeface="Times New Roman" pitchFamily="18" charset="0"/>
              </a:rPr>
              <a:t>Une autre technique pouvant être utilisée est le </a:t>
            </a:r>
            <a:r>
              <a:rPr lang="fr-FR" sz="2000" b="1" dirty="0">
                <a:latin typeface="Times New Roman" pitchFamily="18" charset="0"/>
                <a:cs typeface="Times New Roman" pitchFamily="18" charset="0"/>
              </a:rPr>
              <a:t>géocodage</a:t>
            </a:r>
            <a:r>
              <a:rPr lang="fr-FR" sz="2000" dirty="0">
                <a:latin typeface="Times New Roman" pitchFamily="18" charset="0"/>
                <a:cs typeface="Times New Roman" pitchFamily="18" charset="0"/>
              </a:rPr>
              <a:t>.</a:t>
            </a: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Il s’agit d’un processus </a:t>
            </a:r>
            <a:r>
              <a:rPr lang="fr-FR" sz="2000" b="1" dirty="0">
                <a:latin typeface="Times New Roman" pitchFamily="18" charset="0"/>
                <a:cs typeface="Times New Roman" pitchFamily="18" charset="0"/>
              </a:rPr>
              <a:t>automatique</a:t>
            </a:r>
            <a:r>
              <a:rPr lang="fr-FR" sz="2000" dirty="0">
                <a:latin typeface="Times New Roman" pitchFamily="18" charset="0"/>
                <a:cs typeface="Times New Roman" pitchFamily="18" charset="0"/>
              </a:rPr>
              <a:t> qui est utilisé </a:t>
            </a:r>
            <a:r>
              <a:rPr lang="fr-FR" sz="2000" b="1" dirty="0">
                <a:latin typeface="Times New Roman" pitchFamily="18" charset="0"/>
                <a:cs typeface="Times New Roman" pitchFamily="18" charset="0"/>
              </a:rPr>
              <a:t>pour transformer </a:t>
            </a:r>
            <a:r>
              <a:rPr lang="fr-FR" sz="2000" dirty="0">
                <a:latin typeface="Times New Roman" pitchFamily="18" charset="0"/>
                <a:cs typeface="Times New Roman" pitchFamily="18" charset="0"/>
              </a:rPr>
              <a:t>les </a:t>
            </a:r>
            <a:r>
              <a:rPr lang="fr-FR" sz="2000" b="1" dirty="0">
                <a:latin typeface="Times New Roman" pitchFamily="18" charset="0"/>
                <a:cs typeface="Times New Roman" pitchFamily="18" charset="0"/>
              </a:rPr>
              <a:t>références  implicites</a:t>
            </a:r>
            <a:r>
              <a:rPr lang="fr-FR" sz="2000" dirty="0">
                <a:latin typeface="Times New Roman" pitchFamily="18" charset="0"/>
                <a:cs typeface="Times New Roman" pitchFamily="18" charset="0"/>
              </a:rPr>
              <a:t> en </a:t>
            </a:r>
            <a:r>
              <a:rPr lang="fr-FR" sz="2000" b="1" dirty="0">
                <a:latin typeface="Times New Roman" pitchFamily="18" charset="0"/>
                <a:cs typeface="Times New Roman" pitchFamily="18" charset="0"/>
              </a:rPr>
              <a:t>références explicites </a:t>
            </a:r>
            <a:r>
              <a:rPr lang="fr-FR" sz="2000" dirty="0">
                <a:latin typeface="Times New Roman" pitchFamily="18" charset="0"/>
                <a:cs typeface="Times New Roman" pitchFamily="18" charset="0"/>
              </a:rPr>
              <a:t>et permettre ainsi de localiser les objets et les phénomènes sur la Terre afin de les expliquer.</a:t>
            </a:r>
            <a:endParaRPr lang="fr-FR" b="1" dirty="0">
              <a:latin typeface="Times New Roman" pitchFamily="18" charset="0"/>
              <a:cs typeface="Times New Roman" pitchFamily="18" charset="0"/>
            </a:endParaRPr>
          </a:p>
        </p:txBody>
      </p:sp>
    </p:spTree>
    <p:extLst>
      <p:ext uri="{BB962C8B-B14F-4D97-AF65-F5344CB8AC3E}">
        <p14:creationId xmlns:p14="http://schemas.microsoft.com/office/powerpoint/2010/main" val="314670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32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p:txBody>
          <a:bodyPr>
            <a:normAutofit fontScale="92500" lnSpcReduction="10000"/>
          </a:bodyPr>
          <a:lstStyle/>
          <a:p>
            <a:r>
              <a:rPr lang="fr-FR" b="1" dirty="0">
                <a:latin typeface="Times New Roman" pitchFamily="18" charset="0"/>
                <a:cs typeface="Times New Roman" pitchFamily="18" charset="0"/>
              </a:rPr>
              <a:t>De la réalité à la donnée:</a:t>
            </a:r>
          </a:p>
          <a:p>
            <a:r>
              <a:rPr lang="fr-FR" dirty="0"/>
              <a:t>• </a:t>
            </a:r>
            <a:r>
              <a:rPr lang="fr-FR" sz="2200" dirty="0">
                <a:latin typeface="Times New Roman" pitchFamily="18" charset="0"/>
                <a:cs typeface="Times New Roman" pitchFamily="18" charset="0"/>
              </a:rPr>
              <a:t>Le modèle : </a:t>
            </a:r>
          </a:p>
          <a:p>
            <a:pPr marL="114300" indent="0">
              <a:buNone/>
            </a:pPr>
            <a:r>
              <a:rPr lang="fr-FR" sz="2000" dirty="0">
                <a:latin typeface="Times New Roman" pitchFamily="18" charset="0"/>
                <a:cs typeface="Times New Roman" pitchFamily="18" charset="0"/>
              </a:rPr>
              <a:t>Il incarne une abstraction du monde réel en mettant en évidence les éléments jugés essentiels à l’étude. </a:t>
            </a:r>
          </a:p>
          <a:p>
            <a:pPr marL="114300" indent="0">
              <a:buNone/>
            </a:pPr>
            <a:r>
              <a:rPr lang="fr-FR" sz="2000" dirty="0">
                <a:latin typeface="Times New Roman" pitchFamily="18" charset="0"/>
                <a:cs typeface="Times New Roman" pitchFamily="18" charset="0"/>
              </a:rPr>
              <a:t>Il y a donc autant de modèles qu'il y a de perceptions de cette réalité, tous aussi bons les uns que les autres.</a:t>
            </a:r>
          </a:p>
          <a:p>
            <a:r>
              <a:rPr lang="fr-FR" sz="2200" dirty="0">
                <a:latin typeface="Times New Roman" pitchFamily="18" charset="0"/>
                <a:cs typeface="Times New Roman" pitchFamily="18" charset="0"/>
              </a:rPr>
              <a:t>• La modélisation </a:t>
            </a:r>
            <a:r>
              <a:rPr lang="fr-FR" sz="2000" dirty="0">
                <a:latin typeface="Times New Roman" pitchFamily="18" charset="0"/>
                <a:cs typeface="Times New Roman" pitchFamily="18" charset="0"/>
              </a:rPr>
              <a:t>: C’est définir quels seront les éléments à représenter et comment ils le seront. </a:t>
            </a:r>
          </a:p>
          <a:p>
            <a:r>
              <a:rPr lang="fr-FR" sz="2000" b="1" dirty="0">
                <a:latin typeface="Times New Roman" pitchFamily="18" charset="0"/>
                <a:cs typeface="Times New Roman" pitchFamily="18" charset="0"/>
              </a:rPr>
              <a:t>Les trois référentiels de mesure</a:t>
            </a:r>
          </a:p>
          <a:p>
            <a:pPr marL="114300" indent="0">
              <a:buNone/>
            </a:pPr>
            <a:r>
              <a:rPr lang="fr-FR" sz="2000" dirty="0">
                <a:latin typeface="Times New Roman" pitchFamily="18" charset="0"/>
                <a:cs typeface="Times New Roman" pitchFamily="18" charset="0"/>
              </a:rPr>
              <a:t>   • </a:t>
            </a:r>
            <a:r>
              <a:rPr lang="fr-FR" sz="2200" dirty="0">
                <a:latin typeface="Times New Roman" pitchFamily="18" charset="0"/>
                <a:cs typeface="Times New Roman" pitchFamily="18" charset="0"/>
              </a:rPr>
              <a:t>Le thème : </a:t>
            </a:r>
            <a:r>
              <a:rPr lang="fr-FR" sz="2000" dirty="0">
                <a:latin typeface="Times New Roman" pitchFamily="18" charset="0"/>
                <a:cs typeface="Times New Roman" pitchFamily="18" charset="0"/>
              </a:rPr>
              <a:t>Permettant d’identifier et de décrire les objets du territoire (Attributs descriptifs et/ou sémantiques).</a:t>
            </a:r>
          </a:p>
          <a:p>
            <a:pPr marL="114300" indent="0">
              <a:buNone/>
            </a:pPr>
            <a:r>
              <a:rPr lang="fr-FR" sz="2000" dirty="0">
                <a:latin typeface="Times New Roman" pitchFamily="18" charset="0"/>
                <a:cs typeface="Times New Roman" pitchFamily="18" charset="0"/>
              </a:rPr>
              <a:t>   </a:t>
            </a:r>
            <a:r>
              <a:rPr lang="fr-FR" sz="2200" dirty="0">
                <a:latin typeface="Times New Roman" pitchFamily="18" charset="0"/>
                <a:cs typeface="Times New Roman" pitchFamily="18" charset="0"/>
              </a:rPr>
              <a:t>• Le temps : </a:t>
            </a:r>
            <a:r>
              <a:rPr lang="fr-FR" sz="2000" dirty="0">
                <a:latin typeface="Times New Roman" pitchFamily="18" charset="0"/>
                <a:cs typeface="Times New Roman" pitchFamily="18" charset="0"/>
              </a:rPr>
              <a:t>L’existence ou l’évolution des objets. </a:t>
            </a:r>
          </a:p>
          <a:p>
            <a:pPr marL="114300" indent="0">
              <a:buNone/>
            </a:pPr>
            <a:r>
              <a:rPr lang="fr-FR" sz="2000" dirty="0">
                <a:latin typeface="Times New Roman" pitchFamily="18" charset="0"/>
                <a:cs typeface="Times New Roman" pitchFamily="18" charset="0"/>
              </a:rPr>
              <a:t>   • </a:t>
            </a:r>
            <a:r>
              <a:rPr lang="fr-FR" sz="2200" dirty="0">
                <a:latin typeface="Times New Roman" pitchFamily="18" charset="0"/>
                <a:cs typeface="Times New Roman" pitchFamily="18" charset="0"/>
              </a:rPr>
              <a:t>L’espace : </a:t>
            </a:r>
            <a:r>
              <a:rPr lang="fr-FR" sz="2000" dirty="0">
                <a:latin typeface="Times New Roman" pitchFamily="18" charset="0"/>
                <a:cs typeface="Times New Roman" pitchFamily="18" charset="0"/>
              </a:rPr>
              <a:t>Permet de positionner et de décrire la forme des objets</a:t>
            </a:r>
          </a:p>
          <a:p>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82052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dirty="0">
                <a:solidFill>
                  <a:srgbClr val="000000"/>
                </a:solidFill>
                <a:latin typeface="Times New Roman" charset="0"/>
              </a:rPr>
              <a:t>Définition et composantes d’un SIG</a:t>
            </a:r>
            <a:endParaRPr lang="fr-FR" dirty="0"/>
          </a:p>
        </p:txBody>
      </p:sp>
      <p:sp>
        <p:nvSpPr>
          <p:cNvPr id="3" name="Espace réservé du contenu 2"/>
          <p:cNvSpPr>
            <a:spLocks noGrp="1"/>
          </p:cNvSpPr>
          <p:nvPr>
            <p:ph idx="1"/>
          </p:nvPr>
        </p:nvSpPr>
        <p:spPr>
          <a:xfrm>
            <a:off x="179512" y="1752600"/>
            <a:ext cx="8640960" cy="4988768"/>
          </a:xfrm>
        </p:spPr>
        <p:txBody>
          <a:bodyPr>
            <a:normAutofit/>
          </a:bodyPr>
          <a:lstStyle/>
          <a:p>
            <a:pPr marL="114300" indent="0">
              <a:buNone/>
            </a:pPr>
            <a:r>
              <a:rPr lang="fr-FR" sz="1800" b="1" dirty="0">
                <a:latin typeface="Times New Roman" pitchFamily="18" charset="0"/>
                <a:cs typeface="Times New Roman" pitchFamily="18" charset="0"/>
              </a:rPr>
              <a:t>Modélisation de la réalité</a:t>
            </a:r>
            <a:endParaRPr lang="fr-FR" sz="1800" dirty="0">
              <a:latin typeface="Times New Roman" pitchFamily="18" charset="0"/>
              <a:cs typeface="Times New Roman" pitchFamily="18" charset="0"/>
            </a:endParaRPr>
          </a:p>
          <a:p>
            <a:pPr marL="114300" indent="0">
              <a:buNone/>
            </a:pPr>
            <a:endParaRPr lang="fr-FR" dirty="0">
              <a:latin typeface="Times New Roman" pitchFamily="18" charset="0"/>
              <a:cs typeface="Times New Roman" pitchFamily="18" charset="0"/>
            </a:endParaRPr>
          </a:p>
        </p:txBody>
      </p:sp>
      <p:sp>
        <p:nvSpPr>
          <p:cNvPr id="4" name="Rectangle 3"/>
          <p:cNvSpPr/>
          <p:nvPr/>
        </p:nvSpPr>
        <p:spPr>
          <a:xfrm>
            <a:off x="3924819" y="1772816"/>
            <a:ext cx="1361434" cy="50405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latin typeface="Times New Roman" pitchFamily="18" charset="0"/>
                <a:cs typeface="Times New Roman" pitchFamily="18" charset="0"/>
              </a:rPr>
              <a:t>Réalité</a:t>
            </a:r>
          </a:p>
        </p:txBody>
      </p:sp>
      <p:sp>
        <p:nvSpPr>
          <p:cNvPr id="5" name="Rectangle 4"/>
          <p:cNvSpPr/>
          <p:nvPr/>
        </p:nvSpPr>
        <p:spPr>
          <a:xfrm>
            <a:off x="1403648" y="2822960"/>
            <a:ext cx="2521171" cy="9721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Phénomènes (objets tangibles, maisons, événements, accidents, personnes</a:t>
            </a:r>
          </a:p>
        </p:txBody>
      </p:sp>
      <p:sp>
        <p:nvSpPr>
          <p:cNvPr id="6" name="Rectangle 5"/>
          <p:cNvSpPr/>
          <p:nvPr/>
        </p:nvSpPr>
        <p:spPr>
          <a:xfrm>
            <a:off x="5194207" y="2822961"/>
            <a:ext cx="2376264" cy="9721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Relations entre les phénomènes</a:t>
            </a:r>
          </a:p>
          <a:p>
            <a:pPr algn="ctr"/>
            <a:r>
              <a:rPr lang="fr-FR" sz="1400" dirty="0">
                <a:latin typeface="Times New Roman" pitchFamily="18" charset="0"/>
                <a:cs typeface="Times New Roman" pitchFamily="18" charset="0"/>
              </a:rPr>
              <a:t>Ex: personnes, posséder, maisons </a:t>
            </a:r>
          </a:p>
        </p:txBody>
      </p:sp>
      <p:sp>
        <p:nvSpPr>
          <p:cNvPr id="7" name="Rectangle 6"/>
          <p:cNvSpPr/>
          <p:nvPr/>
        </p:nvSpPr>
        <p:spPr>
          <a:xfrm>
            <a:off x="1403648" y="4149080"/>
            <a:ext cx="2520280"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Classes d’objets </a:t>
            </a:r>
          </a:p>
          <a:p>
            <a:pPr algn="ctr"/>
            <a:r>
              <a:rPr lang="fr-FR" sz="1400" dirty="0">
                <a:latin typeface="Times New Roman" pitchFamily="18" charset="0"/>
                <a:cs typeface="Times New Roman" pitchFamily="18" charset="0"/>
              </a:rPr>
              <a:t>Ex: maisons ou personnes</a:t>
            </a:r>
          </a:p>
        </p:txBody>
      </p:sp>
      <p:sp>
        <p:nvSpPr>
          <p:cNvPr id="8" name="Rectangle 7"/>
          <p:cNvSpPr/>
          <p:nvPr/>
        </p:nvSpPr>
        <p:spPr>
          <a:xfrm>
            <a:off x="5122199" y="4086200"/>
            <a:ext cx="2448272"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Associations</a:t>
            </a:r>
          </a:p>
          <a:p>
            <a:pPr algn="ctr"/>
            <a:r>
              <a:rPr lang="fr-FR" sz="1400" dirty="0">
                <a:latin typeface="Times New Roman" pitchFamily="18" charset="0"/>
                <a:cs typeface="Times New Roman" pitchFamily="18" charset="0"/>
              </a:rPr>
              <a:t>Ex posséder</a:t>
            </a:r>
          </a:p>
        </p:txBody>
      </p:sp>
      <p:cxnSp>
        <p:nvCxnSpPr>
          <p:cNvPr id="10" name="Connecteur en angle 9"/>
          <p:cNvCxnSpPr/>
          <p:nvPr/>
        </p:nvCxnSpPr>
        <p:spPr>
          <a:xfrm rot="16200000" flipH="1">
            <a:off x="5187904" y="1628525"/>
            <a:ext cx="612068" cy="1776803"/>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Connecteur en angle 11"/>
          <p:cNvCxnSpPr/>
          <p:nvPr/>
        </p:nvCxnSpPr>
        <p:spPr>
          <a:xfrm rot="5400000">
            <a:off x="3328851" y="1500110"/>
            <a:ext cx="612068" cy="194130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ZoneTexte 13"/>
          <p:cNvSpPr txBox="1"/>
          <p:nvPr/>
        </p:nvSpPr>
        <p:spPr>
          <a:xfrm>
            <a:off x="3935760" y="2363037"/>
            <a:ext cx="1159292" cy="307777"/>
          </a:xfrm>
          <a:prstGeom prst="rect">
            <a:avLst/>
          </a:prstGeom>
          <a:noFill/>
        </p:spPr>
        <p:txBody>
          <a:bodyPr wrap="none" rtlCol="0">
            <a:spAutoFit/>
          </a:bodyPr>
          <a:lstStyle/>
          <a:p>
            <a:r>
              <a:rPr lang="fr-FR" sz="1400" dirty="0">
                <a:latin typeface="Times New Roman" pitchFamily="18" charset="0"/>
                <a:cs typeface="Times New Roman" pitchFamily="18" charset="0"/>
              </a:rPr>
              <a:t>Composée de</a:t>
            </a:r>
          </a:p>
        </p:txBody>
      </p:sp>
      <p:cxnSp>
        <p:nvCxnSpPr>
          <p:cNvPr id="16" name="Connecteur droit avec flèche 15"/>
          <p:cNvCxnSpPr>
            <a:stCxn id="5" idx="2"/>
            <a:endCxn id="7" idx="0"/>
          </p:cNvCxnSpPr>
          <p:nvPr/>
        </p:nvCxnSpPr>
        <p:spPr>
          <a:xfrm flipH="1">
            <a:off x="2663788" y="3795068"/>
            <a:ext cx="446" cy="3540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a:stCxn id="6" idx="2"/>
            <a:endCxn id="8" idx="0"/>
          </p:cNvCxnSpPr>
          <p:nvPr/>
        </p:nvCxnSpPr>
        <p:spPr>
          <a:xfrm flipH="1">
            <a:off x="6346335" y="3795069"/>
            <a:ext cx="36004" cy="2911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a:stCxn id="8" idx="1"/>
          </p:cNvCxnSpPr>
          <p:nvPr/>
        </p:nvCxnSpPr>
        <p:spPr>
          <a:xfrm flipH="1">
            <a:off x="3923928" y="4446240"/>
            <a:ext cx="119827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ZoneTexte 25"/>
          <p:cNvSpPr txBox="1"/>
          <p:nvPr/>
        </p:nvSpPr>
        <p:spPr>
          <a:xfrm>
            <a:off x="2034895" y="3887866"/>
            <a:ext cx="1258678" cy="307777"/>
          </a:xfrm>
          <a:prstGeom prst="rect">
            <a:avLst/>
          </a:prstGeom>
          <a:noFill/>
        </p:spPr>
        <p:txBody>
          <a:bodyPr wrap="none" rtlCol="0">
            <a:spAutoFit/>
          </a:bodyPr>
          <a:lstStyle/>
          <a:p>
            <a:r>
              <a:rPr lang="fr-FR" sz="1400" dirty="0">
                <a:latin typeface="Times New Roman" pitchFamily="18" charset="0"/>
                <a:cs typeface="Times New Roman" pitchFamily="18" charset="0"/>
              </a:rPr>
              <a:t>Représenté par</a:t>
            </a:r>
          </a:p>
        </p:txBody>
      </p:sp>
      <p:sp>
        <p:nvSpPr>
          <p:cNvPr id="27" name="ZoneTexte 26"/>
          <p:cNvSpPr txBox="1"/>
          <p:nvPr/>
        </p:nvSpPr>
        <p:spPr>
          <a:xfrm>
            <a:off x="5753000" y="3840412"/>
            <a:ext cx="1258678" cy="307777"/>
          </a:xfrm>
          <a:prstGeom prst="rect">
            <a:avLst/>
          </a:prstGeom>
          <a:noFill/>
        </p:spPr>
        <p:txBody>
          <a:bodyPr wrap="none" rtlCol="0">
            <a:spAutoFit/>
          </a:bodyPr>
          <a:lstStyle/>
          <a:p>
            <a:r>
              <a:rPr lang="fr-FR" sz="1400" dirty="0">
                <a:latin typeface="Times New Roman" pitchFamily="18" charset="0"/>
                <a:cs typeface="Times New Roman" pitchFamily="18" charset="0"/>
              </a:rPr>
              <a:t>Représenté par</a:t>
            </a:r>
          </a:p>
        </p:txBody>
      </p:sp>
      <p:sp>
        <p:nvSpPr>
          <p:cNvPr id="17" name="Rectangle 16"/>
          <p:cNvSpPr/>
          <p:nvPr/>
        </p:nvSpPr>
        <p:spPr>
          <a:xfrm>
            <a:off x="323528" y="5013176"/>
            <a:ext cx="1584176"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Attributs géométriques </a:t>
            </a:r>
          </a:p>
          <a:p>
            <a:pPr algn="ctr"/>
            <a:r>
              <a:rPr lang="fr-FR" sz="1400" dirty="0">
                <a:latin typeface="Times New Roman" pitchFamily="18" charset="0"/>
                <a:cs typeface="Times New Roman" pitchFamily="18" charset="0"/>
              </a:rPr>
              <a:t>Ex : position x,y,z</a:t>
            </a:r>
          </a:p>
        </p:txBody>
      </p:sp>
      <p:sp>
        <p:nvSpPr>
          <p:cNvPr id="19" name="Rectangle 18"/>
          <p:cNvSpPr/>
          <p:nvPr/>
        </p:nvSpPr>
        <p:spPr>
          <a:xfrm>
            <a:off x="2663788" y="5013176"/>
            <a:ext cx="1313998"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Attributs de temporalité</a:t>
            </a:r>
          </a:p>
          <a:p>
            <a:pPr algn="ctr"/>
            <a:r>
              <a:rPr lang="fr-FR" sz="1400" dirty="0">
                <a:latin typeface="Times New Roman" pitchFamily="18" charset="0"/>
                <a:cs typeface="Times New Roman" pitchFamily="18" charset="0"/>
              </a:rPr>
              <a:t>Ex : date</a:t>
            </a:r>
          </a:p>
        </p:txBody>
      </p:sp>
      <p:sp>
        <p:nvSpPr>
          <p:cNvPr id="20" name="Rectangle 19"/>
          <p:cNvSpPr/>
          <p:nvPr/>
        </p:nvSpPr>
        <p:spPr>
          <a:xfrm>
            <a:off x="4605536" y="5013177"/>
            <a:ext cx="1478632"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Attributs descriptifs Ex : nombre d’étages</a:t>
            </a:r>
          </a:p>
        </p:txBody>
      </p:sp>
      <p:sp>
        <p:nvSpPr>
          <p:cNvPr id="21" name="Rectangle 20"/>
          <p:cNvSpPr/>
          <p:nvPr/>
        </p:nvSpPr>
        <p:spPr>
          <a:xfrm>
            <a:off x="6588224" y="5013176"/>
            <a:ext cx="1656184" cy="72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Opérations </a:t>
            </a:r>
          </a:p>
          <a:p>
            <a:pPr algn="ctr"/>
            <a:r>
              <a:rPr lang="fr-FR" sz="1400" dirty="0">
                <a:latin typeface="Times New Roman" pitchFamily="18" charset="0"/>
                <a:cs typeface="Times New Roman" pitchFamily="18" charset="0"/>
              </a:rPr>
              <a:t>Ex : calculer des valeurs totales </a:t>
            </a:r>
          </a:p>
        </p:txBody>
      </p:sp>
      <p:sp>
        <p:nvSpPr>
          <p:cNvPr id="22" name="Rectangle 21"/>
          <p:cNvSpPr/>
          <p:nvPr/>
        </p:nvSpPr>
        <p:spPr>
          <a:xfrm>
            <a:off x="311696" y="6126507"/>
            <a:ext cx="1584176"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Données géométriques</a:t>
            </a:r>
          </a:p>
        </p:txBody>
      </p:sp>
      <p:sp>
        <p:nvSpPr>
          <p:cNvPr id="23" name="Rectangle 22"/>
          <p:cNvSpPr/>
          <p:nvPr/>
        </p:nvSpPr>
        <p:spPr>
          <a:xfrm>
            <a:off x="2543944" y="6126507"/>
            <a:ext cx="1379984"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Données de couleur</a:t>
            </a:r>
          </a:p>
        </p:txBody>
      </p:sp>
      <p:sp>
        <p:nvSpPr>
          <p:cNvPr id="24" name="Rectangle 23"/>
          <p:cNvSpPr/>
          <p:nvPr/>
        </p:nvSpPr>
        <p:spPr>
          <a:xfrm>
            <a:off x="4549992" y="6112537"/>
            <a:ext cx="1534176"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latin typeface="Times New Roman" pitchFamily="18" charset="0"/>
                <a:cs typeface="Times New Roman" pitchFamily="18" charset="0"/>
              </a:rPr>
              <a:t>Données descriptives</a:t>
            </a:r>
          </a:p>
        </p:txBody>
      </p:sp>
      <p:cxnSp>
        <p:nvCxnSpPr>
          <p:cNvPr id="30" name="Connecteur droit avec flèche 29"/>
          <p:cNvCxnSpPr>
            <a:stCxn id="17" idx="2"/>
            <a:endCxn id="22" idx="0"/>
          </p:cNvCxnSpPr>
          <p:nvPr/>
        </p:nvCxnSpPr>
        <p:spPr>
          <a:xfrm flipH="1">
            <a:off x="1103784" y="5733256"/>
            <a:ext cx="11832" cy="3932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Connecteur en angle 33"/>
          <p:cNvCxnSpPr/>
          <p:nvPr/>
        </p:nvCxnSpPr>
        <p:spPr>
          <a:xfrm>
            <a:off x="1115616" y="5994904"/>
            <a:ext cx="1984355" cy="14401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Connecteur en angle 35"/>
          <p:cNvCxnSpPr>
            <a:endCxn id="24" idx="0"/>
          </p:cNvCxnSpPr>
          <p:nvPr/>
        </p:nvCxnSpPr>
        <p:spPr>
          <a:xfrm>
            <a:off x="2107793" y="5994904"/>
            <a:ext cx="3209287" cy="117633"/>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Connecteur droit avec flèche 37"/>
          <p:cNvCxnSpPr/>
          <p:nvPr/>
        </p:nvCxnSpPr>
        <p:spPr>
          <a:xfrm>
            <a:off x="3099971" y="5733256"/>
            <a:ext cx="0" cy="3932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p:cNvCxnSpPr/>
          <p:nvPr/>
        </p:nvCxnSpPr>
        <p:spPr>
          <a:xfrm>
            <a:off x="5095052" y="5733257"/>
            <a:ext cx="0" cy="2880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ZoneTexte 8"/>
          <p:cNvSpPr txBox="1"/>
          <p:nvPr/>
        </p:nvSpPr>
        <p:spPr>
          <a:xfrm>
            <a:off x="3873364" y="4040863"/>
            <a:ext cx="1353256" cy="307777"/>
          </a:xfrm>
          <a:prstGeom prst="rect">
            <a:avLst/>
          </a:prstGeom>
          <a:noFill/>
        </p:spPr>
        <p:txBody>
          <a:bodyPr wrap="none" rtlCol="0">
            <a:spAutoFit/>
          </a:bodyPr>
          <a:lstStyle/>
          <a:p>
            <a:r>
              <a:rPr lang="fr-FR" sz="1400" dirty="0">
                <a:latin typeface="Times New Roman" pitchFamily="18" charset="0"/>
                <a:cs typeface="Times New Roman" pitchFamily="18" charset="0"/>
              </a:rPr>
              <a:t>Mise en relation</a:t>
            </a:r>
          </a:p>
        </p:txBody>
      </p:sp>
      <p:cxnSp>
        <p:nvCxnSpPr>
          <p:cNvPr id="13" name="Connecteur en angle 12"/>
          <p:cNvCxnSpPr>
            <a:endCxn id="17" idx="0"/>
          </p:cNvCxnSpPr>
          <p:nvPr/>
        </p:nvCxnSpPr>
        <p:spPr>
          <a:xfrm rot="10800000" flipV="1">
            <a:off x="1115616" y="4869160"/>
            <a:ext cx="1065076" cy="14401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Connecteur en angle 27"/>
          <p:cNvCxnSpPr>
            <a:endCxn id="20" idx="0"/>
          </p:cNvCxnSpPr>
          <p:nvPr/>
        </p:nvCxnSpPr>
        <p:spPr>
          <a:xfrm>
            <a:off x="3634885" y="4869160"/>
            <a:ext cx="1709967" cy="14401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a:off x="3245768" y="4869160"/>
            <a:ext cx="0" cy="1440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Connecteur en angle 40"/>
          <p:cNvCxnSpPr/>
          <p:nvPr/>
        </p:nvCxnSpPr>
        <p:spPr>
          <a:xfrm>
            <a:off x="5286253" y="4869160"/>
            <a:ext cx="2284218" cy="144017"/>
          </a:xfrm>
          <a:prstGeom prst="bentConnector3">
            <a:avLst>
              <a:gd name="adj1" fmla="val 5242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Connecteur en angle 52"/>
          <p:cNvCxnSpPr>
            <a:stCxn id="21" idx="2"/>
            <a:endCxn id="24" idx="3"/>
          </p:cNvCxnSpPr>
          <p:nvPr/>
        </p:nvCxnSpPr>
        <p:spPr>
          <a:xfrm rot="5400000">
            <a:off x="6416586" y="5400838"/>
            <a:ext cx="667313" cy="1332148"/>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Connecteur en angle 71"/>
          <p:cNvCxnSpPr>
            <a:endCxn id="24" idx="1"/>
          </p:cNvCxnSpPr>
          <p:nvPr/>
        </p:nvCxnSpPr>
        <p:spPr>
          <a:xfrm rot="16200000" flipH="1">
            <a:off x="3909220" y="5759797"/>
            <a:ext cx="667312" cy="61423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73" name="ZoneTexte 72"/>
          <p:cNvSpPr txBox="1"/>
          <p:nvPr/>
        </p:nvSpPr>
        <p:spPr>
          <a:xfrm>
            <a:off x="2267744" y="5810238"/>
            <a:ext cx="1337226" cy="307777"/>
          </a:xfrm>
          <a:prstGeom prst="rect">
            <a:avLst/>
          </a:prstGeom>
          <a:noFill/>
        </p:spPr>
        <p:txBody>
          <a:bodyPr wrap="none" rtlCol="0">
            <a:spAutoFit/>
          </a:bodyPr>
          <a:lstStyle/>
          <a:p>
            <a:r>
              <a:rPr lang="fr-FR" sz="1400" dirty="0">
                <a:latin typeface="Times New Roman" pitchFamily="18" charset="0"/>
                <a:cs typeface="Times New Roman" pitchFamily="18" charset="0"/>
              </a:rPr>
              <a:t>Qui contiennent</a:t>
            </a:r>
          </a:p>
        </p:txBody>
      </p:sp>
      <p:sp>
        <p:nvSpPr>
          <p:cNvPr id="74" name="ZoneTexte 73"/>
          <p:cNvSpPr txBox="1"/>
          <p:nvPr/>
        </p:nvSpPr>
        <p:spPr>
          <a:xfrm>
            <a:off x="6382340" y="6066912"/>
            <a:ext cx="1337226" cy="307777"/>
          </a:xfrm>
          <a:prstGeom prst="rect">
            <a:avLst/>
          </a:prstGeom>
          <a:noFill/>
        </p:spPr>
        <p:txBody>
          <a:bodyPr wrap="none" rtlCol="0">
            <a:spAutoFit/>
          </a:bodyPr>
          <a:lstStyle/>
          <a:p>
            <a:r>
              <a:rPr lang="fr-FR" sz="1400" dirty="0">
                <a:latin typeface="Times New Roman" pitchFamily="18" charset="0"/>
                <a:cs typeface="Times New Roman" pitchFamily="18" charset="0"/>
              </a:rPr>
              <a:t>Qui contiennent</a:t>
            </a:r>
          </a:p>
        </p:txBody>
      </p:sp>
    </p:spTree>
    <p:extLst>
      <p:ext uri="{BB962C8B-B14F-4D97-AF65-F5344CB8AC3E}">
        <p14:creationId xmlns:p14="http://schemas.microsoft.com/office/powerpoint/2010/main" val="895513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differents types d’ATTRIBUTS</a:t>
            </a:r>
          </a:p>
        </p:txBody>
      </p:sp>
      <p:sp>
        <p:nvSpPr>
          <p:cNvPr id="3" name="Espace réservé du contenu 2"/>
          <p:cNvSpPr>
            <a:spLocks noGrp="1"/>
          </p:cNvSpPr>
          <p:nvPr>
            <p:ph idx="1"/>
          </p:nvPr>
        </p:nvSpPr>
        <p:spPr/>
        <p:txBody>
          <a:bodyPr/>
          <a:lstStyle/>
          <a:p>
            <a:r>
              <a:rPr lang="fr-FR" sz="2000" b="1" dirty="0">
                <a:latin typeface="Times New Roman" pitchFamily="18" charset="0"/>
                <a:cs typeface="Times New Roman" pitchFamily="18" charset="0"/>
              </a:rPr>
              <a:t>Les Attributs géométriques </a:t>
            </a:r>
            <a:r>
              <a:rPr lang="fr-FR" b="1" dirty="0">
                <a:latin typeface="Times New Roman" pitchFamily="18" charset="0"/>
                <a:cs typeface="Times New Roman" pitchFamily="18" charset="0"/>
              </a:rPr>
              <a:t>:</a:t>
            </a:r>
          </a:p>
          <a:p>
            <a:pPr marL="114300" indent="0">
              <a:buNone/>
            </a:pPr>
            <a:r>
              <a:rPr lang="fr-FR" sz="2000" dirty="0">
                <a:latin typeface="Times New Roman" pitchFamily="18" charset="0"/>
                <a:cs typeface="Times New Roman" pitchFamily="18" charset="0"/>
              </a:rPr>
              <a:t>La position, la forme, la superficie, le volume…</a:t>
            </a:r>
          </a:p>
          <a:p>
            <a:r>
              <a:rPr lang="fr-FR" sz="2000" b="1" dirty="0">
                <a:latin typeface="Times New Roman" pitchFamily="18" charset="0"/>
                <a:cs typeface="Times New Roman" pitchFamily="18" charset="0"/>
              </a:rPr>
              <a:t>Les Attributs descriptifs:</a:t>
            </a:r>
          </a:p>
          <a:p>
            <a:pPr marL="114300" indent="0">
              <a:buNone/>
            </a:pPr>
            <a:r>
              <a:rPr lang="fr-FR" sz="2000" dirty="0">
                <a:latin typeface="Times New Roman" pitchFamily="18" charset="0"/>
                <a:cs typeface="Times New Roman" pitchFamily="18" charset="0"/>
              </a:rPr>
              <a:t>Ils comprennent tout ce qui n’est pas géométrique et topologique tel que la porosité, le nom de propriétaire, le nombre d’étages, le type d’usage…</a:t>
            </a:r>
          </a:p>
          <a:p>
            <a:r>
              <a:rPr lang="fr-FR" sz="2000" b="1" dirty="0">
                <a:latin typeface="Times New Roman" pitchFamily="18" charset="0"/>
                <a:cs typeface="Times New Roman" pitchFamily="18" charset="0"/>
              </a:rPr>
              <a:t>Les Attributs graphiques:</a:t>
            </a:r>
          </a:p>
          <a:p>
            <a:pPr marL="114300" indent="0">
              <a:buNone/>
            </a:pPr>
            <a:r>
              <a:rPr lang="fr-FR" sz="2000" dirty="0">
                <a:latin typeface="Times New Roman" pitchFamily="18" charset="0"/>
                <a:cs typeface="Times New Roman" pitchFamily="18" charset="0"/>
              </a:rPr>
              <a:t>Les couleurs, le style, le symbole…</a:t>
            </a:r>
          </a:p>
        </p:txBody>
      </p:sp>
    </p:spTree>
    <p:extLst>
      <p:ext uri="{BB962C8B-B14F-4D97-AF65-F5344CB8AC3E}">
        <p14:creationId xmlns:p14="http://schemas.microsoft.com/office/powerpoint/2010/main" val="1720415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latin typeface="Times New Roman" pitchFamily="18" charset="0"/>
                <a:cs typeface="Times New Roman" pitchFamily="18" charset="0"/>
              </a:rPr>
              <a:t>LA STRUCTURATION DES DONNEES GEOGRAPHIQUES</a:t>
            </a:r>
          </a:p>
        </p:txBody>
      </p:sp>
      <p:sp>
        <p:nvSpPr>
          <p:cNvPr id="3" name="Espace réservé du contenu 2"/>
          <p:cNvSpPr>
            <a:spLocks noGrp="1"/>
          </p:cNvSpPr>
          <p:nvPr>
            <p:ph idx="1"/>
          </p:nvPr>
        </p:nvSpPr>
        <p:spPr/>
        <p:txBody>
          <a:bodyPr/>
          <a:lstStyle/>
          <a:p>
            <a:r>
              <a:rPr lang="fr-FR" sz="2000" b="1" dirty="0">
                <a:latin typeface="Times New Roman" pitchFamily="18" charset="0"/>
                <a:cs typeface="Times New Roman" pitchFamily="18" charset="0"/>
              </a:rPr>
              <a:t>Structuration des données:</a:t>
            </a:r>
          </a:p>
          <a:p>
            <a:pPr marL="114300" indent="0">
              <a:buNone/>
            </a:pPr>
            <a:r>
              <a:rPr lang="fr-FR" dirty="0">
                <a:latin typeface="Times New Roman" pitchFamily="18" charset="0"/>
                <a:cs typeface="Times New Roman" pitchFamily="18" charset="0"/>
              </a:rPr>
              <a:t>« </a:t>
            </a:r>
            <a:r>
              <a:rPr lang="fr-FR" sz="2000" dirty="0">
                <a:latin typeface="Times New Roman" pitchFamily="18" charset="0"/>
                <a:cs typeface="Times New Roman" pitchFamily="18" charset="0"/>
              </a:rPr>
              <a:t>C’est la manière de disposer les données dans une base de données et d’organiser les liens qui permettront de les retrouver</a:t>
            </a:r>
            <a:r>
              <a:rPr lang="fr-FR" dirty="0">
                <a:latin typeface="Times New Roman" pitchFamily="18" charset="0"/>
                <a:cs typeface="Times New Roman" pitchFamily="18" charset="0"/>
              </a:rPr>
              <a:t> ». </a:t>
            </a:r>
            <a:r>
              <a:rPr lang="fr-FR" sz="2000" dirty="0">
                <a:latin typeface="Times New Roman" pitchFamily="18" charset="0"/>
                <a:cs typeface="Times New Roman" pitchFamily="18" charset="0"/>
              </a:rPr>
              <a:t>(OQLF, 2004)</a:t>
            </a:r>
          </a:p>
          <a:p>
            <a:pPr marL="114300" indent="0">
              <a:buNone/>
            </a:pPr>
            <a:r>
              <a:rPr lang="fr-FR" dirty="0">
                <a:latin typeface="Times New Roman" pitchFamily="18" charset="0"/>
                <a:cs typeface="Times New Roman" pitchFamily="18" charset="0"/>
              </a:rPr>
              <a:t>                                                                   </a:t>
            </a:r>
          </a:p>
          <a:p>
            <a:pPr marL="114300" indent="0">
              <a:buNone/>
            </a:pPr>
            <a:r>
              <a:rPr lang="fr-FR" dirty="0">
                <a:latin typeface="Times New Roman" pitchFamily="18" charset="0"/>
                <a:cs typeface="Times New Roman" pitchFamily="18" charset="0"/>
              </a:rPr>
              <a:t>   </a:t>
            </a:r>
            <a:r>
              <a:rPr lang="fr-FR" sz="2000" dirty="0">
                <a:latin typeface="Times New Roman" pitchFamily="18" charset="0"/>
                <a:cs typeface="Times New Roman" pitchFamily="18" charset="0"/>
              </a:rPr>
              <a:t>- la structuration des données géométriques</a:t>
            </a:r>
          </a:p>
          <a:p>
            <a:pPr marL="114300" indent="0">
              <a:buNone/>
            </a:pPr>
            <a:r>
              <a:rPr lang="fr-FR" sz="2000" dirty="0">
                <a:latin typeface="Times New Roman" pitchFamily="18" charset="0"/>
                <a:cs typeface="Times New Roman" pitchFamily="18" charset="0"/>
              </a:rPr>
              <a:t>   - la structuration des données descriptives</a:t>
            </a:r>
          </a:p>
          <a:p>
            <a:pPr marL="114300" indent="0">
              <a:buNone/>
            </a:pPr>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2222160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LES MODES DE REPRESENTATION DE L’INFORMATION GEOGRAPHIQUE DANS UN SIG</a:t>
            </a:r>
            <a:endParaRPr lang="fr-FR" sz="2400" dirty="0"/>
          </a:p>
        </p:txBody>
      </p:sp>
      <p:pic>
        <p:nvPicPr>
          <p:cNvPr id="4"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44" y="1752600"/>
            <a:ext cx="5638712"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5591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LES MODES DE REPRESENTATION DE L’INFORMATION GEOGRAPHIQUE DANS UN SIG</a:t>
            </a:r>
            <a:endParaRPr lang="fr-FR" sz="2400" dirty="0"/>
          </a:p>
        </p:txBody>
      </p:sp>
      <p:sp>
        <p:nvSpPr>
          <p:cNvPr id="7" name="Espace réservé du contenu 6"/>
          <p:cNvSpPr>
            <a:spLocks noGrp="1"/>
          </p:cNvSpPr>
          <p:nvPr>
            <p:ph idx="1"/>
          </p:nvPr>
        </p:nvSpPr>
        <p:spPr/>
        <p:txBody>
          <a:bodyPr/>
          <a:lstStyle/>
          <a:p>
            <a:r>
              <a:rPr lang="fr-FR" sz="2000" b="1" dirty="0">
                <a:latin typeface="Times New Roman" pitchFamily="18" charset="0"/>
                <a:cs typeface="Times New Roman" pitchFamily="18" charset="0"/>
              </a:rPr>
              <a:t>De la réalité à la donnée:</a:t>
            </a:r>
          </a:p>
          <a:p>
            <a:pPr marL="114300" indent="0">
              <a:buNone/>
            </a:pPr>
            <a:r>
              <a:rPr lang="fr-FR" sz="2000" dirty="0">
                <a:latin typeface="Times New Roman" pitchFamily="18" charset="0"/>
                <a:cs typeface="Times New Roman" pitchFamily="18" charset="0"/>
              </a:rPr>
              <a:t>les modes de représentation de l’information géographique dans un SIG   prennent en charge deux types de données:</a:t>
            </a:r>
          </a:p>
          <a:p>
            <a:pPr marL="114300" indent="0">
              <a:buNone/>
            </a:pPr>
            <a:r>
              <a:rPr lang="fr-FR" sz="2000" dirty="0">
                <a:latin typeface="Times New Roman" pitchFamily="18" charset="0"/>
                <a:cs typeface="Times New Roman" pitchFamily="18" charset="0"/>
              </a:rPr>
              <a:t>    - </a:t>
            </a:r>
            <a:r>
              <a:rPr lang="fr-FR" sz="2000" b="1" dirty="0">
                <a:latin typeface="Times New Roman" pitchFamily="18" charset="0"/>
                <a:cs typeface="Times New Roman" pitchFamily="18" charset="0"/>
              </a:rPr>
              <a:t>les données raster:</a:t>
            </a:r>
          </a:p>
          <a:p>
            <a:pPr marL="114300" indent="0">
              <a:buNone/>
            </a:pPr>
            <a:r>
              <a:rPr lang="fr-FR" sz="2000" dirty="0">
                <a:latin typeface="Times New Roman" pitchFamily="18" charset="0"/>
                <a:cs typeface="Times New Roman" pitchFamily="18" charset="0"/>
              </a:rPr>
              <a:t>décrivent une réalité décomposée en une grille régulière et rectangulaire, organisée en lignes et en colonnes, chaque maille de cette grille ayant une intensité de gris ou une couleur. La juxtaposition des points recrée l’apparence visuelle du plan et de chaque information. Une forêt sera « représentée » par un ensemble de points d’intensité identique ( cf. diapo 14 pour).</a:t>
            </a:r>
          </a:p>
          <a:p>
            <a:endParaRPr lang="fr-FR" b="1" dirty="0">
              <a:latin typeface="Times New Roman" pitchFamily="18" charset="0"/>
              <a:cs typeface="Times New Roman" pitchFamily="18" charset="0"/>
            </a:endParaRPr>
          </a:p>
        </p:txBody>
      </p:sp>
    </p:spTree>
    <p:extLst>
      <p:ext uri="{BB962C8B-B14F-4D97-AF65-F5344CB8AC3E}">
        <p14:creationId xmlns:p14="http://schemas.microsoft.com/office/powerpoint/2010/main" val="318198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dirty="0">
                <a:solidFill>
                  <a:srgbClr val="000000"/>
                </a:solidFill>
                <a:latin typeface="Times New Roman" charset="0"/>
              </a:rPr>
              <a:t>LES MODES DE REPRESENTATION DE L’INFORMATION GEOGRAPHIQUE DANS UN SIG</a:t>
            </a:r>
            <a:endParaRPr lang="fr-FR" sz="2400" dirty="0"/>
          </a:p>
        </p:txBody>
      </p:sp>
      <p:sp>
        <p:nvSpPr>
          <p:cNvPr id="3" name="Espace réservé du contenu 2"/>
          <p:cNvSpPr>
            <a:spLocks noGrp="1"/>
          </p:cNvSpPr>
          <p:nvPr>
            <p:ph idx="1"/>
          </p:nvPr>
        </p:nvSpPr>
        <p:spPr>
          <a:xfrm>
            <a:off x="457200" y="1752600"/>
            <a:ext cx="8229600" cy="4847676"/>
          </a:xfrm>
        </p:spPr>
        <p:txBody>
          <a:bodyPr>
            <a:normAutofit/>
          </a:bodyPr>
          <a:lstStyle/>
          <a:p>
            <a:r>
              <a:rPr lang="fr-FR" sz="2000" b="1" dirty="0">
                <a:latin typeface="Times New Roman" pitchFamily="18" charset="0"/>
                <a:cs typeface="Times New Roman" pitchFamily="18" charset="0"/>
              </a:rPr>
              <a:t>Structuration matricielle</a:t>
            </a:r>
          </a:p>
          <a:p>
            <a:pPr marL="114300" indent="0">
              <a:buNone/>
            </a:pPr>
            <a:endParaRPr lang="fr-FR" sz="2000" b="1"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132856"/>
            <a:ext cx="6696744" cy="446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493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LES MODES DE REPRESENTATION DE L’INFORMATION GEOGRAPHIQUE DANS UN SIG</a:t>
            </a:r>
            <a:endParaRPr lang="fr-FR" sz="2400"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5616" y="2164734"/>
            <a:ext cx="7344816" cy="420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ZoneTexte 4"/>
          <p:cNvSpPr txBox="1"/>
          <p:nvPr/>
        </p:nvSpPr>
        <p:spPr>
          <a:xfrm>
            <a:off x="846988" y="1763524"/>
            <a:ext cx="2860916" cy="707886"/>
          </a:xfrm>
          <a:prstGeom prst="rect">
            <a:avLst/>
          </a:prstGeom>
          <a:noFill/>
        </p:spPr>
        <p:txBody>
          <a:bodyPr wrap="square" rtlCol="0">
            <a:spAutoFit/>
          </a:bodyPr>
          <a:lstStyle/>
          <a:p>
            <a:r>
              <a:rPr lang="fr-FR" sz="2000" dirty="0">
                <a:latin typeface="Times New Roman" pitchFamily="18" charset="0"/>
                <a:cs typeface="Times New Roman" pitchFamily="18" charset="0"/>
              </a:rPr>
              <a:t>Structuration vectorielle :</a:t>
            </a:r>
          </a:p>
          <a:p>
            <a:r>
              <a:rPr lang="fr-FR" sz="2000" dirty="0">
                <a:latin typeface="Times New Roman" pitchFamily="18" charset="0"/>
                <a:cs typeface="Times New Roman" pitchFamily="18" charset="0"/>
              </a:rPr>
              <a:t> </a:t>
            </a:r>
          </a:p>
        </p:txBody>
      </p:sp>
    </p:spTree>
    <p:extLst>
      <p:ext uri="{BB962C8B-B14F-4D97-AF65-F5344CB8AC3E}">
        <p14:creationId xmlns:p14="http://schemas.microsoft.com/office/powerpoint/2010/main" val="3077570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LES MODES DE REPRESENTATION DE L’INFORMATION GEOGRAPHIQUE DANS UN SIG</a:t>
            </a:r>
            <a:endParaRPr lang="fr-FR" dirty="0"/>
          </a:p>
        </p:txBody>
      </p:sp>
      <p:sp>
        <p:nvSpPr>
          <p:cNvPr id="3" name="Espace réservé du contenu 2"/>
          <p:cNvSpPr>
            <a:spLocks noGrp="1"/>
          </p:cNvSpPr>
          <p:nvPr>
            <p:ph idx="1"/>
          </p:nvPr>
        </p:nvSpPr>
        <p:spPr>
          <a:xfrm>
            <a:off x="457200" y="1628800"/>
            <a:ext cx="8229600" cy="4497363"/>
          </a:xfrm>
        </p:spPr>
        <p:txBody>
          <a:bodyPr>
            <a:normAutofit/>
          </a:bodyPr>
          <a:lstStyle/>
          <a:p>
            <a:pPr marL="114300" indent="0">
              <a:buNone/>
            </a:pPr>
            <a:r>
              <a:rPr lang="fr-FR" sz="2000" dirty="0">
                <a:latin typeface="Times New Roman" pitchFamily="18" charset="0"/>
                <a:cs typeface="Times New Roman" pitchFamily="18" charset="0"/>
              </a:rPr>
              <a:t>les primitives géométriques</a:t>
            </a:r>
          </a:p>
        </p:txBody>
      </p:sp>
      <p:grpSp>
        <p:nvGrpSpPr>
          <p:cNvPr id="23" name="Group 30"/>
          <p:cNvGrpSpPr>
            <a:grpSpLocks/>
          </p:cNvGrpSpPr>
          <p:nvPr/>
        </p:nvGrpSpPr>
        <p:grpSpPr bwMode="auto">
          <a:xfrm>
            <a:off x="2267744" y="1941223"/>
            <a:ext cx="5760640" cy="4158613"/>
            <a:chOff x="897" y="630"/>
            <a:chExt cx="4014" cy="3690"/>
          </a:xfrm>
        </p:grpSpPr>
        <p:pic>
          <p:nvPicPr>
            <p:cNvPr id="24" name="Picture 10" descr="C:\ROCDOC\CRASTE\Unité_2\Figure_2_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 y="630"/>
              <a:ext cx="4014" cy="3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1"/>
            <p:cNvSpPr txBox="1">
              <a:spLocks noChangeArrowheads="1"/>
            </p:cNvSpPr>
            <p:nvPr/>
          </p:nvSpPr>
          <p:spPr bwMode="auto">
            <a:xfrm>
              <a:off x="1020" y="720"/>
              <a:ext cx="50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Point</a:t>
              </a:r>
            </a:p>
          </p:txBody>
        </p:sp>
        <p:sp>
          <p:nvSpPr>
            <p:cNvPr id="26" name="Text Box 12"/>
            <p:cNvSpPr txBox="1">
              <a:spLocks noChangeArrowheads="1"/>
            </p:cNvSpPr>
            <p:nvPr/>
          </p:nvSpPr>
          <p:spPr bwMode="auto">
            <a:xfrm>
              <a:off x="948" y="1152"/>
              <a:ext cx="564"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Segment</a:t>
              </a:r>
            </a:p>
          </p:txBody>
        </p:sp>
        <p:sp>
          <p:nvSpPr>
            <p:cNvPr id="27" name="Text Box 13"/>
            <p:cNvSpPr txBox="1">
              <a:spLocks noChangeArrowheads="1"/>
            </p:cNvSpPr>
            <p:nvPr/>
          </p:nvSpPr>
          <p:spPr bwMode="auto">
            <a:xfrm>
              <a:off x="1020" y="1776"/>
              <a:ext cx="564"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Ligne</a:t>
              </a:r>
            </a:p>
          </p:txBody>
        </p:sp>
        <p:sp>
          <p:nvSpPr>
            <p:cNvPr id="28" name="Text Box 14"/>
            <p:cNvSpPr txBox="1">
              <a:spLocks noChangeArrowheads="1"/>
            </p:cNvSpPr>
            <p:nvPr/>
          </p:nvSpPr>
          <p:spPr bwMode="auto">
            <a:xfrm>
              <a:off x="1020" y="2616"/>
              <a:ext cx="45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Zone</a:t>
              </a:r>
            </a:p>
          </p:txBody>
        </p:sp>
        <p:sp>
          <p:nvSpPr>
            <p:cNvPr id="29" name="Text Box 15"/>
            <p:cNvSpPr txBox="1">
              <a:spLocks noChangeArrowheads="1"/>
            </p:cNvSpPr>
            <p:nvPr/>
          </p:nvSpPr>
          <p:spPr bwMode="auto">
            <a:xfrm>
              <a:off x="3804" y="744"/>
              <a:ext cx="58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err="1">
                  <a:solidFill>
                    <a:schemeClr val="tx1"/>
                  </a:solidFill>
                </a:rPr>
                <a:t>Noeud</a:t>
              </a:r>
              <a:endParaRPr lang="fr-FR" sz="1200" dirty="0">
                <a:solidFill>
                  <a:schemeClr val="tx1"/>
                </a:solidFill>
              </a:endParaRPr>
            </a:p>
          </p:txBody>
        </p:sp>
        <p:sp>
          <p:nvSpPr>
            <p:cNvPr id="30" name="Text Box 16"/>
            <p:cNvSpPr txBox="1">
              <a:spLocks noChangeArrowheads="1"/>
            </p:cNvSpPr>
            <p:nvPr/>
          </p:nvSpPr>
          <p:spPr bwMode="auto">
            <a:xfrm>
              <a:off x="4236" y="1368"/>
              <a:ext cx="5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Chaîne</a:t>
              </a:r>
            </a:p>
          </p:txBody>
        </p:sp>
        <p:sp>
          <p:nvSpPr>
            <p:cNvPr id="31" name="Text Box 17"/>
            <p:cNvSpPr txBox="1">
              <a:spLocks noChangeArrowheads="1"/>
            </p:cNvSpPr>
            <p:nvPr/>
          </p:nvSpPr>
          <p:spPr bwMode="auto">
            <a:xfrm>
              <a:off x="4104" y="2292"/>
              <a:ext cx="70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sz="1200" dirty="0">
                  <a:solidFill>
                    <a:schemeClr val="tx1"/>
                  </a:solidFill>
                </a:rPr>
                <a:t>Polygone</a:t>
              </a:r>
            </a:p>
          </p:txBody>
        </p:sp>
        <p:sp>
          <p:nvSpPr>
            <p:cNvPr id="32" name="Text Box 18"/>
            <p:cNvSpPr txBox="1">
              <a:spLocks noChangeArrowheads="1"/>
            </p:cNvSpPr>
            <p:nvPr/>
          </p:nvSpPr>
          <p:spPr bwMode="auto">
            <a:xfrm>
              <a:off x="1836" y="3912"/>
              <a:ext cx="84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Géométrie</a:t>
              </a:r>
            </a:p>
          </p:txBody>
        </p:sp>
        <p:sp>
          <p:nvSpPr>
            <p:cNvPr id="33" name="Text Box 19"/>
            <p:cNvSpPr txBox="1">
              <a:spLocks noChangeArrowheads="1"/>
            </p:cNvSpPr>
            <p:nvPr/>
          </p:nvSpPr>
          <p:spPr bwMode="auto">
            <a:xfrm>
              <a:off x="3516" y="3900"/>
              <a:ext cx="99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Topologie</a:t>
              </a:r>
            </a:p>
          </p:txBody>
        </p:sp>
        <p:sp>
          <p:nvSpPr>
            <p:cNvPr id="34" name="Text Box 20"/>
            <p:cNvSpPr txBox="1">
              <a:spLocks noChangeArrowheads="1"/>
            </p:cNvSpPr>
            <p:nvPr/>
          </p:nvSpPr>
          <p:spPr bwMode="auto">
            <a:xfrm>
              <a:off x="3192" y="1716"/>
              <a:ext cx="20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a:t>D</a:t>
              </a:r>
            </a:p>
          </p:txBody>
        </p:sp>
        <p:sp>
          <p:nvSpPr>
            <p:cNvPr id="35" name="Text Box 21"/>
            <p:cNvSpPr txBox="1">
              <a:spLocks noChangeArrowheads="1"/>
            </p:cNvSpPr>
            <p:nvPr/>
          </p:nvSpPr>
          <p:spPr bwMode="auto">
            <a:xfrm>
              <a:off x="4524" y="1656"/>
              <a:ext cx="2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a:t>A</a:t>
              </a:r>
            </a:p>
          </p:txBody>
        </p:sp>
        <p:sp>
          <p:nvSpPr>
            <p:cNvPr id="36" name="Text Box 22"/>
            <p:cNvSpPr txBox="1">
              <a:spLocks noChangeArrowheads="1"/>
            </p:cNvSpPr>
            <p:nvPr/>
          </p:nvSpPr>
          <p:spPr bwMode="auto">
            <a:xfrm>
              <a:off x="3636" y="1224"/>
              <a:ext cx="3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a:t>G</a:t>
              </a:r>
            </a:p>
          </p:txBody>
        </p:sp>
        <p:sp>
          <p:nvSpPr>
            <p:cNvPr id="37" name="Text Box 23"/>
            <p:cNvSpPr txBox="1">
              <a:spLocks noChangeArrowheads="1"/>
            </p:cNvSpPr>
            <p:nvPr/>
          </p:nvSpPr>
          <p:spPr bwMode="auto">
            <a:xfrm>
              <a:off x="3672" y="1560"/>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a:t>D</a:t>
              </a:r>
            </a:p>
          </p:txBody>
        </p:sp>
        <p:sp>
          <p:nvSpPr>
            <p:cNvPr id="38" name="Line 25"/>
            <p:cNvSpPr>
              <a:spLocks noChangeShapeType="1"/>
            </p:cNvSpPr>
            <p:nvPr/>
          </p:nvSpPr>
          <p:spPr bwMode="auto">
            <a:xfrm flipV="1">
              <a:off x="3576" y="1752"/>
              <a:ext cx="684" cy="120"/>
            </a:xfrm>
            <a:prstGeom prst="line">
              <a:avLst/>
            </a:prstGeom>
            <a:noFill/>
            <a:ln w="190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Tree>
    <p:extLst>
      <p:ext uri="{BB962C8B-B14F-4D97-AF65-F5344CB8AC3E}">
        <p14:creationId xmlns:p14="http://schemas.microsoft.com/office/powerpoint/2010/main" val="381826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LES MODES DE REPRESENTATION DE L’INFORMATION GEOGRAPHIQUE DANS UN SIG</a:t>
            </a:r>
            <a:endParaRPr lang="fr-FR"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1752600"/>
            <a:ext cx="648072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8512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DIFFERENCES ENTRE LES STRUCTURES MATRICIELLE ET VECTORIELLE</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785745324"/>
              </p:ext>
            </p:extLst>
          </p:nvPr>
        </p:nvGraphicFramePr>
        <p:xfrm>
          <a:off x="457200" y="1752600"/>
          <a:ext cx="8435280" cy="4484712"/>
        </p:xfrm>
        <a:graphic>
          <a:graphicData uri="http://schemas.openxmlformats.org/drawingml/2006/table">
            <a:tbl>
              <a:tblPr firstRow="1" bandRow="1">
                <a:tableStyleId>{5C22544A-7EE6-4342-B048-85BDC9FD1C3A}</a:tableStyleId>
              </a:tblPr>
              <a:tblGrid>
                <a:gridCol w="4217640">
                  <a:extLst>
                    <a:ext uri="{9D8B030D-6E8A-4147-A177-3AD203B41FA5}">
                      <a16:colId xmlns:a16="http://schemas.microsoft.com/office/drawing/2014/main" val="20000"/>
                    </a:ext>
                  </a:extLst>
                </a:gridCol>
                <a:gridCol w="4217640">
                  <a:extLst>
                    <a:ext uri="{9D8B030D-6E8A-4147-A177-3AD203B41FA5}">
                      <a16:colId xmlns:a16="http://schemas.microsoft.com/office/drawing/2014/main" val="20001"/>
                    </a:ext>
                  </a:extLst>
                </a:gridCol>
              </a:tblGrid>
              <a:tr h="515813">
                <a:tc>
                  <a:txBody>
                    <a:bodyPr/>
                    <a:lstStyle/>
                    <a:p>
                      <a:r>
                        <a:rPr lang="fr-FR" dirty="0">
                          <a:solidFill>
                            <a:schemeClr val="tx1"/>
                          </a:solidFill>
                          <a:latin typeface="Times New Roman" pitchFamily="18" charset="0"/>
                          <a:cs typeface="Times New Roman" pitchFamily="18" charset="0"/>
                        </a:rPr>
                        <a:t>Structure matricielle</a:t>
                      </a:r>
                    </a:p>
                  </a:txBody>
                  <a:tcPr/>
                </a:tc>
                <a:tc>
                  <a:txBody>
                    <a:bodyPr/>
                    <a:lstStyle/>
                    <a:p>
                      <a:pPr marL="0" indent="0">
                        <a:buFont typeface="Arial" pitchFamily="34" charset="0"/>
                        <a:buNone/>
                      </a:pPr>
                      <a:r>
                        <a:rPr lang="fr-FR" dirty="0">
                          <a:solidFill>
                            <a:schemeClr val="tx1"/>
                          </a:solidFill>
                          <a:latin typeface="Times New Roman" pitchFamily="18" charset="0"/>
                          <a:cs typeface="Times New Roman" pitchFamily="18" charset="0"/>
                        </a:rPr>
                        <a:t>Structure vectorielle</a:t>
                      </a:r>
                    </a:p>
                  </a:txBody>
                  <a:tcPr/>
                </a:tc>
                <a:extLst>
                  <a:ext uri="{0D108BD9-81ED-4DB2-BD59-A6C34878D82A}">
                    <a16:rowId xmlns:a16="http://schemas.microsoft.com/office/drawing/2014/main" val="10000"/>
                  </a:ext>
                </a:extLst>
              </a:tr>
              <a:tr h="429845">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Primitive géométrique : la cellule</a:t>
                      </a:r>
                    </a:p>
                  </a:txBody>
                  <a:tcPr/>
                </a:tc>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Primitives géométriques: point, ligne, polygone</a:t>
                      </a:r>
                    </a:p>
                  </a:txBody>
                  <a:tcPr/>
                </a:tc>
                <a:extLst>
                  <a:ext uri="{0D108BD9-81ED-4DB2-BD59-A6C34878D82A}">
                    <a16:rowId xmlns:a16="http://schemas.microsoft.com/office/drawing/2014/main" val="10001"/>
                  </a:ext>
                </a:extLst>
              </a:tr>
              <a:tr h="522977">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Représente la réalité de façon</a:t>
                      </a:r>
                      <a:r>
                        <a:rPr lang="fr-FR" sz="1400" baseline="0" dirty="0">
                          <a:solidFill>
                            <a:schemeClr val="tx1"/>
                          </a:solidFill>
                          <a:latin typeface="Times New Roman" pitchFamily="18" charset="0"/>
                          <a:cs typeface="Times New Roman" pitchFamily="18" charset="0"/>
                        </a:rPr>
                        <a:t> grossière</a:t>
                      </a:r>
                    </a:p>
                  </a:txBody>
                  <a:tcPr/>
                </a:tc>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Représentation  plus près de la réalité</a:t>
                      </a:r>
                    </a:p>
                  </a:txBody>
                  <a:tcPr/>
                </a:tc>
                <a:extLst>
                  <a:ext uri="{0D108BD9-81ED-4DB2-BD59-A6C34878D82A}">
                    <a16:rowId xmlns:a16="http://schemas.microsoft.com/office/drawing/2014/main" val="10002"/>
                  </a:ext>
                </a:extLst>
              </a:tr>
              <a:tr h="522977">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Représente</a:t>
                      </a:r>
                      <a:r>
                        <a:rPr lang="fr-FR" sz="1400" baseline="0" dirty="0">
                          <a:solidFill>
                            <a:schemeClr val="tx1"/>
                          </a:solidFill>
                          <a:latin typeface="Times New Roman" pitchFamily="18" charset="0"/>
                          <a:cs typeface="Times New Roman" pitchFamily="18" charset="0"/>
                        </a:rPr>
                        <a:t> une section de territoire</a:t>
                      </a:r>
                      <a:endParaRPr lang="fr-FR" sz="1400" dirty="0">
                        <a:solidFill>
                          <a:schemeClr val="tx1"/>
                        </a:solidFill>
                        <a:latin typeface="Times New Roman" pitchFamily="18" charset="0"/>
                        <a:cs typeface="Times New Roman" pitchFamily="18" charset="0"/>
                      </a:endParaRPr>
                    </a:p>
                  </a:txBody>
                  <a:tcPr/>
                </a:tc>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Représente</a:t>
                      </a:r>
                      <a:r>
                        <a:rPr lang="fr-FR" sz="1400" baseline="0" dirty="0">
                          <a:solidFill>
                            <a:schemeClr val="tx1"/>
                          </a:solidFill>
                          <a:latin typeface="Times New Roman" pitchFamily="18" charset="0"/>
                          <a:cs typeface="Times New Roman" pitchFamily="18" charset="0"/>
                        </a:rPr>
                        <a:t> des occurrences d’objets</a:t>
                      </a:r>
                      <a:endParaRPr lang="fr-FR" sz="1400"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730736">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Espace mémoire varie avec la résolution de la grille</a:t>
                      </a:r>
                    </a:p>
                  </a:txBody>
                  <a:tcPr/>
                </a:tc>
                <a:tc>
                  <a:txBody>
                    <a:bodyPr/>
                    <a:lstStyle/>
                    <a:p>
                      <a:pPr marL="285750" indent="-285750">
                        <a:buFont typeface="Arial" pitchFamily="34" charset="0"/>
                        <a:buChar char="•"/>
                      </a:pPr>
                      <a:r>
                        <a:rPr kumimoji="0" lang="fr-FR" sz="1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Espace mémoire varie selon  la densité des entités spatiales et leur complexité</a:t>
                      </a:r>
                      <a:endParaRPr lang="fr-FR" sz="1400"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730736">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Relations spatiales données directement par la position du pixel</a:t>
                      </a:r>
                    </a:p>
                  </a:txBody>
                  <a:tcPr/>
                </a:tc>
                <a:tc>
                  <a:txBody>
                    <a:bodyPr/>
                    <a:lstStyle/>
                    <a:p>
                      <a:pPr marL="285750" indent="-285750">
                        <a:buFont typeface="Arial" pitchFamily="34" charset="0"/>
                        <a:buChar char="•"/>
                      </a:pPr>
                      <a:r>
                        <a:rPr kumimoji="0" lang="fr-FR" sz="1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Relations spatiales  déduites mathématiquement ou à l’aide de topologie</a:t>
                      </a:r>
                      <a:endParaRPr lang="fr-FR" sz="1400"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1031628">
                <a:tc>
                  <a:txBody>
                    <a:bodyPr/>
                    <a:lstStyle/>
                    <a:p>
                      <a:pPr marL="285750" indent="-285750">
                        <a:buFont typeface="Arial" pitchFamily="34" charset="0"/>
                        <a:buChar char="•"/>
                      </a:pPr>
                      <a:r>
                        <a:rPr lang="fr-FR" sz="1400" dirty="0">
                          <a:solidFill>
                            <a:schemeClr val="tx1"/>
                          </a:solidFill>
                          <a:latin typeface="Times New Roman" pitchFamily="18" charset="0"/>
                          <a:cs typeface="Times New Roman" pitchFamily="18" charset="0"/>
                        </a:rPr>
                        <a:t>Mode de traitement : traitable par superposition et</a:t>
                      </a:r>
                      <a:r>
                        <a:rPr lang="fr-FR" sz="1400" baseline="0" dirty="0">
                          <a:solidFill>
                            <a:schemeClr val="tx1"/>
                          </a:solidFill>
                          <a:latin typeface="Times New Roman" pitchFamily="18" charset="0"/>
                          <a:cs typeface="Times New Roman" pitchFamily="18" charset="0"/>
                        </a:rPr>
                        <a:t> comparaison de leurs valeurs d’attributs (simple et rapide)</a:t>
                      </a:r>
                      <a:endParaRPr lang="fr-FR" sz="1400" dirty="0">
                        <a:solidFill>
                          <a:schemeClr val="tx1"/>
                        </a:solidFill>
                        <a:latin typeface="Times New Roman" pitchFamily="18" charset="0"/>
                        <a:cs typeface="Times New Roman" pitchFamily="18" charset="0"/>
                      </a:endParaRPr>
                    </a:p>
                  </a:txBody>
                  <a:tcPr/>
                </a:tc>
                <a:tc>
                  <a:txBody>
                    <a:bodyPr/>
                    <a:lstStyle/>
                    <a:p>
                      <a:pPr marL="285750" indent="-285750">
                        <a:buFont typeface="Arial" pitchFamily="34" charset="0"/>
                        <a:buChar char="•"/>
                      </a:pPr>
                      <a:r>
                        <a:rPr kumimoji="0" lang="fr-FR" sz="1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Mode de traitement : traitable par  géométrie</a:t>
                      </a:r>
                      <a:endParaRPr lang="fr-FR" sz="1400"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05573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solidFill>
                  <a:schemeClr val="tx1"/>
                </a:solidFill>
                <a:latin typeface="Times New Roman" pitchFamily="18" charset="0"/>
                <a:cs typeface="Times New Roman" pitchFamily="18" charset="0"/>
              </a:rPr>
              <a:t>Le choix d’UNE STRUCTURE?</a:t>
            </a:r>
            <a:br>
              <a:rPr lang="fr-FR" dirty="0">
                <a:solidFill>
                  <a:schemeClr val="tx1"/>
                </a:solidFill>
                <a:latin typeface="Times New Roman" pitchFamily="18" charset="0"/>
                <a:cs typeface="Times New Roman" pitchFamily="18" charset="0"/>
              </a:rPr>
            </a:br>
            <a:endParaRPr lang="fr-FR" dirty="0">
              <a:solidFill>
                <a:schemeClr val="tx1"/>
              </a:solidFill>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r>
              <a:rPr lang="fr-FR" sz="2000" dirty="0">
                <a:solidFill>
                  <a:schemeClr val="tx1"/>
                </a:solidFill>
                <a:latin typeface="Times New Roman" pitchFamily="18" charset="0"/>
                <a:cs typeface="Times New Roman" pitchFamily="18" charset="0"/>
              </a:rPr>
              <a:t>Il</a:t>
            </a:r>
            <a:r>
              <a:rPr lang="fr-FR" sz="2000" dirty="0">
                <a:latin typeface="Times New Roman" pitchFamily="18" charset="0"/>
                <a:cs typeface="Times New Roman" pitchFamily="18" charset="0"/>
              </a:rPr>
              <a:t> </a:t>
            </a:r>
            <a:r>
              <a:rPr lang="fr-FR" sz="2000" dirty="0">
                <a:solidFill>
                  <a:schemeClr val="tx1"/>
                </a:solidFill>
                <a:latin typeface="Times New Roman" pitchFamily="18" charset="0"/>
                <a:cs typeface="Times New Roman" pitchFamily="18" charset="0"/>
              </a:rPr>
              <a:t>n’existe pas de structure parfaite.</a:t>
            </a:r>
          </a:p>
          <a:p>
            <a:r>
              <a:rPr lang="fr-FR" sz="2000" dirty="0">
                <a:solidFill>
                  <a:schemeClr val="tx1"/>
                </a:solidFill>
                <a:latin typeface="Times New Roman" pitchFamily="18" charset="0"/>
                <a:cs typeface="Times New Roman" pitchFamily="18" charset="0"/>
              </a:rPr>
              <a:t>Le choix de la structure se fait selon les besoins et les contraintes.</a:t>
            </a:r>
          </a:p>
          <a:p>
            <a:r>
              <a:rPr lang="fr-FR" sz="2000" dirty="0">
                <a:solidFill>
                  <a:schemeClr val="tx1"/>
                </a:solidFill>
                <a:latin typeface="Times New Roman" pitchFamily="18" charset="0"/>
                <a:cs typeface="Times New Roman" pitchFamily="18" charset="0"/>
              </a:rPr>
              <a:t>Il existe plusieurs logiciels permettant de créer un fichier vectoriel à partir d’un fichier matriciel ou inversement.</a:t>
            </a:r>
          </a:p>
          <a:p>
            <a:r>
              <a:rPr lang="fr-FR" sz="2000" dirty="0">
                <a:solidFill>
                  <a:schemeClr val="tx1"/>
                </a:solidFill>
                <a:latin typeface="Times New Roman" pitchFamily="18" charset="0"/>
                <a:cs typeface="Times New Roman" pitchFamily="18" charset="0"/>
              </a:rPr>
              <a:t>La conversion d’un fichier vectoriel vers un fichier matriciel est plus simple à faire et requiert moins de traitement que la fonction inverse.</a:t>
            </a:r>
          </a:p>
          <a:p>
            <a:endParaRPr lang="fr-FR" sz="2000" dirty="0">
              <a:solidFill>
                <a:schemeClr val="tx1"/>
              </a:solidFill>
              <a:latin typeface="Times New Roman" pitchFamily="18" charset="0"/>
              <a:cs typeface="Times New Roman" pitchFamily="18" charset="0"/>
            </a:endParaRPr>
          </a:p>
          <a:p>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1112573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La BASE DE DONNEE GEOGRAPHIQUE</a:t>
            </a:r>
            <a:endParaRPr lang="fr-FR"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006" y="1752600"/>
            <a:ext cx="7163987" cy="437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7090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La BASE DE DONNEE GEOGRAPHIQUE</a:t>
            </a:r>
            <a:endParaRPr lang="fr-FR" dirty="0"/>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95936" y="1752600"/>
            <a:ext cx="3790675"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ZoneTexte 3"/>
          <p:cNvSpPr txBox="1"/>
          <p:nvPr/>
        </p:nvSpPr>
        <p:spPr>
          <a:xfrm>
            <a:off x="539552" y="2132856"/>
            <a:ext cx="2952328" cy="4247317"/>
          </a:xfrm>
          <a:prstGeom prst="rect">
            <a:avLst/>
          </a:prstGeom>
          <a:noFill/>
        </p:spPr>
        <p:txBody>
          <a:bodyPr wrap="square" rtlCol="0">
            <a:spAutoFit/>
          </a:bodyPr>
          <a:lstStyle/>
          <a:p>
            <a:pPr marL="285750" indent="-285750">
              <a:buFont typeface="Arial" pitchFamily="34" charset="0"/>
              <a:buChar char="•"/>
            </a:pPr>
            <a:r>
              <a:rPr lang="fr-FR" dirty="0">
                <a:solidFill>
                  <a:srgbClr val="000000"/>
                </a:solidFill>
                <a:latin typeface="Times New Roman" pitchFamily="18" charset="0"/>
                <a:cs typeface="Times New Roman" pitchFamily="18" charset="0"/>
              </a:rPr>
              <a:t>La réalité d'un territoire peut être représentée ou "modélisée" par une base de données géographiques qui schématise tous les objets ou phénomènes présents sur ce territoire, ainsi que les relations entre ces objets	. Il faut assurer la correspondance entre l'objet sémantique et sa traduction géométrique, par ce qu'on appelle les "relations de construction".</a:t>
            </a:r>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3883127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La BASE DE DONNEE GEOGRAPHIQUE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120498976"/>
              </p:ext>
            </p:extLst>
          </p:nvPr>
        </p:nvGraphicFramePr>
        <p:xfrm>
          <a:off x="457200" y="1916832"/>
          <a:ext cx="3106688" cy="4752811"/>
        </p:xfrm>
        <a:graphic>
          <a:graphicData uri="http://schemas.openxmlformats.org/drawingml/2006/table">
            <a:tbl>
              <a:tblPr/>
              <a:tblGrid>
                <a:gridCol w="3106688">
                  <a:extLst>
                    <a:ext uri="{9D8B030D-6E8A-4147-A177-3AD203B41FA5}">
                      <a16:colId xmlns:a16="http://schemas.microsoft.com/office/drawing/2014/main" val="20000"/>
                    </a:ext>
                  </a:extLst>
                </a:gridCol>
              </a:tblGrid>
              <a:tr h="3283565">
                <a:tc>
                  <a:txBody>
                    <a:bodyPr/>
                    <a:lstStyle/>
                    <a:p>
                      <a:pPr algn="just"/>
                      <a:r>
                        <a:rPr lang="fr-FR" sz="1800" b="0" i="0" u="none" strike="noStrike" dirty="0">
                          <a:solidFill>
                            <a:srgbClr val="000000"/>
                          </a:solidFill>
                          <a:effectLst/>
                          <a:latin typeface="Times New Roman" pitchFamily="18" charset="0"/>
                          <a:cs typeface="Times New Roman" pitchFamily="18" charset="0"/>
                        </a:rPr>
                        <a:t>Il faut donc assurer la correspondance entre l'objet sémantique et sa traduction géométrique, par ce qu'on appelle les "</a:t>
                      </a:r>
                      <a:r>
                        <a:rPr lang="fr-FR" sz="1800" b="1" i="0" u="none" strike="noStrike" dirty="0">
                          <a:solidFill>
                            <a:srgbClr val="000000"/>
                          </a:solidFill>
                          <a:effectLst/>
                          <a:latin typeface="Times New Roman" pitchFamily="18" charset="0"/>
                          <a:cs typeface="Times New Roman" pitchFamily="18" charset="0"/>
                        </a:rPr>
                        <a:t>relations de construction</a:t>
                      </a:r>
                      <a:r>
                        <a:rPr lang="fr-FR" sz="1800" b="0" i="0" u="none" strike="noStrike" dirty="0">
                          <a:solidFill>
                            <a:srgbClr val="000000"/>
                          </a:solidFill>
                          <a:effectLst/>
                          <a:latin typeface="Times New Roman" pitchFamily="18" charset="0"/>
                          <a:cs typeface="Times New Roman" pitchFamily="18" charset="0"/>
                        </a:rPr>
                        <a:t>". A cela s'ajoutent d'autres types de relations, qui peuvent être évidentes ou implicites sur une carte, mais qu'il faut modéliser explicitement dans une base de données : par ex. les relations de voisinage ou d'appartenance.</a:t>
                      </a:r>
                    </a:p>
                    <a:p>
                      <a:r>
                        <a:rPr lang="fr-FR" sz="1800" b="0" i="0" u="none" strike="noStrike" dirty="0">
                          <a:solidFill>
                            <a:srgbClr val="000000"/>
                          </a:solidFill>
                          <a:effectLst/>
                          <a:latin typeface="Times New Roman" pitchFamily="18" charset="0"/>
                          <a:cs typeface="Times New Roman" pitchFamily="18" charset="0"/>
                        </a:rPr>
                        <a:t> </a:t>
                      </a:r>
                    </a:p>
                  </a:txBody>
                  <a:tcPr>
                    <a:lnL>
                      <a:noFill/>
                    </a:lnL>
                    <a:lnR>
                      <a:noFill/>
                    </a:lnR>
                    <a:lnT>
                      <a:noFill/>
                    </a:lnT>
                    <a:lnB>
                      <a:noFill/>
                    </a:lnB>
                    <a:solidFill>
                      <a:srgbClr val="FFFFFF"/>
                    </a:solidFill>
                  </a:tcPr>
                </a:tc>
                <a:extLst>
                  <a:ext uri="{0D108BD9-81ED-4DB2-BD59-A6C34878D82A}">
                    <a16:rowId xmlns:a16="http://schemas.microsoft.com/office/drawing/2014/main" val="10000"/>
                  </a:ext>
                </a:extLst>
              </a:tr>
              <a:tr h="820891">
                <a:tc>
                  <a:txBody>
                    <a:bodyPr/>
                    <a:lstStyle/>
                    <a:p>
                      <a:endParaRPr lang="fr-FR" dirty="0"/>
                    </a:p>
                  </a:txBody>
                  <a:tcPr>
                    <a:lnL>
                      <a:noFill/>
                    </a:lnL>
                    <a:lnR>
                      <a:noFill/>
                    </a:lnR>
                    <a:lnT>
                      <a:noFill/>
                    </a:lnT>
                    <a:lnB>
                      <a:noFill/>
                    </a:lnB>
                    <a:solidFill>
                      <a:srgbClr val="FFFFFF"/>
                    </a:solidFill>
                  </a:tcPr>
                </a:tc>
                <a:extLst>
                  <a:ext uri="{0D108BD9-81ED-4DB2-BD59-A6C34878D82A}">
                    <a16:rowId xmlns:a16="http://schemas.microsoft.com/office/drawing/2014/main" val="10001"/>
                  </a:ext>
                </a:extLst>
              </a:tr>
            </a:tbl>
          </a:graphicData>
        </a:graphic>
      </p:graphicFrame>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1821678"/>
            <a:ext cx="4896544" cy="4307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3"/>
          <p:cNvSpPr>
            <a:spLocks noChangeArrowheads="1"/>
          </p:cNvSpPr>
          <p:nvPr/>
        </p:nvSpPr>
        <p:spPr bwMode="auto">
          <a:xfrm>
            <a:off x="457200" y="3405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1800" b="0" i="0" u="none" strike="noStrike" cap="none" normalizeH="0" baseline="0">
                <a:ln>
                  <a:noFill/>
                </a:ln>
                <a:solidFill>
                  <a:schemeClr val="tx1"/>
                </a:solidFill>
                <a:effectLst/>
                <a:latin typeface="Arial" pitchFamily="34" charset="0"/>
                <a:cs typeface="Arial" pitchFamily="34" charset="0"/>
              </a:rPr>
            </a:br>
            <a:endParaRPr kumimoji="0" lang="fr-FR"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771193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La BASE DE DONNEE GEOGRAPHIQUE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algn="just"/>
            <a:r>
              <a:rPr lang="fr-FR" sz="1800" dirty="0">
                <a:solidFill>
                  <a:schemeClr val="tx1"/>
                </a:solidFill>
                <a:latin typeface="Times New Roman" pitchFamily="18" charset="0"/>
                <a:cs typeface="Times New Roman" pitchFamily="18" charset="0"/>
              </a:rPr>
              <a:t>Toutes les questions que l'on peut poser à une carte doivent pouvoir être traitées de</a:t>
            </a:r>
          </a:p>
          <a:p>
            <a:pPr marL="114300" indent="0" algn="just">
              <a:buNone/>
            </a:pPr>
            <a:r>
              <a:rPr lang="fr-FR" sz="1800" dirty="0">
                <a:solidFill>
                  <a:schemeClr val="tx1"/>
                </a:solidFill>
                <a:latin typeface="Times New Roman" pitchFamily="18" charset="0"/>
                <a:cs typeface="Times New Roman" pitchFamily="18" charset="0"/>
              </a:rPr>
              <a:t>  même à l'aide d'une base de données géographiques. </a:t>
            </a:r>
          </a:p>
          <a:p>
            <a:pPr marL="114300" indent="0" algn="just">
              <a:buNone/>
            </a:pPr>
            <a:r>
              <a:rPr lang="fr-FR" sz="1800" dirty="0">
                <a:solidFill>
                  <a:schemeClr val="tx1"/>
                </a:solidFill>
                <a:latin typeface="Times New Roman" pitchFamily="18" charset="0"/>
                <a:cs typeface="Times New Roman" pitchFamily="18" charset="0"/>
              </a:rPr>
              <a:t>  De plus, celle-ci peut répondre à des questions beaucoup plus complexes, </a:t>
            </a:r>
          </a:p>
          <a:p>
            <a:pPr marL="114300" indent="0" algn="just">
              <a:buNone/>
            </a:pPr>
            <a:r>
              <a:rPr lang="fr-FR" sz="1800" dirty="0">
                <a:solidFill>
                  <a:schemeClr val="tx1"/>
                </a:solidFill>
                <a:latin typeface="Times New Roman" pitchFamily="18" charset="0"/>
                <a:cs typeface="Times New Roman" pitchFamily="18" charset="0"/>
              </a:rPr>
              <a:t>  grâce à la richesse des attributs et à la souplesse des relations entre objets, </a:t>
            </a:r>
          </a:p>
          <a:p>
            <a:pPr marL="114300" indent="0" algn="just">
              <a:buNone/>
            </a:pPr>
            <a:r>
              <a:rPr lang="fr-FR" sz="1800" dirty="0">
                <a:solidFill>
                  <a:schemeClr val="tx1"/>
                </a:solidFill>
                <a:latin typeface="Times New Roman" pitchFamily="18" charset="0"/>
                <a:cs typeface="Times New Roman" pitchFamily="18" charset="0"/>
              </a:rPr>
              <a:t>notamment sémantiques et topologiques. </a:t>
            </a:r>
          </a:p>
          <a:p>
            <a:pPr marL="114300" indent="0" algn="just">
              <a:buNone/>
            </a:pPr>
            <a:endParaRPr lang="fr-FR" sz="1800" dirty="0">
              <a:solidFill>
                <a:schemeClr val="tx1"/>
              </a:solidFill>
              <a:latin typeface="Times New Roman" pitchFamily="18" charset="0"/>
              <a:cs typeface="Times New Roman" pitchFamily="18" charset="0"/>
            </a:endParaRPr>
          </a:p>
          <a:p>
            <a:pPr marL="114300" indent="0" algn="just">
              <a:buNone/>
            </a:pPr>
            <a:r>
              <a:rPr lang="fr-FR" sz="1800" dirty="0">
                <a:solidFill>
                  <a:schemeClr val="tx1"/>
                </a:solidFill>
                <a:latin typeface="Times New Roman" pitchFamily="18" charset="0"/>
                <a:cs typeface="Times New Roman" pitchFamily="18" charset="0"/>
              </a:rPr>
              <a:t>Exemples, en allant du plus simple au plus compliqué :</a:t>
            </a:r>
          </a:p>
          <a:p>
            <a:pPr algn="just"/>
            <a:r>
              <a:rPr lang="fr-FR" sz="1800" dirty="0">
                <a:solidFill>
                  <a:schemeClr val="tx1"/>
                </a:solidFill>
                <a:latin typeface="Times New Roman" pitchFamily="18" charset="0"/>
                <a:cs typeface="Times New Roman" pitchFamily="18" charset="0"/>
              </a:rPr>
              <a:t>- Où se trouve la commune de </a:t>
            </a:r>
            <a:r>
              <a:rPr lang="fr-FR" sz="1800" dirty="0" err="1">
                <a:solidFill>
                  <a:schemeClr val="tx1"/>
                </a:solidFill>
                <a:latin typeface="Times New Roman" pitchFamily="18" charset="0"/>
                <a:cs typeface="Times New Roman" pitchFamily="18" charset="0"/>
              </a:rPr>
              <a:t>Mauperthuis</a:t>
            </a:r>
            <a:r>
              <a:rPr lang="fr-FR" sz="1800" dirty="0">
                <a:solidFill>
                  <a:schemeClr val="tx1"/>
                </a:solidFill>
                <a:latin typeface="Times New Roman" pitchFamily="18" charset="0"/>
                <a:cs typeface="Times New Roman" pitchFamily="18" charset="0"/>
              </a:rPr>
              <a:t> ?</a:t>
            </a:r>
          </a:p>
          <a:p>
            <a:pPr algn="just"/>
            <a:r>
              <a:rPr lang="fr-FR" sz="1800" dirty="0">
                <a:solidFill>
                  <a:schemeClr val="tx1"/>
                </a:solidFill>
                <a:latin typeface="Times New Roman" pitchFamily="18" charset="0"/>
                <a:cs typeface="Times New Roman" pitchFamily="18" charset="0"/>
              </a:rPr>
              <a:t>- Où se trouvent tous les bâtiments de la commune de </a:t>
            </a:r>
            <a:r>
              <a:rPr lang="fr-FR" sz="1800" dirty="0" err="1">
                <a:solidFill>
                  <a:schemeClr val="tx1"/>
                </a:solidFill>
                <a:latin typeface="Times New Roman" pitchFamily="18" charset="0"/>
                <a:cs typeface="Times New Roman" pitchFamily="18" charset="0"/>
              </a:rPr>
              <a:t>Mauperthuis</a:t>
            </a:r>
            <a:r>
              <a:rPr lang="fr-FR" sz="1800" dirty="0">
                <a:solidFill>
                  <a:schemeClr val="tx1"/>
                </a:solidFill>
                <a:latin typeface="Times New Roman" pitchFamily="18" charset="0"/>
                <a:cs typeface="Times New Roman" pitchFamily="18" charset="0"/>
              </a:rPr>
              <a:t> ?</a:t>
            </a:r>
          </a:p>
          <a:p>
            <a:pPr algn="just"/>
            <a:r>
              <a:rPr lang="fr-FR" sz="1800" dirty="0">
                <a:solidFill>
                  <a:schemeClr val="tx1"/>
                </a:solidFill>
                <a:latin typeface="Times New Roman" pitchFamily="18" charset="0"/>
                <a:cs typeface="Times New Roman" pitchFamily="18" charset="0"/>
              </a:rPr>
              <a:t>- Quels sont les bâtiments situés à moins d'1 km de l'église de </a:t>
            </a:r>
            <a:r>
              <a:rPr lang="fr-FR" sz="1800" dirty="0" err="1">
                <a:solidFill>
                  <a:schemeClr val="tx1"/>
                </a:solidFill>
                <a:latin typeface="Times New Roman" pitchFamily="18" charset="0"/>
                <a:cs typeface="Times New Roman" pitchFamily="18" charset="0"/>
              </a:rPr>
              <a:t>Mauperthuis</a:t>
            </a:r>
            <a:r>
              <a:rPr lang="fr-FR" sz="1800" dirty="0">
                <a:solidFill>
                  <a:schemeClr val="tx1"/>
                </a:solidFill>
                <a:latin typeface="Times New Roman" pitchFamily="18" charset="0"/>
                <a:cs typeface="Times New Roman" pitchFamily="18" charset="0"/>
              </a:rPr>
              <a:t> ?</a:t>
            </a:r>
          </a:p>
          <a:p>
            <a:pPr algn="just"/>
            <a:r>
              <a:rPr lang="fr-FR" sz="1800" dirty="0">
                <a:solidFill>
                  <a:schemeClr val="tx1"/>
                </a:solidFill>
                <a:latin typeface="Times New Roman" pitchFamily="18" charset="0"/>
                <a:cs typeface="Times New Roman" pitchFamily="18" charset="0"/>
              </a:rPr>
              <a:t>- Quels sont les bâtiments de plus de 2 étages et situés à moins d'1 km de l'église ?</a:t>
            </a:r>
          </a:p>
          <a:p>
            <a:pPr algn="just"/>
            <a:r>
              <a:rPr lang="fr-FR" sz="1800" dirty="0">
                <a:solidFill>
                  <a:schemeClr val="tx1"/>
                </a:solidFill>
                <a:latin typeface="Times New Roman" pitchFamily="18" charset="0"/>
                <a:cs typeface="Times New Roman" pitchFamily="18" charset="0"/>
              </a:rPr>
              <a:t>- Quels sont les bâtiments de plus de 2 étages, situés à moins d'1 km de l'église, construits depuis plus de 10 ans et comprenant une cour intérieure ?</a:t>
            </a:r>
          </a:p>
          <a:p>
            <a:pPr marL="114300" indent="0" algn="just">
              <a:buNone/>
            </a:pPr>
            <a:r>
              <a:rPr lang="fr-FR" sz="1800" dirty="0">
                <a:solidFill>
                  <a:schemeClr val="tx1"/>
                </a:solidFill>
                <a:latin typeface="Times New Roman" pitchFamily="18" charset="0"/>
                <a:cs typeface="Times New Roman" pitchFamily="18" charset="0"/>
              </a:rPr>
              <a:t> </a:t>
            </a:r>
          </a:p>
          <a:p>
            <a:endParaRPr lang="fr-FR" sz="1800" dirty="0">
              <a:latin typeface="Times New Roman" pitchFamily="18" charset="0"/>
              <a:cs typeface="Times New Roman" pitchFamily="18" charset="0"/>
            </a:endParaRPr>
          </a:p>
          <a:p>
            <a:pPr marL="114300" indent="0">
              <a:buNone/>
            </a:pPr>
            <a:endParaRPr lang="fr-FR" sz="1800" dirty="0">
              <a:latin typeface="Times New Roman" pitchFamily="18" charset="0"/>
              <a:cs typeface="Times New Roman" pitchFamily="18" charset="0"/>
            </a:endParaRPr>
          </a:p>
        </p:txBody>
      </p:sp>
    </p:spTree>
    <p:extLst>
      <p:ext uri="{BB962C8B-B14F-4D97-AF65-F5344CB8AC3E}">
        <p14:creationId xmlns:p14="http://schemas.microsoft.com/office/powerpoint/2010/main" val="2588994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solidFill>
                  <a:srgbClr val="000000"/>
                </a:solidFill>
                <a:latin typeface="Times New Roman" charset="0"/>
              </a:rPr>
              <a:t>La BASE DE DONNEE GEOGRAPHIQUE</a:t>
            </a:r>
            <a:endParaRPr lang="fr-FR" dirty="0"/>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788601106"/>
              </p:ext>
            </p:extLst>
          </p:nvPr>
        </p:nvGraphicFramePr>
        <p:xfrm>
          <a:off x="323529" y="1864266"/>
          <a:ext cx="2520280" cy="2644854"/>
        </p:xfrm>
        <a:graphic>
          <a:graphicData uri="http://schemas.openxmlformats.org/drawingml/2006/table">
            <a:tbl>
              <a:tblPr/>
              <a:tblGrid>
                <a:gridCol w="2520280">
                  <a:extLst>
                    <a:ext uri="{9D8B030D-6E8A-4147-A177-3AD203B41FA5}">
                      <a16:colId xmlns:a16="http://schemas.microsoft.com/office/drawing/2014/main" val="20000"/>
                    </a:ext>
                  </a:extLst>
                </a:gridCol>
              </a:tblGrid>
              <a:tr h="2644854">
                <a:tc>
                  <a:txBody>
                    <a:bodyPr/>
                    <a:lstStyle/>
                    <a:p>
                      <a:r>
                        <a:rPr lang="fr-FR" sz="1800" dirty="0">
                          <a:latin typeface="Times New Roman" pitchFamily="18" charset="0"/>
                          <a:cs typeface="Times New Roman" pitchFamily="18" charset="0"/>
                        </a:rPr>
                        <a:t>La réponse passe par un calcul d'intersection de polygones puis par une méthode d'interpolation (par exemple en supposant une densité uniforme de la population dans chaque commune)</a:t>
                      </a:r>
                    </a:p>
                  </a:txBody>
                  <a:tcPr marL="90488" marR="90488" marT="45244" marB="45244">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1864266"/>
            <a:ext cx="5613896" cy="4373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3"/>
          <p:cNvSpPr>
            <a:spLocks noChangeArrowheads="1"/>
          </p:cNvSpPr>
          <p:nvPr/>
        </p:nvSpPr>
        <p:spPr bwMode="auto">
          <a:xfrm>
            <a:off x="457200" y="3646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fr-FR" sz="1800" b="0" i="0" u="none" strike="noStrike" cap="none" normalizeH="0" baseline="0">
                <a:ln>
                  <a:noFill/>
                </a:ln>
                <a:solidFill>
                  <a:schemeClr val="tx1"/>
                </a:solidFill>
                <a:effectLst/>
                <a:latin typeface="Arial" pitchFamily="34" charset="0"/>
                <a:cs typeface="Arial" pitchFamily="34" charset="0"/>
              </a:rPr>
            </a:br>
            <a:endParaRPr kumimoji="0" lang="fr-FR"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814802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La BASE DE DONNEE GEOGRAPHIQUE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endParaRPr lang="fr-FR" sz="1800" dirty="0">
              <a:solidFill>
                <a:srgbClr val="000000"/>
              </a:solidFill>
              <a:latin typeface="Times New Roman" pitchFamily="18" charset="0"/>
              <a:cs typeface="Times New Roman" pitchFamily="18" charset="0"/>
            </a:endParaRPr>
          </a:p>
          <a:p>
            <a:r>
              <a:rPr lang="fr-FR" sz="1800" dirty="0">
                <a:solidFill>
                  <a:srgbClr val="000000"/>
                </a:solidFill>
                <a:latin typeface="Times New Roman" pitchFamily="18" charset="0"/>
                <a:cs typeface="Times New Roman" pitchFamily="18" charset="0"/>
              </a:rPr>
              <a:t>Toutes ces questions (qu'on appelle des requêtes) peuvent être traitées en se basant sur les attributs des objets, sur leurs relations sémantiques, spatiales ou de composition, etc.</a:t>
            </a:r>
          </a:p>
          <a:p>
            <a:r>
              <a:rPr lang="fr-FR" sz="1800" dirty="0">
                <a:solidFill>
                  <a:srgbClr val="000000"/>
                </a:solidFill>
                <a:latin typeface="Times New Roman" pitchFamily="18" charset="0"/>
                <a:cs typeface="Times New Roman" pitchFamily="18" charset="0"/>
              </a:rPr>
              <a:t> Des langages de requête spécialisés, tels que SQL (</a:t>
            </a:r>
            <a:r>
              <a:rPr lang="fr-FR" sz="1800" dirty="0" err="1">
                <a:solidFill>
                  <a:srgbClr val="000000"/>
                </a:solidFill>
                <a:latin typeface="Times New Roman" pitchFamily="18" charset="0"/>
                <a:cs typeface="Times New Roman" pitchFamily="18" charset="0"/>
              </a:rPr>
              <a:t>Structured</a:t>
            </a:r>
            <a:r>
              <a:rPr lang="fr-FR" sz="1800" dirty="0">
                <a:solidFill>
                  <a:srgbClr val="000000"/>
                </a:solidFill>
                <a:latin typeface="Times New Roman" pitchFamily="18" charset="0"/>
                <a:cs typeface="Times New Roman" pitchFamily="18" charset="0"/>
              </a:rPr>
              <a:t> </a:t>
            </a:r>
            <a:r>
              <a:rPr lang="fr-FR" sz="1800" dirty="0" err="1">
                <a:solidFill>
                  <a:srgbClr val="000000"/>
                </a:solidFill>
                <a:latin typeface="Times New Roman" pitchFamily="18" charset="0"/>
                <a:cs typeface="Times New Roman" pitchFamily="18" charset="0"/>
              </a:rPr>
              <a:t>Query</a:t>
            </a:r>
            <a:r>
              <a:rPr lang="fr-FR" sz="1800" dirty="0">
                <a:solidFill>
                  <a:srgbClr val="000000"/>
                </a:solidFill>
                <a:latin typeface="Times New Roman" pitchFamily="18" charset="0"/>
                <a:cs typeface="Times New Roman" pitchFamily="18" charset="0"/>
              </a:rPr>
              <a:t> </a:t>
            </a:r>
            <a:r>
              <a:rPr lang="fr-FR" sz="1800" dirty="0" err="1">
                <a:solidFill>
                  <a:srgbClr val="000000"/>
                </a:solidFill>
                <a:latin typeface="Times New Roman" pitchFamily="18" charset="0"/>
                <a:cs typeface="Times New Roman" pitchFamily="18" charset="0"/>
              </a:rPr>
              <a:t>Language</a:t>
            </a:r>
            <a:r>
              <a:rPr lang="fr-FR" sz="1800" dirty="0">
                <a:solidFill>
                  <a:srgbClr val="000000"/>
                </a:solidFill>
                <a:latin typeface="Times New Roman" pitchFamily="18" charset="0"/>
                <a:cs typeface="Times New Roman" pitchFamily="18" charset="0"/>
              </a:rPr>
              <a:t>) permettent aux utilisateurs d'obtenir automatiquement les réponses attendues. </a:t>
            </a:r>
          </a:p>
          <a:p>
            <a:pPr marL="114300" indent="0">
              <a:buNone/>
            </a:pPr>
            <a:endParaRPr lang="fr-FR" sz="1800" dirty="0">
              <a:solidFill>
                <a:srgbClr val="000000"/>
              </a:solidFill>
              <a:latin typeface="Times New Roman" pitchFamily="18" charset="0"/>
              <a:cs typeface="Times New Roman" pitchFamily="18" charset="0"/>
            </a:endParaRPr>
          </a:p>
          <a:p>
            <a:r>
              <a:rPr lang="fr-FR" sz="1800" dirty="0">
                <a:solidFill>
                  <a:srgbClr val="000000"/>
                </a:solidFill>
                <a:latin typeface="Times New Roman" pitchFamily="18" charset="0"/>
                <a:cs typeface="Times New Roman" pitchFamily="18" charset="0"/>
              </a:rPr>
              <a:t>On distingue les requêtes attributaires (qui portent sur les attributs des objets) et les requêtes spatiales (qui portent sur les relations de construction ou topologiques), </a:t>
            </a:r>
          </a:p>
          <a:p>
            <a:pPr marL="114300" indent="0">
              <a:buNone/>
            </a:pPr>
            <a:endParaRPr lang="fr-FR" sz="1800" dirty="0">
              <a:solidFill>
                <a:srgbClr val="000000"/>
              </a:solidFill>
              <a:latin typeface="Times New Roman" pitchFamily="18" charset="0"/>
              <a:cs typeface="Times New Roman" pitchFamily="18" charset="0"/>
            </a:endParaRPr>
          </a:p>
          <a:p>
            <a:pPr marL="114300" indent="0">
              <a:buNone/>
            </a:pPr>
            <a:r>
              <a:rPr lang="fr-FR" sz="1800" dirty="0">
                <a:solidFill>
                  <a:srgbClr val="000000"/>
                </a:solidFill>
                <a:latin typeface="Times New Roman" pitchFamily="18" charset="0"/>
                <a:cs typeface="Times New Roman" pitchFamily="18" charset="0"/>
              </a:rPr>
              <a:t> ces dernières étant propres à l'information géographique et exigeant des développements spécifiques</a:t>
            </a:r>
            <a:r>
              <a:rPr lang="fr-FR" sz="1800" dirty="0">
                <a:solidFill>
                  <a:srgbClr val="000000"/>
                </a:solidFill>
                <a:latin typeface="Arial"/>
              </a:rPr>
              <a:t>.</a:t>
            </a:r>
            <a:endParaRPr lang="fr-FR" sz="1800" dirty="0">
              <a:latin typeface="Times New Roman" pitchFamily="18" charset="0"/>
              <a:cs typeface="Times New Roman" pitchFamily="18" charset="0"/>
            </a:endParaRPr>
          </a:p>
        </p:txBody>
      </p:sp>
    </p:spTree>
    <p:extLst>
      <p:ext uri="{BB962C8B-B14F-4D97-AF65-F5344CB8AC3E}">
        <p14:creationId xmlns:p14="http://schemas.microsoft.com/office/powerpoint/2010/main" val="351144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ATTRIBUTS OU DESCRIPTION DE LA DONNEE</a:t>
            </a:r>
          </a:p>
        </p:txBody>
      </p:sp>
      <p:sp>
        <p:nvSpPr>
          <p:cNvPr id="3" name="Espace réservé du contenu 2"/>
          <p:cNvSpPr>
            <a:spLocks noGrp="1"/>
          </p:cNvSpPr>
          <p:nvPr>
            <p:ph idx="1"/>
          </p:nvPr>
        </p:nvSpPr>
        <p:spPr/>
        <p:txBody>
          <a:bodyPr>
            <a:normAutofit/>
          </a:bodyPr>
          <a:lstStyle/>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Les attributs servent à décrire la donnée et, lorsqu’ils portent sur un thème, ils peuvent</a:t>
            </a:r>
          </a:p>
          <a:p>
            <a:pPr marL="114300" indent="0">
              <a:buNone/>
            </a:pPr>
            <a:r>
              <a:rPr lang="fr-FR" sz="1800" dirty="0">
                <a:solidFill>
                  <a:schemeClr val="tx1"/>
                </a:solidFill>
                <a:latin typeface="Times New Roman" pitchFamily="18" charset="0"/>
                <a:cs typeface="Times New Roman" pitchFamily="18" charset="0"/>
              </a:rPr>
              <a:t> être décrits avec les éléments suivants: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Domaine de valeurs : Les valeurs possibles pour un attribut ou une classe d’objets donnée :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Domaine discret de valeurs Ex.: Utilisation du sol: résidentielle, commerciale, industrielle;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Domaine continu de valeurs Ex.: Population entre 0 et illimité personnes</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400" b="1" i="1" dirty="0">
                <a:solidFill>
                  <a:prstClr val="black"/>
                </a:solidFill>
                <a:latin typeface="Times New Roman" pitchFamily="18" charset="0"/>
                <a:cs typeface="Times New Roman" pitchFamily="18" charset="0"/>
              </a:rPr>
              <a:t>                                                                                </a:t>
            </a:r>
            <a:r>
              <a:rPr lang="fr-FR" sz="1400" b="1" i="1" dirty="0" err="1">
                <a:solidFill>
                  <a:prstClr val="black"/>
                </a:solidFill>
                <a:latin typeface="Times New Roman" pitchFamily="18" charset="0"/>
                <a:cs typeface="Times New Roman" pitchFamily="18" charset="0"/>
              </a:rPr>
              <a:t>Jacynthe</a:t>
            </a:r>
            <a:r>
              <a:rPr lang="fr-FR" sz="1400" b="1" i="1" dirty="0">
                <a:solidFill>
                  <a:prstClr val="black"/>
                </a:solidFill>
                <a:latin typeface="Times New Roman" pitchFamily="18" charset="0"/>
                <a:cs typeface="Times New Roman" pitchFamily="18" charset="0"/>
              </a:rPr>
              <a:t> Pouliot. Cours Intégration des données spatiales </a:t>
            </a:r>
            <a:endParaRPr lang="fr-FR" sz="1800" dirty="0">
              <a:solidFill>
                <a:schemeClr val="tx1"/>
              </a:solidFill>
              <a:latin typeface="Times New Roman" pitchFamily="18" charset="0"/>
              <a:cs typeface="Times New Roman" pitchFamily="18" charset="0"/>
            </a:endParaRPr>
          </a:p>
          <a:p>
            <a:pPr marL="114300" indent="0">
              <a:buNone/>
            </a:pPr>
            <a:endParaRPr lang="fr-FR"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39467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prstClr val="black"/>
                </a:solidFill>
                <a:latin typeface="Times New Roman" pitchFamily="18" charset="0"/>
                <a:cs typeface="Times New Roman" pitchFamily="18" charset="0"/>
              </a:rPr>
              <a:t>ATTRIBUTS OU DESCRIPTION DE LA DONNEE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114300" indent="0">
              <a:buNone/>
            </a:pPr>
            <a:r>
              <a:rPr lang="fr-FR" sz="1800" dirty="0">
                <a:solidFill>
                  <a:schemeClr val="tx1"/>
                </a:solidFill>
                <a:latin typeface="Times New Roman" pitchFamily="18" charset="0"/>
                <a:cs typeface="Times New Roman" pitchFamily="18" charset="0"/>
              </a:rPr>
              <a:t>• Échelle de mesure  Qualitative : </a:t>
            </a:r>
          </a:p>
          <a:p>
            <a:pPr marL="114300" indent="0">
              <a:buNone/>
            </a:pPr>
            <a:r>
              <a:rPr lang="fr-FR" sz="1800" dirty="0">
                <a:solidFill>
                  <a:schemeClr val="tx1"/>
                </a:solidFill>
                <a:latin typeface="Times New Roman" pitchFamily="18" charset="0"/>
                <a:cs typeface="Times New Roman" pitchFamily="18" charset="0"/>
              </a:rPr>
              <a:t>     • Nominale </a:t>
            </a:r>
          </a:p>
          <a:p>
            <a:pPr marL="114300" indent="0">
              <a:buNone/>
            </a:pPr>
            <a:r>
              <a:rPr lang="fr-FR" sz="1800" dirty="0">
                <a:solidFill>
                  <a:schemeClr val="tx1"/>
                </a:solidFill>
                <a:latin typeface="Times New Roman" pitchFamily="18" charset="0"/>
                <a:cs typeface="Times New Roman" pitchFamily="18" charset="0"/>
              </a:rPr>
              <a:t>  Ex.: résidentiel, commercial, industriel…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Ordinale</a:t>
            </a:r>
          </a:p>
          <a:p>
            <a:pPr marL="114300" indent="0">
              <a:buNone/>
            </a:pPr>
            <a:r>
              <a:rPr lang="fr-FR" sz="1800" dirty="0">
                <a:solidFill>
                  <a:schemeClr val="tx1"/>
                </a:solidFill>
                <a:latin typeface="Times New Roman" pitchFamily="18" charset="0"/>
                <a:cs typeface="Times New Roman" pitchFamily="18" charset="0"/>
              </a:rPr>
              <a:t> Ex.: pauvres, moyens, bons, riches. </a:t>
            </a:r>
          </a:p>
          <a:p>
            <a:r>
              <a:rPr lang="fr-FR" sz="1800" dirty="0">
                <a:solidFill>
                  <a:schemeClr val="tx1"/>
                </a:solidFill>
                <a:latin typeface="Times New Roman" pitchFamily="18" charset="0"/>
                <a:cs typeface="Times New Roman" pitchFamily="18" charset="0"/>
              </a:rPr>
              <a:t>Quantitative :</a:t>
            </a:r>
          </a:p>
          <a:p>
            <a:pPr marL="114300" indent="0">
              <a:buNone/>
            </a:pPr>
            <a:r>
              <a:rPr lang="fr-FR" sz="1800" dirty="0">
                <a:solidFill>
                  <a:schemeClr val="tx1"/>
                </a:solidFill>
                <a:latin typeface="Times New Roman" pitchFamily="18" charset="0"/>
                <a:cs typeface="Times New Roman" pitchFamily="18" charset="0"/>
              </a:rPr>
              <a:t>     • Intervalle </a:t>
            </a:r>
          </a:p>
          <a:p>
            <a:pPr marL="114300" indent="0">
              <a:buNone/>
            </a:pPr>
            <a:r>
              <a:rPr lang="fr-FR" sz="1800" dirty="0">
                <a:solidFill>
                  <a:schemeClr val="tx1"/>
                </a:solidFill>
                <a:latin typeface="Times New Roman" pitchFamily="18" charset="0"/>
                <a:cs typeface="Times New Roman" pitchFamily="18" charset="0"/>
              </a:rPr>
              <a:t>Ex.: élévation au dessus du NMM, année du calendrier, température…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Ratio </a:t>
            </a:r>
          </a:p>
          <a:p>
            <a:pPr marL="114300" indent="0">
              <a:buNone/>
            </a:pPr>
            <a:r>
              <a:rPr lang="fr-FR" sz="1800" dirty="0">
                <a:solidFill>
                  <a:schemeClr val="tx1"/>
                </a:solidFill>
                <a:latin typeface="Times New Roman" pitchFamily="18" charset="0"/>
                <a:cs typeface="Times New Roman" pitchFamily="18" charset="0"/>
              </a:rPr>
              <a:t>Ex.: valeur d’une maison, nombre d’habitants d’une ville…</a:t>
            </a:r>
          </a:p>
          <a:p>
            <a:pPr marL="114300" indent="0">
              <a:buNone/>
            </a:pPr>
            <a:r>
              <a:rPr lang="fr-FR" sz="1800" b="1" i="1" dirty="0">
                <a:solidFill>
                  <a:schemeClr val="tx1"/>
                </a:solidFill>
                <a:latin typeface="Times New Roman" pitchFamily="18" charset="0"/>
                <a:cs typeface="Times New Roman" pitchFamily="18" charset="0"/>
              </a:rPr>
              <a:t>                                                              </a:t>
            </a:r>
            <a:r>
              <a:rPr lang="fr-FR" sz="1400" b="1" i="1" dirty="0" err="1">
                <a:solidFill>
                  <a:schemeClr val="tx1"/>
                </a:solidFill>
                <a:latin typeface="Times New Roman" pitchFamily="18" charset="0"/>
                <a:cs typeface="Times New Roman" pitchFamily="18" charset="0"/>
              </a:rPr>
              <a:t>Jacynthe</a:t>
            </a:r>
            <a:r>
              <a:rPr lang="fr-FR" sz="1400" b="1" i="1" dirty="0">
                <a:solidFill>
                  <a:schemeClr val="tx1"/>
                </a:solidFill>
                <a:latin typeface="Times New Roman" pitchFamily="18" charset="0"/>
                <a:cs typeface="Times New Roman" pitchFamily="18" charset="0"/>
              </a:rPr>
              <a:t> Pouliot. Cours Intégration des données spatiales </a:t>
            </a:r>
          </a:p>
        </p:txBody>
      </p:sp>
    </p:spTree>
    <p:extLst>
      <p:ext uri="{BB962C8B-B14F-4D97-AF65-F5344CB8AC3E}">
        <p14:creationId xmlns:p14="http://schemas.microsoft.com/office/powerpoint/2010/main" val="3197712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La métadonnée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114300" indent="0">
              <a:buNone/>
            </a:pPr>
            <a:r>
              <a:rPr lang="fr-FR" sz="1800" dirty="0">
                <a:latin typeface="Times New Roman" pitchFamily="18" charset="0"/>
                <a:cs typeface="Times New Roman" pitchFamily="18" charset="0"/>
              </a:rPr>
              <a:t> </a:t>
            </a:r>
          </a:p>
          <a:p>
            <a:pPr marL="114300" indent="0">
              <a:buNone/>
            </a:pPr>
            <a:r>
              <a:rPr lang="fr-FR" sz="1800" dirty="0">
                <a:solidFill>
                  <a:schemeClr val="tx1"/>
                </a:solidFill>
                <a:latin typeface="Times New Roman" pitchFamily="18" charset="0"/>
                <a:cs typeface="Times New Roman" pitchFamily="18" charset="0"/>
              </a:rPr>
              <a:t>• Métadonnée : </a:t>
            </a:r>
          </a:p>
          <a:p>
            <a:pPr marL="114300" indent="0">
              <a:buNone/>
            </a:pPr>
            <a:r>
              <a:rPr lang="fr-FR" sz="1800" dirty="0">
                <a:solidFill>
                  <a:schemeClr val="tx1"/>
                </a:solidFill>
                <a:latin typeface="Times New Roman" pitchFamily="18" charset="0"/>
                <a:cs typeface="Times New Roman" pitchFamily="18" charset="0"/>
              </a:rPr>
              <a:t>«Donnée qui renseigne sur la nature de certaines autres données et qui permet ainsi leur utilisation pertinente… » -(OQLF, 2002)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Une donnée sur une donnée; </a:t>
            </a:r>
          </a:p>
          <a:p>
            <a:pPr marL="114300" indent="0">
              <a:buNone/>
            </a:pPr>
            <a:r>
              <a:rPr lang="fr-FR" sz="1800" dirty="0">
                <a:solidFill>
                  <a:schemeClr val="tx1"/>
                </a:solidFill>
                <a:latin typeface="Times New Roman" pitchFamily="18" charset="0"/>
                <a:cs typeface="Times New Roman" pitchFamily="18" charset="0"/>
              </a:rPr>
              <a:t>  -  Les métadonnées sont souvent plus importantes que la donnée elle-même;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Les métadonnées représentent une aide précieuse pour l’intégration des données spatiales;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 Elles peuvent être présentes sous différentes formes (séparées des données, ou intégrées aux données).</a:t>
            </a:r>
          </a:p>
        </p:txBody>
      </p:sp>
    </p:spTree>
    <p:extLst>
      <p:ext uri="{BB962C8B-B14F-4D97-AF65-F5344CB8AC3E}">
        <p14:creationId xmlns:p14="http://schemas.microsoft.com/office/powerpoint/2010/main" val="2847250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rgbClr val="000000"/>
                </a:solidFill>
                <a:latin typeface="Times New Roman" charset="0"/>
              </a:rPr>
              <a:t>La métadonnée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r>
              <a:rPr lang="fr-FR" dirty="0">
                <a:solidFill>
                  <a:schemeClr val="tx1"/>
                </a:solidFill>
                <a:latin typeface="Times New Roman" pitchFamily="18" charset="0"/>
                <a:cs typeface="Times New Roman" pitchFamily="18" charset="0"/>
              </a:rPr>
              <a:t>Exemples de métadonnées</a:t>
            </a:r>
          </a:p>
        </p:txBody>
      </p:sp>
      <p:grpSp>
        <p:nvGrpSpPr>
          <p:cNvPr id="4" name="Group 38"/>
          <p:cNvGrpSpPr>
            <a:grpSpLocks/>
          </p:cNvGrpSpPr>
          <p:nvPr/>
        </p:nvGrpSpPr>
        <p:grpSpPr bwMode="auto">
          <a:xfrm>
            <a:off x="827584" y="2420888"/>
            <a:ext cx="7056784" cy="3349354"/>
            <a:chOff x="1080" y="1056"/>
            <a:chExt cx="3492" cy="1884"/>
          </a:xfrm>
        </p:grpSpPr>
        <p:sp>
          <p:nvSpPr>
            <p:cNvPr id="5" name="Rectangle 37"/>
            <p:cNvSpPr>
              <a:spLocks noChangeArrowheads="1"/>
            </p:cNvSpPr>
            <p:nvPr/>
          </p:nvSpPr>
          <p:spPr bwMode="auto">
            <a:xfrm>
              <a:off x="1080" y="1056"/>
              <a:ext cx="3492" cy="1884"/>
            </a:xfrm>
            <a:prstGeom prst="rect">
              <a:avLst/>
            </a:prstGeom>
            <a:solidFill>
              <a:srgbClr val="CC9900"/>
            </a:solidFill>
            <a:ln w="9525">
              <a:solidFill>
                <a:srgbClr val="EAEAEA"/>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6" name="Text Box 34"/>
            <p:cNvSpPr txBox="1">
              <a:spLocks noChangeArrowheads="1"/>
            </p:cNvSpPr>
            <p:nvPr/>
          </p:nvSpPr>
          <p:spPr bwMode="auto">
            <a:xfrm>
              <a:off x="1260" y="1068"/>
              <a:ext cx="3312" cy="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Définition des entités</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Définition des attributs</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Explication des mesures des attributs ou méthodes de codage</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Méthodes et procédures utilisées pour délimiter les entités spatiales</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Information sur les sources des données, qualité, date</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Explications pour valeurs manquantes ou mesures inadéquates</a:t>
              </a:r>
            </a:p>
            <a:p>
              <a:pPr marL="0" marR="0" lvl="0" indent="0" algn="l" defTabSz="914400" eaLnBrk="1" fontAlgn="auto" latinLnBrk="0" hangingPunct="1">
                <a:lnSpc>
                  <a:spcPct val="100000"/>
                </a:lnSpc>
                <a:spcBef>
                  <a:spcPct val="50000"/>
                </a:spcBef>
                <a:spcAft>
                  <a:spcPts val="0"/>
                </a:spcAft>
                <a:buClrTx/>
                <a:buSzTx/>
                <a:buFontTx/>
                <a:buChar char="•"/>
                <a:tabLst/>
                <a:defRPr/>
              </a:pPr>
              <a:r>
                <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rPr>
                <a:t> Toute autre information utile sur les données </a:t>
              </a:r>
            </a:p>
            <a:p>
              <a:pPr marL="0" marR="0" lvl="0" indent="0" algn="l" defTabSz="914400" eaLnBrk="1" fontAlgn="auto" latinLnBrk="0" hangingPunct="1">
                <a:lnSpc>
                  <a:spcPct val="100000"/>
                </a:lnSpc>
                <a:spcBef>
                  <a:spcPct val="50000"/>
                </a:spcBef>
                <a:spcAft>
                  <a:spcPts val="0"/>
                </a:spcAft>
                <a:buClrTx/>
                <a:buSzTx/>
                <a:buFontTx/>
                <a:buChar char="•"/>
                <a:tabLst/>
                <a:defRPr/>
              </a:pPr>
              <a:endParaRPr kumimoji="0" lang="fr-FR" sz="1800" b="0" i="0" u="none" strike="noStrike" kern="0" cap="none" spc="0" normalizeH="0" baseline="0" noProof="0" dirty="0">
                <a:ln>
                  <a:noFill/>
                </a:ln>
                <a:solidFill>
                  <a:srgbClr val="000000"/>
                </a:solidFill>
                <a:effectLst/>
                <a:uLnTx/>
                <a:uFillTx/>
                <a:latin typeface="Times New Roman" pitchFamily="18" charset="0"/>
                <a:cs typeface="Times New Roman" pitchFamily="18" charset="0"/>
              </a:endParaRPr>
            </a:p>
          </p:txBody>
        </p:sp>
      </p:grpSp>
    </p:spTree>
    <p:extLst>
      <p:ext uri="{BB962C8B-B14F-4D97-AF65-F5344CB8AC3E}">
        <p14:creationId xmlns:p14="http://schemas.microsoft.com/office/powerpoint/2010/main" val="663486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LA METADONNEE</a:t>
            </a:r>
          </a:p>
        </p:txBody>
      </p:sp>
      <p:sp>
        <p:nvSpPr>
          <p:cNvPr id="3" name="Espace réservé du contenu 2"/>
          <p:cNvSpPr>
            <a:spLocks noGrp="1"/>
          </p:cNvSpPr>
          <p:nvPr>
            <p:ph idx="1"/>
          </p:nvPr>
        </p:nvSpPr>
        <p:spPr/>
        <p:txBody>
          <a:bodyPr>
            <a:normAutofit/>
          </a:bodyPr>
          <a:lstStyle/>
          <a:p>
            <a:pPr marL="114300" indent="0">
              <a:buNone/>
            </a:pPr>
            <a:r>
              <a:rPr lang="fr-FR" b="1" dirty="0">
                <a:latin typeface="Times New Roman" pitchFamily="18" charset="0"/>
                <a:cs typeface="Times New Roman" pitchFamily="18" charset="0"/>
              </a:rPr>
              <a:t>Normes de métadonnées : </a:t>
            </a:r>
          </a:p>
          <a:p>
            <a:pPr marL="114300" indent="0">
              <a:buNone/>
            </a:pPr>
            <a:r>
              <a:rPr lang="fr-FR" sz="1800" dirty="0">
                <a:latin typeface="Times New Roman" pitchFamily="18" charset="0"/>
                <a:cs typeface="Times New Roman" pitchFamily="18" charset="0"/>
              </a:rPr>
              <a:t> ISO 19115:2003 </a:t>
            </a:r>
            <a:r>
              <a:rPr lang="fr-FR" sz="1800" dirty="0" err="1">
                <a:latin typeface="Times New Roman" pitchFamily="18" charset="0"/>
                <a:cs typeface="Times New Roman" pitchFamily="18" charset="0"/>
              </a:rPr>
              <a:t>Geographic</a:t>
            </a:r>
            <a:r>
              <a:rPr lang="fr-FR" sz="1800" dirty="0">
                <a:latin typeface="Times New Roman" pitchFamily="18" charset="0"/>
                <a:cs typeface="Times New Roman" pitchFamily="18" charset="0"/>
              </a:rPr>
              <a:t> Information –</a:t>
            </a:r>
            <a:r>
              <a:rPr lang="fr-FR" sz="1800" dirty="0" err="1">
                <a:latin typeface="Times New Roman" pitchFamily="18" charset="0"/>
                <a:cs typeface="Times New Roman" pitchFamily="18" charset="0"/>
              </a:rPr>
              <a:t>Metadata</a:t>
            </a:r>
            <a:r>
              <a:rPr lang="fr-FR" sz="1800" dirty="0">
                <a:latin typeface="Times New Roman" pitchFamily="18" charset="0"/>
                <a:cs typeface="Times New Roman" pitchFamily="18" charset="0"/>
              </a:rPr>
              <a:t> </a:t>
            </a:r>
          </a:p>
          <a:p>
            <a:pPr marL="114300" indent="0">
              <a:buNone/>
            </a:pPr>
            <a:r>
              <a:rPr lang="fr-FR" sz="1800" dirty="0">
                <a:latin typeface="Times New Roman" pitchFamily="18" charset="0"/>
                <a:cs typeface="Times New Roman" pitchFamily="18" charset="0"/>
              </a:rPr>
              <a:t>   • Cette norme est internationale et permet de décrire les différents aspects des données; </a:t>
            </a:r>
          </a:p>
          <a:p>
            <a:pPr marL="114300" indent="0">
              <a:buNone/>
            </a:pPr>
            <a:r>
              <a:rPr lang="fr-FR" sz="1800" dirty="0">
                <a:latin typeface="Times New Roman" pitchFamily="18" charset="0"/>
                <a:cs typeface="Times New Roman" pitchFamily="18" charset="0"/>
              </a:rPr>
              <a:t>   • Elle contient une section dite «</a:t>
            </a:r>
            <a:r>
              <a:rPr lang="fr-FR" sz="1800" dirty="0" err="1">
                <a:latin typeface="Times New Roman" pitchFamily="18" charset="0"/>
                <a:cs typeface="Times New Roman" pitchFamily="18" charset="0"/>
              </a:rPr>
              <a:t>core</a:t>
            </a:r>
            <a:r>
              <a:rPr lang="fr-FR" sz="1800" dirty="0">
                <a:latin typeface="Times New Roman" pitchFamily="18" charset="0"/>
                <a:cs typeface="Times New Roman" pitchFamily="18" charset="0"/>
              </a:rPr>
              <a:t> », qui contient les éléments qui devraient toujours être présents pour décrire les métadonnées; </a:t>
            </a:r>
          </a:p>
          <a:p>
            <a:pPr marL="114300" indent="0">
              <a:buNone/>
            </a:pPr>
            <a:r>
              <a:rPr lang="fr-FR" sz="1800" dirty="0">
                <a:latin typeface="Times New Roman" pitchFamily="18" charset="0"/>
                <a:cs typeface="Times New Roman" pitchFamily="18" charset="0"/>
              </a:rPr>
              <a:t>   • Ces métadonnées sont souvent diffusées au format XML.</a:t>
            </a:r>
          </a:p>
          <a:p>
            <a:pPr marL="114300" indent="0">
              <a:buNone/>
            </a:pPr>
            <a:endParaRPr lang="fr-FR" sz="1800" dirty="0">
              <a:latin typeface="Times New Roman" pitchFamily="18" charset="0"/>
              <a:cs typeface="Times New Roman" pitchFamily="18" charset="0"/>
            </a:endParaRPr>
          </a:p>
          <a:p>
            <a:pPr marL="114300" indent="0">
              <a:buNone/>
            </a:pPr>
            <a:endParaRPr lang="fr-FR" sz="1800" dirty="0">
              <a:latin typeface="Times New Roman" pitchFamily="18" charset="0"/>
              <a:cs typeface="Times New Roman" pitchFamily="18" charset="0"/>
            </a:endParaRPr>
          </a:p>
          <a:p>
            <a:pPr marL="114300" indent="0">
              <a:buNone/>
            </a:pPr>
            <a:r>
              <a:rPr lang="fr-FR" sz="1800" dirty="0">
                <a:latin typeface="Times New Roman" pitchFamily="18" charset="0"/>
                <a:cs typeface="Times New Roman" pitchFamily="18" charset="0"/>
              </a:rPr>
              <a:t> Normes du FGDC (</a:t>
            </a:r>
            <a:r>
              <a:rPr lang="fr-FR" sz="1800" dirty="0" err="1">
                <a:latin typeface="Times New Roman" pitchFamily="18" charset="0"/>
                <a:cs typeface="Times New Roman" pitchFamily="18" charset="0"/>
              </a:rPr>
              <a:t>Federal</a:t>
            </a:r>
            <a:r>
              <a:rPr lang="fr-FR" sz="1800" dirty="0">
                <a:latin typeface="Times New Roman" pitchFamily="18" charset="0"/>
                <a:cs typeface="Times New Roman" pitchFamily="18" charset="0"/>
              </a:rPr>
              <a:t> </a:t>
            </a:r>
            <a:r>
              <a:rPr lang="fr-FR" sz="1800" dirty="0" err="1">
                <a:latin typeface="Times New Roman" pitchFamily="18" charset="0"/>
                <a:cs typeface="Times New Roman" pitchFamily="18" charset="0"/>
              </a:rPr>
              <a:t>Geographic</a:t>
            </a:r>
            <a:r>
              <a:rPr lang="fr-FR" sz="1800" dirty="0">
                <a:latin typeface="Times New Roman" pitchFamily="18" charset="0"/>
                <a:cs typeface="Times New Roman" pitchFamily="18" charset="0"/>
              </a:rPr>
              <a:t> Data </a:t>
            </a:r>
            <a:r>
              <a:rPr lang="fr-FR" sz="1800" dirty="0" err="1">
                <a:latin typeface="Times New Roman" pitchFamily="18" charset="0"/>
                <a:cs typeface="Times New Roman" pitchFamily="18" charset="0"/>
              </a:rPr>
              <a:t>Committee</a:t>
            </a:r>
            <a:r>
              <a:rPr lang="fr-FR" sz="1800" dirty="0">
                <a:latin typeface="Times New Roman" pitchFamily="18" charset="0"/>
                <a:cs typeface="Times New Roman" pitchFamily="18" charset="0"/>
              </a:rPr>
              <a:t>) </a:t>
            </a:r>
          </a:p>
          <a:p>
            <a:pPr marL="114300" indent="0">
              <a:buNone/>
            </a:pPr>
            <a:r>
              <a:rPr lang="fr-FR" sz="1800" dirty="0">
                <a:latin typeface="Times New Roman" pitchFamily="18" charset="0"/>
                <a:cs typeface="Times New Roman" pitchFamily="18" charset="0"/>
              </a:rPr>
              <a:t>    • Pour les États-Unis, mais parfois cette norme est appliquée ailleurs; </a:t>
            </a:r>
          </a:p>
          <a:p>
            <a:pPr marL="114300" indent="0">
              <a:buNone/>
            </a:pPr>
            <a:r>
              <a:rPr lang="fr-FR" sz="1800" dirty="0">
                <a:latin typeface="Times New Roman" pitchFamily="18" charset="0"/>
                <a:cs typeface="Times New Roman" pitchFamily="18" charset="0"/>
              </a:rPr>
              <a:t>    • Disponible sur le site http://www.fgdc.gov/metadata</a:t>
            </a:r>
          </a:p>
        </p:txBody>
      </p:sp>
    </p:spTree>
    <p:extLst>
      <p:ext uri="{BB962C8B-B14F-4D97-AF65-F5344CB8AC3E}">
        <p14:creationId xmlns:p14="http://schemas.microsoft.com/office/powerpoint/2010/main" val="406190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755576" y="2924944"/>
            <a:ext cx="7696200" cy="1295401"/>
          </a:xfrm>
        </p:spPr>
        <p:txBody>
          <a:bodyPr/>
          <a:lstStyle/>
          <a:p>
            <a:r>
              <a:rPr lang="fr-FR" sz="2400" dirty="0">
                <a:latin typeface="Times New Roman" pitchFamily="18" charset="0"/>
                <a:cs typeface="Times New Roman" pitchFamily="18" charset="0"/>
              </a:rPr>
              <a:t>Les systèmes de coordonnées et les projections cartographiques</a:t>
            </a:r>
          </a:p>
        </p:txBody>
      </p:sp>
      <p:sp>
        <p:nvSpPr>
          <p:cNvPr id="5" name="Espace réservé du texte 4"/>
          <p:cNvSpPr>
            <a:spLocks noGrp="1"/>
          </p:cNvSpPr>
          <p:nvPr>
            <p:ph type="body" idx="1"/>
          </p:nvPr>
        </p:nvSpPr>
        <p:spPr/>
        <p:txBody>
          <a:bodyPr/>
          <a:lstStyle/>
          <a:p>
            <a:endParaRPr lang="fr-FR"/>
          </a:p>
        </p:txBody>
      </p:sp>
    </p:spTree>
    <p:extLst>
      <p:ext uri="{BB962C8B-B14F-4D97-AF65-F5344CB8AC3E}">
        <p14:creationId xmlns:p14="http://schemas.microsoft.com/office/powerpoint/2010/main" val="3342651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INTRODUCTION</a:t>
            </a:r>
          </a:p>
        </p:txBody>
      </p:sp>
      <p:sp>
        <p:nvSpPr>
          <p:cNvPr id="5" name="Espace réservé du contenu 4"/>
          <p:cNvSpPr>
            <a:spLocks noGrp="1"/>
          </p:cNvSpPr>
          <p:nvPr>
            <p:ph idx="1"/>
          </p:nvPr>
        </p:nvSpPr>
        <p:spPr/>
        <p:txBody>
          <a:bodyPr>
            <a:normAutofit/>
          </a:bodyPr>
          <a:lstStyle/>
          <a:p>
            <a:pPr>
              <a:buClrTx/>
            </a:pPr>
            <a:endParaRPr lang="fr-FR" sz="2000" dirty="0">
              <a:solidFill>
                <a:schemeClr val="tx1"/>
              </a:solidFill>
              <a:latin typeface="Times New Roman" pitchFamily="18" charset="0"/>
              <a:cs typeface="Times New Roman" pitchFamily="18" charset="0"/>
            </a:endParaRPr>
          </a:p>
          <a:p>
            <a:pPr>
              <a:buClrTx/>
            </a:pPr>
            <a:r>
              <a:rPr lang="fr-FR" sz="2000" dirty="0">
                <a:solidFill>
                  <a:schemeClr val="tx1"/>
                </a:solidFill>
                <a:latin typeface="Times New Roman" pitchFamily="18" charset="0"/>
                <a:cs typeface="Times New Roman" pitchFamily="18" charset="0"/>
              </a:rPr>
              <a:t>Une carte est le résultat de la projection, sur la surface plane d’une feuille de papier ou d’un écran numérique, de mesures relatives à la Terre, à un corps céleste, à un monde imaginaire.</a:t>
            </a:r>
          </a:p>
          <a:p>
            <a:pPr marL="114300" indent="0">
              <a:buClrTx/>
              <a:buNone/>
            </a:pPr>
            <a:endParaRPr lang="fr-FR" sz="2000" dirty="0">
              <a:solidFill>
                <a:schemeClr val="tx1"/>
              </a:solidFill>
              <a:latin typeface="Times New Roman" pitchFamily="18" charset="0"/>
              <a:cs typeface="Times New Roman" pitchFamily="18" charset="0"/>
            </a:endParaRPr>
          </a:p>
          <a:p>
            <a:pPr>
              <a:buClrTx/>
            </a:pPr>
            <a:r>
              <a:rPr lang="fr-FR" sz="2000" dirty="0">
                <a:solidFill>
                  <a:schemeClr val="tx1"/>
                </a:solidFill>
                <a:latin typeface="Times New Roman" pitchFamily="18" charset="0"/>
                <a:cs typeface="Times New Roman" pitchFamily="18" charset="0"/>
              </a:rPr>
              <a:t> Le plus souvent, la carte est créée en deux étapes : en rapportant d’abord les données du monde physique à une surface sphérique ou ellipsoïdale (le modèle géométrique du globe), puis le résultat à un plan. </a:t>
            </a:r>
          </a:p>
          <a:p>
            <a:pPr>
              <a:buClrTx/>
            </a:pPr>
            <a:endParaRPr lang="fr-FR" sz="2000" dirty="0">
              <a:solidFill>
                <a:schemeClr val="tx1"/>
              </a:solidFill>
              <a:latin typeface="Times New Roman" pitchFamily="18" charset="0"/>
              <a:cs typeface="Times New Roman" pitchFamily="18" charset="0"/>
            </a:endParaRPr>
          </a:p>
          <a:p>
            <a:pPr>
              <a:buClrTx/>
            </a:pPr>
            <a:r>
              <a:rPr lang="fr-FR" sz="2000" dirty="0">
                <a:solidFill>
                  <a:schemeClr val="tx1"/>
                </a:solidFill>
                <a:latin typeface="Times New Roman" pitchFamily="18" charset="0"/>
                <a:cs typeface="Times New Roman" pitchFamily="18" charset="0"/>
              </a:rPr>
              <a:t>Les caractéristiques de ce modèle sont telles que les valeurs des angles, ou des distances, ou des aires qu’on y mesure sont proportionnelles à celles qu’on mesure dans la réalité</a:t>
            </a:r>
          </a:p>
        </p:txBody>
      </p:sp>
    </p:spTree>
    <p:extLst>
      <p:ext uri="{BB962C8B-B14F-4D97-AF65-F5344CB8AC3E}">
        <p14:creationId xmlns:p14="http://schemas.microsoft.com/office/powerpoint/2010/main" val="2452549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404664"/>
            <a:ext cx="8260672" cy="1111435"/>
          </a:xfrm>
        </p:spPr>
        <p:txBody>
          <a:bodyPr>
            <a:normAutofit/>
          </a:bodyPr>
          <a:lstStyle/>
          <a:p>
            <a:r>
              <a:rPr lang="fr-FR" sz="2400" dirty="0">
                <a:solidFill>
                  <a:schemeClr val="tx1"/>
                </a:solidFill>
                <a:latin typeface="Times New Roman" pitchFamily="18" charset="0"/>
                <a:cs typeface="Times New Roman" pitchFamily="18" charset="0"/>
              </a:rPr>
              <a:t>Notions de geodesie</a:t>
            </a:r>
          </a:p>
        </p:txBody>
      </p:sp>
      <p:sp>
        <p:nvSpPr>
          <p:cNvPr id="3" name="Espace réservé du contenu 2"/>
          <p:cNvSpPr>
            <a:spLocks noGrp="1"/>
          </p:cNvSpPr>
          <p:nvPr>
            <p:ph idx="1"/>
          </p:nvPr>
        </p:nvSpPr>
        <p:spPr/>
        <p:txBody>
          <a:bodyPr>
            <a:normAutofit/>
          </a:bodyPr>
          <a:lstStyle/>
          <a:p>
            <a:pPr>
              <a:buClrTx/>
              <a:buSzPct val="102000"/>
            </a:pPr>
            <a:r>
              <a:rPr lang="fr-FR" dirty="0">
                <a:solidFill>
                  <a:schemeClr val="tx1"/>
                </a:solidFill>
                <a:latin typeface="Times New Roman" pitchFamily="18" charset="0"/>
                <a:cs typeface="Times New Roman" pitchFamily="18" charset="0"/>
              </a:rPr>
              <a:t>Qu’est ce que la géodésie? </a:t>
            </a:r>
          </a:p>
          <a:p>
            <a:pPr marL="114300" indent="0">
              <a:buNone/>
            </a:pPr>
            <a:endParaRPr lang="fr-FR" dirty="0">
              <a:solidFill>
                <a:schemeClr val="tx1"/>
              </a:solidFill>
              <a:latin typeface="Times New Roman" pitchFamily="18" charset="0"/>
              <a:cs typeface="Times New Roman" pitchFamily="18" charset="0"/>
            </a:endParaRPr>
          </a:p>
          <a:p>
            <a:pPr>
              <a:buFont typeface="Wingdings" pitchFamily="2" charset="2"/>
              <a:buChar char="§"/>
            </a:pPr>
            <a:r>
              <a:rPr lang="fr-FR" sz="2000" dirty="0">
                <a:latin typeface="Times New Roman" pitchFamily="18" charset="0"/>
                <a:cs typeface="Times New Roman" pitchFamily="18" charset="0"/>
              </a:rPr>
              <a:t>   </a:t>
            </a:r>
            <a:r>
              <a:rPr lang="fr-FR" sz="2000" dirty="0">
                <a:solidFill>
                  <a:schemeClr val="tx1"/>
                </a:solidFill>
                <a:latin typeface="Times New Roman" pitchFamily="18" charset="0"/>
                <a:cs typeface="Times New Roman" pitchFamily="18" charset="0"/>
              </a:rPr>
              <a:t>C’est la science qui détermine la forme et les dimensions de la Terre dans l'espace à trois dimensions ainsi que l’étude de son champ gravitationnel.</a:t>
            </a:r>
          </a:p>
          <a:p>
            <a:pPr marL="114300" indent="0">
              <a:buNone/>
            </a:pPr>
            <a:endParaRPr lang="fr-FR" sz="2000" dirty="0">
              <a:solidFill>
                <a:schemeClr val="tx1"/>
              </a:solidFill>
              <a:latin typeface="Times New Roman" pitchFamily="18" charset="0"/>
              <a:cs typeface="Times New Roman" pitchFamily="18" charset="0"/>
            </a:endParaRPr>
          </a:p>
          <a:p>
            <a:pPr>
              <a:buFont typeface="Wingdings" pitchFamily="2" charset="2"/>
              <a:buChar char="§"/>
            </a:pPr>
            <a:r>
              <a:rPr lang="fr-FR" sz="2000" dirty="0">
                <a:solidFill>
                  <a:schemeClr val="tx1"/>
                </a:solidFill>
                <a:latin typeface="Times New Roman" pitchFamily="18" charset="0"/>
                <a:cs typeface="Times New Roman" pitchFamily="18" charset="0"/>
              </a:rPr>
              <a:t> Bien que peu connue du grand public, elle est à la base de tout ce qui touche au positionnement terrestre.</a:t>
            </a:r>
          </a:p>
          <a:p>
            <a:pPr marL="114300" indent="0">
              <a:buNone/>
            </a:pPr>
            <a:endParaRPr lang="fr-FR" dirty="0">
              <a:solidFill>
                <a:schemeClr val="tx1"/>
              </a:solidFill>
              <a:latin typeface="Times New Roman" pitchFamily="18" charset="0"/>
              <a:cs typeface="Times New Roman" pitchFamily="18" charset="0"/>
            </a:endParaRPr>
          </a:p>
          <a:p>
            <a:pPr>
              <a:buFont typeface="Wingdings" pitchFamily="2" charset="2"/>
              <a:buChar char="§"/>
            </a:pPr>
            <a:r>
              <a:rPr lang="fr-FR" sz="2000" dirty="0">
                <a:solidFill>
                  <a:schemeClr val="tx1"/>
                </a:solidFill>
                <a:latin typeface="Times New Roman" pitchFamily="18" charset="0"/>
                <a:cs typeface="Times New Roman" pitchFamily="18" charset="0"/>
              </a:rPr>
              <a:t> Un système de référence spatiale issu de la géodésie permet de se positionner, puis de positionner différents objets et travaux sur la Terre, dans un référentiel commun. – La géodésie est donc la base de toutes les étapes d’un processus de géomatique.</a:t>
            </a:r>
          </a:p>
        </p:txBody>
      </p:sp>
    </p:spTree>
    <p:extLst>
      <p:ext uri="{BB962C8B-B14F-4D97-AF65-F5344CB8AC3E}">
        <p14:creationId xmlns:p14="http://schemas.microsoft.com/office/powerpoint/2010/main" val="1265712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Surfaces de représentation de la Terre</a:t>
            </a:r>
            <a:br>
              <a:rPr lang="fr-FR" sz="2400" dirty="0">
                <a:solidFill>
                  <a:schemeClr val="tx1"/>
                </a:solidFill>
                <a:latin typeface="Times New Roman" pitchFamily="18" charset="0"/>
                <a:cs typeface="Times New Roman" pitchFamily="18" charset="0"/>
              </a:rPr>
            </a:br>
            <a:endParaRPr lang="fr-FR" sz="2400" dirty="0">
              <a:solidFill>
                <a:schemeClr val="tx1"/>
              </a:solidFill>
              <a:latin typeface="Times New Roman" pitchFamily="18" charset="0"/>
              <a:cs typeface="Times New Roman" pitchFamily="18" charset="0"/>
            </a:endParaRPr>
          </a:p>
        </p:txBody>
      </p:sp>
      <p:sp>
        <p:nvSpPr>
          <p:cNvPr id="5" name="Espace réservé du contenu 4"/>
          <p:cNvSpPr>
            <a:spLocks noGrp="1"/>
          </p:cNvSpPr>
          <p:nvPr>
            <p:ph sz="half" idx="1"/>
          </p:nvPr>
        </p:nvSpPr>
        <p:spPr/>
        <p:txBody>
          <a:bodyPr>
            <a:normAutofit/>
          </a:bodyPr>
          <a:lstStyle/>
          <a:p>
            <a:r>
              <a:rPr lang="fr-FR" sz="2000" dirty="0">
                <a:solidFill>
                  <a:schemeClr val="tx1"/>
                </a:solidFill>
                <a:latin typeface="Times New Roman" pitchFamily="18" charset="0"/>
                <a:cs typeface="Times New Roman" pitchFamily="18" charset="0"/>
              </a:rPr>
              <a:t>Il est essentiel de bien comprendre les trois surfaces qui sont étroitement liées dans l’établissement d’une référence spatiale : </a:t>
            </a:r>
          </a:p>
          <a:p>
            <a:pPr marL="114300" indent="0">
              <a:buNone/>
            </a:pPr>
            <a:r>
              <a:rPr lang="fr-FR" sz="2000" dirty="0">
                <a:solidFill>
                  <a:schemeClr val="tx1"/>
                </a:solidFill>
                <a:latin typeface="Times New Roman" pitchFamily="18" charset="0"/>
                <a:cs typeface="Times New Roman" pitchFamily="18" charset="0"/>
              </a:rPr>
              <a:t>    - la surface topographique,</a:t>
            </a:r>
          </a:p>
          <a:p>
            <a:pPr marL="114300" indent="0">
              <a:buNone/>
            </a:pPr>
            <a:r>
              <a:rPr lang="fr-FR" sz="2000" dirty="0">
                <a:solidFill>
                  <a:schemeClr val="tx1"/>
                </a:solidFill>
                <a:latin typeface="Times New Roman" pitchFamily="18" charset="0"/>
                <a:cs typeface="Times New Roman" pitchFamily="18" charset="0"/>
              </a:rPr>
              <a:t>    - le géoïde,</a:t>
            </a:r>
          </a:p>
          <a:p>
            <a:pPr marL="114300" indent="0">
              <a:buNone/>
            </a:pPr>
            <a:r>
              <a:rPr lang="fr-FR" sz="2000" dirty="0">
                <a:solidFill>
                  <a:schemeClr val="tx1"/>
                </a:solidFill>
                <a:latin typeface="Times New Roman" pitchFamily="18" charset="0"/>
                <a:cs typeface="Times New Roman" pitchFamily="18" charset="0"/>
              </a:rPr>
              <a:t>    - l’ellipsoïde. </a:t>
            </a:r>
          </a:p>
          <a:p>
            <a:pPr marL="114300" indent="0">
              <a:buNone/>
            </a:pPr>
            <a:endParaRPr lang="fr-FR" sz="2000" dirty="0">
              <a:solidFill>
                <a:schemeClr val="tx1"/>
              </a:solidFill>
              <a:latin typeface="Times New Roman" pitchFamily="18" charset="0"/>
              <a:cs typeface="Times New Roman" pitchFamily="18" charset="0"/>
            </a:endParaRPr>
          </a:p>
          <a:p>
            <a:endParaRPr lang="fr-FR" sz="2000" dirty="0">
              <a:solidFill>
                <a:schemeClr val="tx1"/>
              </a:solidFill>
              <a:latin typeface="Times New Roman" pitchFamily="18" charset="0"/>
              <a:cs typeface="Times New Roman" pitchFamily="18" charset="0"/>
            </a:endParaRPr>
          </a:p>
        </p:txBody>
      </p:sp>
      <p:sp>
        <p:nvSpPr>
          <p:cNvPr id="2" name="Espace réservé du contenu 1"/>
          <p:cNvSpPr>
            <a:spLocks noGrp="1"/>
          </p:cNvSpPr>
          <p:nvPr>
            <p:ph sz="half" idx="2"/>
          </p:nvPr>
        </p:nvSpPr>
        <p:spPr/>
        <p:txBody>
          <a:bodyPr/>
          <a:lstStyle/>
          <a:p>
            <a:endParaRPr lang="fr-F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9" y="1700808"/>
            <a:ext cx="4071194"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5058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latin typeface="Times New Roman" pitchFamily="18" charset="0"/>
                <a:cs typeface="Times New Roman" pitchFamily="18" charset="0"/>
              </a:rPr>
              <a:t>Les Surfaces de représentation de la Terre</a:t>
            </a:r>
          </a:p>
        </p:txBody>
      </p:sp>
      <p:sp>
        <p:nvSpPr>
          <p:cNvPr id="3" name="Espace réservé du contenu 2"/>
          <p:cNvSpPr>
            <a:spLocks noGrp="1"/>
          </p:cNvSpPr>
          <p:nvPr>
            <p:ph sz="half" idx="1"/>
          </p:nvPr>
        </p:nvSpPr>
        <p:spPr/>
        <p:txBody>
          <a:bodyPr>
            <a:normAutofit/>
          </a:bodyPr>
          <a:lstStyle/>
          <a:p>
            <a:pPr marL="571500" indent="-457200">
              <a:buClrTx/>
              <a:buFont typeface="+mj-lt"/>
              <a:buAutoNum type="arabicPeriod"/>
            </a:pPr>
            <a:r>
              <a:rPr lang="fr-FR" sz="2000" b="1" dirty="0">
                <a:latin typeface="Times New Roman" pitchFamily="18" charset="0"/>
                <a:cs typeface="Times New Roman" pitchFamily="18" charset="0"/>
              </a:rPr>
              <a:t>Surface topographique (de la Terre);</a:t>
            </a:r>
          </a:p>
          <a:p>
            <a:pPr marL="114300" indent="0">
              <a:buClrTx/>
              <a:buNone/>
            </a:pPr>
            <a:r>
              <a:rPr lang="fr-FR" sz="2000" dirty="0">
                <a:latin typeface="Times New Roman" pitchFamily="18" charset="0"/>
                <a:cs typeface="Times New Roman" pitchFamily="18" charset="0"/>
              </a:rPr>
              <a:t>   -   Surface solide de la Terre.</a:t>
            </a:r>
          </a:p>
          <a:p>
            <a:pPr marL="114300" indent="0">
              <a:buClrTx/>
              <a:buNone/>
            </a:pPr>
            <a:r>
              <a:rPr lang="fr-FR" sz="2000" dirty="0">
                <a:latin typeface="Times New Roman" pitchFamily="18" charset="0"/>
                <a:cs typeface="Times New Roman" pitchFamily="18" charset="0"/>
              </a:rPr>
              <a:t>   -   Surface que l’on peut mesurer.</a:t>
            </a:r>
          </a:p>
          <a:p>
            <a:pPr marL="114300" indent="0">
              <a:buClrTx/>
              <a:buNone/>
            </a:pPr>
            <a:r>
              <a:rPr lang="fr-FR" sz="2000" dirty="0">
                <a:latin typeface="Times New Roman" pitchFamily="18" charset="0"/>
                <a:cs typeface="Times New Roman" pitchFamily="18" charset="0"/>
              </a:rPr>
              <a:t>   -   Surface très irrégulière qui ne se prête donc pas du tout à une description mathématique</a:t>
            </a:r>
            <a:endParaRPr lang="fr-FR" sz="2000" b="1" dirty="0">
              <a:latin typeface="Times New Roman" pitchFamily="18" charset="0"/>
              <a:cs typeface="Times New Roman" pitchFamily="18" charset="0"/>
            </a:endParaRPr>
          </a:p>
          <a:p>
            <a:pPr marL="114300" indent="0">
              <a:buNone/>
            </a:pPr>
            <a:endParaRPr lang="fr-FR" sz="2000" b="1" dirty="0">
              <a:latin typeface="Times New Roman" pitchFamily="18" charset="0"/>
              <a:cs typeface="Times New Roman" pitchFamily="18" charset="0"/>
            </a:endParaRPr>
          </a:p>
          <a:p>
            <a:pPr marL="114300" indent="0">
              <a:buNone/>
            </a:pPr>
            <a:endParaRPr lang="fr-FR" sz="2000" b="1" dirty="0">
              <a:latin typeface="Times New Roman" pitchFamily="18" charset="0"/>
              <a:cs typeface="Times New Roman" pitchFamily="18" charset="0"/>
            </a:endParaRPr>
          </a:p>
          <a:p>
            <a:pPr marL="114300" indent="0">
              <a:buNone/>
            </a:pPr>
            <a:endParaRPr lang="fr-FR" sz="2000" b="1" dirty="0">
              <a:latin typeface="Times New Roman" pitchFamily="18" charset="0"/>
              <a:cs typeface="Times New Roman" pitchFamily="18" charset="0"/>
            </a:endParaRPr>
          </a:p>
          <a:p>
            <a:pPr marL="114300" indent="0">
              <a:buNone/>
            </a:pPr>
            <a:endParaRPr lang="fr-FR" sz="2000" b="1" dirty="0">
              <a:latin typeface="Times New Roman" pitchFamily="18" charset="0"/>
              <a:cs typeface="Times New Roman" pitchFamily="18" charset="0"/>
            </a:endParaRPr>
          </a:p>
          <a:p>
            <a:endParaRPr lang="fr-FR" sz="2000" dirty="0">
              <a:latin typeface="Times New Roman" pitchFamily="18" charset="0"/>
              <a:cs typeface="Times New Roman" pitchFamily="18" charset="0"/>
            </a:endParaRPr>
          </a:p>
        </p:txBody>
      </p:sp>
      <p:sp>
        <p:nvSpPr>
          <p:cNvPr id="4" name="Espace réservé du contenu 3"/>
          <p:cNvSpPr>
            <a:spLocks noGrp="1"/>
          </p:cNvSpPr>
          <p:nvPr>
            <p:ph sz="half" idx="2"/>
          </p:nvPr>
        </p:nvSpPr>
        <p:spPr/>
        <p:txBody>
          <a:bodyPr/>
          <a:lstStyle/>
          <a:p>
            <a:endParaRPr 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772816"/>
            <a:ext cx="3971107"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1004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r>
              <a:rPr lang="fr-FR" sz="2400" dirty="0">
                <a:latin typeface="Times New Roman" pitchFamily="18" charset="0"/>
                <a:cs typeface="Times New Roman" pitchFamily="18" charset="0"/>
              </a:rPr>
              <a:t>Les Surfaces de représentation de la Terre</a:t>
            </a:r>
          </a:p>
        </p:txBody>
      </p:sp>
      <p:sp>
        <p:nvSpPr>
          <p:cNvPr id="6" name="Espace réservé du contenu 5"/>
          <p:cNvSpPr>
            <a:spLocks noGrp="1"/>
          </p:cNvSpPr>
          <p:nvPr>
            <p:ph sz="half" idx="1"/>
          </p:nvPr>
        </p:nvSpPr>
        <p:spPr/>
        <p:txBody>
          <a:bodyPr>
            <a:normAutofit fontScale="92500" lnSpcReduction="20000"/>
          </a:bodyPr>
          <a:lstStyle/>
          <a:p>
            <a:r>
              <a:rPr lang="fr-FR" sz="2000" b="1" dirty="0">
                <a:latin typeface="Times New Roman" pitchFamily="18" charset="0"/>
                <a:cs typeface="Times New Roman" pitchFamily="18" charset="0"/>
              </a:rPr>
              <a:t>2. Géoïde;</a:t>
            </a:r>
          </a:p>
          <a:p>
            <a:r>
              <a:rPr lang="fr-FR" sz="2000" dirty="0">
                <a:latin typeface="Times New Roman" pitchFamily="18" charset="0"/>
                <a:cs typeface="Times New Roman" pitchFamily="18" charset="0"/>
              </a:rPr>
              <a:t>   -    Surface équipotentielle du champ de pesanteur, choisie arbitrairement, mais très proche du niveau des océans et que nous pouvons par la pensée prolonger sous les continents.</a:t>
            </a:r>
          </a:p>
          <a:p>
            <a:r>
              <a:rPr lang="fr-FR" sz="2000" dirty="0">
                <a:latin typeface="Times New Roman" pitchFamily="18" charset="0"/>
                <a:cs typeface="Times New Roman" pitchFamily="18" charset="0"/>
              </a:rPr>
              <a:t>  -    Correspond en général à la même force gravitationnelle partout sur sa surface. </a:t>
            </a:r>
          </a:p>
          <a:p>
            <a:r>
              <a:rPr lang="fr-FR" sz="2000" dirty="0">
                <a:latin typeface="Times New Roman" pitchFamily="18" charset="0"/>
                <a:cs typeface="Times New Roman" pitchFamily="18" charset="0"/>
              </a:rPr>
              <a:t>  -    Correspond en général à la force gravitationnelle obtenue au niveau moyen des mers (N.M.M.).</a:t>
            </a:r>
          </a:p>
          <a:p>
            <a:r>
              <a:rPr lang="fr-FR" sz="2000" dirty="0">
                <a:latin typeface="Times New Roman" pitchFamily="18" charset="0"/>
                <a:cs typeface="Times New Roman" pitchFamily="18" charset="0"/>
              </a:rPr>
              <a:t>  -      En résumé, nous pourrions imaginer que le géoïde est la vraie forme de la Terre à une altitude 0.</a:t>
            </a:r>
          </a:p>
          <a:p>
            <a:endParaRPr lang="fr-FR" dirty="0">
              <a:latin typeface="Times New Roman" pitchFamily="18" charset="0"/>
              <a:cs typeface="Times New Roman" pitchFamily="18" charset="0"/>
            </a:endParaRPr>
          </a:p>
        </p:txBody>
      </p:sp>
      <p:sp>
        <p:nvSpPr>
          <p:cNvPr id="2" name="Espace réservé du contenu 1"/>
          <p:cNvSpPr>
            <a:spLocks noGrp="1"/>
          </p:cNvSpPr>
          <p:nvPr>
            <p:ph sz="half" idx="2"/>
          </p:nvPr>
        </p:nvSpPr>
        <p:spPr/>
        <p:txBody>
          <a:bodyPr>
            <a:normAutofit fontScale="92500" lnSpcReduction="20000"/>
          </a:bodyPr>
          <a:lstStyle/>
          <a:p>
            <a:endParaRPr lang="fr-FR"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772816"/>
            <a:ext cx="4125636"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3144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a:latin typeface="Times New Roman" pitchFamily="18" charset="0"/>
                <a:cs typeface="Times New Roman" pitchFamily="18" charset="0"/>
              </a:rPr>
              <a:t>Les Surfaces de représentation de la Terre</a:t>
            </a:r>
          </a:p>
        </p:txBody>
      </p:sp>
      <p:sp>
        <p:nvSpPr>
          <p:cNvPr id="3" name="Espace réservé du contenu 2"/>
          <p:cNvSpPr>
            <a:spLocks noGrp="1"/>
          </p:cNvSpPr>
          <p:nvPr>
            <p:ph sz="half" idx="1"/>
          </p:nvPr>
        </p:nvSpPr>
        <p:spPr/>
        <p:txBody>
          <a:bodyPr>
            <a:normAutofit/>
          </a:bodyPr>
          <a:lstStyle/>
          <a:p>
            <a:pPr marL="114300" indent="0">
              <a:buNone/>
            </a:pPr>
            <a:r>
              <a:rPr lang="fr-FR" sz="2000" b="1" dirty="0">
                <a:latin typeface="Times New Roman" pitchFamily="18" charset="0"/>
                <a:cs typeface="Times New Roman" pitchFamily="18" charset="0"/>
              </a:rPr>
              <a:t>3. Ellipsoïde</a:t>
            </a:r>
          </a:p>
          <a:p>
            <a:pPr marL="114300" indent="0">
              <a:buNone/>
            </a:pPr>
            <a:r>
              <a:rPr lang="fr-FR" sz="2000" b="1" dirty="0">
                <a:latin typeface="Times New Roman" pitchFamily="18" charset="0"/>
                <a:cs typeface="Times New Roman" pitchFamily="18" charset="0"/>
              </a:rPr>
              <a:t> </a:t>
            </a:r>
            <a:r>
              <a:rPr lang="fr-FR" sz="2000" dirty="0">
                <a:latin typeface="Times New Roman" pitchFamily="18" charset="0"/>
                <a:cs typeface="Times New Roman" pitchFamily="18" charset="0"/>
              </a:rPr>
              <a:t>Solide qui convient le mieux à la représentation mathématique de la forme de la Terre. </a:t>
            </a:r>
          </a:p>
          <a:p>
            <a:pPr marL="114300" indent="0">
              <a:buNone/>
            </a:pPr>
            <a:r>
              <a:rPr lang="fr-FR" sz="2000" dirty="0">
                <a:latin typeface="Times New Roman" pitchFamily="18" charset="0"/>
                <a:cs typeface="Times New Roman" pitchFamily="18" charset="0"/>
              </a:rPr>
              <a:t> Solide engendré par la rotation d’une ellipse autour de son petit axe (b). </a:t>
            </a:r>
          </a:p>
          <a:p>
            <a:pPr marL="114300" indent="0">
              <a:buNone/>
            </a:pPr>
            <a:r>
              <a:rPr lang="fr-FR" sz="2000" dirty="0">
                <a:latin typeface="Times New Roman" pitchFamily="18" charset="0"/>
                <a:cs typeface="Times New Roman" pitchFamily="18" charset="0"/>
              </a:rPr>
              <a:t>Se définit par la longueur de son demi-grand axe (a), la longueur de son demi petit axe (b) et son aplatissement f =  (a-b)/a.</a:t>
            </a:r>
          </a:p>
          <a:p>
            <a:endParaRPr lang="fr-FR" sz="2000" dirty="0">
              <a:latin typeface="Times New Roman" pitchFamily="18" charset="0"/>
              <a:cs typeface="Times New Roman" pitchFamily="18" charset="0"/>
            </a:endParaRPr>
          </a:p>
        </p:txBody>
      </p:sp>
      <p:pic>
        <p:nvPicPr>
          <p:cNvPr id="4099"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012925"/>
            <a:ext cx="4038600" cy="38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7617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p:spPr>
        <p:txBody>
          <a:bodyPr>
            <a:normAutofit/>
          </a:bodyPr>
          <a:lstStyle/>
          <a:p>
            <a:r>
              <a:rPr lang="fr-FR" sz="2400" dirty="0">
                <a:solidFill>
                  <a:schemeClr val="tx1"/>
                </a:solidFill>
                <a:latin typeface="Times New Roman" pitchFamily="18" charset="0"/>
                <a:cs typeface="Times New Roman" pitchFamily="18" charset="0"/>
              </a:rPr>
              <a:t>Les systèmes de coordonnées</a:t>
            </a:r>
            <a:br>
              <a:rPr lang="fr-FR" sz="2400" dirty="0">
                <a:solidFill>
                  <a:schemeClr val="tx1"/>
                </a:solidFill>
                <a:latin typeface="Times New Roman" pitchFamily="18" charset="0"/>
                <a:cs typeface="Times New Roman" pitchFamily="18" charset="0"/>
              </a:rPr>
            </a:br>
            <a:endParaRPr lang="fr-FR" sz="2400" dirty="0">
              <a:solidFill>
                <a:schemeClr val="tx1"/>
              </a:solidFill>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endParaRPr lang="fr-FR" dirty="0">
              <a:latin typeface="Times New Roman" pitchFamily="18" charset="0"/>
              <a:cs typeface="Times New Roman" pitchFamily="18" charset="0"/>
            </a:endParaRPr>
          </a:p>
        </p:txBody>
      </p:sp>
      <p:sp>
        <p:nvSpPr>
          <p:cNvPr id="5" name="Rectangle 2"/>
          <p:cNvSpPr>
            <a:spLocks noChangeArrowheads="1"/>
          </p:cNvSpPr>
          <p:nvPr/>
        </p:nvSpPr>
        <p:spPr bwMode="auto">
          <a:xfrm>
            <a:off x="915988" y="1772816"/>
            <a:ext cx="7880350" cy="4424784"/>
          </a:xfrm>
          <a:prstGeom prst="rect">
            <a:avLst/>
          </a:prstGeom>
          <a:solidFill>
            <a:schemeClr val="accent1">
              <a:lumMod val="40000"/>
              <a:lumOff val="60000"/>
            </a:schemeClr>
          </a:solidFill>
          <a:ln w="9525">
            <a:solidFill>
              <a:schemeClr val="tx1"/>
            </a:solidFill>
            <a:miter lim="800000"/>
            <a:headEnd/>
            <a:tailEnd/>
          </a:ln>
        </p:spPr>
        <p:txBody>
          <a:bodyPr wrap="none" anchor="ctr"/>
          <a:lstStyle/>
          <a:p>
            <a:endParaRPr lang="en-US"/>
          </a:p>
        </p:txBody>
      </p:sp>
      <p:cxnSp>
        <p:nvCxnSpPr>
          <p:cNvPr id="6" name="AutoShape 5"/>
          <p:cNvCxnSpPr>
            <a:cxnSpLocks noChangeShapeType="1"/>
            <a:stCxn id="8" idx="4"/>
            <a:endCxn id="11" idx="0"/>
          </p:cNvCxnSpPr>
          <p:nvPr/>
        </p:nvCxnSpPr>
        <p:spPr bwMode="auto">
          <a:xfrm rot="5400000">
            <a:off x="2529681" y="1948657"/>
            <a:ext cx="1103313" cy="2432050"/>
          </a:xfrm>
          <a:prstGeom prst="bentConnector3">
            <a:avLst>
              <a:gd name="adj1" fmla="val 4992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7" name="Group 7"/>
          <p:cNvGrpSpPr>
            <a:grpSpLocks/>
          </p:cNvGrpSpPr>
          <p:nvPr/>
        </p:nvGrpSpPr>
        <p:grpSpPr bwMode="auto">
          <a:xfrm>
            <a:off x="3295650" y="2147888"/>
            <a:ext cx="2003425" cy="465137"/>
            <a:chOff x="2231" y="1362"/>
            <a:chExt cx="1262" cy="293"/>
          </a:xfrm>
          <a:solidFill>
            <a:srgbClr val="64B8D2"/>
          </a:solidFill>
        </p:grpSpPr>
        <p:sp>
          <p:nvSpPr>
            <p:cNvPr id="8" name="Oval 8"/>
            <p:cNvSpPr>
              <a:spLocks noChangeArrowheads="1"/>
            </p:cNvSpPr>
            <p:nvPr/>
          </p:nvSpPr>
          <p:spPr bwMode="auto">
            <a:xfrm>
              <a:off x="2231" y="1362"/>
              <a:ext cx="1262" cy="293"/>
            </a:xfrm>
            <a:prstGeom prst="ellipse">
              <a:avLst/>
            </a:prstGeom>
            <a:grpFill/>
            <a:ln w="9525">
              <a:solidFill>
                <a:schemeClr val="tx1"/>
              </a:solidFill>
              <a:round/>
              <a:headEnd/>
              <a:tailEnd/>
            </a:ln>
          </p:spPr>
          <p:txBody>
            <a:bodyPr wrap="none" anchor="ctr"/>
            <a:lstStyle/>
            <a:p>
              <a:endParaRPr lang="fr-FR"/>
            </a:p>
          </p:txBody>
        </p:sp>
        <p:sp>
          <p:nvSpPr>
            <p:cNvPr id="9" name="Text Box 9"/>
            <p:cNvSpPr txBox="1">
              <a:spLocks noChangeArrowheads="1"/>
            </p:cNvSpPr>
            <p:nvPr/>
          </p:nvSpPr>
          <p:spPr bwMode="auto">
            <a:xfrm>
              <a:off x="2322" y="1408"/>
              <a:ext cx="1116" cy="1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Données spatiales</a:t>
              </a:r>
            </a:p>
          </p:txBody>
        </p:sp>
      </p:grpSp>
      <p:sp>
        <p:nvSpPr>
          <p:cNvPr id="11" name="Rectangle 11"/>
          <p:cNvSpPr>
            <a:spLocks noChangeArrowheads="1"/>
          </p:cNvSpPr>
          <p:nvPr/>
        </p:nvSpPr>
        <p:spPr bwMode="auto">
          <a:xfrm>
            <a:off x="1481138" y="3716338"/>
            <a:ext cx="768350" cy="376237"/>
          </a:xfrm>
          <a:prstGeom prst="rect">
            <a:avLst/>
          </a:prstGeom>
          <a:solidFill>
            <a:srgbClr val="64B8D2"/>
          </a:solidFill>
          <a:ln w="9525">
            <a:solidFill>
              <a:schemeClr val="tx1"/>
            </a:solidFill>
            <a:miter lim="800000"/>
            <a:headEnd/>
            <a:tailEnd/>
          </a:ln>
        </p:spPr>
        <p:txBody>
          <a:bodyPr wrap="none" anchor="ctr"/>
          <a:lstStyle/>
          <a:p>
            <a:r>
              <a:rPr lang="fr-FR" dirty="0">
                <a:latin typeface="Times New Roman" pitchFamily="18" charset="0"/>
                <a:cs typeface="Times New Roman" pitchFamily="18" charset="0"/>
              </a:rPr>
              <a:t>Point</a:t>
            </a:r>
          </a:p>
        </p:txBody>
      </p:sp>
      <p:cxnSp>
        <p:nvCxnSpPr>
          <p:cNvPr id="13" name="AutoShape 19"/>
          <p:cNvCxnSpPr>
            <a:cxnSpLocks noChangeShapeType="1"/>
            <a:stCxn id="8" idx="4"/>
          </p:cNvCxnSpPr>
          <p:nvPr/>
        </p:nvCxnSpPr>
        <p:spPr bwMode="auto">
          <a:xfrm rot="16200000" flipH="1">
            <a:off x="5095875" y="1814513"/>
            <a:ext cx="1103313" cy="2700337"/>
          </a:xfrm>
          <a:prstGeom prst="bentConnector3">
            <a:avLst>
              <a:gd name="adj1" fmla="val 4992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22"/>
          <p:cNvCxnSpPr>
            <a:cxnSpLocks noChangeShapeType="1"/>
            <a:endCxn id="11" idx="2"/>
          </p:cNvCxnSpPr>
          <p:nvPr/>
        </p:nvCxnSpPr>
        <p:spPr bwMode="auto">
          <a:xfrm rot="5400000">
            <a:off x="4417220" y="1497806"/>
            <a:ext cx="42862" cy="5146675"/>
          </a:xfrm>
          <a:prstGeom prst="bentConnector3">
            <a:avLst>
              <a:gd name="adj1" fmla="val 633333"/>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5" name="AutoShape 26"/>
          <p:cNvCxnSpPr>
            <a:cxnSpLocks noChangeShapeType="1"/>
            <a:stCxn id="8" idx="6"/>
          </p:cNvCxnSpPr>
          <p:nvPr/>
        </p:nvCxnSpPr>
        <p:spPr bwMode="auto">
          <a:xfrm>
            <a:off x="5299075" y="2381250"/>
            <a:ext cx="2857500" cy="1319213"/>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 name="AutoShape 27"/>
          <p:cNvCxnSpPr>
            <a:cxnSpLocks noChangeShapeType="1"/>
          </p:cNvCxnSpPr>
          <p:nvPr/>
        </p:nvCxnSpPr>
        <p:spPr bwMode="auto">
          <a:xfrm rot="5400000">
            <a:off x="6451600" y="3476626"/>
            <a:ext cx="1139825" cy="2286000"/>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7" name="AutoShape 28"/>
          <p:cNvCxnSpPr>
            <a:cxnSpLocks noChangeShapeType="1"/>
          </p:cNvCxnSpPr>
          <p:nvPr/>
        </p:nvCxnSpPr>
        <p:spPr bwMode="auto">
          <a:xfrm rot="16200000" flipH="1">
            <a:off x="2648413" y="3338729"/>
            <a:ext cx="1125538" cy="2655888"/>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8" name="AutoShape 29"/>
          <p:cNvCxnSpPr>
            <a:cxnSpLocks noChangeShapeType="1"/>
          </p:cNvCxnSpPr>
          <p:nvPr/>
        </p:nvCxnSpPr>
        <p:spPr bwMode="auto">
          <a:xfrm rot="16200000" flipH="1">
            <a:off x="3865562" y="4525963"/>
            <a:ext cx="1109663" cy="217488"/>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9" name="AutoShape 30"/>
          <p:cNvCxnSpPr>
            <a:cxnSpLocks noChangeShapeType="1"/>
          </p:cNvCxnSpPr>
          <p:nvPr/>
        </p:nvCxnSpPr>
        <p:spPr bwMode="auto">
          <a:xfrm rot="5400000">
            <a:off x="5875338" y="4052888"/>
            <a:ext cx="1139825" cy="1133475"/>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 name="Rectangle 21"/>
          <p:cNvSpPr/>
          <p:nvPr/>
        </p:nvSpPr>
        <p:spPr>
          <a:xfrm>
            <a:off x="6445250" y="3573016"/>
            <a:ext cx="1079078" cy="530888"/>
          </a:xfrm>
          <a:prstGeom prst="rect">
            <a:avLst/>
          </a:prstGeom>
          <a:solidFill>
            <a:srgbClr val="64B8D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Times New Roman" pitchFamily="18" charset="0"/>
                <a:cs typeface="Times New Roman" pitchFamily="18" charset="0"/>
              </a:rPr>
              <a:t>Polygone</a:t>
            </a:r>
          </a:p>
        </p:txBody>
      </p:sp>
      <p:sp>
        <p:nvSpPr>
          <p:cNvPr id="23" name="Rectangle 22"/>
          <p:cNvSpPr/>
          <p:nvPr/>
        </p:nvSpPr>
        <p:spPr>
          <a:xfrm>
            <a:off x="7780536" y="3716338"/>
            <a:ext cx="767954" cy="403441"/>
          </a:xfrm>
          <a:prstGeom prst="rect">
            <a:avLst/>
          </a:prstGeom>
          <a:solidFill>
            <a:srgbClr val="64B8D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Times New Roman" pitchFamily="18" charset="0"/>
                <a:cs typeface="Times New Roman" pitchFamily="18" charset="0"/>
              </a:rPr>
              <a:t>Raster</a:t>
            </a:r>
          </a:p>
        </p:txBody>
      </p:sp>
      <p:sp>
        <p:nvSpPr>
          <p:cNvPr id="24" name="Rectangle 23"/>
          <p:cNvSpPr/>
          <p:nvPr/>
        </p:nvSpPr>
        <p:spPr>
          <a:xfrm>
            <a:off x="4529138" y="4941168"/>
            <a:ext cx="1483022" cy="504056"/>
          </a:xfrm>
          <a:prstGeom prst="rect">
            <a:avLst/>
          </a:prstGeom>
          <a:solidFill>
            <a:srgbClr val="64B8D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Times New Roman" pitchFamily="18" charset="0"/>
                <a:cs typeface="Times New Roman" pitchFamily="18" charset="0"/>
              </a:rPr>
              <a:t>Coordonnées</a:t>
            </a:r>
          </a:p>
        </p:txBody>
      </p:sp>
      <p:sp>
        <p:nvSpPr>
          <p:cNvPr id="25" name="Rectangle 24"/>
          <p:cNvSpPr/>
          <p:nvPr/>
        </p:nvSpPr>
        <p:spPr>
          <a:xfrm>
            <a:off x="3211182" y="3573016"/>
            <a:ext cx="2087893" cy="530888"/>
          </a:xfrm>
          <a:prstGeom prst="rect">
            <a:avLst/>
          </a:prstGeom>
          <a:solidFill>
            <a:srgbClr val="64B8D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Times New Roman" pitchFamily="18" charset="0"/>
                <a:cs typeface="Times New Roman" pitchFamily="18" charset="0"/>
              </a:rPr>
              <a:t>Ligne</a:t>
            </a:r>
          </a:p>
        </p:txBody>
      </p:sp>
    </p:spTree>
    <p:extLst>
      <p:ext uri="{BB962C8B-B14F-4D97-AF65-F5344CB8AC3E}">
        <p14:creationId xmlns:p14="http://schemas.microsoft.com/office/powerpoint/2010/main" val="2794933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buClrTx/>
            </a:pPr>
            <a:r>
              <a:rPr lang="fr-FR" sz="2000" dirty="0">
                <a:latin typeface="Times New Roman" pitchFamily="18" charset="0"/>
                <a:cs typeface="Times New Roman" pitchFamily="18" charset="0"/>
              </a:rPr>
              <a:t> </a:t>
            </a:r>
            <a:r>
              <a:rPr lang="fr-FR" sz="2000" dirty="0">
                <a:solidFill>
                  <a:schemeClr val="tx1"/>
                </a:solidFill>
                <a:latin typeface="Times New Roman" pitchFamily="18" charset="0"/>
                <a:cs typeface="Times New Roman" pitchFamily="18" charset="0"/>
              </a:rPr>
              <a:t>En positionnement terrestre et en cartographie, il est nécessaire d’utiliser un système de référence géodésique afin de référencer spatialement les éléments sur la Terre.</a:t>
            </a:r>
          </a:p>
          <a:p>
            <a:endParaRPr lang="fr-FR" sz="2000" dirty="0">
              <a:solidFill>
                <a:schemeClr val="tx1"/>
              </a:solidFill>
              <a:latin typeface="Times New Roman" pitchFamily="18" charset="0"/>
              <a:cs typeface="Times New Roman" pitchFamily="18" charset="0"/>
            </a:endParaRPr>
          </a:p>
          <a:p>
            <a:pPr>
              <a:buClrTx/>
            </a:pPr>
            <a:r>
              <a:rPr lang="fr-FR" sz="2000" dirty="0">
                <a:solidFill>
                  <a:schemeClr val="tx1"/>
                </a:solidFill>
                <a:latin typeface="Times New Roman" pitchFamily="18" charset="0"/>
                <a:cs typeface="Times New Roman" pitchFamily="18" charset="0"/>
              </a:rPr>
              <a:t> – Dans un référentiel, la localisation de ces objets peut s’exprimer sous différentes formes de coordonnées.</a:t>
            </a:r>
          </a:p>
          <a:p>
            <a:endParaRPr lang="fr-FR"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12794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buClrTx/>
            </a:pPr>
            <a:r>
              <a:rPr lang="fr-FR" dirty="0">
                <a:solidFill>
                  <a:schemeClr val="tx1"/>
                </a:solidFill>
                <a:latin typeface="Times New Roman" pitchFamily="18" charset="0"/>
                <a:cs typeface="Times New Roman" pitchFamily="18" charset="0"/>
              </a:rPr>
              <a:t>1.</a:t>
            </a:r>
            <a:r>
              <a:rPr lang="fr-FR" dirty="0">
                <a:latin typeface="Times New Roman" pitchFamily="18" charset="0"/>
                <a:cs typeface="Times New Roman" pitchFamily="18" charset="0"/>
              </a:rPr>
              <a:t> </a:t>
            </a:r>
            <a:r>
              <a:rPr lang="fr-FR" dirty="0">
                <a:solidFill>
                  <a:schemeClr val="tx1"/>
                </a:solidFill>
                <a:latin typeface="Times New Roman" pitchFamily="18" charset="0"/>
                <a:cs typeface="Times New Roman" pitchFamily="18" charset="0"/>
              </a:rPr>
              <a:t>Coordonnées cartésiennes géocentriques (X,Y,Z).</a:t>
            </a:r>
          </a:p>
          <a:p>
            <a:pPr marL="114300" indent="0">
              <a:buClrTx/>
              <a:buNone/>
            </a:pPr>
            <a:endParaRPr lang="fr-FR" sz="1800" dirty="0">
              <a:solidFill>
                <a:schemeClr val="tx1"/>
              </a:solidFill>
              <a:latin typeface="Times New Roman" pitchFamily="18" charset="0"/>
              <a:cs typeface="Times New Roman" pitchFamily="18" charset="0"/>
            </a:endParaRPr>
          </a:p>
          <a:p>
            <a:pPr marL="114300" indent="0">
              <a:buClrTx/>
              <a:buNone/>
            </a:pPr>
            <a:r>
              <a:rPr lang="fr-FR" sz="2000" dirty="0">
                <a:solidFill>
                  <a:schemeClr val="tx1"/>
                </a:solidFill>
                <a:latin typeface="Times New Roman" pitchFamily="18" charset="0"/>
                <a:cs typeface="Times New Roman" pitchFamily="18" charset="0"/>
              </a:rPr>
              <a:t>  – </a:t>
            </a:r>
            <a:r>
              <a:rPr lang="fr-FR" sz="1800" dirty="0">
                <a:solidFill>
                  <a:schemeClr val="tx1"/>
                </a:solidFill>
                <a:latin typeface="Times New Roman" pitchFamily="18" charset="0"/>
                <a:cs typeface="Times New Roman" pitchFamily="18" charset="0"/>
              </a:rPr>
              <a:t>L'origine de ce système est au centre de gravité des masses terrestres dont l'axe des Z est dirigé vers le pôle Nord, l'axe des X passe par le plan qui contient le méridien de Greenwich et l'axe des Y est perpendiculaire aux axes des X et des Z. </a:t>
            </a:r>
          </a:p>
          <a:p>
            <a:pPr marL="114300" indent="0">
              <a:buClrTx/>
              <a:buNone/>
            </a:pPr>
            <a:r>
              <a:rPr lang="fr-FR" sz="1800" dirty="0">
                <a:solidFill>
                  <a:schemeClr val="tx1"/>
                </a:solidFill>
                <a:latin typeface="Times New Roman" pitchFamily="18" charset="0"/>
                <a:cs typeface="Times New Roman" pitchFamily="18" charset="0"/>
              </a:rPr>
              <a:t>  – Indiquent la position de points sur la surface topographique de la Terre ou la position des satellites dans l'espace.</a:t>
            </a:r>
          </a:p>
          <a:p>
            <a:pPr marL="114300" indent="0">
              <a:buClrTx/>
              <a:buNone/>
            </a:pPr>
            <a:r>
              <a:rPr lang="fr-FR" sz="1800" dirty="0">
                <a:solidFill>
                  <a:schemeClr val="tx1"/>
                </a:solidFill>
                <a:latin typeface="Times New Roman" pitchFamily="18" charset="0"/>
                <a:cs typeface="Times New Roman" pitchFamily="18" charset="0"/>
              </a:rPr>
              <a:t>  – Souvent utilisées comme système de coordonnées intermédiaires lors des calculs de changement de systèmes de référence géodésique. </a:t>
            </a:r>
          </a:p>
          <a:p>
            <a:pPr marL="114300" indent="0">
              <a:buClrTx/>
              <a:buNone/>
            </a:pPr>
            <a:r>
              <a:rPr lang="fr-FR" sz="1800" dirty="0">
                <a:solidFill>
                  <a:schemeClr val="tx1"/>
                </a:solidFill>
                <a:latin typeface="Times New Roman" pitchFamily="18" charset="0"/>
                <a:cs typeface="Times New Roman" pitchFamily="18" charset="0"/>
              </a:rPr>
              <a:t>  – Utilisées par le GPS.</a:t>
            </a:r>
          </a:p>
          <a:p>
            <a:pPr marL="114300" indent="0">
              <a:buClrTx/>
              <a:buNone/>
            </a:pPr>
            <a:endParaRPr lang="fr-FR" sz="2000" dirty="0">
              <a:solidFill>
                <a:schemeClr val="tx1"/>
              </a:solidFill>
              <a:latin typeface="Times New Roman" pitchFamily="18" charset="0"/>
              <a:cs typeface="Times New Roman" pitchFamily="18" charset="0"/>
            </a:endParaRPr>
          </a:p>
          <a:p>
            <a:pPr marL="114300" indent="0">
              <a:buClrTx/>
              <a:buNone/>
            </a:pPr>
            <a:endParaRPr lang="fr-FR" sz="2000" dirty="0">
              <a:solidFill>
                <a:schemeClr val="tx1"/>
              </a:solidFill>
              <a:latin typeface="Times New Roman" pitchFamily="18" charset="0"/>
              <a:cs typeface="Times New Roman" pitchFamily="18" charset="0"/>
            </a:endParaRPr>
          </a:p>
          <a:p>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31735751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r>
              <a:rPr lang="fr-FR" sz="2600" dirty="0">
                <a:solidFill>
                  <a:schemeClr val="tx1"/>
                </a:solidFill>
                <a:latin typeface="Times New Roman" pitchFamily="18" charset="0"/>
                <a:cs typeface="Times New Roman" pitchFamily="18" charset="0"/>
              </a:rPr>
              <a:t> 2. Coordonnées géographiques (</a:t>
            </a:r>
            <a:r>
              <a:rPr lang="el-GR" sz="2600" dirty="0">
                <a:solidFill>
                  <a:schemeClr val="tx1"/>
                </a:solidFill>
                <a:latin typeface="Times New Roman" pitchFamily="18" charset="0"/>
                <a:cs typeface="Times New Roman" pitchFamily="18" charset="0"/>
              </a:rPr>
              <a:t>φ,λ.</a:t>
            </a:r>
            <a:r>
              <a:rPr lang="fr-FR" sz="2600" dirty="0">
                <a:solidFill>
                  <a:schemeClr val="tx1"/>
                </a:solidFill>
                <a:latin typeface="Times New Roman" pitchFamily="18" charset="0"/>
                <a:cs typeface="Times New Roman" pitchFamily="18" charset="0"/>
              </a:rPr>
              <a:t>h).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 </a:t>
            </a:r>
            <a:r>
              <a:rPr lang="fr-FR" sz="2100" dirty="0">
                <a:solidFill>
                  <a:schemeClr val="tx1"/>
                </a:solidFill>
                <a:latin typeface="Times New Roman" pitchFamily="18" charset="0"/>
                <a:cs typeface="Times New Roman" pitchFamily="18" charset="0"/>
              </a:rPr>
              <a:t>- </a:t>
            </a:r>
            <a:r>
              <a:rPr lang="fr-FR" sz="1800" dirty="0">
                <a:solidFill>
                  <a:schemeClr val="tx1"/>
                </a:solidFill>
                <a:latin typeface="Times New Roman" pitchFamily="18" charset="0"/>
                <a:cs typeface="Times New Roman" pitchFamily="18" charset="0"/>
              </a:rPr>
              <a:t>Les coordonnées géodésiques sont la latitude géodésique et la longitude géodésique, avec ou sans la hauteur. On les appelle aussi coordonnées ellipsoïdales.</a:t>
            </a:r>
          </a:p>
          <a:p>
            <a:pPr marL="114300" indent="0">
              <a:buNone/>
            </a:pPr>
            <a:r>
              <a:rPr lang="fr-FR" sz="1800" dirty="0">
                <a:solidFill>
                  <a:schemeClr val="tx1"/>
                </a:solidFill>
                <a:latin typeface="Times New Roman" pitchFamily="18" charset="0"/>
                <a:cs typeface="Times New Roman" pitchFamily="18" charset="0"/>
              </a:rPr>
              <a:t> </a:t>
            </a:r>
          </a:p>
          <a:p>
            <a:pPr marL="114300" indent="0">
              <a:buNone/>
            </a:pPr>
            <a:r>
              <a:rPr lang="fr-FR" sz="1800" dirty="0">
                <a:solidFill>
                  <a:schemeClr val="tx1"/>
                </a:solidFill>
                <a:latin typeface="Times New Roman" pitchFamily="18" charset="0"/>
                <a:cs typeface="Times New Roman" pitchFamily="18" charset="0"/>
              </a:rPr>
              <a:t>  Elles sont obtenues à l'aide de deux valeurs angulaires : la latitude (ϕ), calculée à partir de l’équateur en direction nord ou sud et la longitude (λ), calculée à partir du méridien d’origine en direction est ou ouest. </a:t>
            </a:r>
          </a:p>
          <a:p>
            <a:pPr marL="114300" indent="0">
              <a:buNone/>
            </a:pPr>
            <a:endParaRPr lang="fr-FR" sz="1800" dirty="0">
              <a:solidFill>
                <a:schemeClr val="tx1"/>
              </a:solidFill>
              <a:latin typeface="Times New Roman" pitchFamily="18" charset="0"/>
              <a:cs typeface="Times New Roman" pitchFamily="18" charset="0"/>
            </a:endParaRPr>
          </a:p>
          <a:p>
            <a:pPr marL="114300" indent="0">
              <a:buNone/>
            </a:pPr>
            <a:r>
              <a:rPr lang="fr-FR" sz="1800" dirty="0">
                <a:solidFill>
                  <a:schemeClr val="tx1"/>
                </a:solidFill>
                <a:latin typeface="Times New Roman" pitchFamily="18" charset="0"/>
                <a:cs typeface="Times New Roman" pitchFamily="18" charset="0"/>
              </a:rPr>
              <a:t>La latitude géodésique est habituellement comptée dans l’intervalle [– 90°, 90°] et est identifiée par la lettre grecque φ (phi). Elle (la latitude géodésique) croît en direction du nord, et décroît en direction du sud.</a:t>
            </a:r>
          </a:p>
        </p:txBody>
      </p:sp>
    </p:spTree>
    <p:extLst>
      <p:ext uri="{BB962C8B-B14F-4D97-AF65-F5344CB8AC3E}">
        <p14:creationId xmlns:p14="http://schemas.microsoft.com/office/powerpoint/2010/main" val="39178648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114300" indent="0">
              <a:buNone/>
            </a:pPr>
            <a:r>
              <a:rPr lang="fr-FR" sz="2000" dirty="0">
                <a:solidFill>
                  <a:schemeClr val="tx1"/>
                </a:solidFill>
                <a:latin typeface="Times New Roman" pitchFamily="18" charset="0"/>
                <a:cs typeface="Times New Roman" pitchFamily="18" charset="0"/>
              </a:rPr>
              <a:t>. </a:t>
            </a:r>
            <a:r>
              <a:rPr lang="fr-FR" sz="1800" dirty="0">
                <a:solidFill>
                  <a:schemeClr val="tx1"/>
                </a:solidFill>
                <a:latin typeface="Times New Roman" pitchFamily="18" charset="0"/>
                <a:cs typeface="Times New Roman" pitchFamily="18" charset="0"/>
              </a:rPr>
              <a:t>La longitude géodésique est le plus souvent comptée dans l’intervalle [ -180°, 180°] et est identifiée par la lettre grecque λ (lambda). La longitude géodésique croît en direction de l’est, et décroît en direction de l’ouest. </a:t>
            </a:r>
          </a:p>
          <a:p>
            <a:pPr>
              <a:buFontTx/>
              <a:buChar char="-"/>
            </a:pPr>
            <a:r>
              <a:rPr lang="fr-FR" sz="1800" dirty="0">
                <a:solidFill>
                  <a:schemeClr val="tx1"/>
                </a:solidFill>
                <a:latin typeface="Times New Roman" pitchFamily="18" charset="0"/>
                <a:cs typeface="Times New Roman" pitchFamily="18" charset="0"/>
              </a:rPr>
              <a:t>N'ont aucun sens si l’on ne les accompagne pas d’informations sur le système de référence géodésique dans lequel elles sont exprimées. </a:t>
            </a:r>
          </a:p>
          <a:p>
            <a:pPr>
              <a:buFontTx/>
              <a:buChar char="-"/>
            </a:pPr>
            <a:endParaRPr lang="fr-FR" sz="1800" dirty="0">
              <a:solidFill>
                <a:schemeClr val="tx1"/>
              </a:solidFill>
              <a:latin typeface="Times New Roman" pitchFamily="18" charset="0"/>
              <a:cs typeface="Times New Roman" pitchFamily="18" charset="0"/>
            </a:endParaRPr>
          </a:p>
          <a:p>
            <a:pPr>
              <a:buFontTx/>
              <a:buChar char="-"/>
            </a:pPr>
            <a:r>
              <a:rPr lang="fr-FR" sz="1800" dirty="0">
                <a:solidFill>
                  <a:schemeClr val="tx1"/>
                </a:solidFill>
                <a:latin typeface="Times New Roman" pitchFamily="18" charset="0"/>
                <a:cs typeface="Times New Roman" pitchFamily="18" charset="0"/>
              </a:rPr>
              <a:t>Les systèmes de coordonnées cartésiennes et géographiques sont inter reliés par la relation de transformation : X = R cos ϕ cos λ </a:t>
            </a:r>
          </a:p>
          <a:p>
            <a:pPr marL="114300" indent="0">
              <a:buNone/>
            </a:pPr>
            <a:r>
              <a:rPr lang="fr-FR" sz="1800" dirty="0">
                <a:solidFill>
                  <a:schemeClr val="tx1"/>
                </a:solidFill>
                <a:latin typeface="Times New Roman" pitchFamily="18" charset="0"/>
                <a:cs typeface="Times New Roman" pitchFamily="18" charset="0"/>
              </a:rPr>
              <a:t>                                                 Y = R cos ϕ sin λ</a:t>
            </a:r>
          </a:p>
          <a:p>
            <a:pPr marL="114300" indent="0">
              <a:buNone/>
            </a:pPr>
            <a:r>
              <a:rPr lang="fr-FR" sz="1800" dirty="0">
                <a:solidFill>
                  <a:schemeClr val="tx1"/>
                </a:solidFill>
                <a:latin typeface="Times New Roman" pitchFamily="18" charset="0"/>
                <a:cs typeface="Times New Roman" pitchFamily="18" charset="0"/>
              </a:rPr>
              <a:t>                                                 Z = R sin ϕ </a:t>
            </a:r>
          </a:p>
          <a:p>
            <a:pPr>
              <a:buFontTx/>
              <a:buChar char="-"/>
            </a:pPr>
            <a:r>
              <a:rPr lang="fr-FR" sz="1800" dirty="0">
                <a:solidFill>
                  <a:schemeClr val="tx1"/>
                </a:solidFill>
                <a:latin typeface="Times New Roman" pitchFamily="18" charset="0"/>
                <a:cs typeface="Times New Roman" pitchFamily="18" charset="0"/>
              </a:rPr>
              <a:t>où R est le rayon de la Terre sphérique </a:t>
            </a:r>
          </a:p>
          <a:p>
            <a:pPr marL="114300" indent="0">
              <a:buNone/>
            </a:pPr>
            <a:r>
              <a:rPr lang="fr-FR" sz="2000" dirty="0">
                <a:solidFill>
                  <a:schemeClr val="tx1"/>
                </a:solidFill>
                <a:latin typeface="Times New Roman" pitchFamily="18" charset="0"/>
                <a:cs typeface="Times New Roman" pitchFamily="18" charset="0"/>
              </a:rPr>
              <a:t>     </a:t>
            </a:r>
          </a:p>
          <a:p>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395580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p>
        </p:txBody>
      </p:sp>
      <p:sp>
        <p:nvSpPr>
          <p:cNvPr id="3" name="Espace réservé du contenu 2"/>
          <p:cNvSpPr>
            <a:spLocks noGrp="1"/>
          </p:cNvSpPr>
          <p:nvPr>
            <p:ph idx="1"/>
          </p:nvPr>
        </p:nvSpPr>
        <p:spPr/>
        <p:txBody>
          <a:bodyPr>
            <a:normAutofit/>
          </a:bodyPr>
          <a:lstStyle/>
          <a:p>
            <a:pPr marL="114300" lvl="0" indent="0">
              <a:buClr>
                <a:srgbClr val="93A299"/>
              </a:buClr>
              <a:buNone/>
            </a:pPr>
            <a:r>
              <a:rPr lang="fr-FR" sz="2000" dirty="0">
                <a:solidFill>
                  <a:prstClr val="black"/>
                </a:solidFill>
                <a:latin typeface="Times New Roman" pitchFamily="18" charset="0"/>
                <a:cs typeface="Times New Roman" pitchFamily="18" charset="0"/>
              </a:rPr>
              <a:t>3. Coordonnées projetées (planes).</a:t>
            </a:r>
          </a:p>
          <a:p>
            <a:pPr marL="114300" lvl="0" indent="0">
              <a:buClr>
                <a:srgbClr val="93A299"/>
              </a:buClr>
              <a:buNone/>
            </a:pPr>
            <a:r>
              <a:rPr lang="fr-FR" sz="2000" dirty="0">
                <a:solidFill>
                  <a:prstClr val="black"/>
                </a:solidFill>
                <a:latin typeface="Times New Roman" pitchFamily="18" charset="0"/>
                <a:cs typeface="Times New Roman" pitchFamily="18" charset="0"/>
              </a:rPr>
              <a:t> </a:t>
            </a:r>
            <a:r>
              <a:rPr lang="fr-FR" sz="1800" dirty="0">
                <a:solidFill>
                  <a:prstClr val="black"/>
                </a:solidFill>
                <a:latin typeface="Times New Roman" pitchFamily="18" charset="0"/>
                <a:cs typeface="Times New Roman" pitchFamily="18" charset="0"/>
              </a:rPr>
              <a:t>La conversion de positions géographiques (ϕ, λ) d’une surface courbe (sphère ou ellipsoïde) sur une surface plane nécessite l’utilisation d’une formule mathématique appelée projection cartographique. </a:t>
            </a:r>
          </a:p>
          <a:p>
            <a:pPr marL="114300" lvl="0" indent="0">
              <a:buClr>
                <a:srgbClr val="93A299"/>
              </a:buClr>
              <a:buNone/>
            </a:pPr>
            <a:endParaRPr lang="fr-FR" sz="1800" dirty="0">
              <a:solidFill>
                <a:prstClr val="black"/>
              </a:solidFill>
              <a:latin typeface="Times New Roman" pitchFamily="18" charset="0"/>
              <a:cs typeface="Times New Roman" pitchFamily="18" charset="0"/>
            </a:endParaRPr>
          </a:p>
          <a:p>
            <a:pPr marL="114300" lvl="0" indent="0">
              <a:buClr>
                <a:srgbClr val="93A299"/>
              </a:buClr>
              <a:buNone/>
            </a:pPr>
            <a:r>
              <a:rPr lang="fr-FR" sz="1800" dirty="0">
                <a:solidFill>
                  <a:prstClr val="black"/>
                </a:solidFill>
                <a:latin typeface="Times New Roman" pitchFamily="18" charset="0"/>
                <a:cs typeface="Times New Roman" pitchFamily="18" charset="0"/>
              </a:rPr>
              <a:t>Une fois cette projection définie, la localisation d'un élément peut alors s'exprimer sous la forme de coordonnées planes à l'aide de deux valeurs linéaires : x, y.</a:t>
            </a:r>
          </a:p>
          <a:p>
            <a:pPr marL="114300" lvl="0" indent="0">
              <a:buClr>
                <a:srgbClr val="93A299"/>
              </a:buClr>
              <a:buNone/>
            </a:pPr>
            <a:endParaRPr lang="fr-FR" sz="2000" dirty="0">
              <a:solidFill>
                <a:prstClr val="black"/>
              </a:solidFill>
              <a:latin typeface="Times New Roman" pitchFamily="18" charset="0"/>
              <a:cs typeface="Times New Roman" pitchFamily="18" charset="0"/>
            </a:endParaRPr>
          </a:p>
          <a:p>
            <a:endParaRPr lang="fr-FR" sz="1800" dirty="0">
              <a:latin typeface="Times New Roman" pitchFamily="18" charset="0"/>
              <a:cs typeface="Times New Roman" pitchFamily="18" charset="0"/>
            </a:endParaRPr>
          </a:p>
        </p:txBody>
      </p:sp>
    </p:spTree>
    <p:extLst>
      <p:ext uri="{BB962C8B-B14F-4D97-AF65-F5344CB8AC3E}">
        <p14:creationId xmlns:p14="http://schemas.microsoft.com/office/powerpoint/2010/main" val="22546291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br>
              <a:rPr lang="fr-FR" sz="2400" dirty="0">
                <a:solidFill>
                  <a:schemeClr val="tx1"/>
                </a:solidFill>
                <a:latin typeface="Times New Roman" pitchFamily="18" charset="0"/>
                <a:cs typeface="Times New Roman" pitchFamily="18" charset="0"/>
              </a:rPr>
            </a:br>
            <a:endParaRPr lang="fr-FR" sz="24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5835" y="2000685"/>
            <a:ext cx="7852329" cy="387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2196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br>
              <a:rPr lang="fr-FR" sz="2400" dirty="0">
                <a:solidFill>
                  <a:schemeClr val="tx1"/>
                </a:solidFill>
                <a:latin typeface="Times New Roman" pitchFamily="18" charset="0"/>
                <a:cs typeface="Times New Roman" pitchFamily="18" charset="0"/>
              </a:rPr>
            </a:b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endParaRPr lang="fr-FR" dirty="0"/>
          </a:p>
        </p:txBody>
      </p:sp>
      <p:sp>
        <p:nvSpPr>
          <p:cNvPr id="12" name="Rectangle 5"/>
          <p:cNvSpPr>
            <a:spLocks noChangeArrowheads="1"/>
          </p:cNvSpPr>
          <p:nvPr/>
        </p:nvSpPr>
        <p:spPr bwMode="auto">
          <a:xfrm>
            <a:off x="1001713" y="1509712"/>
            <a:ext cx="7591425" cy="3575471"/>
          </a:xfrm>
          <a:prstGeom prst="rect">
            <a:avLst/>
          </a:prstGeom>
          <a:solidFill>
            <a:schemeClr val="folHlink"/>
          </a:solidFill>
          <a:ln w="9525">
            <a:solidFill>
              <a:schemeClr val="tx1"/>
            </a:solidFill>
            <a:miter lim="800000"/>
            <a:headEnd/>
            <a:tailEnd/>
          </a:ln>
        </p:spPr>
        <p:txBody>
          <a:bodyPr wrap="none" anchor="ctr"/>
          <a:lstStyle/>
          <a:p>
            <a:endParaRPr lang="fr-FR"/>
          </a:p>
        </p:txBody>
      </p:sp>
      <p:sp>
        <p:nvSpPr>
          <p:cNvPr id="13" name="Oval 7"/>
          <p:cNvSpPr>
            <a:spLocks noChangeArrowheads="1"/>
          </p:cNvSpPr>
          <p:nvPr/>
        </p:nvSpPr>
        <p:spPr bwMode="auto">
          <a:xfrm>
            <a:off x="3932238" y="1509713"/>
            <a:ext cx="1639888" cy="595313"/>
          </a:xfrm>
          <a:prstGeom prst="ellipse">
            <a:avLst/>
          </a:prstGeom>
          <a:solidFill>
            <a:srgbClr val="B8C5E0"/>
          </a:solidFill>
          <a:ln w="9525">
            <a:solidFill>
              <a:schemeClr val="tx1"/>
            </a:solidFill>
            <a:round/>
            <a:headEnd/>
            <a:tailEnd/>
          </a:ln>
        </p:spPr>
        <p:txBody>
          <a:bodyPr wrap="none" anchor="ctr"/>
          <a:lstStyle/>
          <a:p>
            <a:endParaRPr lang="fr-FR"/>
          </a:p>
        </p:txBody>
      </p:sp>
      <p:sp>
        <p:nvSpPr>
          <p:cNvPr id="14" name="Rectangle 9"/>
          <p:cNvSpPr>
            <a:spLocks noChangeArrowheads="1"/>
          </p:cNvSpPr>
          <p:nvPr/>
        </p:nvSpPr>
        <p:spPr bwMode="auto">
          <a:xfrm>
            <a:off x="1581151" y="2425701"/>
            <a:ext cx="1349375" cy="609600"/>
          </a:xfrm>
          <a:prstGeom prst="rect">
            <a:avLst/>
          </a:prstGeom>
          <a:solidFill>
            <a:srgbClr val="B8C5E0"/>
          </a:solidFill>
          <a:ln w="9525">
            <a:solidFill>
              <a:schemeClr val="tx1"/>
            </a:solidFill>
            <a:miter lim="800000"/>
            <a:headEnd/>
            <a:tailEnd/>
          </a:ln>
        </p:spPr>
        <p:txBody>
          <a:bodyPr wrap="none" anchor="ctr"/>
          <a:lstStyle/>
          <a:p>
            <a:endParaRPr lang="fr-FR"/>
          </a:p>
        </p:txBody>
      </p:sp>
      <p:sp>
        <p:nvSpPr>
          <p:cNvPr id="15" name="Text Box 10"/>
          <p:cNvSpPr txBox="1">
            <a:spLocks noChangeArrowheads="1"/>
          </p:cNvSpPr>
          <p:nvPr/>
        </p:nvSpPr>
        <p:spPr bwMode="auto">
          <a:xfrm>
            <a:off x="1581151" y="2454276"/>
            <a:ext cx="15684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Référence géographique</a:t>
            </a:r>
          </a:p>
        </p:txBody>
      </p:sp>
      <p:sp>
        <p:nvSpPr>
          <p:cNvPr id="16" name="Rectangle 12"/>
          <p:cNvSpPr>
            <a:spLocks noChangeArrowheads="1"/>
          </p:cNvSpPr>
          <p:nvPr/>
        </p:nvSpPr>
        <p:spPr bwMode="auto">
          <a:xfrm>
            <a:off x="6516689" y="2427288"/>
            <a:ext cx="1581150" cy="652463"/>
          </a:xfrm>
          <a:prstGeom prst="rect">
            <a:avLst/>
          </a:prstGeom>
          <a:solidFill>
            <a:srgbClr val="B8C5E0"/>
          </a:solidFill>
          <a:ln w="9525">
            <a:solidFill>
              <a:schemeClr val="tx1"/>
            </a:solidFill>
            <a:miter lim="800000"/>
            <a:headEnd/>
            <a:tailEnd/>
          </a:ln>
        </p:spPr>
        <p:txBody>
          <a:bodyPr wrap="none" anchor="ctr"/>
          <a:lstStyle/>
          <a:p>
            <a:endParaRPr lang="fr-FR"/>
          </a:p>
        </p:txBody>
      </p:sp>
      <p:sp>
        <p:nvSpPr>
          <p:cNvPr id="17" name="Text Box 13"/>
          <p:cNvSpPr txBox="1">
            <a:spLocks noChangeArrowheads="1"/>
          </p:cNvSpPr>
          <p:nvPr/>
        </p:nvSpPr>
        <p:spPr bwMode="auto">
          <a:xfrm>
            <a:off x="6442799" y="2484438"/>
            <a:ext cx="2060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Projection cartographique</a:t>
            </a:r>
          </a:p>
        </p:txBody>
      </p:sp>
      <p:sp>
        <p:nvSpPr>
          <p:cNvPr id="18" name="Rectangle 15"/>
          <p:cNvSpPr>
            <a:spLocks noChangeArrowheads="1"/>
          </p:cNvSpPr>
          <p:nvPr/>
        </p:nvSpPr>
        <p:spPr bwMode="auto">
          <a:xfrm>
            <a:off x="1408113" y="3846513"/>
            <a:ext cx="1684338" cy="422275"/>
          </a:xfrm>
          <a:prstGeom prst="rect">
            <a:avLst/>
          </a:prstGeom>
          <a:solidFill>
            <a:srgbClr val="B8C5E0"/>
          </a:solidFill>
          <a:ln w="9525">
            <a:solidFill>
              <a:schemeClr val="tx1"/>
            </a:solidFill>
            <a:miter lim="800000"/>
            <a:headEnd/>
            <a:tailEnd/>
          </a:ln>
        </p:spPr>
        <p:txBody>
          <a:bodyPr wrap="none" anchor="ctr"/>
          <a:lstStyle/>
          <a:p>
            <a:endParaRPr lang="fr-FR"/>
          </a:p>
        </p:txBody>
      </p:sp>
      <p:sp>
        <p:nvSpPr>
          <p:cNvPr id="19" name="Text Box 16"/>
          <p:cNvSpPr txBox="1">
            <a:spLocks noChangeArrowheads="1"/>
          </p:cNvSpPr>
          <p:nvPr/>
        </p:nvSpPr>
        <p:spPr bwMode="auto">
          <a:xfrm>
            <a:off x="1371601" y="3917951"/>
            <a:ext cx="2365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Latitude, longitude</a:t>
            </a:r>
          </a:p>
        </p:txBody>
      </p:sp>
      <p:sp>
        <p:nvSpPr>
          <p:cNvPr id="20" name="Rectangle 18"/>
          <p:cNvSpPr>
            <a:spLocks noChangeArrowheads="1"/>
          </p:cNvSpPr>
          <p:nvPr/>
        </p:nvSpPr>
        <p:spPr bwMode="auto">
          <a:xfrm>
            <a:off x="6921501" y="3832226"/>
            <a:ext cx="755650" cy="376238"/>
          </a:xfrm>
          <a:prstGeom prst="rect">
            <a:avLst/>
          </a:prstGeom>
          <a:solidFill>
            <a:srgbClr val="B8C5E0"/>
          </a:solidFill>
          <a:ln w="9525">
            <a:solidFill>
              <a:schemeClr val="tx1"/>
            </a:solidFill>
            <a:miter lim="800000"/>
            <a:headEnd/>
            <a:tailEnd/>
          </a:ln>
        </p:spPr>
        <p:txBody>
          <a:bodyPr wrap="none" anchor="ctr"/>
          <a:lstStyle/>
          <a:p>
            <a:endParaRPr lang="fr-FR"/>
          </a:p>
        </p:txBody>
      </p:sp>
      <p:sp>
        <p:nvSpPr>
          <p:cNvPr id="21" name="Text Box 19"/>
          <p:cNvSpPr txBox="1">
            <a:spLocks noChangeArrowheads="1"/>
          </p:cNvSpPr>
          <p:nvPr/>
        </p:nvSpPr>
        <p:spPr bwMode="auto">
          <a:xfrm>
            <a:off x="6876133" y="3900687"/>
            <a:ext cx="1437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X, Y</a:t>
            </a:r>
          </a:p>
        </p:txBody>
      </p:sp>
      <p:cxnSp>
        <p:nvCxnSpPr>
          <p:cNvPr id="22" name="AutoShape 20"/>
          <p:cNvCxnSpPr>
            <a:cxnSpLocks noChangeShapeType="1"/>
          </p:cNvCxnSpPr>
          <p:nvPr/>
        </p:nvCxnSpPr>
        <p:spPr bwMode="auto">
          <a:xfrm rot="10800000" flipV="1">
            <a:off x="2255839" y="1811337"/>
            <a:ext cx="1679574" cy="614363"/>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3" name="AutoShape 21"/>
          <p:cNvCxnSpPr>
            <a:cxnSpLocks noChangeShapeType="1"/>
            <a:stCxn id="14" idx="2"/>
            <a:endCxn id="18" idx="0"/>
          </p:cNvCxnSpPr>
          <p:nvPr/>
        </p:nvCxnSpPr>
        <p:spPr bwMode="auto">
          <a:xfrm flipH="1">
            <a:off x="2251076" y="3035301"/>
            <a:ext cx="4763" cy="8112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22"/>
          <p:cNvCxnSpPr>
            <a:cxnSpLocks noChangeShapeType="1"/>
            <a:stCxn id="16" idx="2"/>
            <a:endCxn id="20" idx="0"/>
          </p:cNvCxnSpPr>
          <p:nvPr/>
        </p:nvCxnSpPr>
        <p:spPr bwMode="auto">
          <a:xfrm flipH="1">
            <a:off x="7299326" y="3079751"/>
            <a:ext cx="7938" cy="7524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23"/>
          <p:cNvCxnSpPr>
            <a:cxnSpLocks noChangeShapeType="1"/>
          </p:cNvCxnSpPr>
          <p:nvPr/>
        </p:nvCxnSpPr>
        <p:spPr bwMode="auto">
          <a:xfrm>
            <a:off x="5562550" y="1841173"/>
            <a:ext cx="1681958" cy="613103"/>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 name="Text Box 24"/>
          <p:cNvSpPr txBox="1">
            <a:spLocks noChangeArrowheads="1"/>
          </p:cNvSpPr>
          <p:nvPr/>
        </p:nvSpPr>
        <p:spPr bwMode="auto">
          <a:xfrm>
            <a:off x="3969543" y="1552575"/>
            <a:ext cx="16557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2"/>
                </a:solidFill>
                <a:latin typeface="Arial" charset="0"/>
              </a:defRPr>
            </a:lvl1pPr>
            <a:lvl2pPr marL="742950" indent="-285750" eaLnBrk="0" hangingPunct="0">
              <a:defRPr sz="1400">
                <a:solidFill>
                  <a:schemeClr val="bg2"/>
                </a:solidFill>
                <a:latin typeface="Arial" charset="0"/>
              </a:defRPr>
            </a:lvl2pPr>
            <a:lvl3pPr marL="1143000" indent="-228600" eaLnBrk="0" hangingPunct="0">
              <a:defRPr sz="1400">
                <a:solidFill>
                  <a:schemeClr val="bg2"/>
                </a:solidFill>
                <a:latin typeface="Arial" charset="0"/>
              </a:defRPr>
            </a:lvl3pPr>
            <a:lvl4pPr marL="1600200" indent="-228600" eaLnBrk="0" hangingPunct="0">
              <a:defRPr sz="1400">
                <a:solidFill>
                  <a:schemeClr val="bg2"/>
                </a:solidFill>
                <a:latin typeface="Arial" charset="0"/>
              </a:defRPr>
            </a:lvl4pPr>
            <a:lvl5pPr marL="2057400" indent="-228600" eaLnBrk="0" hangingPunct="0">
              <a:defRPr sz="1400">
                <a:solidFill>
                  <a:schemeClr val="bg2"/>
                </a:solidFill>
                <a:latin typeface="Arial" charset="0"/>
              </a:defRPr>
            </a:lvl5pPr>
            <a:lvl6pPr marL="2514600" indent="-228600" algn="ctr" eaLnBrk="0" fontAlgn="base" hangingPunct="0">
              <a:spcBef>
                <a:spcPct val="0"/>
              </a:spcBef>
              <a:spcAft>
                <a:spcPct val="0"/>
              </a:spcAft>
              <a:defRPr sz="1400">
                <a:solidFill>
                  <a:schemeClr val="bg2"/>
                </a:solidFill>
                <a:latin typeface="Arial" charset="0"/>
              </a:defRPr>
            </a:lvl6pPr>
            <a:lvl7pPr marL="2971800" indent="-228600" algn="ctr" eaLnBrk="0" fontAlgn="base" hangingPunct="0">
              <a:spcBef>
                <a:spcPct val="0"/>
              </a:spcBef>
              <a:spcAft>
                <a:spcPct val="0"/>
              </a:spcAft>
              <a:defRPr sz="1400">
                <a:solidFill>
                  <a:schemeClr val="bg2"/>
                </a:solidFill>
                <a:latin typeface="Arial" charset="0"/>
              </a:defRPr>
            </a:lvl7pPr>
            <a:lvl8pPr marL="3429000" indent="-228600" algn="ctr" eaLnBrk="0" fontAlgn="base" hangingPunct="0">
              <a:spcBef>
                <a:spcPct val="0"/>
              </a:spcBef>
              <a:spcAft>
                <a:spcPct val="0"/>
              </a:spcAft>
              <a:defRPr sz="1400">
                <a:solidFill>
                  <a:schemeClr val="bg2"/>
                </a:solidFill>
                <a:latin typeface="Arial" charset="0"/>
              </a:defRPr>
            </a:lvl8pPr>
            <a:lvl9pPr marL="3886200" indent="-228600" algn="ctr" eaLnBrk="0" fontAlgn="base" hangingPunct="0">
              <a:spcBef>
                <a:spcPct val="0"/>
              </a:spcBef>
              <a:spcAft>
                <a:spcPct val="0"/>
              </a:spcAft>
              <a:defRPr sz="1400">
                <a:solidFill>
                  <a:schemeClr val="bg2"/>
                </a:solidFill>
                <a:latin typeface="Arial" charset="0"/>
              </a:defRPr>
            </a:lvl9pPr>
          </a:lstStyle>
          <a:p>
            <a:pPr eaLnBrk="1" hangingPunct="1">
              <a:spcBef>
                <a:spcPct val="50000"/>
              </a:spcBef>
            </a:pPr>
            <a:r>
              <a:rPr lang="fr-FR" dirty="0">
                <a:solidFill>
                  <a:schemeClr val="tx1"/>
                </a:solidFill>
              </a:rPr>
              <a:t>Systèmes</a:t>
            </a:r>
            <a:r>
              <a:rPr lang="fr-FR" dirty="0"/>
              <a:t> </a:t>
            </a:r>
            <a:r>
              <a:rPr lang="fr-FR" dirty="0">
                <a:solidFill>
                  <a:schemeClr val="tx1"/>
                </a:solidFill>
              </a:rPr>
              <a:t>de</a:t>
            </a:r>
            <a:r>
              <a:rPr lang="fr-FR" dirty="0"/>
              <a:t> </a:t>
            </a:r>
            <a:r>
              <a:rPr lang="fr-FR" dirty="0">
                <a:solidFill>
                  <a:schemeClr val="tx1"/>
                </a:solidFill>
              </a:rPr>
              <a:t>coordonnées</a:t>
            </a:r>
          </a:p>
        </p:txBody>
      </p:sp>
    </p:spTree>
    <p:extLst>
      <p:ext uri="{BB962C8B-B14F-4D97-AF65-F5344CB8AC3E}">
        <p14:creationId xmlns:p14="http://schemas.microsoft.com/office/powerpoint/2010/main" val="2179726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p>
        </p:txBody>
      </p:sp>
      <p:sp>
        <p:nvSpPr>
          <p:cNvPr id="3" name="Espace réservé du contenu 2"/>
          <p:cNvSpPr>
            <a:spLocks noGrp="1"/>
          </p:cNvSpPr>
          <p:nvPr>
            <p:ph idx="1"/>
          </p:nvPr>
        </p:nvSpPr>
        <p:spPr/>
        <p:txBody>
          <a:bodyPr/>
          <a:lstStyle/>
          <a:p>
            <a:r>
              <a:rPr lang="fr-FR" dirty="0">
                <a:solidFill>
                  <a:schemeClr val="tx1"/>
                </a:solidFill>
                <a:latin typeface="Times New Roman" pitchFamily="18" charset="0"/>
                <a:cs typeface="Times New Roman" pitchFamily="18" charset="0"/>
              </a:rPr>
              <a:t> Caractéristiques des références géographiques</a:t>
            </a:r>
          </a:p>
          <a:p>
            <a:pPr marL="0" lvl="0" indent="0" fontAlgn="base">
              <a:spcBef>
                <a:spcPct val="50000"/>
              </a:spcBef>
              <a:spcAft>
                <a:spcPct val="0"/>
              </a:spcAft>
              <a:buClrTx/>
              <a:buFontTx/>
              <a:buChar char="•"/>
            </a:pPr>
            <a:r>
              <a:rPr lang="fr-FR" sz="2000" dirty="0">
                <a:solidFill>
                  <a:srgbClr val="000000"/>
                </a:solidFill>
                <a:latin typeface="Times New Roman" pitchFamily="18" charset="0"/>
                <a:cs typeface="Times New Roman" pitchFamily="18" charset="0"/>
              </a:rPr>
              <a:t>Position unique</a:t>
            </a:r>
          </a:p>
          <a:p>
            <a:pPr marL="0" lvl="0" indent="0" fontAlgn="base">
              <a:spcBef>
                <a:spcPct val="50000"/>
              </a:spcBef>
              <a:spcAft>
                <a:spcPct val="0"/>
              </a:spcAft>
              <a:buClrTx/>
              <a:buFontTx/>
              <a:buChar char="•"/>
            </a:pPr>
            <a:r>
              <a:rPr lang="fr-FR" sz="2000" dirty="0">
                <a:solidFill>
                  <a:srgbClr val="000000"/>
                </a:solidFill>
                <a:latin typeface="Times New Roman" pitchFamily="18" charset="0"/>
                <a:cs typeface="Times New Roman" pitchFamily="18" charset="0"/>
              </a:rPr>
              <a:t> Référence géographique sur  les cartes</a:t>
            </a:r>
          </a:p>
          <a:p>
            <a:pPr marL="0" lvl="0" indent="0" fontAlgn="base">
              <a:spcBef>
                <a:spcPct val="50000"/>
              </a:spcBef>
              <a:spcAft>
                <a:spcPct val="0"/>
              </a:spcAft>
              <a:buClrTx/>
              <a:buFontTx/>
              <a:buChar char="•"/>
            </a:pPr>
            <a:r>
              <a:rPr lang="fr-FR" sz="2000" dirty="0">
                <a:solidFill>
                  <a:srgbClr val="000000"/>
                </a:solidFill>
                <a:latin typeface="Times New Roman" pitchFamily="18" charset="0"/>
                <a:cs typeface="Times New Roman" pitchFamily="18" charset="0"/>
              </a:rPr>
              <a:t> Référence en vue d’une  transformation à une projection</a:t>
            </a:r>
          </a:p>
          <a:p>
            <a:pPr marL="0" lvl="0" indent="0" fontAlgn="base">
              <a:spcBef>
                <a:spcPct val="50000"/>
              </a:spcBef>
              <a:spcAft>
                <a:spcPct val="0"/>
              </a:spcAft>
              <a:buClrTx/>
              <a:buFontTx/>
              <a:buChar char="•"/>
            </a:pPr>
            <a:r>
              <a:rPr lang="fr-FR" sz="2000" dirty="0">
                <a:solidFill>
                  <a:srgbClr val="000000"/>
                </a:solidFill>
                <a:latin typeface="Times New Roman" pitchFamily="18" charset="0"/>
                <a:cs typeface="Times New Roman" pitchFamily="18" charset="0"/>
              </a:rPr>
              <a:t> Mais à éviter si:</a:t>
            </a:r>
          </a:p>
          <a:p>
            <a:pPr marL="0" lvl="0" indent="0" fontAlgn="base">
              <a:spcBef>
                <a:spcPct val="50000"/>
              </a:spcBef>
              <a:spcAft>
                <a:spcPct val="0"/>
              </a:spcAft>
              <a:buClrTx/>
              <a:buNone/>
            </a:pPr>
            <a:r>
              <a:rPr lang="fr-FR" sz="2000" dirty="0">
                <a:solidFill>
                  <a:srgbClr val="000000"/>
                </a:solidFill>
                <a:latin typeface="Times New Roman" pitchFamily="18" charset="0"/>
                <a:cs typeface="Times New Roman" pitchFamily="18" charset="0"/>
              </a:rPr>
              <a:t>    on veut effectuer des mesures</a:t>
            </a:r>
          </a:p>
          <a:p>
            <a:pPr marL="0" lvl="0" indent="0" fontAlgn="base">
              <a:spcBef>
                <a:spcPct val="50000"/>
              </a:spcBef>
              <a:spcAft>
                <a:spcPct val="0"/>
              </a:spcAft>
              <a:buClrTx/>
              <a:buNone/>
            </a:pPr>
            <a:r>
              <a:rPr lang="fr-FR" sz="2000" dirty="0">
                <a:solidFill>
                  <a:srgbClr val="000000"/>
                </a:solidFill>
                <a:latin typeface="Times New Roman" pitchFamily="18" charset="0"/>
                <a:cs typeface="Times New Roman" pitchFamily="18" charset="0"/>
              </a:rPr>
              <a:t>    on veut faire de l’analyse spatiale</a:t>
            </a:r>
          </a:p>
          <a:p>
            <a:pPr marL="114300" indent="0">
              <a:buNone/>
            </a:pPr>
            <a:endParaRPr lang="fr-FR" sz="2000" dirty="0">
              <a:latin typeface="Times New Roman" pitchFamily="18" charset="0"/>
              <a:cs typeface="Times New Roman" pitchFamily="18" charset="0"/>
            </a:endParaRPr>
          </a:p>
        </p:txBody>
      </p:sp>
    </p:spTree>
    <p:extLst>
      <p:ext uri="{BB962C8B-B14F-4D97-AF65-F5344CB8AC3E}">
        <p14:creationId xmlns:p14="http://schemas.microsoft.com/office/powerpoint/2010/main" val="4212958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Les systèmes de coordonnées</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lvl="0"/>
            <a:r>
              <a:rPr lang="fr-FR" sz="2000" b="1" dirty="0">
                <a:solidFill>
                  <a:srgbClr val="000000"/>
                </a:solidFill>
                <a:latin typeface="Times New Roman" pitchFamily="18" charset="0"/>
                <a:cs typeface="Times New Roman" pitchFamily="18" charset="0"/>
              </a:rPr>
              <a:t>Qu’est ce qu’un </a:t>
            </a:r>
            <a:r>
              <a:rPr lang="fr-FR" sz="2000" b="1">
                <a:solidFill>
                  <a:srgbClr val="000000"/>
                </a:solidFill>
                <a:latin typeface="Times New Roman" pitchFamily="18" charset="0"/>
                <a:cs typeface="Times New Roman" pitchFamily="18" charset="0"/>
              </a:rPr>
              <a:t>système de projection cartographique?</a:t>
            </a:r>
            <a:endParaRPr lang="fr-FR" sz="2000" b="1" dirty="0">
              <a:solidFill>
                <a:srgbClr val="000000"/>
              </a:solidFill>
              <a:latin typeface="Times New Roman" pitchFamily="18" charset="0"/>
              <a:cs typeface="Times New Roman" pitchFamily="18" charset="0"/>
            </a:endParaRPr>
          </a:p>
          <a:p>
            <a:pPr lvl="0"/>
            <a:endParaRPr lang="fr-FR" sz="2000" b="1" dirty="0">
              <a:solidFill>
                <a:srgbClr val="000000"/>
              </a:solidFill>
              <a:latin typeface="Times New Roman" pitchFamily="18" charset="0"/>
              <a:cs typeface="Times New Roman" pitchFamily="18" charset="0"/>
            </a:endParaRPr>
          </a:p>
          <a:p>
            <a:pPr marL="0" lvl="0" indent="0" fontAlgn="base">
              <a:spcBef>
                <a:spcPct val="0"/>
              </a:spcBef>
              <a:spcAft>
                <a:spcPct val="0"/>
              </a:spcAft>
              <a:buClrTx/>
              <a:buFontTx/>
              <a:buChar char="•"/>
            </a:pPr>
            <a:r>
              <a:rPr lang="en-CA" sz="2000" dirty="0">
                <a:solidFill>
                  <a:srgbClr val="000000"/>
                </a:solidFill>
                <a:latin typeface="Times New Roman" pitchFamily="18" charset="0"/>
                <a:cs typeface="Times New Roman" pitchFamily="18" charset="0"/>
              </a:rPr>
              <a:t>Un système de projection est un moyen de correspondance analytique entre les points de la surface à représenter et les points homologues du plan.</a:t>
            </a:r>
          </a:p>
          <a:p>
            <a:pPr marL="0" lvl="0" indent="0" fontAlgn="base">
              <a:spcBef>
                <a:spcPct val="0"/>
              </a:spcBef>
              <a:spcAft>
                <a:spcPct val="0"/>
              </a:spcAft>
              <a:buClrTx/>
              <a:buNone/>
            </a:pPr>
            <a:endParaRPr lang="en-CA" sz="2000" dirty="0">
              <a:solidFill>
                <a:srgbClr val="000000"/>
              </a:solidFill>
              <a:latin typeface="Times New Roman" pitchFamily="18" charset="0"/>
              <a:cs typeface="Times New Roman" pitchFamily="18" charset="0"/>
            </a:endParaRPr>
          </a:p>
          <a:p>
            <a:pPr marL="0" lvl="0" indent="0" fontAlgn="base">
              <a:spcBef>
                <a:spcPct val="0"/>
              </a:spcBef>
              <a:spcAft>
                <a:spcPct val="0"/>
              </a:spcAft>
              <a:buClrTx/>
              <a:buFontTx/>
              <a:buChar char="•"/>
            </a:pPr>
            <a:r>
              <a:rPr lang="en-CA" sz="2000" dirty="0">
                <a:solidFill>
                  <a:srgbClr val="000000"/>
                </a:solidFill>
                <a:latin typeface="Times New Roman" pitchFamily="18" charset="0"/>
                <a:cs typeface="Times New Roman" pitchFamily="18" charset="0"/>
              </a:rPr>
              <a:t> Le classement de ces systèmes est réalisé selon  leur représentation  sur  des surfaces développables.</a:t>
            </a:r>
          </a:p>
          <a:p>
            <a:endParaRPr lang="fr-FR"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8789085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Types de systèmes de référence géodésique</a:t>
            </a:r>
          </a:p>
        </p:txBody>
      </p:sp>
      <p:sp>
        <p:nvSpPr>
          <p:cNvPr id="3" name="Espace réservé du contenu 2"/>
          <p:cNvSpPr>
            <a:spLocks noGrp="1"/>
          </p:cNvSpPr>
          <p:nvPr>
            <p:ph idx="1"/>
          </p:nvPr>
        </p:nvSpPr>
        <p:spPr/>
        <p:txBody>
          <a:bodyPr>
            <a:normAutofit fontScale="92500" lnSpcReduction="20000"/>
          </a:bodyPr>
          <a:lstStyle/>
          <a:p>
            <a:r>
              <a:rPr lang="fr-FR" sz="2000" dirty="0">
                <a:latin typeface="Times New Roman" pitchFamily="18" charset="0"/>
                <a:cs typeface="Times New Roman" pitchFamily="18" charset="0"/>
              </a:rPr>
              <a:t> </a:t>
            </a:r>
            <a:r>
              <a:rPr lang="fr-FR" sz="2000" dirty="0">
                <a:solidFill>
                  <a:schemeClr val="tx1"/>
                </a:solidFill>
                <a:latin typeface="Times New Roman" pitchFamily="18" charset="0"/>
                <a:cs typeface="Times New Roman" pitchFamily="18" charset="0"/>
              </a:rPr>
              <a:t>Système de référence géodésique (</a:t>
            </a:r>
            <a:r>
              <a:rPr lang="fr-FR" sz="2000" dirty="0" err="1">
                <a:solidFill>
                  <a:schemeClr val="tx1"/>
                </a:solidFill>
                <a:latin typeface="Times New Roman" pitchFamily="18" charset="0"/>
                <a:cs typeface="Times New Roman" pitchFamily="18" charset="0"/>
              </a:rPr>
              <a:t>datum</a:t>
            </a:r>
            <a:r>
              <a:rPr lang="fr-FR" sz="2000" dirty="0">
                <a:solidFill>
                  <a:schemeClr val="tx1"/>
                </a:solidFill>
                <a:latin typeface="Times New Roman" pitchFamily="18" charset="0"/>
                <a:cs typeface="Times New Roman" pitchFamily="18" charset="0"/>
              </a:rPr>
              <a:t>)</a:t>
            </a:r>
          </a:p>
          <a:p>
            <a:pPr marL="114300" indent="0">
              <a:buNone/>
            </a:pPr>
            <a:endParaRPr lang="fr-FR" sz="2000" dirty="0">
              <a:solidFill>
                <a:schemeClr val="tx1"/>
              </a:solidFill>
              <a:latin typeface="Times New Roman" pitchFamily="18" charset="0"/>
              <a:cs typeface="Times New Roman" pitchFamily="18" charset="0"/>
            </a:endParaRPr>
          </a:p>
          <a:p>
            <a:pPr marL="114300" indent="0">
              <a:buNone/>
            </a:pPr>
            <a:r>
              <a:rPr lang="fr-FR" sz="2000" dirty="0">
                <a:solidFill>
                  <a:schemeClr val="tx1"/>
                </a:solidFill>
                <a:latin typeface="Times New Roman" pitchFamily="18" charset="0"/>
                <a:cs typeface="Times New Roman" pitchFamily="18" charset="0"/>
              </a:rPr>
              <a:t> – D’une façon générale, un </a:t>
            </a:r>
            <a:r>
              <a:rPr lang="fr-FR" sz="2000" dirty="0" err="1">
                <a:solidFill>
                  <a:schemeClr val="tx1"/>
                </a:solidFill>
                <a:latin typeface="Times New Roman" pitchFamily="18" charset="0"/>
                <a:cs typeface="Times New Roman" pitchFamily="18" charset="0"/>
              </a:rPr>
              <a:t>datum</a:t>
            </a:r>
            <a:r>
              <a:rPr lang="fr-FR" sz="2000" dirty="0">
                <a:solidFill>
                  <a:schemeClr val="tx1"/>
                </a:solidFill>
                <a:latin typeface="Times New Roman" pitchFamily="18" charset="0"/>
                <a:cs typeface="Times New Roman" pitchFamily="18" charset="0"/>
              </a:rPr>
              <a:t> est un ensemble de paramètres    fondamentaux qui servent de référence pour la définition d’autres paramètres. Un </a:t>
            </a:r>
            <a:r>
              <a:rPr lang="fr-FR" sz="2000" dirty="0" err="1">
                <a:solidFill>
                  <a:schemeClr val="tx1"/>
                </a:solidFill>
                <a:latin typeface="Times New Roman" pitchFamily="18" charset="0"/>
                <a:cs typeface="Times New Roman" pitchFamily="18" charset="0"/>
              </a:rPr>
              <a:t>datum</a:t>
            </a:r>
            <a:r>
              <a:rPr lang="fr-FR" sz="2000" dirty="0">
                <a:solidFill>
                  <a:schemeClr val="tx1"/>
                </a:solidFill>
                <a:latin typeface="Times New Roman" pitchFamily="18" charset="0"/>
                <a:cs typeface="Times New Roman" pitchFamily="18" charset="0"/>
              </a:rPr>
              <a:t> géodésique exprime la relation de l’origine et de l’orientation des axes d’un système de coordonnées à la Terre</a:t>
            </a:r>
          </a:p>
          <a:p>
            <a:endParaRPr lang="fr-FR" sz="2000" dirty="0">
              <a:solidFill>
                <a:schemeClr val="tx1"/>
              </a:solidFill>
              <a:latin typeface="Times New Roman" pitchFamily="18" charset="0"/>
              <a:cs typeface="Times New Roman" pitchFamily="18" charset="0"/>
            </a:endParaRPr>
          </a:p>
          <a:p>
            <a:pPr marL="114300" indent="0">
              <a:buNone/>
            </a:pPr>
            <a:endParaRPr lang="fr-FR" sz="2000" dirty="0">
              <a:solidFill>
                <a:schemeClr val="tx1"/>
              </a:solidFill>
              <a:latin typeface="Times New Roman" pitchFamily="18" charset="0"/>
              <a:cs typeface="Times New Roman" pitchFamily="18" charset="0"/>
            </a:endParaRPr>
          </a:p>
          <a:p>
            <a:pPr marL="114300" indent="0">
              <a:buNone/>
            </a:pPr>
            <a:r>
              <a:rPr lang="fr-FR" sz="2000" dirty="0">
                <a:solidFill>
                  <a:schemeClr val="tx1"/>
                </a:solidFill>
                <a:latin typeface="Times New Roman" pitchFamily="18" charset="0"/>
                <a:cs typeface="Times New Roman" pitchFamily="18" charset="0"/>
              </a:rPr>
              <a:t>   – Pour pouvoir définir un système de coordonnées, la seule spécification d'un ellipsoïde n'est pas suffisante.</a:t>
            </a:r>
          </a:p>
          <a:p>
            <a:pPr marL="114300" indent="0">
              <a:buNone/>
            </a:pPr>
            <a:endParaRPr lang="fr-FR" sz="2000" dirty="0">
              <a:solidFill>
                <a:schemeClr val="tx1"/>
              </a:solidFill>
              <a:latin typeface="Times New Roman" pitchFamily="18" charset="0"/>
              <a:cs typeface="Times New Roman" pitchFamily="18" charset="0"/>
            </a:endParaRPr>
          </a:p>
          <a:p>
            <a:pPr marL="114300" indent="0">
              <a:buNone/>
            </a:pPr>
            <a:r>
              <a:rPr lang="fr-FR" sz="2000" dirty="0">
                <a:solidFill>
                  <a:schemeClr val="tx1"/>
                </a:solidFill>
                <a:latin typeface="Times New Roman" pitchFamily="18" charset="0"/>
                <a:cs typeface="Times New Roman" pitchFamily="18" charset="0"/>
              </a:rPr>
              <a:t>   – Un système de référence géodésique (en anglais : </a:t>
            </a:r>
            <a:r>
              <a:rPr lang="fr-FR" sz="2000" dirty="0" err="1">
                <a:solidFill>
                  <a:schemeClr val="tx1"/>
                </a:solidFill>
                <a:latin typeface="Times New Roman" pitchFamily="18" charset="0"/>
                <a:cs typeface="Times New Roman" pitchFamily="18" charset="0"/>
              </a:rPr>
              <a:t>datum</a:t>
            </a:r>
            <a:r>
              <a:rPr lang="fr-FR" sz="2000" dirty="0">
                <a:solidFill>
                  <a:schemeClr val="tx1"/>
                </a:solidFill>
                <a:latin typeface="Times New Roman" pitchFamily="18" charset="0"/>
                <a:cs typeface="Times New Roman" pitchFamily="18" charset="0"/>
              </a:rPr>
              <a:t>) se définit par son ellipsoïde, mais également par la position de cet ellipsoïde par rapport au centre de la Terre. </a:t>
            </a:r>
          </a:p>
          <a:p>
            <a:pPr marL="114300" indent="0">
              <a:buNone/>
            </a:pPr>
            <a:r>
              <a:rPr lang="fr-FR" sz="2000" dirty="0">
                <a:solidFill>
                  <a:schemeClr val="tx1"/>
                </a:solidFill>
                <a:latin typeface="Times New Roman" pitchFamily="18" charset="0"/>
                <a:cs typeface="Times New Roman" pitchFamily="18" charset="0"/>
              </a:rPr>
              <a:t>   </a:t>
            </a:r>
          </a:p>
          <a:p>
            <a:endParaRPr lang="fr-FR"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35813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Types de systèmes de référence géodésique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114300" lvl="0" indent="0">
              <a:buClr>
                <a:srgbClr val="93A299"/>
              </a:buClr>
              <a:buNone/>
            </a:pPr>
            <a:endParaRPr lang="fr-FR" dirty="0">
              <a:latin typeface="Times New Roman" pitchFamily="18" charset="0"/>
              <a:cs typeface="Times New Roman" pitchFamily="18" charset="0"/>
            </a:endParaRPr>
          </a:p>
          <a:p>
            <a:pPr marL="114300" lvl="0" indent="0">
              <a:buClr>
                <a:srgbClr val="93A299"/>
              </a:buClr>
              <a:buNone/>
            </a:pPr>
            <a:r>
              <a:rPr lang="fr-FR" sz="2000" dirty="0">
                <a:solidFill>
                  <a:schemeClr val="tx1"/>
                </a:solidFill>
                <a:latin typeface="Times New Roman" pitchFamily="18" charset="0"/>
                <a:cs typeface="Times New Roman" pitchFamily="18" charset="0"/>
              </a:rPr>
              <a:t>Pour les calculs géodésiques, par convention, on utilise le centre du systèmeWGS84 (World </a:t>
            </a:r>
            <a:r>
              <a:rPr lang="fr-FR" sz="2000" dirty="0" err="1">
                <a:solidFill>
                  <a:schemeClr val="tx1"/>
                </a:solidFill>
                <a:latin typeface="Times New Roman" pitchFamily="18" charset="0"/>
                <a:cs typeface="Times New Roman" pitchFamily="18" charset="0"/>
              </a:rPr>
              <a:t>Geodetic</a:t>
            </a:r>
            <a:r>
              <a:rPr lang="fr-FR" sz="2000" dirty="0">
                <a:solidFill>
                  <a:schemeClr val="tx1"/>
                </a:solidFill>
                <a:latin typeface="Times New Roman" pitchFamily="18" charset="0"/>
                <a:cs typeface="Times New Roman" pitchFamily="18" charset="0"/>
              </a:rPr>
              <a:t> System 1984) pour définir la position des autres systèmes géodésiques.</a:t>
            </a:r>
          </a:p>
          <a:p>
            <a:pPr marL="114300" lvl="0" indent="0">
              <a:buClr>
                <a:srgbClr val="93A299"/>
              </a:buClr>
              <a:buNone/>
            </a:pPr>
            <a:r>
              <a:rPr lang="fr-FR" sz="2000" dirty="0">
                <a:solidFill>
                  <a:schemeClr val="tx1"/>
                </a:solidFill>
                <a:latin typeface="Times New Roman" pitchFamily="18" charset="0"/>
                <a:cs typeface="Times New Roman" pitchFamily="18" charset="0"/>
              </a:rPr>
              <a:t> En résumé, un système de référence géodésique nécessite la connaissance des paramètres suivants : • la forme de l'ellipsoïde (a et b);</a:t>
            </a:r>
          </a:p>
          <a:p>
            <a:pPr marL="114300" lvl="0" indent="0">
              <a:buClr>
                <a:srgbClr val="93A299"/>
              </a:buClr>
              <a:buNone/>
            </a:pPr>
            <a:r>
              <a:rPr lang="fr-FR" sz="2000" dirty="0">
                <a:solidFill>
                  <a:schemeClr val="tx1"/>
                </a:solidFill>
                <a:latin typeface="Times New Roman" pitchFamily="18" charset="0"/>
                <a:cs typeface="Times New Roman" pitchFamily="18" charset="0"/>
              </a:rPr>
              <a:t>                                         • la position de l'ellipsoïde par rapport au système        </a:t>
            </a:r>
          </a:p>
          <a:p>
            <a:pPr marL="114300" lvl="0" indent="0">
              <a:buClr>
                <a:srgbClr val="93A299"/>
              </a:buClr>
              <a:buNone/>
            </a:pPr>
            <a:r>
              <a:rPr lang="fr-FR" sz="2000" dirty="0">
                <a:solidFill>
                  <a:schemeClr val="tx1"/>
                </a:solidFill>
                <a:latin typeface="Times New Roman" pitchFamily="18" charset="0"/>
                <a:cs typeface="Times New Roman" pitchFamily="18" charset="0"/>
              </a:rPr>
              <a:t>                                            géodésique WGS84</a:t>
            </a:r>
            <a:r>
              <a:rPr lang="fr-FR" sz="2000" dirty="0">
                <a:solidFill>
                  <a:srgbClr val="564B3C"/>
                </a:solidFill>
                <a:latin typeface="Times New Roman" pitchFamily="18" charset="0"/>
                <a:cs typeface="Times New Roman" pitchFamily="18" charset="0"/>
              </a:rPr>
              <a:t>.</a:t>
            </a:r>
          </a:p>
          <a:p>
            <a:endParaRPr lang="fr-FR" dirty="0">
              <a:latin typeface="Times New Roman" pitchFamily="18" charset="0"/>
              <a:cs typeface="Times New Roman" pitchFamily="18" charset="0"/>
            </a:endParaRPr>
          </a:p>
        </p:txBody>
      </p:sp>
    </p:spTree>
    <p:extLst>
      <p:ext uri="{BB962C8B-B14F-4D97-AF65-F5344CB8AC3E}">
        <p14:creationId xmlns:p14="http://schemas.microsoft.com/office/powerpoint/2010/main" val="3139869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Types de systèmes de référence géodésique</a:t>
            </a:r>
            <a:endParaRPr lang="fr-FR" sz="2400" dirty="0">
              <a:latin typeface="Times New Roman" pitchFamily="18" charset="0"/>
              <a:cs typeface="Times New Roman" pitchFamily="18" charset="0"/>
            </a:endParaRPr>
          </a:p>
        </p:txBody>
      </p:sp>
      <p:sp>
        <p:nvSpPr>
          <p:cNvPr id="3" name="Espace réservé du contenu 2"/>
          <p:cNvSpPr>
            <a:spLocks noGrp="1"/>
          </p:cNvSpPr>
          <p:nvPr>
            <p:ph sz="half" idx="1"/>
          </p:nvPr>
        </p:nvSpPr>
        <p:spPr/>
        <p:txBody>
          <a:bodyPr>
            <a:normAutofit fontScale="92500" lnSpcReduction="10000"/>
          </a:bodyPr>
          <a:lstStyle/>
          <a:p>
            <a:pPr>
              <a:buClrTx/>
            </a:pPr>
            <a:r>
              <a:rPr lang="fr-FR" sz="2000" dirty="0">
                <a:solidFill>
                  <a:schemeClr val="tx1"/>
                </a:solidFill>
                <a:latin typeface="Times New Roman" pitchFamily="18" charset="0"/>
                <a:cs typeface="Times New Roman" pitchFamily="18" charset="0"/>
              </a:rPr>
              <a:t> </a:t>
            </a:r>
            <a:r>
              <a:rPr lang="fr-FR" dirty="0">
                <a:solidFill>
                  <a:schemeClr val="tx1"/>
                </a:solidFill>
                <a:latin typeface="Times New Roman" pitchFamily="18" charset="0"/>
                <a:cs typeface="Times New Roman" pitchFamily="18" charset="0"/>
              </a:rPr>
              <a:t>Ellipsoïdes globaux et locaux</a:t>
            </a:r>
          </a:p>
          <a:p>
            <a:pPr marL="114300" indent="0">
              <a:buNone/>
            </a:pPr>
            <a:endParaRPr lang="fr-FR" dirty="0">
              <a:solidFill>
                <a:schemeClr val="tx1"/>
              </a:solidFill>
              <a:latin typeface="Times New Roman" pitchFamily="18" charset="0"/>
              <a:cs typeface="Times New Roman" pitchFamily="18" charset="0"/>
            </a:endParaRPr>
          </a:p>
          <a:p>
            <a:pPr marL="114300" indent="0">
              <a:buNone/>
            </a:pPr>
            <a:r>
              <a:rPr lang="fr-FR" sz="2000" dirty="0">
                <a:solidFill>
                  <a:schemeClr val="tx1"/>
                </a:solidFill>
                <a:latin typeface="Times New Roman" pitchFamily="18" charset="0"/>
                <a:cs typeface="Times New Roman" pitchFamily="18" charset="0"/>
              </a:rPr>
              <a:t>    – En géodésie, on distingue l'ellipsoïde global de l'ellipsoïde local</a:t>
            </a:r>
          </a:p>
          <a:p>
            <a:pPr marL="114300" indent="0">
              <a:buNone/>
            </a:pPr>
            <a:r>
              <a:rPr lang="fr-FR" sz="2000" dirty="0">
                <a:solidFill>
                  <a:schemeClr val="tx1"/>
                </a:solidFill>
                <a:latin typeface="Times New Roman" pitchFamily="18" charset="0"/>
                <a:cs typeface="Times New Roman" pitchFamily="18" charset="0"/>
              </a:rPr>
              <a:t>    – Les ellipsoïdes globaux couvrent l'ensemble (ou une grande partie) de la surface terrestre. </a:t>
            </a:r>
          </a:p>
          <a:p>
            <a:pPr marL="114300" indent="0">
              <a:buNone/>
            </a:pPr>
            <a:r>
              <a:rPr lang="fr-FR" sz="2000" dirty="0">
                <a:solidFill>
                  <a:schemeClr val="tx1"/>
                </a:solidFill>
                <a:latin typeface="Times New Roman" pitchFamily="18" charset="0"/>
                <a:cs typeface="Times New Roman" pitchFamily="18" charset="0"/>
              </a:rPr>
              <a:t>    – Par exemple :</a:t>
            </a:r>
          </a:p>
          <a:p>
            <a:pPr marL="114300" indent="0">
              <a:buNone/>
            </a:pPr>
            <a:r>
              <a:rPr lang="fr-FR" sz="2000" dirty="0">
                <a:solidFill>
                  <a:schemeClr val="tx1"/>
                </a:solidFill>
                <a:latin typeface="Times New Roman" pitchFamily="18" charset="0"/>
                <a:cs typeface="Times New Roman" pitchFamily="18" charset="0"/>
              </a:rPr>
              <a:t> Le système de positionnement GPS fournit, par défaut, le positionnement en coordonnées longitude/latitude sur l'ellipsoïde GRS80 (</a:t>
            </a:r>
            <a:r>
              <a:rPr lang="fr-FR" sz="2000" dirty="0" err="1">
                <a:solidFill>
                  <a:schemeClr val="tx1"/>
                </a:solidFill>
                <a:latin typeface="Times New Roman" pitchFamily="18" charset="0"/>
                <a:cs typeface="Times New Roman" pitchFamily="18" charset="0"/>
              </a:rPr>
              <a:t>DatumWGS</a:t>
            </a:r>
            <a:r>
              <a:rPr lang="fr-FR" sz="2000" dirty="0">
                <a:solidFill>
                  <a:schemeClr val="tx1"/>
                </a:solidFill>
                <a:latin typeface="Times New Roman" pitchFamily="18" charset="0"/>
                <a:cs typeface="Times New Roman" pitchFamily="18" charset="0"/>
              </a:rPr>
              <a:t> 84). </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700808"/>
            <a:ext cx="3955157"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Espace réservé du contenu 4"/>
          <p:cNvSpPr>
            <a:spLocks noGrp="1"/>
          </p:cNvSpPr>
          <p:nvPr>
            <p:ph sz="half" idx="2"/>
          </p:nvPr>
        </p:nvSpPr>
        <p:spPr/>
        <p:txBody>
          <a:bodyPr/>
          <a:lstStyle/>
          <a:p>
            <a:endParaRPr lang="fr-FR" dirty="0"/>
          </a:p>
        </p:txBody>
      </p:sp>
    </p:spTree>
    <p:extLst>
      <p:ext uri="{BB962C8B-B14F-4D97-AF65-F5344CB8AC3E}">
        <p14:creationId xmlns:p14="http://schemas.microsoft.com/office/powerpoint/2010/main" val="532889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400" dirty="0">
                <a:solidFill>
                  <a:schemeClr val="tx1"/>
                </a:solidFill>
                <a:latin typeface="Times New Roman" pitchFamily="18" charset="0"/>
                <a:cs typeface="Times New Roman" pitchFamily="18" charset="0"/>
              </a:rPr>
              <a:t>Types de systèmes de référence géodésique</a:t>
            </a: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a:buClrTx/>
            </a:pPr>
            <a:r>
              <a:rPr lang="fr-FR" sz="2000" dirty="0">
                <a:solidFill>
                  <a:schemeClr val="tx1"/>
                </a:solidFill>
                <a:latin typeface="Times New Roman" pitchFamily="18" charset="0"/>
                <a:cs typeface="Times New Roman" pitchFamily="18" charset="0"/>
              </a:rPr>
              <a:t> </a:t>
            </a:r>
            <a:r>
              <a:rPr lang="fr-FR" dirty="0">
                <a:solidFill>
                  <a:schemeClr val="tx1"/>
                </a:solidFill>
                <a:latin typeface="Times New Roman" pitchFamily="18" charset="0"/>
                <a:cs typeface="Times New Roman" pitchFamily="18" charset="0"/>
              </a:rPr>
              <a:t>Ellipsoïdes locaux </a:t>
            </a:r>
          </a:p>
          <a:p>
            <a:pPr marL="114300" indent="0">
              <a:buNone/>
            </a:pPr>
            <a:r>
              <a:rPr lang="fr-FR" sz="2000" dirty="0">
                <a:solidFill>
                  <a:schemeClr val="tx1"/>
                </a:solidFill>
                <a:latin typeface="Times New Roman" pitchFamily="18" charset="0"/>
                <a:cs typeface="Times New Roman" pitchFamily="18" charset="0"/>
              </a:rPr>
              <a:t>     – Sont définis de manière à "épouser" au mieux la forme du géoïde sur une zone restreinte de la surface terrestre (une région ou un pays).</a:t>
            </a:r>
          </a:p>
          <a:p>
            <a:pPr marL="114300" indent="0">
              <a:buNone/>
            </a:pPr>
            <a:endParaRPr lang="fr-FR" sz="2000" dirty="0">
              <a:solidFill>
                <a:schemeClr val="tx1"/>
              </a:solidFill>
              <a:latin typeface="Times New Roman" pitchFamily="18" charset="0"/>
              <a:cs typeface="Times New Roman" pitchFamily="18" charset="0"/>
            </a:endParaRPr>
          </a:p>
          <a:p>
            <a:pPr marL="114300" indent="0">
              <a:buNone/>
            </a:pPr>
            <a:r>
              <a:rPr lang="fr-FR" sz="2000" dirty="0">
                <a:solidFill>
                  <a:schemeClr val="tx1"/>
                </a:solidFill>
                <a:latin typeface="Times New Roman" pitchFamily="18" charset="0"/>
                <a:cs typeface="Times New Roman" pitchFamily="18" charset="0"/>
              </a:rPr>
              <a:t>     – L 'ellipsoïde local est modifiée afin de mieux suivre la forme du géoïde,  et son centre est décalé par rapport au centre des ellipsoïdes globaux. </a:t>
            </a:r>
          </a:p>
          <a:p>
            <a:pPr>
              <a:buClrTx/>
            </a:pPr>
            <a:endParaRPr lang="fr-FR"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47266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6128" y="408372"/>
            <a:ext cx="8260672" cy="1148420"/>
          </a:xfrm>
        </p:spPr>
        <p:txBody>
          <a:bodyPr>
            <a:noAutofit/>
          </a:bodyPr>
          <a:lstStyle/>
          <a:p>
            <a:r>
              <a:rPr lang="fr-FR" sz="2400" dirty="0">
                <a:solidFill>
                  <a:schemeClr val="tx1"/>
                </a:solidFill>
                <a:latin typeface="Times New Roman" pitchFamily="18" charset="0"/>
                <a:cs typeface="Times New Roman" pitchFamily="18" charset="0"/>
              </a:rPr>
              <a:t>Transformation des coordonnées d’un système à un autre</a:t>
            </a:r>
            <a:br>
              <a:rPr lang="fr-FR" sz="2400" dirty="0">
                <a:latin typeface="Times New Roman" pitchFamily="18" charset="0"/>
                <a:cs typeface="Times New Roman" pitchFamily="18" charset="0"/>
              </a:rPr>
            </a:br>
            <a:endParaRPr lang="fr-FR" sz="2400"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r>
              <a:rPr lang="fr-FR" sz="2000" dirty="0">
                <a:latin typeface="Times New Roman" pitchFamily="18" charset="0"/>
                <a:cs typeface="Times New Roman" pitchFamily="18" charset="0"/>
              </a:rPr>
              <a:t> </a:t>
            </a:r>
            <a:r>
              <a:rPr lang="fr-FR" dirty="0">
                <a:solidFill>
                  <a:schemeClr val="tx1"/>
                </a:solidFill>
                <a:latin typeface="Times New Roman" pitchFamily="18" charset="0"/>
                <a:cs typeface="Times New Roman" pitchFamily="18" charset="0"/>
              </a:rPr>
              <a:t>Changement de système géodésique</a:t>
            </a:r>
          </a:p>
          <a:p>
            <a:pPr marL="114300" indent="0">
              <a:buNone/>
            </a:pPr>
            <a:r>
              <a:rPr lang="fr-FR" sz="2000" dirty="0">
                <a:solidFill>
                  <a:schemeClr val="tx1"/>
                </a:solidFill>
                <a:latin typeface="Times New Roman" pitchFamily="18" charset="0"/>
                <a:cs typeface="Times New Roman" pitchFamily="18" charset="0"/>
              </a:rPr>
              <a:t>   </a:t>
            </a:r>
          </a:p>
          <a:p>
            <a:pPr marL="114300" indent="0">
              <a:buNone/>
            </a:pPr>
            <a:r>
              <a:rPr lang="fr-FR" sz="2000" dirty="0">
                <a:solidFill>
                  <a:schemeClr val="tx1"/>
                </a:solidFill>
                <a:latin typeface="Times New Roman" pitchFamily="18" charset="0"/>
                <a:cs typeface="Times New Roman" pitchFamily="18" charset="0"/>
              </a:rPr>
              <a:t>  – Transformation qui permet d'exprimer les coordonnées cartésiennes, géographiques ou planes d'un point dans un autre système de référence géodésique. </a:t>
            </a:r>
          </a:p>
          <a:p>
            <a:pPr marL="114300" indent="0">
              <a:buNone/>
            </a:pPr>
            <a:r>
              <a:rPr lang="fr-FR" sz="2000" dirty="0">
                <a:solidFill>
                  <a:schemeClr val="tx1"/>
                </a:solidFill>
                <a:latin typeface="Times New Roman" pitchFamily="18" charset="0"/>
                <a:cs typeface="Times New Roman" pitchFamily="18" charset="0"/>
              </a:rPr>
              <a:t>   1.Projeter</a:t>
            </a:r>
          </a:p>
          <a:p>
            <a:pPr marL="114300" indent="0">
              <a:buNone/>
            </a:pPr>
            <a:r>
              <a:rPr lang="fr-FR" sz="2000" dirty="0">
                <a:solidFill>
                  <a:schemeClr val="tx1"/>
                </a:solidFill>
                <a:latin typeface="Times New Roman" pitchFamily="18" charset="0"/>
                <a:cs typeface="Times New Roman" pitchFamily="18" charset="0"/>
              </a:rPr>
              <a:t>     – Permet de convertir des coordonnées géographiques en coordonnées planes.</a:t>
            </a:r>
          </a:p>
          <a:p>
            <a:pPr marL="114300" indent="0">
              <a:buNone/>
            </a:pPr>
            <a:r>
              <a:rPr lang="fr-FR" sz="2000" dirty="0">
                <a:solidFill>
                  <a:schemeClr val="tx1"/>
                </a:solidFill>
                <a:latin typeface="Times New Roman" pitchFamily="18" charset="0"/>
                <a:cs typeface="Times New Roman" pitchFamily="18" charset="0"/>
              </a:rPr>
              <a:t>   2. Dé projeter</a:t>
            </a:r>
          </a:p>
          <a:p>
            <a:pPr marL="114300" indent="0">
              <a:buNone/>
            </a:pPr>
            <a:r>
              <a:rPr lang="fr-FR" sz="2000" dirty="0">
                <a:solidFill>
                  <a:schemeClr val="tx1"/>
                </a:solidFill>
                <a:latin typeface="Times New Roman" pitchFamily="18" charset="0"/>
                <a:cs typeface="Times New Roman" pitchFamily="18" charset="0"/>
              </a:rPr>
              <a:t>    – Permet de convertir des coordonnées planes en coordonnées géodésiques.</a:t>
            </a:r>
          </a:p>
          <a:p>
            <a:pPr marL="114300" indent="0">
              <a:buNone/>
            </a:pPr>
            <a:r>
              <a:rPr lang="fr-FR" sz="2000" dirty="0">
                <a:solidFill>
                  <a:schemeClr val="tx1"/>
                </a:solidFill>
                <a:latin typeface="Times New Roman" pitchFamily="18" charset="0"/>
                <a:cs typeface="Times New Roman" pitchFamily="18" charset="0"/>
              </a:rPr>
              <a:t>   3. Transformer.</a:t>
            </a:r>
          </a:p>
          <a:p>
            <a:pPr marL="114300" indent="0">
              <a:buNone/>
            </a:pPr>
            <a:r>
              <a:rPr lang="fr-FR" sz="2000">
                <a:solidFill>
                  <a:schemeClr val="tx1"/>
                </a:solidFill>
                <a:latin typeface="Times New Roman" pitchFamily="18" charset="0"/>
                <a:cs typeface="Times New Roman" pitchFamily="18" charset="0"/>
              </a:rPr>
              <a:t>    </a:t>
            </a:r>
            <a:r>
              <a:rPr lang="fr-FR" sz="2000" dirty="0">
                <a:solidFill>
                  <a:schemeClr val="tx1"/>
                </a:solidFill>
                <a:latin typeface="Times New Roman" pitchFamily="18" charset="0"/>
                <a:cs typeface="Times New Roman" pitchFamily="18" charset="0"/>
              </a:rPr>
              <a:t>– Permet de convertir des coordonnées planes (en projection) en coordonnées planes dans une autre projection.</a:t>
            </a:r>
          </a:p>
        </p:txBody>
      </p:sp>
    </p:spTree>
    <p:extLst>
      <p:ext uri="{BB962C8B-B14F-4D97-AF65-F5344CB8AC3E}">
        <p14:creationId xmlns:p14="http://schemas.microsoft.com/office/powerpoint/2010/main" val="17112647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icaire">
  <a:themeElements>
    <a:clrScheme name="Apothicaire">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icaire">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icaire">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7517</TotalTime>
  <Words>3865</Words>
  <Application>Microsoft Office PowerPoint</Application>
  <PresentationFormat>Affichage à l'écran (4:3)</PresentationFormat>
  <Paragraphs>402</Paragraphs>
  <Slides>54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54</vt:i4>
      </vt:variant>
    </vt:vector>
  </HeadingPairs>
  <TitlesOfParts>
    <vt:vector size="60" baseType="lpstr">
      <vt:lpstr>Arial</vt:lpstr>
      <vt:lpstr>Book Antiqua</vt:lpstr>
      <vt:lpstr>Century Gothic</vt:lpstr>
      <vt:lpstr>Times New Roman</vt:lpstr>
      <vt:lpstr>Wingdings</vt:lpstr>
      <vt:lpstr>Apothicaire</vt:lpstr>
      <vt:lpstr>                                                                                                                                                                                                                                                                                                                                                                                                     COURS SIG SYSTEMES D’INFORMATION GEOGRAPHIQUE</vt:lpstr>
      <vt:lpstr>Plan de cours</vt:lpstr>
      <vt:lpstr> Définition et composantes d’un SIG </vt:lpstr>
      <vt:lpstr> Définition et composantes d’un SIG</vt:lpstr>
      <vt:lpstr>Définition et composantes d’un SIG</vt:lpstr>
      <vt:lpstr>Définition et composantes d’un SIG</vt:lpstr>
      <vt:lpstr>Définition et composantes d’un SIG</vt:lpstr>
      <vt:lpstr>Définition et composantes d’un SIG</vt:lpstr>
      <vt:lpstr>Définition et composantes d’un SIG</vt:lpstr>
      <vt:lpstr>Définition et composantes d’un SIG</vt:lpstr>
      <vt:lpstr>Définition et composantes d’un SIG</vt:lpstr>
      <vt:lpstr>Les differents types d’ATTRIBUTS</vt:lpstr>
      <vt:lpstr>LA STRUCTURATION DES DONNEES GEOGRAPHIQUES</vt:lpstr>
      <vt:lpstr>LES MODES DE REPRESENTATION DE L’INFORMATION GEOGRAPHIQUE DANS UN SIG</vt:lpstr>
      <vt:lpstr>LES MODES DE REPRESENTATION DE L’INFORMATION GEOGRAPHIQUE DANS UN SIG</vt:lpstr>
      <vt:lpstr>LES MODES DE REPRESENTATION DE L’INFORMATION GEOGRAPHIQUE DANS UN SIG</vt:lpstr>
      <vt:lpstr>LES MODES DE REPRESENTATION DE L’INFORMATION GEOGRAPHIQUE DANS UN SIG</vt:lpstr>
      <vt:lpstr>LES MODES DE REPRESENTATION DE L’INFORMATION GEOGRAPHIQUE DANS UN SIG</vt:lpstr>
      <vt:lpstr>LES MODES DE REPRESENTATION DE L’INFORMATION GEOGRAPHIQUE DANS UN SIG</vt:lpstr>
      <vt:lpstr>DIFFERENCES ENTRE LES STRUCTURES MATRICIELLE ET VECTORIELLE</vt:lpstr>
      <vt:lpstr>Le choix d’UNE STRUCTURE? </vt:lpstr>
      <vt:lpstr>La BASE DE DONNEE GEOGRAPHIQUE</vt:lpstr>
      <vt:lpstr>La BASE DE DONNEE GEOGRAPHIQUE</vt:lpstr>
      <vt:lpstr>La BASE DE DONNEE GEOGRAPHIQUE</vt:lpstr>
      <vt:lpstr>La BASE DE DONNEE GEOGRAPHIQUE</vt:lpstr>
      <vt:lpstr>La BASE DE DONNEE GEOGRAPHIQUE</vt:lpstr>
      <vt:lpstr>La BASE DE DONNEE GEOGRAPHIQUE</vt:lpstr>
      <vt:lpstr>ATTRIBUTS OU DESCRIPTION DE LA DONNEE</vt:lpstr>
      <vt:lpstr>ATTRIBUTS OU DESCRIPTION DE LA DONNEE</vt:lpstr>
      <vt:lpstr>La métadonnée</vt:lpstr>
      <vt:lpstr>La métadonnée</vt:lpstr>
      <vt:lpstr>LA METADONNEE</vt:lpstr>
      <vt:lpstr>Les systèmes de coordonnées et les projections cartographiques</vt:lpstr>
      <vt:lpstr>INTRODUCTION</vt:lpstr>
      <vt:lpstr>Notions de geodesie</vt:lpstr>
      <vt:lpstr>Les Surfaces de représentation de la Terre </vt:lpstr>
      <vt:lpstr>Les Surfaces de représentation de la Terre</vt:lpstr>
      <vt:lpstr>Les Surfaces de représentation de la Terre</vt:lpstr>
      <vt:lpstr>Les Surfaces de représentation de la Terre</vt:lpstr>
      <vt:lpstr>Les systèmes de coordonnées </vt:lpstr>
      <vt:lpstr>Les systèmes de coordonnées</vt:lpstr>
      <vt:lpstr>Les systèmes de coordonnées</vt:lpstr>
      <vt:lpstr>Les systèmes de coordonnées</vt:lpstr>
      <vt:lpstr>Les systèmes de coordonnées</vt:lpstr>
      <vt:lpstr>Les systèmes de coordonnées</vt:lpstr>
      <vt:lpstr>Les systèmes de coordonnées </vt:lpstr>
      <vt:lpstr>Les systèmes de coordonnées </vt:lpstr>
      <vt:lpstr>Les systèmes de coordonnées</vt:lpstr>
      <vt:lpstr>Les systèmes de coordonnées</vt:lpstr>
      <vt:lpstr>Types de systèmes de référence géodésique</vt:lpstr>
      <vt:lpstr>Types de systèmes de référence géodésique</vt:lpstr>
      <vt:lpstr>Types de systèmes de référence géodésique</vt:lpstr>
      <vt:lpstr>Types de systèmes de référence géodésique</vt:lpstr>
      <vt:lpstr>Transformation des coordonnées d’un système à un autre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Océanium</dc:creator>
  <cp:lastModifiedBy>Seynabou DIOP</cp:lastModifiedBy>
  <cp:revision>182</cp:revision>
  <dcterms:created xsi:type="dcterms:W3CDTF">2017-10-25T11:37:21Z</dcterms:created>
  <dcterms:modified xsi:type="dcterms:W3CDTF">2024-09-17T08:59:00Z</dcterms:modified>
</cp:coreProperties>
</file>