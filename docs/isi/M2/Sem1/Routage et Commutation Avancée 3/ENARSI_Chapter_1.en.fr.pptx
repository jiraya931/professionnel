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4.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5.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6.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7.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8.xml" ContentType="application/vnd.openxmlformats-officedocument.presentationml.tag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ags/tag9.xml" ContentType="application/vnd.openxmlformats-officedocument.presentationml.tags+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tags/tag10.xml" ContentType="application/vnd.openxmlformats-officedocument.presentationml.tags+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tags/tag11.xml" ContentType="application/vnd.openxmlformats-officedocument.presentationml.tags+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tags/tag12.xml" ContentType="application/vnd.openxmlformats-officedocument.presentationml.tags+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79"/>
  </p:notesMasterIdLst>
  <p:sldIdLst>
    <p:sldId id="513" r:id="rId2"/>
    <p:sldId id="1207" r:id="rId3"/>
    <p:sldId id="1335" r:id="rId4"/>
    <p:sldId id="1206" r:id="rId5"/>
    <p:sldId id="1208" r:id="rId6"/>
    <p:sldId id="1340" r:id="rId7"/>
    <p:sldId id="1341" r:id="rId8"/>
    <p:sldId id="1342" r:id="rId9"/>
    <p:sldId id="1343" r:id="rId10"/>
    <p:sldId id="1333" r:id="rId11"/>
    <p:sldId id="1345" r:id="rId12"/>
    <p:sldId id="1346" r:id="rId13"/>
    <p:sldId id="1347" r:id="rId14"/>
    <p:sldId id="1348" r:id="rId15"/>
    <p:sldId id="1349" r:id="rId16"/>
    <p:sldId id="1350" r:id="rId17"/>
    <p:sldId id="1351" r:id="rId18"/>
    <p:sldId id="1352" r:id="rId19"/>
    <p:sldId id="1353" r:id="rId20"/>
    <p:sldId id="1354" r:id="rId21"/>
    <p:sldId id="1355" r:id="rId22"/>
    <p:sldId id="1356" r:id="rId23"/>
    <p:sldId id="1358" r:id="rId24"/>
    <p:sldId id="1357" r:id="rId25"/>
    <p:sldId id="1359" r:id="rId26"/>
    <p:sldId id="1360" r:id="rId27"/>
    <p:sldId id="1361" r:id="rId28"/>
    <p:sldId id="1362" r:id="rId29"/>
    <p:sldId id="1363" r:id="rId30"/>
    <p:sldId id="1364" r:id="rId31"/>
    <p:sldId id="1365" r:id="rId32"/>
    <p:sldId id="1366" r:id="rId33"/>
    <p:sldId id="1367" r:id="rId34"/>
    <p:sldId id="1368" r:id="rId35"/>
    <p:sldId id="1369" r:id="rId36"/>
    <p:sldId id="1370" r:id="rId37"/>
    <p:sldId id="1371" r:id="rId38"/>
    <p:sldId id="1372" r:id="rId39"/>
    <p:sldId id="1373" r:id="rId40"/>
    <p:sldId id="1374" r:id="rId41"/>
    <p:sldId id="1375" r:id="rId42"/>
    <p:sldId id="1376" r:id="rId43"/>
    <p:sldId id="1377" r:id="rId44"/>
    <p:sldId id="1381" r:id="rId45"/>
    <p:sldId id="1382" r:id="rId46"/>
    <p:sldId id="1383" r:id="rId47"/>
    <p:sldId id="1378" r:id="rId48"/>
    <p:sldId id="1384" r:id="rId49"/>
    <p:sldId id="1385" r:id="rId50"/>
    <p:sldId id="1379" r:id="rId51"/>
    <p:sldId id="1386" r:id="rId52"/>
    <p:sldId id="1388" r:id="rId53"/>
    <p:sldId id="1387" r:id="rId54"/>
    <p:sldId id="1389" r:id="rId55"/>
    <p:sldId id="1390" r:id="rId56"/>
    <p:sldId id="1391" r:id="rId57"/>
    <p:sldId id="1392" r:id="rId58"/>
    <p:sldId id="1393" r:id="rId59"/>
    <p:sldId id="1394" r:id="rId60"/>
    <p:sldId id="1395" r:id="rId61"/>
    <p:sldId id="1380" r:id="rId62"/>
    <p:sldId id="1396" r:id="rId63"/>
    <p:sldId id="1397" r:id="rId64"/>
    <p:sldId id="1398" r:id="rId65"/>
    <p:sldId id="1399" r:id="rId66"/>
    <p:sldId id="1254" r:id="rId67"/>
    <p:sldId id="1250" r:id="rId68"/>
    <p:sldId id="1337" r:id="rId69"/>
    <p:sldId id="1338" r:id="rId70"/>
    <p:sldId id="1339" r:id="rId71"/>
    <p:sldId id="1251" r:id="rId72"/>
    <p:sldId id="1336" r:id="rId73"/>
    <p:sldId id="1252" r:id="rId74"/>
    <p:sldId id="1400" r:id="rId75"/>
    <p:sldId id="1401" r:id="rId76"/>
    <p:sldId id="1402" r:id="rId77"/>
    <p:sldId id="1253" r:id="rId78"/>
  </p:sldIdLst>
  <p:sldSz cx="9144000" cy="5143500" type="screen16x9"/>
  <p:notesSz cx="6858000" cy="9144000"/>
  <p:custDataLst>
    <p:tags r:id="rId80"/>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7" name="Jane Gibbons -X (jagibbon - UNICON INC at Cisco)" initials="JG-(-UIaC" lastIdx="3" clrIdx="7">
    <p:extLst>
      <p:ext uri="{19B8F6BF-5375-455C-9EA6-DF929625EA0E}">
        <p15:presenceInfo xmlns:p15="http://schemas.microsoft.com/office/powerpoint/2012/main" userId="S::jagibbon@cisco.com::6c22a3d5-1ec6-41bb-bccc-597d33cd3bb7" providerId="AD"/>
      </p:ext>
    </p:extLst>
  </p:cmAuthor>
  <p:cmAuthor id="1" name="Jane Gibbons -X (jagibbon - DEL ORO CONSULTING INC at Cisco)" initials="JG-(-DOCIaC" lastIdx="28" clrIdx="1"/>
  <p:cmAuthor id="8" name="Information Technology Education" initials="ITE" lastIdx="3" clrIdx="8">
    <p:extLst>
      <p:ext uri="{19B8F6BF-5375-455C-9EA6-DF929625EA0E}">
        <p15:presenceInfo xmlns:p15="http://schemas.microsoft.com/office/powerpoint/2012/main" userId="Information Technology Education" providerId="None"/>
      </p:ext>
    </p:extLst>
  </p:cmAuthor>
  <p:cmAuthor id="2" name="Bob Vachon" initials="BV" lastIdx="24" clrIdx="2"/>
  <p:cmAuthor id="3" name="Sue Livingston -X (suliving - UNICON INC at Cisco)" initials="SL-(-UIaC" lastIdx="16" clrIdx="3"/>
  <p:cmAuthor id="4" name="jagibbon" initials="jmg" lastIdx="8" clrIdx="4"/>
  <p:cmAuthor id="5" name="Stephanie Harvey" initials="SH" lastIdx="2" clrIdx="5">
    <p:extLst>
      <p:ext uri="{19B8F6BF-5375-455C-9EA6-DF929625EA0E}">
        <p15:presenceInfo xmlns:p15="http://schemas.microsoft.com/office/powerpoint/2012/main" userId="Stephanie Harvey" providerId="None"/>
      </p:ext>
    </p:extLst>
  </p:cmAuthor>
  <p:cmAuthor id="6" name="Stiles, Steve" initials="SS" lastIdx="7" clrIdx="6">
    <p:extLst>
      <p:ext uri="{19B8F6BF-5375-455C-9EA6-DF929625EA0E}">
        <p15:presenceInfo xmlns:p15="http://schemas.microsoft.com/office/powerpoint/2012/main" userId="S-1-5-21-2000478354-179605362-1606980848-198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E8C3"/>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70" autoAdjust="0"/>
    <p:restoredTop sz="86657" autoAdjust="0"/>
  </p:normalViewPr>
  <p:slideViewPr>
    <p:cSldViewPr snapToGrid="0" showGuides="1">
      <p:cViewPr varScale="1">
        <p:scale>
          <a:sx n="146" d="100"/>
          <a:sy n="146" d="100"/>
        </p:scale>
        <p:origin x="822" y="114"/>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125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presProps" Target="pres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gs" Target="tags/tag1.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2/3/2024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‹N°›</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10"/>
          </p:nvPr>
        </p:nvSpPr>
        <p:spPr/>
        <p:txBody>
          <a:bodyPr/>
          <a:lstStyle/>
          <a:p>
            <a:pPr algn="l" rtl="0"/>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2</a:t>
            </a:fld>
            <a:endParaRPr lang="en-US" dirty="0"/>
          </a:p>
        </p:txBody>
      </p:sp>
    </p:spTree>
    <p:extLst>
      <p:ext uri="{BB962C8B-B14F-4D97-AF65-F5344CB8AC3E}">
        <p14:creationId xmlns:p14="http://schemas.microsoft.com/office/powerpoint/2010/main" val="35213041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3</a:t>
            </a:fld>
            <a:endParaRPr lang="en-US" dirty="0"/>
          </a:p>
        </p:txBody>
      </p:sp>
    </p:spTree>
    <p:extLst>
      <p:ext uri="{BB962C8B-B14F-4D97-AF65-F5344CB8AC3E}">
        <p14:creationId xmlns:p14="http://schemas.microsoft.com/office/powerpoint/2010/main" val="23667449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10"/>
          </p:nvPr>
        </p:nvSpPr>
        <p:spPr/>
        <p:txBody>
          <a:bodyPr/>
          <a:lstStyle/>
          <a:p>
            <a:pPr algn="l" rtl="0"/>
            <a:fld id="{5641018C-6CAF-B84E-B92C-ECB119457FBA}" type="slidenum">
              <a:rPr lang="en-US" smtClean="0"/>
              <a:t>4</a:t>
            </a:fld>
            <a:endParaRPr lang="en-US" dirty="0"/>
          </a:p>
        </p:txBody>
      </p:sp>
    </p:spTree>
    <p:extLst>
      <p:ext uri="{BB962C8B-B14F-4D97-AF65-F5344CB8AC3E}">
        <p14:creationId xmlns:p14="http://schemas.microsoft.com/office/powerpoint/2010/main" val="40903462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5</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6</a:t>
            </a:fld>
            <a:endParaRPr lang="en-US" dirty="0"/>
          </a:p>
        </p:txBody>
      </p:sp>
    </p:spTree>
    <p:extLst>
      <p:ext uri="{BB962C8B-B14F-4D97-AF65-F5344CB8AC3E}">
        <p14:creationId xmlns:p14="http://schemas.microsoft.com/office/powerpoint/2010/main" val="19996130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7</a:t>
            </a:fld>
            <a:endParaRPr lang="en-US" dirty="0"/>
          </a:p>
        </p:txBody>
      </p:sp>
    </p:spTree>
    <p:extLst>
      <p:ext uri="{BB962C8B-B14F-4D97-AF65-F5344CB8AC3E}">
        <p14:creationId xmlns:p14="http://schemas.microsoft.com/office/powerpoint/2010/main" val="23110202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8</a:t>
            </a:fld>
            <a:endParaRPr lang="en-US" dirty="0"/>
          </a:p>
        </p:txBody>
      </p:sp>
    </p:spTree>
    <p:extLst>
      <p:ext uri="{BB962C8B-B14F-4D97-AF65-F5344CB8AC3E}">
        <p14:creationId xmlns:p14="http://schemas.microsoft.com/office/powerpoint/2010/main" val="33067320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9</a:t>
            </a:fld>
            <a:endParaRPr lang="en-US" dirty="0"/>
          </a:p>
        </p:txBody>
      </p:sp>
    </p:spTree>
    <p:extLst>
      <p:ext uri="{BB962C8B-B14F-4D97-AF65-F5344CB8AC3E}">
        <p14:creationId xmlns:p14="http://schemas.microsoft.com/office/powerpoint/2010/main" val="7458613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10"/>
          </p:nvPr>
        </p:nvSpPr>
        <p:spPr/>
        <p:txBody>
          <a:bodyPr/>
          <a:lstStyle/>
          <a:p>
            <a:pPr algn="l" rtl="0"/>
            <a:fld id="{5641018C-6CAF-B84E-B92C-ECB119457FBA}" type="slidenum">
              <a:rPr lang="en-US" smtClean="0"/>
              <a:t>10</a:t>
            </a:fld>
            <a:endParaRPr lang="en-US" dirty="0"/>
          </a:p>
        </p:txBody>
      </p:sp>
    </p:spTree>
    <p:extLst>
      <p:ext uri="{BB962C8B-B14F-4D97-AF65-F5344CB8AC3E}">
        <p14:creationId xmlns:p14="http://schemas.microsoft.com/office/powerpoint/2010/main" val="37805148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11</a:t>
            </a:fld>
            <a:endParaRPr lang="en-US" dirty="0"/>
          </a:p>
        </p:txBody>
      </p:sp>
    </p:spTree>
    <p:extLst>
      <p:ext uri="{BB962C8B-B14F-4D97-AF65-F5344CB8AC3E}">
        <p14:creationId xmlns:p14="http://schemas.microsoft.com/office/powerpoint/2010/main" val="12554688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12</a:t>
            </a:fld>
            <a:endParaRPr lang="en-US" dirty="0"/>
          </a:p>
        </p:txBody>
      </p:sp>
    </p:spTree>
    <p:extLst>
      <p:ext uri="{BB962C8B-B14F-4D97-AF65-F5344CB8AC3E}">
        <p14:creationId xmlns:p14="http://schemas.microsoft.com/office/powerpoint/2010/main" val="13505763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13</a:t>
            </a:fld>
            <a:endParaRPr lang="en-US" dirty="0"/>
          </a:p>
        </p:txBody>
      </p:sp>
    </p:spTree>
    <p:extLst>
      <p:ext uri="{BB962C8B-B14F-4D97-AF65-F5344CB8AC3E}">
        <p14:creationId xmlns:p14="http://schemas.microsoft.com/office/powerpoint/2010/main" val="34463171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14</a:t>
            </a:fld>
            <a:endParaRPr lang="en-US" dirty="0"/>
          </a:p>
        </p:txBody>
      </p:sp>
    </p:spTree>
    <p:extLst>
      <p:ext uri="{BB962C8B-B14F-4D97-AF65-F5344CB8AC3E}">
        <p14:creationId xmlns:p14="http://schemas.microsoft.com/office/powerpoint/2010/main" val="27959605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15</a:t>
            </a:fld>
            <a:endParaRPr lang="en-US" dirty="0"/>
          </a:p>
        </p:txBody>
      </p:sp>
    </p:spTree>
    <p:extLst>
      <p:ext uri="{BB962C8B-B14F-4D97-AF65-F5344CB8AC3E}">
        <p14:creationId xmlns:p14="http://schemas.microsoft.com/office/powerpoint/2010/main" val="5034545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16</a:t>
            </a:fld>
            <a:endParaRPr lang="en-US" dirty="0"/>
          </a:p>
        </p:txBody>
      </p:sp>
    </p:spTree>
    <p:extLst>
      <p:ext uri="{BB962C8B-B14F-4D97-AF65-F5344CB8AC3E}">
        <p14:creationId xmlns:p14="http://schemas.microsoft.com/office/powerpoint/2010/main" val="24882112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17</a:t>
            </a:fld>
            <a:endParaRPr lang="en-US" dirty="0"/>
          </a:p>
        </p:txBody>
      </p:sp>
    </p:spTree>
    <p:extLst>
      <p:ext uri="{BB962C8B-B14F-4D97-AF65-F5344CB8AC3E}">
        <p14:creationId xmlns:p14="http://schemas.microsoft.com/office/powerpoint/2010/main" val="7566865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18</a:t>
            </a:fld>
            <a:endParaRPr lang="en-US" dirty="0"/>
          </a:p>
        </p:txBody>
      </p:sp>
    </p:spTree>
    <p:extLst>
      <p:ext uri="{BB962C8B-B14F-4D97-AF65-F5344CB8AC3E}">
        <p14:creationId xmlns:p14="http://schemas.microsoft.com/office/powerpoint/2010/main" val="33918116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19</a:t>
            </a:fld>
            <a:endParaRPr lang="en-US" dirty="0"/>
          </a:p>
        </p:txBody>
      </p:sp>
    </p:spTree>
    <p:extLst>
      <p:ext uri="{BB962C8B-B14F-4D97-AF65-F5344CB8AC3E}">
        <p14:creationId xmlns:p14="http://schemas.microsoft.com/office/powerpoint/2010/main" val="37063482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20</a:t>
            </a:fld>
            <a:endParaRPr lang="en-US" dirty="0"/>
          </a:p>
        </p:txBody>
      </p:sp>
    </p:spTree>
    <p:extLst>
      <p:ext uri="{BB962C8B-B14F-4D97-AF65-F5344CB8AC3E}">
        <p14:creationId xmlns:p14="http://schemas.microsoft.com/office/powerpoint/2010/main" val="4439544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10"/>
          </p:nvPr>
        </p:nvSpPr>
        <p:spPr/>
        <p:txBody>
          <a:bodyPr/>
          <a:lstStyle/>
          <a:p>
            <a:pPr algn="l" rtl="0"/>
            <a:fld id="{5641018C-6CAF-B84E-B92C-ECB119457FBA}" type="slidenum">
              <a:rPr lang="en-US" smtClean="0"/>
              <a:t>21</a:t>
            </a:fld>
            <a:endParaRPr lang="en-US" dirty="0"/>
          </a:p>
        </p:txBody>
      </p:sp>
    </p:spTree>
    <p:extLst>
      <p:ext uri="{BB962C8B-B14F-4D97-AF65-F5344CB8AC3E}">
        <p14:creationId xmlns:p14="http://schemas.microsoft.com/office/powerpoint/2010/main" val="29510254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22</a:t>
            </a:fld>
            <a:endParaRPr lang="en-US" dirty="0"/>
          </a:p>
        </p:txBody>
      </p:sp>
    </p:spTree>
    <p:extLst>
      <p:ext uri="{BB962C8B-B14F-4D97-AF65-F5344CB8AC3E}">
        <p14:creationId xmlns:p14="http://schemas.microsoft.com/office/powerpoint/2010/main" val="20940878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23</a:t>
            </a:fld>
            <a:endParaRPr lang="en-US" dirty="0"/>
          </a:p>
        </p:txBody>
      </p:sp>
    </p:spTree>
    <p:extLst>
      <p:ext uri="{BB962C8B-B14F-4D97-AF65-F5344CB8AC3E}">
        <p14:creationId xmlns:p14="http://schemas.microsoft.com/office/powerpoint/2010/main" val="32151321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24</a:t>
            </a:fld>
            <a:endParaRPr lang="en-US" dirty="0"/>
          </a:p>
        </p:txBody>
      </p:sp>
    </p:spTree>
    <p:extLst>
      <p:ext uri="{BB962C8B-B14F-4D97-AF65-F5344CB8AC3E}">
        <p14:creationId xmlns:p14="http://schemas.microsoft.com/office/powerpoint/2010/main" val="7566740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25</a:t>
            </a:fld>
            <a:endParaRPr lang="en-US" dirty="0"/>
          </a:p>
        </p:txBody>
      </p:sp>
    </p:spTree>
    <p:extLst>
      <p:ext uri="{BB962C8B-B14F-4D97-AF65-F5344CB8AC3E}">
        <p14:creationId xmlns:p14="http://schemas.microsoft.com/office/powerpoint/2010/main" val="10625049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10"/>
          </p:nvPr>
        </p:nvSpPr>
        <p:spPr/>
        <p:txBody>
          <a:bodyPr/>
          <a:lstStyle/>
          <a:p>
            <a:pPr algn="l" rtl="0"/>
            <a:fld id="{5641018C-6CAF-B84E-B92C-ECB119457FBA}" type="slidenum">
              <a:rPr lang="en-US" smtClean="0"/>
              <a:t>26</a:t>
            </a:fld>
            <a:endParaRPr lang="en-US" dirty="0"/>
          </a:p>
        </p:txBody>
      </p:sp>
    </p:spTree>
    <p:extLst>
      <p:ext uri="{BB962C8B-B14F-4D97-AF65-F5344CB8AC3E}">
        <p14:creationId xmlns:p14="http://schemas.microsoft.com/office/powerpoint/2010/main" val="10997632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27</a:t>
            </a:fld>
            <a:endParaRPr lang="en-US" dirty="0"/>
          </a:p>
        </p:txBody>
      </p:sp>
    </p:spTree>
    <p:extLst>
      <p:ext uri="{BB962C8B-B14F-4D97-AF65-F5344CB8AC3E}">
        <p14:creationId xmlns:p14="http://schemas.microsoft.com/office/powerpoint/2010/main" val="17896710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28</a:t>
            </a:fld>
            <a:endParaRPr lang="en-US" dirty="0"/>
          </a:p>
        </p:txBody>
      </p:sp>
    </p:spTree>
    <p:extLst>
      <p:ext uri="{BB962C8B-B14F-4D97-AF65-F5344CB8AC3E}">
        <p14:creationId xmlns:p14="http://schemas.microsoft.com/office/powerpoint/2010/main" val="12361392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29</a:t>
            </a:fld>
            <a:endParaRPr lang="en-US" dirty="0"/>
          </a:p>
        </p:txBody>
      </p:sp>
    </p:spTree>
    <p:extLst>
      <p:ext uri="{BB962C8B-B14F-4D97-AF65-F5344CB8AC3E}">
        <p14:creationId xmlns:p14="http://schemas.microsoft.com/office/powerpoint/2010/main" val="40999568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30</a:t>
            </a:fld>
            <a:endParaRPr lang="en-US" dirty="0"/>
          </a:p>
        </p:txBody>
      </p:sp>
    </p:spTree>
    <p:extLst>
      <p:ext uri="{BB962C8B-B14F-4D97-AF65-F5344CB8AC3E}">
        <p14:creationId xmlns:p14="http://schemas.microsoft.com/office/powerpoint/2010/main" val="24356768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31</a:t>
            </a:fld>
            <a:endParaRPr lang="en-US" dirty="0"/>
          </a:p>
        </p:txBody>
      </p:sp>
    </p:spTree>
    <p:extLst>
      <p:ext uri="{BB962C8B-B14F-4D97-AF65-F5344CB8AC3E}">
        <p14:creationId xmlns:p14="http://schemas.microsoft.com/office/powerpoint/2010/main" val="35421676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32</a:t>
            </a:fld>
            <a:endParaRPr lang="en-US" dirty="0"/>
          </a:p>
        </p:txBody>
      </p:sp>
    </p:spTree>
    <p:extLst>
      <p:ext uri="{BB962C8B-B14F-4D97-AF65-F5344CB8AC3E}">
        <p14:creationId xmlns:p14="http://schemas.microsoft.com/office/powerpoint/2010/main" val="12347596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33</a:t>
            </a:fld>
            <a:endParaRPr lang="en-US" dirty="0"/>
          </a:p>
        </p:txBody>
      </p:sp>
    </p:spTree>
    <p:extLst>
      <p:ext uri="{BB962C8B-B14F-4D97-AF65-F5344CB8AC3E}">
        <p14:creationId xmlns:p14="http://schemas.microsoft.com/office/powerpoint/2010/main" val="14815495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34</a:t>
            </a:fld>
            <a:endParaRPr lang="en-US" dirty="0"/>
          </a:p>
        </p:txBody>
      </p:sp>
    </p:spTree>
    <p:extLst>
      <p:ext uri="{BB962C8B-B14F-4D97-AF65-F5344CB8AC3E}">
        <p14:creationId xmlns:p14="http://schemas.microsoft.com/office/powerpoint/2010/main" val="11388988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35</a:t>
            </a:fld>
            <a:endParaRPr lang="en-US" dirty="0"/>
          </a:p>
        </p:txBody>
      </p:sp>
    </p:spTree>
    <p:extLst>
      <p:ext uri="{BB962C8B-B14F-4D97-AF65-F5344CB8AC3E}">
        <p14:creationId xmlns:p14="http://schemas.microsoft.com/office/powerpoint/2010/main" val="8743988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10"/>
          </p:nvPr>
        </p:nvSpPr>
        <p:spPr/>
        <p:txBody>
          <a:bodyPr/>
          <a:lstStyle/>
          <a:p>
            <a:pPr algn="l" rtl="0"/>
            <a:fld id="{5641018C-6CAF-B84E-B92C-ECB119457FBA}" type="slidenum">
              <a:rPr lang="en-US" smtClean="0"/>
              <a:t>36</a:t>
            </a:fld>
            <a:endParaRPr lang="en-US" dirty="0"/>
          </a:p>
        </p:txBody>
      </p:sp>
    </p:spTree>
    <p:extLst>
      <p:ext uri="{BB962C8B-B14F-4D97-AF65-F5344CB8AC3E}">
        <p14:creationId xmlns:p14="http://schemas.microsoft.com/office/powerpoint/2010/main" val="23063380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37</a:t>
            </a:fld>
            <a:endParaRPr lang="en-US" dirty="0"/>
          </a:p>
        </p:txBody>
      </p:sp>
    </p:spTree>
    <p:extLst>
      <p:ext uri="{BB962C8B-B14F-4D97-AF65-F5344CB8AC3E}">
        <p14:creationId xmlns:p14="http://schemas.microsoft.com/office/powerpoint/2010/main" val="846711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38</a:t>
            </a:fld>
            <a:endParaRPr lang="en-US" dirty="0"/>
          </a:p>
        </p:txBody>
      </p:sp>
    </p:spTree>
    <p:extLst>
      <p:ext uri="{BB962C8B-B14F-4D97-AF65-F5344CB8AC3E}">
        <p14:creationId xmlns:p14="http://schemas.microsoft.com/office/powerpoint/2010/main" val="28810171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39</a:t>
            </a:fld>
            <a:endParaRPr lang="en-US" dirty="0"/>
          </a:p>
        </p:txBody>
      </p:sp>
    </p:spTree>
    <p:extLst>
      <p:ext uri="{BB962C8B-B14F-4D97-AF65-F5344CB8AC3E}">
        <p14:creationId xmlns:p14="http://schemas.microsoft.com/office/powerpoint/2010/main" val="42669726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40</a:t>
            </a:fld>
            <a:endParaRPr lang="en-US" dirty="0"/>
          </a:p>
        </p:txBody>
      </p:sp>
    </p:spTree>
    <p:extLst>
      <p:ext uri="{BB962C8B-B14F-4D97-AF65-F5344CB8AC3E}">
        <p14:creationId xmlns:p14="http://schemas.microsoft.com/office/powerpoint/2010/main" val="16933221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41</a:t>
            </a:fld>
            <a:endParaRPr lang="en-US" dirty="0"/>
          </a:p>
        </p:txBody>
      </p:sp>
    </p:spTree>
    <p:extLst>
      <p:ext uri="{BB962C8B-B14F-4D97-AF65-F5344CB8AC3E}">
        <p14:creationId xmlns:p14="http://schemas.microsoft.com/office/powerpoint/2010/main" val="80253798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42</a:t>
            </a:fld>
            <a:endParaRPr lang="en-US" dirty="0"/>
          </a:p>
        </p:txBody>
      </p:sp>
    </p:spTree>
    <p:extLst>
      <p:ext uri="{BB962C8B-B14F-4D97-AF65-F5344CB8AC3E}">
        <p14:creationId xmlns:p14="http://schemas.microsoft.com/office/powerpoint/2010/main" val="34556753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43</a:t>
            </a:fld>
            <a:endParaRPr lang="en-US" dirty="0"/>
          </a:p>
        </p:txBody>
      </p:sp>
    </p:spTree>
    <p:extLst>
      <p:ext uri="{BB962C8B-B14F-4D97-AF65-F5344CB8AC3E}">
        <p14:creationId xmlns:p14="http://schemas.microsoft.com/office/powerpoint/2010/main" val="111237670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44</a:t>
            </a:fld>
            <a:endParaRPr lang="en-US" dirty="0"/>
          </a:p>
        </p:txBody>
      </p:sp>
    </p:spTree>
    <p:extLst>
      <p:ext uri="{BB962C8B-B14F-4D97-AF65-F5344CB8AC3E}">
        <p14:creationId xmlns:p14="http://schemas.microsoft.com/office/powerpoint/2010/main" val="16966818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45</a:t>
            </a:fld>
            <a:endParaRPr lang="en-US" dirty="0"/>
          </a:p>
        </p:txBody>
      </p:sp>
    </p:spTree>
    <p:extLst>
      <p:ext uri="{BB962C8B-B14F-4D97-AF65-F5344CB8AC3E}">
        <p14:creationId xmlns:p14="http://schemas.microsoft.com/office/powerpoint/2010/main" val="208514220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46</a:t>
            </a:fld>
            <a:endParaRPr lang="en-US" dirty="0"/>
          </a:p>
        </p:txBody>
      </p:sp>
    </p:spTree>
    <p:extLst>
      <p:ext uri="{BB962C8B-B14F-4D97-AF65-F5344CB8AC3E}">
        <p14:creationId xmlns:p14="http://schemas.microsoft.com/office/powerpoint/2010/main" val="380577078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10"/>
          </p:nvPr>
        </p:nvSpPr>
        <p:spPr/>
        <p:txBody>
          <a:bodyPr/>
          <a:lstStyle/>
          <a:p>
            <a:pPr algn="l" rtl="0"/>
            <a:fld id="{5641018C-6CAF-B84E-B92C-ECB119457FBA}" type="slidenum">
              <a:rPr lang="en-US" smtClean="0"/>
              <a:t>47</a:t>
            </a:fld>
            <a:endParaRPr lang="en-US" dirty="0"/>
          </a:p>
        </p:txBody>
      </p:sp>
    </p:spTree>
    <p:extLst>
      <p:ext uri="{BB962C8B-B14F-4D97-AF65-F5344CB8AC3E}">
        <p14:creationId xmlns:p14="http://schemas.microsoft.com/office/powerpoint/2010/main" val="332847540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48</a:t>
            </a:fld>
            <a:endParaRPr lang="en-US" dirty="0"/>
          </a:p>
        </p:txBody>
      </p:sp>
    </p:spTree>
    <p:extLst>
      <p:ext uri="{BB962C8B-B14F-4D97-AF65-F5344CB8AC3E}">
        <p14:creationId xmlns:p14="http://schemas.microsoft.com/office/powerpoint/2010/main" val="32666938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49</a:t>
            </a:fld>
            <a:endParaRPr lang="en-US" dirty="0"/>
          </a:p>
        </p:txBody>
      </p:sp>
    </p:spTree>
    <p:extLst>
      <p:ext uri="{BB962C8B-B14F-4D97-AF65-F5344CB8AC3E}">
        <p14:creationId xmlns:p14="http://schemas.microsoft.com/office/powerpoint/2010/main" val="17764862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10"/>
          </p:nvPr>
        </p:nvSpPr>
        <p:spPr/>
        <p:txBody>
          <a:bodyPr/>
          <a:lstStyle/>
          <a:p>
            <a:pPr algn="l" rtl="0"/>
            <a:fld id="{5641018C-6CAF-B84E-B92C-ECB119457FBA}" type="slidenum">
              <a:rPr lang="en-US" smtClean="0"/>
              <a:t>50</a:t>
            </a:fld>
            <a:endParaRPr lang="en-US" dirty="0"/>
          </a:p>
        </p:txBody>
      </p:sp>
    </p:spTree>
    <p:extLst>
      <p:ext uri="{BB962C8B-B14F-4D97-AF65-F5344CB8AC3E}">
        <p14:creationId xmlns:p14="http://schemas.microsoft.com/office/powerpoint/2010/main" val="312832652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51</a:t>
            </a:fld>
            <a:endParaRPr lang="en-US" dirty="0"/>
          </a:p>
        </p:txBody>
      </p:sp>
    </p:spTree>
    <p:extLst>
      <p:ext uri="{BB962C8B-B14F-4D97-AF65-F5344CB8AC3E}">
        <p14:creationId xmlns:p14="http://schemas.microsoft.com/office/powerpoint/2010/main" val="11689738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52</a:t>
            </a:fld>
            <a:endParaRPr lang="en-US" dirty="0"/>
          </a:p>
        </p:txBody>
      </p:sp>
    </p:spTree>
    <p:extLst>
      <p:ext uri="{BB962C8B-B14F-4D97-AF65-F5344CB8AC3E}">
        <p14:creationId xmlns:p14="http://schemas.microsoft.com/office/powerpoint/2010/main" val="205219802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53</a:t>
            </a:fld>
            <a:endParaRPr lang="en-US" dirty="0"/>
          </a:p>
        </p:txBody>
      </p:sp>
    </p:spTree>
    <p:extLst>
      <p:ext uri="{BB962C8B-B14F-4D97-AF65-F5344CB8AC3E}">
        <p14:creationId xmlns:p14="http://schemas.microsoft.com/office/powerpoint/2010/main" val="56759099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54</a:t>
            </a:fld>
            <a:endParaRPr lang="en-US" dirty="0"/>
          </a:p>
        </p:txBody>
      </p:sp>
    </p:spTree>
    <p:extLst>
      <p:ext uri="{BB962C8B-B14F-4D97-AF65-F5344CB8AC3E}">
        <p14:creationId xmlns:p14="http://schemas.microsoft.com/office/powerpoint/2010/main" val="88386805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55</a:t>
            </a:fld>
            <a:endParaRPr lang="en-US" dirty="0"/>
          </a:p>
        </p:txBody>
      </p:sp>
    </p:spTree>
    <p:extLst>
      <p:ext uri="{BB962C8B-B14F-4D97-AF65-F5344CB8AC3E}">
        <p14:creationId xmlns:p14="http://schemas.microsoft.com/office/powerpoint/2010/main" val="240985906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56</a:t>
            </a:fld>
            <a:endParaRPr lang="en-US" dirty="0"/>
          </a:p>
        </p:txBody>
      </p:sp>
    </p:spTree>
    <p:extLst>
      <p:ext uri="{BB962C8B-B14F-4D97-AF65-F5344CB8AC3E}">
        <p14:creationId xmlns:p14="http://schemas.microsoft.com/office/powerpoint/2010/main" val="146373365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57</a:t>
            </a:fld>
            <a:endParaRPr lang="en-US" dirty="0"/>
          </a:p>
        </p:txBody>
      </p:sp>
    </p:spTree>
    <p:extLst>
      <p:ext uri="{BB962C8B-B14F-4D97-AF65-F5344CB8AC3E}">
        <p14:creationId xmlns:p14="http://schemas.microsoft.com/office/powerpoint/2010/main" val="176506980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58</a:t>
            </a:fld>
            <a:endParaRPr lang="en-US" dirty="0"/>
          </a:p>
        </p:txBody>
      </p:sp>
    </p:spTree>
    <p:extLst>
      <p:ext uri="{BB962C8B-B14F-4D97-AF65-F5344CB8AC3E}">
        <p14:creationId xmlns:p14="http://schemas.microsoft.com/office/powerpoint/2010/main" val="168946630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59</a:t>
            </a:fld>
            <a:endParaRPr lang="en-US" dirty="0"/>
          </a:p>
        </p:txBody>
      </p:sp>
    </p:spTree>
    <p:extLst>
      <p:ext uri="{BB962C8B-B14F-4D97-AF65-F5344CB8AC3E}">
        <p14:creationId xmlns:p14="http://schemas.microsoft.com/office/powerpoint/2010/main" val="19898550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60</a:t>
            </a:fld>
            <a:endParaRPr lang="en-US" dirty="0"/>
          </a:p>
        </p:txBody>
      </p:sp>
    </p:spTree>
    <p:extLst>
      <p:ext uri="{BB962C8B-B14F-4D97-AF65-F5344CB8AC3E}">
        <p14:creationId xmlns:p14="http://schemas.microsoft.com/office/powerpoint/2010/main" val="61679053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10"/>
          </p:nvPr>
        </p:nvSpPr>
        <p:spPr/>
        <p:txBody>
          <a:bodyPr/>
          <a:lstStyle/>
          <a:p>
            <a:pPr algn="l" rtl="0"/>
            <a:fld id="{5641018C-6CAF-B84E-B92C-ECB119457FBA}" type="slidenum">
              <a:rPr lang="en-US" smtClean="0"/>
              <a:t>61</a:t>
            </a:fld>
            <a:endParaRPr lang="en-US" dirty="0"/>
          </a:p>
        </p:txBody>
      </p:sp>
    </p:spTree>
    <p:extLst>
      <p:ext uri="{BB962C8B-B14F-4D97-AF65-F5344CB8AC3E}">
        <p14:creationId xmlns:p14="http://schemas.microsoft.com/office/powerpoint/2010/main" val="326748467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62</a:t>
            </a:fld>
            <a:endParaRPr lang="en-US" dirty="0"/>
          </a:p>
        </p:txBody>
      </p:sp>
    </p:spTree>
    <p:extLst>
      <p:ext uri="{BB962C8B-B14F-4D97-AF65-F5344CB8AC3E}">
        <p14:creationId xmlns:p14="http://schemas.microsoft.com/office/powerpoint/2010/main" val="331712033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63</a:t>
            </a:fld>
            <a:endParaRPr lang="en-US" dirty="0"/>
          </a:p>
        </p:txBody>
      </p:sp>
    </p:spTree>
    <p:extLst>
      <p:ext uri="{BB962C8B-B14F-4D97-AF65-F5344CB8AC3E}">
        <p14:creationId xmlns:p14="http://schemas.microsoft.com/office/powerpoint/2010/main" val="425585511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64</a:t>
            </a:fld>
            <a:endParaRPr lang="en-US" dirty="0"/>
          </a:p>
        </p:txBody>
      </p:sp>
    </p:spTree>
    <p:extLst>
      <p:ext uri="{BB962C8B-B14F-4D97-AF65-F5344CB8AC3E}">
        <p14:creationId xmlns:p14="http://schemas.microsoft.com/office/powerpoint/2010/main" val="186324056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65</a:t>
            </a:fld>
            <a:endParaRPr lang="en-US" dirty="0"/>
          </a:p>
        </p:txBody>
      </p:sp>
    </p:spTree>
    <p:extLst>
      <p:ext uri="{BB962C8B-B14F-4D97-AF65-F5344CB8AC3E}">
        <p14:creationId xmlns:p14="http://schemas.microsoft.com/office/powerpoint/2010/main" val="403486773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10"/>
          </p:nvPr>
        </p:nvSpPr>
        <p:spPr/>
        <p:txBody>
          <a:bodyPr/>
          <a:lstStyle/>
          <a:p>
            <a:pPr algn="l" rtl="0"/>
            <a:fld id="{5641018C-6CAF-B84E-B92C-ECB119457FBA}" type="slidenum">
              <a:rPr lang="en-US" smtClean="0"/>
              <a:t>66</a:t>
            </a:fld>
            <a:endParaRPr lang="en-US" dirty="0"/>
          </a:p>
        </p:txBody>
      </p:sp>
    </p:spTree>
    <p:extLst>
      <p:ext uri="{BB962C8B-B14F-4D97-AF65-F5344CB8AC3E}">
        <p14:creationId xmlns:p14="http://schemas.microsoft.com/office/powerpoint/2010/main" val="409034628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67</a:t>
            </a:fld>
            <a:endParaRPr lang="en-US" dirty="0"/>
          </a:p>
        </p:txBody>
      </p:sp>
    </p:spTree>
    <p:extLst>
      <p:ext uri="{BB962C8B-B14F-4D97-AF65-F5344CB8AC3E}">
        <p14:creationId xmlns:p14="http://schemas.microsoft.com/office/powerpoint/2010/main" val="229887506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68</a:t>
            </a:fld>
            <a:endParaRPr lang="en-US" dirty="0"/>
          </a:p>
        </p:txBody>
      </p:sp>
    </p:spTree>
    <p:extLst>
      <p:ext uri="{BB962C8B-B14F-4D97-AF65-F5344CB8AC3E}">
        <p14:creationId xmlns:p14="http://schemas.microsoft.com/office/powerpoint/2010/main" val="197996841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69</a:t>
            </a:fld>
            <a:endParaRPr lang="en-US" dirty="0"/>
          </a:p>
        </p:txBody>
      </p:sp>
    </p:spTree>
    <p:extLst>
      <p:ext uri="{BB962C8B-B14F-4D97-AF65-F5344CB8AC3E}">
        <p14:creationId xmlns:p14="http://schemas.microsoft.com/office/powerpoint/2010/main" val="96045231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70</a:t>
            </a:fld>
            <a:endParaRPr lang="en-US" dirty="0"/>
          </a:p>
        </p:txBody>
      </p:sp>
    </p:spTree>
    <p:extLst>
      <p:ext uri="{BB962C8B-B14F-4D97-AF65-F5344CB8AC3E}">
        <p14:creationId xmlns:p14="http://schemas.microsoft.com/office/powerpoint/2010/main" val="152154700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71</a:t>
            </a:fld>
            <a:endParaRPr lang="en-US" dirty="0"/>
          </a:p>
        </p:txBody>
      </p:sp>
    </p:spTree>
    <p:extLst>
      <p:ext uri="{BB962C8B-B14F-4D97-AF65-F5344CB8AC3E}">
        <p14:creationId xmlns:p14="http://schemas.microsoft.com/office/powerpoint/2010/main" val="359832207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72</a:t>
            </a:fld>
            <a:endParaRPr lang="en-US" dirty="0"/>
          </a:p>
        </p:txBody>
      </p:sp>
    </p:spTree>
    <p:extLst>
      <p:ext uri="{BB962C8B-B14F-4D97-AF65-F5344CB8AC3E}">
        <p14:creationId xmlns:p14="http://schemas.microsoft.com/office/powerpoint/2010/main" val="95347335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73</a:t>
            </a:fld>
            <a:endParaRPr lang="en-US" dirty="0"/>
          </a:p>
        </p:txBody>
      </p:sp>
    </p:spTree>
    <p:extLst>
      <p:ext uri="{BB962C8B-B14F-4D97-AF65-F5344CB8AC3E}">
        <p14:creationId xmlns:p14="http://schemas.microsoft.com/office/powerpoint/2010/main" val="116696795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74</a:t>
            </a:fld>
            <a:endParaRPr lang="en-US" dirty="0"/>
          </a:p>
        </p:txBody>
      </p:sp>
    </p:spTree>
    <p:extLst>
      <p:ext uri="{BB962C8B-B14F-4D97-AF65-F5344CB8AC3E}">
        <p14:creationId xmlns:p14="http://schemas.microsoft.com/office/powerpoint/2010/main" val="220014280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75</a:t>
            </a:fld>
            <a:endParaRPr lang="en-US" dirty="0"/>
          </a:p>
        </p:txBody>
      </p:sp>
    </p:spTree>
    <p:extLst>
      <p:ext uri="{BB962C8B-B14F-4D97-AF65-F5344CB8AC3E}">
        <p14:creationId xmlns:p14="http://schemas.microsoft.com/office/powerpoint/2010/main" val="64282763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76</a:t>
            </a:fld>
            <a:endParaRPr lang="en-US" dirty="0"/>
          </a:p>
        </p:txBody>
      </p:sp>
    </p:spTree>
    <p:extLst>
      <p:ext uri="{BB962C8B-B14F-4D97-AF65-F5344CB8AC3E}">
        <p14:creationId xmlns:p14="http://schemas.microsoft.com/office/powerpoint/2010/main" val="137492246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en-US" dirty="0"/>
          </a:p>
        </p:txBody>
      </p:sp>
      <p:sp>
        <p:nvSpPr>
          <p:cNvPr id="4" name="Slide Number Placeholder 3"/>
          <p:cNvSpPr>
            <a:spLocks noGrp="1"/>
          </p:cNvSpPr>
          <p:nvPr>
            <p:ph type="sldNum" sz="quarter" idx="5"/>
          </p:nvPr>
        </p:nvSpPr>
        <p:spPr/>
        <p:txBody>
          <a:bodyPr/>
          <a:lstStyle/>
          <a:p>
            <a:pPr algn="l" rtl="0"/>
            <a:fld id="{5641018C-6CAF-B84E-B92C-ECB119457FBA}" type="slidenum">
              <a:rPr lang="en-US" smtClean="0"/>
              <a:t>77</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‹N°›</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‹N°›</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31" r:id="rId13"/>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5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3.xml"/><Relationship Id="rId1" Type="http://schemas.openxmlformats.org/officeDocument/2006/relationships/slideLayout" Target="../slideLayouts/slideLayout5.xml"/><Relationship Id="rId4" Type="http://schemas.openxmlformats.org/officeDocument/2006/relationships/image" Target="../media/image38.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6.xml"/><Relationship Id="rId1" Type="http://schemas.openxmlformats.org/officeDocument/2006/relationships/slideLayout" Target="../slideLayouts/slideLayout5.xml"/><Relationship Id="rId5" Type="http://schemas.openxmlformats.org/officeDocument/2006/relationships/image" Target="../media/image42.png"/><Relationship Id="rId4" Type="http://schemas.openxmlformats.org/officeDocument/2006/relationships/image" Target="../media/image41.png"/></Relationships>
</file>

<file path=ppt/slides/_rels/slide5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7.xml"/><Relationship Id="rId1" Type="http://schemas.openxmlformats.org/officeDocument/2006/relationships/slideLayout" Target="../slideLayouts/slideLayout5.xml"/><Relationship Id="rId5" Type="http://schemas.openxmlformats.org/officeDocument/2006/relationships/image" Target="../media/image42.png"/><Relationship Id="rId4" Type="http://schemas.openxmlformats.org/officeDocument/2006/relationships/image" Target="../media/image41.png"/></Relationships>
</file>

<file path=ppt/slides/_rels/slide5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6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2.xml"/><Relationship Id="rId1" Type="http://schemas.openxmlformats.org/officeDocument/2006/relationships/slideLayout" Target="../slideLayouts/slideLayout5.xml"/><Relationship Id="rId4" Type="http://schemas.openxmlformats.org/officeDocument/2006/relationships/image" Target="../media/image45.png"/></Relationships>
</file>

<file path=ppt/slides/_rels/slide6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3.xml"/><Relationship Id="rId1" Type="http://schemas.openxmlformats.org/officeDocument/2006/relationships/slideLayout" Target="../slideLayouts/slideLayout5.xml"/><Relationship Id="rId5" Type="http://schemas.openxmlformats.org/officeDocument/2006/relationships/image" Target="../media/image47.png"/><Relationship Id="rId4" Type="http://schemas.openxmlformats.org/officeDocument/2006/relationships/image" Target="../media/image46.png"/></Relationships>
</file>

<file path=ppt/slides/_rels/slide6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4.xml"/><Relationship Id="rId1" Type="http://schemas.openxmlformats.org/officeDocument/2006/relationships/slideLayout" Target="../slideLayouts/slideLayout5.xml"/><Relationship Id="rId4" Type="http://schemas.openxmlformats.org/officeDocument/2006/relationships/image" Target="../media/image49.png"/></Relationships>
</file>

<file path=ppt/slides/_rels/slide6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5.xml"/><Relationship Id="rId1" Type="http://schemas.openxmlformats.org/officeDocument/2006/relationships/slideLayout" Target="../slideLayouts/slideLayout5.xml"/><Relationship Id="rId4" Type="http://schemas.openxmlformats.org/officeDocument/2006/relationships/image" Target="../media/image51.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10.xml"/><Relationship Id="rId1" Type="http://schemas.openxmlformats.org/officeDocument/2006/relationships/tags" Target="../tags/tag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785413" cy="1666626"/>
          </a:xfrm>
        </p:spPr>
        <p:txBody>
          <a:bodyPr/>
          <a:lstStyle/>
          <a:p>
            <a:pPr algn="l" rtl="0"/>
            <a:r>
              <a:rPr lang="en-US" dirty="0">
                <a:solidFill>
                  <a:schemeClr val="accent5">
                    <a:lumMod val="40000"/>
                    <a:lumOff val="60000"/>
                  </a:schemeClr>
                </a:solidFill>
              </a:rPr>
              <a:t>Chapitre 1 : Examen de l'adressage et du routage IPv4/IPv6</a:t>
            </a:r>
          </a:p>
        </p:txBody>
      </p:sp>
      <p:sp>
        <p:nvSpPr>
          <p:cNvPr id="5" name="Text Placeholder 4"/>
          <p:cNvSpPr>
            <a:spLocks noGrp="1"/>
          </p:cNvSpPr>
          <p:nvPr>
            <p:ph type="body" sz="quarter" idx="13"/>
          </p:nvPr>
        </p:nvSpPr>
        <p:spPr>
          <a:xfrm>
            <a:off x="469497" y="3127609"/>
            <a:ext cx="5925246" cy="299001"/>
          </a:xfrm>
        </p:spPr>
        <p:txBody>
          <a:bodyPr/>
          <a:lstStyle/>
          <a:p>
            <a:pPr algn="l" rtl="0"/>
            <a:r>
              <a:rPr lang="en-US" dirty="0">
                <a:solidFill>
                  <a:schemeClr val="bg2">
                    <a:lumMod val="40000"/>
                    <a:lumOff val="60000"/>
                  </a:schemeClr>
                </a:solidFill>
              </a:rPr>
              <a:t>Matériel pour l'instructeur</a:t>
            </a:r>
          </a:p>
        </p:txBody>
      </p:sp>
      <p:sp>
        <p:nvSpPr>
          <p:cNvPr id="7" name="Subtitle 6"/>
          <p:cNvSpPr>
            <a:spLocks noGrp="1"/>
          </p:cNvSpPr>
          <p:nvPr>
            <p:ph type="subTitle" idx="1"/>
          </p:nvPr>
        </p:nvSpPr>
        <p:spPr>
          <a:xfrm>
            <a:off x="469496" y="3809526"/>
            <a:ext cx="2730903" cy="902174"/>
          </a:xfrm>
        </p:spPr>
        <p:txBody>
          <a:bodyPr/>
          <a:lstStyle/>
          <a:p>
            <a:pPr algn="l" rtl="0"/>
            <a:r>
              <a:rPr lang="en-US" dirty="0">
                <a:solidFill>
                  <a:schemeClr val="accent5">
                    <a:lumMod val="40000"/>
                    <a:lumOff val="60000"/>
                  </a:schemeClr>
                </a:solidFill>
              </a:rPr>
              <a:t>CCNP Entreprise : Routage avancé</a:t>
            </a:r>
            <a:endParaRPr lang="en-US" dirty="0"/>
          </a:p>
          <a:p>
            <a:pPr algn="l" rtl="0"/>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algn="l" rtl="0"/>
            <a:r>
              <a:rPr lang="en-US" sz="2400" dirty="0"/>
              <a:t>Contenu du chapitre 1</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82166" y="810868"/>
            <a:ext cx="8779668" cy="3600358"/>
          </a:xfrm>
        </p:spPr>
        <p:txBody>
          <a:bodyPr/>
          <a:lstStyle/>
          <a:p>
            <a:pPr marL="0" indent="0" algn="l" defTabSz="684213" rtl="0" fontAlgn="base">
              <a:spcBef>
                <a:spcPts val="600"/>
              </a:spcBef>
              <a:spcAft>
                <a:spcPts val="600"/>
              </a:spcAft>
              <a:buClr>
                <a:schemeClr val="tx2"/>
              </a:buClr>
              <a:buSzPct val="90000"/>
            </a:pPr>
            <a:r>
              <a:rPr lang="en-US" sz="1800" b="1" dirty="0">
                <a:solidFill>
                  <a:srgbClr val="000000"/>
                </a:solidFill>
              </a:rPr>
              <a:t>Ce chapitre couvre le contenu suivant :</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en-US" sz="1800" b="1" dirty="0">
                <a:solidFill>
                  <a:srgbClr val="000000"/>
                </a:solidFill>
              </a:rPr>
              <a:t>Adressage IPv4 -</a:t>
            </a:r>
            <a:r>
              <a:rPr lang="en-US" sz="1800" dirty="0">
                <a:solidFill>
                  <a:srgbClr val="000000"/>
                </a:solidFill>
              </a:rPr>
              <a:t>Cette section fournit un aperçu de l'adressage IPv4 et couvre les problèmes que vous pourriez rencontrer et comment les résoudre.</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en-US" sz="1800" b="1" dirty="0">
                <a:solidFill>
                  <a:srgbClr val="000000"/>
                </a:solidFill>
              </a:rPr>
              <a:t>DHCP pour IPv4 -</a:t>
            </a:r>
            <a:r>
              <a:rPr lang="en-US" sz="1800" dirty="0">
                <a:solidFill>
                  <a:srgbClr val="000000"/>
                </a:solidFill>
              </a:rPr>
              <a:t>Cette section passe en revue DHCP pour les opérations IPv4, explore les problèmes DHCP potentiels et examine le résultat de diverses commandes DHCP show.</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en-US" sz="1800" b="1" dirty="0">
                <a:solidFill>
                  <a:srgbClr val="000000"/>
                </a:solidFill>
              </a:rPr>
              <a:t>Adressage IPv6 -</a:t>
            </a:r>
            <a:r>
              <a:rPr lang="en-US" sz="1800" dirty="0">
                <a:solidFill>
                  <a:srgbClr val="000000"/>
                </a:solidFill>
              </a:rPr>
              <a:t>Cette section fournit un bref aperçu de l'adressage IPv6.</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en-US" sz="1800" b="1" dirty="0">
                <a:solidFill>
                  <a:srgbClr val="000000"/>
                </a:solidFill>
              </a:rPr>
              <a:t>IPv6 SLAAC, DHCPv6 avec état et DHCPv6 sans état -</a:t>
            </a:r>
            <a:r>
              <a:rPr lang="en-US" sz="1800" dirty="0">
                <a:solidFill>
                  <a:srgbClr val="000000"/>
                </a:solidFill>
              </a:rPr>
              <a:t>Cette section explore la manière dont les clients obtiennent des informations d'adressage IPv6 à l'aide de SLACC, de DHCPv6 avec état et de DHCPv6 sans état.</a:t>
            </a:r>
          </a:p>
          <a:p>
            <a:pPr marL="0" algn="l" rtl="0">
              <a:lnSpc>
                <a:spcPct val="115000"/>
              </a:lnSpc>
              <a:spcBef>
                <a:spcPts val="0"/>
              </a:spcBef>
            </a:pPr>
            <a:endParaRPr lang="en-US" sz="1500" dirty="0"/>
          </a:p>
          <a:p>
            <a:pPr marL="0" algn="l" rtl="0">
              <a:lnSpc>
                <a:spcPct val="115000"/>
              </a:lnSpc>
              <a:spcBef>
                <a:spcPts val="0"/>
              </a:spcBef>
            </a:pPr>
            <a:endParaRPr lang="en-US" sz="1500" dirty="0">
              <a:solidFill>
                <a:srgbClr val="000000"/>
              </a:solidFill>
              <a:ea typeface="Calibri"/>
              <a:cs typeface="CiscoSerif-Regular"/>
            </a:endParaRPr>
          </a:p>
          <a:p>
            <a:pPr marL="0" algn="l" rtl="0">
              <a:lnSpc>
                <a:spcPct val="115000"/>
              </a:lnSpc>
              <a:spcBef>
                <a:spcPts val="0"/>
              </a:spcBef>
            </a:pPr>
            <a:endParaRPr lang="en-US" sz="1800" dirty="0"/>
          </a:p>
        </p:txBody>
      </p:sp>
    </p:spTree>
    <p:extLst>
      <p:ext uri="{BB962C8B-B14F-4D97-AF65-F5344CB8AC3E}">
        <p14:creationId xmlns:p14="http://schemas.microsoft.com/office/powerpoint/2010/main" val="4127854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algn="l" rtl="0"/>
            <a:r>
              <a:rPr lang="en-US" sz="2400" dirty="0"/>
              <a:t>Contenu du chapitre 1 (suite)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82166" y="810868"/>
            <a:ext cx="8779668" cy="3600358"/>
          </a:xfrm>
        </p:spPr>
        <p:txBody>
          <a:bodyPr/>
          <a:lstStyle/>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en-US" sz="1800" b="1" dirty="0">
                <a:solidFill>
                  <a:srgbClr val="000000"/>
                </a:solidFill>
              </a:rPr>
              <a:t>Processus de transfert de paquets -</a:t>
            </a:r>
            <a:r>
              <a:rPr lang="en-US" sz="1800" dirty="0">
                <a:solidFill>
                  <a:srgbClr val="000000"/>
                </a:solidFill>
              </a:rPr>
              <a:t>Cette section traite du processus de transfert de paquets et des commandes permettant de vérifier les entrées dans les structures de données utilisées pour ce processus. Il vous fournit également une collection de commandes Cisco IOS utiles lors du dépannage.</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en-US" sz="1800" b="1" dirty="0">
                <a:solidFill>
                  <a:srgbClr val="000000"/>
                </a:solidFill>
              </a:rPr>
              <a:t>Sources d'informations sur le routage -</a:t>
            </a:r>
            <a:r>
              <a:rPr lang="en-US" sz="1800" dirty="0">
                <a:solidFill>
                  <a:srgbClr val="000000"/>
                </a:solidFill>
              </a:rPr>
              <a:t>Cette section explique quelles sources d'informations de routage sont les plus crédibles et comment la table de routage interagit avec diverses structures de données pour se renseigner avec les meilleures informations.</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en-US" sz="1800" b="1" dirty="0">
                <a:solidFill>
                  <a:srgbClr val="000000"/>
                </a:solidFill>
              </a:rPr>
              <a:t>Itinéraires statiques -</a:t>
            </a:r>
            <a:r>
              <a:rPr lang="en-US" sz="1800" dirty="0">
                <a:solidFill>
                  <a:srgbClr val="000000"/>
                </a:solidFill>
              </a:rPr>
              <a:t>Cette section explique comment configurer et vérifier les routes statiques IPv4 et IPv6.</a:t>
            </a:r>
          </a:p>
          <a:p>
            <a:pPr marL="285750" indent="-285750" algn="l" defTabSz="684213" rtl="0" fontAlgn="base">
              <a:spcBef>
                <a:spcPts val="600"/>
              </a:spcBef>
              <a:spcAft>
                <a:spcPts val="600"/>
              </a:spcAft>
              <a:buClr>
                <a:schemeClr val="tx2"/>
              </a:buClr>
              <a:buSzPct val="90000"/>
              <a:buFont typeface="Arial" panose="020B0604020202020204" pitchFamily="34" charset="0"/>
              <a:buChar char="•"/>
            </a:pPr>
            <a:r>
              <a:rPr lang="en-US" sz="1800" b="1" dirty="0">
                <a:solidFill>
                  <a:srgbClr val="000000"/>
                </a:solidFill>
              </a:rPr>
              <a:t>Billets de problèmes -</a:t>
            </a:r>
            <a:r>
              <a:rPr lang="en-US" sz="1800" dirty="0">
                <a:solidFill>
                  <a:srgbClr val="000000"/>
                </a:solidFill>
              </a:rPr>
              <a:t>Cette section fournit un certain nombre de tickets d'incident qui démontrent comment un processus de dépannage structuré est utilisé pour résoudre un problème signalé.</a:t>
            </a:r>
            <a:endParaRPr lang="en-US" sz="1500" dirty="0"/>
          </a:p>
          <a:p>
            <a:pPr marL="0" algn="l" rtl="0">
              <a:lnSpc>
                <a:spcPct val="115000"/>
              </a:lnSpc>
              <a:spcBef>
                <a:spcPts val="0"/>
              </a:spcBef>
            </a:pPr>
            <a:endParaRPr lang="en-US" sz="1500" dirty="0">
              <a:solidFill>
                <a:srgbClr val="000000"/>
              </a:solidFill>
              <a:ea typeface="Calibri"/>
              <a:cs typeface="CiscoSerif-Regular"/>
            </a:endParaRPr>
          </a:p>
          <a:p>
            <a:pPr marL="0" algn="l" rtl="0">
              <a:lnSpc>
                <a:spcPct val="115000"/>
              </a:lnSpc>
              <a:spcBef>
                <a:spcPts val="0"/>
              </a:spcBef>
            </a:pPr>
            <a:endParaRPr lang="en-US" sz="1800" dirty="0"/>
          </a:p>
        </p:txBody>
      </p:sp>
    </p:spTree>
    <p:extLst>
      <p:ext uri="{BB962C8B-B14F-4D97-AF65-F5344CB8AC3E}">
        <p14:creationId xmlns:p14="http://schemas.microsoft.com/office/powerpoint/2010/main" val="402904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B89FE0-AFBF-4F30-AE65-3B18BCBE3A9A}"/>
              </a:ext>
            </a:extLst>
          </p:cNvPr>
          <p:cNvSpPr>
            <a:spLocks noGrp="1"/>
          </p:cNvSpPr>
          <p:nvPr>
            <p:ph type="ctrTitle"/>
          </p:nvPr>
        </p:nvSpPr>
        <p:spPr>
          <a:xfrm>
            <a:off x="337844" y="252411"/>
            <a:ext cx="7598042" cy="1351755"/>
          </a:xfrm>
        </p:spPr>
        <p:txBody>
          <a:bodyPr/>
          <a:lstStyle/>
          <a:p>
            <a:pPr algn="l" rtl="0"/>
            <a:r>
              <a:rPr lang="en-US" sz="4800" dirty="0">
                <a:solidFill>
                  <a:schemeClr val="accent5">
                    <a:lumMod val="40000"/>
                    <a:lumOff val="60000"/>
                  </a:schemeClr>
                </a:solidFill>
              </a:rPr>
              <a:t>Adressage IPv4</a:t>
            </a:r>
            <a:endParaRPr lang="en-US" dirty="0">
              <a:solidFill>
                <a:schemeClr val="accent5">
                  <a:lumMod val="40000"/>
                  <a:lumOff val="60000"/>
                </a:schemeClr>
              </a:solidFill>
            </a:endParaRPr>
          </a:p>
        </p:txBody>
      </p:sp>
      <p:sp>
        <p:nvSpPr>
          <p:cNvPr id="4" name="TextBox 3">
            <a:extLst>
              <a:ext uri="{FF2B5EF4-FFF2-40B4-BE49-F238E27FC236}">
                <a16:creationId xmlns:a16="http://schemas.microsoft.com/office/drawing/2014/main" id="{E2BFA70F-DC0C-41D5-868E-C8FBC661D58F}"/>
              </a:ext>
            </a:extLst>
          </p:cNvPr>
          <p:cNvSpPr txBox="1"/>
          <p:nvPr/>
        </p:nvSpPr>
        <p:spPr>
          <a:xfrm>
            <a:off x="433084" y="1715712"/>
            <a:ext cx="8277832" cy="2062103"/>
          </a:xfrm>
          <a:prstGeom prst="rect">
            <a:avLst/>
          </a:prstGeom>
          <a:noFill/>
        </p:spPr>
        <p:txBody>
          <a:bodyPr wrap="square" rtlCol="0">
            <a:spAutoFit/>
          </a:bodyPr>
          <a:lstStyle/>
          <a:p>
            <a:pPr marL="285750" indent="-285750" algn="l" rtl="0">
              <a:buFont typeface="Arial" panose="020B0604020202020204" pitchFamily="34" charset="0"/>
              <a:buChar char="•"/>
            </a:pPr>
            <a:r>
              <a:rPr lang="en-US" sz="1600" dirty="0">
                <a:solidFill>
                  <a:schemeClr val="accent5">
                    <a:lumMod val="40000"/>
                    <a:lumOff val="60000"/>
                  </a:schemeClr>
                </a:solidFill>
              </a:rPr>
              <a:t>Tout comme votre adresse personnelle définit de manière unique où vous vivez, une adresse IPv4 définit de manière unique où réside un appareil dans un réseau.</a:t>
            </a:r>
          </a:p>
          <a:p>
            <a:pPr marL="285750" indent="-285750" algn="l" rtl="0">
              <a:buFont typeface="Arial" panose="020B0604020202020204" pitchFamily="34" charset="0"/>
              <a:buChar char="•"/>
            </a:pPr>
            <a:r>
              <a:rPr lang="en-US" sz="1600" dirty="0">
                <a:solidFill>
                  <a:schemeClr val="accent5">
                    <a:lumMod val="40000"/>
                    <a:lumOff val="60000"/>
                  </a:schemeClr>
                </a:solidFill>
              </a:rPr>
              <a:t>Si les appareils sont mal adressés, ils risquent de ne pas recevoir les paquets qui leur sont destinés.</a:t>
            </a:r>
          </a:p>
          <a:p>
            <a:pPr marL="285750" indent="-285750" algn="l" rtl="0">
              <a:buFont typeface="Arial" panose="020B0604020202020204" pitchFamily="34" charset="0"/>
              <a:buChar char="•"/>
            </a:pPr>
            <a:r>
              <a:rPr lang="en-US" sz="1600" dirty="0">
                <a:solidFill>
                  <a:schemeClr val="accent5">
                    <a:lumMod val="40000"/>
                    <a:lumOff val="60000"/>
                  </a:schemeClr>
                </a:solidFill>
              </a:rPr>
              <a:t>Il est impératif que vous ayez une solide compréhension de l'adressage IPv4 et que vous sachiez comment vérifier que les appareils sont correctement adressés sur un réseau.</a:t>
            </a:r>
          </a:p>
          <a:p>
            <a:pPr marL="285750" indent="-285750" algn="l" rtl="0">
              <a:buFont typeface="Arial" panose="020B0604020202020204" pitchFamily="34" charset="0"/>
              <a:buChar char="•"/>
            </a:pPr>
            <a:r>
              <a:rPr lang="en-US" sz="1600" dirty="0">
                <a:solidFill>
                  <a:schemeClr val="accent5">
                    <a:lumMod val="40000"/>
                    <a:lumOff val="60000"/>
                  </a:schemeClr>
                </a:solidFill>
              </a:rPr>
              <a:t>Cette section passe en revue l'adressage IPv4 et aborde les problèmes que vous pourriez rencontrer et comment les résoudre.</a:t>
            </a:r>
          </a:p>
        </p:txBody>
      </p:sp>
    </p:spTree>
    <p:custDataLst>
      <p:tags r:id="rId1"/>
    </p:custDataLst>
    <p:extLst>
      <p:ext uri="{BB962C8B-B14F-4D97-AF65-F5344CB8AC3E}">
        <p14:creationId xmlns:p14="http://schemas.microsoft.com/office/powerpoint/2010/main" val="282487357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algn="l" rtl="0"/>
            <a:r>
              <a:rPr lang="en-US" sz="1600" dirty="0">
                <a:solidFill>
                  <a:schemeClr val="accent4">
                    <a:lumMod val="75000"/>
                  </a:schemeClr>
                </a:solidFill>
              </a:rPr>
              <a:t>Adressage IPv4</a:t>
            </a:r>
            <a:br>
              <a:rPr lang="en-US" dirty="0">
                <a:solidFill>
                  <a:schemeClr val="accent4">
                    <a:lumMod val="75000"/>
                  </a:schemeClr>
                </a:solidFill>
              </a:rPr>
            </a:br>
            <a:r>
              <a:rPr lang="en-US" sz="2400" dirty="0">
                <a:solidFill>
                  <a:schemeClr val="accent4">
                    <a:lumMod val="75000"/>
                  </a:schemeClr>
                </a:solidFill>
              </a:rPr>
              <a:t>Problèmes de résolution IPv4</a:t>
            </a:r>
          </a:p>
        </p:txBody>
      </p:sp>
      <p:sp>
        <p:nvSpPr>
          <p:cNvPr id="5" name="TextBox 4">
            <a:extLst>
              <a:ext uri="{FF2B5EF4-FFF2-40B4-BE49-F238E27FC236}">
                <a16:creationId xmlns:a16="http://schemas.microsoft.com/office/drawing/2014/main" id="{EEC9D1C4-B9E3-489B-800E-BA01649A61D8}"/>
              </a:ext>
            </a:extLst>
          </p:cNvPr>
          <p:cNvSpPr txBox="1"/>
          <p:nvPr/>
        </p:nvSpPr>
        <p:spPr>
          <a:xfrm>
            <a:off x="78545" y="731837"/>
            <a:ext cx="8823717" cy="2508379"/>
          </a:xfrm>
          <a:prstGeom prst="rect">
            <a:avLst/>
          </a:prstGeom>
          <a:noFill/>
        </p:spPr>
        <p:txBody>
          <a:bodyPr wrap="square" rtlCol="0">
            <a:spAutoFit/>
          </a:bodyPr>
          <a:lstStyle/>
          <a:p>
            <a:pPr algn="l" rtl="0" eaLnBrk="0" hangingPunct="0"/>
            <a:r>
              <a:rPr lang="en-US" sz="1500" dirty="0">
                <a:solidFill>
                  <a:srgbClr val="000000"/>
                </a:solidFill>
              </a:rPr>
              <a:t>Une adresse IPv4 est composée de deux parties : une partie réseau/sous-réseau et une partie hôte. Il est impératif que tous les appareils du même réseau/sous-réseau partagent exactement la même partie réseau/sous-réseau.</a:t>
            </a:r>
          </a:p>
          <a:p>
            <a:pPr algn="l" rtl="0" eaLnBrk="0" hangingPunct="0"/>
            <a:endParaRPr lang="en-US" sz="1500" dirty="0">
              <a:solidFill>
                <a:srgbClr val="000000"/>
              </a:solidFill>
            </a:endParaRPr>
          </a:p>
          <a:p>
            <a:pPr algn="l" rtl="0" eaLnBrk="0" hangingPunct="0"/>
            <a:r>
              <a:rPr lang="en-US" sz="1600" dirty="0">
                <a:solidFill>
                  <a:srgbClr val="000000"/>
                </a:solidFill>
              </a:rPr>
              <a:t>Lorsque PC1 doit communiquer avec PC2, il effectue une recherche DNS pour l'adresse IP de PC2. L'adresse IP 10.1.1.20 est renvoyée.</a:t>
            </a:r>
          </a:p>
          <a:p>
            <a:pPr algn="l" rtl="0" eaLnBrk="0" hangingPunct="0"/>
            <a:endParaRPr lang="en-US" sz="1600" dirty="0">
              <a:solidFill>
                <a:srgbClr val="000000"/>
              </a:solidFill>
            </a:endParaRPr>
          </a:p>
          <a:p>
            <a:pPr algn="l" rtl="0" eaLnBrk="0" hangingPunct="0"/>
            <a:r>
              <a:rPr lang="en-US" sz="1600" dirty="0">
                <a:solidFill>
                  <a:srgbClr val="000000"/>
                </a:solidFill>
              </a:rPr>
              <a:t>PC1 doit maintenant déterminer si PC2 est situé dans le même sous-réseau, car cela détermine si la trame possède l'adresse MAC de PC2 ou l'adresse MAC de la passerelle par défaut (DG).</a:t>
            </a:r>
            <a:r>
              <a:rPr lang="en-US" sz="1600" dirty="0">
                <a:solidFill>
                  <a:schemeClr val="tx1">
                    <a:lumMod val="50000"/>
                  </a:schemeClr>
                </a:solidFill>
              </a:rPr>
              <a:t>PC1 détermine sa partie réseau/sous-réseau en</a:t>
            </a:r>
            <a:r>
              <a:rPr lang="en-US" sz="1600" dirty="0">
                <a:solidFill>
                  <a:srgbClr val="000000"/>
                </a:solidFill>
              </a:rPr>
              <a:t>en comparant son adresse IP à son masque de sous-réseau en binaire, comme suit :</a:t>
            </a:r>
          </a:p>
        </p:txBody>
      </p:sp>
      <p:pic>
        <p:nvPicPr>
          <p:cNvPr id="2" name="Picture 1">
            <a:extLst>
              <a:ext uri="{FF2B5EF4-FFF2-40B4-BE49-F238E27FC236}">
                <a16:creationId xmlns:a16="http://schemas.microsoft.com/office/drawing/2014/main" id="{BC3DB1B5-E12F-4826-86C8-FA8AD58F2E4A}"/>
              </a:ext>
            </a:extLst>
          </p:cNvPr>
          <p:cNvPicPr>
            <a:picLocks noChangeAspect="1"/>
          </p:cNvPicPr>
          <p:nvPr/>
        </p:nvPicPr>
        <p:blipFill>
          <a:blip r:embed="rId3"/>
          <a:srcRect/>
          <a:stretch/>
        </p:blipFill>
        <p:spPr>
          <a:xfrm>
            <a:off x="5386115" y="3240216"/>
            <a:ext cx="3757885" cy="1702060"/>
          </a:xfrm>
          <a:prstGeom prst="rect">
            <a:avLst/>
          </a:prstGeom>
        </p:spPr>
      </p:pic>
      <p:sp>
        <p:nvSpPr>
          <p:cNvPr id="4" name="TextBox 3">
            <a:extLst>
              <a:ext uri="{FF2B5EF4-FFF2-40B4-BE49-F238E27FC236}">
                <a16:creationId xmlns:a16="http://schemas.microsoft.com/office/drawing/2014/main" id="{FFB16DCE-9075-443C-94CC-74EED46049F6}"/>
              </a:ext>
            </a:extLst>
          </p:cNvPr>
          <p:cNvSpPr txBox="1"/>
          <p:nvPr/>
        </p:nvSpPr>
        <p:spPr>
          <a:xfrm>
            <a:off x="81236" y="3067565"/>
            <a:ext cx="5253859" cy="1554272"/>
          </a:xfrm>
          <a:prstGeom prst="rect">
            <a:avLst/>
          </a:prstGeom>
          <a:noFill/>
        </p:spPr>
        <p:txBody>
          <a:bodyPr wrap="square" rtlCol="0">
            <a:spAutoFit/>
          </a:bodyPr>
          <a:lstStyle/>
          <a:p>
            <a:pPr marL="342900" indent="-342900" algn="l" rtl="0" eaLnBrk="0" hangingPunct="0">
              <a:buFont typeface="+mj-lt"/>
              <a:buAutoNum type="arabicPeriod"/>
            </a:pPr>
            <a:endParaRPr lang="en-US" sz="1400" dirty="0">
              <a:solidFill>
                <a:srgbClr val="000000"/>
              </a:solidFill>
            </a:endParaRPr>
          </a:p>
          <a:p>
            <a:pPr algn="l" rtl="0" eaLnBrk="0" hangingPunct="0"/>
            <a:r>
              <a:rPr lang="en-US" sz="1300" dirty="0">
                <a:solidFill>
                  <a:srgbClr val="000000"/>
                </a:solidFill>
                <a:latin typeface="Courier New" panose="02070309020205020404" pitchFamily="49" charset="0"/>
                <a:cs typeface="Courier New" panose="02070309020205020404" pitchFamily="49" charset="0"/>
              </a:rPr>
              <a:t>00001010.00000001.00000001.00001010</a:t>
            </a:r>
            <a:r>
              <a:rPr lang="en-US" sz="1400" dirty="0">
                <a:solidFill>
                  <a:srgbClr val="000000"/>
                </a:solidFill>
                <a:latin typeface="Courier New" panose="02070309020205020404" pitchFamily="49" charset="0"/>
                <a:cs typeface="Courier New" panose="02070309020205020404" pitchFamily="49" charset="0"/>
              </a:rPr>
              <a:t>-</a:t>
            </a:r>
            <a:r>
              <a:rPr lang="en-US" sz="1300" dirty="0">
                <a:solidFill>
                  <a:srgbClr val="000000"/>
                </a:solidFill>
                <a:latin typeface="+mj-lt"/>
                <a:cs typeface="Courier New" panose="02070309020205020404" pitchFamily="49" charset="0"/>
              </a:rPr>
              <a:t>Adresse IP PC1</a:t>
            </a:r>
          </a:p>
          <a:p>
            <a:pPr algn="l" rtl="0" eaLnBrk="0" hangingPunct="0"/>
            <a:r>
              <a:rPr lang="en-US" sz="1300" dirty="0">
                <a:solidFill>
                  <a:srgbClr val="000000"/>
                </a:solidFill>
                <a:highlight>
                  <a:srgbClr val="C0C0C0"/>
                </a:highlight>
                <a:latin typeface="Courier New" panose="02070309020205020404" pitchFamily="49" charset="0"/>
                <a:cs typeface="Courier New" panose="02070309020205020404" pitchFamily="49" charset="0"/>
              </a:rPr>
              <a:t>11111111.11111111.11111111.11</a:t>
            </a:r>
            <a:r>
              <a:rPr lang="en-US" sz="1300" dirty="0">
                <a:solidFill>
                  <a:srgbClr val="000000"/>
                </a:solidFill>
                <a:latin typeface="Courier New" panose="02070309020205020404" pitchFamily="49" charset="0"/>
                <a:cs typeface="Courier New" panose="02070309020205020404" pitchFamily="49" charset="0"/>
              </a:rPr>
              <a:t>000000 -</a:t>
            </a:r>
            <a:r>
              <a:rPr lang="en-US" sz="1300" dirty="0">
                <a:solidFill>
                  <a:srgbClr val="000000"/>
                </a:solidFill>
                <a:latin typeface="+mj-lt"/>
                <a:cs typeface="Courier New" panose="02070309020205020404" pitchFamily="49" charset="0"/>
              </a:rPr>
              <a:t>Masque de sous-réseau PC1</a:t>
            </a:r>
          </a:p>
          <a:p>
            <a:pPr algn="l" rtl="0" eaLnBrk="0" hangingPunct="0"/>
            <a:r>
              <a:rPr lang="en-US" sz="1400" dirty="0">
                <a:solidFill>
                  <a:srgbClr val="000000"/>
                </a:solidFill>
                <a:latin typeface="Courier New" panose="02070309020205020404" pitchFamily="49" charset="0"/>
                <a:cs typeface="Courier New" panose="02070309020205020404" pitchFamily="49" charset="0"/>
              </a:rPr>
              <a:t>---------------------------------------------</a:t>
            </a:r>
            <a:r>
              <a:rPr lang="en-US" sz="1300" dirty="0">
                <a:solidFill>
                  <a:srgbClr val="000000"/>
                </a:solidFill>
                <a:latin typeface="Courier New" panose="02070309020205020404" pitchFamily="49" charset="0"/>
                <a:cs typeface="Courier New" panose="02070309020205020404" pitchFamily="49" charset="0"/>
              </a:rPr>
              <a:t>00001010.00000001.00000001.00 -</a:t>
            </a:r>
            <a:r>
              <a:rPr lang="en-US" sz="1300" dirty="0">
                <a:solidFill>
                  <a:srgbClr val="000000"/>
                </a:solidFill>
                <a:latin typeface="+mn-lt"/>
                <a:cs typeface="Courier New" panose="02070309020205020404" pitchFamily="49" charset="0"/>
              </a:rPr>
              <a:t>ID de réseau/sous-réseau PC1</a:t>
            </a:r>
          </a:p>
          <a:p>
            <a:pPr algn="l" rtl="0" eaLnBrk="0" hangingPunct="0"/>
            <a:endParaRPr lang="en-US" sz="1300" dirty="0">
              <a:solidFill>
                <a:srgbClr val="000000"/>
              </a:solidFill>
              <a:latin typeface="+mn-lt"/>
              <a:cs typeface="Courier New" panose="02070309020205020404" pitchFamily="49" charset="0"/>
            </a:endParaRPr>
          </a:p>
          <a:p>
            <a:pPr algn="l" rtl="0" eaLnBrk="0" hangingPunct="0"/>
            <a:r>
              <a:rPr lang="en-US" sz="1400" dirty="0">
                <a:solidFill>
                  <a:srgbClr val="000000"/>
                </a:solidFill>
              </a:rPr>
              <a:t>(</a:t>
            </a:r>
            <a:r>
              <a:rPr lang="en-US" sz="1400" b="1" dirty="0">
                <a:solidFill>
                  <a:srgbClr val="000000"/>
                </a:solidFill>
              </a:rPr>
              <a:t>Les 1 dans le masque de sous-réseau identifient la partie du réseau</a:t>
            </a:r>
            <a:r>
              <a:rPr lang="en-US" sz="1400" dirty="0">
                <a:solidFill>
                  <a:srgbClr val="000000"/>
                </a:solidFill>
              </a:rPr>
              <a:t>.)</a:t>
            </a:r>
            <a:endParaRPr lang="en-US" sz="1400" dirty="0"/>
          </a:p>
        </p:txBody>
      </p:sp>
    </p:spTree>
    <p:extLst>
      <p:ext uri="{BB962C8B-B14F-4D97-AF65-F5344CB8AC3E}">
        <p14:creationId xmlns:p14="http://schemas.microsoft.com/office/powerpoint/2010/main" val="3237786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algn="l" rtl="0"/>
            <a:r>
              <a:rPr lang="en-US" sz="1600" dirty="0">
                <a:solidFill>
                  <a:schemeClr val="accent4">
                    <a:lumMod val="75000"/>
                  </a:schemeClr>
                </a:solidFill>
              </a:rPr>
              <a:t>Adressage IPv4</a:t>
            </a:r>
            <a:br>
              <a:rPr lang="en-US" dirty="0">
                <a:solidFill>
                  <a:schemeClr val="accent4">
                    <a:lumMod val="75000"/>
                  </a:schemeClr>
                </a:solidFill>
              </a:rPr>
            </a:br>
            <a:r>
              <a:rPr lang="en-US" sz="2400" dirty="0">
                <a:solidFill>
                  <a:schemeClr val="accent4">
                    <a:lumMod val="75000"/>
                  </a:schemeClr>
                </a:solidFill>
              </a:rPr>
              <a:t>Problèmes d'adressage IPv4 (suite)</a:t>
            </a:r>
          </a:p>
        </p:txBody>
      </p:sp>
      <p:sp>
        <p:nvSpPr>
          <p:cNvPr id="5" name="TextBox 4">
            <a:extLst>
              <a:ext uri="{FF2B5EF4-FFF2-40B4-BE49-F238E27FC236}">
                <a16:creationId xmlns:a16="http://schemas.microsoft.com/office/drawing/2014/main" id="{EEC9D1C4-B9E3-489B-800E-BA01649A61D8}"/>
              </a:ext>
            </a:extLst>
          </p:cNvPr>
          <p:cNvSpPr txBox="1"/>
          <p:nvPr/>
        </p:nvSpPr>
        <p:spPr>
          <a:xfrm>
            <a:off x="78545" y="731837"/>
            <a:ext cx="8823717" cy="2169825"/>
          </a:xfrm>
          <a:prstGeom prst="rect">
            <a:avLst/>
          </a:prstGeom>
          <a:noFill/>
        </p:spPr>
        <p:txBody>
          <a:bodyPr wrap="square" rtlCol="0">
            <a:spAutoFit/>
          </a:bodyPr>
          <a:lstStyle/>
          <a:p>
            <a:pPr algn="l" rtl="0" eaLnBrk="0" hangingPunct="0"/>
            <a:r>
              <a:rPr lang="en-US" sz="1500" dirty="0">
                <a:solidFill>
                  <a:srgbClr val="000000"/>
                </a:solidFill>
              </a:rPr>
              <a:t>Maintenant, PC1 compare exactement les mêmes bits binaires à ces bits binaires dans l'adresse de PC2, comme suit :</a:t>
            </a:r>
          </a:p>
          <a:p>
            <a:pPr algn="l" rtl="0" eaLnBrk="0" hangingPunct="0"/>
            <a:endParaRPr lang="en-US" sz="1500" dirty="0">
              <a:solidFill>
                <a:srgbClr val="000000"/>
              </a:solidFill>
            </a:endParaRPr>
          </a:p>
          <a:p>
            <a:pPr algn="l" rtl="0" eaLnBrk="0" hangingPunct="0"/>
            <a:r>
              <a:rPr lang="en-US" sz="1500" dirty="0">
                <a:solidFill>
                  <a:srgbClr val="000000"/>
                </a:solidFill>
                <a:highlight>
                  <a:srgbClr val="C0C0C0"/>
                </a:highlight>
              </a:rPr>
              <a:t>00001010.00000001.00000001.00</a:t>
            </a:r>
            <a:r>
              <a:rPr lang="en-US" sz="1500" dirty="0">
                <a:solidFill>
                  <a:srgbClr val="000000"/>
                </a:solidFill>
              </a:rPr>
              <a:t>- ID réseau/sous-réseau PC1</a:t>
            </a:r>
          </a:p>
          <a:p>
            <a:pPr algn="l" rtl="0" eaLnBrk="0" hangingPunct="0"/>
            <a:r>
              <a:rPr lang="en-US" sz="1500" dirty="0">
                <a:solidFill>
                  <a:srgbClr val="000000"/>
                </a:solidFill>
                <a:highlight>
                  <a:srgbClr val="C0C0C0"/>
                </a:highlight>
              </a:rPr>
              <a:t>00001010.00000001.00000001.00</a:t>
            </a:r>
            <a:r>
              <a:rPr lang="en-US" sz="1500" dirty="0">
                <a:solidFill>
                  <a:srgbClr val="000000"/>
                </a:solidFill>
              </a:rPr>
              <a:t>010100 - Adresse IP du PC2 en binaire</a:t>
            </a:r>
          </a:p>
          <a:p>
            <a:pPr algn="l" rtl="0" eaLnBrk="0" hangingPunct="0"/>
            <a:endParaRPr lang="en-US" sz="1500" dirty="0">
              <a:solidFill>
                <a:srgbClr val="000000"/>
              </a:solidFill>
            </a:endParaRPr>
          </a:p>
          <a:p>
            <a:pPr algn="l" rtl="0" eaLnBrk="0" hangingPunct="0"/>
            <a:r>
              <a:rPr lang="en-US" sz="1500" dirty="0">
                <a:solidFill>
                  <a:srgbClr val="000000"/>
                </a:solidFill>
              </a:rPr>
              <a:t>Étant donné que les bits binaires sont identiques, PC1 conclut que PC2 se trouve dans le même réseau/sous-réseau. Il communique donc directement avec lui et n’a pas besoin d’envoyer les données vers sa passerelle par défaut. PC1 crée une trame avec sa propre adresse MAC source et l'adresse MAC de PC2 comme destination.</a:t>
            </a:r>
            <a:endParaRPr lang="en-US" sz="1600" dirty="0">
              <a:solidFill>
                <a:srgbClr val="000000"/>
              </a:solidFill>
            </a:endParaRPr>
          </a:p>
        </p:txBody>
      </p:sp>
      <p:pic>
        <p:nvPicPr>
          <p:cNvPr id="2" name="Picture 1">
            <a:extLst>
              <a:ext uri="{FF2B5EF4-FFF2-40B4-BE49-F238E27FC236}">
                <a16:creationId xmlns:a16="http://schemas.microsoft.com/office/drawing/2014/main" id="{BC3DB1B5-E12F-4826-86C8-FA8AD58F2E4A}"/>
              </a:ext>
            </a:extLst>
          </p:cNvPr>
          <p:cNvPicPr>
            <a:picLocks noChangeAspect="1"/>
          </p:cNvPicPr>
          <p:nvPr/>
        </p:nvPicPr>
        <p:blipFill>
          <a:blip r:embed="rId3"/>
          <a:srcRect/>
          <a:stretch/>
        </p:blipFill>
        <p:spPr>
          <a:xfrm>
            <a:off x="4832899" y="3025525"/>
            <a:ext cx="4272970" cy="1935358"/>
          </a:xfrm>
          <a:prstGeom prst="rect">
            <a:avLst/>
          </a:prstGeom>
        </p:spPr>
      </p:pic>
    </p:spTree>
    <p:extLst>
      <p:ext uri="{BB962C8B-B14F-4D97-AF65-F5344CB8AC3E}">
        <p14:creationId xmlns:p14="http://schemas.microsoft.com/office/powerpoint/2010/main" val="1945724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algn="l" rtl="0"/>
            <a:r>
              <a:rPr lang="en-US" sz="1600" dirty="0">
                <a:solidFill>
                  <a:schemeClr val="accent4">
                    <a:lumMod val="75000"/>
                  </a:schemeClr>
                </a:solidFill>
              </a:rPr>
              <a:t>Adressage IPv4</a:t>
            </a:r>
            <a:br>
              <a:rPr lang="en-US" dirty="0">
                <a:solidFill>
                  <a:schemeClr val="accent4">
                    <a:lumMod val="75000"/>
                  </a:schemeClr>
                </a:solidFill>
              </a:rPr>
            </a:br>
            <a:r>
              <a:rPr lang="en-US" sz="2400" dirty="0">
                <a:solidFill>
                  <a:schemeClr val="accent4">
                    <a:lumMod val="75000"/>
                  </a:schemeClr>
                </a:solidFill>
              </a:rPr>
              <a:t>Problèmes d'adressage IPv4 (suite)</a:t>
            </a:r>
          </a:p>
        </p:txBody>
      </p:sp>
      <p:sp>
        <p:nvSpPr>
          <p:cNvPr id="5" name="TextBox 4">
            <a:extLst>
              <a:ext uri="{FF2B5EF4-FFF2-40B4-BE49-F238E27FC236}">
                <a16:creationId xmlns:a16="http://schemas.microsoft.com/office/drawing/2014/main" id="{EEC9D1C4-B9E3-489B-800E-BA01649A61D8}"/>
              </a:ext>
            </a:extLst>
          </p:cNvPr>
          <p:cNvSpPr txBox="1"/>
          <p:nvPr/>
        </p:nvSpPr>
        <p:spPr>
          <a:xfrm>
            <a:off x="78545" y="587112"/>
            <a:ext cx="8960352" cy="4247317"/>
          </a:xfrm>
          <a:prstGeom prst="rect">
            <a:avLst/>
          </a:prstGeom>
          <a:noFill/>
        </p:spPr>
        <p:txBody>
          <a:bodyPr wrap="square" rtlCol="0">
            <a:spAutoFit/>
          </a:bodyPr>
          <a:lstStyle/>
          <a:p>
            <a:pPr algn="l" rtl="0" eaLnBrk="0" hangingPunct="0"/>
            <a:r>
              <a:rPr lang="en-US" sz="1500" dirty="0">
                <a:solidFill>
                  <a:srgbClr val="000000"/>
                </a:solidFill>
              </a:rPr>
              <a:t>Considérez ce qui se passe lorsque PC1 doit communiquer avec un serveur Web à l'adresse 192.0.2.1. PC1 doit maintenant déterminer si le serveur Web se trouve dans le même réseau/sous-réseau. Ceci détermine si la trame a l'adresse MAC du serveur Web ou l'adresse MAC du DG.</a:t>
            </a:r>
          </a:p>
          <a:p>
            <a:pPr algn="l" rtl="0" eaLnBrk="0" hangingPunct="0"/>
            <a:endParaRPr lang="en-US" sz="1500" dirty="0">
              <a:solidFill>
                <a:srgbClr val="000000"/>
              </a:solidFill>
            </a:endParaRPr>
          </a:p>
          <a:p>
            <a:pPr algn="l" rtl="0" eaLnBrk="0" hangingPunct="0"/>
            <a:r>
              <a:rPr lang="en-US" sz="1500" dirty="0">
                <a:solidFill>
                  <a:srgbClr val="000000"/>
                </a:solidFill>
              </a:rPr>
              <a:t>PC1 détermine sa partie réseau/sous-réseau en comparant son adresse IP à son masque de sous-réseau en binaire :</a:t>
            </a:r>
            <a:br>
              <a:rPr lang="en-US" sz="1500" dirty="0">
                <a:solidFill>
                  <a:srgbClr val="000000"/>
                </a:solidFill>
              </a:rPr>
            </a:br>
            <a:endParaRPr lang="en-US" sz="1500" dirty="0">
              <a:solidFill>
                <a:srgbClr val="000000"/>
              </a:solidFill>
            </a:endParaRPr>
          </a:p>
          <a:p>
            <a:pPr algn="l" rtl="0" eaLnBrk="0" hangingPunct="0"/>
            <a:r>
              <a:rPr lang="en-US" sz="1400" dirty="0">
                <a:solidFill>
                  <a:srgbClr val="000000"/>
                </a:solidFill>
                <a:latin typeface="Courier New" panose="02070309020205020404" pitchFamily="49" charset="0"/>
                <a:cs typeface="Courier New" panose="02070309020205020404" pitchFamily="49" charset="0"/>
              </a:rPr>
              <a:t>00001010.00000001.00000001.00001010 - Adresse IP PC1 en binaire</a:t>
            </a:r>
          </a:p>
          <a:p>
            <a:pPr algn="l" rtl="0" eaLnBrk="0" hangingPunct="0"/>
            <a:r>
              <a:rPr lang="en-US" sz="1400" dirty="0">
                <a:solidFill>
                  <a:srgbClr val="000000"/>
                </a:solidFill>
                <a:latin typeface="Courier New" panose="02070309020205020404" pitchFamily="49" charset="0"/>
                <a:cs typeface="Courier New" panose="02070309020205020404" pitchFamily="49" charset="0"/>
              </a:rPr>
              <a:t>11111111.11111111.11111111.11000000 - Masque de sous-réseau PC1 en binaire</a:t>
            </a:r>
          </a:p>
          <a:p>
            <a:pPr algn="l" rtl="0" eaLnBrk="0" hangingPunct="0"/>
            <a:r>
              <a:rPr lang="en-US" sz="1400" dirty="0">
                <a:solidFill>
                  <a:srgbClr val="000000"/>
                </a:solidFill>
                <a:latin typeface="Courier New" panose="02070309020205020404" pitchFamily="49" charset="0"/>
                <a:cs typeface="Courier New" panose="02070309020205020404" pitchFamily="49" charset="0"/>
              </a:rPr>
              <a:t>-------------------------------------------------- --</a:t>
            </a:r>
          </a:p>
          <a:p>
            <a:pPr algn="l" rtl="0" eaLnBrk="0" hangingPunct="0"/>
            <a:r>
              <a:rPr lang="en-US" sz="1400" b="1" dirty="0">
                <a:solidFill>
                  <a:srgbClr val="000000"/>
                </a:solidFill>
                <a:latin typeface="Courier New" panose="02070309020205020404" pitchFamily="49" charset="0"/>
                <a:cs typeface="Courier New" panose="02070309020205020404" pitchFamily="49" charset="0"/>
              </a:rPr>
              <a:t>00001010.00000001.00000001.00</a:t>
            </a:r>
            <a:r>
              <a:rPr lang="en-US" sz="1400" dirty="0">
                <a:solidFill>
                  <a:srgbClr val="000000"/>
                </a:solidFill>
                <a:latin typeface="Courier New" panose="02070309020205020404" pitchFamily="49" charset="0"/>
                <a:cs typeface="Courier New" panose="02070309020205020404" pitchFamily="49" charset="0"/>
              </a:rPr>
              <a:t>- ID réseau/sous-réseau PC1</a:t>
            </a:r>
          </a:p>
          <a:p>
            <a:pPr algn="l" rtl="0" eaLnBrk="0" hangingPunct="0"/>
            <a:endParaRPr lang="en-US" sz="1500" dirty="0">
              <a:solidFill>
                <a:srgbClr val="000000"/>
              </a:solidFill>
            </a:endParaRPr>
          </a:p>
          <a:p>
            <a:pPr algn="l" rtl="0" eaLnBrk="0" hangingPunct="0"/>
            <a:r>
              <a:rPr lang="en-US" sz="1500" dirty="0">
                <a:solidFill>
                  <a:srgbClr val="000000"/>
                </a:solidFill>
              </a:rPr>
              <a:t>Maintenant, PC1 compare les mêmes bits binaires à ces bits binaires dans l'adresse du serveur Web :</a:t>
            </a:r>
          </a:p>
          <a:p>
            <a:pPr algn="l" rtl="0" eaLnBrk="0" hangingPunct="0"/>
            <a:r>
              <a:rPr lang="en-US" sz="1400" dirty="0">
                <a:solidFill>
                  <a:srgbClr val="000000"/>
                </a:solidFill>
                <a:highlight>
                  <a:srgbClr val="C0C0C0"/>
                </a:highlight>
                <a:latin typeface="Courier New" panose="02070309020205020404" pitchFamily="49" charset="0"/>
                <a:cs typeface="Courier New" panose="02070309020205020404" pitchFamily="49" charset="0"/>
              </a:rPr>
              <a:t>00001010.00000001.00000001.00</a:t>
            </a:r>
            <a:r>
              <a:rPr lang="en-US" sz="1400" dirty="0">
                <a:solidFill>
                  <a:srgbClr val="000000"/>
                </a:solidFill>
                <a:latin typeface="Courier New" panose="02070309020205020404" pitchFamily="49" charset="0"/>
                <a:cs typeface="Courier New" panose="02070309020205020404" pitchFamily="49" charset="0"/>
              </a:rPr>
              <a:t>- ID réseau/sous-réseau PC1</a:t>
            </a:r>
          </a:p>
          <a:p>
            <a:pPr algn="l" rtl="0" eaLnBrk="0" hangingPunct="0"/>
            <a:r>
              <a:rPr lang="en-US" sz="1400" dirty="0">
                <a:solidFill>
                  <a:srgbClr val="000000"/>
                </a:solidFill>
                <a:highlight>
                  <a:srgbClr val="C0C0C0"/>
                </a:highlight>
                <a:latin typeface="Courier New" panose="02070309020205020404" pitchFamily="49" charset="0"/>
                <a:cs typeface="Courier New" panose="02070309020205020404" pitchFamily="49" charset="0"/>
              </a:rPr>
              <a:t>11000000.00000000.00000010.00</a:t>
            </a:r>
            <a:r>
              <a:rPr lang="en-US" sz="1400" dirty="0">
                <a:solidFill>
                  <a:srgbClr val="000000"/>
                </a:solidFill>
                <a:latin typeface="Courier New" panose="02070309020205020404" pitchFamily="49" charset="0"/>
                <a:cs typeface="Courier New" panose="02070309020205020404" pitchFamily="49" charset="0"/>
              </a:rPr>
              <a:t>000001 - adresse IP du serveur Web</a:t>
            </a:r>
          </a:p>
          <a:p>
            <a:pPr algn="l" rtl="0" eaLnBrk="0" hangingPunct="0"/>
            <a:endParaRPr lang="en-US" sz="1500" dirty="0">
              <a:solidFill>
                <a:srgbClr val="000000"/>
              </a:solidFill>
            </a:endParaRPr>
          </a:p>
          <a:p>
            <a:pPr algn="l" rtl="0" eaLnBrk="0" hangingPunct="0"/>
            <a:r>
              <a:rPr lang="en-US" sz="1500" dirty="0">
                <a:solidFill>
                  <a:srgbClr val="000000"/>
                </a:solidFill>
              </a:rPr>
              <a:t>Le serveur Web se trouve dans un réseau/sous-réseau différent car les bits ne sont pas les mêmes ; par conséquent, pour communiquer avec le serveur Web, il doit envoyer les données à sa passerelle par défaut. PC1 crée une trame avec sa propre adresse MAC source et l'adresse MAC de R1 comme destination.</a:t>
            </a:r>
            <a:endParaRPr lang="en-US" sz="1600" dirty="0">
              <a:solidFill>
                <a:srgbClr val="000000"/>
              </a:solidFill>
            </a:endParaRPr>
          </a:p>
        </p:txBody>
      </p:sp>
    </p:spTree>
    <p:extLst>
      <p:ext uri="{BB962C8B-B14F-4D97-AF65-F5344CB8AC3E}">
        <p14:creationId xmlns:p14="http://schemas.microsoft.com/office/powerpoint/2010/main" val="3460129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algn="l" rtl="0"/>
            <a:r>
              <a:rPr lang="en-US" sz="1600" dirty="0">
                <a:solidFill>
                  <a:schemeClr val="accent4">
                    <a:lumMod val="75000"/>
                  </a:schemeClr>
                </a:solidFill>
              </a:rPr>
              <a:t>Adressage IPv4</a:t>
            </a:r>
            <a:br>
              <a:rPr lang="en-US" dirty="0">
                <a:solidFill>
                  <a:schemeClr val="accent4">
                    <a:lumMod val="75000"/>
                  </a:schemeClr>
                </a:solidFill>
              </a:rPr>
            </a:br>
            <a:r>
              <a:rPr lang="en-US" sz="2400" dirty="0">
                <a:solidFill>
                  <a:schemeClr val="accent4">
                    <a:lumMod val="75000"/>
                  </a:schemeClr>
                </a:solidFill>
              </a:rPr>
              <a:t>Problèmes d'adressage IPv4 (suite)</a:t>
            </a:r>
          </a:p>
        </p:txBody>
      </p:sp>
      <p:sp>
        <p:nvSpPr>
          <p:cNvPr id="5" name="TextBox 4">
            <a:extLst>
              <a:ext uri="{FF2B5EF4-FFF2-40B4-BE49-F238E27FC236}">
                <a16:creationId xmlns:a16="http://schemas.microsoft.com/office/drawing/2014/main" id="{EEC9D1C4-B9E3-489B-800E-BA01649A61D8}"/>
              </a:ext>
            </a:extLst>
          </p:cNvPr>
          <p:cNvSpPr txBox="1"/>
          <p:nvPr/>
        </p:nvSpPr>
        <p:spPr>
          <a:xfrm>
            <a:off x="78545" y="731837"/>
            <a:ext cx="8999313" cy="2462213"/>
          </a:xfrm>
          <a:prstGeom prst="rect">
            <a:avLst/>
          </a:prstGeom>
          <a:noFill/>
        </p:spPr>
        <p:txBody>
          <a:bodyPr wrap="square" rtlCol="0">
            <a:spAutoFit/>
          </a:bodyPr>
          <a:lstStyle/>
          <a:p>
            <a:pPr algn="l" rtl="0" eaLnBrk="0" hangingPunct="0"/>
            <a:r>
              <a:rPr lang="en-US" sz="1400" dirty="0">
                <a:solidFill>
                  <a:srgbClr val="000000"/>
                </a:solidFill>
              </a:rPr>
              <a:t>Ce qui suit se produit si PC1 est configuré avec le mauvais masque de sous-réseau (255.255.255.240), comme illustré sur la figure 1-2.</a:t>
            </a:r>
          </a:p>
          <a:p>
            <a:pPr algn="l" rtl="0" eaLnBrk="0" hangingPunct="0"/>
            <a:endParaRPr lang="en-US" sz="1400" dirty="0">
              <a:solidFill>
                <a:srgbClr val="000000"/>
              </a:solidFill>
            </a:endParaRPr>
          </a:p>
          <a:p>
            <a:pPr algn="l" rtl="0" eaLnBrk="0" hangingPunct="0"/>
            <a:r>
              <a:rPr lang="en-US" sz="1400" dirty="0">
                <a:solidFill>
                  <a:srgbClr val="000000"/>
                </a:solidFill>
              </a:rPr>
              <a:t>PC1 détermine sa partie réseau/sous-réseau en comparant son adresse IP à son masque de sous-réseau en binaire :</a:t>
            </a:r>
          </a:p>
          <a:p>
            <a:pPr algn="l" rtl="0" eaLnBrk="0" hangingPunct="0"/>
            <a:r>
              <a:rPr lang="en-US" sz="1400" dirty="0">
                <a:solidFill>
                  <a:srgbClr val="000000"/>
                </a:solidFill>
                <a:latin typeface="Courier New" panose="02070309020205020404" pitchFamily="49" charset="0"/>
                <a:cs typeface="Courier New" panose="02070309020205020404" pitchFamily="49" charset="0"/>
              </a:rPr>
              <a:t>00001010.00000001.00000001.00001010 -</a:t>
            </a:r>
            <a:r>
              <a:rPr lang="en-US" sz="1400" dirty="0">
                <a:solidFill>
                  <a:srgbClr val="000000"/>
                </a:solidFill>
                <a:latin typeface="+mj-lt"/>
                <a:cs typeface="Courier New" panose="02070309020205020404" pitchFamily="49" charset="0"/>
              </a:rPr>
              <a:t>Adresse IP du PC1 en binaire</a:t>
            </a:r>
          </a:p>
          <a:p>
            <a:pPr algn="l" rtl="0" eaLnBrk="0" hangingPunct="0"/>
            <a:r>
              <a:rPr lang="en-US" sz="1400" dirty="0">
                <a:solidFill>
                  <a:srgbClr val="000000"/>
                </a:solidFill>
                <a:latin typeface="Courier New" panose="02070309020205020404" pitchFamily="49" charset="0"/>
                <a:cs typeface="Courier New" panose="02070309020205020404" pitchFamily="49" charset="0"/>
              </a:rPr>
              <a:t>11111111.11111111.11111111.11110000 -</a:t>
            </a:r>
            <a:r>
              <a:rPr lang="en-US" sz="1400" dirty="0">
                <a:solidFill>
                  <a:srgbClr val="000000"/>
                </a:solidFill>
                <a:latin typeface="+mj-lt"/>
                <a:cs typeface="Courier New" panose="02070309020205020404" pitchFamily="49" charset="0"/>
              </a:rPr>
              <a:t>Masque de sous-réseau PC1 en binaire</a:t>
            </a:r>
          </a:p>
          <a:p>
            <a:pPr algn="l" rtl="0" eaLnBrk="0" hangingPunct="0"/>
            <a:r>
              <a:rPr lang="en-US" sz="1400" dirty="0">
                <a:solidFill>
                  <a:srgbClr val="000000"/>
                </a:solidFill>
                <a:latin typeface="Courier New" panose="02070309020205020404" pitchFamily="49" charset="0"/>
                <a:cs typeface="Courier New" panose="02070309020205020404" pitchFamily="49" charset="0"/>
              </a:rPr>
              <a:t>-------------------------------------------------- -----</a:t>
            </a:r>
          </a:p>
          <a:p>
            <a:pPr algn="l" rtl="0" eaLnBrk="0" hangingPunct="0"/>
            <a:r>
              <a:rPr lang="en-US" sz="1400" dirty="0">
                <a:solidFill>
                  <a:srgbClr val="000000"/>
                </a:solidFill>
                <a:latin typeface="Courier New" panose="02070309020205020404" pitchFamily="49" charset="0"/>
                <a:cs typeface="Courier New" panose="02070309020205020404" pitchFamily="49" charset="0"/>
              </a:rPr>
              <a:t>00001010.00000001.00000001.000</a:t>
            </a:r>
            <a:r>
              <a:rPr lang="en-US" sz="1400" dirty="0">
                <a:latin typeface="Courier New" panose="02070309020205020404" pitchFamily="49" charset="0"/>
                <a:cs typeface="Courier New" panose="02070309020205020404" pitchFamily="49" charset="0"/>
              </a:rPr>
              <a:t>0</a:t>
            </a:r>
            <a:r>
              <a:rPr lang="en-US" sz="1400" dirty="0">
                <a:solidFill>
                  <a:srgbClr val="000000"/>
                </a:solidFill>
                <a:latin typeface="Courier New" panose="02070309020205020404" pitchFamily="49" charset="0"/>
                <a:cs typeface="Courier New" panose="02070309020205020404" pitchFamily="49" charset="0"/>
              </a:rPr>
              <a:t>-</a:t>
            </a:r>
            <a:r>
              <a:rPr lang="en-US" sz="1400" dirty="0">
                <a:solidFill>
                  <a:srgbClr val="000000"/>
                </a:solidFill>
                <a:latin typeface="+mj-lt"/>
                <a:cs typeface="Courier New" panose="02070309020205020404" pitchFamily="49" charset="0"/>
              </a:rPr>
              <a:t>ID de réseau/sous-réseau PC1</a:t>
            </a:r>
          </a:p>
          <a:p>
            <a:pPr algn="l" rtl="0" eaLnBrk="0" hangingPunct="0"/>
            <a:endParaRPr lang="en-US" sz="1400" dirty="0">
              <a:solidFill>
                <a:srgbClr val="000000"/>
              </a:solidFill>
            </a:endParaRPr>
          </a:p>
          <a:p>
            <a:pPr algn="l" rtl="0" eaLnBrk="0" hangingPunct="0"/>
            <a:r>
              <a:rPr lang="en-US" sz="1400" dirty="0">
                <a:solidFill>
                  <a:srgbClr val="000000"/>
                </a:solidFill>
              </a:rPr>
              <a:t>Maintenant, PC1 compare exactement les mêmes bits binaires à ces bits binaires dans l'adresse de PC2 :</a:t>
            </a:r>
          </a:p>
          <a:p>
            <a:pPr algn="l" rtl="0" eaLnBrk="0" hangingPunct="0"/>
            <a:r>
              <a:rPr lang="en-US" sz="1400" dirty="0">
                <a:solidFill>
                  <a:srgbClr val="000000"/>
                </a:solidFill>
                <a:highlight>
                  <a:srgbClr val="C0C0C0"/>
                </a:highlight>
                <a:latin typeface="Courier New" panose="02070309020205020404" pitchFamily="49" charset="0"/>
                <a:cs typeface="Courier New" panose="02070309020205020404" pitchFamily="49" charset="0"/>
              </a:rPr>
              <a:t>00001010.00000001.00000001.0000</a:t>
            </a:r>
            <a:r>
              <a:rPr lang="en-US" sz="1400" dirty="0">
                <a:solidFill>
                  <a:srgbClr val="000000"/>
                </a:solidFill>
                <a:latin typeface="Courier New" panose="02070309020205020404" pitchFamily="49" charset="0"/>
                <a:cs typeface="Courier New" panose="02070309020205020404" pitchFamily="49" charset="0"/>
              </a:rPr>
              <a:t>-</a:t>
            </a:r>
            <a:r>
              <a:rPr lang="en-US" sz="1400" dirty="0">
                <a:solidFill>
                  <a:srgbClr val="000000"/>
                </a:solidFill>
                <a:latin typeface="+mn-lt"/>
                <a:cs typeface="Courier New" panose="02070309020205020404" pitchFamily="49" charset="0"/>
              </a:rPr>
              <a:t>ID de réseau/sous-réseau PC1</a:t>
            </a:r>
          </a:p>
          <a:p>
            <a:pPr algn="l" rtl="0" eaLnBrk="0" hangingPunct="0"/>
            <a:r>
              <a:rPr lang="en-US" sz="1400" dirty="0">
                <a:solidFill>
                  <a:srgbClr val="000000"/>
                </a:solidFill>
                <a:highlight>
                  <a:srgbClr val="C0C0C0"/>
                </a:highlight>
                <a:latin typeface="Courier New" panose="02070309020205020404" pitchFamily="49" charset="0"/>
                <a:cs typeface="Courier New" panose="02070309020205020404" pitchFamily="49" charset="0"/>
              </a:rPr>
              <a:t>00001010.00000001.00000001.0001</a:t>
            </a:r>
            <a:r>
              <a:rPr lang="en-US" sz="1400" dirty="0">
                <a:solidFill>
                  <a:srgbClr val="000000"/>
                </a:solidFill>
                <a:latin typeface="Courier New" panose="02070309020205020404" pitchFamily="49" charset="0"/>
                <a:cs typeface="Courier New" panose="02070309020205020404" pitchFamily="49" charset="0"/>
              </a:rPr>
              <a:t>0100 -</a:t>
            </a:r>
            <a:r>
              <a:rPr lang="en-US" sz="1400" dirty="0">
                <a:solidFill>
                  <a:srgbClr val="000000"/>
                </a:solidFill>
                <a:latin typeface="+mn-lt"/>
                <a:cs typeface="Courier New" panose="02070309020205020404" pitchFamily="49" charset="0"/>
              </a:rPr>
              <a:t>Adresse IP du PC2 en binaire</a:t>
            </a:r>
          </a:p>
        </p:txBody>
      </p:sp>
      <p:sp>
        <p:nvSpPr>
          <p:cNvPr id="4" name="TextBox 3">
            <a:extLst>
              <a:ext uri="{FF2B5EF4-FFF2-40B4-BE49-F238E27FC236}">
                <a16:creationId xmlns:a16="http://schemas.microsoft.com/office/drawing/2014/main" id="{AEB2BFDC-6D03-4AE9-ACB4-118C92E6D560}"/>
              </a:ext>
            </a:extLst>
          </p:cNvPr>
          <p:cNvSpPr txBox="1"/>
          <p:nvPr/>
        </p:nvSpPr>
        <p:spPr>
          <a:xfrm>
            <a:off x="78545" y="3327857"/>
            <a:ext cx="4915762" cy="1384995"/>
          </a:xfrm>
          <a:prstGeom prst="rect">
            <a:avLst/>
          </a:prstGeom>
          <a:noFill/>
        </p:spPr>
        <p:txBody>
          <a:bodyPr wrap="square" rtlCol="0">
            <a:spAutoFit/>
          </a:bodyPr>
          <a:lstStyle/>
          <a:p>
            <a:pPr algn="l" rtl="0"/>
            <a:r>
              <a:rPr lang="en-US" sz="1400" dirty="0">
                <a:solidFill>
                  <a:schemeClr val="tx1">
                    <a:lumMod val="50000"/>
                  </a:schemeClr>
                </a:solidFill>
              </a:rPr>
              <a:t>PC1 conclut que PC2 n'est pas dans le même réseau/sous-réseau car les bits binaires ne sont pas les mêmes. Par conséquent, il doit envoyer la trame au routeur afin que celui-ci puisse acheminer le paquet vers le sous-réseau dans lequel se trouve le PC2. Cependant, les PC sont en fait connectés au même sous-réseau et, par conséquent, il existe un adressage et une connectivité IPv4. problème.</a:t>
            </a:r>
          </a:p>
        </p:txBody>
      </p:sp>
      <p:pic>
        <p:nvPicPr>
          <p:cNvPr id="2" name="Picture 1">
            <a:extLst>
              <a:ext uri="{FF2B5EF4-FFF2-40B4-BE49-F238E27FC236}">
                <a16:creationId xmlns:a16="http://schemas.microsoft.com/office/drawing/2014/main" id="{BC3DB1B5-E12F-4826-86C8-FA8AD58F2E4A}"/>
              </a:ext>
            </a:extLst>
          </p:cNvPr>
          <p:cNvPicPr>
            <a:picLocks noChangeAspect="1"/>
          </p:cNvPicPr>
          <p:nvPr/>
        </p:nvPicPr>
        <p:blipFill>
          <a:blip r:embed="rId3"/>
          <a:srcRect/>
          <a:stretch/>
        </p:blipFill>
        <p:spPr>
          <a:xfrm>
            <a:off x="5118537" y="3275926"/>
            <a:ext cx="3959321" cy="1786265"/>
          </a:xfrm>
          <a:prstGeom prst="rect">
            <a:avLst/>
          </a:prstGeom>
        </p:spPr>
      </p:pic>
    </p:spTree>
    <p:extLst>
      <p:ext uri="{BB962C8B-B14F-4D97-AF65-F5344CB8AC3E}">
        <p14:creationId xmlns:p14="http://schemas.microsoft.com/office/powerpoint/2010/main" val="1463320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algn="l" rtl="0"/>
            <a:r>
              <a:rPr lang="en-US" sz="1600" dirty="0">
                <a:solidFill>
                  <a:schemeClr val="accent4">
                    <a:lumMod val="75000"/>
                  </a:schemeClr>
                </a:solidFill>
              </a:rPr>
              <a:t>Adressage IPv4</a:t>
            </a:r>
            <a:br>
              <a:rPr lang="en-US" dirty="0">
                <a:solidFill>
                  <a:schemeClr val="accent4">
                    <a:lumMod val="75000"/>
                  </a:schemeClr>
                </a:solidFill>
              </a:rPr>
            </a:br>
            <a:r>
              <a:rPr lang="en-US" sz="2400" dirty="0">
                <a:solidFill>
                  <a:schemeClr val="accent4">
                    <a:lumMod val="75000"/>
                  </a:schemeClr>
                </a:solidFill>
              </a:rPr>
              <a:t>Détermination des adresses IP dans un sous-réseau</a:t>
            </a:r>
          </a:p>
        </p:txBody>
      </p:sp>
      <p:sp>
        <p:nvSpPr>
          <p:cNvPr id="5" name="TextBox 4">
            <a:extLst>
              <a:ext uri="{FF2B5EF4-FFF2-40B4-BE49-F238E27FC236}">
                <a16:creationId xmlns:a16="http://schemas.microsoft.com/office/drawing/2014/main" id="{EEC9D1C4-B9E3-489B-800E-BA01649A61D8}"/>
              </a:ext>
            </a:extLst>
          </p:cNvPr>
          <p:cNvSpPr txBox="1"/>
          <p:nvPr/>
        </p:nvSpPr>
        <p:spPr>
          <a:xfrm>
            <a:off x="97672" y="646317"/>
            <a:ext cx="8988803" cy="2246769"/>
          </a:xfrm>
          <a:prstGeom prst="rect">
            <a:avLst/>
          </a:prstGeom>
          <a:noFill/>
        </p:spPr>
        <p:txBody>
          <a:bodyPr wrap="square" rtlCol="0">
            <a:spAutoFit/>
          </a:bodyPr>
          <a:lstStyle/>
          <a:p>
            <a:pPr algn="l" rtl="0" eaLnBrk="0" hangingPunct="0"/>
            <a:r>
              <a:rPr lang="en-US" sz="1400" dirty="0">
                <a:solidFill>
                  <a:srgbClr val="000000"/>
                </a:solidFill>
              </a:rPr>
              <a:t>Comment déterminer si toutes les adresses IP se trouvent dans un sous-réseau particulier ?</a:t>
            </a:r>
          </a:p>
          <a:p>
            <a:pPr algn="l" rtl="0" eaLnBrk="0" hangingPunct="0"/>
            <a:endParaRPr lang="en-US" sz="1400" dirty="0">
              <a:solidFill>
                <a:srgbClr val="000000"/>
              </a:solidFill>
            </a:endParaRPr>
          </a:p>
          <a:p>
            <a:pPr algn="l" rtl="0" eaLnBrk="0" hangingPunct="0"/>
            <a:r>
              <a:rPr lang="en-US" sz="1400" dirty="0">
                <a:solidFill>
                  <a:srgbClr val="000000"/>
                </a:solidFill>
              </a:rPr>
              <a:t>Dans le masque de sous-réseau, recherchez l'octet le plus intéressant. En binaire, c'est l'octet avec le dernier binaire 1. En décimal, c'est le dernier octet supérieur à 0.</a:t>
            </a:r>
          </a:p>
          <a:p>
            <a:pPr algn="l" rtl="0" eaLnBrk="0" hangingPunct="0"/>
            <a:endParaRPr lang="en-US" sz="1400" dirty="0">
              <a:solidFill>
                <a:srgbClr val="000000"/>
              </a:solidFill>
            </a:endParaRPr>
          </a:p>
          <a:p>
            <a:pPr algn="l" rtl="0" eaLnBrk="0" hangingPunct="0"/>
            <a:r>
              <a:rPr lang="en-US" sz="1400" dirty="0">
                <a:solidFill>
                  <a:srgbClr val="000000"/>
                </a:solidFill>
              </a:rPr>
              <a:t>Dans ce cas, pour 255.255.255.192, le quatrième octet est le dernier octet avec une valeur supérieure à 0. La valeur de cet octet est 192. Soustrayez maintenant 192 de 256. Le résultat est 64. Le nombre 64 représente la taille du bloc. ou le nombre par lequel vous comptez dans cet octet. Le sous-réseau dans ce cas est 10.1.1.0/26 et, comme la taille du bloc est de 64, ce sous-réseau commence à 10.1.1.0/26 et se termine à 10.1.1.63/26. Le sous-réseau suivant est 10.1.1.64/26 à 10.1.1.127/26. Le troisième sous-réseau va de 10.1.1.128/26 à 10.1.1.191/26, et ainsi de suite.</a:t>
            </a:r>
          </a:p>
        </p:txBody>
      </p:sp>
      <p:sp>
        <p:nvSpPr>
          <p:cNvPr id="4" name="TextBox 3">
            <a:extLst>
              <a:ext uri="{FF2B5EF4-FFF2-40B4-BE49-F238E27FC236}">
                <a16:creationId xmlns:a16="http://schemas.microsoft.com/office/drawing/2014/main" id="{AEB2BFDC-6D03-4AE9-ACB4-118C92E6D560}"/>
              </a:ext>
            </a:extLst>
          </p:cNvPr>
          <p:cNvSpPr txBox="1"/>
          <p:nvPr/>
        </p:nvSpPr>
        <p:spPr>
          <a:xfrm>
            <a:off x="97672" y="2893086"/>
            <a:ext cx="4968314" cy="1815882"/>
          </a:xfrm>
          <a:prstGeom prst="rect">
            <a:avLst/>
          </a:prstGeom>
          <a:noFill/>
        </p:spPr>
        <p:txBody>
          <a:bodyPr wrap="square" rtlCol="0">
            <a:spAutoFit/>
          </a:bodyPr>
          <a:lstStyle/>
          <a:p>
            <a:pPr algn="l" rtl="0"/>
            <a:r>
              <a:rPr lang="en-US" sz="1400" dirty="0">
                <a:solidFill>
                  <a:schemeClr val="tx1">
                    <a:lumMod val="50000"/>
                  </a:schemeClr>
                </a:solidFill>
              </a:rPr>
              <a:t>PC1, PC2 et une interface sur R1 sont censés se trouver dans le même bloc de sous-réseau/réseau.</a:t>
            </a:r>
          </a:p>
          <a:p>
            <a:pPr algn="l" rtl="0"/>
            <a:endParaRPr lang="en-US" sz="1400" dirty="0">
              <a:solidFill>
                <a:schemeClr val="tx1">
                  <a:lumMod val="50000"/>
                </a:schemeClr>
              </a:solidFill>
            </a:endParaRPr>
          </a:p>
          <a:p>
            <a:pPr algn="l" rtl="0"/>
            <a:r>
              <a:rPr lang="en-US" sz="1400" dirty="0">
                <a:solidFill>
                  <a:schemeClr val="tx1">
                    <a:lumMod val="50000"/>
                  </a:schemeClr>
                </a:solidFill>
              </a:rPr>
              <a:t>Dans ce cas, PC1 se situe entre 10.1.1.64/26 et 10.1.1.127/26, tandis que PC2 et la passerelle par défaut se situent entre 10.1.1.0/26 et 10.1.1.63/26. PC1 se trouve dans un autre réseau/sous-réseau. Vous devez corriger l'adresse sur PC1 afin qu'elle se trouve dans le bon réseau/sous-réseau.</a:t>
            </a:r>
          </a:p>
        </p:txBody>
      </p:sp>
      <p:pic>
        <p:nvPicPr>
          <p:cNvPr id="2" name="Picture 1">
            <a:extLst>
              <a:ext uri="{FF2B5EF4-FFF2-40B4-BE49-F238E27FC236}">
                <a16:creationId xmlns:a16="http://schemas.microsoft.com/office/drawing/2014/main" id="{BC3DB1B5-E12F-4826-86C8-FA8AD58F2E4A}"/>
              </a:ext>
            </a:extLst>
          </p:cNvPr>
          <p:cNvPicPr>
            <a:picLocks noChangeAspect="1"/>
          </p:cNvPicPr>
          <p:nvPr/>
        </p:nvPicPr>
        <p:blipFill>
          <a:blip r:embed="rId3"/>
          <a:srcRect/>
          <a:stretch/>
        </p:blipFill>
        <p:spPr>
          <a:xfrm>
            <a:off x="5208227" y="2893086"/>
            <a:ext cx="3878248" cy="1961413"/>
          </a:xfrm>
          <a:prstGeom prst="rect">
            <a:avLst/>
          </a:prstGeom>
        </p:spPr>
      </p:pic>
    </p:spTree>
    <p:extLst>
      <p:ext uri="{BB962C8B-B14F-4D97-AF65-F5344CB8AC3E}">
        <p14:creationId xmlns:p14="http://schemas.microsoft.com/office/powerpoint/2010/main" val="4128355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B89FE0-AFBF-4F30-AE65-3B18BCBE3A9A}"/>
              </a:ext>
            </a:extLst>
          </p:cNvPr>
          <p:cNvSpPr>
            <a:spLocks noGrp="1"/>
          </p:cNvSpPr>
          <p:nvPr>
            <p:ph type="ctrTitle"/>
          </p:nvPr>
        </p:nvSpPr>
        <p:spPr>
          <a:xfrm>
            <a:off x="337844" y="252411"/>
            <a:ext cx="7598042" cy="1351755"/>
          </a:xfrm>
        </p:spPr>
        <p:txBody>
          <a:bodyPr/>
          <a:lstStyle/>
          <a:p>
            <a:pPr algn="l" rtl="0"/>
            <a:r>
              <a:rPr lang="en-US" sz="4800" dirty="0">
                <a:solidFill>
                  <a:schemeClr val="accent5">
                    <a:lumMod val="40000"/>
                    <a:lumOff val="60000"/>
                  </a:schemeClr>
                </a:solidFill>
              </a:rPr>
              <a:t>DHCP pour IPv4</a:t>
            </a:r>
            <a:endParaRPr lang="en-US" dirty="0">
              <a:solidFill>
                <a:schemeClr val="accent5">
                  <a:lumMod val="40000"/>
                  <a:lumOff val="60000"/>
                </a:schemeClr>
              </a:solidFill>
            </a:endParaRPr>
          </a:p>
        </p:txBody>
      </p:sp>
      <p:sp>
        <p:nvSpPr>
          <p:cNvPr id="4" name="TextBox 3">
            <a:extLst>
              <a:ext uri="{FF2B5EF4-FFF2-40B4-BE49-F238E27FC236}">
                <a16:creationId xmlns:a16="http://schemas.microsoft.com/office/drawing/2014/main" id="{E2BFA70F-DC0C-41D5-868E-C8FBC661D58F}"/>
              </a:ext>
            </a:extLst>
          </p:cNvPr>
          <p:cNvSpPr txBox="1"/>
          <p:nvPr/>
        </p:nvSpPr>
        <p:spPr>
          <a:xfrm>
            <a:off x="433084" y="1715712"/>
            <a:ext cx="8277832" cy="1569660"/>
          </a:xfrm>
          <a:prstGeom prst="rect">
            <a:avLst/>
          </a:prstGeom>
          <a:noFill/>
        </p:spPr>
        <p:txBody>
          <a:bodyPr wrap="square" rtlCol="0">
            <a:spAutoFit/>
          </a:bodyPr>
          <a:lstStyle/>
          <a:p>
            <a:pPr marL="285750" indent="-285750" algn="l" rtl="0">
              <a:buFont typeface="Arial" panose="020B0604020202020204" pitchFamily="34" charset="0"/>
              <a:buChar char="•"/>
            </a:pPr>
            <a:r>
              <a:rPr lang="en-US" sz="1600" dirty="0">
                <a:solidFill>
                  <a:schemeClr val="accent5">
                    <a:lumMod val="40000"/>
                    <a:lumOff val="60000"/>
                  </a:schemeClr>
                </a:solidFill>
              </a:rPr>
              <a:t>Le protocole DHCP (Dynamic Host Configuration Protocol) est couramment utilisé pour attribuer des informations d'adresse IPv4 à un hôte réseau.</a:t>
            </a:r>
          </a:p>
          <a:p>
            <a:pPr marL="285750" indent="-285750" algn="l" rtl="0">
              <a:buFont typeface="Arial" panose="020B0604020202020204" pitchFamily="34" charset="0"/>
              <a:buChar char="•"/>
            </a:pPr>
            <a:endParaRPr lang="en-US" sz="1600" dirty="0">
              <a:solidFill>
                <a:schemeClr val="accent5">
                  <a:lumMod val="40000"/>
                  <a:lumOff val="60000"/>
                </a:schemeClr>
              </a:solidFill>
            </a:endParaRPr>
          </a:p>
          <a:p>
            <a:pPr marL="285750" indent="-285750" algn="l" rtl="0">
              <a:buFont typeface="Arial" panose="020B0604020202020204" pitchFamily="34" charset="0"/>
              <a:buChar char="•"/>
            </a:pPr>
            <a:r>
              <a:rPr lang="en-US" sz="1600" dirty="0">
                <a:solidFill>
                  <a:schemeClr val="accent5">
                    <a:lumMod val="40000"/>
                    <a:lumOff val="60000"/>
                  </a:schemeClr>
                </a:solidFill>
              </a:rPr>
              <a:t>DHCP permet à un client DHCP d'obtenir une adresse IP, un masque de sous-réseau, une adresse IP de passerelle par défaut, une adresse IP de serveur DNS et d'autres types d'informations d'adressage IP à partir d'un serveur DHCP.</a:t>
            </a:r>
          </a:p>
        </p:txBody>
      </p:sp>
    </p:spTree>
    <p:custDataLst>
      <p:tags r:id="rId1"/>
    </p:custDataLst>
    <p:extLst>
      <p:ext uri="{BB962C8B-B14F-4D97-AF65-F5344CB8AC3E}">
        <p14:creationId xmlns:p14="http://schemas.microsoft.com/office/powerpoint/2010/main" val="3961330078"/>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6365081" cy="731837"/>
          </a:xfrm>
        </p:spPr>
        <p:txBody>
          <a:bodyPr/>
          <a:lstStyle/>
          <a:p>
            <a:pPr algn="l" rtl="0"/>
            <a:r>
              <a:rPr lang="en-US" sz="1600" dirty="0">
                <a:solidFill>
                  <a:schemeClr val="accent4">
                    <a:lumMod val="75000"/>
                  </a:schemeClr>
                </a:solidFill>
              </a:rPr>
              <a:t>DHCPv4 pour IPv4</a:t>
            </a:r>
            <a:br>
              <a:rPr lang="en-US" dirty="0">
                <a:solidFill>
                  <a:schemeClr val="accent4">
                    <a:lumMod val="75000"/>
                  </a:schemeClr>
                </a:solidFill>
              </a:rPr>
            </a:br>
            <a:r>
              <a:rPr lang="en-US" sz="2400" dirty="0">
                <a:solidFill>
                  <a:schemeClr val="accent4">
                    <a:lumMod val="75000"/>
                  </a:schemeClr>
                </a:solidFill>
              </a:rPr>
              <a:t>Examen des opérations DHCP</a:t>
            </a:r>
          </a:p>
        </p:txBody>
      </p:sp>
      <p:sp>
        <p:nvSpPr>
          <p:cNvPr id="2" name="Rectangle 1">
            <a:extLst>
              <a:ext uri="{FF2B5EF4-FFF2-40B4-BE49-F238E27FC236}">
                <a16:creationId xmlns:a16="http://schemas.microsoft.com/office/drawing/2014/main" id="{09FF4F5D-70B8-4224-91F2-4D3C5F190FF9}"/>
              </a:ext>
            </a:extLst>
          </p:cNvPr>
          <p:cNvSpPr/>
          <p:nvPr/>
        </p:nvSpPr>
        <p:spPr>
          <a:xfrm>
            <a:off x="121443" y="731837"/>
            <a:ext cx="8672513" cy="1077218"/>
          </a:xfrm>
          <a:prstGeom prst="rect">
            <a:avLst/>
          </a:prstGeom>
        </p:spPr>
        <p:txBody>
          <a:bodyPr wrap="square">
            <a:spAutoFit/>
          </a:bodyPr>
          <a:lstStyle/>
          <a:p>
            <a:pPr algn="l" rtl="0"/>
            <a:endParaRPr lang="en-US" sz="1600" dirty="0"/>
          </a:p>
          <a:p>
            <a:pPr algn="l" rtl="0"/>
            <a:r>
              <a:rPr lang="en-US" sz="1600" dirty="0"/>
              <a:t>La figure 1-4 illustre l'échange de messages (processus de découverte, d'offre, de demande et d'accusé de réception [DORA]) qui se produit lorsqu'un client DHCP obtient des informations d'adressage IP auprès d'un serveur DHCP.</a:t>
            </a:r>
          </a:p>
        </p:txBody>
      </p:sp>
      <p:pic>
        <p:nvPicPr>
          <p:cNvPr id="4" name="Picture 3">
            <a:extLst>
              <a:ext uri="{FF2B5EF4-FFF2-40B4-BE49-F238E27FC236}">
                <a16:creationId xmlns:a16="http://schemas.microsoft.com/office/drawing/2014/main" id="{A3E1BA62-8E66-4476-8E07-B4115C88C3EC}"/>
              </a:ext>
            </a:extLst>
          </p:cNvPr>
          <p:cNvPicPr>
            <a:picLocks noChangeAspect="1"/>
          </p:cNvPicPr>
          <p:nvPr/>
        </p:nvPicPr>
        <p:blipFill>
          <a:blip r:embed="rId3"/>
          <a:srcRect/>
          <a:stretch/>
        </p:blipFill>
        <p:spPr>
          <a:xfrm>
            <a:off x="1844489" y="1864519"/>
            <a:ext cx="4791272" cy="2750344"/>
          </a:xfrm>
          <a:prstGeom prst="rect">
            <a:avLst/>
          </a:prstGeom>
        </p:spPr>
      </p:pic>
    </p:spTree>
    <p:extLst>
      <p:ext uri="{BB962C8B-B14F-4D97-AF65-F5344CB8AC3E}">
        <p14:creationId xmlns:p14="http://schemas.microsoft.com/office/powerpoint/2010/main" val="146141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6365081" cy="731837"/>
          </a:xfrm>
        </p:spPr>
        <p:txBody>
          <a:bodyPr/>
          <a:lstStyle/>
          <a:p>
            <a:pPr algn="l" rtl="0"/>
            <a:r>
              <a:rPr lang="en-US" sz="1600" dirty="0">
                <a:solidFill>
                  <a:schemeClr val="accent4">
                    <a:lumMod val="75000"/>
                  </a:schemeClr>
                </a:solidFill>
              </a:rPr>
              <a:t>DHCPv4 pour IPv4</a:t>
            </a:r>
            <a:br>
              <a:rPr lang="en-US" dirty="0">
                <a:solidFill>
                  <a:schemeClr val="accent4">
                    <a:lumMod val="75000"/>
                  </a:schemeClr>
                </a:solidFill>
              </a:rPr>
            </a:br>
            <a:r>
              <a:rPr lang="en-US" sz="2400" dirty="0">
                <a:solidFill>
                  <a:schemeClr val="accent4">
                    <a:lumMod val="75000"/>
                  </a:schemeClr>
                </a:solidFill>
              </a:rPr>
              <a:t>Processus DHCP-DORA</a:t>
            </a:r>
          </a:p>
        </p:txBody>
      </p:sp>
      <p:sp>
        <p:nvSpPr>
          <p:cNvPr id="2" name="Rectangle 1">
            <a:extLst>
              <a:ext uri="{FF2B5EF4-FFF2-40B4-BE49-F238E27FC236}">
                <a16:creationId xmlns:a16="http://schemas.microsoft.com/office/drawing/2014/main" id="{09FF4F5D-70B8-4224-91F2-4D3C5F190FF9}"/>
              </a:ext>
            </a:extLst>
          </p:cNvPr>
          <p:cNvSpPr/>
          <p:nvPr/>
        </p:nvSpPr>
        <p:spPr>
          <a:xfrm>
            <a:off x="121443" y="731837"/>
            <a:ext cx="8901114" cy="3970318"/>
          </a:xfrm>
          <a:prstGeom prst="rect">
            <a:avLst/>
          </a:prstGeom>
        </p:spPr>
        <p:txBody>
          <a:bodyPr wrap="square">
            <a:spAutoFit/>
          </a:bodyPr>
          <a:lstStyle/>
          <a:p>
            <a:pPr algn="l" rtl="0"/>
            <a:r>
              <a:rPr lang="en-US" sz="1400" b="1" dirty="0"/>
              <a:t>Étape 1</a:t>
            </a:r>
            <a:r>
              <a:rPr lang="en-US" sz="1400" dirty="0"/>
              <a:t>. Lorsqu'un client DHCP démarre initialement, il n'a aucune adresse IP, passerelle par défaut ou autre information de configuration. Par conséquent, la façon dont un client DHCP communique initialement consiste à envoyer un message DHCPDISCOVER diffusé à l'adresse IP de destination 255.255.255.255 et à la destination MAC FFFF:FFFF:FFFF pour tenter de découvrir un serveur DHCP. L'IP source est 0.0.0.0 et le MAC source est l'adresse MAC de l'appareil expéditeur.</a:t>
            </a:r>
          </a:p>
          <a:p>
            <a:pPr algn="l" rtl="0"/>
            <a:endParaRPr lang="en-US" sz="1400" dirty="0"/>
          </a:p>
          <a:p>
            <a:pPr algn="l" rtl="0"/>
            <a:r>
              <a:rPr lang="en-US" sz="1400" b="1" dirty="0"/>
              <a:t>Étape 2.</a:t>
            </a:r>
            <a:r>
              <a:rPr lang="en-US" sz="1400" dirty="0"/>
              <a:t>Lorsqu'un serveur DHCP reçoit un message DHCPDISCOVER, il peut répondre par un message DHCPOFFER avec une adresse IP non louée, un masque de sous-réseau et des informations de passerelle par défaut. Étant donné que le message DHCPDISCOVER est envoyé sous forme de diffusion, plusieurs serveurs DHCP peuvent répondre avec un DHCPOFFER. Le client sélectionne généralement le serveur qui a envoyé la première réponse DHCPOFFER qu'il a reçue.</a:t>
            </a:r>
          </a:p>
          <a:p>
            <a:pPr algn="l" rtl="0"/>
            <a:endParaRPr lang="en-US" sz="1400" dirty="0"/>
          </a:p>
          <a:p>
            <a:pPr algn="l" rtl="0"/>
            <a:r>
              <a:rPr lang="en-US" sz="1400" b="1" dirty="0"/>
              <a:t>Étape 3.</a:t>
            </a:r>
            <a:r>
              <a:rPr lang="en-US" sz="1400" dirty="0"/>
              <a:t>Le client DHCP communique avec le serveur sélectionné en envoyant un message DHCPREQUEST diffusé indiquant qu'il utilisera l'adresse fournie dans DHCPOFFER et, par conséquent, souhaite que l'adresse associée lui soit louée.</a:t>
            </a:r>
          </a:p>
          <a:p>
            <a:pPr algn="l" rtl="0"/>
            <a:endParaRPr lang="en-US" sz="1400" dirty="0"/>
          </a:p>
          <a:p>
            <a:pPr algn="l" rtl="0"/>
            <a:r>
              <a:rPr lang="en-US" sz="1400" b="1" dirty="0"/>
              <a:t>Étape 4.</a:t>
            </a:r>
            <a:r>
              <a:rPr lang="en-US" sz="1400" dirty="0"/>
              <a:t>Enfin, le serveur DHCP répond au client avec un DHCPACK</a:t>
            </a:r>
            <a:r>
              <a:rPr lang="en-US" sz="1400" b="1" dirty="0"/>
              <a:t> </a:t>
            </a:r>
            <a:r>
              <a:rPr lang="en-US" sz="1400" dirty="0"/>
              <a:t>message indiquant que l'adresse IP est louée au client et inclut toutes les options DHCP supplémentaires qui pourraient être nécessaires à ce stade, telles que la durée du bail.</a:t>
            </a:r>
          </a:p>
        </p:txBody>
      </p:sp>
    </p:spTree>
    <p:extLst>
      <p:ext uri="{BB962C8B-B14F-4D97-AF65-F5344CB8AC3E}">
        <p14:creationId xmlns:p14="http://schemas.microsoft.com/office/powerpoint/2010/main" val="1716848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6365081" cy="731837"/>
          </a:xfrm>
        </p:spPr>
        <p:txBody>
          <a:bodyPr/>
          <a:lstStyle/>
          <a:p>
            <a:pPr algn="l" rtl="0"/>
            <a:r>
              <a:rPr lang="en-US" sz="1600" dirty="0">
                <a:solidFill>
                  <a:schemeClr val="accent4">
                    <a:lumMod val="75000"/>
                  </a:schemeClr>
                </a:solidFill>
              </a:rPr>
              <a:t>DHCPv4 pour IPv4</a:t>
            </a:r>
            <a:br>
              <a:rPr lang="en-US" dirty="0">
                <a:solidFill>
                  <a:schemeClr val="accent4">
                    <a:lumMod val="75000"/>
                  </a:schemeClr>
                </a:solidFill>
              </a:rPr>
            </a:br>
            <a:r>
              <a:rPr lang="en-US" sz="2400" dirty="0">
                <a:solidFill>
                  <a:schemeClr val="accent4">
                    <a:lumMod val="75000"/>
                  </a:schemeClr>
                </a:solidFill>
              </a:rPr>
              <a:t>Agent de relais DHCP</a:t>
            </a:r>
          </a:p>
        </p:txBody>
      </p:sp>
      <p:sp>
        <p:nvSpPr>
          <p:cNvPr id="2" name="Rectangle 1">
            <a:extLst>
              <a:ext uri="{FF2B5EF4-FFF2-40B4-BE49-F238E27FC236}">
                <a16:creationId xmlns:a16="http://schemas.microsoft.com/office/drawing/2014/main" id="{09FF4F5D-70B8-4224-91F2-4D3C5F190FF9}"/>
              </a:ext>
            </a:extLst>
          </p:cNvPr>
          <p:cNvSpPr/>
          <p:nvPr/>
        </p:nvSpPr>
        <p:spPr>
          <a:xfrm>
            <a:off x="121443" y="731837"/>
            <a:ext cx="8896433" cy="2031325"/>
          </a:xfrm>
          <a:prstGeom prst="rect">
            <a:avLst/>
          </a:prstGeom>
        </p:spPr>
        <p:txBody>
          <a:bodyPr wrap="square">
            <a:spAutoFit/>
          </a:bodyPr>
          <a:lstStyle/>
          <a:p>
            <a:pPr algn="l" rtl="0"/>
            <a:r>
              <a:rPr lang="en-US" sz="1400" dirty="0"/>
              <a:t>Le message DHCPDISCOVER est envoyé sous forme de diffusion mais il ne peut pas traverser la limite du routeur. Par conséquent, si un client réside sur un réseau différent de celui du serveur DHCP, vous devez configurer la passerelle par défaut du client en tant qu'agent de relais DHCP pour transférer les paquets de diffusion sous forme de paquets unicast vers le serveur.</a:t>
            </a:r>
          </a:p>
          <a:p>
            <a:pPr algn="l" rtl="0"/>
            <a:endParaRPr lang="en-US" sz="1400" dirty="0"/>
          </a:p>
          <a:p>
            <a:pPr algn="l" rtl="0"/>
            <a:r>
              <a:rPr lang="en-US" sz="1400" dirty="0"/>
              <a:t>Vous utilisez le</a:t>
            </a:r>
            <a:r>
              <a:rPr lang="en-US" sz="1400" b="1" dirty="0"/>
              <a:t>adresse IP d'assistance</a:t>
            </a:r>
            <a:r>
              <a:rPr lang="en-US" sz="1400" b="1" i="1" dirty="0"/>
              <a:t>adresse IP</a:t>
            </a:r>
            <a:r>
              <a:rPr lang="en-US" sz="1400" dirty="0"/>
              <a:t>Commande de mode de configuration d'interface pour configurer un routeur pour relayer les messages DHCP vers un serveur DHCP de l'organisation.</a:t>
            </a:r>
          </a:p>
          <a:p>
            <a:pPr algn="l" rtl="0"/>
            <a:endParaRPr lang="en-US" sz="1400" dirty="0"/>
          </a:p>
          <a:p>
            <a:pPr algn="l" rtl="0"/>
            <a:r>
              <a:rPr lang="en-US" sz="1400" dirty="0"/>
              <a:t>Dans la figure, le client DHCP appartient au réseau 172.16.1.0/24, tandis que le serveur DHCP appartient au réseau 10.1.1.0/24. Le routeur R1 est configuré comme agent de relais DHCP, en utilisant la syntaxe présentée dans l'exemple 1-3.</a:t>
            </a:r>
          </a:p>
        </p:txBody>
      </p:sp>
      <p:pic>
        <p:nvPicPr>
          <p:cNvPr id="4" name="Picture 3">
            <a:extLst>
              <a:ext uri="{FF2B5EF4-FFF2-40B4-BE49-F238E27FC236}">
                <a16:creationId xmlns:a16="http://schemas.microsoft.com/office/drawing/2014/main" id="{A3E1BA62-8E66-4476-8E07-B4115C88C3EC}"/>
              </a:ext>
            </a:extLst>
          </p:cNvPr>
          <p:cNvPicPr>
            <a:picLocks noChangeAspect="1"/>
          </p:cNvPicPr>
          <p:nvPr/>
        </p:nvPicPr>
        <p:blipFill>
          <a:blip r:embed="rId3"/>
          <a:srcRect/>
          <a:stretch/>
        </p:blipFill>
        <p:spPr>
          <a:xfrm>
            <a:off x="2291844" y="2968096"/>
            <a:ext cx="4303119" cy="2031325"/>
          </a:xfrm>
          <a:prstGeom prst="rect">
            <a:avLst/>
          </a:prstGeom>
        </p:spPr>
      </p:pic>
    </p:spTree>
    <p:extLst>
      <p:ext uri="{BB962C8B-B14F-4D97-AF65-F5344CB8AC3E}">
        <p14:creationId xmlns:p14="http://schemas.microsoft.com/office/powerpoint/2010/main" val="1189389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6365081" cy="731837"/>
          </a:xfrm>
        </p:spPr>
        <p:txBody>
          <a:bodyPr/>
          <a:lstStyle/>
          <a:p>
            <a:pPr algn="l" rtl="0"/>
            <a:r>
              <a:rPr lang="en-US" sz="1600" dirty="0">
                <a:solidFill>
                  <a:schemeClr val="accent4">
                    <a:lumMod val="75000"/>
                  </a:schemeClr>
                </a:solidFill>
              </a:rPr>
              <a:t>DHCPv4 pour IPv4</a:t>
            </a:r>
            <a:br>
              <a:rPr lang="en-US" dirty="0">
                <a:solidFill>
                  <a:schemeClr val="accent4">
                    <a:lumMod val="75000"/>
                  </a:schemeClr>
                </a:solidFill>
              </a:rPr>
            </a:br>
            <a:r>
              <a:rPr lang="en-US" sz="2400" dirty="0">
                <a:solidFill>
                  <a:schemeClr val="accent4">
                    <a:lumMod val="75000"/>
                  </a:schemeClr>
                </a:solidFill>
              </a:rPr>
              <a:t>Agent de relais DHCP (suite)</a:t>
            </a:r>
          </a:p>
        </p:txBody>
      </p:sp>
      <p:sp>
        <p:nvSpPr>
          <p:cNvPr id="2" name="Rectangle 1">
            <a:extLst>
              <a:ext uri="{FF2B5EF4-FFF2-40B4-BE49-F238E27FC236}">
                <a16:creationId xmlns:a16="http://schemas.microsoft.com/office/drawing/2014/main" id="{09FF4F5D-70B8-4224-91F2-4D3C5F190FF9}"/>
              </a:ext>
            </a:extLst>
          </p:cNvPr>
          <p:cNvSpPr/>
          <p:nvPr/>
        </p:nvSpPr>
        <p:spPr>
          <a:xfrm>
            <a:off x="121443" y="731837"/>
            <a:ext cx="8896433" cy="4016484"/>
          </a:xfrm>
          <a:prstGeom prst="rect">
            <a:avLst/>
          </a:prstGeom>
        </p:spPr>
        <p:txBody>
          <a:bodyPr wrap="square">
            <a:spAutoFit/>
          </a:bodyPr>
          <a:lstStyle/>
          <a:p>
            <a:pPr algn="l" rtl="0"/>
            <a:r>
              <a:rPr lang="en-US" sz="1500" dirty="0"/>
              <a:t>Le</a:t>
            </a:r>
            <a:r>
              <a:rPr lang="en-US" sz="1500" b="1" dirty="0"/>
              <a:t>service DHCP</a:t>
            </a:r>
            <a:r>
              <a:rPr lang="en-US" sz="1500" dirty="0"/>
              <a:t>La commande active le service DHCP sur le routeur. Ce n'est généralement pas obligatoire car le service DHCP est activé par défaut</a:t>
            </a:r>
          </a:p>
          <a:p>
            <a:pPr algn="l" rtl="0"/>
            <a:endParaRPr lang="en-US" sz="1500" dirty="0"/>
          </a:p>
          <a:p>
            <a:pPr algn="l" rtl="0"/>
            <a:r>
              <a:rPr lang="en-US" sz="1500" dirty="0"/>
              <a:t>Le</a:t>
            </a:r>
            <a:r>
              <a:rPr lang="en-US" sz="1500" b="1" dirty="0"/>
              <a:t>adresse IP d'assistance 10.1.1.2</a:t>
            </a:r>
            <a:r>
              <a:rPr lang="en-US" sz="1500" dirty="0"/>
              <a:t>La commande spécifie l'adresse IP du serveur DHCP. Si une mauvaise adresse IP est spécifiée, les messages DHCP sont relayés vers le mauvais appareil. De plus, la commande ip helper-address doit être configurée sur l'interface qui reçoit les messages DHCPDISCOVER des clients.</a:t>
            </a:r>
          </a:p>
          <a:p>
            <a:pPr algn="l" rtl="0"/>
            <a:endParaRPr lang="en-US" sz="1500" dirty="0"/>
          </a:p>
          <a:p>
            <a:pPr algn="l" rtl="0"/>
            <a:r>
              <a:rPr lang="en-US" sz="1500" dirty="0"/>
              <a:t>En tant qu'agent de relais DHCP, le routeur relaie quelques autres types de diffusion en plus d'un message DHCP. Les autres protocoles transmis par un agent de relais DHCP sont les suivants :</a:t>
            </a:r>
          </a:p>
          <a:p>
            <a:pPr marL="285750" indent="-285750" algn="l" rtl="0">
              <a:buFont typeface="Arial" panose="020B0604020202020204" pitchFamily="34" charset="0"/>
              <a:buChar char="•"/>
            </a:pPr>
            <a:r>
              <a:rPr lang="en-US" sz="1500" dirty="0"/>
              <a:t>TFTP</a:t>
            </a:r>
          </a:p>
          <a:p>
            <a:pPr marL="285750" indent="-285750" algn="l" rtl="0">
              <a:buFont typeface="Arial" panose="020B0604020202020204" pitchFamily="34" charset="0"/>
              <a:buChar char="•"/>
            </a:pPr>
            <a:r>
              <a:rPr lang="en-US" sz="1500" dirty="0"/>
              <a:t>Système de noms de domaine (DNS)</a:t>
            </a:r>
          </a:p>
          <a:p>
            <a:pPr marL="285750" indent="-285750" algn="l" rtl="0">
              <a:buFont typeface="Arial" panose="020B0604020202020204" pitchFamily="34" charset="0"/>
              <a:buChar char="•"/>
            </a:pPr>
            <a:r>
              <a:rPr lang="en-US" sz="1500" dirty="0"/>
              <a:t>Service de temps Internet (ITS)</a:t>
            </a:r>
          </a:p>
          <a:p>
            <a:pPr marL="285750" indent="-285750" algn="l" rtl="0">
              <a:buFont typeface="Arial" panose="020B0604020202020204" pitchFamily="34" charset="0"/>
              <a:buChar char="•"/>
            </a:pPr>
            <a:r>
              <a:rPr lang="en-US" sz="1500" dirty="0"/>
              <a:t>Serveur de noms NetBIOS</a:t>
            </a:r>
          </a:p>
          <a:p>
            <a:pPr marL="285750" indent="-285750" algn="l" rtl="0">
              <a:buFont typeface="Arial" panose="020B0604020202020204" pitchFamily="34" charset="0"/>
              <a:buChar char="•"/>
            </a:pPr>
            <a:r>
              <a:rPr lang="en-US" sz="1500" dirty="0"/>
              <a:t>serveur de datagrammes NetBIOS</a:t>
            </a:r>
          </a:p>
          <a:p>
            <a:pPr marL="285750" indent="-285750" algn="l" rtl="0">
              <a:buFont typeface="Arial" panose="020B0604020202020204" pitchFamily="34" charset="0"/>
              <a:buChar char="•"/>
            </a:pPr>
            <a:r>
              <a:rPr lang="en-US" sz="1500" dirty="0"/>
              <a:t>DémarrageP</a:t>
            </a:r>
          </a:p>
          <a:p>
            <a:pPr marL="285750" indent="-285750" algn="l" rtl="0">
              <a:buFont typeface="Arial" panose="020B0604020202020204" pitchFamily="34" charset="0"/>
              <a:buChar char="•"/>
            </a:pPr>
            <a:r>
              <a:rPr lang="en-US" sz="1500" dirty="0"/>
              <a:t>TACAC</a:t>
            </a:r>
          </a:p>
        </p:txBody>
      </p:sp>
    </p:spTree>
    <p:extLst>
      <p:ext uri="{BB962C8B-B14F-4D97-AF65-F5344CB8AC3E}">
        <p14:creationId xmlns:p14="http://schemas.microsoft.com/office/powerpoint/2010/main" val="2394010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6365081" cy="731837"/>
          </a:xfrm>
        </p:spPr>
        <p:txBody>
          <a:bodyPr/>
          <a:lstStyle/>
          <a:p>
            <a:pPr algn="l" rtl="0"/>
            <a:r>
              <a:rPr lang="en-US" sz="1600" dirty="0">
                <a:solidFill>
                  <a:schemeClr val="accent4">
                    <a:lumMod val="75000"/>
                  </a:schemeClr>
                </a:solidFill>
              </a:rPr>
              <a:t>DHCPv4 pour IPv4</a:t>
            </a:r>
            <a:br>
              <a:rPr lang="en-US" dirty="0">
                <a:solidFill>
                  <a:schemeClr val="accent4">
                    <a:lumMod val="75000"/>
                  </a:schemeClr>
                </a:solidFill>
              </a:rPr>
            </a:br>
            <a:r>
              <a:rPr lang="en-US" sz="2400" dirty="0">
                <a:solidFill>
                  <a:schemeClr val="accent4">
                    <a:lumMod val="75000"/>
                  </a:schemeClr>
                </a:solidFill>
              </a:rPr>
              <a:t>Types de messages DHCP</a:t>
            </a:r>
          </a:p>
        </p:txBody>
      </p:sp>
      <p:pic>
        <p:nvPicPr>
          <p:cNvPr id="5" name="Picture 4">
            <a:extLst>
              <a:ext uri="{FF2B5EF4-FFF2-40B4-BE49-F238E27FC236}">
                <a16:creationId xmlns:a16="http://schemas.microsoft.com/office/drawing/2014/main" id="{50AB08E9-7B85-4C58-8146-3218AE5396FD}"/>
              </a:ext>
            </a:extLst>
          </p:cNvPr>
          <p:cNvPicPr>
            <a:picLocks noChangeAspect="1"/>
          </p:cNvPicPr>
          <p:nvPr/>
        </p:nvPicPr>
        <p:blipFill>
          <a:blip r:embed="rId3"/>
          <a:stretch>
            <a:fillRect/>
          </a:stretch>
        </p:blipFill>
        <p:spPr>
          <a:xfrm>
            <a:off x="1817088" y="664604"/>
            <a:ext cx="5309799" cy="4114318"/>
          </a:xfrm>
          <a:prstGeom prst="rect">
            <a:avLst/>
          </a:prstGeom>
        </p:spPr>
      </p:pic>
    </p:spTree>
    <p:extLst>
      <p:ext uri="{BB962C8B-B14F-4D97-AF65-F5344CB8AC3E}">
        <p14:creationId xmlns:p14="http://schemas.microsoft.com/office/powerpoint/2010/main" val="578847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6365081" cy="731837"/>
          </a:xfrm>
        </p:spPr>
        <p:txBody>
          <a:bodyPr/>
          <a:lstStyle/>
          <a:p>
            <a:pPr algn="l" rtl="0"/>
            <a:r>
              <a:rPr lang="en-US" sz="1600" dirty="0">
                <a:solidFill>
                  <a:schemeClr val="accent4">
                    <a:lumMod val="75000"/>
                  </a:schemeClr>
                </a:solidFill>
              </a:rPr>
              <a:t>DHCPv4 pour IPv4</a:t>
            </a:r>
            <a:br>
              <a:rPr lang="en-US" dirty="0">
                <a:solidFill>
                  <a:schemeClr val="accent4">
                    <a:lumMod val="75000"/>
                  </a:schemeClr>
                </a:solidFill>
              </a:rPr>
            </a:br>
            <a:r>
              <a:rPr lang="en-US" sz="2400" dirty="0">
                <a:solidFill>
                  <a:schemeClr val="accent4">
                    <a:lumMod val="75000"/>
                  </a:schemeClr>
                </a:solidFill>
              </a:rPr>
              <a:t>Routeur en tant que client DHCP ou serveur DHCP</a:t>
            </a:r>
          </a:p>
        </p:txBody>
      </p:sp>
      <p:sp>
        <p:nvSpPr>
          <p:cNvPr id="2" name="TextBox 1">
            <a:extLst>
              <a:ext uri="{FF2B5EF4-FFF2-40B4-BE49-F238E27FC236}">
                <a16:creationId xmlns:a16="http://schemas.microsoft.com/office/drawing/2014/main" id="{64F49994-A47C-425E-9249-6DB1F52E1910}"/>
              </a:ext>
            </a:extLst>
          </p:cNvPr>
          <p:cNvSpPr txBox="1"/>
          <p:nvPr/>
        </p:nvSpPr>
        <p:spPr>
          <a:xfrm>
            <a:off x="294640" y="853440"/>
            <a:ext cx="8696960" cy="3970318"/>
          </a:xfrm>
          <a:prstGeom prst="rect">
            <a:avLst/>
          </a:prstGeom>
          <a:noFill/>
        </p:spPr>
        <p:txBody>
          <a:bodyPr wrap="square" rtlCol="0">
            <a:spAutoFit/>
          </a:bodyPr>
          <a:lstStyle/>
          <a:p>
            <a:pPr algn="l" rtl="0"/>
            <a:r>
              <a:rPr lang="en-US" sz="1400" dirty="0"/>
              <a:t>Routeur configuré en tant que client DHCP afin que le routeur puisse obtenir son adresse IP auprès d'un serveur DHCP :</a:t>
            </a:r>
          </a:p>
          <a:p>
            <a:pPr algn="l" rtl="0"/>
            <a:endParaRPr lang="en-US" sz="1400" dirty="0"/>
          </a:p>
          <a:p>
            <a:pPr lvl="1" algn="l" rtl="0"/>
            <a:r>
              <a:rPr lang="en-US" sz="1400" dirty="0">
                <a:latin typeface="Courier New" panose="02070309020205020404" pitchFamily="49" charset="0"/>
                <a:cs typeface="Courier New" panose="02070309020205020404" pitchFamily="49" charset="0"/>
              </a:rPr>
              <a:t>R1#</a:t>
            </a:r>
            <a:r>
              <a:rPr lang="en-US" sz="1400" b="1" dirty="0">
                <a:latin typeface="Courier New" panose="02070309020205020404" pitchFamily="49" charset="0"/>
                <a:cs typeface="Courier New" panose="02070309020205020404" pitchFamily="49" charset="0"/>
              </a:rPr>
              <a:t>configurer le terminal</a:t>
            </a:r>
          </a:p>
          <a:p>
            <a:pPr lvl="1" algn="l" rtl="0"/>
            <a:r>
              <a:rPr lang="en-US" sz="1400" dirty="0">
                <a:latin typeface="Courier New" panose="02070309020205020404" pitchFamily="49" charset="0"/>
                <a:cs typeface="Courier New" panose="02070309020205020404" pitchFamily="49" charset="0"/>
              </a:rPr>
              <a:t>R1(config)#</a:t>
            </a:r>
            <a:r>
              <a:rPr lang="en-US" sz="1400" b="1" dirty="0">
                <a:latin typeface="Courier New" panose="02070309020205020404" pitchFamily="49" charset="0"/>
                <a:cs typeface="Courier New" panose="02070309020205020404" pitchFamily="49" charset="0"/>
              </a:rPr>
              <a:t>int fa 0/1</a:t>
            </a:r>
          </a:p>
          <a:p>
            <a:pPr lvl="1" algn="l" rtl="0"/>
            <a:r>
              <a:rPr lang="en-US" sz="1400" dirty="0">
                <a:latin typeface="Courier New" panose="02070309020205020404" pitchFamily="49" charset="0"/>
                <a:cs typeface="Courier New" panose="02070309020205020404" pitchFamily="49" charset="0"/>
              </a:rPr>
              <a:t>R1(config-if)#</a:t>
            </a:r>
            <a:r>
              <a:rPr lang="en-US" sz="1400" b="1" dirty="0">
                <a:latin typeface="Courier New" panose="02070309020205020404" pitchFamily="49" charset="0"/>
                <a:cs typeface="Courier New" panose="02070309020205020404" pitchFamily="49" charset="0"/>
              </a:rPr>
              <a:t>adresse IP DHCP</a:t>
            </a:r>
          </a:p>
          <a:p>
            <a:pPr algn="l" rtl="0"/>
            <a:endParaRPr lang="en-US" sz="1400" dirty="0"/>
          </a:p>
          <a:p>
            <a:pPr algn="l" rtl="0"/>
            <a:r>
              <a:rPr lang="en-US" sz="1400" dirty="0"/>
              <a:t>Routeur configuré comme serveur DHCP :</a:t>
            </a:r>
          </a:p>
          <a:p>
            <a:pPr algn="l" rtl="0"/>
            <a:endParaRPr lang="en-US" sz="1400" b="1" dirty="0"/>
          </a:p>
          <a:p>
            <a:pPr lvl="1" algn="l" rtl="0"/>
            <a:r>
              <a:rPr lang="en-US" sz="1400" dirty="0">
                <a:latin typeface="Courier New" panose="02070309020205020404" pitchFamily="49" charset="0"/>
                <a:cs typeface="Courier New" panose="02070309020205020404" pitchFamily="49" charset="0"/>
              </a:rPr>
              <a:t>R1(config)#</a:t>
            </a:r>
            <a:r>
              <a:rPr lang="en-US" sz="1400" b="1" dirty="0">
                <a:latin typeface="Courier New" panose="02070309020205020404" pitchFamily="49" charset="0"/>
                <a:cs typeface="Courier New" panose="02070309020205020404" pitchFamily="49" charset="0"/>
              </a:rPr>
              <a:t>adresse IP DHCP exclue 10.8.8.1 10.8.8.10</a:t>
            </a:r>
          </a:p>
          <a:p>
            <a:pPr lvl="1" algn="l" rtl="0"/>
            <a:r>
              <a:rPr lang="en-US" sz="1400" dirty="0">
                <a:latin typeface="Courier New" panose="02070309020205020404" pitchFamily="49" charset="0"/>
                <a:cs typeface="Courier New" panose="02070309020205020404" pitchFamily="49" charset="0"/>
              </a:rPr>
              <a:t>R1(config)#</a:t>
            </a:r>
            <a:r>
              <a:rPr lang="en-US" sz="1400" b="1" dirty="0">
                <a:latin typeface="Courier New" panose="02070309020205020404" pitchFamily="49" charset="0"/>
                <a:cs typeface="Courier New" panose="02070309020205020404" pitchFamily="49" charset="0"/>
              </a:rPr>
              <a:t>piscine IP DHCP PISCINE-A</a:t>
            </a:r>
          </a:p>
          <a:p>
            <a:pPr lvl="1" algn="l" rtl="0"/>
            <a:r>
              <a:rPr lang="en-US" sz="1400" dirty="0">
                <a:latin typeface="Courier New" panose="02070309020205020404" pitchFamily="49" charset="0"/>
                <a:cs typeface="Courier New" panose="02070309020205020404" pitchFamily="49" charset="0"/>
              </a:rPr>
              <a:t>R1 (dhcp-config)#</a:t>
            </a:r>
            <a:r>
              <a:rPr lang="en-US" sz="1400" b="1" dirty="0">
                <a:latin typeface="Courier New" panose="02070309020205020404" pitchFamily="49" charset="0"/>
                <a:cs typeface="Courier New" panose="02070309020205020404" pitchFamily="49" charset="0"/>
              </a:rPr>
              <a:t>réseau 10.8.8.0 255.255.255.0</a:t>
            </a:r>
          </a:p>
          <a:p>
            <a:pPr lvl="1" algn="l" rtl="0"/>
            <a:r>
              <a:rPr lang="en-US" sz="1400" dirty="0">
                <a:latin typeface="Courier New" panose="02070309020205020404" pitchFamily="49" charset="0"/>
                <a:cs typeface="Courier New" panose="02070309020205020404" pitchFamily="49" charset="0"/>
              </a:rPr>
              <a:t>R1 (dhcp-config)#</a:t>
            </a:r>
            <a:r>
              <a:rPr lang="en-US" sz="1400" b="1" dirty="0">
                <a:latin typeface="Courier New" panose="02070309020205020404" pitchFamily="49" charset="0"/>
                <a:cs typeface="Courier New" panose="02070309020205020404" pitchFamily="49" charset="0"/>
              </a:rPr>
              <a:t>routeur par défaut 10.8.8.1</a:t>
            </a:r>
          </a:p>
          <a:p>
            <a:pPr lvl="1" algn="l" rtl="0"/>
            <a:r>
              <a:rPr lang="en-US" sz="1400" dirty="0">
                <a:latin typeface="Courier New" panose="02070309020205020404" pitchFamily="49" charset="0"/>
                <a:cs typeface="Courier New" panose="02070309020205020404" pitchFamily="49" charset="0"/>
              </a:rPr>
              <a:t>R1 (dhcp-config)#</a:t>
            </a:r>
            <a:r>
              <a:rPr lang="en-US" sz="1400" b="1" dirty="0">
                <a:latin typeface="Courier New" panose="02070309020205020404" pitchFamily="49" charset="0"/>
                <a:cs typeface="Courier New" panose="02070309020205020404" pitchFamily="49" charset="0"/>
              </a:rPr>
              <a:t>serveur DNS 192.168.1.1</a:t>
            </a:r>
          </a:p>
          <a:p>
            <a:pPr lvl="1" algn="l" rtl="0"/>
            <a:r>
              <a:rPr lang="en-US" sz="1400" dirty="0">
                <a:latin typeface="Courier New" panose="02070309020205020404" pitchFamily="49" charset="0"/>
                <a:cs typeface="Courier New" panose="02070309020205020404" pitchFamily="49" charset="0"/>
              </a:rPr>
              <a:t>R1 (dhcp-config)#</a:t>
            </a:r>
            <a:r>
              <a:rPr lang="en-US" sz="1400" b="1" dirty="0">
                <a:latin typeface="Courier New" panose="02070309020205020404" pitchFamily="49" charset="0"/>
                <a:cs typeface="Courier New" panose="02070309020205020404" pitchFamily="49" charset="0"/>
              </a:rPr>
              <a:t>serveur de noms netbios 192.168.1.2</a:t>
            </a:r>
          </a:p>
          <a:p>
            <a:pPr algn="l" rtl="0"/>
            <a:endParaRPr lang="en-US" sz="1400" b="1" dirty="0">
              <a:latin typeface="Courier New" panose="02070309020205020404" pitchFamily="49" charset="0"/>
              <a:cs typeface="Courier New" panose="02070309020205020404" pitchFamily="49" charset="0"/>
            </a:endParaRPr>
          </a:p>
          <a:p>
            <a:pPr algn="l" rtl="0"/>
            <a:r>
              <a:rPr lang="en-US" sz="1400" dirty="0"/>
              <a:t>Vous n'êtes pas obligé d'inclure l'adresse IP de l'interface du routeur dans l'adresse exclue car le routeur ne distribue jamais sa propre adresse IP d'interface.</a:t>
            </a:r>
          </a:p>
          <a:p>
            <a:pPr algn="l" rtl="0"/>
            <a:endParaRPr lang="en-US" sz="1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532372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6365081" cy="731837"/>
          </a:xfrm>
        </p:spPr>
        <p:txBody>
          <a:bodyPr/>
          <a:lstStyle/>
          <a:p>
            <a:pPr algn="l" rtl="0"/>
            <a:r>
              <a:rPr lang="en-US" sz="1600" dirty="0">
                <a:solidFill>
                  <a:schemeClr val="accent4">
                    <a:lumMod val="75000"/>
                  </a:schemeClr>
                </a:solidFill>
              </a:rPr>
              <a:t>DHCPv4 pour IPv4</a:t>
            </a:r>
            <a:br>
              <a:rPr lang="en-US" dirty="0">
                <a:solidFill>
                  <a:schemeClr val="accent4">
                    <a:lumMod val="75000"/>
                  </a:schemeClr>
                </a:solidFill>
              </a:rPr>
            </a:br>
            <a:r>
              <a:rPr lang="en-US" sz="2400" dirty="0">
                <a:solidFill>
                  <a:schemeClr val="accent4">
                    <a:lumMod val="75000"/>
                  </a:schemeClr>
                </a:solidFill>
              </a:rPr>
              <a:t>Problèmes de dépannage DHCP</a:t>
            </a:r>
          </a:p>
        </p:txBody>
      </p:sp>
      <p:sp>
        <p:nvSpPr>
          <p:cNvPr id="2" name="Rectangle 1">
            <a:extLst>
              <a:ext uri="{FF2B5EF4-FFF2-40B4-BE49-F238E27FC236}">
                <a16:creationId xmlns:a16="http://schemas.microsoft.com/office/drawing/2014/main" id="{09FF4F5D-70B8-4224-91F2-4D3C5F190FF9}"/>
              </a:ext>
            </a:extLst>
          </p:cNvPr>
          <p:cNvSpPr/>
          <p:nvPr/>
        </p:nvSpPr>
        <p:spPr>
          <a:xfrm>
            <a:off x="1" y="631824"/>
            <a:ext cx="9144000" cy="3885679"/>
          </a:xfrm>
          <a:prstGeom prst="rect">
            <a:avLst/>
          </a:prstGeom>
        </p:spPr>
        <p:txBody>
          <a:bodyPr wrap="square">
            <a:spAutoFit/>
          </a:bodyPr>
          <a:lstStyle/>
          <a:p>
            <a:pPr algn="l" rtl="0"/>
            <a:r>
              <a:rPr lang="en-US" sz="1500" b="1" dirty="0"/>
              <a:t>Considérez les problèmes potentiels suivants :</a:t>
            </a:r>
          </a:p>
          <a:p>
            <a:pPr algn="l" rtl="0"/>
            <a:endParaRPr lang="en-US" sz="1450" b="1" dirty="0"/>
          </a:p>
          <a:p>
            <a:pPr marL="285750" indent="-285750" algn="l" rtl="0">
              <a:buFont typeface="Arial" panose="020B0604020202020204" pitchFamily="34" charset="0"/>
              <a:buChar char="•"/>
            </a:pPr>
            <a:r>
              <a:rPr lang="en-US" sz="1450" b="1" dirty="0"/>
              <a:t>Un routeur ne transmet pas les diffusions -</a:t>
            </a:r>
            <a:r>
              <a:rPr lang="en-US" sz="1450" dirty="0"/>
              <a:t>Un routeur doit être explicitement configuré pour agir comme agent de relais DHCP si le client DHCP et le serveur DHCP se trouvent sur des sous-réseaux différents.</a:t>
            </a:r>
          </a:p>
          <a:p>
            <a:pPr marL="285750" indent="-285750" algn="l" rtl="0">
              <a:buFont typeface="Arial" panose="020B0604020202020204" pitchFamily="34" charset="0"/>
              <a:buChar char="•"/>
            </a:pPr>
            <a:r>
              <a:rPr lang="en-US" sz="1450" b="1" dirty="0"/>
              <a:t>Pool DHCP à court d'adresses IP -</a:t>
            </a:r>
            <a:r>
              <a:rPr lang="en-US" sz="1450" dirty="0"/>
              <a:t>Une fois qu'un pool est épuisé, les nouvelles requêtes DHCP sont rejetées.</a:t>
            </a:r>
          </a:p>
          <a:p>
            <a:pPr marL="285750" indent="-285750" algn="l" rtl="0">
              <a:buFont typeface="Arial" panose="020B0604020202020204" pitchFamily="34" charset="0"/>
              <a:buChar char="•"/>
            </a:pPr>
            <a:r>
              <a:rPr lang="en-US" sz="1450" b="1" dirty="0"/>
              <a:t>Mauvaise configuration -</a:t>
            </a:r>
            <a:r>
              <a:rPr lang="en-US" sz="1450" dirty="0"/>
              <a:t>La configuration d'un serveur DHCP est peut-être incorrecte.</a:t>
            </a:r>
          </a:p>
          <a:p>
            <a:pPr marL="285750" indent="-285750" algn="l" rtl="0">
              <a:buFont typeface="Arial" panose="020B0604020202020204" pitchFamily="34" charset="0"/>
              <a:buChar char="•"/>
            </a:pPr>
            <a:r>
              <a:rPr lang="en-US" sz="1450" b="1" dirty="0"/>
              <a:t>Adresses IP en double -</a:t>
            </a:r>
            <a:r>
              <a:rPr lang="en-US" sz="1450" dirty="0"/>
              <a:t>Distribuer une adresse IP à un client qui est attribuée statiquement à un autre hôte.</a:t>
            </a:r>
          </a:p>
          <a:p>
            <a:pPr marL="285750" indent="-285750" algn="l" rtl="0">
              <a:buFont typeface="Arial" panose="020B0604020202020204" pitchFamily="34" charset="0"/>
              <a:buChar char="•"/>
            </a:pPr>
            <a:r>
              <a:rPr lang="en-US" sz="1450" b="1" dirty="0"/>
              <a:t>Services redondants ne communiquant pas -</a:t>
            </a:r>
            <a:r>
              <a:rPr lang="en-US" sz="1450" dirty="0"/>
              <a:t>Les serveurs DHCP peuvent coexister avec d'autres serveurs DHCP pour la redondance. Si la communication entre serveurs échoue, les serveurs DHCP distribuent des adresses IP qui se chevauchent à celles de leurs clients.</a:t>
            </a:r>
          </a:p>
          <a:p>
            <a:pPr marL="285750" indent="-285750" algn="l" rtl="0">
              <a:buFont typeface="Arial" panose="020B0604020202020204" pitchFamily="34" charset="0"/>
              <a:buChar char="•"/>
            </a:pPr>
            <a:r>
              <a:rPr lang="en-US" sz="1450" b="1" dirty="0"/>
              <a:t>La nature « pull » du DHCP -</a:t>
            </a:r>
            <a:r>
              <a:rPr lang="en-US" sz="1450" dirty="0"/>
              <a:t>Le serveur DHCP n'a pas la capacité d'initier une modification de l'adresse IP du client une fois que celui-ci a obtenu une adresse IP. Le serveur DHCP ne peut pas transmettre les modifications d'informations au client DHCP.</a:t>
            </a:r>
          </a:p>
          <a:p>
            <a:pPr marL="285750" indent="-285750" algn="l" rtl="0">
              <a:buFont typeface="Arial" panose="020B0604020202020204" pitchFamily="34" charset="0"/>
              <a:buChar char="•"/>
            </a:pPr>
            <a:r>
              <a:rPr lang="en-US" sz="1450" b="1" dirty="0"/>
              <a:t>Interface non configurée avec l'adresse IP dans le pool DHCP -</a:t>
            </a:r>
            <a:r>
              <a:rPr lang="en-US" sz="1450" dirty="0"/>
              <a:t>Un routeur ou un commutateur multicouche agissant comme un serveur DHCP doit disposer d'une interface avec une adresse IP faisant partie du pool/sous-réseau pour lequel il distribue des adresses IP. Ce n'est pas le cas si un agent de relais transmet les messages DHCP entre le client et le routeur qui est le serveur DHCP.</a:t>
            </a:r>
          </a:p>
        </p:txBody>
      </p:sp>
    </p:spTree>
    <p:extLst>
      <p:ext uri="{BB962C8B-B14F-4D97-AF65-F5344CB8AC3E}">
        <p14:creationId xmlns:p14="http://schemas.microsoft.com/office/powerpoint/2010/main" val="2784884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6365081" cy="731837"/>
          </a:xfrm>
        </p:spPr>
        <p:txBody>
          <a:bodyPr/>
          <a:lstStyle/>
          <a:p>
            <a:pPr algn="l" rtl="0"/>
            <a:r>
              <a:rPr lang="en-US" sz="1600" dirty="0">
                <a:solidFill>
                  <a:schemeClr val="accent4">
                    <a:lumMod val="75000"/>
                  </a:schemeClr>
                </a:solidFill>
              </a:rPr>
              <a:t>DHCPv4 pour IPv4</a:t>
            </a:r>
            <a:br>
              <a:rPr lang="en-US" dirty="0">
                <a:solidFill>
                  <a:schemeClr val="accent4">
                    <a:lumMod val="75000"/>
                  </a:schemeClr>
                </a:solidFill>
              </a:rPr>
            </a:br>
            <a:r>
              <a:rPr lang="en-US" sz="2400" dirty="0">
                <a:solidFill>
                  <a:schemeClr val="accent4">
                    <a:lumMod val="75000"/>
                  </a:schemeClr>
                </a:solidFill>
              </a:rPr>
              <a:t>Commandes de dépannage DHCP</a:t>
            </a:r>
          </a:p>
        </p:txBody>
      </p:sp>
      <p:sp>
        <p:nvSpPr>
          <p:cNvPr id="2" name="Rectangle 1">
            <a:extLst>
              <a:ext uri="{FF2B5EF4-FFF2-40B4-BE49-F238E27FC236}">
                <a16:creationId xmlns:a16="http://schemas.microsoft.com/office/drawing/2014/main" id="{09FF4F5D-70B8-4224-91F2-4D3C5F190FF9}"/>
              </a:ext>
            </a:extLst>
          </p:cNvPr>
          <p:cNvSpPr/>
          <p:nvPr/>
        </p:nvSpPr>
        <p:spPr>
          <a:xfrm>
            <a:off x="121443" y="665375"/>
            <a:ext cx="9022557" cy="2893100"/>
          </a:xfrm>
          <a:prstGeom prst="rect">
            <a:avLst/>
          </a:prstGeom>
        </p:spPr>
        <p:txBody>
          <a:bodyPr wrap="square">
            <a:spAutoFit/>
          </a:bodyPr>
          <a:lstStyle/>
          <a:p>
            <a:pPr algn="l" rtl="0"/>
            <a:r>
              <a:rPr lang="en-US" sz="1400" dirty="0"/>
              <a:t>La commande show ip dhcp conflict :</a:t>
            </a:r>
          </a:p>
          <a:p>
            <a:pPr algn="l" rtl="0"/>
            <a:endParaRPr lang="en-US" sz="1400" dirty="0"/>
          </a:p>
          <a:p>
            <a:pPr lvl="1" algn="l" rtl="0"/>
            <a:r>
              <a:rPr lang="en-US" sz="1400" dirty="0">
                <a:latin typeface="Courier New" panose="02070309020205020404" pitchFamily="49" charset="0"/>
                <a:cs typeface="Courier New" panose="02070309020205020404" pitchFamily="49" charset="0"/>
              </a:rPr>
              <a:t>R1#</a:t>
            </a:r>
            <a:r>
              <a:rPr lang="en-US" sz="1400" b="1" dirty="0">
                <a:latin typeface="Courier New" panose="02070309020205020404" pitchFamily="49" charset="0"/>
                <a:cs typeface="Courier New" panose="02070309020205020404" pitchFamily="49" charset="0"/>
              </a:rPr>
              <a:t>afficher le conflit IP DHCP</a:t>
            </a:r>
          </a:p>
          <a:p>
            <a:pPr lvl="1" algn="l" rtl="0"/>
            <a:r>
              <a:rPr lang="en-US" sz="1400" dirty="0">
                <a:latin typeface="Courier New" panose="02070309020205020404" pitchFamily="49" charset="0"/>
                <a:cs typeface="Courier New" panose="02070309020205020404" pitchFamily="49" charset="0"/>
              </a:rPr>
              <a:t>Adresse IP Méthode de détection Temps de détection</a:t>
            </a:r>
          </a:p>
          <a:p>
            <a:pPr lvl="1" algn="l" rtl="0"/>
            <a:r>
              <a:rPr lang="en-US" sz="1400" dirty="0">
                <a:latin typeface="Courier New" panose="02070309020205020404" pitchFamily="49" charset="0"/>
                <a:cs typeface="Courier New" panose="02070309020205020404" pitchFamily="49" charset="0"/>
              </a:rPr>
              <a:t>172.16.1.3 Ping 15 octobre 2018 20:56</a:t>
            </a:r>
          </a:p>
          <a:p>
            <a:pPr algn="l" rtl="0"/>
            <a:endParaRPr lang="en-US" sz="1400" dirty="0"/>
          </a:p>
          <a:p>
            <a:pPr algn="l" rtl="0"/>
            <a:r>
              <a:rPr lang="en-US" sz="1400" dirty="0"/>
              <a:t>La sortie indique une adresse IP 172.16.1.3 en double sur le réseau, que le routeur a découverte via un ping. Vous effacez les informations affichées en émettant le</a:t>
            </a:r>
            <a:r>
              <a:rPr lang="en-US" sz="1400" b="1" dirty="0"/>
              <a:t>effacer le conflit IP DHCP *</a:t>
            </a:r>
            <a:r>
              <a:rPr lang="en-US" sz="1400" dirty="0"/>
              <a:t>commande après avoir résolu le problème d’adresse en double sur le réseau.</a:t>
            </a:r>
          </a:p>
          <a:p>
            <a:pPr algn="l" rtl="0"/>
            <a:endParaRPr lang="en-US" sz="1400" dirty="0"/>
          </a:p>
          <a:p>
            <a:pPr algn="l" rtl="0"/>
            <a:r>
              <a:rPr lang="en-US" sz="1400" dirty="0"/>
              <a:t>L'exemple 1-6 montre le</a:t>
            </a:r>
            <a:r>
              <a:rPr lang="en-US" sz="1400" b="1" dirty="0"/>
              <a:t>afficher la liaison IP DHCP</a:t>
            </a:r>
            <a:r>
              <a:rPr lang="en-US" sz="1400" dirty="0"/>
              <a:t>commande. La sortie indique que l'adresse IP 10.1.1.10 a été attribuée à un client DHCP. Vous pouvez libérer ce bail DHCP avec le</a:t>
            </a:r>
            <a:r>
              <a:rPr lang="en-US" sz="1400" b="1" dirty="0"/>
              <a:t>effacer la liaison IP DHCP 10.1.1.10</a:t>
            </a:r>
            <a:r>
              <a:rPr lang="en-US" sz="1400" dirty="0"/>
              <a:t>commande.</a:t>
            </a:r>
          </a:p>
        </p:txBody>
      </p:sp>
      <p:pic>
        <p:nvPicPr>
          <p:cNvPr id="5" name="Picture 4">
            <a:extLst>
              <a:ext uri="{FF2B5EF4-FFF2-40B4-BE49-F238E27FC236}">
                <a16:creationId xmlns:a16="http://schemas.microsoft.com/office/drawing/2014/main" id="{DA427C6E-77DC-4A45-AC36-EDF419DE0952}"/>
              </a:ext>
            </a:extLst>
          </p:cNvPr>
          <p:cNvPicPr>
            <a:picLocks noChangeAspect="1"/>
          </p:cNvPicPr>
          <p:nvPr/>
        </p:nvPicPr>
        <p:blipFill>
          <a:blip r:embed="rId3"/>
          <a:stretch>
            <a:fillRect/>
          </a:stretch>
        </p:blipFill>
        <p:spPr>
          <a:xfrm>
            <a:off x="1771743" y="3408676"/>
            <a:ext cx="4671920" cy="1351495"/>
          </a:xfrm>
          <a:prstGeom prst="rect">
            <a:avLst/>
          </a:prstGeom>
        </p:spPr>
      </p:pic>
    </p:spTree>
    <p:extLst>
      <p:ext uri="{BB962C8B-B14F-4D97-AF65-F5344CB8AC3E}">
        <p14:creationId xmlns:p14="http://schemas.microsoft.com/office/powerpoint/2010/main" val="455311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6365081" cy="731837"/>
          </a:xfrm>
        </p:spPr>
        <p:txBody>
          <a:bodyPr/>
          <a:lstStyle/>
          <a:p>
            <a:pPr algn="l" rtl="0"/>
            <a:r>
              <a:rPr lang="en-US" sz="1600" dirty="0">
                <a:solidFill>
                  <a:schemeClr val="accent4">
                    <a:lumMod val="75000"/>
                  </a:schemeClr>
                </a:solidFill>
              </a:rPr>
              <a:t>DHCPv4 pour IPv4</a:t>
            </a:r>
            <a:br>
              <a:rPr lang="en-US" dirty="0">
                <a:solidFill>
                  <a:schemeClr val="accent4">
                    <a:lumMod val="75000"/>
                  </a:schemeClr>
                </a:solidFill>
              </a:rPr>
            </a:br>
            <a:r>
              <a:rPr lang="en-US" sz="2400" dirty="0">
                <a:solidFill>
                  <a:schemeClr val="accent4">
                    <a:lumMod val="75000"/>
                  </a:schemeClr>
                </a:solidFill>
              </a:rPr>
              <a:t>Commandes de dépannage DHCP (suite)</a:t>
            </a:r>
          </a:p>
        </p:txBody>
      </p:sp>
      <p:sp>
        <p:nvSpPr>
          <p:cNvPr id="2" name="Rectangle 1">
            <a:extLst>
              <a:ext uri="{FF2B5EF4-FFF2-40B4-BE49-F238E27FC236}">
                <a16:creationId xmlns:a16="http://schemas.microsoft.com/office/drawing/2014/main" id="{09FF4F5D-70B8-4224-91F2-4D3C5F190FF9}"/>
              </a:ext>
            </a:extLst>
          </p:cNvPr>
          <p:cNvSpPr/>
          <p:nvPr/>
        </p:nvSpPr>
        <p:spPr>
          <a:xfrm>
            <a:off x="121443" y="731837"/>
            <a:ext cx="9022557" cy="523220"/>
          </a:xfrm>
          <a:prstGeom prst="rect">
            <a:avLst/>
          </a:prstGeom>
        </p:spPr>
        <p:txBody>
          <a:bodyPr wrap="square">
            <a:spAutoFit/>
          </a:bodyPr>
          <a:lstStyle/>
          <a:p>
            <a:pPr algn="l" rtl="0"/>
            <a:r>
              <a:rPr lang="en-US" sz="1400" dirty="0"/>
              <a:t>L'exemple 1-7 montre un exemple de sortie du</a:t>
            </a:r>
            <a:r>
              <a:rPr lang="en-US" sz="1400" b="1" dirty="0"/>
              <a:t>déboguer les événements du serveur IP DHCP</a:t>
            </a:r>
            <a:r>
              <a:rPr lang="en-US" sz="1400" dirty="0"/>
              <a:t>commande. La sortie affiche les mises à jour de la base de données DHCP.</a:t>
            </a:r>
          </a:p>
        </p:txBody>
      </p:sp>
      <p:pic>
        <p:nvPicPr>
          <p:cNvPr id="5" name="Picture 4">
            <a:extLst>
              <a:ext uri="{FF2B5EF4-FFF2-40B4-BE49-F238E27FC236}">
                <a16:creationId xmlns:a16="http://schemas.microsoft.com/office/drawing/2014/main" id="{DA427C6E-77DC-4A45-AC36-EDF419DE0952}"/>
              </a:ext>
            </a:extLst>
          </p:cNvPr>
          <p:cNvPicPr>
            <a:picLocks noChangeAspect="1"/>
          </p:cNvPicPr>
          <p:nvPr/>
        </p:nvPicPr>
        <p:blipFill>
          <a:blip r:embed="rId3"/>
          <a:srcRect/>
          <a:stretch/>
        </p:blipFill>
        <p:spPr>
          <a:xfrm>
            <a:off x="1577984" y="1587434"/>
            <a:ext cx="5988032" cy="2354646"/>
          </a:xfrm>
          <a:prstGeom prst="rect">
            <a:avLst/>
          </a:prstGeom>
        </p:spPr>
      </p:pic>
    </p:spTree>
    <p:extLst>
      <p:ext uri="{BB962C8B-B14F-4D97-AF65-F5344CB8AC3E}">
        <p14:creationId xmlns:p14="http://schemas.microsoft.com/office/powerpoint/2010/main" val="566107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6365081" cy="731837"/>
          </a:xfrm>
        </p:spPr>
        <p:txBody>
          <a:bodyPr/>
          <a:lstStyle/>
          <a:p>
            <a:pPr algn="l" rtl="0"/>
            <a:r>
              <a:rPr lang="en-US" sz="1600" dirty="0">
                <a:solidFill>
                  <a:schemeClr val="accent4">
                    <a:lumMod val="75000"/>
                  </a:schemeClr>
                </a:solidFill>
              </a:rPr>
              <a:t>DHCPv4 pour IPv4</a:t>
            </a:r>
            <a:br>
              <a:rPr lang="en-US" dirty="0">
                <a:solidFill>
                  <a:schemeClr val="accent4">
                    <a:lumMod val="75000"/>
                  </a:schemeClr>
                </a:solidFill>
              </a:rPr>
            </a:br>
            <a:r>
              <a:rPr lang="en-US" sz="2400" dirty="0">
                <a:solidFill>
                  <a:schemeClr val="accent4">
                    <a:lumMod val="75000"/>
                  </a:schemeClr>
                </a:solidFill>
              </a:rPr>
              <a:t>Commandes de dépannage DHCP (suite)</a:t>
            </a:r>
          </a:p>
        </p:txBody>
      </p:sp>
      <p:sp>
        <p:nvSpPr>
          <p:cNvPr id="2" name="Rectangle 1">
            <a:extLst>
              <a:ext uri="{FF2B5EF4-FFF2-40B4-BE49-F238E27FC236}">
                <a16:creationId xmlns:a16="http://schemas.microsoft.com/office/drawing/2014/main" id="{09FF4F5D-70B8-4224-91F2-4D3C5F190FF9}"/>
              </a:ext>
            </a:extLst>
          </p:cNvPr>
          <p:cNvSpPr/>
          <p:nvPr/>
        </p:nvSpPr>
        <p:spPr>
          <a:xfrm>
            <a:off x="121443" y="731837"/>
            <a:ext cx="3414237" cy="3323987"/>
          </a:xfrm>
          <a:prstGeom prst="rect">
            <a:avLst/>
          </a:prstGeom>
        </p:spPr>
        <p:txBody>
          <a:bodyPr wrap="square">
            <a:spAutoFit/>
          </a:bodyPr>
          <a:lstStyle/>
          <a:p>
            <a:pPr algn="l" rtl="0"/>
            <a:r>
              <a:rPr lang="en-US" sz="1400" dirty="0"/>
              <a:t>L'exemple 1-8 montre un exemple de sortie du</a:t>
            </a:r>
            <a:r>
              <a:rPr lang="en-US" sz="1400" b="1" dirty="0"/>
              <a:t>déboguer le paquet du serveur IP DHCP</a:t>
            </a:r>
            <a:r>
              <a:rPr lang="en-US" sz="1400" dirty="0"/>
              <a:t>commande. La sortie affiche un message DHCPRELEASE reçu lorsqu'un client DHCP avec l'adresse IP 10.1.1.3 est arrêté.</a:t>
            </a:r>
          </a:p>
          <a:p>
            <a:pPr algn="l" rtl="0"/>
            <a:endParaRPr lang="en-US" sz="1400" dirty="0"/>
          </a:p>
          <a:p>
            <a:pPr algn="l" rtl="0"/>
            <a:r>
              <a:rPr lang="en-US" sz="1400" dirty="0"/>
              <a:t>Vous pouvez également voir le processus en quatre étapes par lequel un client DHCP obtient l'adresse IP 10.1.1.4 avec les messages suivants :</a:t>
            </a:r>
          </a:p>
          <a:p>
            <a:pPr algn="l" rtl="0"/>
            <a:endParaRPr lang="en-US" sz="1400" dirty="0"/>
          </a:p>
          <a:p>
            <a:pPr algn="l" rtl="0"/>
            <a:r>
              <a:rPr lang="en-US" sz="1400" dirty="0"/>
              <a:t>DHCPDécouvrir,</a:t>
            </a:r>
          </a:p>
          <a:p>
            <a:pPr algn="l" rtl="0"/>
            <a:r>
              <a:rPr lang="en-US" sz="1400" dirty="0"/>
              <a:t>OFFRE DHCP,</a:t>
            </a:r>
          </a:p>
          <a:p>
            <a:pPr algn="l" rtl="0"/>
            <a:r>
              <a:rPr lang="en-US" sz="1400" dirty="0"/>
              <a:t>DEMANDE DHCP,</a:t>
            </a:r>
          </a:p>
          <a:p>
            <a:pPr algn="l" rtl="0"/>
            <a:r>
              <a:rPr lang="en-US" sz="1400" dirty="0"/>
              <a:t>DHCPACK</a:t>
            </a:r>
          </a:p>
        </p:txBody>
      </p:sp>
      <p:pic>
        <p:nvPicPr>
          <p:cNvPr id="5" name="Picture 4">
            <a:extLst>
              <a:ext uri="{FF2B5EF4-FFF2-40B4-BE49-F238E27FC236}">
                <a16:creationId xmlns:a16="http://schemas.microsoft.com/office/drawing/2014/main" id="{DA427C6E-77DC-4A45-AC36-EDF419DE0952}"/>
              </a:ext>
            </a:extLst>
          </p:cNvPr>
          <p:cNvPicPr>
            <a:picLocks noChangeAspect="1"/>
          </p:cNvPicPr>
          <p:nvPr/>
        </p:nvPicPr>
        <p:blipFill>
          <a:blip r:embed="rId3"/>
          <a:srcRect/>
          <a:stretch/>
        </p:blipFill>
        <p:spPr>
          <a:xfrm>
            <a:off x="3709731" y="711517"/>
            <a:ext cx="5282345" cy="4002723"/>
          </a:xfrm>
          <a:prstGeom prst="rect">
            <a:avLst/>
          </a:prstGeom>
        </p:spPr>
      </p:pic>
    </p:spTree>
    <p:extLst>
      <p:ext uri="{BB962C8B-B14F-4D97-AF65-F5344CB8AC3E}">
        <p14:creationId xmlns:p14="http://schemas.microsoft.com/office/powerpoint/2010/main" val="1771218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B89FE0-AFBF-4F30-AE65-3B18BCBE3A9A}"/>
              </a:ext>
            </a:extLst>
          </p:cNvPr>
          <p:cNvSpPr>
            <a:spLocks noGrp="1"/>
          </p:cNvSpPr>
          <p:nvPr>
            <p:ph type="ctrTitle"/>
          </p:nvPr>
        </p:nvSpPr>
        <p:spPr>
          <a:xfrm>
            <a:off x="337844" y="252411"/>
            <a:ext cx="7598042" cy="1351755"/>
          </a:xfrm>
        </p:spPr>
        <p:txBody>
          <a:bodyPr/>
          <a:lstStyle/>
          <a:p>
            <a:pPr algn="l" rtl="0"/>
            <a:r>
              <a:rPr lang="en-US" sz="4800" dirty="0">
                <a:solidFill>
                  <a:schemeClr val="accent5">
                    <a:lumMod val="40000"/>
                    <a:lumOff val="60000"/>
                  </a:schemeClr>
                </a:solidFill>
              </a:rPr>
              <a:t>Adressage IPv6</a:t>
            </a:r>
            <a:endParaRPr lang="en-US" dirty="0">
              <a:solidFill>
                <a:schemeClr val="accent5">
                  <a:lumMod val="40000"/>
                  <a:lumOff val="60000"/>
                </a:schemeClr>
              </a:solidFill>
            </a:endParaRPr>
          </a:p>
        </p:txBody>
      </p:sp>
      <p:sp>
        <p:nvSpPr>
          <p:cNvPr id="4" name="TextBox 3">
            <a:extLst>
              <a:ext uri="{FF2B5EF4-FFF2-40B4-BE49-F238E27FC236}">
                <a16:creationId xmlns:a16="http://schemas.microsoft.com/office/drawing/2014/main" id="{E2BFA70F-DC0C-41D5-868E-C8FBC661D58F}"/>
              </a:ext>
            </a:extLst>
          </p:cNvPr>
          <p:cNvSpPr txBox="1"/>
          <p:nvPr/>
        </p:nvSpPr>
        <p:spPr>
          <a:xfrm>
            <a:off x="433084" y="1715712"/>
            <a:ext cx="8277832" cy="1077218"/>
          </a:xfrm>
          <a:prstGeom prst="rect">
            <a:avLst/>
          </a:prstGeom>
          <a:noFill/>
        </p:spPr>
        <p:txBody>
          <a:bodyPr wrap="square" rtlCol="0">
            <a:spAutoFit/>
          </a:bodyPr>
          <a:lstStyle/>
          <a:p>
            <a:pPr marL="285750" indent="-285750" algn="l" rtl="0">
              <a:buFont typeface="Arial" panose="020B0604020202020204" pitchFamily="34" charset="0"/>
              <a:buChar char="•"/>
            </a:pPr>
            <a:r>
              <a:rPr lang="en-US" sz="1600" dirty="0">
                <a:solidFill>
                  <a:schemeClr val="accent4">
                    <a:lumMod val="40000"/>
                    <a:lumOff val="60000"/>
                  </a:schemeClr>
                </a:solidFill>
              </a:rPr>
              <a:t>Tout comme votre adresse postale personnelle définit de manière unique où vous vivez, une adresse IPv6 définit de manière unique où réside un appareil.</a:t>
            </a:r>
          </a:p>
          <a:p>
            <a:pPr marL="285750" indent="-285750" algn="l" rtl="0">
              <a:buFont typeface="Arial" panose="020B0604020202020204" pitchFamily="34" charset="0"/>
              <a:buChar char="•"/>
            </a:pPr>
            <a:r>
              <a:rPr lang="en-US" sz="1600" dirty="0">
                <a:solidFill>
                  <a:schemeClr val="accent4">
                    <a:lumMod val="40000"/>
                    <a:lumOff val="60000"/>
                  </a:schemeClr>
                </a:solidFill>
              </a:rPr>
              <a:t>Cette section couvre l'adressage et l'attribution IPv6 afin que vous disposiez des connaissances nécessaires pour résoudre les problèmes d'adressage IPv6.</a:t>
            </a:r>
          </a:p>
        </p:txBody>
      </p:sp>
    </p:spTree>
    <p:custDataLst>
      <p:tags r:id="rId1"/>
    </p:custDataLst>
    <p:extLst>
      <p:ext uri="{BB962C8B-B14F-4D97-AF65-F5344CB8AC3E}">
        <p14:creationId xmlns:p14="http://schemas.microsoft.com/office/powerpoint/2010/main" val="3338385478"/>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6365081" cy="731837"/>
          </a:xfrm>
        </p:spPr>
        <p:txBody>
          <a:bodyPr/>
          <a:lstStyle/>
          <a:p>
            <a:pPr algn="l" rtl="0"/>
            <a:r>
              <a:rPr lang="en-US" sz="1600" dirty="0">
                <a:solidFill>
                  <a:schemeClr val="accent4">
                    <a:lumMod val="75000"/>
                  </a:schemeClr>
                </a:solidFill>
              </a:rPr>
              <a:t>Adressage IPv6</a:t>
            </a:r>
            <a:br>
              <a:rPr lang="en-US" dirty="0">
                <a:solidFill>
                  <a:schemeClr val="accent4">
                    <a:lumMod val="75000"/>
                  </a:schemeClr>
                </a:solidFill>
              </a:rPr>
            </a:br>
            <a:r>
              <a:rPr lang="en-US" sz="2400" dirty="0">
                <a:solidFill>
                  <a:schemeClr val="accent4">
                    <a:lumMod val="75000"/>
                  </a:schemeClr>
                </a:solidFill>
              </a:rPr>
              <a:t>Examen de l'adressage IPv6</a:t>
            </a:r>
          </a:p>
        </p:txBody>
      </p:sp>
      <p:sp>
        <p:nvSpPr>
          <p:cNvPr id="2" name="Rectangle 1">
            <a:extLst>
              <a:ext uri="{FF2B5EF4-FFF2-40B4-BE49-F238E27FC236}">
                <a16:creationId xmlns:a16="http://schemas.microsoft.com/office/drawing/2014/main" id="{09FF4F5D-70B8-4224-91F2-4D3C5F190FF9}"/>
              </a:ext>
            </a:extLst>
          </p:cNvPr>
          <p:cNvSpPr/>
          <p:nvPr/>
        </p:nvSpPr>
        <p:spPr>
          <a:xfrm>
            <a:off x="121443" y="731837"/>
            <a:ext cx="8758397" cy="1815882"/>
          </a:xfrm>
          <a:prstGeom prst="rect">
            <a:avLst/>
          </a:prstGeom>
        </p:spPr>
        <p:txBody>
          <a:bodyPr wrap="square">
            <a:spAutoFit/>
          </a:bodyPr>
          <a:lstStyle/>
          <a:p>
            <a:pPr algn="l" rtl="0"/>
            <a:r>
              <a:rPr lang="en-US" sz="1600" dirty="0"/>
              <a:t>Reportez-vous à la Figure 1-8, qui représente un réseau IPv6. 2001:db8:a:a::/64 représente les 64 premiers bits de l'adresse IPv6, qui est la</a:t>
            </a:r>
            <a:r>
              <a:rPr lang="en-US" sz="1600" i="1" dirty="0"/>
              <a:t>préfixe de sous-réseau</a:t>
            </a:r>
            <a:r>
              <a:rPr lang="en-US" sz="1600" dirty="0"/>
              <a:t>. Il s'agit du réseau IPv6 dans lequel résident les nœuds. Le routeur R1 a l'adresse IPv6 d'interface 2001:db8:a:a::1, où les 64 derniers bits, qui sont ::1 dans ce cas, représentent l'ID d'interface/hôte ou qui c'est dans le réseau IPv6.</a:t>
            </a:r>
          </a:p>
          <a:p>
            <a:pPr algn="l" rtl="0"/>
            <a:endParaRPr lang="en-US" sz="1600" dirty="0"/>
          </a:p>
          <a:p>
            <a:pPr algn="l" rtl="0"/>
            <a:r>
              <a:rPr lang="en-US" sz="1600" dirty="0"/>
              <a:t>PC1 vaut ::10 et PC2 vaut ::20. Tous les périphériques de 2001:db8:a:a::/64 sont configurés avec l'adresse de passerelle par défaut de l'interface Gig0/0 de R1, qui est 2001:db8:a:a::1.</a:t>
            </a:r>
          </a:p>
        </p:txBody>
      </p:sp>
      <p:pic>
        <p:nvPicPr>
          <p:cNvPr id="5" name="Picture 4">
            <a:extLst>
              <a:ext uri="{FF2B5EF4-FFF2-40B4-BE49-F238E27FC236}">
                <a16:creationId xmlns:a16="http://schemas.microsoft.com/office/drawing/2014/main" id="{DA427C6E-77DC-4A45-AC36-EDF419DE0952}"/>
              </a:ext>
            </a:extLst>
          </p:cNvPr>
          <p:cNvPicPr>
            <a:picLocks noChangeAspect="1"/>
          </p:cNvPicPr>
          <p:nvPr/>
        </p:nvPicPr>
        <p:blipFill>
          <a:blip r:embed="rId3"/>
          <a:srcRect/>
          <a:stretch/>
        </p:blipFill>
        <p:spPr>
          <a:xfrm>
            <a:off x="2249723" y="2743200"/>
            <a:ext cx="4644554" cy="2186701"/>
          </a:xfrm>
          <a:prstGeom prst="rect">
            <a:avLst/>
          </a:prstGeom>
        </p:spPr>
      </p:pic>
    </p:spTree>
    <p:extLst>
      <p:ext uri="{BB962C8B-B14F-4D97-AF65-F5344CB8AC3E}">
        <p14:creationId xmlns:p14="http://schemas.microsoft.com/office/powerpoint/2010/main" val="3777542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6365081" cy="731837"/>
          </a:xfrm>
        </p:spPr>
        <p:txBody>
          <a:bodyPr/>
          <a:lstStyle/>
          <a:p>
            <a:pPr algn="l" rtl="0"/>
            <a:r>
              <a:rPr lang="en-US" sz="1600" dirty="0">
                <a:solidFill>
                  <a:schemeClr val="accent4">
                    <a:lumMod val="75000"/>
                  </a:schemeClr>
                </a:solidFill>
              </a:rPr>
              <a:t>Adressage IPv6</a:t>
            </a:r>
            <a:br>
              <a:rPr lang="en-US" dirty="0">
                <a:solidFill>
                  <a:schemeClr val="accent4">
                    <a:lumMod val="75000"/>
                  </a:schemeClr>
                </a:solidFill>
              </a:rPr>
            </a:br>
            <a:r>
              <a:rPr lang="en-US" sz="2400" dirty="0">
                <a:solidFill>
                  <a:schemeClr val="accent4">
                    <a:lumMod val="75000"/>
                  </a:schemeClr>
                </a:solidFill>
              </a:rPr>
              <a:t>Examen de l'adressage IPv6 (suite)</a:t>
            </a:r>
          </a:p>
        </p:txBody>
      </p:sp>
      <p:sp>
        <p:nvSpPr>
          <p:cNvPr id="2" name="Rectangle 1">
            <a:extLst>
              <a:ext uri="{FF2B5EF4-FFF2-40B4-BE49-F238E27FC236}">
                <a16:creationId xmlns:a16="http://schemas.microsoft.com/office/drawing/2014/main" id="{09FF4F5D-70B8-4224-91F2-4D3C5F190FF9}"/>
              </a:ext>
            </a:extLst>
          </p:cNvPr>
          <p:cNvSpPr/>
          <p:nvPr/>
        </p:nvSpPr>
        <p:spPr>
          <a:xfrm>
            <a:off x="121443" y="731837"/>
            <a:ext cx="8758397" cy="1815882"/>
          </a:xfrm>
          <a:prstGeom prst="rect">
            <a:avLst/>
          </a:prstGeom>
        </p:spPr>
        <p:txBody>
          <a:bodyPr wrap="square">
            <a:spAutoFit/>
          </a:bodyPr>
          <a:lstStyle/>
          <a:p>
            <a:pPr algn="l" rtl="0"/>
            <a:r>
              <a:rPr lang="en-US" sz="1600" dirty="0"/>
              <a:t>Dans cet exemple, PC1 possède l'adresse lien-local fe80::a00:27ff:fe5d:6d6 et l'adresse de monodiffusion globale 2001:db8:a:a::10, qui a été configurée de manière statique.</a:t>
            </a:r>
          </a:p>
          <a:p>
            <a:pPr algn="l" rtl="0"/>
            <a:endParaRPr lang="en-US" sz="1600" dirty="0"/>
          </a:p>
          <a:p>
            <a:pPr algn="l" rtl="0"/>
            <a:r>
              <a:rPr lang="en-US" sz="1600" dirty="0"/>
              <a:t>Notez le %11 à la fin de l’adresse lien-local. Il s'agit du numéro d'identification de l'interface, et il est nécessaire pour que le système sache à partir de quelle interface envoyer les paquets ; gardez à l’esprit que vous pouvez avoir plusieurs interfaces sur le même appareil avec la même adresse lien-local qui lui est attribuée.</a:t>
            </a:r>
          </a:p>
        </p:txBody>
      </p:sp>
      <p:pic>
        <p:nvPicPr>
          <p:cNvPr id="5" name="Picture 4">
            <a:extLst>
              <a:ext uri="{FF2B5EF4-FFF2-40B4-BE49-F238E27FC236}">
                <a16:creationId xmlns:a16="http://schemas.microsoft.com/office/drawing/2014/main" id="{DA427C6E-77DC-4A45-AC36-EDF419DE0952}"/>
              </a:ext>
            </a:extLst>
          </p:cNvPr>
          <p:cNvPicPr>
            <a:picLocks noChangeAspect="1"/>
          </p:cNvPicPr>
          <p:nvPr/>
        </p:nvPicPr>
        <p:blipFill>
          <a:blip r:embed="rId3"/>
          <a:srcRect/>
          <a:stretch/>
        </p:blipFill>
        <p:spPr>
          <a:xfrm>
            <a:off x="2308864" y="2743200"/>
            <a:ext cx="4526272" cy="2186701"/>
          </a:xfrm>
          <a:prstGeom prst="rect">
            <a:avLst/>
          </a:prstGeom>
        </p:spPr>
      </p:pic>
    </p:spTree>
    <p:extLst>
      <p:ext uri="{BB962C8B-B14F-4D97-AF65-F5344CB8AC3E}">
        <p14:creationId xmlns:p14="http://schemas.microsoft.com/office/powerpoint/2010/main" val="2700721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6365081" cy="731837"/>
          </a:xfrm>
        </p:spPr>
        <p:txBody>
          <a:bodyPr/>
          <a:lstStyle/>
          <a:p>
            <a:pPr algn="l" rtl="0"/>
            <a:r>
              <a:rPr lang="en-US" sz="1600" dirty="0">
                <a:solidFill>
                  <a:schemeClr val="accent4">
                    <a:lumMod val="75000"/>
                  </a:schemeClr>
                </a:solidFill>
              </a:rPr>
              <a:t>Adressage IPv6</a:t>
            </a:r>
            <a:br>
              <a:rPr lang="en-US" dirty="0">
                <a:solidFill>
                  <a:schemeClr val="accent4">
                    <a:lumMod val="75000"/>
                  </a:schemeClr>
                </a:solidFill>
              </a:rPr>
            </a:br>
            <a:r>
              <a:rPr lang="en-US" sz="2400" dirty="0">
                <a:solidFill>
                  <a:schemeClr val="accent4">
                    <a:lumMod val="75000"/>
                  </a:schemeClr>
                </a:solidFill>
              </a:rPr>
              <a:t>EUI-64</a:t>
            </a:r>
          </a:p>
        </p:txBody>
      </p:sp>
      <p:sp>
        <p:nvSpPr>
          <p:cNvPr id="2" name="Rectangle 1">
            <a:extLst>
              <a:ext uri="{FF2B5EF4-FFF2-40B4-BE49-F238E27FC236}">
                <a16:creationId xmlns:a16="http://schemas.microsoft.com/office/drawing/2014/main" id="{09FF4F5D-70B8-4224-91F2-4D3C5F190FF9}"/>
              </a:ext>
            </a:extLst>
          </p:cNvPr>
          <p:cNvSpPr/>
          <p:nvPr/>
        </p:nvSpPr>
        <p:spPr>
          <a:xfrm>
            <a:off x="30480" y="603250"/>
            <a:ext cx="4887437" cy="4185761"/>
          </a:xfrm>
          <a:prstGeom prst="rect">
            <a:avLst/>
          </a:prstGeom>
        </p:spPr>
        <p:txBody>
          <a:bodyPr wrap="square">
            <a:spAutoFit/>
          </a:bodyPr>
          <a:lstStyle/>
          <a:p>
            <a:pPr algn="l" rtl="0"/>
            <a:r>
              <a:rPr lang="en-US" sz="1400" dirty="0"/>
              <a:t>Les appareils finaux peuvent attribuer automatiquement leur propre ID d'interface IPv6 pour les adresses globales de monodiffusion et de liaison locale, de manière aléatoire ou sur la base de la norme IEEE EUI-64.</a:t>
            </a:r>
          </a:p>
          <a:p>
            <a:pPr algn="l" rtl="0"/>
            <a:endParaRPr lang="en-US" sz="1400" dirty="0"/>
          </a:p>
          <a:p>
            <a:pPr algn="l" rtl="0"/>
            <a:r>
              <a:rPr lang="en-US" sz="1400" dirty="0"/>
              <a:t>EUI-64 prend l'adresse MAC du client, la divise en deux et ajoute le FFFE hexadécimal au milieu. De plus, il prend le septième bit en partant de la gauche et le retourne. Donc, si c’est un 1, cela devient un 0, et si c’est un 0, cela devient un 1.</a:t>
            </a:r>
          </a:p>
          <a:p>
            <a:pPr algn="l" rtl="0"/>
            <a:endParaRPr lang="en-US" sz="1400" dirty="0"/>
          </a:p>
          <a:p>
            <a:pPr algn="l" rtl="0"/>
            <a:r>
              <a:rPr lang="en-US" sz="1400" dirty="0"/>
              <a:t>Exemple 1-10 Notez que l'adresse MAC est 08-00-27-5D-06-D6. Divisez-le en deux et ajoutez FFFE au milieu pour obtenir 08-00-27-FF-FE-5D-06-D6 ou 0800:27FF:FE5D:06D6. C'est proche de ce qui est répertorié dans l'adresse lien-local, mais ce n'est pas exactement la même chose. L'ID d'interface dans l'adresse lien-local commence par 0a et le nôtre commence par 08. En effet, le septième bit est inversé. Retournez. 08 hex en binaire est 00001000. Le septième bit de gauche à droite est un 0, alors faites-en un 1. Vous avez maintenant 00001010. Convertissez en hexadécimal et vous obtenez 0a. Ainsi, votre identifiant d’interface est 0A00:27FF:FE5D:06D6.</a:t>
            </a:r>
          </a:p>
        </p:txBody>
      </p:sp>
      <p:pic>
        <p:nvPicPr>
          <p:cNvPr id="5" name="Picture 4">
            <a:extLst>
              <a:ext uri="{FF2B5EF4-FFF2-40B4-BE49-F238E27FC236}">
                <a16:creationId xmlns:a16="http://schemas.microsoft.com/office/drawing/2014/main" id="{DA427C6E-77DC-4A45-AC36-EDF419DE0952}"/>
              </a:ext>
            </a:extLst>
          </p:cNvPr>
          <p:cNvPicPr>
            <a:picLocks noChangeAspect="1"/>
          </p:cNvPicPr>
          <p:nvPr/>
        </p:nvPicPr>
        <p:blipFill>
          <a:blip r:embed="rId3"/>
          <a:srcRect/>
          <a:stretch/>
        </p:blipFill>
        <p:spPr>
          <a:xfrm>
            <a:off x="5041907" y="1060103"/>
            <a:ext cx="4071613" cy="2902297"/>
          </a:xfrm>
          <a:prstGeom prst="rect">
            <a:avLst/>
          </a:prstGeom>
        </p:spPr>
      </p:pic>
    </p:spTree>
    <p:extLst>
      <p:ext uri="{BB962C8B-B14F-4D97-AF65-F5344CB8AC3E}">
        <p14:creationId xmlns:p14="http://schemas.microsoft.com/office/powerpoint/2010/main" val="1659357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6365081" cy="731837"/>
          </a:xfrm>
        </p:spPr>
        <p:txBody>
          <a:bodyPr/>
          <a:lstStyle/>
          <a:p>
            <a:pPr algn="l" rtl="0"/>
            <a:r>
              <a:rPr lang="en-US" sz="1600" dirty="0">
                <a:solidFill>
                  <a:schemeClr val="accent4">
                    <a:lumMod val="75000"/>
                  </a:schemeClr>
                </a:solidFill>
              </a:rPr>
              <a:t>Adressage IPv6</a:t>
            </a:r>
            <a:br>
              <a:rPr lang="en-US" dirty="0">
                <a:solidFill>
                  <a:schemeClr val="accent4">
                    <a:lumMod val="75000"/>
                  </a:schemeClr>
                </a:solidFill>
              </a:rPr>
            </a:br>
            <a:r>
              <a:rPr lang="en-US" sz="2400" dirty="0">
                <a:solidFill>
                  <a:schemeClr val="accent4">
                    <a:lumMod val="75000"/>
                  </a:schemeClr>
                </a:solidFill>
              </a:rPr>
              <a:t>EUI-64 (suite)</a:t>
            </a:r>
          </a:p>
        </p:txBody>
      </p:sp>
      <p:sp>
        <p:nvSpPr>
          <p:cNvPr id="2" name="Rectangle 1">
            <a:extLst>
              <a:ext uri="{FF2B5EF4-FFF2-40B4-BE49-F238E27FC236}">
                <a16:creationId xmlns:a16="http://schemas.microsoft.com/office/drawing/2014/main" id="{09FF4F5D-70B8-4224-91F2-4D3C5F190FF9}"/>
              </a:ext>
            </a:extLst>
          </p:cNvPr>
          <p:cNvSpPr/>
          <p:nvPr/>
        </p:nvSpPr>
        <p:spPr>
          <a:xfrm>
            <a:off x="121443" y="731837"/>
            <a:ext cx="4775677" cy="2893100"/>
          </a:xfrm>
          <a:prstGeom prst="rect">
            <a:avLst/>
          </a:prstGeom>
        </p:spPr>
        <p:txBody>
          <a:bodyPr wrap="square">
            <a:spAutoFit/>
          </a:bodyPr>
          <a:lstStyle/>
          <a:p>
            <a:pPr algn="l" rtl="0"/>
            <a:r>
              <a:rPr lang="en-US" sz="1400" dirty="0"/>
              <a:t>Les PC Windows modernes génèrent de manière aléatoire la partie interface par défaut pour l'adresse lien-local et l'adresse de monodiffusion globale lors de la configuration automatique de leurs adresses IPv6. Cependant, cela peut être modifié afin que EUI-64 soit utilisé à la place.</a:t>
            </a:r>
          </a:p>
          <a:p>
            <a:pPr algn="l" rtl="0"/>
            <a:endParaRPr lang="en-US" sz="1400" dirty="0"/>
          </a:p>
          <a:p>
            <a:pPr algn="l" rtl="0"/>
            <a:r>
              <a:rPr lang="en-US" sz="1400" dirty="0"/>
              <a:t>Sur un routeur, si vous souhaitez utiliser EUI-64 pour une adresse de monodiffusion globale configurée de manière statique, utilisez le</a:t>
            </a:r>
            <a:r>
              <a:rPr lang="en-US" sz="1400" b="1" dirty="0"/>
              <a:t> </a:t>
            </a:r>
            <a:r>
              <a:rPr lang="en-US" sz="1400" i="1" dirty="0"/>
              <a:t>mot-clé eui-64</a:t>
            </a:r>
            <a:r>
              <a:rPr lang="en-US" sz="1400" dirty="0"/>
              <a:t>à la fin de la commande d'adresse ipv6.</a:t>
            </a:r>
          </a:p>
          <a:p>
            <a:pPr algn="l" rtl="0"/>
            <a:endParaRPr lang="en-US" sz="1400" dirty="0"/>
          </a:p>
          <a:p>
            <a:pPr algn="l" rtl="0"/>
            <a:r>
              <a:rPr lang="en-US" sz="1400" dirty="0"/>
              <a:t>Vérifiez l'adresse de monodiffusion globale et l'ID d'interface EUI-64 attribué à une interface à l'aide du</a:t>
            </a:r>
            <a:r>
              <a:rPr lang="en-US" sz="1400" b="1" dirty="0"/>
              <a:t>afficher l'interface ipv6</a:t>
            </a:r>
            <a:r>
              <a:rPr lang="en-US" sz="1400" dirty="0"/>
              <a:t>commande.</a:t>
            </a:r>
          </a:p>
        </p:txBody>
      </p:sp>
      <p:pic>
        <p:nvPicPr>
          <p:cNvPr id="5" name="Picture 4">
            <a:extLst>
              <a:ext uri="{FF2B5EF4-FFF2-40B4-BE49-F238E27FC236}">
                <a16:creationId xmlns:a16="http://schemas.microsoft.com/office/drawing/2014/main" id="{DA427C6E-77DC-4A45-AC36-EDF419DE0952}"/>
              </a:ext>
            </a:extLst>
          </p:cNvPr>
          <p:cNvPicPr>
            <a:picLocks noChangeAspect="1"/>
          </p:cNvPicPr>
          <p:nvPr/>
        </p:nvPicPr>
        <p:blipFill>
          <a:blip r:embed="rId3"/>
          <a:srcRect/>
          <a:stretch/>
        </p:blipFill>
        <p:spPr>
          <a:xfrm>
            <a:off x="3396133" y="3568393"/>
            <a:ext cx="5466408" cy="1075491"/>
          </a:xfrm>
          <a:prstGeom prst="rect">
            <a:avLst/>
          </a:prstGeom>
        </p:spPr>
      </p:pic>
      <p:pic>
        <p:nvPicPr>
          <p:cNvPr id="6" name="Picture 5">
            <a:extLst>
              <a:ext uri="{FF2B5EF4-FFF2-40B4-BE49-F238E27FC236}">
                <a16:creationId xmlns:a16="http://schemas.microsoft.com/office/drawing/2014/main" id="{63E97A61-40F7-47E7-A5D7-74D03ABFD96D}"/>
              </a:ext>
            </a:extLst>
          </p:cNvPr>
          <p:cNvPicPr>
            <a:picLocks noChangeAspect="1"/>
          </p:cNvPicPr>
          <p:nvPr/>
        </p:nvPicPr>
        <p:blipFill>
          <a:blip r:embed="rId4"/>
          <a:stretch>
            <a:fillRect/>
          </a:stretch>
        </p:blipFill>
        <p:spPr>
          <a:xfrm>
            <a:off x="4985723" y="731837"/>
            <a:ext cx="4107954" cy="1737043"/>
          </a:xfrm>
          <a:prstGeom prst="rect">
            <a:avLst/>
          </a:prstGeom>
        </p:spPr>
      </p:pic>
    </p:spTree>
    <p:extLst>
      <p:ext uri="{BB962C8B-B14F-4D97-AF65-F5344CB8AC3E}">
        <p14:creationId xmlns:p14="http://schemas.microsoft.com/office/powerpoint/2010/main" val="1867891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B89FE0-AFBF-4F30-AE65-3B18BCBE3A9A}"/>
              </a:ext>
            </a:extLst>
          </p:cNvPr>
          <p:cNvSpPr>
            <a:spLocks noGrp="1"/>
          </p:cNvSpPr>
          <p:nvPr>
            <p:ph type="ctrTitle"/>
          </p:nvPr>
        </p:nvSpPr>
        <p:spPr>
          <a:xfrm>
            <a:off x="337844" y="252411"/>
            <a:ext cx="8541996" cy="1351755"/>
          </a:xfrm>
        </p:spPr>
        <p:txBody>
          <a:bodyPr/>
          <a:lstStyle/>
          <a:p>
            <a:pPr algn="l" rtl="0"/>
            <a:r>
              <a:rPr lang="en-US" sz="3600" dirty="0">
                <a:solidFill>
                  <a:schemeClr val="accent5">
                    <a:lumMod val="40000"/>
                    <a:lumOff val="60000"/>
                  </a:schemeClr>
                </a:solidFill>
              </a:rPr>
              <a:t>IPv6 SLAAC, DHCPv6 avec état et DHCPv6 sans état</a:t>
            </a:r>
          </a:p>
        </p:txBody>
      </p:sp>
      <p:sp>
        <p:nvSpPr>
          <p:cNvPr id="4" name="TextBox 3">
            <a:extLst>
              <a:ext uri="{FF2B5EF4-FFF2-40B4-BE49-F238E27FC236}">
                <a16:creationId xmlns:a16="http://schemas.microsoft.com/office/drawing/2014/main" id="{E2BFA70F-DC0C-41D5-868E-C8FBC661D58F}"/>
              </a:ext>
            </a:extLst>
          </p:cNvPr>
          <p:cNvSpPr txBox="1"/>
          <p:nvPr/>
        </p:nvSpPr>
        <p:spPr>
          <a:xfrm>
            <a:off x="433084" y="1715712"/>
            <a:ext cx="8277832" cy="1569660"/>
          </a:xfrm>
          <a:prstGeom prst="rect">
            <a:avLst/>
          </a:prstGeom>
          <a:noFill/>
        </p:spPr>
        <p:txBody>
          <a:bodyPr wrap="square" rtlCol="0">
            <a:spAutoFit/>
          </a:bodyPr>
          <a:lstStyle/>
          <a:p>
            <a:pPr marL="285750" indent="-285750" algn="l" rtl="0">
              <a:buFont typeface="Arial" panose="020B0604020202020204" pitchFamily="34" charset="0"/>
              <a:buChar char="•"/>
            </a:pPr>
            <a:r>
              <a:rPr lang="en-US" sz="1600" dirty="0">
                <a:solidFill>
                  <a:schemeClr val="accent4">
                    <a:lumMod val="40000"/>
                    <a:lumOff val="60000"/>
                  </a:schemeClr>
                </a:solidFill>
              </a:rPr>
              <a:t>L'attribution manuelle d'adresses IP (IPv4 ou IPv6) n'est pas une option évolutive.</a:t>
            </a:r>
          </a:p>
          <a:p>
            <a:pPr marL="285750" indent="-285750" algn="l" rtl="0">
              <a:buFont typeface="Arial" panose="020B0604020202020204" pitchFamily="34" charset="0"/>
              <a:buChar char="•"/>
            </a:pPr>
            <a:r>
              <a:rPr lang="en-US" sz="1600" dirty="0">
                <a:solidFill>
                  <a:schemeClr val="accent4">
                    <a:lumMod val="40000"/>
                    <a:lumOff val="60000"/>
                  </a:schemeClr>
                </a:solidFill>
              </a:rPr>
              <a:t>Avec IPv4, DHCP fournit une option d'adressage dynamique. Avec IPv6, vous avez le choix entre trois options dynamiques : configuration automatique d'adresse sans état (SLAAC), DHCPv6 avec état ou DHCPv6 sans état.</a:t>
            </a:r>
          </a:p>
          <a:p>
            <a:pPr marL="285750" indent="-285750" algn="l" rtl="0">
              <a:buFont typeface="Arial" panose="020B0604020202020204" pitchFamily="34" charset="0"/>
              <a:buChar char="•"/>
            </a:pPr>
            <a:r>
              <a:rPr lang="en-US" sz="1600" dirty="0">
                <a:solidFill>
                  <a:schemeClr val="accent4">
                    <a:lumMod val="40000"/>
                    <a:lumOff val="60000"/>
                  </a:schemeClr>
                </a:solidFill>
              </a:rPr>
              <a:t>Cette section examine les problèmes qui peuvent survenir pour chacun et comment les résoudre.</a:t>
            </a:r>
          </a:p>
        </p:txBody>
      </p:sp>
    </p:spTree>
    <p:custDataLst>
      <p:tags r:id="rId1"/>
    </p:custDataLst>
    <p:extLst>
      <p:ext uri="{BB962C8B-B14F-4D97-AF65-F5344CB8AC3E}">
        <p14:creationId xmlns:p14="http://schemas.microsoft.com/office/powerpoint/2010/main" val="3731748431"/>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6365081" cy="731837"/>
          </a:xfrm>
        </p:spPr>
        <p:txBody>
          <a:bodyPr/>
          <a:lstStyle/>
          <a:p>
            <a:pPr algn="l" rtl="0"/>
            <a:r>
              <a:rPr lang="en-US" sz="1600" dirty="0">
                <a:solidFill>
                  <a:schemeClr val="accent4">
                    <a:lumMod val="75000"/>
                  </a:schemeClr>
                </a:solidFill>
              </a:rPr>
              <a:t>IPv6 SLAAC, DHCPv6 avec état, DHCPv6 sans état</a:t>
            </a:r>
            <a:br>
              <a:rPr lang="en-US" dirty="0">
                <a:solidFill>
                  <a:schemeClr val="accent4">
                    <a:lumMod val="75000"/>
                  </a:schemeClr>
                </a:solidFill>
              </a:rPr>
            </a:br>
            <a:r>
              <a:rPr lang="en-US" sz="2400" dirty="0">
                <a:solidFill>
                  <a:schemeClr val="accent4">
                    <a:lumMod val="75000"/>
                  </a:schemeClr>
                </a:solidFill>
              </a:rPr>
              <a:t>SLAAC</a:t>
            </a:r>
          </a:p>
        </p:txBody>
      </p:sp>
      <p:sp>
        <p:nvSpPr>
          <p:cNvPr id="2" name="Rectangle 1">
            <a:extLst>
              <a:ext uri="{FF2B5EF4-FFF2-40B4-BE49-F238E27FC236}">
                <a16:creationId xmlns:a16="http://schemas.microsoft.com/office/drawing/2014/main" id="{09FF4F5D-70B8-4224-91F2-4D3C5F190FF9}"/>
              </a:ext>
            </a:extLst>
          </p:cNvPr>
          <p:cNvSpPr/>
          <p:nvPr/>
        </p:nvSpPr>
        <p:spPr>
          <a:xfrm>
            <a:off x="121443" y="731837"/>
            <a:ext cx="8839677" cy="1169551"/>
          </a:xfrm>
          <a:prstGeom prst="rect">
            <a:avLst/>
          </a:prstGeom>
        </p:spPr>
        <p:txBody>
          <a:bodyPr wrap="square">
            <a:spAutoFit/>
          </a:bodyPr>
          <a:lstStyle/>
          <a:p>
            <a:pPr algn="l" rtl="0"/>
            <a:r>
              <a:rPr lang="en-US" sz="1400" dirty="0"/>
              <a:t>SLAAC est conçu pour permettre à un appareil de configurer sa propre adresse IPv6, son préfixe et sa passerelle par défaut sans serveur DHCPv6. Les PC Windows activent automatiquement SLAAC et génèrent leurs propres adresses IPv6.</a:t>
            </a:r>
          </a:p>
          <a:p>
            <a:pPr algn="l" rtl="0"/>
            <a:endParaRPr lang="en-US" sz="1400" dirty="0"/>
          </a:p>
          <a:p>
            <a:pPr algn="l" rtl="0"/>
            <a:r>
              <a:rPr lang="en-US" sz="1400" dirty="0"/>
              <a:t>Sur les routeurs Cisco, si vous souhaitez profiter de SLAAC, vous devez l'activer manuellement sur une interface avec le</a:t>
            </a:r>
            <a:r>
              <a:rPr lang="en-US" sz="1400" b="1" dirty="0"/>
              <a:t>configuration automatique de l'adresse IPv6</a:t>
            </a:r>
            <a:r>
              <a:rPr lang="en-US" sz="1400" dirty="0"/>
              <a:t>commande.</a:t>
            </a:r>
          </a:p>
        </p:txBody>
      </p:sp>
      <p:pic>
        <p:nvPicPr>
          <p:cNvPr id="5" name="Picture 4">
            <a:extLst>
              <a:ext uri="{FF2B5EF4-FFF2-40B4-BE49-F238E27FC236}">
                <a16:creationId xmlns:a16="http://schemas.microsoft.com/office/drawing/2014/main" id="{DA427C6E-77DC-4A45-AC36-EDF419DE0952}"/>
              </a:ext>
            </a:extLst>
          </p:cNvPr>
          <p:cNvPicPr>
            <a:picLocks noChangeAspect="1"/>
          </p:cNvPicPr>
          <p:nvPr/>
        </p:nvPicPr>
        <p:blipFill>
          <a:blip r:embed="rId3"/>
          <a:srcRect/>
          <a:stretch/>
        </p:blipFill>
        <p:spPr>
          <a:xfrm>
            <a:off x="1279995" y="2923956"/>
            <a:ext cx="6735843" cy="1321338"/>
          </a:xfrm>
          <a:prstGeom prst="rect">
            <a:avLst/>
          </a:prstGeom>
        </p:spPr>
      </p:pic>
    </p:spTree>
    <p:extLst>
      <p:ext uri="{BB962C8B-B14F-4D97-AF65-F5344CB8AC3E}">
        <p14:creationId xmlns:p14="http://schemas.microsoft.com/office/powerpoint/2010/main" val="1456621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6365081" cy="731837"/>
          </a:xfrm>
        </p:spPr>
        <p:txBody>
          <a:bodyPr/>
          <a:lstStyle/>
          <a:p>
            <a:pPr algn="l" rtl="0"/>
            <a:r>
              <a:rPr lang="en-US" sz="1600" dirty="0">
                <a:solidFill>
                  <a:schemeClr val="accent4">
                    <a:lumMod val="75000"/>
                  </a:schemeClr>
                </a:solidFill>
              </a:rPr>
              <a:t>IPv6 SLAAC, DHCPv6 avec état, DHCPv6 sans état</a:t>
            </a:r>
            <a:br>
              <a:rPr lang="en-US" dirty="0">
                <a:solidFill>
                  <a:schemeClr val="accent4">
                    <a:lumMod val="75000"/>
                  </a:schemeClr>
                </a:solidFill>
              </a:rPr>
            </a:br>
            <a:r>
              <a:rPr lang="en-US" sz="2400" dirty="0">
                <a:solidFill>
                  <a:schemeClr val="accent4">
                    <a:lumMod val="75000"/>
                  </a:schemeClr>
                </a:solidFill>
              </a:rPr>
              <a:t>SLAAC (suite)</a:t>
            </a:r>
          </a:p>
        </p:txBody>
      </p:sp>
      <p:sp>
        <p:nvSpPr>
          <p:cNvPr id="2" name="Rectangle 1">
            <a:extLst>
              <a:ext uri="{FF2B5EF4-FFF2-40B4-BE49-F238E27FC236}">
                <a16:creationId xmlns:a16="http://schemas.microsoft.com/office/drawing/2014/main" id="{09FF4F5D-70B8-4224-91F2-4D3C5F190FF9}"/>
              </a:ext>
            </a:extLst>
          </p:cNvPr>
          <p:cNvSpPr/>
          <p:nvPr/>
        </p:nvSpPr>
        <p:spPr>
          <a:xfrm>
            <a:off x="60481" y="599439"/>
            <a:ext cx="5039361" cy="4185761"/>
          </a:xfrm>
          <a:prstGeom prst="rect">
            <a:avLst/>
          </a:prstGeom>
        </p:spPr>
        <p:txBody>
          <a:bodyPr wrap="square">
            <a:spAutoFit/>
          </a:bodyPr>
          <a:lstStyle/>
          <a:p>
            <a:pPr algn="l" rtl="0"/>
            <a:r>
              <a:rPr lang="en-US" sz="1400" dirty="0"/>
              <a:t>Lorsqu'un PC et une interface de routeur sont activés pour SLAAC, ils envoient un message de sollicitation de routeur (RS)</a:t>
            </a:r>
            <a:r>
              <a:rPr lang="en-US" sz="1400" b="1" dirty="0"/>
              <a:t> </a:t>
            </a:r>
            <a:r>
              <a:rPr lang="en-US" sz="1400" dirty="0"/>
              <a:t>pour déterminer si des routeurs sont connectés à la liaison locale.</a:t>
            </a:r>
          </a:p>
          <a:p>
            <a:pPr algn="l" rtl="0"/>
            <a:endParaRPr lang="en-US" sz="1400" dirty="0"/>
          </a:p>
          <a:p>
            <a:pPr algn="l" rtl="0"/>
            <a:r>
              <a:rPr lang="en-US" sz="1400" dirty="0"/>
              <a:t>Ils attendent qu'un routeur envoie une annonce de routeur (RA) qui identifie le préfixe utilisé par le routeur (la passerelle par défaut) connecté au même réseau.</a:t>
            </a:r>
          </a:p>
          <a:p>
            <a:pPr algn="l" rtl="0"/>
            <a:endParaRPr lang="en-US" sz="1400" dirty="0"/>
          </a:p>
          <a:p>
            <a:pPr algn="l" rtl="0"/>
            <a:r>
              <a:rPr lang="en-US" sz="1400" dirty="0"/>
              <a:t>Ils utilisent ces informations de préfixe pour générer leur propre adresse IPv6 dans le même réseau que l'interface du routeur qui a généré le RA.</a:t>
            </a:r>
          </a:p>
          <a:p>
            <a:pPr algn="l" rtl="0"/>
            <a:endParaRPr lang="en-US" sz="1400" dirty="0"/>
          </a:p>
          <a:p>
            <a:pPr algn="l" rtl="0"/>
            <a:r>
              <a:rPr lang="en-US" sz="1400" dirty="0"/>
              <a:t>Le routeur utilise EUI-64 pour l'ID d'interface et le PC génère de manière aléatoire l'ID d'interface à moins qu'il ne soit configuré pour utiliser EUI-64. De plus, le PC utilise l'adresse lien-local IPv6 de l'appareil qui a envoyé le RA comme adresse de passerelle par défaut.</a:t>
            </a:r>
          </a:p>
          <a:p>
            <a:pPr algn="l" rtl="0"/>
            <a:endParaRPr lang="en-US" sz="1400" dirty="0"/>
          </a:p>
          <a:p>
            <a:pPr algn="l" rtl="0"/>
            <a:r>
              <a:rPr lang="en-US" sz="1400" dirty="0"/>
              <a:t>Figure 1-9 R1 envoie un RA.</a:t>
            </a:r>
          </a:p>
        </p:txBody>
      </p:sp>
      <p:sp>
        <p:nvSpPr>
          <p:cNvPr id="4" name="TextBox 3">
            <a:extLst>
              <a:ext uri="{FF2B5EF4-FFF2-40B4-BE49-F238E27FC236}">
                <a16:creationId xmlns:a16="http://schemas.microsoft.com/office/drawing/2014/main" id="{BC56BF2C-C3C9-43CE-B3AD-8CDE699D7743}"/>
              </a:ext>
            </a:extLst>
          </p:cNvPr>
          <p:cNvSpPr txBox="1"/>
          <p:nvPr/>
        </p:nvSpPr>
        <p:spPr>
          <a:xfrm>
            <a:off x="5221765" y="2885440"/>
            <a:ext cx="3861754" cy="2031325"/>
          </a:xfrm>
          <a:prstGeom prst="rect">
            <a:avLst/>
          </a:prstGeom>
          <a:noFill/>
        </p:spPr>
        <p:txBody>
          <a:bodyPr wrap="square" rtlCol="0">
            <a:spAutoFit/>
          </a:bodyPr>
          <a:lstStyle/>
          <a:p>
            <a:pPr algn="l" rtl="0"/>
            <a:r>
              <a:rPr lang="en-US" sz="1400" dirty="0"/>
              <a:t>L'adresse IPv6 source est l'adresse lien-local Gig0/0 et l'adresse MAC source est le MAC de Gig0/0. L'adresse IPv6 de destination est la</a:t>
            </a:r>
            <a:r>
              <a:rPr lang="en-US" sz="1400" i="1" dirty="0"/>
              <a:t>Adresse IPv6 de multidiffusion lien-local pour tous les nœuds</a:t>
            </a:r>
            <a:r>
              <a:rPr lang="en-US" sz="1400" dirty="0"/>
              <a:t>FF02 : 1. L'adresse MAC de destination est la</a:t>
            </a:r>
            <a:r>
              <a:rPr lang="en-US" sz="1400" i="1" dirty="0"/>
              <a:t>Adresse MAC de destination de tous les nœuds</a:t>
            </a:r>
            <a:r>
              <a:rPr lang="en-US" sz="1400" dirty="0"/>
              <a:t>33:33:00:00:00:01. Par défaut, toutes les interfaces compatibles IPv6 écoutent les paquets et les trames destinés à ces deux adresses.</a:t>
            </a:r>
          </a:p>
        </p:txBody>
      </p:sp>
      <p:pic>
        <p:nvPicPr>
          <p:cNvPr id="5" name="Picture 4">
            <a:extLst>
              <a:ext uri="{FF2B5EF4-FFF2-40B4-BE49-F238E27FC236}">
                <a16:creationId xmlns:a16="http://schemas.microsoft.com/office/drawing/2014/main" id="{DA427C6E-77DC-4A45-AC36-EDF419DE0952}"/>
              </a:ext>
            </a:extLst>
          </p:cNvPr>
          <p:cNvPicPr>
            <a:picLocks noChangeAspect="1"/>
          </p:cNvPicPr>
          <p:nvPr/>
        </p:nvPicPr>
        <p:blipFill>
          <a:blip r:embed="rId3"/>
          <a:srcRect/>
          <a:stretch/>
        </p:blipFill>
        <p:spPr>
          <a:xfrm>
            <a:off x="5320268" y="599439"/>
            <a:ext cx="3746024" cy="2096959"/>
          </a:xfrm>
          <a:prstGeom prst="rect">
            <a:avLst/>
          </a:prstGeom>
        </p:spPr>
      </p:pic>
    </p:spTree>
    <p:extLst>
      <p:ext uri="{BB962C8B-B14F-4D97-AF65-F5344CB8AC3E}">
        <p14:creationId xmlns:p14="http://schemas.microsoft.com/office/powerpoint/2010/main" val="1124571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6365081" cy="731837"/>
          </a:xfrm>
        </p:spPr>
        <p:txBody>
          <a:bodyPr/>
          <a:lstStyle/>
          <a:p>
            <a:pPr algn="l" rtl="0"/>
            <a:r>
              <a:rPr lang="en-US" sz="1600" dirty="0">
                <a:solidFill>
                  <a:schemeClr val="accent4">
                    <a:lumMod val="75000"/>
                  </a:schemeClr>
                </a:solidFill>
              </a:rPr>
              <a:t>IPv6 SLAAC, DHCPv6 avec état, DHCPv6 sans état</a:t>
            </a:r>
            <a:br>
              <a:rPr lang="en-US" dirty="0">
                <a:solidFill>
                  <a:schemeClr val="accent4">
                    <a:lumMod val="75000"/>
                  </a:schemeClr>
                </a:solidFill>
              </a:rPr>
            </a:br>
            <a:r>
              <a:rPr lang="en-US" sz="2400" dirty="0">
                <a:solidFill>
                  <a:schemeClr val="accent4">
                    <a:lumMod val="75000"/>
                  </a:schemeClr>
                </a:solidFill>
              </a:rPr>
              <a:t>SLAAC (suite)</a:t>
            </a:r>
          </a:p>
        </p:txBody>
      </p:sp>
      <p:sp>
        <p:nvSpPr>
          <p:cNvPr id="2" name="Rectangle 1">
            <a:extLst>
              <a:ext uri="{FF2B5EF4-FFF2-40B4-BE49-F238E27FC236}">
                <a16:creationId xmlns:a16="http://schemas.microsoft.com/office/drawing/2014/main" id="{09FF4F5D-70B8-4224-91F2-4D3C5F190FF9}"/>
              </a:ext>
            </a:extLst>
          </p:cNvPr>
          <p:cNvSpPr/>
          <p:nvPr/>
        </p:nvSpPr>
        <p:spPr>
          <a:xfrm>
            <a:off x="121442" y="731837"/>
            <a:ext cx="8819358" cy="1384995"/>
          </a:xfrm>
          <a:prstGeom prst="rect">
            <a:avLst/>
          </a:prstGeom>
        </p:spPr>
        <p:txBody>
          <a:bodyPr wrap="square">
            <a:spAutoFit/>
          </a:bodyPr>
          <a:lstStyle/>
          <a:p>
            <a:pPr algn="l" rtl="0"/>
            <a:r>
              <a:rPr lang="en-US" sz="1400" dirty="0"/>
              <a:t>Pour vérifier une adresse IPv6 générée par SLAAC sur une interface de routeur, utilisez le</a:t>
            </a:r>
            <a:r>
              <a:rPr lang="en-US" sz="1400" b="1" dirty="0"/>
              <a:t>afficher l'interface ipv6</a:t>
            </a:r>
            <a:r>
              <a:rPr lang="en-US" sz="1400" dirty="0"/>
              <a:t>commande.</a:t>
            </a:r>
          </a:p>
          <a:p>
            <a:pPr algn="l" rtl="0"/>
            <a:endParaRPr lang="en-US" sz="1400" dirty="0"/>
          </a:p>
          <a:p>
            <a:pPr algn="l" rtl="0"/>
            <a:r>
              <a:rPr lang="en-US" sz="1400" dirty="0"/>
              <a:t>Comme le montre l'exemple 1-16, l'adresse de monodiffusion globale a été générée à l'aide de SLAAC. Notez également au bas de l'exemple que le routeur par défaut est répertorié comme adresse lien-local de R1. Notez toutefois que cela se produit uniquement si le routage de monodiffusion IPv6 n’a pas été activé sur le routeur R1 et que, par conséquent, le routeur agit comme un périphérique final.</a:t>
            </a:r>
          </a:p>
        </p:txBody>
      </p:sp>
      <p:pic>
        <p:nvPicPr>
          <p:cNvPr id="5" name="Picture 4">
            <a:extLst>
              <a:ext uri="{FF2B5EF4-FFF2-40B4-BE49-F238E27FC236}">
                <a16:creationId xmlns:a16="http://schemas.microsoft.com/office/drawing/2014/main" id="{DA427C6E-77DC-4A45-AC36-EDF419DE0952}"/>
              </a:ext>
            </a:extLst>
          </p:cNvPr>
          <p:cNvPicPr>
            <a:picLocks noChangeAspect="1"/>
          </p:cNvPicPr>
          <p:nvPr/>
        </p:nvPicPr>
        <p:blipFill>
          <a:blip r:embed="rId3"/>
          <a:srcRect/>
          <a:stretch/>
        </p:blipFill>
        <p:spPr>
          <a:xfrm>
            <a:off x="1955025" y="2366057"/>
            <a:ext cx="5233949" cy="2520903"/>
          </a:xfrm>
          <a:prstGeom prst="rect">
            <a:avLst/>
          </a:prstGeom>
        </p:spPr>
      </p:pic>
    </p:spTree>
    <p:extLst>
      <p:ext uri="{BB962C8B-B14F-4D97-AF65-F5344CB8AC3E}">
        <p14:creationId xmlns:p14="http://schemas.microsoft.com/office/powerpoint/2010/main" val="3462796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6365081" cy="731837"/>
          </a:xfrm>
        </p:spPr>
        <p:txBody>
          <a:bodyPr/>
          <a:lstStyle/>
          <a:p>
            <a:pPr algn="l" rtl="0"/>
            <a:r>
              <a:rPr lang="en-US" sz="1600" dirty="0">
                <a:solidFill>
                  <a:schemeClr val="accent4">
                    <a:lumMod val="75000"/>
                  </a:schemeClr>
                </a:solidFill>
              </a:rPr>
              <a:t>IPv6 SLAAC, DHCPv6 avec état, DHCPv6 sans état</a:t>
            </a:r>
            <a:br>
              <a:rPr lang="en-US" dirty="0">
                <a:solidFill>
                  <a:schemeClr val="accent4">
                    <a:lumMod val="75000"/>
                  </a:schemeClr>
                </a:solidFill>
              </a:rPr>
            </a:br>
            <a:r>
              <a:rPr lang="en-US" sz="2400" dirty="0">
                <a:solidFill>
                  <a:schemeClr val="accent4">
                    <a:lumMod val="75000"/>
                  </a:schemeClr>
                </a:solidFill>
              </a:rPr>
              <a:t>Annonces de routeur (RA)</a:t>
            </a:r>
          </a:p>
        </p:txBody>
      </p:sp>
      <p:sp>
        <p:nvSpPr>
          <p:cNvPr id="2" name="Rectangle 1">
            <a:extLst>
              <a:ext uri="{FF2B5EF4-FFF2-40B4-BE49-F238E27FC236}">
                <a16:creationId xmlns:a16="http://schemas.microsoft.com/office/drawing/2014/main" id="{09FF4F5D-70B8-4224-91F2-4D3C5F190FF9}"/>
              </a:ext>
            </a:extLst>
          </p:cNvPr>
          <p:cNvSpPr/>
          <p:nvPr/>
        </p:nvSpPr>
        <p:spPr>
          <a:xfrm>
            <a:off x="121442" y="731837"/>
            <a:ext cx="8870158" cy="1815882"/>
          </a:xfrm>
          <a:prstGeom prst="rect">
            <a:avLst/>
          </a:prstGeom>
        </p:spPr>
        <p:txBody>
          <a:bodyPr wrap="square">
            <a:spAutoFit/>
          </a:bodyPr>
          <a:lstStyle/>
          <a:p>
            <a:pPr algn="l" rtl="0"/>
            <a:r>
              <a:rPr lang="en-US" sz="1400" dirty="0"/>
              <a:t>Les RA sont générés par défaut sur les interfaces du routeur uniquement si l'interface du routeur est activée pour IPv6, si le routage monodiffusion IPv6 est activé et si les RA ne sont pas supprimés sur l'interface. Par conséquent, si SLAAC ne fonctionne pas, vérifiez les points suivants :</a:t>
            </a:r>
          </a:p>
          <a:p>
            <a:pPr algn="l" rtl="0"/>
            <a:endParaRPr lang="en-US" sz="1400" dirty="0"/>
          </a:p>
          <a:p>
            <a:pPr marL="285750" indent="-285750" algn="l" rtl="0">
              <a:buFont typeface="Arial" panose="020B0604020202020204" pitchFamily="34" charset="0"/>
              <a:buChar char="•"/>
            </a:pPr>
            <a:r>
              <a:rPr lang="en-US" sz="1400" dirty="0"/>
              <a:t>Le routage unicast ipv6 est configuré.</a:t>
            </a:r>
          </a:p>
          <a:p>
            <a:pPr marL="285750" indent="-285750" algn="l" rtl="0">
              <a:buFont typeface="Arial" panose="020B0604020202020204" pitchFamily="34" charset="0"/>
              <a:buChar char="•"/>
            </a:pPr>
            <a:r>
              <a:rPr lang="en-US" sz="1400" dirty="0"/>
              <a:t>L'interface appropriée est activée pour IPv6 à l'aide du</a:t>
            </a:r>
            <a:r>
              <a:rPr lang="en-US" sz="1400" b="1" dirty="0"/>
              <a:t>afficher l'interface ipv6</a:t>
            </a:r>
            <a:r>
              <a:rPr lang="en-US" sz="1400" dirty="0"/>
              <a:t>commande.</a:t>
            </a:r>
          </a:p>
          <a:p>
            <a:pPr marL="285750" indent="-285750" algn="l" rtl="0">
              <a:buFont typeface="Arial" panose="020B0604020202020204" pitchFamily="34" charset="0"/>
              <a:buChar char="•"/>
            </a:pPr>
            <a:r>
              <a:rPr lang="en-US" sz="1400" dirty="0"/>
              <a:t>L'interface du routeur annonçant les RA a un</a:t>
            </a:r>
            <a:r>
              <a:rPr lang="en-US" sz="1400" i="1" dirty="0"/>
              <a:t>/64 préfixe</a:t>
            </a:r>
            <a:r>
              <a:rPr lang="en-US" sz="1400" dirty="0"/>
              <a:t>(SLAAC ne fonctionne que si le routeur utilise un préfixe /64.).</a:t>
            </a:r>
          </a:p>
          <a:p>
            <a:pPr marL="285750" indent="-285750" algn="l" rtl="0">
              <a:buFont typeface="Arial" panose="020B0604020202020204" pitchFamily="34" charset="0"/>
              <a:buChar char="•"/>
            </a:pPr>
            <a:r>
              <a:rPr lang="en-US" sz="1400" dirty="0"/>
              <a:t>Les RA ne sont pas supprimés sur l'interface, comme le montre l'exemple 1-18.</a:t>
            </a:r>
          </a:p>
        </p:txBody>
      </p:sp>
      <p:pic>
        <p:nvPicPr>
          <p:cNvPr id="5" name="Picture 4">
            <a:extLst>
              <a:ext uri="{FF2B5EF4-FFF2-40B4-BE49-F238E27FC236}">
                <a16:creationId xmlns:a16="http://schemas.microsoft.com/office/drawing/2014/main" id="{DA427C6E-77DC-4A45-AC36-EDF419DE0952}"/>
              </a:ext>
            </a:extLst>
          </p:cNvPr>
          <p:cNvPicPr>
            <a:picLocks noChangeAspect="1"/>
          </p:cNvPicPr>
          <p:nvPr/>
        </p:nvPicPr>
        <p:blipFill>
          <a:blip r:embed="rId3"/>
          <a:srcRect/>
          <a:stretch/>
        </p:blipFill>
        <p:spPr>
          <a:xfrm>
            <a:off x="2049945" y="2824480"/>
            <a:ext cx="5044109" cy="2123441"/>
          </a:xfrm>
          <a:prstGeom prst="rect">
            <a:avLst/>
          </a:prstGeom>
        </p:spPr>
      </p:pic>
    </p:spTree>
    <p:extLst>
      <p:ext uri="{BB962C8B-B14F-4D97-AF65-F5344CB8AC3E}">
        <p14:creationId xmlns:p14="http://schemas.microsoft.com/office/powerpoint/2010/main" val="791226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6365081" cy="731837"/>
          </a:xfrm>
        </p:spPr>
        <p:txBody>
          <a:bodyPr/>
          <a:lstStyle/>
          <a:p>
            <a:pPr algn="l" rtl="0"/>
            <a:r>
              <a:rPr lang="en-US" sz="1600" dirty="0">
                <a:solidFill>
                  <a:schemeClr val="accent4">
                    <a:lumMod val="75000"/>
                  </a:schemeClr>
                </a:solidFill>
              </a:rPr>
              <a:t>IPv6 SLAAC, DHCPv6 avec état, DHCPv6 sans état</a:t>
            </a:r>
            <a:br>
              <a:rPr lang="en-US" dirty="0">
                <a:solidFill>
                  <a:schemeClr val="accent4">
                    <a:lumMod val="75000"/>
                  </a:schemeClr>
                </a:solidFill>
              </a:rPr>
            </a:br>
            <a:r>
              <a:rPr lang="en-US" sz="2400" dirty="0">
                <a:solidFill>
                  <a:schemeClr val="accent4">
                    <a:lumMod val="75000"/>
                  </a:schemeClr>
                </a:solidFill>
              </a:rPr>
              <a:t>DHCPv6 avec état</a:t>
            </a:r>
          </a:p>
        </p:txBody>
      </p:sp>
      <p:sp>
        <p:nvSpPr>
          <p:cNvPr id="2" name="Rectangle 1">
            <a:extLst>
              <a:ext uri="{FF2B5EF4-FFF2-40B4-BE49-F238E27FC236}">
                <a16:creationId xmlns:a16="http://schemas.microsoft.com/office/drawing/2014/main" id="{09FF4F5D-70B8-4224-91F2-4D3C5F190FF9}"/>
              </a:ext>
            </a:extLst>
          </p:cNvPr>
          <p:cNvSpPr/>
          <p:nvPr/>
        </p:nvSpPr>
        <p:spPr>
          <a:xfrm>
            <a:off x="121442" y="731837"/>
            <a:ext cx="8870158" cy="1815882"/>
          </a:xfrm>
          <a:prstGeom prst="rect">
            <a:avLst/>
          </a:prstGeom>
        </p:spPr>
        <p:txBody>
          <a:bodyPr wrap="square">
            <a:spAutoFit/>
          </a:bodyPr>
          <a:lstStyle/>
          <a:p>
            <a:pPr algn="l" rtl="0"/>
            <a:r>
              <a:rPr lang="en-US" sz="1400" dirty="0"/>
              <a:t>Avec SLAAC, un appareil peut déterminer son adresse IPv6, son préfixe et sa passerelle par défaut, mais pas grand-chose d'autre.</a:t>
            </a:r>
          </a:p>
          <a:p>
            <a:pPr algn="l" rtl="0"/>
            <a:endParaRPr lang="en-US" sz="1400" dirty="0"/>
          </a:p>
          <a:p>
            <a:pPr algn="l" rtl="0"/>
            <a:r>
              <a:rPr lang="en-US" sz="1400" dirty="0"/>
              <a:t>Dans les réseaux modernes, les appareils peuvent avoir besoin d'informations supplémentaires telles que le serveur NTP, le nom de domaine, le serveur DNS et le serveur TFTP. Pour distribuer les informations d'adressage IPv6 ainsi que toutes les informations facultatives, utilisez un serveur DHCPv6 avec état. Les routeurs Cisco et les commutateurs multicouches peuvent agir comme des serveurs DHCP.</a:t>
            </a:r>
          </a:p>
          <a:p>
            <a:pPr algn="l" rtl="0"/>
            <a:endParaRPr lang="en-US" sz="1400" dirty="0"/>
          </a:p>
          <a:p>
            <a:pPr algn="l" rtl="0"/>
            <a:r>
              <a:rPr lang="en-US" sz="1400" dirty="0"/>
              <a:t>L'exemple 1-21 fournit un exemple de configuration DHCPv6 sur R1 et la commande ipv6 dhcp server interface nécessaire pour permettre à l'interface d'utiliser le pool DHCP pour distribuer les informations d'adressage IPv6.</a:t>
            </a:r>
          </a:p>
        </p:txBody>
      </p:sp>
      <p:sp>
        <p:nvSpPr>
          <p:cNvPr id="6" name="Rectangle 5">
            <a:extLst>
              <a:ext uri="{FF2B5EF4-FFF2-40B4-BE49-F238E27FC236}">
                <a16:creationId xmlns:a16="http://schemas.microsoft.com/office/drawing/2014/main" id="{BC3035D5-88DB-498C-86AA-963C6A8EC3D6}"/>
              </a:ext>
            </a:extLst>
          </p:cNvPr>
          <p:cNvSpPr/>
          <p:nvPr/>
        </p:nvSpPr>
        <p:spPr>
          <a:xfrm>
            <a:off x="116290" y="2825743"/>
            <a:ext cx="4184777" cy="1600438"/>
          </a:xfrm>
          <a:prstGeom prst="rect">
            <a:avLst/>
          </a:prstGeom>
        </p:spPr>
        <p:txBody>
          <a:bodyPr wrap="square">
            <a:spAutoFit/>
          </a:bodyPr>
          <a:lstStyle/>
          <a:p>
            <a:pPr algn="l" rtl="0"/>
            <a:r>
              <a:rPr lang="en-US" sz="1400" dirty="0"/>
              <a:t>Bien que cela ne soit pas illustré dans l'exemple 1-21, le</a:t>
            </a:r>
            <a:r>
              <a:rPr lang="en-US" sz="1400" b="1" dirty="0"/>
              <a:t>ipv6 et indicateur de configuration géré</a:t>
            </a:r>
            <a:r>
              <a:rPr lang="en-US" sz="1400" dirty="0"/>
              <a:t>La commande de configuration d'interface sur l'interface GigabitEthernet 0/0 garantit que le RA du routeur R1 informe le client de contacter un serveur DHCPv6 pour tout l'adressage réseau IPv6, la longueur du préfixe et d'autres informations.</a:t>
            </a:r>
          </a:p>
        </p:txBody>
      </p:sp>
      <p:pic>
        <p:nvPicPr>
          <p:cNvPr id="5" name="Picture 4">
            <a:extLst>
              <a:ext uri="{FF2B5EF4-FFF2-40B4-BE49-F238E27FC236}">
                <a16:creationId xmlns:a16="http://schemas.microsoft.com/office/drawing/2014/main" id="{DA427C6E-77DC-4A45-AC36-EDF419DE0952}"/>
              </a:ext>
            </a:extLst>
          </p:cNvPr>
          <p:cNvPicPr>
            <a:picLocks noChangeAspect="1"/>
          </p:cNvPicPr>
          <p:nvPr/>
        </p:nvPicPr>
        <p:blipFill>
          <a:blip r:embed="rId3"/>
          <a:srcRect/>
          <a:stretch/>
        </p:blipFill>
        <p:spPr>
          <a:xfrm>
            <a:off x="4502336" y="2616101"/>
            <a:ext cx="4525374" cy="2458720"/>
          </a:xfrm>
          <a:prstGeom prst="rect">
            <a:avLst/>
          </a:prstGeom>
        </p:spPr>
      </p:pic>
    </p:spTree>
    <p:extLst>
      <p:ext uri="{BB962C8B-B14F-4D97-AF65-F5344CB8AC3E}">
        <p14:creationId xmlns:p14="http://schemas.microsoft.com/office/powerpoint/2010/main" val="685015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6365081" cy="731837"/>
          </a:xfrm>
        </p:spPr>
        <p:txBody>
          <a:bodyPr/>
          <a:lstStyle/>
          <a:p>
            <a:pPr algn="l" rtl="0"/>
            <a:r>
              <a:rPr lang="en-US" sz="1600" dirty="0">
                <a:solidFill>
                  <a:schemeClr val="accent4">
                    <a:lumMod val="75000"/>
                  </a:schemeClr>
                </a:solidFill>
              </a:rPr>
              <a:t>IPv6 SLAAC, DHCPv6 avec état, DHCPv6 sans état</a:t>
            </a:r>
            <a:br>
              <a:rPr lang="en-US" dirty="0">
                <a:solidFill>
                  <a:schemeClr val="accent4">
                    <a:lumMod val="75000"/>
                  </a:schemeClr>
                </a:solidFill>
              </a:rPr>
            </a:br>
            <a:r>
              <a:rPr lang="en-US" sz="2400" dirty="0">
                <a:solidFill>
                  <a:schemeClr val="accent4">
                    <a:lumMod val="75000"/>
                  </a:schemeClr>
                </a:solidFill>
              </a:rPr>
              <a:t>DHCPv6 sans état</a:t>
            </a:r>
          </a:p>
        </p:txBody>
      </p:sp>
      <p:sp>
        <p:nvSpPr>
          <p:cNvPr id="2" name="Rectangle 1">
            <a:extLst>
              <a:ext uri="{FF2B5EF4-FFF2-40B4-BE49-F238E27FC236}">
                <a16:creationId xmlns:a16="http://schemas.microsoft.com/office/drawing/2014/main" id="{09FF4F5D-70B8-4224-91F2-4D3C5F190FF9}"/>
              </a:ext>
            </a:extLst>
          </p:cNvPr>
          <p:cNvSpPr/>
          <p:nvPr/>
        </p:nvSpPr>
        <p:spPr>
          <a:xfrm>
            <a:off x="121442" y="731837"/>
            <a:ext cx="4562318" cy="3970318"/>
          </a:xfrm>
          <a:prstGeom prst="rect">
            <a:avLst/>
          </a:prstGeom>
        </p:spPr>
        <p:txBody>
          <a:bodyPr wrap="square">
            <a:spAutoFit/>
          </a:bodyPr>
          <a:lstStyle/>
          <a:p>
            <a:pPr algn="l" rtl="0"/>
            <a:r>
              <a:rPr lang="en-US" sz="1400" dirty="0"/>
              <a:t>DHCPv6 sans état est une combinaison de SLAAC et DHCPv6.</a:t>
            </a:r>
          </a:p>
          <a:p>
            <a:pPr algn="l" rtl="0"/>
            <a:endParaRPr lang="en-US" sz="1400" dirty="0"/>
          </a:p>
          <a:p>
            <a:pPr algn="l" rtl="0"/>
            <a:r>
              <a:rPr lang="en-US" sz="1400" dirty="0"/>
              <a:t>Le RA du routeur est utilisé par les clients pour déterminer automatiquement l'adresse IPv6, le préfixe et la passerelle par défaut. Le RA comprend également un indicateur qui indique au client d'obtenir d'autres informations non adressables à partir d'un serveur DHCPv6, telles que l'adresse d'un serveur DNS ou d'un serveur TFTP. Pour ce faire, assurez-vous que le</a:t>
            </a:r>
            <a:r>
              <a:rPr lang="en-US" sz="1400" b="1" dirty="0"/>
              <a:t>ipv6 et autre-flag-config</a:t>
            </a:r>
            <a:r>
              <a:rPr lang="en-US" sz="1400" dirty="0"/>
              <a:t>La commande de configuration de l'interface est activée. Cela garantit que le RA informe le client qu'il doit contacter un serveur DHCPv6 pour d'autres informations.</a:t>
            </a:r>
          </a:p>
          <a:p>
            <a:pPr algn="l" rtl="0"/>
            <a:endParaRPr lang="en-US" sz="1400" dirty="0"/>
          </a:p>
          <a:p>
            <a:pPr algn="l" rtl="0"/>
            <a:r>
              <a:rPr lang="en-US" sz="1400" dirty="0"/>
              <a:t>Dans l'exemple 1-23, la sortie de</a:t>
            </a:r>
            <a:r>
              <a:rPr lang="en-US" sz="1400" b="1" dirty="0"/>
              <a:t>afficher l'interface ipv6 gigabitEthernet 0/0</a:t>
            </a:r>
            <a:r>
              <a:rPr lang="en-US" sz="1400" dirty="0"/>
              <a:t>indique que les hôtes obtiennent l'adressage IPv6 à partir de la configuration automatique sans état et d'autres informations provenant d'un serveur DHCP.</a:t>
            </a:r>
          </a:p>
        </p:txBody>
      </p:sp>
      <p:pic>
        <p:nvPicPr>
          <p:cNvPr id="5" name="Picture 4">
            <a:extLst>
              <a:ext uri="{FF2B5EF4-FFF2-40B4-BE49-F238E27FC236}">
                <a16:creationId xmlns:a16="http://schemas.microsoft.com/office/drawing/2014/main" id="{DA427C6E-77DC-4A45-AC36-EDF419DE0952}"/>
              </a:ext>
            </a:extLst>
          </p:cNvPr>
          <p:cNvPicPr>
            <a:picLocks noChangeAspect="1"/>
          </p:cNvPicPr>
          <p:nvPr/>
        </p:nvPicPr>
        <p:blipFill>
          <a:blip r:embed="rId3"/>
          <a:srcRect/>
          <a:stretch/>
        </p:blipFill>
        <p:spPr>
          <a:xfrm>
            <a:off x="4805203" y="507999"/>
            <a:ext cx="4217355" cy="4323101"/>
          </a:xfrm>
          <a:prstGeom prst="rect">
            <a:avLst/>
          </a:prstGeom>
        </p:spPr>
      </p:pic>
    </p:spTree>
    <p:extLst>
      <p:ext uri="{BB962C8B-B14F-4D97-AF65-F5344CB8AC3E}">
        <p14:creationId xmlns:p14="http://schemas.microsoft.com/office/powerpoint/2010/main" val="4260709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6365081" cy="731837"/>
          </a:xfrm>
        </p:spPr>
        <p:txBody>
          <a:bodyPr/>
          <a:lstStyle/>
          <a:p>
            <a:pPr algn="l" rtl="0"/>
            <a:r>
              <a:rPr lang="en-US" sz="1600" dirty="0">
                <a:solidFill>
                  <a:schemeClr val="accent4">
                    <a:lumMod val="75000"/>
                  </a:schemeClr>
                </a:solidFill>
              </a:rPr>
              <a:t>IPv6 SLAAC, DHCPv6 avec état, DHCPv6 sans état</a:t>
            </a:r>
            <a:br>
              <a:rPr lang="en-US" dirty="0">
                <a:solidFill>
                  <a:schemeClr val="accent4">
                    <a:lumMod val="75000"/>
                  </a:schemeClr>
                </a:solidFill>
              </a:rPr>
            </a:br>
            <a:r>
              <a:rPr lang="en-US" sz="2400" dirty="0">
                <a:solidFill>
                  <a:schemeClr val="accent4">
                    <a:lumMod val="75000"/>
                  </a:schemeClr>
                </a:solidFill>
              </a:rPr>
              <a:t>Fonctionnement DHCPv6</a:t>
            </a:r>
          </a:p>
        </p:txBody>
      </p:sp>
      <p:sp>
        <p:nvSpPr>
          <p:cNvPr id="2" name="Rectangle 1">
            <a:extLst>
              <a:ext uri="{FF2B5EF4-FFF2-40B4-BE49-F238E27FC236}">
                <a16:creationId xmlns:a16="http://schemas.microsoft.com/office/drawing/2014/main" id="{09FF4F5D-70B8-4224-91F2-4D3C5F190FF9}"/>
              </a:ext>
            </a:extLst>
          </p:cNvPr>
          <p:cNvSpPr/>
          <p:nvPr/>
        </p:nvSpPr>
        <p:spPr>
          <a:xfrm>
            <a:off x="121442" y="731837"/>
            <a:ext cx="8901116" cy="2677656"/>
          </a:xfrm>
          <a:prstGeom prst="rect">
            <a:avLst/>
          </a:prstGeom>
        </p:spPr>
        <p:txBody>
          <a:bodyPr wrap="square">
            <a:spAutoFit/>
          </a:bodyPr>
          <a:lstStyle/>
          <a:p>
            <a:pPr algn="l" rtl="0"/>
            <a:r>
              <a:rPr lang="en-US" sz="1400" dirty="0"/>
              <a:t>DHCPv6 a un processus de négociation en quatre étapes, comme IPv4. Cependant, DHCPv6 utilise les messages suivants :</a:t>
            </a:r>
          </a:p>
          <a:p>
            <a:pPr algn="l" rtl="0"/>
            <a:endParaRPr lang="en-US" sz="1400" dirty="0"/>
          </a:p>
          <a:p>
            <a:pPr algn="l" rtl="0"/>
            <a:r>
              <a:rPr lang="en-US" sz="1400" b="1" dirty="0"/>
              <a:t>Étape 1. SOLLICITATION -</a:t>
            </a:r>
            <a:r>
              <a:rPr lang="en-US" sz="1400" dirty="0"/>
              <a:t>Un client envoie ce message pour localiser les serveurs DHCPv6 à l'aide de l'adresse de multidiffusion FF02::1:2, qui est l'adresse de multidiffusion de tous les serveurs DHCPv6.</a:t>
            </a:r>
          </a:p>
          <a:p>
            <a:pPr algn="l" rtl="0"/>
            <a:endParaRPr lang="en-US" sz="1400" dirty="0"/>
          </a:p>
          <a:p>
            <a:pPr algn="l" rtl="0"/>
            <a:r>
              <a:rPr lang="en-US" sz="1400" b="1" dirty="0"/>
              <a:t>Étape 2. ANNONCER -</a:t>
            </a:r>
            <a:r>
              <a:rPr lang="en-US" sz="1400" dirty="0"/>
              <a:t>Les serveurs répondent aux messages SOLICIT avec un message ADVERTISE unicast, offrant des informations d'adressage au client.</a:t>
            </a:r>
          </a:p>
          <a:p>
            <a:pPr algn="l" rtl="0"/>
            <a:endParaRPr lang="en-US" sz="1400" dirty="0"/>
          </a:p>
          <a:p>
            <a:pPr algn="l" rtl="0"/>
            <a:r>
              <a:rPr lang="en-US" sz="1400" b="1" dirty="0"/>
              <a:t>Étape 3. DEMANDE -</a:t>
            </a:r>
            <a:r>
              <a:rPr lang="en-US" sz="1400" dirty="0"/>
              <a:t>Le client envoie ce message au serveur, confirmant les adresses fournies et tout autre paramètre.</a:t>
            </a:r>
          </a:p>
          <a:p>
            <a:pPr algn="l" rtl="0"/>
            <a:endParaRPr lang="en-US" sz="1400" dirty="0"/>
          </a:p>
          <a:p>
            <a:pPr algn="l" rtl="0"/>
            <a:r>
              <a:rPr lang="en-US" sz="1400" b="1" dirty="0"/>
              <a:t>Étape 4. RÉPONDRE -</a:t>
            </a:r>
            <a:r>
              <a:rPr lang="en-US" sz="1400" dirty="0"/>
              <a:t>Le serveur finalise le processus avec ce message.</a:t>
            </a:r>
          </a:p>
        </p:txBody>
      </p:sp>
    </p:spTree>
    <p:extLst>
      <p:ext uri="{BB962C8B-B14F-4D97-AF65-F5344CB8AC3E}">
        <p14:creationId xmlns:p14="http://schemas.microsoft.com/office/powerpoint/2010/main" val="915141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6365081" cy="731837"/>
          </a:xfrm>
        </p:spPr>
        <p:txBody>
          <a:bodyPr/>
          <a:lstStyle/>
          <a:p>
            <a:pPr algn="l" rtl="0"/>
            <a:r>
              <a:rPr lang="en-US" sz="1600" dirty="0">
                <a:solidFill>
                  <a:schemeClr val="accent4">
                    <a:lumMod val="75000"/>
                  </a:schemeClr>
                </a:solidFill>
              </a:rPr>
              <a:t>IPv6 SLAAC, DHCPv6 avec état, DHCPv6 sans état</a:t>
            </a:r>
            <a:br>
              <a:rPr lang="en-US" dirty="0">
                <a:solidFill>
                  <a:schemeClr val="accent4">
                    <a:lumMod val="75000"/>
                  </a:schemeClr>
                </a:solidFill>
              </a:rPr>
            </a:br>
            <a:r>
              <a:rPr lang="en-US" sz="2400" dirty="0">
                <a:solidFill>
                  <a:schemeClr val="accent4">
                    <a:lumMod val="75000"/>
                  </a:schemeClr>
                </a:solidFill>
              </a:rPr>
              <a:t>Messages DHCPv6</a:t>
            </a:r>
          </a:p>
        </p:txBody>
      </p:sp>
      <p:sp>
        <p:nvSpPr>
          <p:cNvPr id="2" name="Rectangle 1">
            <a:extLst>
              <a:ext uri="{FF2B5EF4-FFF2-40B4-BE49-F238E27FC236}">
                <a16:creationId xmlns:a16="http://schemas.microsoft.com/office/drawing/2014/main" id="{09FF4F5D-70B8-4224-91F2-4D3C5F190FF9}"/>
              </a:ext>
            </a:extLst>
          </p:cNvPr>
          <p:cNvSpPr/>
          <p:nvPr/>
        </p:nvSpPr>
        <p:spPr>
          <a:xfrm>
            <a:off x="121442" y="731837"/>
            <a:ext cx="3505678" cy="954107"/>
          </a:xfrm>
          <a:prstGeom prst="rect">
            <a:avLst/>
          </a:prstGeom>
        </p:spPr>
        <p:txBody>
          <a:bodyPr wrap="square">
            <a:spAutoFit/>
          </a:bodyPr>
          <a:lstStyle/>
          <a:p>
            <a:pPr algn="l" rtl="0"/>
            <a:r>
              <a:rPr lang="en-US" sz="1400" dirty="0"/>
              <a:t>Le Tableau 1-3 fournit une liste complète des types de messages DHCPv6 que vous pourriez rencontrer lors du dépannage d'un problème DHCPv6.</a:t>
            </a:r>
          </a:p>
        </p:txBody>
      </p:sp>
      <p:pic>
        <p:nvPicPr>
          <p:cNvPr id="5" name="Picture 4" descr="A screenshot of a cell phone  Description automatically generated">
            <a:extLst>
              <a:ext uri="{FF2B5EF4-FFF2-40B4-BE49-F238E27FC236}">
                <a16:creationId xmlns:a16="http://schemas.microsoft.com/office/drawing/2014/main" id="{FDBD2D4C-D43F-45E9-A8C4-9AA3AFCEDED7}"/>
              </a:ext>
            </a:extLst>
          </p:cNvPr>
          <p:cNvPicPr>
            <a:picLocks noChangeAspect="1"/>
          </p:cNvPicPr>
          <p:nvPr/>
        </p:nvPicPr>
        <p:blipFill>
          <a:blip r:embed="rId3"/>
          <a:stretch>
            <a:fillRect/>
          </a:stretch>
        </p:blipFill>
        <p:spPr>
          <a:xfrm>
            <a:off x="4021931" y="683138"/>
            <a:ext cx="4725589" cy="4101978"/>
          </a:xfrm>
          <a:prstGeom prst="rect">
            <a:avLst/>
          </a:prstGeom>
        </p:spPr>
      </p:pic>
    </p:spTree>
    <p:extLst>
      <p:ext uri="{BB962C8B-B14F-4D97-AF65-F5344CB8AC3E}">
        <p14:creationId xmlns:p14="http://schemas.microsoft.com/office/powerpoint/2010/main" val="552334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6365081" cy="731837"/>
          </a:xfrm>
        </p:spPr>
        <p:txBody>
          <a:bodyPr/>
          <a:lstStyle/>
          <a:p>
            <a:pPr algn="l" rtl="0"/>
            <a:r>
              <a:rPr lang="en-US" sz="1600" dirty="0">
                <a:solidFill>
                  <a:schemeClr val="accent4">
                    <a:lumMod val="75000"/>
                  </a:schemeClr>
                </a:solidFill>
              </a:rPr>
              <a:t>IPv6 SLAAC, DHCPv6 avec état, DHCPv6 sans état</a:t>
            </a:r>
            <a:br>
              <a:rPr lang="en-US" dirty="0">
                <a:solidFill>
                  <a:schemeClr val="accent4">
                    <a:lumMod val="75000"/>
                  </a:schemeClr>
                </a:solidFill>
              </a:rPr>
            </a:br>
            <a:r>
              <a:rPr lang="en-US" sz="2400" dirty="0">
                <a:solidFill>
                  <a:schemeClr val="accent4">
                    <a:lumMod val="75000"/>
                  </a:schemeClr>
                </a:solidFill>
              </a:rPr>
              <a:t>Agent de relais DHCPv6</a:t>
            </a:r>
          </a:p>
        </p:txBody>
      </p:sp>
      <p:sp>
        <p:nvSpPr>
          <p:cNvPr id="2" name="Rectangle 1">
            <a:extLst>
              <a:ext uri="{FF2B5EF4-FFF2-40B4-BE49-F238E27FC236}">
                <a16:creationId xmlns:a16="http://schemas.microsoft.com/office/drawing/2014/main" id="{09FF4F5D-70B8-4224-91F2-4D3C5F190FF9}"/>
              </a:ext>
            </a:extLst>
          </p:cNvPr>
          <p:cNvSpPr/>
          <p:nvPr/>
        </p:nvSpPr>
        <p:spPr>
          <a:xfrm>
            <a:off x="121442" y="731837"/>
            <a:ext cx="8901116" cy="2246769"/>
          </a:xfrm>
          <a:prstGeom prst="rect">
            <a:avLst/>
          </a:prstGeom>
        </p:spPr>
        <p:txBody>
          <a:bodyPr wrap="square">
            <a:spAutoFit/>
          </a:bodyPr>
          <a:lstStyle/>
          <a:p>
            <a:pPr algn="l" rtl="0"/>
            <a:r>
              <a:rPr lang="en-US" sz="1400" dirty="0"/>
              <a:t>Si vous examinez l'adresse de multidiffusion du message SOLICIT, notez qu'il s'agit d'une adresse de multidiffusion de portée lien-local. Cela commence par FF02. Par conséquent, la multidiffusion ne quitte pas le réseau local et le client ne peut pas atteindre le serveur DHCPv6.</a:t>
            </a:r>
          </a:p>
          <a:p>
            <a:pPr algn="l" rtl="0"/>
            <a:endParaRPr lang="en-US" sz="1400" dirty="0"/>
          </a:p>
          <a:p>
            <a:pPr algn="l" rtl="0"/>
            <a:r>
              <a:rPr lang="en-US" sz="1400" dirty="0"/>
              <a:t>Pour relayer les messages DHCPv6 vers un serveur DHCPv6 dans un autre réseau, l'interface du routeur local du réseau auquel appartient le client doit être configurée en tant qu'agent de relais avec le</a:t>
            </a:r>
            <a:r>
              <a:rPr lang="en-US" sz="1400" b="1" dirty="0"/>
              <a:t>destination du relais DHCP ipv6</a:t>
            </a:r>
            <a:r>
              <a:rPr lang="en-US" sz="1400" dirty="0"/>
              <a:t>commande de configuration d'interface.</a:t>
            </a:r>
          </a:p>
          <a:p>
            <a:pPr algn="l" rtl="0"/>
            <a:endParaRPr lang="en-US" sz="1400" dirty="0"/>
          </a:p>
          <a:p>
            <a:pPr algn="l" rtl="0"/>
            <a:r>
              <a:rPr lang="en-US" sz="1400" dirty="0"/>
              <a:t>L'exemple 1-24 montre l'interface Gigabit Ethernet 0/0 configurée avec la commande</a:t>
            </a:r>
            <a:r>
              <a:rPr lang="en-US" sz="1400" b="1" dirty="0"/>
              <a:t>destination du relais DHCP ipv6 2001:db8:a:b::7</a:t>
            </a:r>
            <a:r>
              <a:rPr lang="en-US" sz="1400" dirty="0"/>
              <a:t>, qui est utilisé pour transférer les messages SOLICIT vers un serveur DHCPv6 à l'adresse indiquée.</a:t>
            </a:r>
          </a:p>
        </p:txBody>
      </p:sp>
      <p:pic>
        <p:nvPicPr>
          <p:cNvPr id="5" name="Picture 4">
            <a:extLst>
              <a:ext uri="{FF2B5EF4-FFF2-40B4-BE49-F238E27FC236}">
                <a16:creationId xmlns:a16="http://schemas.microsoft.com/office/drawing/2014/main" id="{FDBD2D4C-D43F-45E9-A8C4-9AA3AFCEDED7}"/>
              </a:ext>
            </a:extLst>
          </p:cNvPr>
          <p:cNvPicPr>
            <a:picLocks noChangeAspect="1"/>
          </p:cNvPicPr>
          <p:nvPr/>
        </p:nvPicPr>
        <p:blipFill>
          <a:blip r:embed="rId3"/>
          <a:srcRect/>
          <a:stretch/>
        </p:blipFill>
        <p:spPr>
          <a:xfrm>
            <a:off x="1487603" y="3302000"/>
            <a:ext cx="6168793" cy="1219200"/>
          </a:xfrm>
          <a:prstGeom prst="rect">
            <a:avLst/>
          </a:prstGeom>
        </p:spPr>
      </p:pic>
    </p:spTree>
    <p:extLst>
      <p:ext uri="{BB962C8B-B14F-4D97-AF65-F5344CB8AC3E}">
        <p14:creationId xmlns:p14="http://schemas.microsoft.com/office/powerpoint/2010/main" val="2042315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B89FE0-AFBF-4F30-AE65-3B18BCBE3A9A}"/>
              </a:ext>
            </a:extLst>
          </p:cNvPr>
          <p:cNvSpPr>
            <a:spLocks noGrp="1"/>
          </p:cNvSpPr>
          <p:nvPr>
            <p:ph type="ctrTitle"/>
          </p:nvPr>
        </p:nvSpPr>
        <p:spPr>
          <a:xfrm>
            <a:off x="337844" y="252411"/>
            <a:ext cx="8541996" cy="1351755"/>
          </a:xfrm>
        </p:spPr>
        <p:txBody>
          <a:bodyPr/>
          <a:lstStyle/>
          <a:p>
            <a:pPr algn="l" rtl="0"/>
            <a:r>
              <a:rPr lang="en-US" sz="3600" dirty="0">
                <a:solidFill>
                  <a:schemeClr val="accent5">
                    <a:lumMod val="40000"/>
                    <a:lumOff val="60000"/>
                  </a:schemeClr>
                </a:solidFill>
              </a:rPr>
              <a:t>Processus de transfert de paquets</a:t>
            </a:r>
          </a:p>
        </p:txBody>
      </p:sp>
      <p:sp>
        <p:nvSpPr>
          <p:cNvPr id="4" name="TextBox 3">
            <a:extLst>
              <a:ext uri="{FF2B5EF4-FFF2-40B4-BE49-F238E27FC236}">
                <a16:creationId xmlns:a16="http://schemas.microsoft.com/office/drawing/2014/main" id="{E2BFA70F-DC0C-41D5-868E-C8FBC661D58F}"/>
              </a:ext>
            </a:extLst>
          </p:cNvPr>
          <p:cNvSpPr txBox="1"/>
          <p:nvPr/>
        </p:nvSpPr>
        <p:spPr>
          <a:xfrm>
            <a:off x="433084" y="1715712"/>
            <a:ext cx="8277832" cy="1077218"/>
          </a:xfrm>
          <a:prstGeom prst="rect">
            <a:avLst/>
          </a:prstGeom>
          <a:noFill/>
        </p:spPr>
        <p:txBody>
          <a:bodyPr wrap="square" rtlCol="0">
            <a:spAutoFit/>
          </a:bodyPr>
          <a:lstStyle/>
          <a:p>
            <a:pPr marL="285750" indent="-285750" algn="l" rtl="0">
              <a:buFont typeface="Arial" panose="020B0604020202020204" pitchFamily="34" charset="0"/>
              <a:buChar char="•"/>
            </a:pPr>
            <a:r>
              <a:rPr lang="en-US" sz="1600" dirty="0">
                <a:solidFill>
                  <a:schemeClr val="accent4">
                    <a:lumMod val="40000"/>
                    <a:lumOff val="60000"/>
                  </a:schemeClr>
                </a:solidFill>
              </a:rPr>
              <a:t>Cette section traite du processus de transfert de paquets et des commandes utilisées pour vérifier les entrées dans les structures de données utilisées pour ce processus.</a:t>
            </a:r>
          </a:p>
          <a:p>
            <a:pPr marL="285750" indent="-285750" algn="l" rtl="0">
              <a:buFont typeface="Arial" panose="020B0604020202020204" pitchFamily="34" charset="0"/>
              <a:buChar char="•"/>
            </a:pPr>
            <a:r>
              <a:rPr lang="en-US" sz="1600" dirty="0">
                <a:solidFill>
                  <a:schemeClr val="accent4">
                    <a:lumMod val="40000"/>
                    <a:lumOff val="60000"/>
                  </a:schemeClr>
                </a:solidFill>
              </a:rPr>
              <a:t>Il vous fournit également un ensemble de commandes du logiciel Cisco IOS qui sont utiles lors du dépannage des problèmes associés.</a:t>
            </a:r>
          </a:p>
        </p:txBody>
      </p:sp>
    </p:spTree>
    <p:custDataLst>
      <p:tags r:id="rId1"/>
    </p:custDataLst>
    <p:extLst>
      <p:ext uri="{BB962C8B-B14F-4D97-AF65-F5344CB8AC3E}">
        <p14:creationId xmlns:p14="http://schemas.microsoft.com/office/powerpoint/2010/main" val="3029266719"/>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8422641" cy="731837"/>
          </a:xfrm>
        </p:spPr>
        <p:txBody>
          <a:bodyPr/>
          <a:lstStyle/>
          <a:p>
            <a:pPr algn="l" rtl="0"/>
            <a:r>
              <a:rPr lang="en-US" sz="1600" dirty="0">
                <a:solidFill>
                  <a:schemeClr val="accent4">
                    <a:lumMod val="75000"/>
                  </a:schemeClr>
                </a:solidFill>
              </a:rPr>
              <a:t>Processus de transfert de paquets</a:t>
            </a:r>
            <a:br>
              <a:rPr lang="en-US" dirty="0">
                <a:solidFill>
                  <a:schemeClr val="accent4">
                    <a:lumMod val="75000"/>
                  </a:schemeClr>
                </a:solidFill>
              </a:rPr>
            </a:br>
            <a:r>
              <a:rPr lang="en-US" sz="2400" dirty="0">
                <a:solidFill>
                  <a:schemeClr val="accent4">
                    <a:lumMod val="75000"/>
                  </a:schemeClr>
                </a:solidFill>
              </a:rPr>
              <a:t>Examen du processus de transfert de paquets de couche 3</a:t>
            </a:r>
          </a:p>
        </p:txBody>
      </p:sp>
      <p:sp>
        <p:nvSpPr>
          <p:cNvPr id="2" name="Rectangle 1">
            <a:extLst>
              <a:ext uri="{FF2B5EF4-FFF2-40B4-BE49-F238E27FC236}">
                <a16:creationId xmlns:a16="http://schemas.microsoft.com/office/drawing/2014/main" id="{09FF4F5D-70B8-4224-91F2-4D3C5F190FF9}"/>
              </a:ext>
            </a:extLst>
          </p:cNvPr>
          <p:cNvSpPr/>
          <p:nvPr/>
        </p:nvSpPr>
        <p:spPr>
          <a:xfrm>
            <a:off x="121442" y="731837"/>
            <a:ext cx="8900638" cy="2031325"/>
          </a:xfrm>
          <a:prstGeom prst="rect">
            <a:avLst/>
          </a:prstGeom>
        </p:spPr>
        <p:txBody>
          <a:bodyPr wrap="square">
            <a:spAutoFit/>
          </a:bodyPr>
          <a:lstStyle/>
          <a:p>
            <a:pPr algn="l" rtl="0"/>
            <a:r>
              <a:rPr lang="en-US" sz="1400" dirty="0"/>
              <a:t>Si vous rencontrez des problèmes de connectivité entre deux hôtes sur un réseau, vous pouvez vérifier la couche 3 en envoyant une requête ping entre les hôtes.</a:t>
            </a:r>
          </a:p>
          <a:p>
            <a:pPr algn="l" rtl="0"/>
            <a:endParaRPr lang="en-US" sz="1400" dirty="0"/>
          </a:p>
          <a:p>
            <a:pPr algn="l" rtl="0"/>
            <a:r>
              <a:rPr lang="en-US" sz="1400" dirty="0"/>
              <a:t>Si les pings réussissent, le problème réside dans les couches supérieures du modèle de référence OSI (couches 4 à 7). Si les pings échouent, vous devez dépanner les couches 1 à 3.</a:t>
            </a:r>
          </a:p>
          <a:p>
            <a:pPr algn="l" rtl="0"/>
            <a:endParaRPr lang="en-US" sz="1400" dirty="0"/>
          </a:p>
          <a:p>
            <a:pPr algn="l" rtl="0"/>
            <a:r>
              <a:rPr lang="en-US" sz="1400" dirty="0"/>
              <a:t>Si vous déterminez que le problème se situe au niveau de la couche 3, vous pouvez examiner le processus de transfert de paquets d'un routeur. Passez en revue le processus de transfert de paquets de couche 3 en considérant la figure 1-10. Dans cette topologie, PC1 doit accéder aux ressources HTTP sur Server1. Notez que PC1 et Server1 se trouvent sur des réseaux différents.</a:t>
            </a:r>
          </a:p>
        </p:txBody>
      </p:sp>
      <p:pic>
        <p:nvPicPr>
          <p:cNvPr id="5" name="Picture 4">
            <a:extLst>
              <a:ext uri="{FF2B5EF4-FFF2-40B4-BE49-F238E27FC236}">
                <a16:creationId xmlns:a16="http://schemas.microsoft.com/office/drawing/2014/main" id="{FDBD2D4C-D43F-45E9-A8C4-9AA3AFCEDED7}"/>
              </a:ext>
            </a:extLst>
          </p:cNvPr>
          <p:cNvPicPr>
            <a:picLocks noChangeAspect="1"/>
          </p:cNvPicPr>
          <p:nvPr/>
        </p:nvPicPr>
        <p:blipFill>
          <a:blip r:embed="rId3"/>
          <a:srcRect/>
          <a:stretch/>
        </p:blipFill>
        <p:spPr>
          <a:xfrm>
            <a:off x="2367280" y="2890784"/>
            <a:ext cx="4358640" cy="2142039"/>
          </a:xfrm>
          <a:prstGeom prst="rect">
            <a:avLst/>
          </a:prstGeom>
        </p:spPr>
      </p:pic>
    </p:spTree>
    <p:extLst>
      <p:ext uri="{BB962C8B-B14F-4D97-AF65-F5344CB8AC3E}">
        <p14:creationId xmlns:p14="http://schemas.microsoft.com/office/powerpoint/2010/main" val="1586619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8422641" cy="731837"/>
          </a:xfrm>
        </p:spPr>
        <p:txBody>
          <a:bodyPr/>
          <a:lstStyle/>
          <a:p>
            <a:pPr algn="l" rtl="0"/>
            <a:r>
              <a:rPr lang="en-US" sz="1600" dirty="0">
                <a:solidFill>
                  <a:schemeClr val="accent4">
                    <a:lumMod val="75000"/>
                  </a:schemeClr>
                </a:solidFill>
              </a:rPr>
              <a:t>Processus de transfert de paquets</a:t>
            </a:r>
            <a:br>
              <a:rPr lang="en-US" dirty="0">
                <a:solidFill>
                  <a:schemeClr val="accent4">
                    <a:lumMod val="75000"/>
                  </a:schemeClr>
                </a:solidFill>
              </a:rPr>
            </a:br>
            <a:r>
              <a:rPr lang="en-US" sz="2400" dirty="0">
                <a:solidFill>
                  <a:schemeClr val="accent4">
                    <a:lumMod val="75000"/>
                  </a:schemeClr>
                </a:solidFill>
              </a:rPr>
              <a:t>Examen du processus de transfert de paquets de couche 3 (suite)</a:t>
            </a:r>
          </a:p>
        </p:txBody>
      </p:sp>
      <p:sp>
        <p:nvSpPr>
          <p:cNvPr id="2" name="Rectangle 1">
            <a:extLst>
              <a:ext uri="{FF2B5EF4-FFF2-40B4-BE49-F238E27FC236}">
                <a16:creationId xmlns:a16="http://schemas.microsoft.com/office/drawing/2014/main" id="{09FF4F5D-70B8-4224-91F2-4D3C5F190FF9}"/>
              </a:ext>
            </a:extLst>
          </p:cNvPr>
          <p:cNvSpPr/>
          <p:nvPr/>
        </p:nvSpPr>
        <p:spPr>
          <a:xfrm>
            <a:off x="121442" y="731837"/>
            <a:ext cx="4714718" cy="3754874"/>
          </a:xfrm>
          <a:prstGeom prst="rect">
            <a:avLst/>
          </a:prstGeom>
        </p:spPr>
        <p:txBody>
          <a:bodyPr wrap="square">
            <a:spAutoFit/>
          </a:bodyPr>
          <a:lstStyle/>
          <a:p>
            <a:pPr algn="l" rtl="0"/>
            <a:r>
              <a:rPr lang="en-US" sz="1400" b="1" dirty="0"/>
              <a:t>Étape 1.</a:t>
            </a:r>
            <a:r>
              <a:rPr lang="en-US" sz="1400" dirty="0"/>
              <a:t>PC1 conclut que l'adresse IP de destination réside sur un sous-réseau distant. Par conséquent, PC1 doit envoyer la trame à sa passerelle par défaut.</a:t>
            </a:r>
          </a:p>
          <a:p>
            <a:pPr algn="l" rtl="0"/>
            <a:endParaRPr lang="en-US" sz="1400" dirty="0"/>
          </a:p>
          <a:p>
            <a:pPr algn="l" rtl="0"/>
            <a:r>
              <a:rPr lang="en-US" sz="1400" dirty="0"/>
              <a:t>PC1 a l'adresse de passerelle par défaut 192.168.1.1 qui est le routeur R1.</a:t>
            </a:r>
          </a:p>
          <a:p>
            <a:pPr algn="l" rtl="0"/>
            <a:endParaRPr lang="en-US" sz="1400" dirty="0"/>
          </a:p>
          <a:p>
            <a:pPr algn="l" rtl="0"/>
            <a:r>
              <a:rPr lang="en-US" sz="1400" dirty="0"/>
              <a:t>Pour construire une trame de couche 2, PC1 a besoin de l'adresse MAC de la destination de la trame, qui est la passerelle par défaut de PC1.</a:t>
            </a:r>
          </a:p>
          <a:p>
            <a:pPr algn="l" rtl="0"/>
            <a:endParaRPr lang="en-US" sz="1400" dirty="0"/>
          </a:p>
          <a:p>
            <a:pPr algn="l" rtl="0"/>
            <a:r>
              <a:rPr lang="en-US" sz="1400" dirty="0"/>
              <a:t>Si l'adresse MAC ne se trouve pas dans le cache ARP (Address Resolution Protocol) du PC1, PC1 utilise ARP pour la découvrir. Une fois que PC1 reçoit une réponse ARP du routeur R1, PC1 ajoute l'adresse MAC du routeur R1 à son cache ARP. PC1 envoie ensuite ses données destinées au serveur 1 dans une trame adressée à R1, comme le montre la figure 1-11.</a:t>
            </a:r>
          </a:p>
        </p:txBody>
      </p:sp>
      <p:pic>
        <p:nvPicPr>
          <p:cNvPr id="5" name="Picture 4">
            <a:extLst>
              <a:ext uri="{FF2B5EF4-FFF2-40B4-BE49-F238E27FC236}">
                <a16:creationId xmlns:a16="http://schemas.microsoft.com/office/drawing/2014/main" id="{FDBD2D4C-D43F-45E9-A8C4-9AA3AFCEDED7}"/>
              </a:ext>
            </a:extLst>
          </p:cNvPr>
          <p:cNvPicPr>
            <a:picLocks noChangeAspect="1"/>
          </p:cNvPicPr>
          <p:nvPr/>
        </p:nvPicPr>
        <p:blipFill>
          <a:blip r:embed="rId3"/>
          <a:srcRect/>
          <a:stretch/>
        </p:blipFill>
        <p:spPr>
          <a:xfrm>
            <a:off x="5041146" y="1300857"/>
            <a:ext cx="3980933" cy="2895224"/>
          </a:xfrm>
          <a:prstGeom prst="rect">
            <a:avLst/>
          </a:prstGeom>
        </p:spPr>
      </p:pic>
    </p:spTree>
    <p:extLst>
      <p:ext uri="{BB962C8B-B14F-4D97-AF65-F5344CB8AC3E}">
        <p14:creationId xmlns:p14="http://schemas.microsoft.com/office/powerpoint/2010/main" val="785956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8422641" cy="731837"/>
          </a:xfrm>
        </p:spPr>
        <p:txBody>
          <a:bodyPr/>
          <a:lstStyle/>
          <a:p>
            <a:pPr algn="l" rtl="0"/>
            <a:r>
              <a:rPr lang="en-US" sz="1600" dirty="0">
                <a:solidFill>
                  <a:schemeClr val="accent4">
                    <a:lumMod val="75000"/>
                  </a:schemeClr>
                </a:solidFill>
              </a:rPr>
              <a:t>Processus de transfert de paquets</a:t>
            </a:r>
            <a:br>
              <a:rPr lang="en-US" dirty="0">
                <a:solidFill>
                  <a:schemeClr val="accent4">
                    <a:lumMod val="75000"/>
                  </a:schemeClr>
                </a:solidFill>
              </a:rPr>
            </a:br>
            <a:r>
              <a:rPr lang="en-US" sz="2400" dirty="0">
                <a:solidFill>
                  <a:schemeClr val="accent4">
                    <a:lumMod val="75000"/>
                  </a:schemeClr>
                </a:solidFill>
              </a:rPr>
              <a:t>Examen du processus de transfert de paquets de couche 3 (suite)</a:t>
            </a:r>
          </a:p>
        </p:txBody>
      </p:sp>
      <p:sp>
        <p:nvSpPr>
          <p:cNvPr id="2" name="Rectangle 1">
            <a:extLst>
              <a:ext uri="{FF2B5EF4-FFF2-40B4-BE49-F238E27FC236}">
                <a16:creationId xmlns:a16="http://schemas.microsoft.com/office/drawing/2014/main" id="{09FF4F5D-70B8-4224-91F2-4D3C5F190FF9}"/>
              </a:ext>
            </a:extLst>
          </p:cNvPr>
          <p:cNvSpPr/>
          <p:nvPr/>
        </p:nvSpPr>
        <p:spPr>
          <a:xfrm>
            <a:off x="114567" y="628709"/>
            <a:ext cx="4795998" cy="4185761"/>
          </a:xfrm>
          <a:prstGeom prst="rect">
            <a:avLst/>
          </a:prstGeom>
        </p:spPr>
        <p:txBody>
          <a:bodyPr wrap="square">
            <a:spAutoFit/>
          </a:bodyPr>
          <a:lstStyle/>
          <a:p>
            <a:pPr algn="l" rtl="0"/>
            <a:r>
              <a:rPr lang="en-US" sz="1400" b="1" dirty="0"/>
              <a:t>Étape 2</a:t>
            </a:r>
            <a:r>
              <a:rPr lang="en-US" sz="1400" dirty="0"/>
              <a:t>. R1 reçoit la trame envoyée par PC1 et, comme l'adresse MAC de destination est celle de R1, R1 déchire l'en-tête de couche 2 et interroge l'en-tête de couche 3.</a:t>
            </a:r>
          </a:p>
          <a:p>
            <a:pPr algn="l" rtl="0"/>
            <a:endParaRPr lang="en-US" sz="1400" dirty="0"/>
          </a:p>
          <a:p>
            <a:pPr algn="l" rtl="0"/>
            <a:r>
              <a:rPr lang="en-US" sz="1400" dirty="0"/>
              <a:t>Le routeur R1 décrémente le champ TTL du paquet. Si la valeur du champ TTL est réduite à zéro, le routeur rejette le paquet et renvoie un message ICMP dont le temps est dépassé à la source.</a:t>
            </a:r>
          </a:p>
          <a:p>
            <a:pPr algn="l" rtl="0"/>
            <a:endParaRPr lang="en-US" sz="1400" dirty="0"/>
          </a:p>
          <a:p>
            <a:pPr algn="l" rtl="0"/>
            <a:r>
              <a:rPr lang="en-US" sz="1400" dirty="0"/>
              <a:t>En supposant que le TTL n'est pas décrémenté à zéro, R1 vérifie sa table de routage pour déterminer le meilleur chemin pour atteindre l'adresse IP 192.168.3.2.</a:t>
            </a:r>
          </a:p>
          <a:p>
            <a:pPr algn="l" rtl="0"/>
            <a:endParaRPr lang="en-US" sz="1400" dirty="0"/>
          </a:p>
          <a:p>
            <a:pPr algn="l" rtl="0"/>
            <a:r>
              <a:rPr lang="en-US" sz="1400" dirty="0"/>
              <a:t>La table de routage de R1 contient une entrée indiquant que le réseau 192.168.3.0/24 est accessible via l'interface série 1/1. ARP n'est pas requis pour les interfaces série car elles n'ont pas d'adresse MAC. Par conséquent, R1 transfère la trame vers son interface série 1/1, à l’aide de l’en-tête de tramage de couche 2 du protocole point à point (PPP).</a:t>
            </a:r>
          </a:p>
        </p:txBody>
      </p:sp>
      <p:pic>
        <p:nvPicPr>
          <p:cNvPr id="5" name="Picture 4">
            <a:extLst>
              <a:ext uri="{FF2B5EF4-FFF2-40B4-BE49-F238E27FC236}">
                <a16:creationId xmlns:a16="http://schemas.microsoft.com/office/drawing/2014/main" id="{FDBD2D4C-D43F-45E9-A8C4-9AA3AFCEDED7}"/>
              </a:ext>
            </a:extLst>
          </p:cNvPr>
          <p:cNvPicPr>
            <a:picLocks noChangeAspect="1"/>
          </p:cNvPicPr>
          <p:nvPr/>
        </p:nvPicPr>
        <p:blipFill>
          <a:blip r:embed="rId3"/>
          <a:srcRect/>
          <a:stretch/>
        </p:blipFill>
        <p:spPr>
          <a:xfrm>
            <a:off x="5022022" y="1326100"/>
            <a:ext cx="4020378" cy="2900460"/>
          </a:xfrm>
          <a:prstGeom prst="rect">
            <a:avLst/>
          </a:prstGeom>
        </p:spPr>
      </p:pic>
    </p:spTree>
    <p:extLst>
      <p:ext uri="{BB962C8B-B14F-4D97-AF65-F5344CB8AC3E}">
        <p14:creationId xmlns:p14="http://schemas.microsoft.com/office/powerpoint/2010/main" val="4002248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8422641" cy="731837"/>
          </a:xfrm>
        </p:spPr>
        <p:txBody>
          <a:bodyPr/>
          <a:lstStyle/>
          <a:p>
            <a:pPr algn="l" rtl="0"/>
            <a:r>
              <a:rPr lang="en-US" sz="1600" dirty="0">
                <a:solidFill>
                  <a:schemeClr val="accent4">
                    <a:lumMod val="75000"/>
                  </a:schemeClr>
                </a:solidFill>
              </a:rPr>
              <a:t>Processus de transfert de paquets</a:t>
            </a:r>
            <a:br>
              <a:rPr lang="en-US" dirty="0">
                <a:solidFill>
                  <a:schemeClr val="accent4">
                    <a:lumMod val="75000"/>
                  </a:schemeClr>
                </a:solidFill>
              </a:rPr>
            </a:br>
            <a:r>
              <a:rPr lang="en-US" sz="2400" dirty="0">
                <a:solidFill>
                  <a:schemeClr val="accent4">
                    <a:lumMod val="75000"/>
                  </a:schemeClr>
                </a:solidFill>
              </a:rPr>
              <a:t>Examen du processus de transfert de paquets de couche 3 (suite)</a:t>
            </a:r>
          </a:p>
        </p:txBody>
      </p:sp>
      <p:sp>
        <p:nvSpPr>
          <p:cNvPr id="2" name="Rectangle 1">
            <a:extLst>
              <a:ext uri="{FF2B5EF4-FFF2-40B4-BE49-F238E27FC236}">
                <a16:creationId xmlns:a16="http://schemas.microsoft.com/office/drawing/2014/main" id="{09FF4F5D-70B8-4224-91F2-4D3C5F190FF9}"/>
              </a:ext>
            </a:extLst>
          </p:cNvPr>
          <p:cNvSpPr/>
          <p:nvPr/>
        </p:nvSpPr>
        <p:spPr>
          <a:xfrm>
            <a:off x="121442" y="731837"/>
            <a:ext cx="4795998" cy="3970318"/>
          </a:xfrm>
          <a:prstGeom prst="rect">
            <a:avLst/>
          </a:prstGeom>
        </p:spPr>
        <p:txBody>
          <a:bodyPr wrap="square">
            <a:spAutoFit/>
          </a:bodyPr>
          <a:lstStyle/>
          <a:p>
            <a:pPr algn="l" rtl="0"/>
            <a:r>
              <a:rPr lang="en-US" sz="1400" b="1" dirty="0"/>
              <a:t>Étape 3.</a:t>
            </a:r>
            <a:r>
              <a:rPr lang="en-US" sz="1400" dirty="0"/>
              <a:t>Lorsque le routeur R2 reçoit la trame, il supprime l'en-tête PPP puis décrémente le TTL dans l'en-tête IP, tout comme le routeur R1 l'a fait.</a:t>
            </a:r>
          </a:p>
          <a:p>
            <a:pPr algn="l" rtl="0"/>
            <a:endParaRPr lang="en-US" sz="1400" dirty="0"/>
          </a:p>
          <a:p>
            <a:pPr algn="l" rtl="0"/>
            <a:r>
              <a:rPr lang="en-US" sz="1400" dirty="0"/>
              <a:t>Encore une fois, en supposant que la durée de vie n'a pas été décrémentée à zéro, le routeur R2 interroge l'en-tête IP pour déterminer le réseau de destination.</a:t>
            </a:r>
          </a:p>
          <a:p>
            <a:pPr algn="l" rtl="0"/>
            <a:endParaRPr lang="en-US" sz="1400" dirty="0"/>
          </a:p>
          <a:p>
            <a:pPr algn="l" rtl="0"/>
            <a:r>
              <a:rPr lang="en-US" sz="1400" dirty="0"/>
              <a:t>Dans ce cas, le réseau de destination 192.168.3.0/24 est directement connecté à l'interface Fast Ethernet 0/0 du routeur R2.</a:t>
            </a:r>
          </a:p>
          <a:p>
            <a:pPr algn="l" rtl="0"/>
            <a:endParaRPr lang="en-US" sz="1400" dirty="0"/>
          </a:p>
          <a:p>
            <a:pPr algn="l" rtl="0"/>
            <a:r>
              <a:rPr lang="en-US" sz="1400" dirty="0"/>
              <a:t>R2 envoie une requête ARP pour déterminer l'adresse MAC du serveur 1 si elle n'est pas déjà connue dans le cache ARP.</a:t>
            </a:r>
          </a:p>
          <a:p>
            <a:pPr algn="l" rtl="0"/>
            <a:endParaRPr lang="en-US" sz="1400" dirty="0"/>
          </a:p>
          <a:p>
            <a:pPr algn="l" rtl="0"/>
            <a:r>
              <a:rPr lang="en-US" sz="1400" dirty="0"/>
              <a:t>Une fois qu'une réponse ARP est reçue du serveur 1, le routeur R2 stocke les résultats de la réponse ARP dans le cache ARP et transmet la trame via son interface Fast Ethernet 0/0 au serveur 1, comme illustré dans la figure 1-13.</a:t>
            </a:r>
          </a:p>
        </p:txBody>
      </p:sp>
      <p:pic>
        <p:nvPicPr>
          <p:cNvPr id="5" name="Picture 4">
            <a:extLst>
              <a:ext uri="{FF2B5EF4-FFF2-40B4-BE49-F238E27FC236}">
                <a16:creationId xmlns:a16="http://schemas.microsoft.com/office/drawing/2014/main" id="{FDBD2D4C-D43F-45E9-A8C4-9AA3AFCEDED7}"/>
              </a:ext>
            </a:extLst>
          </p:cNvPr>
          <p:cNvPicPr>
            <a:picLocks noChangeAspect="1"/>
          </p:cNvPicPr>
          <p:nvPr/>
        </p:nvPicPr>
        <p:blipFill>
          <a:blip r:embed="rId3"/>
          <a:srcRect/>
          <a:stretch/>
        </p:blipFill>
        <p:spPr>
          <a:xfrm>
            <a:off x="5045892" y="1326100"/>
            <a:ext cx="3972638" cy="2900460"/>
          </a:xfrm>
          <a:prstGeom prst="rect">
            <a:avLst/>
          </a:prstGeom>
        </p:spPr>
      </p:pic>
    </p:spTree>
    <p:extLst>
      <p:ext uri="{BB962C8B-B14F-4D97-AF65-F5344CB8AC3E}">
        <p14:creationId xmlns:p14="http://schemas.microsoft.com/office/powerpoint/2010/main" val="2782484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8422641" cy="731837"/>
          </a:xfrm>
        </p:spPr>
        <p:txBody>
          <a:bodyPr/>
          <a:lstStyle/>
          <a:p>
            <a:pPr algn="l" rtl="0"/>
            <a:r>
              <a:rPr lang="en-US" sz="1600" dirty="0">
                <a:solidFill>
                  <a:schemeClr val="accent4">
                    <a:lumMod val="75000"/>
                  </a:schemeClr>
                </a:solidFill>
              </a:rPr>
              <a:t>Processus de transfert de paquets</a:t>
            </a:r>
            <a:br>
              <a:rPr lang="en-US" dirty="0">
                <a:solidFill>
                  <a:schemeClr val="accent4">
                    <a:lumMod val="75000"/>
                  </a:schemeClr>
                </a:solidFill>
              </a:rPr>
            </a:br>
            <a:r>
              <a:rPr lang="en-US" sz="2400" dirty="0">
                <a:solidFill>
                  <a:schemeClr val="accent4">
                    <a:lumMod val="75000"/>
                  </a:schemeClr>
                </a:solidFill>
              </a:rPr>
              <a:t>Examen du processus de transfert de paquets de couche 3 (suite)</a:t>
            </a:r>
          </a:p>
        </p:txBody>
      </p:sp>
      <p:sp>
        <p:nvSpPr>
          <p:cNvPr id="2" name="Rectangle 1">
            <a:extLst>
              <a:ext uri="{FF2B5EF4-FFF2-40B4-BE49-F238E27FC236}">
                <a16:creationId xmlns:a16="http://schemas.microsoft.com/office/drawing/2014/main" id="{09FF4F5D-70B8-4224-91F2-4D3C5F190FF9}"/>
              </a:ext>
            </a:extLst>
          </p:cNvPr>
          <p:cNvSpPr/>
          <p:nvPr/>
        </p:nvSpPr>
        <p:spPr>
          <a:xfrm>
            <a:off x="121442" y="731837"/>
            <a:ext cx="5456398" cy="4185761"/>
          </a:xfrm>
          <a:prstGeom prst="rect">
            <a:avLst/>
          </a:prstGeom>
        </p:spPr>
        <p:txBody>
          <a:bodyPr wrap="square">
            <a:spAutoFit/>
          </a:bodyPr>
          <a:lstStyle/>
          <a:p>
            <a:pPr algn="l" rtl="0"/>
            <a:r>
              <a:rPr lang="en-US" sz="1400" b="1" dirty="0"/>
              <a:t>Table de routage IP -</a:t>
            </a:r>
            <a:r>
              <a:rPr lang="en-US" sz="1400" dirty="0"/>
              <a:t>Lorsqu'un routeur doit acheminer un paquet IP, il consulte sa table de routage IP pour trouver la meilleure correspondance. La meilleure correspondance est l'itinéraire qui possède le préfixe le plus long. Par exemple, supposons qu'un routeur dispose d'une entrée de routage pour les réseaux 10.0.0.0/8, 10.1.1.0/24 et 10.1.1.0/26. Supposons également que le routeur tente de transférer un paquet avec l'adresse IP de destination 10.1.1.10. Le routeur sélectionne l'entrée de route 10.1.1.0/26 comme meilleure correspondance, car cette entrée de route a le préfixe le plus long, /26 (elle correspond au plus grand nombre de bits).</a:t>
            </a:r>
          </a:p>
          <a:p>
            <a:pPr algn="l" rtl="0"/>
            <a:endParaRPr lang="en-US" sz="1400" dirty="0"/>
          </a:p>
          <a:p>
            <a:pPr algn="l" rtl="0"/>
            <a:r>
              <a:rPr lang="en-US" sz="1400" b="1" dirty="0"/>
              <a:t>Table de mappage couche 3 vers couche 2 -</a:t>
            </a:r>
            <a:r>
              <a:rPr lang="en-US" sz="1400" dirty="0"/>
              <a:t>Dans la figure 1-13, le cache ARP de R2 contient des informations de mappage de couche 3 à couche 2. Le cache ARP a un mappage indiquant que l'adresse MAC 2222.2222.2222 correspond à l'adresse IP 192.168.3.2. Un cache ARP est la structure de données de mappage de couche 3 à couche 2 utilisée pour les réseaux Ethernet, mais des structures de données similaires sont utilisées pour les réseaux Multipoint Frame Relay et le réseau privé virtuel multipoint dynamique (DMVPN). Pour les réseaux PPP ou HDLC, il n'y a qu'un seul autre périphérique possible connecté à l'autre extrémité de la liaison, donc aucune information de mappage n'est nécessaire pour déterminer le périphérique du prochain saut.</a:t>
            </a:r>
          </a:p>
        </p:txBody>
      </p:sp>
      <p:pic>
        <p:nvPicPr>
          <p:cNvPr id="8" name="Picture 7" descr="A screenshot of a cell phone  Description automatically generated">
            <a:extLst>
              <a:ext uri="{FF2B5EF4-FFF2-40B4-BE49-F238E27FC236}">
                <a16:creationId xmlns:a16="http://schemas.microsoft.com/office/drawing/2014/main" id="{EF1C08B5-F5FB-4062-BAF2-DF3764361EA4}"/>
              </a:ext>
            </a:extLst>
          </p:cNvPr>
          <p:cNvPicPr>
            <a:picLocks noChangeAspect="1"/>
          </p:cNvPicPr>
          <p:nvPr/>
        </p:nvPicPr>
        <p:blipFill>
          <a:blip r:embed="rId3"/>
          <a:stretch>
            <a:fillRect/>
          </a:stretch>
        </p:blipFill>
        <p:spPr>
          <a:xfrm>
            <a:off x="5654049" y="1392068"/>
            <a:ext cx="3409149" cy="2489052"/>
          </a:xfrm>
          <a:prstGeom prst="rect">
            <a:avLst/>
          </a:prstGeom>
        </p:spPr>
      </p:pic>
    </p:spTree>
    <p:extLst>
      <p:ext uri="{BB962C8B-B14F-4D97-AF65-F5344CB8AC3E}">
        <p14:creationId xmlns:p14="http://schemas.microsoft.com/office/powerpoint/2010/main" val="113927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8422641" cy="731837"/>
          </a:xfrm>
        </p:spPr>
        <p:txBody>
          <a:bodyPr/>
          <a:lstStyle/>
          <a:p>
            <a:pPr algn="l" rtl="0"/>
            <a:r>
              <a:rPr lang="en-US" sz="1600" dirty="0">
                <a:solidFill>
                  <a:schemeClr val="accent4">
                    <a:lumMod val="75000"/>
                  </a:schemeClr>
                </a:solidFill>
              </a:rPr>
              <a:t>Processus de transfert de paquets</a:t>
            </a:r>
            <a:br>
              <a:rPr lang="en-US" dirty="0">
                <a:solidFill>
                  <a:schemeClr val="accent4">
                    <a:lumMod val="75000"/>
                  </a:schemeClr>
                </a:solidFill>
              </a:rPr>
            </a:br>
            <a:r>
              <a:rPr lang="en-US" sz="2400" dirty="0">
                <a:solidFill>
                  <a:schemeClr val="accent4">
                    <a:lumMod val="75000"/>
                  </a:schemeClr>
                </a:solidFill>
              </a:rPr>
              <a:t>Examen du processus de transfert de paquets de couche 3 (suite)</a:t>
            </a:r>
          </a:p>
        </p:txBody>
      </p:sp>
      <p:sp>
        <p:nvSpPr>
          <p:cNvPr id="2" name="Rectangle 1">
            <a:extLst>
              <a:ext uri="{FF2B5EF4-FFF2-40B4-BE49-F238E27FC236}">
                <a16:creationId xmlns:a16="http://schemas.microsoft.com/office/drawing/2014/main" id="{09FF4F5D-70B8-4224-91F2-4D3C5F190FF9}"/>
              </a:ext>
            </a:extLst>
          </p:cNvPr>
          <p:cNvSpPr/>
          <p:nvPr/>
        </p:nvSpPr>
        <p:spPr>
          <a:xfrm>
            <a:off x="121441" y="676836"/>
            <a:ext cx="5901223" cy="4401205"/>
          </a:xfrm>
          <a:prstGeom prst="rect">
            <a:avLst/>
          </a:prstGeom>
        </p:spPr>
        <p:txBody>
          <a:bodyPr wrap="square">
            <a:spAutoFit/>
          </a:bodyPr>
          <a:lstStyle/>
          <a:p>
            <a:pPr algn="l" rtl="0"/>
            <a:r>
              <a:rPr lang="en-US" sz="1400" dirty="0"/>
              <a:t>Interroger la table de routage d'un routeur et son cache ARP est loin d'être efficace. Heureusement, Cisco Express Forwarding (CEF) glane ses informations à partir de la table de routage IP et du cache ARP du routeur. Ensuite, les structures de données matérielles du CEF peuvent être référencées lors du transfert de paquets.</a:t>
            </a:r>
          </a:p>
          <a:p>
            <a:pPr algn="l" rtl="0"/>
            <a:endParaRPr lang="en-US" sz="1400" dirty="0"/>
          </a:p>
          <a:p>
            <a:pPr algn="l" rtl="0"/>
            <a:r>
              <a:rPr lang="en-US" sz="1400" dirty="0"/>
              <a:t>Les deux principales structures de données CEF sont les suivantes :</a:t>
            </a:r>
          </a:p>
          <a:p>
            <a:pPr algn="l" rtl="0"/>
            <a:endParaRPr lang="en-US" sz="1400" dirty="0"/>
          </a:p>
          <a:p>
            <a:pPr algn="l" rtl="0"/>
            <a:r>
              <a:rPr lang="en-US" sz="1400" b="1" dirty="0"/>
              <a:t>Base d'informations de transfert (FIB) -</a:t>
            </a:r>
            <a:r>
              <a:rPr lang="en-US" sz="1400" dirty="0"/>
              <a:t>La FIB contient des informations de couche 3, similaires aux informations trouvées dans une table de routage IP. De plus, un FIB contient des informations sur les routes de multidiffusion et les hôtes directement connectés.</a:t>
            </a:r>
          </a:p>
          <a:p>
            <a:pPr algn="l" rtl="0"/>
            <a:endParaRPr lang="en-US" sz="1400" dirty="0"/>
          </a:p>
          <a:p>
            <a:pPr algn="l" rtl="0"/>
            <a:r>
              <a:rPr lang="en-US" sz="1400" b="1" dirty="0"/>
              <a:t>Tableau de contiguïté -</a:t>
            </a:r>
            <a:r>
              <a:rPr lang="en-US" sz="1400" dirty="0"/>
              <a:t>Lorsqu'un routeur effectue une recherche de route à l'aide de CEF, le FIB fait référence à une entrée dans la table de contiguïté. L'entrée du tableau de contiguïté contient les informations d'en-tête de trame requises par le routeur pour former correctement une trame. Une interface de sortie et une adresse MAC du saut suivant se trouvent dans une entrée de contiguïté pour une interface Ethernet multipoint, alors qu'une interface point à point ne nécessite que des informations sur l'interface de sortie.</a:t>
            </a:r>
          </a:p>
          <a:p>
            <a:pPr algn="l" rtl="0"/>
            <a:endParaRPr lang="en-US" sz="1400" dirty="0"/>
          </a:p>
          <a:p>
            <a:pPr algn="l" rtl="0"/>
            <a:endParaRPr lang="en-US" sz="1400" dirty="0"/>
          </a:p>
        </p:txBody>
      </p:sp>
      <p:pic>
        <p:nvPicPr>
          <p:cNvPr id="8" name="Picture 7">
            <a:extLst>
              <a:ext uri="{FF2B5EF4-FFF2-40B4-BE49-F238E27FC236}">
                <a16:creationId xmlns:a16="http://schemas.microsoft.com/office/drawing/2014/main" id="{EF1C08B5-F5FB-4062-BAF2-DF3764361EA4}"/>
              </a:ext>
            </a:extLst>
          </p:cNvPr>
          <p:cNvPicPr>
            <a:picLocks noChangeAspect="1"/>
          </p:cNvPicPr>
          <p:nvPr/>
        </p:nvPicPr>
        <p:blipFill>
          <a:blip r:embed="rId3"/>
          <a:srcRect/>
          <a:stretch/>
        </p:blipFill>
        <p:spPr>
          <a:xfrm>
            <a:off x="6087284" y="1452881"/>
            <a:ext cx="2953335" cy="2296160"/>
          </a:xfrm>
          <a:prstGeom prst="rect">
            <a:avLst/>
          </a:prstGeom>
        </p:spPr>
      </p:pic>
    </p:spTree>
    <p:extLst>
      <p:ext uri="{BB962C8B-B14F-4D97-AF65-F5344CB8AC3E}">
        <p14:creationId xmlns:p14="http://schemas.microsoft.com/office/powerpoint/2010/main" val="1621858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8422641" cy="731837"/>
          </a:xfrm>
        </p:spPr>
        <p:txBody>
          <a:bodyPr/>
          <a:lstStyle/>
          <a:p>
            <a:pPr algn="l" rtl="0"/>
            <a:r>
              <a:rPr lang="en-US" sz="1600" dirty="0">
                <a:solidFill>
                  <a:schemeClr val="accent4">
                    <a:lumMod val="75000"/>
                  </a:schemeClr>
                </a:solidFill>
              </a:rPr>
              <a:t>Processus de transfert de paquets</a:t>
            </a:r>
            <a:br>
              <a:rPr lang="en-US" dirty="0">
                <a:solidFill>
                  <a:schemeClr val="accent4">
                    <a:lumMod val="75000"/>
                  </a:schemeClr>
                </a:solidFill>
              </a:rPr>
            </a:br>
            <a:r>
              <a:rPr lang="en-US" sz="2400" dirty="0">
                <a:solidFill>
                  <a:schemeClr val="accent4">
                    <a:lumMod val="75000"/>
                  </a:schemeClr>
                </a:solidFill>
              </a:rPr>
              <a:t>Dépannage du processus de transfert de paquets</a:t>
            </a:r>
          </a:p>
        </p:txBody>
      </p:sp>
      <p:sp>
        <p:nvSpPr>
          <p:cNvPr id="2" name="Rectangle 1">
            <a:extLst>
              <a:ext uri="{FF2B5EF4-FFF2-40B4-BE49-F238E27FC236}">
                <a16:creationId xmlns:a16="http://schemas.microsoft.com/office/drawing/2014/main" id="{09FF4F5D-70B8-4224-91F2-4D3C5F190FF9}"/>
              </a:ext>
            </a:extLst>
          </p:cNvPr>
          <p:cNvSpPr/>
          <p:nvPr/>
        </p:nvSpPr>
        <p:spPr>
          <a:xfrm>
            <a:off x="121441" y="731837"/>
            <a:ext cx="8894739" cy="2462213"/>
          </a:xfrm>
          <a:prstGeom prst="rect">
            <a:avLst/>
          </a:prstGeom>
        </p:spPr>
        <p:txBody>
          <a:bodyPr wrap="square">
            <a:spAutoFit/>
          </a:bodyPr>
          <a:lstStyle/>
          <a:p>
            <a:pPr algn="l" rtl="0"/>
            <a:r>
              <a:rPr lang="en-US" sz="1400" dirty="0"/>
              <a:t>Lors du dépannage des problèmes de transfert de paquets, vous devez examiner la table de routage IP d'un routeur. Si le comportement observé du trafic n'est pas conforme aux informations de la table de routage IP, n'oubliez pas que la table de routage IP est maintenue par le plan de contrôle d'un routeur et est utilisée pour créer les tables au niveau du plan de données.</a:t>
            </a:r>
          </a:p>
          <a:p>
            <a:pPr algn="l" rtl="0"/>
            <a:endParaRPr lang="en-US" sz="1400" dirty="0"/>
          </a:p>
          <a:p>
            <a:pPr algn="l" rtl="0"/>
            <a:r>
              <a:rPr lang="en-US" sz="1400" dirty="0"/>
              <a:t>CEF fonctionne dans le plan de données et utilise le FIB. Vous devez afficher les structures de données CEF (c'est-à-dire le FIB et la table de contiguïté) qui contiennent toutes les informations requises pour prendre des décisions de transfert de paquets.</a:t>
            </a:r>
          </a:p>
          <a:p>
            <a:pPr algn="l" rtl="0"/>
            <a:endParaRPr lang="en-US" sz="1400" dirty="0"/>
          </a:p>
          <a:p>
            <a:pPr algn="l" rtl="0"/>
            <a:r>
              <a:rPr lang="en-US" sz="1400" dirty="0"/>
              <a:t>L'exemple 1-25 fournit un exemple de sortie du</a:t>
            </a:r>
            <a:r>
              <a:rPr lang="en-US" sz="1400" b="1" dirty="0"/>
              <a:t>afficher la route IP</a:t>
            </a:r>
            <a:r>
              <a:rPr lang="en-US" sz="1400" i="1" dirty="0"/>
              <a:t>adresse IP</a:t>
            </a:r>
            <a:r>
              <a:rPr lang="en-US" sz="1400" b="1" dirty="0"/>
              <a:t> </a:t>
            </a:r>
            <a:r>
              <a:rPr lang="en-US" sz="1400" dirty="0"/>
              <a:t>commande. Le résultat montre que l'adresse IP du saut suivant pour atteindre l'adresse IP 192.168.1.11 est 192.168.0.11, qui est accessible via l'interface Fast Ethernet 0/0. Étant donné que ces informations proviennent du plan de contrôle, elles incluent des informations sur le protocole de routage OSPF.</a:t>
            </a:r>
          </a:p>
        </p:txBody>
      </p:sp>
      <p:pic>
        <p:nvPicPr>
          <p:cNvPr id="8" name="Picture 7">
            <a:extLst>
              <a:ext uri="{FF2B5EF4-FFF2-40B4-BE49-F238E27FC236}">
                <a16:creationId xmlns:a16="http://schemas.microsoft.com/office/drawing/2014/main" id="{EF1C08B5-F5FB-4062-BAF2-DF3764361EA4}"/>
              </a:ext>
            </a:extLst>
          </p:cNvPr>
          <p:cNvPicPr>
            <a:picLocks noChangeAspect="1"/>
          </p:cNvPicPr>
          <p:nvPr/>
        </p:nvPicPr>
        <p:blipFill>
          <a:blip r:embed="rId3"/>
          <a:srcRect/>
          <a:stretch/>
        </p:blipFill>
        <p:spPr>
          <a:xfrm>
            <a:off x="2054941" y="3475454"/>
            <a:ext cx="5034117" cy="1476673"/>
          </a:xfrm>
          <a:prstGeom prst="rect">
            <a:avLst/>
          </a:prstGeom>
        </p:spPr>
      </p:pic>
    </p:spTree>
    <p:extLst>
      <p:ext uri="{BB962C8B-B14F-4D97-AF65-F5344CB8AC3E}">
        <p14:creationId xmlns:p14="http://schemas.microsoft.com/office/powerpoint/2010/main" val="3459674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8422641" cy="731837"/>
          </a:xfrm>
        </p:spPr>
        <p:txBody>
          <a:bodyPr/>
          <a:lstStyle/>
          <a:p>
            <a:pPr algn="l" rtl="0"/>
            <a:r>
              <a:rPr lang="en-US" sz="1600" dirty="0">
                <a:solidFill>
                  <a:schemeClr val="accent4">
                    <a:lumMod val="75000"/>
                  </a:schemeClr>
                </a:solidFill>
              </a:rPr>
              <a:t>Processus de transfert de paquets</a:t>
            </a:r>
            <a:br>
              <a:rPr lang="en-US" dirty="0">
                <a:solidFill>
                  <a:schemeClr val="accent4">
                    <a:lumMod val="75000"/>
                  </a:schemeClr>
                </a:solidFill>
              </a:rPr>
            </a:br>
            <a:r>
              <a:rPr lang="en-US" sz="2400" dirty="0">
                <a:solidFill>
                  <a:schemeClr val="accent4">
                    <a:lumMod val="75000"/>
                  </a:schemeClr>
                </a:solidFill>
              </a:rPr>
              <a:t>Dépannage du processus de transfert de paquets (suite)</a:t>
            </a:r>
          </a:p>
        </p:txBody>
      </p:sp>
      <p:sp>
        <p:nvSpPr>
          <p:cNvPr id="2" name="Rectangle 1">
            <a:extLst>
              <a:ext uri="{FF2B5EF4-FFF2-40B4-BE49-F238E27FC236}">
                <a16:creationId xmlns:a16="http://schemas.microsoft.com/office/drawing/2014/main" id="{09FF4F5D-70B8-4224-91F2-4D3C5F190FF9}"/>
              </a:ext>
            </a:extLst>
          </p:cNvPr>
          <p:cNvSpPr/>
          <p:nvPr/>
        </p:nvSpPr>
        <p:spPr>
          <a:xfrm>
            <a:off x="121441" y="731837"/>
            <a:ext cx="8894739" cy="738664"/>
          </a:xfrm>
          <a:prstGeom prst="rect">
            <a:avLst/>
          </a:prstGeom>
        </p:spPr>
        <p:txBody>
          <a:bodyPr wrap="square">
            <a:spAutoFit/>
          </a:bodyPr>
          <a:lstStyle/>
          <a:p>
            <a:pPr algn="l" rtl="0"/>
            <a:r>
              <a:rPr lang="en-US" sz="1400" dirty="0"/>
              <a:t>L'exemple 1-28 fournit un exemple de sortie du</a:t>
            </a:r>
            <a:r>
              <a:rPr lang="en-US" sz="1400" b="1" dirty="0"/>
              <a:t>afficher l'ip cef</a:t>
            </a:r>
            <a:r>
              <a:rPr lang="en-US" sz="1400" i="1" dirty="0"/>
              <a:t>adresse IP</a:t>
            </a:r>
            <a:r>
              <a:rPr lang="en-US" sz="1400" dirty="0"/>
              <a:t>commande. La sortie indique que, selon CEF, l'adresse IP 192.168.1.11 est accessible depuis l'interface FastEthernet 0/0, avec l'adresse IP du tronçon suivant 192.168.0.11.</a:t>
            </a:r>
          </a:p>
        </p:txBody>
      </p:sp>
      <p:sp>
        <p:nvSpPr>
          <p:cNvPr id="4" name="TextBox 3">
            <a:extLst>
              <a:ext uri="{FF2B5EF4-FFF2-40B4-BE49-F238E27FC236}">
                <a16:creationId xmlns:a16="http://schemas.microsoft.com/office/drawing/2014/main" id="{73266C13-6C85-40C2-9C2D-6DC5D237A422}"/>
              </a:ext>
            </a:extLst>
          </p:cNvPr>
          <p:cNvSpPr txBox="1"/>
          <p:nvPr/>
        </p:nvSpPr>
        <p:spPr>
          <a:xfrm>
            <a:off x="121441" y="2934174"/>
            <a:ext cx="8796417" cy="1815882"/>
          </a:xfrm>
          <a:prstGeom prst="rect">
            <a:avLst/>
          </a:prstGeom>
          <a:noFill/>
        </p:spPr>
        <p:txBody>
          <a:bodyPr wrap="square" rtlCol="0">
            <a:spAutoFit/>
          </a:bodyPr>
          <a:lstStyle/>
          <a:p>
            <a:pPr algn="l" rtl="0"/>
            <a:r>
              <a:rPr lang="en-US" sz="1400" dirty="0"/>
              <a:t>L'extrait suivant fournit un exemple de sortie du</a:t>
            </a:r>
            <a:r>
              <a:rPr lang="en-US" sz="1400" b="1" dirty="0"/>
              <a:t>afficher l'itinéraire exact de l'ip cef</a:t>
            </a:r>
            <a:r>
              <a:rPr lang="en-US" sz="1400" i="1" dirty="0"/>
              <a:t>adresse_source</a:t>
            </a:r>
            <a:r>
              <a:rPr lang="en-US" sz="1400" b="1" dirty="0"/>
              <a:t> </a:t>
            </a:r>
            <a:r>
              <a:rPr lang="en-US" sz="1400" i="1" dirty="0"/>
              <a:t>adresse de destination</a:t>
            </a:r>
            <a:r>
              <a:rPr lang="en-US" sz="1400" dirty="0"/>
              <a:t>commande:</a:t>
            </a:r>
          </a:p>
          <a:p>
            <a:pPr algn="l" rtl="0"/>
            <a:endParaRPr lang="en-US" sz="1400" dirty="0"/>
          </a:p>
          <a:p>
            <a:pPr algn="l" rtl="0"/>
            <a:r>
              <a:rPr lang="en-US" sz="1400" dirty="0">
                <a:latin typeface="Courier New" panose="02070309020205020404" pitchFamily="49" charset="0"/>
                <a:cs typeface="Courier New" panose="02070309020205020404" pitchFamily="49" charset="0"/>
              </a:rPr>
              <a:t>Numéro de routeur</a:t>
            </a:r>
            <a:r>
              <a:rPr lang="en-US" sz="1400" b="1" dirty="0">
                <a:latin typeface="Courier New" panose="02070309020205020404" pitchFamily="49" charset="0"/>
                <a:cs typeface="Courier New" panose="02070309020205020404" pitchFamily="49" charset="0"/>
              </a:rPr>
              <a:t>afficher l'itinéraire exact ip cef 10.2.2.2 192.168.1.11</a:t>
            </a:r>
          </a:p>
          <a:p>
            <a:pPr algn="l" rtl="0"/>
            <a:r>
              <a:rPr lang="en-US" sz="1400" dirty="0">
                <a:highlight>
                  <a:srgbClr val="C0C0C0"/>
                </a:highlight>
                <a:latin typeface="Courier New" panose="02070309020205020404" pitchFamily="49" charset="0"/>
                <a:cs typeface="Courier New" panose="02070309020205020404" pitchFamily="49" charset="0"/>
              </a:rPr>
              <a:t>10.2.2.2 -&gt; 192.168.1.11 : FastEthernet0/0 (saut suivant 192.168.0.11)</a:t>
            </a:r>
          </a:p>
          <a:p>
            <a:pPr algn="l" rtl="0"/>
            <a:endParaRPr lang="en-US" sz="1400" dirty="0"/>
          </a:p>
          <a:p>
            <a:pPr algn="l" rtl="0"/>
            <a:r>
              <a:rPr lang="en-US" sz="1400" dirty="0"/>
              <a:t>La sortie indique qu'un paquet provenant de l'adresse IP 10.2.2.2 et destiné à l'adresse IP 192.168.1.11 sera envoyé via l'interface FastEthernet 0/0 vers l'adresse IP du tronçon suivant 192.168.0.11.</a:t>
            </a:r>
          </a:p>
        </p:txBody>
      </p:sp>
      <p:pic>
        <p:nvPicPr>
          <p:cNvPr id="8" name="Picture 7">
            <a:extLst>
              <a:ext uri="{FF2B5EF4-FFF2-40B4-BE49-F238E27FC236}">
                <a16:creationId xmlns:a16="http://schemas.microsoft.com/office/drawing/2014/main" id="{EF1C08B5-F5FB-4062-BAF2-DF3764361EA4}"/>
              </a:ext>
            </a:extLst>
          </p:cNvPr>
          <p:cNvPicPr>
            <a:picLocks noChangeAspect="1"/>
          </p:cNvPicPr>
          <p:nvPr/>
        </p:nvPicPr>
        <p:blipFill>
          <a:blip r:embed="rId3"/>
          <a:srcRect/>
          <a:stretch/>
        </p:blipFill>
        <p:spPr>
          <a:xfrm>
            <a:off x="1805944" y="1547162"/>
            <a:ext cx="5034117" cy="1310351"/>
          </a:xfrm>
          <a:prstGeom prst="rect">
            <a:avLst/>
          </a:prstGeom>
        </p:spPr>
      </p:pic>
    </p:spTree>
    <p:extLst>
      <p:ext uri="{BB962C8B-B14F-4D97-AF65-F5344CB8AC3E}">
        <p14:creationId xmlns:p14="http://schemas.microsoft.com/office/powerpoint/2010/main" val="2315799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8422641" cy="731837"/>
          </a:xfrm>
        </p:spPr>
        <p:txBody>
          <a:bodyPr/>
          <a:lstStyle/>
          <a:p>
            <a:pPr algn="l" rtl="0"/>
            <a:r>
              <a:rPr lang="en-US" sz="1600" dirty="0">
                <a:solidFill>
                  <a:schemeClr val="accent4">
                    <a:lumMod val="75000"/>
                  </a:schemeClr>
                </a:solidFill>
              </a:rPr>
              <a:t>Processus de transfert de paquets</a:t>
            </a:r>
            <a:br>
              <a:rPr lang="en-US" dirty="0">
                <a:solidFill>
                  <a:schemeClr val="accent4">
                    <a:lumMod val="75000"/>
                  </a:schemeClr>
                </a:solidFill>
              </a:rPr>
            </a:br>
            <a:r>
              <a:rPr lang="en-US" sz="2400" dirty="0">
                <a:solidFill>
                  <a:schemeClr val="accent4">
                    <a:lumMod val="75000"/>
                  </a:schemeClr>
                </a:solidFill>
              </a:rPr>
              <a:t>Dépannage du processus de transfert de paquets (suite)</a:t>
            </a:r>
          </a:p>
        </p:txBody>
      </p:sp>
      <p:sp>
        <p:nvSpPr>
          <p:cNvPr id="2" name="Rectangle 1">
            <a:extLst>
              <a:ext uri="{FF2B5EF4-FFF2-40B4-BE49-F238E27FC236}">
                <a16:creationId xmlns:a16="http://schemas.microsoft.com/office/drawing/2014/main" id="{09FF4F5D-70B8-4224-91F2-4D3C5F190FF9}"/>
              </a:ext>
            </a:extLst>
          </p:cNvPr>
          <p:cNvSpPr/>
          <p:nvPr/>
        </p:nvSpPr>
        <p:spPr>
          <a:xfrm>
            <a:off x="121441" y="731837"/>
            <a:ext cx="8894739" cy="1600438"/>
          </a:xfrm>
          <a:prstGeom prst="rect">
            <a:avLst/>
          </a:prstGeom>
        </p:spPr>
        <p:txBody>
          <a:bodyPr wrap="square">
            <a:spAutoFit/>
          </a:bodyPr>
          <a:lstStyle/>
          <a:p>
            <a:pPr algn="l" rtl="0"/>
            <a:r>
              <a:rPr lang="en-US" sz="1400" dirty="0"/>
              <a:t>Pour une interface multipoint telle que Frame Relay point à multipoint ou Ethernet, lorsqu'un routeur connaît l'adresse du prochain saut pour un paquet, il a besoin d'informations de couche 2 appropriées (par exemple, l'adresse MAC du prochain saut ou l'identifiant de connexion de liaison de données [ DLCI]) pour construire correctement une trame.</a:t>
            </a:r>
          </a:p>
          <a:p>
            <a:pPr algn="l" rtl="0"/>
            <a:endParaRPr lang="en-US" sz="1400" dirty="0"/>
          </a:p>
          <a:p>
            <a:pPr algn="l" rtl="0"/>
            <a:r>
              <a:rPr lang="en-US" sz="1400" dirty="0"/>
              <a:t>L'exemple 1-30 fournit un exemple de sortie du</a:t>
            </a:r>
            <a:r>
              <a:rPr lang="en-US" sz="1400" b="1" dirty="0"/>
              <a:t>afficher l'arp IP</a:t>
            </a:r>
            <a:r>
              <a:rPr lang="en-US" sz="1400" dirty="0"/>
              <a:t>commande, qui affiche le</a:t>
            </a:r>
            <a:r>
              <a:rPr lang="en-US" sz="1400" i="1" dirty="0"/>
              <a:t>Cache ARP</a:t>
            </a:r>
            <a:r>
              <a:rPr lang="en-US" sz="1400" dirty="0"/>
              <a:t>qui est stocké dans le plan de contrôle sur un routeur. La sortie affiche les adresses MAC apprises ou configurées ainsi que leurs adresses IP associées.</a:t>
            </a:r>
          </a:p>
        </p:txBody>
      </p:sp>
      <p:pic>
        <p:nvPicPr>
          <p:cNvPr id="8" name="Picture 7">
            <a:extLst>
              <a:ext uri="{FF2B5EF4-FFF2-40B4-BE49-F238E27FC236}">
                <a16:creationId xmlns:a16="http://schemas.microsoft.com/office/drawing/2014/main" id="{EF1C08B5-F5FB-4062-BAF2-DF3764361EA4}"/>
              </a:ext>
            </a:extLst>
          </p:cNvPr>
          <p:cNvPicPr>
            <a:picLocks noChangeAspect="1"/>
          </p:cNvPicPr>
          <p:nvPr/>
        </p:nvPicPr>
        <p:blipFill>
          <a:blip r:embed="rId3"/>
          <a:srcRect/>
          <a:stretch/>
        </p:blipFill>
        <p:spPr>
          <a:xfrm>
            <a:off x="2051751" y="2453766"/>
            <a:ext cx="5034117" cy="1002368"/>
          </a:xfrm>
          <a:prstGeom prst="rect">
            <a:avLst/>
          </a:prstGeom>
        </p:spPr>
      </p:pic>
    </p:spTree>
    <p:extLst>
      <p:ext uri="{BB962C8B-B14F-4D97-AF65-F5344CB8AC3E}">
        <p14:creationId xmlns:p14="http://schemas.microsoft.com/office/powerpoint/2010/main" val="2308001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8422641" cy="731837"/>
          </a:xfrm>
        </p:spPr>
        <p:txBody>
          <a:bodyPr/>
          <a:lstStyle/>
          <a:p>
            <a:pPr algn="l" rtl="0"/>
            <a:r>
              <a:rPr lang="en-US" sz="1600" dirty="0">
                <a:solidFill>
                  <a:schemeClr val="accent4">
                    <a:lumMod val="75000"/>
                  </a:schemeClr>
                </a:solidFill>
              </a:rPr>
              <a:t>Processus de transfert de paquets</a:t>
            </a:r>
            <a:br>
              <a:rPr lang="en-US" dirty="0">
                <a:solidFill>
                  <a:schemeClr val="accent4">
                    <a:lumMod val="75000"/>
                  </a:schemeClr>
                </a:solidFill>
              </a:rPr>
            </a:br>
            <a:r>
              <a:rPr lang="en-US" sz="2400" dirty="0">
                <a:solidFill>
                  <a:schemeClr val="accent4">
                    <a:lumMod val="75000"/>
                  </a:schemeClr>
                </a:solidFill>
              </a:rPr>
              <a:t>Dépannage du processus de transfert de paquets (suite)</a:t>
            </a:r>
          </a:p>
        </p:txBody>
      </p:sp>
      <p:sp>
        <p:nvSpPr>
          <p:cNvPr id="2" name="Rectangle 1">
            <a:extLst>
              <a:ext uri="{FF2B5EF4-FFF2-40B4-BE49-F238E27FC236}">
                <a16:creationId xmlns:a16="http://schemas.microsoft.com/office/drawing/2014/main" id="{09FF4F5D-70B8-4224-91F2-4D3C5F190FF9}"/>
              </a:ext>
            </a:extLst>
          </p:cNvPr>
          <p:cNvSpPr/>
          <p:nvPr/>
        </p:nvSpPr>
        <p:spPr>
          <a:xfrm>
            <a:off x="121441" y="731837"/>
            <a:ext cx="4617707" cy="3970318"/>
          </a:xfrm>
          <a:prstGeom prst="rect">
            <a:avLst/>
          </a:prstGeom>
        </p:spPr>
        <p:txBody>
          <a:bodyPr wrap="square">
            <a:spAutoFit/>
          </a:bodyPr>
          <a:lstStyle/>
          <a:p>
            <a:pPr algn="l" rtl="0"/>
            <a:r>
              <a:rPr lang="en-US" sz="1400" dirty="0"/>
              <a:t>L'exemple 1-33 fournit un exemple de sortie de</a:t>
            </a:r>
            <a:r>
              <a:rPr lang="en-US" sz="1400" b="1" dirty="0"/>
              <a:t>le détail de la contiguïté du spectacle</a:t>
            </a:r>
            <a:r>
              <a:rPr lang="en-US" sz="1400" dirty="0"/>
              <a:t>commande.</a:t>
            </a:r>
          </a:p>
          <a:p>
            <a:pPr algn="l" rtl="0"/>
            <a:endParaRPr lang="en-US" sz="1400" dirty="0"/>
          </a:p>
          <a:p>
            <a:pPr algn="l" rtl="0"/>
            <a:r>
              <a:rPr lang="en-US" sz="1400" dirty="0"/>
              <a:t>La sortie montre les informations CEF utilisées pour construire les en-têtes de trame nécessaires pour atteindre les adresses IP du prochain saut via les différentes interfaces du routeur.</a:t>
            </a:r>
          </a:p>
          <a:p>
            <a:pPr algn="l" rtl="0"/>
            <a:endParaRPr lang="en-US" sz="1400" dirty="0"/>
          </a:p>
          <a:p>
            <a:pPr algn="l" rtl="0"/>
            <a:r>
              <a:rPr lang="en-US" sz="1400" dirty="0"/>
              <a:t>Notez la valeur 64510800 pour Serial 1/0. Il s'agit d'une représentation hexadécimale des informations nécessaires au routeur pour transmettre avec succès le paquet à l'adresse IP du tronçon suivant 172.16.33.5, y compris le DLCI 405. Notez la valeur CA1B01C4001CCA1C164000540800 pour Fast Ethernet 3/0. Il s'agit de l'adresse MAC de destination, de l'adresse MAC source et du code EtherType pour une trame Ethernet. Les 12 premières valeurs hexadécimales sont l'adresse MAC de destination, les 12 suivantes sont l'adresse MAC source et 0800 est le code EtherType IPv4.</a:t>
            </a:r>
          </a:p>
        </p:txBody>
      </p:sp>
      <p:pic>
        <p:nvPicPr>
          <p:cNvPr id="8" name="Picture 7">
            <a:extLst>
              <a:ext uri="{FF2B5EF4-FFF2-40B4-BE49-F238E27FC236}">
                <a16:creationId xmlns:a16="http://schemas.microsoft.com/office/drawing/2014/main" id="{EF1C08B5-F5FB-4062-BAF2-DF3764361EA4}"/>
              </a:ext>
            </a:extLst>
          </p:cNvPr>
          <p:cNvPicPr>
            <a:picLocks noChangeAspect="1"/>
          </p:cNvPicPr>
          <p:nvPr/>
        </p:nvPicPr>
        <p:blipFill>
          <a:blip r:embed="rId3"/>
          <a:srcRect/>
          <a:stretch/>
        </p:blipFill>
        <p:spPr>
          <a:xfrm>
            <a:off x="4794298" y="731837"/>
            <a:ext cx="4175255" cy="4188103"/>
          </a:xfrm>
          <a:prstGeom prst="rect">
            <a:avLst/>
          </a:prstGeom>
        </p:spPr>
      </p:pic>
    </p:spTree>
    <p:extLst>
      <p:ext uri="{BB962C8B-B14F-4D97-AF65-F5344CB8AC3E}">
        <p14:creationId xmlns:p14="http://schemas.microsoft.com/office/powerpoint/2010/main" val="3291546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B89FE0-AFBF-4F30-AE65-3B18BCBE3A9A}"/>
              </a:ext>
            </a:extLst>
          </p:cNvPr>
          <p:cNvSpPr>
            <a:spLocks noGrp="1"/>
          </p:cNvSpPr>
          <p:nvPr>
            <p:ph type="ctrTitle"/>
          </p:nvPr>
        </p:nvSpPr>
        <p:spPr>
          <a:xfrm>
            <a:off x="337844" y="252411"/>
            <a:ext cx="8541996" cy="1351755"/>
          </a:xfrm>
        </p:spPr>
        <p:txBody>
          <a:bodyPr/>
          <a:lstStyle/>
          <a:p>
            <a:pPr algn="l" rtl="0"/>
            <a:r>
              <a:rPr lang="en-US" sz="3600" dirty="0">
                <a:solidFill>
                  <a:schemeClr val="accent5">
                    <a:lumMod val="40000"/>
                    <a:lumOff val="60000"/>
                  </a:schemeClr>
                </a:solidFill>
              </a:rPr>
              <a:t>Sources d'informations sur le routage</a:t>
            </a:r>
          </a:p>
        </p:txBody>
      </p:sp>
      <p:sp>
        <p:nvSpPr>
          <p:cNvPr id="4" name="TextBox 3">
            <a:extLst>
              <a:ext uri="{FF2B5EF4-FFF2-40B4-BE49-F238E27FC236}">
                <a16:creationId xmlns:a16="http://schemas.microsoft.com/office/drawing/2014/main" id="{E2BFA70F-DC0C-41D5-868E-C8FBC661D58F}"/>
              </a:ext>
            </a:extLst>
          </p:cNvPr>
          <p:cNvSpPr txBox="1"/>
          <p:nvPr/>
        </p:nvSpPr>
        <p:spPr>
          <a:xfrm>
            <a:off x="433084" y="1715712"/>
            <a:ext cx="8277832" cy="830997"/>
          </a:xfrm>
          <a:prstGeom prst="rect">
            <a:avLst/>
          </a:prstGeom>
          <a:noFill/>
        </p:spPr>
        <p:txBody>
          <a:bodyPr wrap="square" rtlCol="0">
            <a:spAutoFit/>
          </a:bodyPr>
          <a:lstStyle/>
          <a:p>
            <a:pPr marL="285750" indent="-285750" algn="l" rtl="0">
              <a:buFont typeface="Arial" panose="020B0604020202020204" pitchFamily="34" charset="0"/>
              <a:buChar char="•"/>
            </a:pPr>
            <a:r>
              <a:rPr lang="en-US" sz="1600" dirty="0">
                <a:solidFill>
                  <a:schemeClr val="accent4">
                    <a:lumMod val="40000"/>
                    <a:lumOff val="60000"/>
                  </a:schemeClr>
                </a:solidFill>
              </a:rPr>
              <a:t>Cette section explique quelles sources d'informations de routage sont les plus crédibles et comment la table de routage interagit avec diverses structures de données pour se renseigner avec les meilleures informations.</a:t>
            </a:r>
          </a:p>
        </p:txBody>
      </p:sp>
    </p:spTree>
    <p:custDataLst>
      <p:tags r:id="rId1"/>
    </p:custDataLst>
    <p:extLst>
      <p:ext uri="{BB962C8B-B14F-4D97-AF65-F5344CB8AC3E}">
        <p14:creationId xmlns:p14="http://schemas.microsoft.com/office/powerpoint/2010/main" val="3673007640"/>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8422641" cy="731837"/>
          </a:xfrm>
        </p:spPr>
        <p:txBody>
          <a:bodyPr/>
          <a:lstStyle/>
          <a:p>
            <a:pPr algn="l" rtl="0"/>
            <a:r>
              <a:rPr lang="en-US" sz="1600" dirty="0">
                <a:solidFill>
                  <a:schemeClr val="accent4">
                    <a:lumMod val="75000"/>
                  </a:schemeClr>
                </a:solidFill>
              </a:rPr>
              <a:t>Sources d'informations sur le routage</a:t>
            </a:r>
            <a:br>
              <a:rPr lang="en-US" dirty="0">
                <a:solidFill>
                  <a:schemeClr val="accent4">
                    <a:lumMod val="75000"/>
                  </a:schemeClr>
                </a:solidFill>
              </a:rPr>
            </a:br>
            <a:r>
              <a:rPr lang="en-US" sz="2400" dirty="0">
                <a:solidFill>
                  <a:schemeClr val="accent4">
                    <a:lumMod val="75000"/>
                  </a:schemeClr>
                </a:solidFill>
              </a:rPr>
              <a:t>Structures de données et table de routage</a:t>
            </a:r>
          </a:p>
        </p:txBody>
      </p:sp>
      <p:sp>
        <p:nvSpPr>
          <p:cNvPr id="2" name="Rectangle 1">
            <a:extLst>
              <a:ext uri="{FF2B5EF4-FFF2-40B4-BE49-F238E27FC236}">
                <a16:creationId xmlns:a16="http://schemas.microsoft.com/office/drawing/2014/main" id="{09FF4F5D-70B8-4224-91F2-4D3C5F190FF9}"/>
              </a:ext>
            </a:extLst>
          </p:cNvPr>
          <p:cNvSpPr/>
          <p:nvPr/>
        </p:nvSpPr>
        <p:spPr>
          <a:xfrm>
            <a:off x="121440" y="731837"/>
            <a:ext cx="9022559" cy="2246769"/>
          </a:xfrm>
          <a:prstGeom prst="rect">
            <a:avLst/>
          </a:prstGeom>
        </p:spPr>
        <p:txBody>
          <a:bodyPr wrap="square">
            <a:spAutoFit/>
          </a:bodyPr>
          <a:lstStyle/>
          <a:p>
            <a:pPr algn="l" rtl="0"/>
            <a:r>
              <a:rPr lang="en-US" sz="1400" dirty="0"/>
              <a:t>Lorsqu'un routeur reçoit des informations de routage d'un routeur voisin, les informations sont stockées dans les structures de données du protocole de routage IP et analysées par le protocole de routage pour déterminer le meilleur chemin, sur la base de métriques.</a:t>
            </a:r>
          </a:p>
          <a:p>
            <a:pPr algn="l" rtl="0"/>
            <a:endParaRPr lang="en-US" sz="1400" dirty="0"/>
          </a:p>
          <a:p>
            <a:pPr algn="l" rtl="0"/>
            <a:r>
              <a:rPr lang="en-US" sz="1400" dirty="0"/>
              <a:t>La structure de données d'un protocole de routage IP peut également être renseignée par le routeur local. Par exemple, un routeur peut être configuré pour la redistribution des routes, où les informations de routage sont redistribuées de la table de routage vers la structure de données du protocole de routage IP. Des interfaces spécifiques peuvent également participer au processus du protocole de routage IP et le réseau auquel appartient l'interface est également placé dans la structure de données du protocole de routage.</a:t>
            </a:r>
          </a:p>
          <a:p>
            <a:pPr algn="l" rtl="0"/>
            <a:endParaRPr lang="en-US" sz="1400" dirty="0"/>
          </a:p>
          <a:p>
            <a:pPr algn="l" rtl="0"/>
            <a:r>
              <a:rPr lang="en-US" sz="1400" dirty="0"/>
              <a:t>Examinez la figure 1-15, la structure des données du protocole de routage peut remplir la table de routage, une route directement connectée et des routes statiques peuvent remplir la table de routage. Ceux-ci sont tous connus comme sources d’informations de routage.</a:t>
            </a:r>
          </a:p>
        </p:txBody>
      </p:sp>
      <p:pic>
        <p:nvPicPr>
          <p:cNvPr id="8" name="Picture 7">
            <a:extLst>
              <a:ext uri="{FF2B5EF4-FFF2-40B4-BE49-F238E27FC236}">
                <a16:creationId xmlns:a16="http://schemas.microsoft.com/office/drawing/2014/main" id="{EF1C08B5-F5FB-4062-BAF2-DF3764361EA4}"/>
              </a:ext>
            </a:extLst>
          </p:cNvPr>
          <p:cNvPicPr>
            <a:picLocks noChangeAspect="1"/>
          </p:cNvPicPr>
          <p:nvPr/>
        </p:nvPicPr>
        <p:blipFill>
          <a:blip r:embed="rId3"/>
          <a:srcRect/>
          <a:stretch/>
        </p:blipFill>
        <p:spPr>
          <a:xfrm>
            <a:off x="2626121" y="3136490"/>
            <a:ext cx="3891758" cy="1887793"/>
          </a:xfrm>
          <a:prstGeom prst="rect">
            <a:avLst/>
          </a:prstGeom>
        </p:spPr>
      </p:pic>
    </p:spTree>
    <p:extLst>
      <p:ext uri="{BB962C8B-B14F-4D97-AF65-F5344CB8AC3E}">
        <p14:creationId xmlns:p14="http://schemas.microsoft.com/office/powerpoint/2010/main" val="1420430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8422641" cy="731837"/>
          </a:xfrm>
        </p:spPr>
        <p:txBody>
          <a:bodyPr/>
          <a:lstStyle/>
          <a:p>
            <a:pPr algn="l" rtl="0"/>
            <a:r>
              <a:rPr lang="en-US" sz="1600" dirty="0">
                <a:solidFill>
                  <a:schemeClr val="accent4">
                    <a:lumMod val="75000"/>
                  </a:schemeClr>
                </a:solidFill>
              </a:rPr>
              <a:t>Sources d'informations sur le routage</a:t>
            </a:r>
            <a:br>
              <a:rPr lang="en-US" dirty="0">
                <a:solidFill>
                  <a:schemeClr val="accent4">
                    <a:lumMod val="75000"/>
                  </a:schemeClr>
                </a:solidFill>
              </a:rPr>
            </a:br>
            <a:r>
              <a:rPr lang="en-US" sz="2400" dirty="0">
                <a:solidFill>
                  <a:schemeClr val="accent4">
                    <a:lumMod val="75000"/>
                  </a:schemeClr>
                </a:solidFill>
              </a:rPr>
              <a:t>Sources d'informations d'acheminement</a:t>
            </a:r>
          </a:p>
        </p:txBody>
      </p:sp>
      <p:sp>
        <p:nvSpPr>
          <p:cNvPr id="2" name="Rectangle 1">
            <a:extLst>
              <a:ext uri="{FF2B5EF4-FFF2-40B4-BE49-F238E27FC236}">
                <a16:creationId xmlns:a16="http://schemas.microsoft.com/office/drawing/2014/main" id="{09FF4F5D-70B8-4224-91F2-4D3C5F190FF9}"/>
              </a:ext>
            </a:extLst>
          </p:cNvPr>
          <p:cNvSpPr/>
          <p:nvPr/>
        </p:nvSpPr>
        <p:spPr>
          <a:xfrm>
            <a:off x="121440" y="731837"/>
            <a:ext cx="9022559" cy="2246769"/>
          </a:xfrm>
          <a:prstGeom prst="rect">
            <a:avLst/>
          </a:prstGeom>
        </p:spPr>
        <p:txBody>
          <a:bodyPr wrap="square">
            <a:spAutoFit/>
          </a:bodyPr>
          <a:lstStyle/>
          <a:p>
            <a:pPr algn="l" rtl="0"/>
            <a:r>
              <a:rPr lang="en-US" sz="1400" dirty="0"/>
              <a:t>Les sources d'informations de routage se voient chacune attribuer une distance administrative (AD). La distance administrative est la crédibilité ou la fiabilité d'une source d'acheminement lorsqu'on la compare aux autres sources d'informations d'acheminement.</a:t>
            </a:r>
          </a:p>
          <a:p>
            <a:pPr algn="l" rtl="0"/>
            <a:endParaRPr lang="en-US" sz="1400" dirty="0"/>
          </a:p>
          <a:p>
            <a:pPr algn="l" rtl="0"/>
            <a:r>
              <a:rPr lang="en-US" sz="1400" dirty="0"/>
              <a:t>Le Tableau 1-4 répertorie les AD par défaut des sources d'informations de routage. Plus la AD est faible, plus la source est privilégiée.</a:t>
            </a:r>
          </a:p>
          <a:p>
            <a:pPr algn="l" rtl="0"/>
            <a:endParaRPr lang="en-US" sz="1400" dirty="0"/>
          </a:p>
          <a:p>
            <a:pPr algn="l" rtl="0"/>
            <a:r>
              <a:rPr lang="en-US" sz="1400" dirty="0"/>
              <a:t>Les routes sont injectées dans la table de routage uniquement si le routeur conclut qu'elles proviennent de la meilleure source de routage. Si jamais vous devez vous assurer que les informations de routage ou un sous-ensemble d'informations de routage reçues d'une source particulière ne sont jamais utilisées, remplacez l'AD de routes spécifiques ou de toutes les routes de cette source par 255, ce qui signifie « ne croyez pas ». Une autre option consiste à créer une route statique flottante qui est une route de secours configurée pour avoir un AD plus élevé et donc être moins préférée que la route préférée.</a:t>
            </a:r>
          </a:p>
        </p:txBody>
      </p:sp>
      <p:pic>
        <p:nvPicPr>
          <p:cNvPr id="8" name="Picture 7">
            <a:extLst>
              <a:ext uri="{FF2B5EF4-FFF2-40B4-BE49-F238E27FC236}">
                <a16:creationId xmlns:a16="http://schemas.microsoft.com/office/drawing/2014/main" id="{EF1C08B5-F5FB-4062-BAF2-DF3764361EA4}"/>
              </a:ext>
            </a:extLst>
          </p:cNvPr>
          <p:cNvPicPr>
            <a:picLocks noChangeAspect="1"/>
          </p:cNvPicPr>
          <p:nvPr/>
        </p:nvPicPr>
        <p:blipFill>
          <a:blip r:embed="rId3"/>
          <a:srcRect/>
          <a:stretch/>
        </p:blipFill>
        <p:spPr>
          <a:xfrm>
            <a:off x="2753941" y="3057832"/>
            <a:ext cx="3749748" cy="1946787"/>
          </a:xfrm>
          <a:prstGeom prst="rect">
            <a:avLst/>
          </a:prstGeom>
        </p:spPr>
      </p:pic>
    </p:spTree>
    <p:extLst>
      <p:ext uri="{BB962C8B-B14F-4D97-AF65-F5344CB8AC3E}">
        <p14:creationId xmlns:p14="http://schemas.microsoft.com/office/powerpoint/2010/main" val="946865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B89FE0-AFBF-4F30-AE65-3B18BCBE3A9A}"/>
              </a:ext>
            </a:extLst>
          </p:cNvPr>
          <p:cNvSpPr>
            <a:spLocks noGrp="1"/>
          </p:cNvSpPr>
          <p:nvPr>
            <p:ph type="ctrTitle"/>
          </p:nvPr>
        </p:nvSpPr>
        <p:spPr>
          <a:xfrm>
            <a:off x="337844" y="252411"/>
            <a:ext cx="8541996" cy="1351755"/>
          </a:xfrm>
        </p:spPr>
        <p:txBody>
          <a:bodyPr/>
          <a:lstStyle/>
          <a:p>
            <a:pPr algn="l" rtl="0"/>
            <a:r>
              <a:rPr lang="en-US" sz="3600" dirty="0">
                <a:solidFill>
                  <a:schemeClr val="accent5">
                    <a:lumMod val="40000"/>
                    <a:lumOff val="60000"/>
                  </a:schemeClr>
                </a:solidFill>
              </a:rPr>
              <a:t>Itinéraires statiques</a:t>
            </a:r>
          </a:p>
        </p:txBody>
      </p:sp>
      <p:sp>
        <p:nvSpPr>
          <p:cNvPr id="4" name="TextBox 3">
            <a:extLst>
              <a:ext uri="{FF2B5EF4-FFF2-40B4-BE49-F238E27FC236}">
                <a16:creationId xmlns:a16="http://schemas.microsoft.com/office/drawing/2014/main" id="{E2BFA70F-DC0C-41D5-868E-C8FBC661D58F}"/>
              </a:ext>
            </a:extLst>
          </p:cNvPr>
          <p:cNvSpPr txBox="1"/>
          <p:nvPr/>
        </p:nvSpPr>
        <p:spPr>
          <a:xfrm>
            <a:off x="433084" y="1715712"/>
            <a:ext cx="8277832" cy="584775"/>
          </a:xfrm>
          <a:prstGeom prst="rect">
            <a:avLst/>
          </a:prstGeom>
          <a:noFill/>
        </p:spPr>
        <p:txBody>
          <a:bodyPr wrap="square" rtlCol="0">
            <a:spAutoFit/>
          </a:bodyPr>
          <a:lstStyle/>
          <a:p>
            <a:pPr marL="285750" indent="-285750" algn="l" rtl="0">
              <a:buFont typeface="Arial" panose="020B0604020202020204" pitchFamily="34" charset="0"/>
              <a:buChar char="•"/>
            </a:pPr>
            <a:r>
              <a:rPr lang="en-US" sz="1600" dirty="0">
                <a:solidFill>
                  <a:schemeClr val="accent4">
                    <a:lumMod val="40000"/>
                    <a:lumOff val="60000"/>
                  </a:schemeClr>
                </a:solidFill>
              </a:rPr>
              <a:t>Cette section traite de la syntaxe des routes statiques IPv4 et IPv6 et explique ce qu'il faut rechercher lors du dépannage.</a:t>
            </a:r>
          </a:p>
        </p:txBody>
      </p:sp>
    </p:spTree>
    <p:custDataLst>
      <p:tags r:id="rId1"/>
    </p:custDataLst>
    <p:extLst>
      <p:ext uri="{BB962C8B-B14F-4D97-AF65-F5344CB8AC3E}">
        <p14:creationId xmlns:p14="http://schemas.microsoft.com/office/powerpoint/2010/main" val="3775485616"/>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8422641" cy="731837"/>
          </a:xfrm>
        </p:spPr>
        <p:txBody>
          <a:bodyPr/>
          <a:lstStyle/>
          <a:p>
            <a:pPr algn="l" rtl="0"/>
            <a:r>
              <a:rPr lang="en-US" sz="1600" dirty="0">
                <a:solidFill>
                  <a:schemeClr val="accent4">
                    <a:lumMod val="75000"/>
                  </a:schemeClr>
                </a:solidFill>
              </a:rPr>
              <a:t>Itinéraires statiques</a:t>
            </a:r>
            <a:br>
              <a:rPr lang="en-US" dirty="0">
                <a:solidFill>
                  <a:schemeClr val="accent4">
                    <a:lumMod val="75000"/>
                  </a:schemeClr>
                </a:solidFill>
              </a:rPr>
            </a:br>
            <a:r>
              <a:rPr lang="en-US" sz="2400" dirty="0">
                <a:solidFill>
                  <a:schemeClr val="accent4">
                    <a:lumMod val="75000"/>
                  </a:schemeClr>
                </a:solidFill>
              </a:rPr>
              <a:t>Routes statiques IPv4 – Configuration de base</a:t>
            </a:r>
          </a:p>
        </p:txBody>
      </p:sp>
      <p:sp>
        <p:nvSpPr>
          <p:cNvPr id="2" name="Rectangle 1">
            <a:extLst>
              <a:ext uri="{FF2B5EF4-FFF2-40B4-BE49-F238E27FC236}">
                <a16:creationId xmlns:a16="http://schemas.microsoft.com/office/drawing/2014/main" id="{09FF4F5D-70B8-4224-91F2-4D3C5F190FF9}"/>
              </a:ext>
            </a:extLst>
          </p:cNvPr>
          <p:cNvSpPr/>
          <p:nvPr/>
        </p:nvSpPr>
        <p:spPr>
          <a:xfrm>
            <a:off x="121440" y="731837"/>
            <a:ext cx="9022559" cy="2677656"/>
          </a:xfrm>
          <a:prstGeom prst="rect">
            <a:avLst/>
          </a:prstGeom>
        </p:spPr>
        <p:txBody>
          <a:bodyPr wrap="square">
            <a:spAutoFit/>
          </a:bodyPr>
          <a:lstStyle/>
          <a:p>
            <a:pPr algn="l" rtl="0"/>
            <a:r>
              <a:rPr lang="en-US" sz="1400" dirty="0"/>
              <a:t>Les routes statiques sont configurées manuellement par les administrateurs. Ils constituent la deuxième source d'informations de routage la plus fiable, avec un AD de 1. Ils permettent à un administrateur de contrôler précisément la manière d'acheminer les paquets vers une destination particulière. Ce qui suit est une configuration d’une route statique sur R1. La route statique indique à R1 comment atteindre le réseau 10.1.3.0/24 :</a:t>
            </a:r>
          </a:p>
          <a:p>
            <a:pPr algn="l" rtl="0"/>
            <a:endParaRPr lang="en-US" sz="1400" dirty="0"/>
          </a:p>
          <a:p>
            <a:pPr algn="l" rtl="0"/>
            <a:r>
              <a:rPr lang="en-US" sz="1400" dirty="0">
                <a:latin typeface="Courier New" panose="02070309020205020404" pitchFamily="49" charset="0"/>
                <a:cs typeface="Courier New" panose="02070309020205020404" pitchFamily="49" charset="0"/>
              </a:rPr>
              <a:t>R1(config)#</a:t>
            </a:r>
            <a:r>
              <a:rPr lang="en-US" sz="1400" b="1" dirty="0">
                <a:latin typeface="Courier New" panose="02070309020205020404" pitchFamily="49" charset="0"/>
                <a:cs typeface="Courier New" panose="02070309020205020404" pitchFamily="49" charset="0"/>
              </a:rPr>
              <a:t>route IP 10.1.3.0 255.255.255.0 10.1.12.2 8</a:t>
            </a:r>
          </a:p>
          <a:p>
            <a:pPr algn="l" rtl="0"/>
            <a:endParaRPr lang="en-US" sz="1400" dirty="0"/>
          </a:p>
          <a:p>
            <a:pPr algn="l" rtl="0"/>
            <a:r>
              <a:rPr lang="en-US" sz="1400" dirty="0"/>
              <a:t>Le réseau est accessible via l'adresse du tronçon suivant 10.1.12.2, qui est R2, et se voit attribuer un AD de 8. (La valeur par défaut est 1.)</a:t>
            </a:r>
          </a:p>
          <a:p>
            <a:pPr algn="l" rtl="0"/>
            <a:endParaRPr lang="en-US" sz="1400" dirty="0"/>
          </a:p>
          <a:p>
            <a:pPr algn="l" rtl="0"/>
            <a:r>
              <a:rPr lang="en-US" sz="1400" dirty="0"/>
              <a:t>Lors du dépannage des routes statiques IPv4, vous devez être en mesure de reconnaître pourquoi la route statique peut ne pas fournir les résultats souhaités.</a:t>
            </a:r>
          </a:p>
        </p:txBody>
      </p:sp>
      <p:pic>
        <p:nvPicPr>
          <p:cNvPr id="8" name="Picture 7">
            <a:extLst>
              <a:ext uri="{FF2B5EF4-FFF2-40B4-BE49-F238E27FC236}">
                <a16:creationId xmlns:a16="http://schemas.microsoft.com/office/drawing/2014/main" id="{EF1C08B5-F5FB-4062-BAF2-DF3764361EA4}"/>
              </a:ext>
            </a:extLst>
          </p:cNvPr>
          <p:cNvPicPr>
            <a:picLocks noChangeAspect="1"/>
          </p:cNvPicPr>
          <p:nvPr/>
        </p:nvPicPr>
        <p:blipFill>
          <a:blip r:embed="rId3"/>
          <a:srcRect/>
          <a:stretch/>
        </p:blipFill>
        <p:spPr>
          <a:xfrm>
            <a:off x="2507133" y="3663399"/>
            <a:ext cx="4169061" cy="1193165"/>
          </a:xfrm>
          <a:prstGeom prst="rect">
            <a:avLst/>
          </a:prstGeom>
        </p:spPr>
      </p:pic>
    </p:spTree>
    <p:extLst>
      <p:ext uri="{BB962C8B-B14F-4D97-AF65-F5344CB8AC3E}">
        <p14:creationId xmlns:p14="http://schemas.microsoft.com/office/powerpoint/2010/main" val="1501593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8422641" cy="731837"/>
          </a:xfrm>
        </p:spPr>
        <p:txBody>
          <a:bodyPr/>
          <a:lstStyle/>
          <a:p>
            <a:pPr algn="l" rtl="0"/>
            <a:r>
              <a:rPr lang="en-US" sz="1600" dirty="0">
                <a:solidFill>
                  <a:schemeClr val="accent4">
                    <a:lumMod val="75000"/>
                  </a:schemeClr>
                </a:solidFill>
              </a:rPr>
              <a:t>Itinéraires statiques</a:t>
            </a:r>
            <a:br>
              <a:rPr lang="en-US" dirty="0">
                <a:solidFill>
                  <a:schemeClr val="accent4">
                    <a:lumMod val="75000"/>
                  </a:schemeClr>
                </a:solidFill>
              </a:rPr>
            </a:br>
            <a:r>
              <a:rPr lang="en-US" sz="2400" dirty="0">
                <a:solidFill>
                  <a:schemeClr val="accent4">
                    <a:lumMod val="75000"/>
                  </a:schemeClr>
                </a:solidFill>
              </a:rPr>
              <a:t>Routes statiques IPv4 – Erreurs courantes</a:t>
            </a:r>
          </a:p>
        </p:txBody>
      </p:sp>
      <p:sp>
        <p:nvSpPr>
          <p:cNvPr id="2" name="Rectangle 1">
            <a:extLst>
              <a:ext uri="{FF2B5EF4-FFF2-40B4-BE49-F238E27FC236}">
                <a16:creationId xmlns:a16="http://schemas.microsoft.com/office/drawing/2014/main" id="{09FF4F5D-70B8-4224-91F2-4D3C5F190FF9}"/>
              </a:ext>
            </a:extLst>
          </p:cNvPr>
          <p:cNvSpPr/>
          <p:nvPr/>
        </p:nvSpPr>
        <p:spPr>
          <a:xfrm>
            <a:off x="121440" y="731837"/>
            <a:ext cx="9022559" cy="2031325"/>
          </a:xfrm>
          <a:prstGeom prst="rect">
            <a:avLst/>
          </a:prstGeom>
        </p:spPr>
        <p:txBody>
          <a:bodyPr wrap="square">
            <a:spAutoFit/>
          </a:bodyPr>
          <a:lstStyle/>
          <a:p>
            <a:pPr algn="l" rtl="0"/>
            <a:r>
              <a:rPr lang="en-US" sz="1400" dirty="0"/>
              <a:t>Le réseau et le masque sont-ils précis ? Si l’un ou l’autre est incorrect, votre route statique n’acheminera pas les paquets que vous attendez d’elle. Le routeur peut abandonner des paquets car ils ne correspondent pas à la route statique ou à toute autre route. Il se peut que les paquets soient transférés en utilisant la route par défaut, qui peut pointer dans la mauvaise direction. De plus, si la route statique inclut des réseaux qu’elle ne devrait pas inclure, vous pourriez acheminer les paquets dans le mauvais sens.</a:t>
            </a:r>
          </a:p>
          <a:p>
            <a:pPr algn="l" rtl="0"/>
            <a:endParaRPr lang="en-US" sz="1400" dirty="0"/>
          </a:p>
          <a:p>
            <a:pPr algn="l" rtl="0"/>
            <a:r>
              <a:rPr lang="en-US" sz="1400" dirty="0"/>
              <a:t>Si vous deviez configurer la route statique</a:t>
            </a:r>
            <a:r>
              <a:rPr lang="en-US" sz="1400" b="1" dirty="0"/>
              <a:t>route IP 10.1.3.0 255.255.255.0 10.1.12.1</a:t>
            </a:r>
            <a:r>
              <a:rPr lang="en-US" sz="1400" dirty="0"/>
              <a:t>sur R2 dans la figure 1-16, les paquets destinés à 10.1.3.0 seraient envoyés à R1, ce qui est dans le mauvais sens. Cependant, notez dans l'exemple 1-35 que R1 pointe vers R2 (10.1.12.2) pour le réseau 10.1.3.0/24. Par conséquent, R1 et R2 renvoient simplement les paquets destinés à 10.1.3.0/24 jusqu'à l'expiration de la durée de vie.</a:t>
            </a:r>
          </a:p>
        </p:txBody>
      </p:sp>
      <p:pic>
        <p:nvPicPr>
          <p:cNvPr id="8" name="Picture 7">
            <a:extLst>
              <a:ext uri="{FF2B5EF4-FFF2-40B4-BE49-F238E27FC236}">
                <a16:creationId xmlns:a16="http://schemas.microsoft.com/office/drawing/2014/main" id="{EF1C08B5-F5FB-4062-BAF2-DF3764361EA4}"/>
              </a:ext>
            </a:extLst>
          </p:cNvPr>
          <p:cNvPicPr>
            <a:picLocks noChangeAspect="1"/>
          </p:cNvPicPr>
          <p:nvPr/>
        </p:nvPicPr>
        <p:blipFill>
          <a:blip r:embed="rId3"/>
          <a:srcRect/>
          <a:stretch/>
        </p:blipFill>
        <p:spPr>
          <a:xfrm>
            <a:off x="2507133" y="3663399"/>
            <a:ext cx="4169061" cy="1193165"/>
          </a:xfrm>
          <a:prstGeom prst="rect">
            <a:avLst/>
          </a:prstGeom>
        </p:spPr>
      </p:pic>
    </p:spTree>
    <p:extLst>
      <p:ext uri="{BB962C8B-B14F-4D97-AF65-F5344CB8AC3E}">
        <p14:creationId xmlns:p14="http://schemas.microsoft.com/office/powerpoint/2010/main" val="2200174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8422641" cy="731837"/>
          </a:xfrm>
        </p:spPr>
        <p:txBody>
          <a:bodyPr/>
          <a:lstStyle/>
          <a:p>
            <a:pPr algn="l" rtl="0"/>
            <a:r>
              <a:rPr lang="en-US" sz="1600" dirty="0">
                <a:solidFill>
                  <a:schemeClr val="accent4">
                    <a:lumMod val="75000"/>
                  </a:schemeClr>
                </a:solidFill>
              </a:rPr>
              <a:t>Itinéraires statiques</a:t>
            </a:r>
            <a:br>
              <a:rPr lang="en-US" dirty="0">
                <a:solidFill>
                  <a:schemeClr val="accent4">
                    <a:lumMod val="75000"/>
                  </a:schemeClr>
                </a:solidFill>
              </a:rPr>
            </a:br>
            <a:r>
              <a:rPr lang="en-US" sz="2400" dirty="0">
                <a:solidFill>
                  <a:schemeClr val="accent4">
                    <a:lumMod val="75000"/>
                  </a:schemeClr>
                </a:solidFill>
              </a:rPr>
              <a:t>Routes statiques IPv4 – Recherche récursive</a:t>
            </a:r>
          </a:p>
        </p:txBody>
      </p:sp>
      <p:sp>
        <p:nvSpPr>
          <p:cNvPr id="2" name="Rectangle 1">
            <a:extLst>
              <a:ext uri="{FF2B5EF4-FFF2-40B4-BE49-F238E27FC236}">
                <a16:creationId xmlns:a16="http://schemas.microsoft.com/office/drawing/2014/main" id="{09FF4F5D-70B8-4224-91F2-4D3C5F190FF9}"/>
              </a:ext>
            </a:extLst>
          </p:cNvPr>
          <p:cNvSpPr/>
          <p:nvPr/>
        </p:nvSpPr>
        <p:spPr>
          <a:xfrm>
            <a:off x="121441" y="731837"/>
            <a:ext cx="3457501" cy="3754874"/>
          </a:xfrm>
          <a:prstGeom prst="rect">
            <a:avLst/>
          </a:prstGeom>
        </p:spPr>
        <p:txBody>
          <a:bodyPr wrap="square">
            <a:spAutoFit/>
          </a:bodyPr>
          <a:lstStyle/>
          <a:p>
            <a:pPr algn="l" rtl="0"/>
            <a:r>
              <a:rPr lang="en-US" sz="1400" dirty="0"/>
              <a:t>Notez que l'adresse IP du tronçon suivant est un paramètre très important pour la route statique. Il indique au routeur local où envoyer le paquet.</a:t>
            </a:r>
          </a:p>
          <a:p>
            <a:pPr algn="l" rtl="0"/>
            <a:endParaRPr lang="en-US" sz="1400" dirty="0"/>
          </a:p>
          <a:p>
            <a:pPr algn="l" rtl="0"/>
            <a:r>
              <a:rPr lang="en-US" sz="1400" dirty="0"/>
              <a:t>Par exemple, dans l'exemple 1-35, le prochain saut est 10.1.12.2. Par conséquent, un paquet destiné à 10.1.3.0 doit ensuite être envoyé à 10.1.12.2. R1 effectue désormais une recherche récursive dans la table de routage pour 10.1.12.2 afin de déterminer comment l'atteindre, comme le montre l'exemple 1-36.</a:t>
            </a:r>
          </a:p>
          <a:p>
            <a:pPr algn="l" rtl="0"/>
            <a:endParaRPr lang="en-US" sz="1400" dirty="0"/>
          </a:p>
          <a:p>
            <a:pPr algn="l" rtl="0"/>
            <a:r>
              <a:rPr lang="en-US" sz="1400" dirty="0"/>
              <a:t>Cet exemple affiche la sortie du</a:t>
            </a:r>
            <a:r>
              <a:rPr lang="en-US" sz="1400" b="1" dirty="0"/>
              <a:t>afficher la route IP 10.1.12.2</a:t>
            </a:r>
            <a:r>
              <a:rPr lang="en-US" sz="1400" dirty="0"/>
              <a:t>commande sur R1. Notez que 10.1.12.2 est directement connecté à GigabitEthernet 1/0.</a:t>
            </a:r>
          </a:p>
        </p:txBody>
      </p:sp>
      <p:pic>
        <p:nvPicPr>
          <p:cNvPr id="8" name="Picture 7">
            <a:extLst>
              <a:ext uri="{FF2B5EF4-FFF2-40B4-BE49-F238E27FC236}">
                <a16:creationId xmlns:a16="http://schemas.microsoft.com/office/drawing/2014/main" id="{EF1C08B5-F5FB-4062-BAF2-DF3764361EA4}"/>
              </a:ext>
            </a:extLst>
          </p:cNvPr>
          <p:cNvPicPr>
            <a:picLocks noChangeAspect="1"/>
          </p:cNvPicPr>
          <p:nvPr/>
        </p:nvPicPr>
        <p:blipFill>
          <a:blip r:embed="rId3"/>
          <a:srcRect/>
          <a:stretch/>
        </p:blipFill>
        <p:spPr>
          <a:xfrm>
            <a:off x="3838385" y="2331948"/>
            <a:ext cx="5285950" cy="1397517"/>
          </a:xfrm>
          <a:prstGeom prst="rect">
            <a:avLst/>
          </a:prstGeom>
        </p:spPr>
      </p:pic>
      <p:pic>
        <p:nvPicPr>
          <p:cNvPr id="5" name="Picture 4" descr="A screenshot of a social media post  Description automatically generated">
            <a:extLst>
              <a:ext uri="{FF2B5EF4-FFF2-40B4-BE49-F238E27FC236}">
                <a16:creationId xmlns:a16="http://schemas.microsoft.com/office/drawing/2014/main" id="{3F7C2892-C776-43BD-8138-07C6EA4717D4}"/>
              </a:ext>
            </a:extLst>
          </p:cNvPr>
          <p:cNvPicPr>
            <a:picLocks noChangeAspect="1"/>
          </p:cNvPicPr>
          <p:nvPr/>
        </p:nvPicPr>
        <p:blipFill>
          <a:blip r:embed="rId4"/>
          <a:stretch>
            <a:fillRect/>
          </a:stretch>
        </p:blipFill>
        <p:spPr>
          <a:xfrm>
            <a:off x="3828553" y="777517"/>
            <a:ext cx="5285950" cy="1372314"/>
          </a:xfrm>
          <a:prstGeom prst="rect">
            <a:avLst/>
          </a:prstGeom>
        </p:spPr>
      </p:pic>
    </p:spTree>
    <p:extLst>
      <p:ext uri="{BB962C8B-B14F-4D97-AF65-F5344CB8AC3E}">
        <p14:creationId xmlns:p14="http://schemas.microsoft.com/office/powerpoint/2010/main" val="4167786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8422641" cy="731837"/>
          </a:xfrm>
        </p:spPr>
        <p:txBody>
          <a:bodyPr/>
          <a:lstStyle/>
          <a:p>
            <a:pPr algn="l" rtl="0"/>
            <a:r>
              <a:rPr lang="en-US" sz="1600" dirty="0">
                <a:solidFill>
                  <a:schemeClr val="accent4">
                    <a:lumMod val="75000"/>
                  </a:schemeClr>
                </a:solidFill>
              </a:rPr>
              <a:t>Itinéraires statiques</a:t>
            </a:r>
            <a:br>
              <a:rPr lang="en-US" dirty="0">
                <a:solidFill>
                  <a:schemeClr val="accent4">
                    <a:lumMod val="75000"/>
                  </a:schemeClr>
                </a:solidFill>
              </a:rPr>
            </a:br>
            <a:r>
              <a:rPr lang="en-US" sz="2400" dirty="0">
                <a:solidFill>
                  <a:schemeClr val="accent4">
                    <a:lumMod val="75000"/>
                  </a:schemeClr>
                </a:solidFill>
              </a:rPr>
              <a:t>Routes statiques IPv4 – Interface de sortie</a:t>
            </a:r>
          </a:p>
        </p:txBody>
      </p:sp>
      <p:sp>
        <p:nvSpPr>
          <p:cNvPr id="2" name="Rectangle 1">
            <a:extLst>
              <a:ext uri="{FF2B5EF4-FFF2-40B4-BE49-F238E27FC236}">
                <a16:creationId xmlns:a16="http://schemas.microsoft.com/office/drawing/2014/main" id="{09FF4F5D-70B8-4224-91F2-4D3C5F190FF9}"/>
              </a:ext>
            </a:extLst>
          </p:cNvPr>
          <p:cNvSpPr/>
          <p:nvPr/>
        </p:nvSpPr>
        <p:spPr>
          <a:xfrm>
            <a:off x="121441" y="731837"/>
            <a:ext cx="8894740" cy="2677656"/>
          </a:xfrm>
          <a:prstGeom prst="rect">
            <a:avLst/>
          </a:prstGeom>
        </p:spPr>
        <p:txBody>
          <a:bodyPr wrap="square">
            <a:spAutoFit/>
          </a:bodyPr>
          <a:lstStyle/>
          <a:p>
            <a:pPr algn="l" rtl="0"/>
            <a:r>
              <a:rPr lang="en-US" sz="1400" dirty="0"/>
              <a:t>Imaginez que les utilisateurs du réseau 10.1.1.0/24 tentent d'accéder aux ressources sur les hôtes 10.1.3.1 à 10.1.3.8. R1 reçoit les paquets, examine la table de routage et constate que la correspondance la plus longue est l'entrée suivante :</a:t>
            </a:r>
          </a:p>
          <a:p>
            <a:pPr algn="l" rtl="0"/>
            <a:endParaRPr lang="en-US" sz="1400" dirty="0"/>
          </a:p>
          <a:p>
            <a:pPr algn="l" rtl="0"/>
            <a:r>
              <a:rPr lang="en-US" sz="1400" dirty="0">
                <a:latin typeface="Courier New" panose="02070309020205020404" pitchFamily="49" charset="0"/>
                <a:cs typeface="Courier New" panose="02070309020205020404" pitchFamily="49" charset="0"/>
              </a:rPr>
              <a:t>S 10.1.3.0/24 est directement connecté, GigabitEthernet1/0</a:t>
            </a:r>
          </a:p>
          <a:p>
            <a:pPr algn="l" rtl="0"/>
            <a:endParaRPr lang="en-US" sz="1400" dirty="0"/>
          </a:p>
          <a:p>
            <a:pPr algn="l" rtl="0"/>
            <a:r>
              <a:rPr lang="en-US" sz="1400" dirty="0"/>
              <a:t>R1 pense que le réseau est directement connecté ; par conséquent, l'adresse IP de destination dans le paquet se trouve sur le réseau connecté à Gig1/0. Cependant, vous le savez mieux car la figure 1-17 montre que ce n'est pas le cas. Ainsi, comme il s'agit d'une interface Ethernet, R1 utilise ARP pour déterminer l'adresse MAC de l'adresse IP dans le champ de destination du paquet. (Ceci est différent de ce qui s'est produit lorsque l'adresse IP du tronçon suivant a été spécifiée. Lorsque le tronçon suivant a été spécifié, l'adresse MAC de l'adresse du tronçon suivant a été utilisée.)</a:t>
            </a:r>
          </a:p>
          <a:p>
            <a:pPr algn="l" rtl="0"/>
            <a:endParaRPr lang="en-US" sz="1400" dirty="0"/>
          </a:p>
        </p:txBody>
      </p:sp>
    </p:spTree>
    <p:extLst>
      <p:ext uri="{BB962C8B-B14F-4D97-AF65-F5344CB8AC3E}">
        <p14:creationId xmlns:p14="http://schemas.microsoft.com/office/powerpoint/2010/main" val="4058958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8422641" cy="731837"/>
          </a:xfrm>
        </p:spPr>
        <p:txBody>
          <a:bodyPr/>
          <a:lstStyle/>
          <a:p>
            <a:pPr algn="l" rtl="0"/>
            <a:r>
              <a:rPr lang="en-US" sz="1600" dirty="0">
                <a:solidFill>
                  <a:schemeClr val="accent4">
                    <a:lumMod val="75000"/>
                  </a:schemeClr>
                </a:solidFill>
              </a:rPr>
              <a:t>Itinéraires statiques</a:t>
            </a:r>
            <a:br>
              <a:rPr lang="en-US" dirty="0">
                <a:solidFill>
                  <a:schemeClr val="accent4">
                    <a:lumMod val="75000"/>
                  </a:schemeClr>
                </a:solidFill>
              </a:rPr>
            </a:br>
            <a:r>
              <a:rPr lang="en-US" sz="2400" dirty="0">
                <a:solidFill>
                  <a:schemeClr val="accent4">
                    <a:lumMod val="75000"/>
                  </a:schemeClr>
                </a:solidFill>
              </a:rPr>
              <a:t>Routes statiques IPv4 – Proxy ARP</a:t>
            </a:r>
          </a:p>
        </p:txBody>
      </p:sp>
      <p:sp>
        <p:nvSpPr>
          <p:cNvPr id="2" name="Rectangle 1">
            <a:extLst>
              <a:ext uri="{FF2B5EF4-FFF2-40B4-BE49-F238E27FC236}">
                <a16:creationId xmlns:a16="http://schemas.microsoft.com/office/drawing/2014/main" id="{09FF4F5D-70B8-4224-91F2-4D3C5F190FF9}"/>
              </a:ext>
            </a:extLst>
          </p:cNvPr>
          <p:cNvSpPr/>
          <p:nvPr/>
        </p:nvSpPr>
        <p:spPr>
          <a:xfrm>
            <a:off x="121441" y="731837"/>
            <a:ext cx="8894740" cy="1815882"/>
          </a:xfrm>
          <a:prstGeom prst="rect">
            <a:avLst/>
          </a:prstGeom>
        </p:spPr>
        <p:txBody>
          <a:bodyPr wrap="square">
            <a:spAutoFit/>
          </a:bodyPr>
          <a:lstStyle/>
          <a:p>
            <a:pPr algn="l" rtl="0"/>
            <a:r>
              <a:rPr lang="en-US" sz="1400" dirty="0"/>
              <a:t>L'exemple 1-39 montre le cache ARP sur R1. Notez que chaque adresse IP de destination possède une entrée dans le cache ARP. Comment cela peut-il se produire si les requêtes ARP ne sont pas transmises par les routeurs ?</a:t>
            </a:r>
          </a:p>
          <a:p>
            <a:pPr algn="l" rtl="0"/>
            <a:endParaRPr lang="en-US" sz="1400" dirty="0"/>
          </a:p>
          <a:p>
            <a:pPr algn="l" rtl="0"/>
            <a:r>
              <a:rPr lang="en-US" sz="1400" dirty="0"/>
              <a:t>C'est à cause du proxy ARP, qui est activé par défaut sur les routeurs. Le proxy ARP permet à un routeur de répondre aux requêtes ARP avec sa propre adresse MAC s'il dispose d'une route dans la table de routage vers l'adresse IP dans la requête ARP. Notez que les adresses MAC répertoriées sont toutes identiques. De plus, ils correspondent à l'adresse MAC de l'entrée 10.1.12.2. Par conséquent, comme R2 dispose d’un itinéraire pour atteindre l’adresse IP de la requête ARP, il répond avec son adresse MAC.</a:t>
            </a:r>
          </a:p>
        </p:txBody>
      </p:sp>
      <p:pic>
        <p:nvPicPr>
          <p:cNvPr id="5" name="Picture 4" descr="A screenshot of a social media post  Description automatically generated">
            <a:extLst>
              <a:ext uri="{FF2B5EF4-FFF2-40B4-BE49-F238E27FC236}">
                <a16:creationId xmlns:a16="http://schemas.microsoft.com/office/drawing/2014/main" id="{7A8CB0BC-3DC8-4974-A963-6B9DD0B7A35B}"/>
              </a:ext>
            </a:extLst>
          </p:cNvPr>
          <p:cNvPicPr>
            <a:picLocks noChangeAspect="1"/>
          </p:cNvPicPr>
          <p:nvPr/>
        </p:nvPicPr>
        <p:blipFill>
          <a:blip r:embed="rId3"/>
          <a:stretch>
            <a:fillRect/>
          </a:stretch>
        </p:blipFill>
        <p:spPr>
          <a:xfrm>
            <a:off x="2109019" y="2657984"/>
            <a:ext cx="4925961" cy="2387196"/>
          </a:xfrm>
          <a:prstGeom prst="rect">
            <a:avLst/>
          </a:prstGeom>
        </p:spPr>
      </p:pic>
    </p:spTree>
    <p:extLst>
      <p:ext uri="{BB962C8B-B14F-4D97-AF65-F5344CB8AC3E}">
        <p14:creationId xmlns:p14="http://schemas.microsoft.com/office/powerpoint/2010/main" val="3716216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8422641" cy="731837"/>
          </a:xfrm>
        </p:spPr>
        <p:txBody>
          <a:bodyPr/>
          <a:lstStyle/>
          <a:p>
            <a:pPr algn="l" rtl="0"/>
            <a:r>
              <a:rPr lang="en-US" sz="1600" dirty="0">
                <a:solidFill>
                  <a:schemeClr val="accent4">
                    <a:lumMod val="75000"/>
                  </a:schemeClr>
                </a:solidFill>
              </a:rPr>
              <a:t>Itinéraires statiques</a:t>
            </a:r>
            <a:br>
              <a:rPr lang="en-US" dirty="0">
                <a:solidFill>
                  <a:schemeClr val="accent4">
                    <a:lumMod val="75000"/>
                  </a:schemeClr>
                </a:solidFill>
              </a:rPr>
            </a:br>
            <a:r>
              <a:rPr lang="en-US" sz="2400" dirty="0">
                <a:solidFill>
                  <a:schemeClr val="accent4">
                    <a:lumMod val="75000"/>
                  </a:schemeClr>
                </a:solidFill>
              </a:rPr>
              <a:t>Routes statiques IPv4 – Proxy ARP</a:t>
            </a:r>
          </a:p>
        </p:txBody>
      </p:sp>
      <p:sp>
        <p:nvSpPr>
          <p:cNvPr id="2" name="Rectangle 1">
            <a:extLst>
              <a:ext uri="{FF2B5EF4-FFF2-40B4-BE49-F238E27FC236}">
                <a16:creationId xmlns:a16="http://schemas.microsoft.com/office/drawing/2014/main" id="{09FF4F5D-70B8-4224-91F2-4D3C5F190FF9}"/>
              </a:ext>
            </a:extLst>
          </p:cNvPr>
          <p:cNvSpPr/>
          <p:nvPr/>
        </p:nvSpPr>
        <p:spPr>
          <a:xfrm>
            <a:off x="206681" y="766261"/>
            <a:ext cx="4971669" cy="3754874"/>
          </a:xfrm>
          <a:prstGeom prst="rect">
            <a:avLst/>
          </a:prstGeom>
        </p:spPr>
        <p:txBody>
          <a:bodyPr wrap="square">
            <a:spAutoFit/>
          </a:bodyPr>
          <a:lstStyle/>
          <a:p>
            <a:pPr algn="l" rtl="0"/>
            <a:r>
              <a:rPr lang="en-US" sz="1400" dirty="0"/>
              <a:t>L'exemple 1-40 montre comment utiliser la commande show ip interface pour vérifier si le proxy ARP est activé.</a:t>
            </a:r>
          </a:p>
          <a:p>
            <a:pPr algn="l" rtl="0"/>
            <a:endParaRPr lang="en-US" sz="1400" dirty="0"/>
          </a:p>
          <a:p>
            <a:pPr algn="l" rtl="0"/>
            <a:r>
              <a:rPr lang="en-US" sz="1400" dirty="0"/>
              <a:t>Si le proxy ARP n'est pas activé, le cache ARP sur R1 apparaît comme indiqué dans l'exemple 1-41. Notez que R1 envoie toujours des requêtes ARP ; cependant, il ne reçoit aucune réponse ARP. Par conséquent, il ne peut pas créer la trame de couche 2 et le résultat est un échec d’encapsulation.</a:t>
            </a:r>
          </a:p>
          <a:p>
            <a:pPr algn="l" rtl="0"/>
            <a:endParaRPr lang="en-US" sz="1400" dirty="0"/>
          </a:p>
          <a:p>
            <a:pPr algn="l" rtl="0"/>
            <a:r>
              <a:rPr lang="en-US" sz="1400" dirty="0"/>
              <a:t>Étant donné que R1 utilise ARP pour déterminer l'adresse MAC de chaque adresse IP de destination dans chaque paquet, vous ne devez jamais spécifier une interface Ethernet dans une route statique. La spécification d'une interface Ethernet dans une route statique entraîne une utilisation excessive des ressources du routeur, telles que le processeur et la mémoire, car le plan de contrôle est impliqué pendant le processus de transfert pour déterminer l'adresse MAC de couche 2 appropriée à l'aide d'ARP.</a:t>
            </a:r>
          </a:p>
        </p:txBody>
      </p:sp>
      <p:pic>
        <p:nvPicPr>
          <p:cNvPr id="5" name="Picture 4">
            <a:extLst>
              <a:ext uri="{FF2B5EF4-FFF2-40B4-BE49-F238E27FC236}">
                <a16:creationId xmlns:a16="http://schemas.microsoft.com/office/drawing/2014/main" id="{7A8CB0BC-3DC8-4974-A963-6B9DD0B7A35B}"/>
              </a:ext>
            </a:extLst>
          </p:cNvPr>
          <p:cNvPicPr>
            <a:picLocks noChangeAspect="1"/>
          </p:cNvPicPr>
          <p:nvPr/>
        </p:nvPicPr>
        <p:blipFill>
          <a:blip r:embed="rId3"/>
          <a:srcRect/>
          <a:stretch/>
        </p:blipFill>
        <p:spPr>
          <a:xfrm>
            <a:off x="5309421" y="766261"/>
            <a:ext cx="3716591" cy="1049631"/>
          </a:xfrm>
          <a:prstGeom prst="rect">
            <a:avLst/>
          </a:prstGeom>
        </p:spPr>
      </p:pic>
      <p:pic>
        <p:nvPicPr>
          <p:cNvPr id="6" name="Picture 5" descr="A screenshot of a social media post  Description automatically generated">
            <a:extLst>
              <a:ext uri="{FF2B5EF4-FFF2-40B4-BE49-F238E27FC236}">
                <a16:creationId xmlns:a16="http://schemas.microsoft.com/office/drawing/2014/main" id="{9C625002-A5E5-4DE4-9437-EEF48DE32115}"/>
              </a:ext>
            </a:extLst>
          </p:cNvPr>
          <p:cNvPicPr>
            <a:picLocks noChangeAspect="1"/>
          </p:cNvPicPr>
          <p:nvPr/>
        </p:nvPicPr>
        <p:blipFill>
          <a:blip r:embed="rId4"/>
          <a:stretch>
            <a:fillRect/>
          </a:stretch>
        </p:blipFill>
        <p:spPr>
          <a:xfrm>
            <a:off x="5319253" y="1789100"/>
            <a:ext cx="3714705" cy="1143933"/>
          </a:xfrm>
          <a:prstGeom prst="rect">
            <a:avLst/>
          </a:prstGeom>
        </p:spPr>
      </p:pic>
      <p:pic>
        <p:nvPicPr>
          <p:cNvPr id="8" name="Picture 7" descr="A screenshot of a social media post  Description automatically generated">
            <a:extLst>
              <a:ext uri="{FF2B5EF4-FFF2-40B4-BE49-F238E27FC236}">
                <a16:creationId xmlns:a16="http://schemas.microsoft.com/office/drawing/2014/main" id="{77A58C67-7651-4EBC-B91C-055BCE2534AD}"/>
              </a:ext>
            </a:extLst>
          </p:cNvPr>
          <p:cNvPicPr>
            <a:picLocks noChangeAspect="1"/>
          </p:cNvPicPr>
          <p:nvPr/>
        </p:nvPicPr>
        <p:blipFill>
          <a:blip r:embed="rId5"/>
          <a:stretch>
            <a:fillRect/>
          </a:stretch>
        </p:blipFill>
        <p:spPr>
          <a:xfrm>
            <a:off x="5265567" y="3157186"/>
            <a:ext cx="3797887" cy="1838361"/>
          </a:xfrm>
          <a:prstGeom prst="rect">
            <a:avLst/>
          </a:prstGeom>
        </p:spPr>
      </p:pic>
    </p:spTree>
    <p:extLst>
      <p:ext uri="{BB962C8B-B14F-4D97-AF65-F5344CB8AC3E}">
        <p14:creationId xmlns:p14="http://schemas.microsoft.com/office/powerpoint/2010/main" val="1891074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8422641" cy="731837"/>
          </a:xfrm>
        </p:spPr>
        <p:txBody>
          <a:bodyPr/>
          <a:lstStyle/>
          <a:p>
            <a:pPr algn="l" rtl="0"/>
            <a:r>
              <a:rPr lang="en-US" sz="1600" dirty="0">
                <a:solidFill>
                  <a:schemeClr val="accent4">
                    <a:lumMod val="75000"/>
                  </a:schemeClr>
                </a:solidFill>
              </a:rPr>
              <a:t>Itinéraires statiques</a:t>
            </a:r>
            <a:br>
              <a:rPr lang="en-US" dirty="0">
                <a:solidFill>
                  <a:schemeClr val="accent4">
                    <a:lumMod val="75000"/>
                  </a:schemeClr>
                </a:solidFill>
              </a:rPr>
            </a:br>
            <a:r>
              <a:rPr lang="en-US" sz="2400" dirty="0">
                <a:solidFill>
                  <a:schemeClr val="accent4">
                    <a:lumMod val="75000"/>
                  </a:schemeClr>
                </a:solidFill>
              </a:rPr>
              <a:t>Routes statiques IPv4 – Proxy ARP (suite)</a:t>
            </a:r>
          </a:p>
        </p:txBody>
      </p:sp>
      <p:sp>
        <p:nvSpPr>
          <p:cNvPr id="2" name="Rectangle 1">
            <a:extLst>
              <a:ext uri="{FF2B5EF4-FFF2-40B4-BE49-F238E27FC236}">
                <a16:creationId xmlns:a16="http://schemas.microsoft.com/office/drawing/2014/main" id="{09FF4F5D-70B8-4224-91F2-4D3C5F190FF9}"/>
              </a:ext>
            </a:extLst>
          </p:cNvPr>
          <p:cNvSpPr/>
          <p:nvPr/>
        </p:nvSpPr>
        <p:spPr>
          <a:xfrm>
            <a:off x="121441" y="731837"/>
            <a:ext cx="4971669" cy="3754874"/>
          </a:xfrm>
          <a:prstGeom prst="rect">
            <a:avLst/>
          </a:prstGeom>
        </p:spPr>
        <p:txBody>
          <a:bodyPr wrap="square">
            <a:spAutoFit/>
          </a:bodyPr>
          <a:lstStyle/>
          <a:p>
            <a:pPr algn="l" rtl="0"/>
            <a:r>
              <a:rPr lang="en-US" sz="1400" dirty="0"/>
              <a:t>L'exemple 1-40 montre comment utiliser la commande show ip interface pour vérifier si le proxy ARP est activé.</a:t>
            </a:r>
          </a:p>
          <a:p>
            <a:pPr algn="l" rtl="0"/>
            <a:endParaRPr lang="en-US" sz="1400" dirty="0"/>
          </a:p>
          <a:p>
            <a:pPr algn="l" rtl="0"/>
            <a:r>
              <a:rPr lang="en-US" sz="1400" dirty="0"/>
              <a:t>Si le proxy ARP n'est pas activé, le cache ARP sur R1 apparaît comme indiqué dans l'exemple 1-41. Notez que R1 envoie toujours des requêtes ARP ; cependant, il ne reçoit aucune réponse ARP. Par conséquent, il ne peut pas créer la trame de couche 2 et le résultat est un échec d’encapsulation.</a:t>
            </a:r>
          </a:p>
          <a:p>
            <a:pPr algn="l" rtl="0"/>
            <a:endParaRPr lang="en-US" sz="1400" dirty="0"/>
          </a:p>
          <a:p>
            <a:pPr algn="l" rtl="0"/>
            <a:r>
              <a:rPr lang="en-US" sz="1400" dirty="0"/>
              <a:t>Étant donné que R1 utilise ARP pour déterminer l'adresse MAC de chaque adresse IP de destination dans chaque paquet, vous ne devez jamais spécifier une interface Ethernet dans une route statique. La spécification d'une interface Ethernet dans une route statique entraîne une utilisation excessive des ressources du routeur, telles que le processeur et la mémoire, car le plan de contrôle est impliqué pendant le processus de transfert pour déterminer l'adresse MAC de couche 2 appropriée à l'aide d'ARP.</a:t>
            </a:r>
          </a:p>
        </p:txBody>
      </p:sp>
      <p:pic>
        <p:nvPicPr>
          <p:cNvPr id="5" name="Picture 4">
            <a:extLst>
              <a:ext uri="{FF2B5EF4-FFF2-40B4-BE49-F238E27FC236}">
                <a16:creationId xmlns:a16="http://schemas.microsoft.com/office/drawing/2014/main" id="{7A8CB0BC-3DC8-4974-A963-6B9DD0B7A35B}"/>
              </a:ext>
            </a:extLst>
          </p:cNvPr>
          <p:cNvPicPr>
            <a:picLocks noChangeAspect="1"/>
          </p:cNvPicPr>
          <p:nvPr/>
        </p:nvPicPr>
        <p:blipFill>
          <a:blip r:embed="rId3"/>
          <a:srcRect/>
          <a:stretch/>
        </p:blipFill>
        <p:spPr>
          <a:xfrm>
            <a:off x="5309421" y="766261"/>
            <a:ext cx="3716591" cy="1049631"/>
          </a:xfrm>
          <a:prstGeom prst="rect">
            <a:avLst/>
          </a:prstGeom>
        </p:spPr>
      </p:pic>
      <p:pic>
        <p:nvPicPr>
          <p:cNvPr id="6" name="Picture 5" descr="A screenshot of a social media post  Description automatically generated">
            <a:extLst>
              <a:ext uri="{FF2B5EF4-FFF2-40B4-BE49-F238E27FC236}">
                <a16:creationId xmlns:a16="http://schemas.microsoft.com/office/drawing/2014/main" id="{9C625002-A5E5-4DE4-9437-EEF48DE32115}"/>
              </a:ext>
            </a:extLst>
          </p:cNvPr>
          <p:cNvPicPr>
            <a:picLocks noChangeAspect="1"/>
          </p:cNvPicPr>
          <p:nvPr/>
        </p:nvPicPr>
        <p:blipFill>
          <a:blip r:embed="rId4"/>
          <a:stretch>
            <a:fillRect/>
          </a:stretch>
        </p:blipFill>
        <p:spPr>
          <a:xfrm>
            <a:off x="5319253" y="1789100"/>
            <a:ext cx="3714705" cy="1143933"/>
          </a:xfrm>
          <a:prstGeom prst="rect">
            <a:avLst/>
          </a:prstGeom>
        </p:spPr>
      </p:pic>
      <p:pic>
        <p:nvPicPr>
          <p:cNvPr id="8" name="Picture 7" descr="A screenshot of a social media post  Description automatically generated">
            <a:extLst>
              <a:ext uri="{FF2B5EF4-FFF2-40B4-BE49-F238E27FC236}">
                <a16:creationId xmlns:a16="http://schemas.microsoft.com/office/drawing/2014/main" id="{77A58C67-7651-4EBC-B91C-055BCE2534AD}"/>
              </a:ext>
            </a:extLst>
          </p:cNvPr>
          <p:cNvPicPr>
            <a:picLocks noChangeAspect="1"/>
          </p:cNvPicPr>
          <p:nvPr/>
        </p:nvPicPr>
        <p:blipFill>
          <a:blip r:embed="rId5"/>
          <a:stretch>
            <a:fillRect/>
          </a:stretch>
        </p:blipFill>
        <p:spPr>
          <a:xfrm>
            <a:off x="5265567" y="3157186"/>
            <a:ext cx="3797887" cy="1838361"/>
          </a:xfrm>
          <a:prstGeom prst="rect">
            <a:avLst/>
          </a:prstGeom>
        </p:spPr>
      </p:pic>
    </p:spTree>
    <p:extLst>
      <p:ext uri="{BB962C8B-B14F-4D97-AF65-F5344CB8AC3E}">
        <p14:creationId xmlns:p14="http://schemas.microsoft.com/office/powerpoint/2010/main" val="2161087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8422641" cy="731837"/>
          </a:xfrm>
        </p:spPr>
        <p:txBody>
          <a:bodyPr/>
          <a:lstStyle/>
          <a:p>
            <a:pPr algn="l" rtl="0"/>
            <a:r>
              <a:rPr lang="en-US" sz="1600" dirty="0">
                <a:solidFill>
                  <a:schemeClr val="accent4">
                    <a:lumMod val="75000"/>
                  </a:schemeClr>
                </a:solidFill>
              </a:rPr>
              <a:t>Itinéraires statiques</a:t>
            </a:r>
            <a:br>
              <a:rPr lang="en-US" dirty="0">
                <a:solidFill>
                  <a:schemeClr val="accent4">
                    <a:lumMod val="75000"/>
                  </a:schemeClr>
                </a:solidFill>
              </a:rPr>
            </a:br>
            <a:r>
              <a:rPr lang="en-US" sz="2400" dirty="0">
                <a:solidFill>
                  <a:schemeClr val="accent4">
                    <a:lumMod val="75000"/>
                  </a:schemeClr>
                </a:solidFill>
              </a:rPr>
              <a:t>Routes statiques IPv6</a:t>
            </a:r>
          </a:p>
        </p:txBody>
      </p:sp>
      <p:sp>
        <p:nvSpPr>
          <p:cNvPr id="2" name="Rectangle 1">
            <a:extLst>
              <a:ext uri="{FF2B5EF4-FFF2-40B4-BE49-F238E27FC236}">
                <a16:creationId xmlns:a16="http://schemas.microsoft.com/office/drawing/2014/main" id="{09FF4F5D-70B8-4224-91F2-4D3C5F190FF9}"/>
              </a:ext>
            </a:extLst>
          </p:cNvPr>
          <p:cNvSpPr/>
          <p:nvPr/>
        </p:nvSpPr>
        <p:spPr>
          <a:xfrm>
            <a:off x="121441" y="731837"/>
            <a:ext cx="8900639" cy="2677656"/>
          </a:xfrm>
          <a:prstGeom prst="rect">
            <a:avLst/>
          </a:prstGeom>
        </p:spPr>
        <p:txBody>
          <a:bodyPr wrap="square">
            <a:spAutoFit/>
          </a:bodyPr>
          <a:lstStyle/>
          <a:p>
            <a:pPr algn="l" rtl="0"/>
            <a:r>
              <a:rPr lang="en-US" sz="1400" dirty="0"/>
              <a:t>L'exemple suivant affiche la configuration d'une route statique IPv6 sur R1, comme illustré dans la Figure 1-18 :</a:t>
            </a:r>
          </a:p>
          <a:p>
            <a:pPr algn="l" rtl="0"/>
            <a:endParaRPr lang="en-US" sz="1400" dirty="0"/>
          </a:p>
          <a:p>
            <a:pPr algn="l" rtl="0"/>
            <a:r>
              <a:rPr lang="en-US" sz="1400" dirty="0">
                <a:latin typeface="Courier New" panose="02070309020205020404" pitchFamily="49" charset="0"/>
                <a:cs typeface="Courier New" panose="02070309020205020404" pitchFamily="49" charset="0"/>
              </a:rPr>
              <a:t>R1(config)#</a:t>
            </a:r>
            <a:r>
              <a:rPr lang="en-US" sz="1400" b="1" dirty="0">
                <a:latin typeface="Courier New" panose="02070309020205020404" pitchFamily="49" charset="0"/>
                <a:cs typeface="Courier New" panose="02070309020205020404" pitchFamily="49" charset="0"/>
              </a:rPr>
              <a:t>route ipv6 2001:DB8:0:3::/64 gigabitEthernet 1/0 FE80::2 8</a:t>
            </a:r>
          </a:p>
          <a:p>
            <a:pPr algn="l" rtl="0"/>
            <a:endParaRPr lang="en-US" sz="1400" dirty="0"/>
          </a:p>
          <a:p>
            <a:pPr algn="l" rtl="0"/>
            <a:r>
              <a:rPr lang="en-US" sz="1400" dirty="0"/>
              <a:t>La route statique indique à R1 le réseau 2001:DB8:0:3::/64. Le réseau est accessible à l'aide de l'adresse du prochain saut FE80::2, qui est l'adresse lien-local de R2, et un AD de 8 lui a été attribué. (La valeur par défaut est 1.)</a:t>
            </a:r>
          </a:p>
          <a:p>
            <a:pPr algn="l" rtl="0"/>
            <a:endParaRPr lang="en-US" sz="1400" dirty="0"/>
          </a:p>
          <a:p>
            <a:pPr algn="l" rtl="0"/>
            <a:r>
              <a:rPr lang="en-US" sz="1400" dirty="0"/>
              <a:t>Notez que l'interface Ethernet de sortie est spécifiée. Ceci est obligatoire lors de l'utilisation de l'adresse lien-local comme saut suivant, car la même adresse lien-local peut être utilisée sur plusieurs interfaces de routeur local. De plus, plusieurs interfaces de routeur distant peuvent également avoir la même adresse lien-local. Tant que les adresses lien-local sont uniques entre les appareils du même réseau local, la communication se produit comme prévu. Si vous utilisez une adresse de monodiffusion globale comme tronçon suivant, vous n'avez pas besoin de spécifier l'interface de sortie.</a:t>
            </a:r>
          </a:p>
        </p:txBody>
      </p:sp>
      <p:pic>
        <p:nvPicPr>
          <p:cNvPr id="8" name="Picture 7">
            <a:extLst>
              <a:ext uri="{FF2B5EF4-FFF2-40B4-BE49-F238E27FC236}">
                <a16:creationId xmlns:a16="http://schemas.microsoft.com/office/drawing/2014/main" id="{77A58C67-7651-4EBC-B91C-055BCE2534AD}"/>
              </a:ext>
            </a:extLst>
          </p:cNvPr>
          <p:cNvPicPr>
            <a:picLocks noChangeAspect="1"/>
          </p:cNvPicPr>
          <p:nvPr/>
        </p:nvPicPr>
        <p:blipFill>
          <a:blip r:embed="rId3"/>
          <a:srcRect/>
          <a:stretch/>
        </p:blipFill>
        <p:spPr>
          <a:xfrm>
            <a:off x="2171858" y="3646175"/>
            <a:ext cx="4800283" cy="1325451"/>
          </a:xfrm>
          <a:prstGeom prst="rect">
            <a:avLst/>
          </a:prstGeom>
        </p:spPr>
      </p:pic>
    </p:spTree>
    <p:extLst>
      <p:ext uri="{BB962C8B-B14F-4D97-AF65-F5344CB8AC3E}">
        <p14:creationId xmlns:p14="http://schemas.microsoft.com/office/powerpoint/2010/main" val="2814693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8422641" cy="731837"/>
          </a:xfrm>
        </p:spPr>
        <p:txBody>
          <a:bodyPr/>
          <a:lstStyle/>
          <a:p>
            <a:pPr algn="l" rtl="0"/>
            <a:r>
              <a:rPr lang="en-US" sz="1600" dirty="0">
                <a:solidFill>
                  <a:schemeClr val="accent4">
                    <a:lumMod val="75000"/>
                  </a:schemeClr>
                </a:solidFill>
              </a:rPr>
              <a:t>Itinéraires statiques</a:t>
            </a:r>
            <a:br>
              <a:rPr lang="en-US" dirty="0">
                <a:solidFill>
                  <a:schemeClr val="accent4">
                    <a:lumMod val="75000"/>
                  </a:schemeClr>
                </a:solidFill>
              </a:rPr>
            </a:br>
            <a:r>
              <a:rPr lang="en-US" sz="2400" dirty="0">
                <a:solidFill>
                  <a:schemeClr val="accent4">
                    <a:lumMod val="75000"/>
                  </a:schemeClr>
                </a:solidFill>
              </a:rPr>
              <a:t>Routes statiques IPv6 (suite)</a:t>
            </a:r>
          </a:p>
        </p:txBody>
      </p:sp>
      <p:sp>
        <p:nvSpPr>
          <p:cNvPr id="2" name="Rectangle 1">
            <a:extLst>
              <a:ext uri="{FF2B5EF4-FFF2-40B4-BE49-F238E27FC236}">
                <a16:creationId xmlns:a16="http://schemas.microsoft.com/office/drawing/2014/main" id="{09FF4F5D-70B8-4224-91F2-4D3C5F190FF9}"/>
              </a:ext>
            </a:extLst>
          </p:cNvPr>
          <p:cNvSpPr/>
          <p:nvPr/>
        </p:nvSpPr>
        <p:spPr>
          <a:xfrm>
            <a:off x="121441" y="731837"/>
            <a:ext cx="8900639" cy="2893100"/>
          </a:xfrm>
          <a:prstGeom prst="rect">
            <a:avLst/>
          </a:prstGeom>
        </p:spPr>
        <p:txBody>
          <a:bodyPr wrap="square">
            <a:spAutoFit/>
          </a:bodyPr>
          <a:lstStyle/>
          <a:p>
            <a:pPr algn="l" rtl="0"/>
            <a:r>
              <a:rPr lang="en-US" sz="1400" dirty="0"/>
              <a:t>Il n'y a pas de diffusion avec IPv6. Par conséquent, IPv6 n’utilise pas ARP. Il utilise le NDP (Neighbor Discovery Protocol), basé sur la multidiffusion, pour déterminer l'adresse MAC d'un périphérique voisin.</a:t>
            </a:r>
          </a:p>
          <a:p>
            <a:pPr algn="l" rtl="0"/>
            <a:endParaRPr lang="en-US" sz="1400" dirty="0"/>
          </a:p>
          <a:p>
            <a:pPr algn="l" rtl="0"/>
            <a:r>
              <a:rPr lang="en-US" sz="1400" dirty="0"/>
              <a:t>Dans ce cas, si R1 doit acheminer les paquets vers 2001:DB8:0:3::/64, la table de routage indique d'utiliser l'adresse du prochain saut FE80::2, qui est hors Gig1/0. Par conséquent, il consulte sa table de voisins IPv6, comme indiqué dans l'extrait suivant, pour déterminer s'il existe une adresse MAC pour FE80::2 sur Gig 1/0 :</a:t>
            </a:r>
          </a:p>
          <a:p>
            <a:pPr algn="l" rtl="0"/>
            <a:endParaRPr lang="en-US" sz="1400" dirty="0"/>
          </a:p>
          <a:p>
            <a:pPr algn="l" rtl="0"/>
            <a:r>
              <a:rPr lang="en-US" sz="1400" dirty="0">
                <a:latin typeface="Courier New" panose="02070309020205020404" pitchFamily="49" charset="0"/>
                <a:cs typeface="Courier New" panose="02070309020205020404" pitchFamily="49" charset="0"/>
              </a:rPr>
              <a:t>R1#</a:t>
            </a:r>
            <a:r>
              <a:rPr lang="en-US" sz="1400" b="1" dirty="0">
                <a:latin typeface="Courier New" panose="02070309020205020404" pitchFamily="49" charset="0"/>
                <a:cs typeface="Courier New" panose="02070309020205020404" pitchFamily="49" charset="0"/>
              </a:rPr>
              <a:t>afficher les voisins IPv6</a:t>
            </a:r>
          </a:p>
          <a:p>
            <a:pPr algn="l" rtl="0"/>
            <a:r>
              <a:rPr lang="en-US" sz="1400" dirty="0">
                <a:latin typeface="Courier New" panose="02070309020205020404" pitchFamily="49" charset="0"/>
                <a:cs typeface="Courier New" panose="02070309020205020404" pitchFamily="49" charset="0"/>
              </a:rPr>
              <a:t>Interface d'état d'adresse de couche liaison d'âge d'adresse IPv6</a:t>
            </a:r>
          </a:p>
          <a:p>
            <a:pPr algn="l" rtl="0"/>
            <a:r>
              <a:rPr lang="en-US" sz="1400" dirty="0">
                <a:highlight>
                  <a:srgbClr val="C0C0C0"/>
                </a:highlight>
                <a:latin typeface="Courier New" panose="02070309020205020404" pitchFamily="49" charset="0"/>
                <a:cs typeface="Courier New" panose="02070309020205020404" pitchFamily="49" charset="0"/>
              </a:rPr>
              <a:t>FE80::2 0 ca08.0568.0008 REACH Gi1/0</a:t>
            </a:r>
          </a:p>
          <a:p>
            <a:pPr algn="l" rtl="0"/>
            <a:endParaRPr lang="en-US" sz="1400" dirty="0">
              <a:highlight>
                <a:srgbClr val="C0C0C0"/>
              </a:highlight>
              <a:latin typeface="Courier New" panose="02070309020205020404" pitchFamily="49" charset="0"/>
              <a:cs typeface="Courier New" panose="02070309020205020404" pitchFamily="49" charset="0"/>
            </a:endParaRPr>
          </a:p>
          <a:p>
            <a:pPr algn="l" rtl="0"/>
            <a:r>
              <a:rPr lang="en-US" sz="1400" dirty="0">
                <a:latin typeface="+mj-lt"/>
                <a:cs typeface="Courier New" panose="02070309020205020404" pitchFamily="49" charset="0"/>
              </a:rPr>
              <a:t>S'il n'y a aucune entrée dans la table des voisins IPv6, un message de sollicitation de voisin est envoyé pour découvrir l'adresse MAC FE80::2 sur Gig1/0.</a:t>
            </a:r>
            <a:endParaRPr lang="en-US" sz="1400" dirty="0">
              <a:highlight>
                <a:srgbClr val="C0C0C0"/>
              </a:highlight>
              <a:latin typeface="+mj-lt"/>
              <a:cs typeface="Courier New" panose="02070309020205020404" pitchFamily="49" charset="0"/>
            </a:endParaRPr>
          </a:p>
        </p:txBody>
      </p:sp>
      <p:pic>
        <p:nvPicPr>
          <p:cNvPr id="8" name="Picture 7">
            <a:extLst>
              <a:ext uri="{FF2B5EF4-FFF2-40B4-BE49-F238E27FC236}">
                <a16:creationId xmlns:a16="http://schemas.microsoft.com/office/drawing/2014/main" id="{77A58C67-7651-4EBC-B91C-055BCE2534AD}"/>
              </a:ext>
            </a:extLst>
          </p:cNvPr>
          <p:cNvPicPr>
            <a:picLocks noChangeAspect="1"/>
          </p:cNvPicPr>
          <p:nvPr/>
        </p:nvPicPr>
        <p:blipFill>
          <a:blip r:embed="rId3"/>
          <a:srcRect/>
          <a:stretch/>
        </p:blipFill>
        <p:spPr>
          <a:xfrm>
            <a:off x="2336990" y="3794533"/>
            <a:ext cx="4470019" cy="1234259"/>
          </a:xfrm>
          <a:prstGeom prst="rect">
            <a:avLst/>
          </a:prstGeom>
        </p:spPr>
      </p:pic>
    </p:spTree>
    <p:extLst>
      <p:ext uri="{BB962C8B-B14F-4D97-AF65-F5344CB8AC3E}">
        <p14:creationId xmlns:p14="http://schemas.microsoft.com/office/powerpoint/2010/main" val="3987419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8422641" cy="731837"/>
          </a:xfrm>
        </p:spPr>
        <p:txBody>
          <a:bodyPr/>
          <a:lstStyle/>
          <a:p>
            <a:pPr algn="l" rtl="0"/>
            <a:r>
              <a:rPr lang="en-US" sz="1600" dirty="0">
                <a:solidFill>
                  <a:schemeClr val="accent4">
                    <a:lumMod val="75000"/>
                  </a:schemeClr>
                </a:solidFill>
              </a:rPr>
              <a:t>Itinéraires statiques</a:t>
            </a:r>
            <a:br>
              <a:rPr lang="en-US" dirty="0">
                <a:solidFill>
                  <a:schemeClr val="accent4">
                    <a:lumMod val="75000"/>
                  </a:schemeClr>
                </a:solidFill>
              </a:rPr>
            </a:br>
            <a:r>
              <a:rPr lang="en-US" sz="2400" dirty="0">
                <a:solidFill>
                  <a:schemeClr val="accent4">
                    <a:lumMod val="75000"/>
                  </a:schemeClr>
                </a:solidFill>
              </a:rPr>
              <a:t>Routes statiques IPv6 (suite)</a:t>
            </a:r>
          </a:p>
        </p:txBody>
      </p:sp>
      <p:sp>
        <p:nvSpPr>
          <p:cNvPr id="2" name="Rectangle 1">
            <a:extLst>
              <a:ext uri="{FF2B5EF4-FFF2-40B4-BE49-F238E27FC236}">
                <a16:creationId xmlns:a16="http://schemas.microsoft.com/office/drawing/2014/main" id="{09FF4F5D-70B8-4224-91F2-4D3C5F190FF9}"/>
              </a:ext>
            </a:extLst>
          </p:cNvPr>
          <p:cNvSpPr/>
          <p:nvPr/>
        </p:nvSpPr>
        <p:spPr>
          <a:xfrm>
            <a:off x="121441" y="731837"/>
            <a:ext cx="8943901" cy="3108543"/>
          </a:xfrm>
          <a:prstGeom prst="rect">
            <a:avLst/>
          </a:prstGeom>
        </p:spPr>
        <p:txBody>
          <a:bodyPr wrap="square">
            <a:spAutoFit/>
          </a:bodyPr>
          <a:lstStyle/>
          <a:p>
            <a:pPr algn="l" rtl="0"/>
            <a:r>
              <a:rPr lang="en-US" sz="1400" dirty="0"/>
              <a:t>Le proxy ARP n'existe pas dans IPv6. Par conséquent, dans une route statique IPv6, si vous utilisez uniquement l'option d'interface avec une interface Ethernet, cela ne fonctionne que si l'adresse IPv6 de destination est directement attachée à l'interface du routeur spécifiée. En effet, l'adresse IPv6 de destination dans le paquet est utilisée comme adresse du tronçon suivant et l'adresse MAC doit être découverte à l'aide de NDP. Si la destination ne se trouve pas dans le réseau directement connecté, la découverte des voisins échoue et l'encapsulation de couche 2 échoue finalement.</a:t>
            </a:r>
          </a:p>
          <a:p>
            <a:pPr algn="l" rtl="0"/>
            <a:endParaRPr lang="en-US" sz="1400" dirty="0"/>
          </a:p>
          <a:p>
            <a:pPr algn="l" rtl="0"/>
            <a:r>
              <a:rPr lang="en-US" sz="1400" b="1" dirty="0">
                <a:latin typeface="Courier New" panose="02070309020205020404" pitchFamily="49" charset="0"/>
                <a:cs typeface="Courier New" panose="02070309020205020404" pitchFamily="49" charset="0"/>
              </a:rPr>
              <a:t>route ipv6 2001:DB8:0:3::/64 gigabitEthernet 1/0</a:t>
            </a:r>
          </a:p>
          <a:p>
            <a:pPr algn="l" rtl="0"/>
            <a:endParaRPr lang="en-US" sz="1400" dirty="0"/>
          </a:p>
          <a:p>
            <a:pPr algn="l" rtl="0"/>
            <a:r>
              <a:rPr lang="en-US" sz="1400" dirty="0"/>
              <a:t>Lorsque R1 reçoit un paquet destiné à 2001:db8:0:3::3, il détermine, sur la base de la route statique, qu'il est directement connecté à Gig1/0 (ce qui n'est pas le cas selon la figure 1-18). Par conséquent, R1 envoie une sollicitation de voisin (NS) sur Gig1/0 pour l'adresse MAC associée à 2001:db8:0:3::3, en utilisant l'adresse de multidiffusion du nœud sollicité FF02::1:FF00:3. Si aucun périphérique connecté à Gig1/0 n'utilise l'adresse de multidiffusion de nœud sollicité FF02::1:FF00:3 et l'adresse IPv6 2001:db8:0:3::3, le NS reste sans réponse et l'encapsulation de couche 2 échoue.</a:t>
            </a:r>
          </a:p>
        </p:txBody>
      </p:sp>
      <p:pic>
        <p:nvPicPr>
          <p:cNvPr id="8" name="Picture 7">
            <a:extLst>
              <a:ext uri="{FF2B5EF4-FFF2-40B4-BE49-F238E27FC236}">
                <a16:creationId xmlns:a16="http://schemas.microsoft.com/office/drawing/2014/main" id="{77A58C67-7651-4EBC-B91C-055BCE2534AD}"/>
              </a:ext>
            </a:extLst>
          </p:cNvPr>
          <p:cNvPicPr>
            <a:picLocks noChangeAspect="1"/>
          </p:cNvPicPr>
          <p:nvPr/>
        </p:nvPicPr>
        <p:blipFill>
          <a:blip r:embed="rId3"/>
          <a:srcRect/>
          <a:stretch/>
        </p:blipFill>
        <p:spPr>
          <a:xfrm>
            <a:off x="2761491" y="3987738"/>
            <a:ext cx="3663799" cy="1011646"/>
          </a:xfrm>
          <a:prstGeom prst="rect">
            <a:avLst/>
          </a:prstGeom>
        </p:spPr>
      </p:pic>
    </p:spTree>
    <p:extLst>
      <p:ext uri="{BB962C8B-B14F-4D97-AF65-F5344CB8AC3E}">
        <p14:creationId xmlns:p14="http://schemas.microsoft.com/office/powerpoint/2010/main" val="1323793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B89FE0-AFBF-4F30-AE65-3B18BCBE3A9A}"/>
              </a:ext>
            </a:extLst>
          </p:cNvPr>
          <p:cNvSpPr>
            <a:spLocks noGrp="1"/>
          </p:cNvSpPr>
          <p:nvPr>
            <p:ph type="ctrTitle"/>
          </p:nvPr>
        </p:nvSpPr>
        <p:spPr>
          <a:xfrm>
            <a:off x="337844" y="252411"/>
            <a:ext cx="8541996" cy="1351755"/>
          </a:xfrm>
        </p:spPr>
        <p:txBody>
          <a:bodyPr/>
          <a:lstStyle/>
          <a:p>
            <a:pPr algn="l" rtl="0"/>
            <a:r>
              <a:rPr lang="en-US" sz="3600" dirty="0">
                <a:solidFill>
                  <a:schemeClr val="accent5">
                    <a:lumMod val="40000"/>
                    <a:lumOff val="60000"/>
                  </a:schemeClr>
                </a:solidFill>
              </a:rPr>
              <a:t>Billets de problème</a:t>
            </a:r>
          </a:p>
        </p:txBody>
      </p:sp>
      <p:sp>
        <p:nvSpPr>
          <p:cNvPr id="4" name="TextBox 3">
            <a:extLst>
              <a:ext uri="{FF2B5EF4-FFF2-40B4-BE49-F238E27FC236}">
                <a16:creationId xmlns:a16="http://schemas.microsoft.com/office/drawing/2014/main" id="{E2BFA70F-DC0C-41D5-868E-C8FBC661D58F}"/>
              </a:ext>
            </a:extLst>
          </p:cNvPr>
          <p:cNvSpPr txBox="1"/>
          <p:nvPr/>
        </p:nvSpPr>
        <p:spPr>
          <a:xfrm>
            <a:off x="433084" y="1715712"/>
            <a:ext cx="8277832" cy="830997"/>
          </a:xfrm>
          <a:prstGeom prst="rect">
            <a:avLst/>
          </a:prstGeom>
          <a:noFill/>
        </p:spPr>
        <p:txBody>
          <a:bodyPr wrap="square" rtlCol="0">
            <a:spAutoFit/>
          </a:bodyPr>
          <a:lstStyle/>
          <a:p>
            <a:pPr marL="285750" indent="-285750" algn="l" rtl="0">
              <a:buFont typeface="Arial" panose="020B0604020202020204" pitchFamily="34" charset="0"/>
              <a:buChar char="•"/>
            </a:pPr>
            <a:r>
              <a:rPr lang="en-US" sz="1600" dirty="0">
                <a:solidFill>
                  <a:schemeClr val="accent4">
                    <a:lumMod val="40000"/>
                    <a:lumOff val="60000"/>
                  </a:schemeClr>
                </a:solidFill>
              </a:rPr>
              <a:t>Cette section présente divers tickets d'incident liés aux sujets abordés précédemment.</a:t>
            </a:r>
          </a:p>
          <a:p>
            <a:pPr marL="285750" indent="-285750" algn="l" rtl="0">
              <a:buFont typeface="Arial" panose="020B0604020202020204" pitchFamily="34" charset="0"/>
              <a:buChar char="•"/>
            </a:pPr>
            <a:r>
              <a:rPr lang="en-US" sz="1600" dirty="0">
                <a:solidFill>
                  <a:schemeClr val="accent4">
                    <a:lumMod val="40000"/>
                    <a:lumOff val="60000"/>
                  </a:schemeClr>
                </a:solidFill>
              </a:rPr>
              <a:t>L'objectif de cette section est de vous montrer un processus que vous pouvez suivre lors du dépannage dans le monde réel ou dans un environnement d'examen.</a:t>
            </a:r>
          </a:p>
        </p:txBody>
      </p:sp>
    </p:spTree>
    <p:custDataLst>
      <p:tags r:id="rId1"/>
    </p:custDataLst>
    <p:extLst>
      <p:ext uri="{BB962C8B-B14F-4D97-AF65-F5344CB8AC3E}">
        <p14:creationId xmlns:p14="http://schemas.microsoft.com/office/powerpoint/2010/main" val="3935131350"/>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8839201" cy="731837"/>
          </a:xfrm>
        </p:spPr>
        <p:txBody>
          <a:bodyPr/>
          <a:lstStyle/>
          <a:p>
            <a:pPr algn="l" rtl="0"/>
            <a:r>
              <a:rPr lang="en-US" sz="1600" dirty="0">
                <a:solidFill>
                  <a:schemeClr val="accent4">
                    <a:lumMod val="75000"/>
                  </a:schemeClr>
                </a:solidFill>
              </a:rPr>
              <a:t>Billets de problème</a:t>
            </a:r>
            <a:br>
              <a:rPr lang="en-US" dirty="0">
                <a:solidFill>
                  <a:schemeClr val="accent4">
                    <a:lumMod val="75000"/>
                  </a:schemeClr>
                </a:solidFill>
              </a:rPr>
            </a:br>
            <a:r>
              <a:rPr lang="en-US" sz="2200" dirty="0">
                <a:solidFill>
                  <a:schemeClr val="accent4">
                    <a:lumMod val="75000"/>
                  </a:schemeClr>
                </a:solidFill>
              </a:rPr>
              <a:t>Tickets de problèmes d’adressage IPv4 et de technologies d’adressage (suite)</a:t>
            </a:r>
          </a:p>
        </p:txBody>
      </p:sp>
      <p:sp>
        <p:nvSpPr>
          <p:cNvPr id="2" name="Rectangle 1">
            <a:extLst>
              <a:ext uri="{FF2B5EF4-FFF2-40B4-BE49-F238E27FC236}">
                <a16:creationId xmlns:a16="http://schemas.microsoft.com/office/drawing/2014/main" id="{09FF4F5D-70B8-4224-91F2-4D3C5F190FF9}"/>
              </a:ext>
            </a:extLst>
          </p:cNvPr>
          <p:cNvSpPr/>
          <p:nvPr/>
        </p:nvSpPr>
        <p:spPr>
          <a:xfrm>
            <a:off x="121441" y="731837"/>
            <a:ext cx="5587795" cy="3970318"/>
          </a:xfrm>
          <a:prstGeom prst="rect">
            <a:avLst/>
          </a:prstGeom>
        </p:spPr>
        <p:txBody>
          <a:bodyPr wrap="square">
            <a:spAutoFit/>
          </a:bodyPr>
          <a:lstStyle/>
          <a:p>
            <a:pPr algn="l" rtl="0"/>
            <a:r>
              <a:rPr lang="en-US" sz="1400" b="1" dirty="0"/>
              <a:t>Ticket de problème 1</a:t>
            </a:r>
          </a:p>
          <a:p>
            <a:pPr algn="l" rtl="0"/>
            <a:r>
              <a:rPr lang="en-US" sz="1400" b="1" dirty="0"/>
              <a:t>Problème:</a:t>
            </a:r>
            <a:r>
              <a:rPr lang="en-US" sz="1400" dirty="0"/>
              <a:t>PC1 n'est pas en mesure d'accéder aux ressources sur le serveur Web 192.0.2.1.</a:t>
            </a:r>
          </a:p>
          <a:p>
            <a:pPr marL="342900" indent="-342900" algn="l" rtl="0">
              <a:buFont typeface="+mj-lt"/>
              <a:buAutoNum type="arabicPeriod"/>
            </a:pPr>
            <a:r>
              <a:rPr lang="en-US" sz="1400" dirty="0"/>
              <a:t>un ping du PC1 vers 192.0.2.1</a:t>
            </a:r>
            <a:r>
              <a:rPr lang="en-US" sz="1400" i="1" dirty="0"/>
              <a:t>échoue</a:t>
            </a:r>
            <a:endParaRPr lang="en-US" sz="1400" dirty="0"/>
          </a:p>
          <a:p>
            <a:pPr marL="342900" indent="-342900" algn="l" rtl="0">
              <a:buFont typeface="+mj-lt"/>
              <a:buAutoNum type="arabicPeriod"/>
            </a:pPr>
            <a:r>
              <a:rPr lang="en-US" sz="1400" dirty="0"/>
              <a:t>un ping de PC1 vers la passerelle par défaut R1 à 10.1.1.1</a:t>
            </a:r>
            <a:r>
              <a:rPr lang="en-US" sz="1400" i="1" dirty="0"/>
              <a:t>réussit</a:t>
            </a:r>
          </a:p>
          <a:p>
            <a:pPr marL="342900" indent="-342900" algn="l" rtl="0">
              <a:buFont typeface="+mj-lt"/>
              <a:buAutoNum type="arabicPeriod"/>
            </a:pPr>
            <a:r>
              <a:rPr lang="en-US" sz="1400" dirty="0"/>
              <a:t>un ping du PC2 vers 192.0.2.1</a:t>
            </a:r>
            <a:r>
              <a:rPr lang="en-US" sz="1400" i="1" dirty="0"/>
              <a:t>réussit</a:t>
            </a:r>
            <a:endParaRPr lang="en-US" sz="1400" dirty="0"/>
          </a:p>
          <a:p>
            <a:pPr marL="342900" indent="-342900" algn="l" rtl="0">
              <a:buFont typeface="+mj-lt"/>
              <a:buAutoNum type="arabicPeriod"/>
            </a:pPr>
            <a:r>
              <a:rPr lang="en-US" sz="1400" dirty="0"/>
              <a:t>La connectivité des couches 2 et 3 de PC1 et PC2 au routeur est correcte</a:t>
            </a:r>
          </a:p>
          <a:p>
            <a:pPr marL="342900" indent="-342900" algn="l" rtl="0">
              <a:buFont typeface="+mj-lt"/>
              <a:buAutoNum type="arabicPeriod"/>
            </a:pPr>
            <a:r>
              <a:rPr lang="en-US" sz="1400" dirty="0"/>
              <a:t>vous avez confirmé que PC2 peut accéder aux ressources Internet</a:t>
            </a:r>
          </a:p>
          <a:p>
            <a:pPr algn="l" rtl="0"/>
            <a:endParaRPr lang="en-US" sz="1400" dirty="0"/>
          </a:p>
          <a:p>
            <a:pPr algn="l" rtl="0"/>
            <a:r>
              <a:rPr lang="en-US" sz="1400" b="1" dirty="0"/>
              <a:t>Raisons possibles</a:t>
            </a:r>
          </a:p>
          <a:p>
            <a:pPr algn="l" rtl="0"/>
            <a:r>
              <a:rPr lang="en-US" sz="1400" dirty="0"/>
              <a:t>1. Une liste de contrôle d'accès (ACL) empêche PC1 d'accéder aux ressources sur Internet ?</a:t>
            </a:r>
          </a:p>
          <a:p>
            <a:pPr algn="l" rtl="0"/>
            <a:r>
              <a:rPr lang="en-US" sz="1400" dirty="0"/>
              <a:t>2. Un problème NAT pourrait empêcher la traduction de 10.1.1.10 ?</a:t>
            </a:r>
          </a:p>
          <a:p>
            <a:pPr algn="l" rtl="0"/>
            <a:r>
              <a:rPr lang="en-US" sz="1400" dirty="0"/>
              <a:t>3. PC1 pourrait envoyer des paquets destinés à un réseau distant à la mauvaise passerelle par défaut</a:t>
            </a:r>
          </a:p>
          <a:p>
            <a:pPr algn="l" rtl="0"/>
            <a:endParaRPr lang="en-US" sz="1400" dirty="0"/>
          </a:p>
          <a:p>
            <a:pPr algn="l" rtl="0"/>
            <a:r>
              <a:rPr lang="en-US" sz="1400" b="1" dirty="0"/>
              <a:t>Répondre</a:t>
            </a:r>
            <a:r>
              <a:rPr lang="en-US" sz="1400" dirty="0"/>
              <a:t>- vous voyez que la passerelle par défaut est configurée comme 10.1.1.100, ce qui n'est pas l'adresse IP de l'interface de R1.</a:t>
            </a:r>
          </a:p>
        </p:txBody>
      </p:sp>
      <p:pic>
        <p:nvPicPr>
          <p:cNvPr id="8" name="Picture 7">
            <a:extLst>
              <a:ext uri="{FF2B5EF4-FFF2-40B4-BE49-F238E27FC236}">
                <a16:creationId xmlns:a16="http://schemas.microsoft.com/office/drawing/2014/main" id="{77A58C67-7651-4EBC-B91C-055BCE2534AD}"/>
              </a:ext>
            </a:extLst>
          </p:cNvPr>
          <p:cNvPicPr>
            <a:picLocks noChangeAspect="1"/>
          </p:cNvPicPr>
          <p:nvPr/>
        </p:nvPicPr>
        <p:blipFill>
          <a:blip r:embed="rId3"/>
          <a:srcRect/>
          <a:stretch/>
        </p:blipFill>
        <p:spPr>
          <a:xfrm>
            <a:off x="5801564" y="865241"/>
            <a:ext cx="3250491" cy="1706509"/>
          </a:xfrm>
          <a:prstGeom prst="rect">
            <a:avLst/>
          </a:prstGeom>
        </p:spPr>
      </p:pic>
      <p:pic>
        <p:nvPicPr>
          <p:cNvPr id="5" name="Picture 4" descr="A screenshot of a cell phone  Description automatically generated">
            <a:extLst>
              <a:ext uri="{FF2B5EF4-FFF2-40B4-BE49-F238E27FC236}">
                <a16:creationId xmlns:a16="http://schemas.microsoft.com/office/drawing/2014/main" id="{741995F1-2913-4527-BC8C-9A159F0A776D}"/>
              </a:ext>
            </a:extLst>
          </p:cNvPr>
          <p:cNvPicPr>
            <a:picLocks noChangeAspect="1"/>
          </p:cNvPicPr>
          <p:nvPr/>
        </p:nvPicPr>
        <p:blipFill>
          <a:blip r:embed="rId4"/>
          <a:stretch>
            <a:fillRect/>
          </a:stretch>
        </p:blipFill>
        <p:spPr>
          <a:xfrm>
            <a:off x="5772068" y="2939845"/>
            <a:ext cx="3319316" cy="1170448"/>
          </a:xfrm>
          <a:prstGeom prst="rect">
            <a:avLst/>
          </a:prstGeom>
        </p:spPr>
      </p:pic>
    </p:spTree>
    <p:extLst>
      <p:ext uri="{BB962C8B-B14F-4D97-AF65-F5344CB8AC3E}">
        <p14:creationId xmlns:p14="http://schemas.microsoft.com/office/powerpoint/2010/main" val="3993321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8839201" cy="731837"/>
          </a:xfrm>
        </p:spPr>
        <p:txBody>
          <a:bodyPr/>
          <a:lstStyle/>
          <a:p>
            <a:pPr algn="l" rtl="0"/>
            <a:r>
              <a:rPr lang="en-US" sz="1600" dirty="0">
                <a:solidFill>
                  <a:schemeClr val="accent4">
                    <a:lumMod val="75000"/>
                  </a:schemeClr>
                </a:solidFill>
              </a:rPr>
              <a:t>Billets de problème</a:t>
            </a:r>
            <a:br>
              <a:rPr lang="en-US" dirty="0">
                <a:solidFill>
                  <a:schemeClr val="accent4">
                    <a:lumMod val="75000"/>
                  </a:schemeClr>
                </a:solidFill>
              </a:rPr>
            </a:br>
            <a:r>
              <a:rPr lang="en-US" sz="2200" dirty="0">
                <a:solidFill>
                  <a:schemeClr val="accent4">
                    <a:lumMod val="75000"/>
                  </a:schemeClr>
                </a:solidFill>
              </a:rPr>
              <a:t>Tickets de problèmes d’adressage IPv4 et de technologies d’adressage (suite)</a:t>
            </a:r>
          </a:p>
        </p:txBody>
      </p:sp>
      <p:sp>
        <p:nvSpPr>
          <p:cNvPr id="2" name="Rectangle 1">
            <a:extLst>
              <a:ext uri="{FF2B5EF4-FFF2-40B4-BE49-F238E27FC236}">
                <a16:creationId xmlns:a16="http://schemas.microsoft.com/office/drawing/2014/main" id="{09FF4F5D-70B8-4224-91F2-4D3C5F190FF9}"/>
              </a:ext>
            </a:extLst>
          </p:cNvPr>
          <p:cNvSpPr/>
          <p:nvPr/>
        </p:nvSpPr>
        <p:spPr>
          <a:xfrm>
            <a:off x="114565" y="621834"/>
            <a:ext cx="5509339" cy="4401205"/>
          </a:xfrm>
          <a:prstGeom prst="rect">
            <a:avLst/>
          </a:prstGeom>
        </p:spPr>
        <p:txBody>
          <a:bodyPr wrap="square">
            <a:spAutoFit/>
          </a:bodyPr>
          <a:lstStyle/>
          <a:p>
            <a:pPr algn="l" rtl="0"/>
            <a:r>
              <a:rPr lang="en-US" sz="1400" b="1" dirty="0"/>
              <a:t>Ticket de problème 2</a:t>
            </a:r>
          </a:p>
          <a:p>
            <a:pPr algn="l" rtl="0"/>
            <a:r>
              <a:rPr lang="en-US" sz="1400" b="1" dirty="0"/>
              <a:t>Problème:</a:t>
            </a:r>
            <a:r>
              <a:rPr lang="en-US" sz="1400" dirty="0"/>
              <a:t>PC1 n'est pas en mesure d'accéder aux ressources sur le serveur Web 192.0.2.1.</a:t>
            </a:r>
          </a:p>
          <a:p>
            <a:pPr marL="342900" indent="-342900" algn="l" rtl="0">
              <a:buFont typeface="+mj-lt"/>
              <a:buAutoNum type="arabicPeriod"/>
            </a:pPr>
            <a:r>
              <a:rPr lang="en-US" sz="1400" dirty="0"/>
              <a:t>un ping du PC1 vers 192.0.2.1</a:t>
            </a:r>
            <a:r>
              <a:rPr lang="en-US" sz="1400" i="1" dirty="0"/>
              <a:t>échoue</a:t>
            </a:r>
            <a:endParaRPr lang="en-US" sz="1400" dirty="0"/>
          </a:p>
          <a:p>
            <a:pPr marL="342900" indent="-342900" algn="l" rtl="0">
              <a:buFont typeface="+mj-lt"/>
              <a:buAutoNum type="arabicPeriod"/>
            </a:pPr>
            <a:r>
              <a:rPr lang="en-US" sz="1400" dirty="0"/>
              <a:t>un ping de PC1 vers la passerelle par défaut R1 à 10.1.1.1</a:t>
            </a:r>
            <a:r>
              <a:rPr lang="en-US" sz="1400" i="1" dirty="0"/>
              <a:t>échoue</a:t>
            </a:r>
          </a:p>
          <a:p>
            <a:pPr marL="342900" indent="-342900" algn="l" rtl="0">
              <a:buFont typeface="+mj-lt"/>
              <a:buAutoNum type="arabicPeriod"/>
            </a:pPr>
            <a:r>
              <a:rPr lang="en-US" sz="1400" dirty="0"/>
              <a:t>un ping du PC2 vers 192.0.2.1</a:t>
            </a:r>
            <a:r>
              <a:rPr lang="en-US" sz="1400" i="1" dirty="0"/>
              <a:t>échoue</a:t>
            </a:r>
          </a:p>
          <a:p>
            <a:pPr marL="342900" indent="-342900" algn="l" rtl="0">
              <a:buFont typeface="+mj-lt"/>
              <a:buAutoNum type="arabicPeriod"/>
            </a:pPr>
            <a:r>
              <a:rPr lang="en-US" sz="1400" dirty="0"/>
              <a:t>un ping du PC2 vers la passerelle par défaut R1 à 10.1.1.1</a:t>
            </a:r>
            <a:r>
              <a:rPr lang="en-US" sz="1400" i="1" dirty="0"/>
              <a:t>échoue</a:t>
            </a:r>
            <a:endParaRPr lang="en-US" sz="1400" dirty="0"/>
          </a:p>
          <a:p>
            <a:pPr marL="342900" indent="-342900" algn="l" rtl="0">
              <a:buFont typeface="+mj-lt"/>
              <a:buAutoNum type="arabicPeriod"/>
            </a:pPr>
            <a:r>
              <a:rPr lang="en-US" sz="1400" dirty="0"/>
              <a:t>Aucune connectivité de couche 2 et 3 de PC1 et PC2 au routeur</a:t>
            </a:r>
          </a:p>
          <a:p>
            <a:pPr algn="l" rtl="0"/>
            <a:endParaRPr lang="en-US" sz="1400" dirty="0"/>
          </a:p>
          <a:p>
            <a:pPr algn="l" rtl="0"/>
            <a:r>
              <a:rPr lang="en-US" sz="1400" b="1" dirty="0"/>
              <a:t>Raisons possibles</a:t>
            </a:r>
          </a:p>
          <a:p>
            <a:pPr algn="l" rtl="0"/>
            <a:r>
              <a:rPr lang="en-US" sz="1400" dirty="0"/>
              <a:t>1. Les VLAN, les ACL VLAN, les lignes réseau, le VTP et le STP sont tous possibles ?</a:t>
            </a:r>
          </a:p>
          <a:p>
            <a:pPr algn="l" rtl="0"/>
            <a:r>
              <a:rPr lang="en-US" sz="1400" dirty="0"/>
              <a:t>2. Commencez par la solution simple et vérifiez l'adressage IP sur PC1</a:t>
            </a:r>
          </a:p>
          <a:p>
            <a:pPr algn="l" rtl="0"/>
            <a:endParaRPr lang="en-US" sz="1400" dirty="0"/>
          </a:p>
          <a:p>
            <a:pPr algn="l" rtl="0"/>
            <a:r>
              <a:rPr lang="en-US" sz="1400" b="1" dirty="0"/>
              <a:t>Répondre</a:t>
            </a:r>
            <a:r>
              <a:rPr lang="en-US" sz="1400" dirty="0"/>
              <a:t>- vous voyez que PC1 a un adressage APIPA et pas de passerelle par défaut, il ne peut pas atteindre le serveur DHCP. Le serveur DHCP se trouve sur un autre réseau, ce qui signifie que le routeur doit être configuré pour transférer les diffusions DHCPDISCOVER. Dans</a:t>
            </a:r>
            <a:r>
              <a:rPr lang="en-US" sz="1400" b="1" dirty="0"/>
              <a:t>Exemple 1-52</a:t>
            </a:r>
            <a:r>
              <a:rPr lang="en-US" sz="1400" dirty="0"/>
              <a:t>. La sortie indique que l'adresse IP d'assistance est 172.16.1.100, ce qui n'est pas correct selon le schéma de réseau.</a:t>
            </a:r>
          </a:p>
          <a:p>
            <a:pPr algn="l" rtl="0"/>
            <a:endParaRPr lang="en-US" sz="1400" dirty="0"/>
          </a:p>
        </p:txBody>
      </p:sp>
      <p:pic>
        <p:nvPicPr>
          <p:cNvPr id="8" name="Picture 7">
            <a:extLst>
              <a:ext uri="{FF2B5EF4-FFF2-40B4-BE49-F238E27FC236}">
                <a16:creationId xmlns:a16="http://schemas.microsoft.com/office/drawing/2014/main" id="{77A58C67-7651-4EBC-B91C-055BCE2534AD}"/>
              </a:ext>
            </a:extLst>
          </p:cNvPr>
          <p:cNvPicPr>
            <a:picLocks noChangeAspect="1"/>
          </p:cNvPicPr>
          <p:nvPr/>
        </p:nvPicPr>
        <p:blipFill>
          <a:blip r:embed="rId3"/>
          <a:srcRect/>
          <a:stretch/>
        </p:blipFill>
        <p:spPr>
          <a:xfrm>
            <a:off x="5623904" y="845577"/>
            <a:ext cx="3428151" cy="1706509"/>
          </a:xfrm>
          <a:prstGeom prst="rect">
            <a:avLst/>
          </a:prstGeom>
        </p:spPr>
      </p:pic>
      <p:pic>
        <p:nvPicPr>
          <p:cNvPr id="5" name="Picture 4">
            <a:extLst>
              <a:ext uri="{FF2B5EF4-FFF2-40B4-BE49-F238E27FC236}">
                <a16:creationId xmlns:a16="http://schemas.microsoft.com/office/drawing/2014/main" id="{741995F1-2913-4527-BC8C-9A159F0A776D}"/>
              </a:ext>
            </a:extLst>
          </p:cNvPr>
          <p:cNvPicPr>
            <a:picLocks noChangeAspect="1"/>
          </p:cNvPicPr>
          <p:nvPr/>
        </p:nvPicPr>
        <p:blipFill>
          <a:blip r:embed="rId4"/>
          <a:srcRect/>
          <a:stretch/>
        </p:blipFill>
        <p:spPr>
          <a:xfrm>
            <a:off x="5590646" y="2884985"/>
            <a:ext cx="3500738" cy="616379"/>
          </a:xfrm>
          <a:prstGeom prst="rect">
            <a:avLst/>
          </a:prstGeom>
        </p:spPr>
      </p:pic>
      <p:pic>
        <p:nvPicPr>
          <p:cNvPr id="6" name="Picture 5">
            <a:extLst>
              <a:ext uri="{FF2B5EF4-FFF2-40B4-BE49-F238E27FC236}">
                <a16:creationId xmlns:a16="http://schemas.microsoft.com/office/drawing/2014/main" id="{4F3F02B7-8AF4-4F27-870B-897F1D29DF93}"/>
              </a:ext>
            </a:extLst>
          </p:cNvPr>
          <p:cNvPicPr>
            <a:picLocks noChangeAspect="1"/>
          </p:cNvPicPr>
          <p:nvPr/>
        </p:nvPicPr>
        <p:blipFill>
          <a:blip r:embed="rId5"/>
          <a:srcRect/>
          <a:stretch/>
        </p:blipFill>
        <p:spPr>
          <a:xfrm>
            <a:off x="5587582" y="3481713"/>
            <a:ext cx="3503862" cy="689099"/>
          </a:xfrm>
          <a:prstGeom prst="rect">
            <a:avLst/>
          </a:prstGeom>
        </p:spPr>
      </p:pic>
    </p:spTree>
    <p:extLst>
      <p:ext uri="{BB962C8B-B14F-4D97-AF65-F5344CB8AC3E}">
        <p14:creationId xmlns:p14="http://schemas.microsoft.com/office/powerpoint/2010/main" val="67613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8839201" cy="731837"/>
          </a:xfrm>
        </p:spPr>
        <p:txBody>
          <a:bodyPr/>
          <a:lstStyle/>
          <a:p>
            <a:pPr algn="l" rtl="0"/>
            <a:r>
              <a:rPr lang="en-US" sz="1600" dirty="0">
                <a:solidFill>
                  <a:schemeClr val="accent4">
                    <a:lumMod val="75000"/>
                  </a:schemeClr>
                </a:solidFill>
              </a:rPr>
              <a:t>Billets de problème</a:t>
            </a:r>
            <a:br>
              <a:rPr lang="en-US" dirty="0">
                <a:solidFill>
                  <a:schemeClr val="accent4">
                    <a:lumMod val="75000"/>
                  </a:schemeClr>
                </a:solidFill>
              </a:rPr>
            </a:br>
            <a:r>
              <a:rPr lang="en-US" sz="2400" dirty="0">
                <a:solidFill>
                  <a:schemeClr val="accent4">
                    <a:lumMod val="75000"/>
                  </a:schemeClr>
                </a:solidFill>
              </a:rPr>
              <a:t>Tickets de problèmes d’adressage IPv6</a:t>
            </a:r>
          </a:p>
        </p:txBody>
      </p:sp>
      <p:sp>
        <p:nvSpPr>
          <p:cNvPr id="2" name="Rectangle 1">
            <a:extLst>
              <a:ext uri="{FF2B5EF4-FFF2-40B4-BE49-F238E27FC236}">
                <a16:creationId xmlns:a16="http://schemas.microsoft.com/office/drawing/2014/main" id="{09FF4F5D-70B8-4224-91F2-4D3C5F190FF9}"/>
              </a:ext>
            </a:extLst>
          </p:cNvPr>
          <p:cNvSpPr/>
          <p:nvPr/>
        </p:nvSpPr>
        <p:spPr>
          <a:xfrm>
            <a:off x="128317" y="628709"/>
            <a:ext cx="5587795" cy="4185761"/>
          </a:xfrm>
          <a:prstGeom prst="rect">
            <a:avLst/>
          </a:prstGeom>
        </p:spPr>
        <p:txBody>
          <a:bodyPr wrap="square">
            <a:spAutoFit/>
          </a:bodyPr>
          <a:lstStyle/>
          <a:p>
            <a:pPr algn="l" rtl="0"/>
            <a:r>
              <a:rPr lang="en-US" sz="1400" b="1" dirty="0"/>
              <a:t>Ticket d'incident 3</a:t>
            </a:r>
          </a:p>
          <a:p>
            <a:pPr algn="l" rtl="0"/>
            <a:r>
              <a:rPr lang="en-US" sz="1400" b="1" dirty="0"/>
              <a:t>Problème:</a:t>
            </a:r>
            <a:r>
              <a:rPr lang="en-US" sz="1400" dirty="0"/>
              <a:t>PC1 ne peut pas accéder aux ressources sur le serveur Web 2001:db8:d::1.</a:t>
            </a:r>
          </a:p>
          <a:p>
            <a:pPr marL="342900" indent="-342900" algn="l" rtl="0">
              <a:buFont typeface="+mj-lt"/>
              <a:buAutoNum type="arabicPeriod"/>
            </a:pPr>
            <a:r>
              <a:rPr lang="en-US" sz="1400" dirty="0"/>
              <a:t>un ping de PC1 à 2001:db8:d::1</a:t>
            </a:r>
            <a:r>
              <a:rPr lang="en-US" sz="1400" i="1" dirty="0"/>
              <a:t>échoue</a:t>
            </a:r>
            <a:endParaRPr lang="en-US" sz="1400" dirty="0"/>
          </a:p>
          <a:p>
            <a:pPr marL="342900" indent="-342900" algn="l" rtl="0">
              <a:buFont typeface="+mj-lt"/>
              <a:buAutoNum type="arabicPeriod"/>
            </a:pPr>
            <a:r>
              <a:rPr lang="en-US" sz="1400" dirty="0"/>
              <a:t>un ping du PC1 vers la passerelle par défaut à 2001:db8:a:a::1</a:t>
            </a:r>
            <a:r>
              <a:rPr lang="en-US" sz="1400" i="1" dirty="0"/>
              <a:t>échoue</a:t>
            </a:r>
          </a:p>
          <a:p>
            <a:pPr marL="342900" indent="-342900" algn="l" rtl="0">
              <a:buFont typeface="+mj-lt"/>
              <a:buAutoNum type="arabicPeriod"/>
            </a:pPr>
            <a:r>
              <a:rPr lang="en-US" sz="1400" dirty="0"/>
              <a:t>un ipconfig révèle que PC1 ne génère pas d'adressage automatique</a:t>
            </a:r>
            <a:endParaRPr lang="en-US" sz="1400" i="1" dirty="0"/>
          </a:p>
          <a:p>
            <a:pPr marL="342900" indent="-342900" algn="l" rtl="0">
              <a:buFont typeface="+mj-lt"/>
              <a:buAutoNum type="arabicPeriod"/>
            </a:pPr>
            <a:r>
              <a:rPr lang="en-US" sz="1400" dirty="0"/>
              <a:t>un ipconfig révèle que PC2 ne génère pas d'adressage automatique</a:t>
            </a:r>
          </a:p>
          <a:p>
            <a:pPr algn="l" rtl="0"/>
            <a:endParaRPr lang="en-US" sz="1400" dirty="0"/>
          </a:p>
          <a:p>
            <a:pPr algn="l" rtl="0"/>
            <a:r>
              <a:rPr lang="en-US" sz="1400" b="1" dirty="0"/>
              <a:t>Raisons possibles</a:t>
            </a:r>
          </a:p>
          <a:p>
            <a:pPr algn="l" rtl="0"/>
            <a:r>
              <a:rPr lang="en-US" sz="1400" dirty="0"/>
              <a:t>1. Les PC sont-ils configurés pour l'adressage automatique ?</a:t>
            </a:r>
          </a:p>
          <a:p>
            <a:pPr algn="l" rtl="0"/>
            <a:r>
              <a:rPr lang="en-US" sz="1400" dirty="0"/>
              <a:t>2. R1 est-il configuré pour fournir des RA aux PC pour que SLAAC fonctionne ?</a:t>
            </a:r>
          </a:p>
          <a:p>
            <a:pPr algn="l" rtl="0"/>
            <a:endParaRPr lang="en-US" sz="1400" dirty="0"/>
          </a:p>
          <a:p>
            <a:pPr algn="l" rtl="0"/>
            <a:r>
              <a:rPr lang="en-US" sz="1400" b="1" dirty="0"/>
              <a:t>Répondre</a:t>
            </a:r>
            <a:r>
              <a:rPr lang="en-US" sz="1400" dirty="0"/>
              <a:t>- Vous donnez la commande</a:t>
            </a:r>
            <a:r>
              <a:rPr lang="en-US" sz="1400" b="1" dirty="0"/>
              <a:t>afficher l'interface ipv6 gigabitEthernet 0/0</a:t>
            </a:r>
            <a:r>
              <a:rPr lang="en-US" sz="1400" dirty="0"/>
              <a:t>sur R1. La sortie indique que les hôtes utilisent SLAAC pour les adresses et que DHCP est utilisé pour d'autres valeurs de configuration. Cependant, cela indique également que les RA sont supprimés. Vous émettez</a:t>
            </a:r>
            <a:r>
              <a:rPr lang="en-US" sz="1400" b="1" dirty="0"/>
              <a:t>afficher l'exécution int g0/0</a:t>
            </a:r>
            <a:r>
              <a:rPr lang="en-US" sz="1400" dirty="0"/>
              <a:t>pour vérifier la configuration sur l'interface. Comme le montre l'exemple 1-60, l'interface est configurée avec</a:t>
            </a:r>
            <a:r>
              <a:rPr lang="en-US" sz="1400" b="1" dirty="0"/>
              <a:t>ipv6 et ra suppriment tout</a:t>
            </a:r>
            <a:r>
              <a:rPr lang="en-US" sz="1400" dirty="0"/>
              <a:t>, ce qui empêche R1 d'envoyer des RA.</a:t>
            </a:r>
          </a:p>
        </p:txBody>
      </p:sp>
      <p:pic>
        <p:nvPicPr>
          <p:cNvPr id="8" name="Picture 7">
            <a:extLst>
              <a:ext uri="{FF2B5EF4-FFF2-40B4-BE49-F238E27FC236}">
                <a16:creationId xmlns:a16="http://schemas.microsoft.com/office/drawing/2014/main" id="{77A58C67-7651-4EBC-B91C-055BCE2534AD}"/>
              </a:ext>
            </a:extLst>
          </p:cNvPr>
          <p:cNvPicPr>
            <a:picLocks noChangeAspect="1"/>
          </p:cNvPicPr>
          <p:nvPr/>
        </p:nvPicPr>
        <p:blipFill>
          <a:blip r:embed="rId3"/>
          <a:srcRect/>
          <a:stretch/>
        </p:blipFill>
        <p:spPr>
          <a:xfrm>
            <a:off x="5801564" y="875264"/>
            <a:ext cx="3250491" cy="1647134"/>
          </a:xfrm>
          <a:prstGeom prst="rect">
            <a:avLst/>
          </a:prstGeom>
        </p:spPr>
      </p:pic>
      <p:pic>
        <p:nvPicPr>
          <p:cNvPr id="5" name="Picture 4">
            <a:extLst>
              <a:ext uri="{FF2B5EF4-FFF2-40B4-BE49-F238E27FC236}">
                <a16:creationId xmlns:a16="http://schemas.microsoft.com/office/drawing/2014/main" id="{741995F1-2913-4527-BC8C-9A159F0A776D}"/>
              </a:ext>
            </a:extLst>
          </p:cNvPr>
          <p:cNvPicPr>
            <a:picLocks noChangeAspect="1"/>
          </p:cNvPicPr>
          <p:nvPr/>
        </p:nvPicPr>
        <p:blipFill>
          <a:blip r:embed="rId4"/>
          <a:srcRect/>
          <a:stretch/>
        </p:blipFill>
        <p:spPr>
          <a:xfrm>
            <a:off x="5791732" y="2825993"/>
            <a:ext cx="3270156" cy="1477427"/>
          </a:xfrm>
          <a:prstGeom prst="rect">
            <a:avLst/>
          </a:prstGeom>
        </p:spPr>
      </p:pic>
    </p:spTree>
    <p:extLst>
      <p:ext uri="{BB962C8B-B14F-4D97-AF65-F5344CB8AC3E}">
        <p14:creationId xmlns:p14="http://schemas.microsoft.com/office/powerpoint/2010/main" val="297847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1" y="0"/>
            <a:ext cx="8839201" cy="731837"/>
          </a:xfrm>
        </p:spPr>
        <p:txBody>
          <a:bodyPr/>
          <a:lstStyle/>
          <a:p>
            <a:pPr algn="l" rtl="0"/>
            <a:r>
              <a:rPr lang="en-US" sz="1600" dirty="0">
                <a:solidFill>
                  <a:schemeClr val="accent4">
                    <a:lumMod val="75000"/>
                  </a:schemeClr>
                </a:solidFill>
              </a:rPr>
              <a:t>Billets de problème</a:t>
            </a:r>
            <a:br>
              <a:rPr lang="en-US" dirty="0">
                <a:solidFill>
                  <a:schemeClr val="accent4">
                    <a:lumMod val="75000"/>
                  </a:schemeClr>
                </a:solidFill>
              </a:rPr>
            </a:br>
            <a:r>
              <a:rPr lang="en-US" sz="2400" dirty="0">
                <a:solidFill>
                  <a:schemeClr val="accent4">
                    <a:lumMod val="75000"/>
                  </a:schemeClr>
                </a:solidFill>
              </a:rPr>
              <a:t>Tickets de problèmes de routage statique</a:t>
            </a:r>
          </a:p>
        </p:txBody>
      </p:sp>
      <p:sp>
        <p:nvSpPr>
          <p:cNvPr id="2" name="Rectangle 1">
            <a:extLst>
              <a:ext uri="{FF2B5EF4-FFF2-40B4-BE49-F238E27FC236}">
                <a16:creationId xmlns:a16="http://schemas.microsoft.com/office/drawing/2014/main" id="{09FF4F5D-70B8-4224-91F2-4D3C5F190FF9}"/>
              </a:ext>
            </a:extLst>
          </p:cNvPr>
          <p:cNvSpPr/>
          <p:nvPr/>
        </p:nvSpPr>
        <p:spPr>
          <a:xfrm>
            <a:off x="135193" y="642459"/>
            <a:ext cx="5419960" cy="4185761"/>
          </a:xfrm>
          <a:prstGeom prst="rect">
            <a:avLst/>
          </a:prstGeom>
        </p:spPr>
        <p:txBody>
          <a:bodyPr wrap="square">
            <a:spAutoFit/>
          </a:bodyPr>
          <a:lstStyle/>
          <a:p>
            <a:pPr algn="l" rtl="0"/>
            <a:r>
              <a:rPr lang="en-US" sz="1400" b="1" dirty="0"/>
              <a:t>Ticket d'incident 4</a:t>
            </a:r>
          </a:p>
          <a:p>
            <a:pPr algn="l" rtl="0"/>
            <a:r>
              <a:rPr lang="en-US" sz="1400" b="1" dirty="0"/>
              <a:t>Problème:</a:t>
            </a:r>
            <a:r>
              <a:rPr lang="en-US" sz="1400" dirty="0"/>
              <a:t>Les utilisateurs du réseau 10.1.1.0/24 ne peuvent pas accéder au serveur FTP en 10.1.3.10 ni au serveur Web en 10.1.3.5.</a:t>
            </a:r>
          </a:p>
          <a:p>
            <a:pPr algn="l" rtl="0"/>
            <a:endParaRPr lang="en-US" sz="1400" dirty="0"/>
          </a:p>
          <a:p>
            <a:pPr marL="342900" indent="-342900" algn="l" rtl="0">
              <a:buFont typeface="+mj-lt"/>
              <a:buAutoNum type="arabicPeriod"/>
            </a:pPr>
            <a:r>
              <a:rPr lang="en-US" sz="1400" dirty="0"/>
              <a:t>un ping du PC1 au 10.1.3.10</a:t>
            </a:r>
            <a:r>
              <a:rPr lang="en-US" sz="1400" i="1" dirty="0"/>
              <a:t>échoue</a:t>
            </a:r>
            <a:endParaRPr lang="en-US" sz="1400" dirty="0"/>
          </a:p>
          <a:p>
            <a:pPr marL="342900" indent="-342900" algn="l" rtl="0">
              <a:buFont typeface="+mj-lt"/>
              <a:buAutoNum type="arabicPeriod"/>
            </a:pPr>
            <a:r>
              <a:rPr lang="en-US" sz="1400" dirty="0"/>
              <a:t>R1 répond par un</a:t>
            </a:r>
            <a:r>
              <a:rPr lang="en-US" sz="1400" i="1" dirty="0"/>
              <a:t>Destination inaccessible</a:t>
            </a:r>
            <a:r>
              <a:rPr lang="en-US" sz="1400" dirty="0"/>
              <a:t>message indiquant qu'il n'y a pas d'itinéraire</a:t>
            </a:r>
          </a:p>
          <a:p>
            <a:pPr marL="342900" indent="-342900" algn="l" rtl="0">
              <a:buFont typeface="+mj-lt"/>
              <a:buAutoNum type="arabicPeriod"/>
            </a:pPr>
            <a:r>
              <a:rPr lang="en-US" sz="1400" dirty="0"/>
              <a:t>Un ping de 10.1.3.5 à 10.1.3.10 est</a:t>
            </a:r>
            <a:r>
              <a:rPr lang="en-US" sz="1400" i="1" dirty="0"/>
              <a:t>réussi</a:t>
            </a:r>
            <a:r>
              <a:rPr lang="en-US" sz="1400" dirty="0"/>
              <a:t> </a:t>
            </a:r>
          </a:p>
          <a:p>
            <a:pPr algn="l" rtl="0"/>
            <a:endParaRPr lang="en-US" sz="1400" dirty="0"/>
          </a:p>
          <a:p>
            <a:pPr algn="l" rtl="0"/>
            <a:r>
              <a:rPr lang="en-US" sz="1400" b="1" dirty="0"/>
              <a:t>Raisons possibles</a:t>
            </a:r>
          </a:p>
          <a:p>
            <a:pPr algn="l" rtl="0"/>
            <a:r>
              <a:rPr lang="en-US" sz="1400" dirty="0"/>
              <a:t>1. R1 dispose-t-il d'une route vers le réseau 10.1.3.0 ?</a:t>
            </a:r>
          </a:p>
          <a:p>
            <a:pPr algn="l" rtl="0"/>
            <a:r>
              <a:rPr lang="en-US" sz="1400" dirty="0"/>
              <a:t>2. Les routeurs R2 et R3 ont-ils des routes vers les réseaux ?</a:t>
            </a:r>
          </a:p>
          <a:p>
            <a:pPr algn="l" rtl="0"/>
            <a:endParaRPr lang="en-US" sz="1400" dirty="0"/>
          </a:p>
          <a:p>
            <a:pPr algn="l" rtl="0"/>
            <a:r>
              <a:rPr lang="en-US" sz="1400" b="1" dirty="0"/>
              <a:t>Répondre</a:t>
            </a:r>
            <a:r>
              <a:rPr lang="en-US" sz="1400" dirty="0"/>
              <a:t>– Vous délivrez le</a:t>
            </a:r>
            <a:r>
              <a:rPr lang="en-US" sz="1400" b="1" dirty="0"/>
              <a:t>afficher la route IP</a:t>
            </a:r>
            <a:r>
              <a:rPr lang="en-US" sz="1400" dirty="0"/>
              <a:t>commande sur R1 pour vérifier s'il sait comment acheminer le paquet vers 10.1.3.10. La correspondance la plus proche dans la table de routage est une route statique vers le réseau 10.1.3.0/29, ce qui signifie que 10.1.3.10 n'est pas couvert par la plage d'adresses du sous-réseau 10.1.3.0/29. Vous supprimez et remplacez la route statique et les pings réussissent désormais</a:t>
            </a:r>
          </a:p>
        </p:txBody>
      </p:sp>
      <p:pic>
        <p:nvPicPr>
          <p:cNvPr id="8" name="Picture 7">
            <a:extLst>
              <a:ext uri="{FF2B5EF4-FFF2-40B4-BE49-F238E27FC236}">
                <a16:creationId xmlns:a16="http://schemas.microsoft.com/office/drawing/2014/main" id="{77A58C67-7651-4EBC-B91C-055BCE2534AD}"/>
              </a:ext>
            </a:extLst>
          </p:cNvPr>
          <p:cNvPicPr>
            <a:picLocks noChangeAspect="1"/>
          </p:cNvPicPr>
          <p:nvPr/>
        </p:nvPicPr>
        <p:blipFill>
          <a:blip r:embed="rId3"/>
          <a:srcRect/>
          <a:stretch/>
        </p:blipFill>
        <p:spPr>
          <a:xfrm>
            <a:off x="5566532" y="1191516"/>
            <a:ext cx="3506149" cy="1014630"/>
          </a:xfrm>
          <a:prstGeom prst="rect">
            <a:avLst/>
          </a:prstGeom>
        </p:spPr>
      </p:pic>
      <p:pic>
        <p:nvPicPr>
          <p:cNvPr id="5" name="Picture 4">
            <a:extLst>
              <a:ext uri="{FF2B5EF4-FFF2-40B4-BE49-F238E27FC236}">
                <a16:creationId xmlns:a16="http://schemas.microsoft.com/office/drawing/2014/main" id="{741995F1-2913-4527-BC8C-9A159F0A776D}"/>
              </a:ext>
            </a:extLst>
          </p:cNvPr>
          <p:cNvPicPr>
            <a:picLocks noChangeAspect="1"/>
          </p:cNvPicPr>
          <p:nvPr/>
        </p:nvPicPr>
        <p:blipFill>
          <a:blip r:embed="rId4"/>
          <a:srcRect/>
          <a:stretch/>
        </p:blipFill>
        <p:spPr>
          <a:xfrm>
            <a:off x="5555153" y="2832750"/>
            <a:ext cx="3527361" cy="1463913"/>
          </a:xfrm>
          <a:prstGeom prst="rect">
            <a:avLst/>
          </a:prstGeom>
        </p:spPr>
      </p:pic>
    </p:spTree>
    <p:extLst>
      <p:ext uri="{BB962C8B-B14F-4D97-AF65-F5344CB8AC3E}">
        <p14:creationId xmlns:p14="http://schemas.microsoft.com/office/powerpoint/2010/main" val="2545984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B89FE0-AFBF-4F30-AE65-3B18BCBE3A9A}"/>
              </a:ext>
            </a:extLst>
          </p:cNvPr>
          <p:cNvSpPr>
            <a:spLocks noGrp="1"/>
          </p:cNvSpPr>
          <p:nvPr>
            <p:ph type="ctrTitle"/>
          </p:nvPr>
        </p:nvSpPr>
        <p:spPr>
          <a:xfrm>
            <a:off x="359274" y="466724"/>
            <a:ext cx="8495967" cy="1351755"/>
          </a:xfrm>
        </p:spPr>
        <p:txBody>
          <a:bodyPr/>
          <a:lstStyle/>
          <a:p>
            <a:pPr algn="l" rtl="0"/>
            <a:r>
              <a:rPr lang="en-US" sz="4800" dirty="0">
                <a:solidFill>
                  <a:schemeClr val="accent5">
                    <a:lumMod val="40000"/>
                    <a:lumOff val="60000"/>
                  </a:schemeClr>
                </a:solidFill>
              </a:rPr>
              <a:t>Préparez-vous à l'examen</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859374897"/>
      </p:ext>
    </p:extLst>
  </p:cSld>
  <p:clrMapOvr>
    <a:masterClrMapping/>
  </p:clrMapOvr>
  <p:transition spd="slow">
    <p:wip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04774"/>
            <a:ext cx="8345488" cy="731837"/>
          </a:xfrm>
        </p:spPr>
        <p:txBody>
          <a:bodyPr/>
          <a:lstStyle/>
          <a:p>
            <a:pPr algn="l" rtl="0"/>
            <a:r>
              <a:rPr lang="en-US" sz="1600" dirty="0"/>
              <a:t>Préparez-vous à l'examen</a:t>
            </a:r>
            <a:br>
              <a:rPr lang="en-US" sz="2400" dirty="0"/>
            </a:br>
            <a:r>
              <a:rPr lang="en-US" sz="2400" dirty="0"/>
              <a:t>Sujets clés du chapitre 1</a:t>
            </a:r>
          </a:p>
        </p:txBody>
      </p:sp>
      <p:graphicFrame>
        <p:nvGraphicFramePr>
          <p:cNvPr id="2" name="Table 1"/>
          <p:cNvGraphicFramePr>
            <a:graphicFrameLocks noGrp="1"/>
          </p:cNvGraphicFramePr>
          <p:nvPr>
            <p:extLst>
              <p:ext uri="{D42A27DB-BD31-4B8C-83A1-F6EECF244321}">
                <p14:modId xmlns:p14="http://schemas.microsoft.com/office/powerpoint/2010/main" val="2241665350"/>
              </p:ext>
            </p:extLst>
          </p:nvPr>
        </p:nvGraphicFramePr>
        <p:xfrm>
          <a:off x="814387" y="960713"/>
          <a:ext cx="7394192" cy="3545840"/>
        </p:xfrm>
        <a:graphic>
          <a:graphicData uri="http://schemas.openxmlformats.org/drawingml/2006/table">
            <a:tbl>
              <a:tblPr firstRow="1" bandRow="1">
                <a:tableStyleId>{5C22544A-7EE6-4342-B048-85BDC9FD1C3A}</a:tableStyleId>
              </a:tblPr>
              <a:tblGrid>
                <a:gridCol w="7394192">
                  <a:extLst>
                    <a:ext uri="{9D8B030D-6E8A-4147-A177-3AD203B41FA5}">
                      <a16:colId xmlns:a16="http://schemas.microsoft.com/office/drawing/2014/main" val="20000"/>
                    </a:ext>
                  </a:extLst>
                </a:gridCol>
              </a:tblGrid>
              <a:tr h="370840">
                <a:tc>
                  <a:txBody>
                    <a:bodyPr/>
                    <a:lstStyle/>
                    <a:p>
                      <a:pPr algn="l" rtl="0"/>
                      <a:r>
                        <a:rPr lang="en-US" sz="1400" b="1" i="0" u="none" strike="noStrike" kern="1200" baseline="0" dirty="0">
                          <a:solidFill>
                            <a:schemeClr val="lt1"/>
                          </a:solidFill>
                          <a:latin typeface="+mn-lt"/>
                          <a:ea typeface="+mn-ea"/>
                          <a:cs typeface="+mn-cs"/>
                        </a:rPr>
                        <a:t>Description</a:t>
                      </a:r>
                      <a:endParaRPr lang="en-US" dirty="0"/>
                    </a:p>
                  </a:txBody>
                  <a:tcPr/>
                </a:tc>
                <a:extLst>
                  <a:ext uri="{0D108BD9-81ED-4DB2-BD59-A6C34878D82A}">
                    <a16:rowId xmlns:a16="http://schemas.microsoft.com/office/drawing/2014/main" val="10000"/>
                  </a:ext>
                </a:extLst>
              </a:tr>
              <a:tr h="370840">
                <a:tc>
                  <a:txBody>
                    <a:bodyPr/>
                    <a:lstStyle/>
                    <a:p>
                      <a:pPr algn="l" rtl="0"/>
                      <a:r>
                        <a:rPr lang="en-US" sz="1600" dirty="0">
                          <a:solidFill>
                            <a:srgbClr val="000000"/>
                          </a:solidFill>
                        </a:rPr>
                        <a:t>Le processus utilisé par un appareil pour déterminer si le paquet sera envoyé à un appareil local ou distant</a:t>
                      </a:r>
                    </a:p>
                  </a:txBody>
                  <a:tcPr/>
                </a:tc>
                <a:extLst>
                  <a:ext uri="{0D108BD9-81ED-4DB2-BD59-A6C34878D82A}">
                    <a16:rowId xmlns:a16="http://schemas.microsoft.com/office/drawing/2014/main" val="10001"/>
                  </a:ext>
                </a:extLst>
              </a:tr>
              <a:tr h="370840">
                <a:tc>
                  <a:txBody>
                    <a:bodyPr/>
                    <a:lstStyle/>
                    <a:p>
                      <a:pPr algn="l" rtl="0"/>
                      <a:r>
                        <a:rPr lang="en-US" sz="1600" dirty="0">
                          <a:solidFill>
                            <a:srgbClr val="000000"/>
                          </a:solidFill>
                        </a:rPr>
                        <a:t>Que se passe-t-il lorsque l'adressage IPv4 n'est pas correct</a:t>
                      </a:r>
                    </a:p>
                  </a:txBody>
                  <a:tcPr/>
                </a:tc>
                <a:extLst>
                  <a:ext uri="{0D108BD9-81ED-4DB2-BD59-A6C34878D82A}">
                    <a16:rowId xmlns:a16="http://schemas.microsoft.com/office/drawing/2014/main" val="10002"/>
                  </a:ext>
                </a:extLst>
              </a:tr>
              <a:tr h="370840">
                <a:tc>
                  <a:txBody>
                    <a:bodyPr/>
                    <a:lstStyle/>
                    <a:p>
                      <a:pPr algn="l" rtl="0"/>
                      <a:r>
                        <a:rPr lang="en-US" sz="1600" dirty="0">
                          <a:solidFill>
                            <a:srgbClr val="000000"/>
                          </a:solidFill>
                        </a:rPr>
                        <a:t>Vérifier l'adressage IP sur un PC et sur un routeur</a:t>
                      </a:r>
                    </a:p>
                  </a:txBody>
                  <a:tcPr/>
                </a:tc>
                <a:extLst>
                  <a:ext uri="{0D108BD9-81ED-4DB2-BD59-A6C34878D82A}">
                    <a16:rowId xmlns:a16="http://schemas.microsoft.com/office/drawing/2014/main" val="10003"/>
                  </a:ext>
                </a:extLst>
              </a:tr>
              <a:tr h="370840">
                <a:tc>
                  <a:txBody>
                    <a:bodyPr/>
                    <a:lstStyle/>
                    <a:p>
                      <a:pPr algn="l" rtl="0"/>
                      <a:r>
                        <a:rPr lang="en-US" sz="1600" dirty="0">
                          <a:solidFill>
                            <a:srgbClr val="000000"/>
                          </a:solidFill>
                        </a:rPr>
                        <a:t>Détermination des adresses IP dans un sous-réseau</a:t>
                      </a:r>
                    </a:p>
                  </a:txBody>
                  <a:tcPr/>
                </a:tc>
                <a:extLst>
                  <a:ext uri="{0D108BD9-81ED-4DB2-BD59-A6C34878D82A}">
                    <a16:rowId xmlns:a16="http://schemas.microsoft.com/office/drawing/2014/main" val="10004"/>
                  </a:ext>
                </a:extLst>
              </a:tr>
              <a:tr h="370840">
                <a:tc>
                  <a:txBody>
                    <a:bodyPr/>
                    <a:lstStyle/>
                    <a:p>
                      <a:pPr algn="l" rtl="0"/>
                      <a:r>
                        <a:rPr lang="en-US" sz="1600" dirty="0">
                          <a:solidFill>
                            <a:srgbClr val="000000"/>
                          </a:solidFill>
                        </a:rPr>
                        <a:t>Le processus DHCPv4 DORA</a:t>
                      </a:r>
                    </a:p>
                  </a:txBody>
                  <a:tcPr/>
                </a:tc>
                <a:extLst>
                  <a:ext uri="{0D108BD9-81ED-4DB2-BD59-A6C34878D82A}">
                    <a16:rowId xmlns:a16="http://schemas.microsoft.com/office/drawing/2014/main" val="10005"/>
                  </a:ext>
                </a:extLst>
              </a:tr>
              <a:tr h="370840">
                <a:tc>
                  <a:txBody>
                    <a:bodyPr/>
                    <a:lstStyle/>
                    <a:p>
                      <a:pPr algn="l" rtl="0"/>
                      <a:r>
                        <a:rPr lang="en-US" sz="1600" dirty="0">
                          <a:solidFill>
                            <a:srgbClr val="000000"/>
                          </a:solidFill>
                        </a:rPr>
                        <a:t>Configuration de l'agent de relais DHCP</a:t>
                      </a:r>
                    </a:p>
                  </a:txBody>
                  <a:tcPr/>
                </a:tc>
                <a:extLst>
                  <a:ext uri="{0D108BD9-81ED-4DB2-BD59-A6C34878D82A}">
                    <a16:rowId xmlns:a16="http://schemas.microsoft.com/office/drawing/2014/main" val="10006"/>
                  </a:ext>
                </a:extLst>
              </a:tr>
              <a:tr h="370840">
                <a:tc>
                  <a:txBody>
                    <a:bodyPr/>
                    <a:lstStyle/>
                    <a:p>
                      <a:pPr algn="l" rtl="0"/>
                      <a:r>
                        <a:rPr lang="en-US" sz="1600" dirty="0">
                          <a:solidFill>
                            <a:srgbClr val="000000"/>
                          </a:solidFill>
                        </a:rPr>
                        <a:t>Configuration du client DHCP</a:t>
                      </a:r>
                    </a:p>
                  </a:txBody>
                  <a:tcPr/>
                </a:tc>
                <a:extLst>
                  <a:ext uri="{0D108BD9-81ED-4DB2-BD59-A6C34878D82A}">
                    <a16:rowId xmlns:a16="http://schemas.microsoft.com/office/drawing/2014/main" val="10007"/>
                  </a:ext>
                </a:extLst>
              </a:tr>
              <a:tr h="370840">
                <a:tc>
                  <a:txBody>
                    <a:bodyPr/>
                    <a:lstStyle/>
                    <a:p>
                      <a:pPr algn="l" rtl="0"/>
                      <a:r>
                        <a:rPr lang="en-US" sz="1600" dirty="0">
                          <a:solidFill>
                            <a:srgbClr val="000000"/>
                          </a:solidFill>
                        </a:rPr>
                        <a:t>Comment un routeur peut être configuré en tant que serveur DHCP</a:t>
                      </a:r>
                    </a:p>
                  </a:txBody>
                  <a:tcPr/>
                </a:tc>
                <a:extLst>
                  <a:ext uri="{0D108BD9-81ED-4DB2-BD59-A6C34878D82A}">
                    <a16:rowId xmlns:a16="http://schemas.microsoft.com/office/drawing/2014/main" val="2875473574"/>
                  </a:ext>
                </a:extLst>
              </a:tr>
            </a:tbl>
          </a:graphicData>
        </a:graphic>
      </p:graphicFrame>
    </p:spTree>
    <p:extLst>
      <p:ext uri="{BB962C8B-B14F-4D97-AF65-F5344CB8AC3E}">
        <p14:creationId xmlns:p14="http://schemas.microsoft.com/office/powerpoint/2010/main" val="875591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04774"/>
            <a:ext cx="8345488" cy="731837"/>
          </a:xfrm>
        </p:spPr>
        <p:txBody>
          <a:bodyPr/>
          <a:lstStyle/>
          <a:p>
            <a:pPr algn="l" rtl="0"/>
            <a:r>
              <a:rPr lang="en-US" sz="1600" dirty="0"/>
              <a:t>Préparez-vous à l'examen</a:t>
            </a:r>
            <a:br>
              <a:rPr lang="en-US" sz="2400" dirty="0"/>
            </a:br>
            <a:r>
              <a:rPr lang="en-US" sz="2400" dirty="0"/>
              <a:t>Sujets clés du chapitre 1 (suite)</a:t>
            </a:r>
          </a:p>
        </p:txBody>
      </p:sp>
      <p:graphicFrame>
        <p:nvGraphicFramePr>
          <p:cNvPr id="2" name="Table 1"/>
          <p:cNvGraphicFramePr>
            <a:graphicFrameLocks noGrp="1"/>
          </p:cNvGraphicFramePr>
          <p:nvPr>
            <p:extLst>
              <p:ext uri="{D42A27DB-BD31-4B8C-83A1-F6EECF244321}">
                <p14:modId xmlns:p14="http://schemas.microsoft.com/office/powerpoint/2010/main" val="109252548"/>
              </p:ext>
            </p:extLst>
          </p:nvPr>
        </p:nvGraphicFramePr>
        <p:xfrm>
          <a:off x="814387" y="960713"/>
          <a:ext cx="7394192" cy="3622137"/>
        </p:xfrm>
        <a:graphic>
          <a:graphicData uri="http://schemas.openxmlformats.org/drawingml/2006/table">
            <a:tbl>
              <a:tblPr firstRow="1" bandRow="1">
                <a:tableStyleId>{5C22544A-7EE6-4342-B048-85BDC9FD1C3A}</a:tableStyleId>
              </a:tblPr>
              <a:tblGrid>
                <a:gridCol w="7394192">
                  <a:extLst>
                    <a:ext uri="{9D8B030D-6E8A-4147-A177-3AD203B41FA5}">
                      <a16:colId xmlns:a16="http://schemas.microsoft.com/office/drawing/2014/main" val="20000"/>
                    </a:ext>
                  </a:extLst>
                </a:gridCol>
              </a:tblGrid>
              <a:tr h="338113">
                <a:tc>
                  <a:txBody>
                    <a:bodyPr/>
                    <a:lstStyle/>
                    <a:p>
                      <a:pPr algn="l" rtl="0"/>
                      <a:r>
                        <a:rPr lang="en-US" sz="1400" b="1" i="0" u="none" strike="noStrike" kern="1200" baseline="0" dirty="0">
                          <a:solidFill>
                            <a:schemeClr val="lt1"/>
                          </a:solidFill>
                          <a:latin typeface="+mn-lt"/>
                          <a:ea typeface="+mn-ea"/>
                          <a:cs typeface="+mn-cs"/>
                        </a:rPr>
                        <a:t>Description</a:t>
                      </a:r>
                      <a:endParaRPr lang="en-US" dirty="0"/>
                    </a:p>
                  </a:txBody>
                  <a:tcPr/>
                </a:tc>
                <a:extLst>
                  <a:ext uri="{0D108BD9-81ED-4DB2-BD59-A6C34878D82A}">
                    <a16:rowId xmlns:a16="http://schemas.microsoft.com/office/drawing/2014/main" val="10000"/>
                  </a:ext>
                </a:extLst>
              </a:tr>
              <a:tr h="338113">
                <a:tc>
                  <a:txBody>
                    <a:bodyPr/>
                    <a:lstStyle/>
                    <a:p>
                      <a:pPr algn="l" rtl="0"/>
                      <a:r>
                        <a:rPr lang="en-US" sz="1600" dirty="0">
                          <a:solidFill>
                            <a:srgbClr val="000000"/>
                          </a:solidFill>
                        </a:rPr>
                        <a:t>Éléments à surveiller lors du dépannage des problèmes liés à DHCP</a:t>
                      </a:r>
                    </a:p>
                  </a:txBody>
                  <a:tcPr/>
                </a:tc>
                <a:extLst>
                  <a:ext uri="{0D108BD9-81ED-4DB2-BD59-A6C34878D82A}">
                    <a16:rowId xmlns:a16="http://schemas.microsoft.com/office/drawing/2014/main" val="10001"/>
                  </a:ext>
                </a:extLst>
              </a:tr>
              <a:tr h="338113">
                <a:tc>
                  <a:txBody>
                    <a:bodyPr/>
                    <a:lstStyle/>
                    <a:p>
                      <a:pPr algn="l" rtl="0"/>
                      <a:r>
                        <a:rPr lang="en-US" sz="1600" dirty="0">
                          <a:solidFill>
                            <a:srgbClr val="000000"/>
                          </a:solidFill>
                        </a:rPr>
                        <a:t>Commandes de dépannage DHCP</a:t>
                      </a:r>
                    </a:p>
                  </a:txBody>
                  <a:tcPr/>
                </a:tc>
                <a:extLst>
                  <a:ext uri="{0D108BD9-81ED-4DB2-BD59-A6C34878D82A}">
                    <a16:rowId xmlns:a16="http://schemas.microsoft.com/office/drawing/2014/main" val="10002"/>
                  </a:ext>
                </a:extLst>
              </a:tr>
              <a:tr h="528012">
                <a:tc>
                  <a:txBody>
                    <a:bodyPr/>
                    <a:lstStyle/>
                    <a:p>
                      <a:pPr algn="l" rtl="0"/>
                      <a:r>
                        <a:rPr lang="en-US" sz="1600" dirty="0">
                          <a:solidFill>
                            <a:srgbClr val="000000"/>
                          </a:solidFill>
                        </a:rPr>
                        <a:t>Processus utilisé par un appareil pour déterminer si le paquet sera envoyé à un appareil local ou distant lors de l'utilisation d'IPv6.</a:t>
                      </a:r>
                    </a:p>
                  </a:txBody>
                  <a:tcPr/>
                </a:tc>
                <a:extLst>
                  <a:ext uri="{0D108BD9-81ED-4DB2-BD59-A6C34878D82A}">
                    <a16:rowId xmlns:a16="http://schemas.microsoft.com/office/drawing/2014/main" val="10003"/>
                  </a:ext>
                </a:extLst>
              </a:tr>
              <a:tr h="338113">
                <a:tc>
                  <a:txBody>
                    <a:bodyPr/>
                    <a:lstStyle/>
                    <a:p>
                      <a:pPr algn="l" rtl="0"/>
                      <a:r>
                        <a:rPr lang="en-US" sz="1600" dirty="0">
                          <a:solidFill>
                            <a:srgbClr val="000000"/>
                          </a:solidFill>
                        </a:rPr>
                        <a:t>Le processus EUI-64</a:t>
                      </a:r>
                    </a:p>
                  </a:txBody>
                  <a:tcPr/>
                </a:tc>
                <a:extLst>
                  <a:ext uri="{0D108BD9-81ED-4DB2-BD59-A6C34878D82A}">
                    <a16:rowId xmlns:a16="http://schemas.microsoft.com/office/drawing/2014/main" val="10004"/>
                  </a:ext>
                </a:extLst>
              </a:tr>
              <a:tr h="338113">
                <a:tc>
                  <a:txBody>
                    <a:bodyPr/>
                    <a:lstStyle/>
                    <a:p>
                      <a:pPr algn="l" rtl="0"/>
                      <a:r>
                        <a:rPr lang="en-US" sz="1600" dirty="0">
                          <a:solidFill>
                            <a:srgbClr val="000000"/>
                          </a:solidFill>
                        </a:rPr>
                        <a:t>Vérification de EUI-64 sur une interface de routeur</a:t>
                      </a:r>
                    </a:p>
                  </a:txBody>
                  <a:tcPr/>
                </a:tc>
                <a:extLst>
                  <a:ext uri="{0D108BD9-81ED-4DB2-BD59-A6C34878D82A}">
                    <a16:rowId xmlns:a16="http://schemas.microsoft.com/office/drawing/2014/main" val="10005"/>
                  </a:ext>
                </a:extLst>
              </a:tr>
              <a:tr h="338113">
                <a:tc>
                  <a:txBody>
                    <a:bodyPr/>
                    <a:lstStyle/>
                    <a:p>
                      <a:pPr algn="l" rtl="0"/>
                      <a:r>
                        <a:rPr lang="en-US" sz="1600" dirty="0">
                          <a:solidFill>
                            <a:srgbClr val="000000"/>
                          </a:solidFill>
                        </a:rPr>
                        <a:t>Activation de SLAAC sur une interface de routeur</a:t>
                      </a:r>
                    </a:p>
                  </a:txBody>
                  <a:tcPr/>
                </a:tc>
                <a:extLst>
                  <a:ext uri="{0D108BD9-81ED-4DB2-BD59-A6C34878D82A}">
                    <a16:rowId xmlns:a16="http://schemas.microsoft.com/office/drawing/2014/main" val="10006"/>
                  </a:ext>
                </a:extLst>
              </a:tr>
              <a:tr h="338113">
                <a:tc>
                  <a:txBody>
                    <a:bodyPr/>
                    <a:lstStyle/>
                    <a:p>
                      <a:pPr algn="l" rtl="0"/>
                      <a:r>
                        <a:rPr lang="en-US" sz="1600" dirty="0">
                          <a:solidFill>
                            <a:srgbClr val="000000"/>
                          </a:solidFill>
                        </a:rPr>
                        <a:t>Le processus de publicité du routeur</a:t>
                      </a:r>
                    </a:p>
                  </a:txBody>
                  <a:tcPr/>
                </a:tc>
                <a:extLst>
                  <a:ext uri="{0D108BD9-81ED-4DB2-BD59-A6C34878D82A}">
                    <a16:rowId xmlns:a16="http://schemas.microsoft.com/office/drawing/2014/main" val="10007"/>
                  </a:ext>
                </a:extLst>
              </a:tr>
              <a:tr h="338113">
                <a:tc>
                  <a:txBody>
                    <a:bodyPr/>
                    <a:lstStyle/>
                    <a:p>
                      <a:pPr algn="l" rtl="0"/>
                      <a:r>
                        <a:rPr lang="en-US" sz="1600" dirty="0">
                          <a:solidFill>
                            <a:srgbClr val="000000"/>
                          </a:solidFill>
                        </a:rPr>
                        <a:t>Vérification des adresses IPv6 générées par SLAAC</a:t>
                      </a:r>
                    </a:p>
                  </a:txBody>
                  <a:tcPr/>
                </a:tc>
                <a:extLst>
                  <a:ext uri="{0D108BD9-81ED-4DB2-BD59-A6C34878D82A}">
                    <a16:rowId xmlns:a16="http://schemas.microsoft.com/office/drawing/2014/main" val="2875473574"/>
                  </a:ext>
                </a:extLst>
              </a:tr>
              <a:tr h="338113">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600" dirty="0">
                          <a:solidFill>
                            <a:srgbClr val="000000"/>
                          </a:solidFill>
                        </a:rPr>
                        <a:t>Problèmes pouvant survenir lors de l'utilisation de SLAAC</a:t>
                      </a:r>
                    </a:p>
                  </a:txBody>
                  <a:tcPr/>
                </a:tc>
                <a:extLst>
                  <a:ext uri="{0D108BD9-81ED-4DB2-BD59-A6C34878D82A}">
                    <a16:rowId xmlns:a16="http://schemas.microsoft.com/office/drawing/2014/main" val="1363620125"/>
                  </a:ext>
                </a:extLst>
              </a:tr>
            </a:tbl>
          </a:graphicData>
        </a:graphic>
      </p:graphicFrame>
    </p:spTree>
    <p:extLst>
      <p:ext uri="{BB962C8B-B14F-4D97-AF65-F5344CB8AC3E}">
        <p14:creationId xmlns:p14="http://schemas.microsoft.com/office/powerpoint/2010/main" val="2333807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04774"/>
            <a:ext cx="8345488" cy="731837"/>
          </a:xfrm>
        </p:spPr>
        <p:txBody>
          <a:bodyPr/>
          <a:lstStyle/>
          <a:p>
            <a:pPr algn="l" rtl="0"/>
            <a:r>
              <a:rPr lang="en-US" sz="1600" dirty="0"/>
              <a:t>Préparez-vous à l'examen</a:t>
            </a:r>
            <a:br>
              <a:rPr lang="en-US" sz="2400" dirty="0"/>
            </a:br>
            <a:r>
              <a:rPr lang="en-US" sz="2400" dirty="0"/>
              <a:t>Sujets clés du chapitre 1 (suite)</a:t>
            </a:r>
          </a:p>
        </p:txBody>
      </p:sp>
      <p:graphicFrame>
        <p:nvGraphicFramePr>
          <p:cNvPr id="2" name="Table 1"/>
          <p:cNvGraphicFramePr>
            <a:graphicFrameLocks noGrp="1"/>
          </p:cNvGraphicFramePr>
          <p:nvPr>
            <p:extLst>
              <p:ext uri="{D42A27DB-BD31-4B8C-83A1-F6EECF244321}">
                <p14:modId xmlns:p14="http://schemas.microsoft.com/office/powerpoint/2010/main" val="2977005272"/>
              </p:ext>
            </p:extLst>
          </p:nvPr>
        </p:nvGraphicFramePr>
        <p:xfrm>
          <a:off x="814387" y="960713"/>
          <a:ext cx="7394192" cy="3451990"/>
        </p:xfrm>
        <a:graphic>
          <a:graphicData uri="http://schemas.openxmlformats.org/drawingml/2006/table">
            <a:tbl>
              <a:tblPr firstRow="1" bandRow="1">
                <a:tableStyleId>{5C22544A-7EE6-4342-B048-85BDC9FD1C3A}</a:tableStyleId>
              </a:tblPr>
              <a:tblGrid>
                <a:gridCol w="7394192">
                  <a:extLst>
                    <a:ext uri="{9D8B030D-6E8A-4147-A177-3AD203B41FA5}">
                      <a16:colId xmlns:a16="http://schemas.microsoft.com/office/drawing/2014/main" val="20000"/>
                    </a:ext>
                  </a:extLst>
                </a:gridCol>
              </a:tblGrid>
              <a:tr h="345199">
                <a:tc>
                  <a:txBody>
                    <a:bodyPr/>
                    <a:lstStyle/>
                    <a:p>
                      <a:pPr algn="l" rtl="0"/>
                      <a:r>
                        <a:rPr lang="en-US" sz="1400" b="1" i="0" u="none" strike="noStrike" kern="1200" baseline="0" dirty="0">
                          <a:solidFill>
                            <a:schemeClr val="lt1"/>
                          </a:solidFill>
                          <a:latin typeface="+mn-lt"/>
                          <a:ea typeface="+mn-ea"/>
                          <a:cs typeface="+mn-cs"/>
                        </a:rPr>
                        <a:t>Description</a:t>
                      </a:r>
                      <a:endParaRPr lang="en-US" dirty="0"/>
                    </a:p>
                  </a:txBody>
                  <a:tcPr/>
                </a:tc>
                <a:extLst>
                  <a:ext uri="{0D108BD9-81ED-4DB2-BD59-A6C34878D82A}">
                    <a16:rowId xmlns:a16="http://schemas.microsoft.com/office/drawing/2014/main" val="10000"/>
                  </a:ext>
                </a:extLst>
              </a:tr>
              <a:tr h="345199">
                <a:tc>
                  <a:txBody>
                    <a:bodyPr/>
                    <a:lstStyle/>
                    <a:p>
                      <a:pPr algn="l" rtl="0"/>
                      <a:r>
                        <a:rPr lang="en-US" sz="1600" dirty="0">
                          <a:solidFill>
                            <a:srgbClr val="000000"/>
                          </a:solidFill>
                        </a:rPr>
                        <a:t>Vérifier qu'une interface est activée pour IPv6</a:t>
                      </a:r>
                    </a:p>
                  </a:txBody>
                  <a:tcPr/>
                </a:tc>
                <a:extLst>
                  <a:ext uri="{0D108BD9-81ED-4DB2-BD59-A6C34878D82A}">
                    <a16:rowId xmlns:a16="http://schemas.microsoft.com/office/drawing/2014/main" val="10001"/>
                  </a:ext>
                </a:extLst>
              </a:tr>
              <a:tr h="345199">
                <a:tc>
                  <a:txBody>
                    <a:bodyPr/>
                    <a:lstStyle/>
                    <a:p>
                      <a:pPr algn="l" rtl="0"/>
                      <a:r>
                        <a:rPr lang="en-US" sz="1600" dirty="0">
                          <a:solidFill>
                            <a:srgbClr val="000000"/>
                          </a:solidFill>
                        </a:rPr>
                        <a:t>Vérifier que les RA ne sont pas supprimés</a:t>
                      </a:r>
                    </a:p>
                  </a:txBody>
                  <a:tcPr/>
                </a:tc>
                <a:extLst>
                  <a:ext uri="{0D108BD9-81ED-4DB2-BD59-A6C34878D82A}">
                    <a16:rowId xmlns:a16="http://schemas.microsoft.com/office/drawing/2014/main" val="10002"/>
                  </a:ext>
                </a:extLst>
              </a:tr>
              <a:tr h="345199">
                <a:tc>
                  <a:txBody>
                    <a:bodyPr/>
                    <a:lstStyle/>
                    <a:p>
                      <a:pPr algn="l" rtl="0"/>
                      <a:r>
                        <a:rPr lang="en-US" sz="1600" dirty="0">
                          <a:solidFill>
                            <a:srgbClr val="000000"/>
                          </a:solidFill>
                        </a:rPr>
                        <a:t>Vérification des passerelles par défaut configurées sur un PC</a:t>
                      </a:r>
                    </a:p>
                  </a:txBody>
                  <a:tcPr/>
                </a:tc>
                <a:extLst>
                  <a:ext uri="{0D108BD9-81ED-4DB2-BD59-A6C34878D82A}">
                    <a16:rowId xmlns:a16="http://schemas.microsoft.com/office/drawing/2014/main" val="10003"/>
                  </a:ext>
                </a:extLst>
              </a:tr>
              <a:tr h="345199">
                <a:tc>
                  <a:txBody>
                    <a:bodyPr/>
                    <a:lstStyle/>
                    <a:p>
                      <a:pPr algn="l" rtl="0"/>
                      <a:r>
                        <a:rPr lang="en-US" sz="1600" dirty="0">
                          <a:solidFill>
                            <a:srgbClr val="000000"/>
                          </a:solidFill>
                        </a:rPr>
                        <a:t>Exemple de configuration DHCPv6 sur R1</a:t>
                      </a:r>
                    </a:p>
                  </a:txBody>
                  <a:tcPr/>
                </a:tc>
                <a:extLst>
                  <a:ext uri="{0D108BD9-81ED-4DB2-BD59-A6C34878D82A}">
                    <a16:rowId xmlns:a16="http://schemas.microsoft.com/office/drawing/2014/main" val="10004"/>
                  </a:ext>
                </a:extLst>
              </a:tr>
              <a:tr h="345199">
                <a:tc>
                  <a:txBody>
                    <a:bodyPr/>
                    <a:lstStyle/>
                    <a:p>
                      <a:pPr algn="l" rtl="0"/>
                      <a:r>
                        <a:rPr lang="en-US" sz="1600" dirty="0">
                          <a:solidFill>
                            <a:srgbClr val="000000"/>
                          </a:solidFill>
                        </a:rPr>
                        <a:t>Vérification de la configuration DHCPv6 sur R1</a:t>
                      </a:r>
                    </a:p>
                  </a:txBody>
                  <a:tcPr/>
                </a:tc>
                <a:extLst>
                  <a:ext uri="{0D108BD9-81ED-4DB2-BD59-A6C34878D82A}">
                    <a16:rowId xmlns:a16="http://schemas.microsoft.com/office/drawing/2014/main" val="10005"/>
                  </a:ext>
                </a:extLst>
              </a:tr>
              <a:tr h="345199">
                <a:tc>
                  <a:txBody>
                    <a:bodyPr/>
                    <a:lstStyle/>
                    <a:p>
                      <a:pPr algn="l" rtl="0"/>
                      <a:r>
                        <a:rPr lang="en-US" sz="1600" dirty="0">
                          <a:solidFill>
                            <a:srgbClr val="000000"/>
                          </a:solidFill>
                        </a:rPr>
                        <a:t>Vérification des informations DHCPv6 sur R1</a:t>
                      </a:r>
                    </a:p>
                  </a:txBody>
                  <a:tcPr/>
                </a:tc>
                <a:extLst>
                  <a:ext uri="{0D108BD9-81ED-4DB2-BD59-A6C34878D82A}">
                    <a16:rowId xmlns:a16="http://schemas.microsoft.com/office/drawing/2014/main" val="10006"/>
                  </a:ext>
                </a:extLst>
              </a:tr>
              <a:tr h="345199">
                <a:tc>
                  <a:txBody>
                    <a:bodyPr/>
                    <a:lstStyle/>
                    <a:p>
                      <a:pPr algn="l" rtl="0"/>
                      <a:r>
                        <a:rPr lang="en-US" sz="1600" dirty="0">
                          <a:solidFill>
                            <a:srgbClr val="000000"/>
                          </a:solidFill>
                        </a:rPr>
                        <a:t>Vérification du DHCPv6 sans état</a:t>
                      </a:r>
                    </a:p>
                  </a:txBody>
                  <a:tcPr/>
                </a:tc>
                <a:extLst>
                  <a:ext uri="{0D108BD9-81ED-4DB2-BD59-A6C34878D82A}">
                    <a16:rowId xmlns:a16="http://schemas.microsoft.com/office/drawing/2014/main" val="10007"/>
                  </a:ext>
                </a:extLst>
              </a:tr>
              <a:tr h="345199">
                <a:tc>
                  <a:txBody>
                    <a:bodyPr/>
                    <a:lstStyle/>
                    <a:p>
                      <a:pPr algn="l" rtl="0"/>
                      <a:r>
                        <a:rPr lang="en-US" sz="1600" dirty="0">
                          <a:solidFill>
                            <a:srgbClr val="000000"/>
                          </a:solidFill>
                        </a:rPr>
                        <a:t>Le processus de négociation à quatre de DHCPv6</a:t>
                      </a:r>
                    </a:p>
                  </a:txBody>
                  <a:tcPr/>
                </a:tc>
                <a:extLst>
                  <a:ext uri="{0D108BD9-81ED-4DB2-BD59-A6C34878D82A}">
                    <a16:rowId xmlns:a16="http://schemas.microsoft.com/office/drawing/2014/main" val="2875473574"/>
                  </a:ext>
                </a:extLst>
              </a:tr>
              <a:tr h="345199">
                <a:tc>
                  <a:txBody>
                    <a:bodyPr/>
                    <a:lstStyle/>
                    <a:p>
                      <a:pPr algn="l" rtl="0"/>
                      <a:r>
                        <a:rPr lang="en-US" sz="1600" dirty="0">
                          <a:solidFill>
                            <a:srgbClr val="000000"/>
                          </a:solidFill>
                        </a:rPr>
                        <a:t>Configuration de R1 en tant qu'agent de relais DHCPv6</a:t>
                      </a:r>
                    </a:p>
                  </a:txBody>
                  <a:tcPr/>
                </a:tc>
                <a:extLst>
                  <a:ext uri="{0D108BD9-81ED-4DB2-BD59-A6C34878D82A}">
                    <a16:rowId xmlns:a16="http://schemas.microsoft.com/office/drawing/2014/main" val="292207656"/>
                  </a:ext>
                </a:extLst>
              </a:tr>
            </a:tbl>
          </a:graphicData>
        </a:graphic>
      </p:graphicFrame>
    </p:spTree>
    <p:extLst>
      <p:ext uri="{BB962C8B-B14F-4D97-AF65-F5344CB8AC3E}">
        <p14:creationId xmlns:p14="http://schemas.microsoft.com/office/powerpoint/2010/main" val="419964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04774"/>
            <a:ext cx="8345488" cy="731837"/>
          </a:xfrm>
        </p:spPr>
        <p:txBody>
          <a:bodyPr/>
          <a:lstStyle/>
          <a:p>
            <a:pPr algn="l" rtl="0"/>
            <a:r>
              <a:rPr lang="en-US" sz="1600" dirty="0"/>
              <a:t>Préparez-vous à l'examen</a:t>
            </a:r>
            <a:br>
              <a:rPr lang="en-US" sz="2400" dirty="0"/>
            </a:br>
            <a:r>
              <a:rPr lang="en-US" sz="2400" dirty="0"/>
              <a:t>Sujets clés du chapitre 1 (suite)</a:t>
            </a:r>
          </a:p>
        </p:txBody>
      </p:sp>
      <p:graphicFrame>
        <p:nvGraphicFramePr>
          <p:cNvPr id="2" name="Table 1"/>
          <p:cNvGraphicFramePr>
            <a:graphicFrameLocks noGrp="1"/>
          </p:cNvGraphicFramePr>
          <p:nvPr>
            <p:extLst>
              <p:ext uri="{D42A27DB-BD31-4B8C-83A1-F6EECF244321}">
                <p14:modId xmlns:p14="http://schemas.microsoft.com/office/powerpoint/2010/main" val="2876168050"/>
              </p:ext>
            </p:extLst>
          </p:nvPr>
        </p:nvGraphicFramePr>
        <p:xfrm>
          <a:off x="814387" y="960714"/>
          <a:ext cx="7394192" cy="3673455"/>
        </p:xfrm>
        <a:graphic>
          <a:graphicData uri="http://schemas.openxmlformats.org/drawingml/2006/table">
            <a:tbl>
              <a:tblPr firstRow="1" bandRow="1">
                <a:tableStyleId>{5C22544A-7EE6-4342-B048-85BDC9FD1C3A}</a:tableStyleId>
              </a:tblPr>
              <a:tblGrid>
                <a:gridCol w="7394192">
                  <a:extLst>
                    <a:ext uri="{9D8B030D-6E8A-4147-A177-3AD203B41FA5}">
                      <a16:colId xmlns:a16="http://schemas.microsoft.com/office/drawing/2014/main" val="20000"/>
                    </a:ext>
                  </a:extLst>
                </a:gridCol>
              </a:tblGrid>
              <a:tr h="320655">
                <a:tc>
                  <a:txBody>
                    <a:bodyPr/>
                    <a:lstStyle/>
                    <a:p>
                      <a:pPr algn="l" rtl="0"/>
                      <a:r>
                        <a:rPr lang="en-US" sz="1400" b="1" i="0" u="none" strike="noStrike" kern="1200" baseline="0" dirty="0">
                          <a:solidFill>
                            <a:schemeClr val="lt1"/>
                          </a:solidFill>
                          <a:latin typeface="+mn-lt"/>
                          <a:ea typeface="+mn-ea"/>
                          <a:cs typeface="+mn-cs"/>
                        </a:rPr>
                        <a:t>Description</a:t>
                      </a:r>
                      <a:endParaRPr lang="en-US" dirty="0"/>
                    </a:p>
                  </a:txBody>
                  <a:tcPr/>
                </a:tc>
                <a:extLst>
                  <a:ext uri="{0D108BD9-81ED-4DB2-BD59-A6C34878D82A}">
                    <a16:rowId xmlns:a16="http://schemas.microsoft.com/office/drawing/2014/main" val="10000"/>
                  </a:ext>
                </a:extLst>
              </a:tr>
              <a:tr h="320655">
                <a:tc>
                  <a:txBody>
                    <a:bodyPr/>
                    <a:lstStyle/>
                    <a:p>
                      <a:pPr algn="l" rtl="0"/>
                      <a:r>
                        <a:rPr lang="en-US" sz="1600" dirty="0">
                          <a:solidFill>
                            <a:srgbClr val="000000"/>
                          </a:solidFill>
                        </a:rPr>
                        <a:t>La table de routage et la table de mappage couche 3 vers couche 2</a:t>
                      </a:r>
                    </a:p>
                  </a:txBody>
                  <a:tcPr/>
                </a:tc>
                <a:extLst>
                  <a:ext uri="{0D108BD9-81ED-4DB2-BD59-A6C34878D82A}">
                    <a16:rowId xmlns:a16="http://schemas.microsoft.com/office/drawing/2014/main" val="10001"/>
                  </a:ext>
                </a:extLst>
              </a:tr>
              <a:tr h="320655">
                <a:tc>
                  <a:txBody>
                    <a:bodyPr/>
                    <a:lstStyle/>
                    <a:p>
                      <a:pPr algn="l" rtl="0"/>
                      <a:r>
                        <a:rPr lang="en-US" sz="1600" dirty="0">
                          <a:solidFill>
                            <a:srgbClr val="000000"/>
                          </a:solidFill>
                        </a:rPr>
                        <a:t>Le FIB et la table de contiguïté</a:t>
                      </a:r>
                    </a:p>
                  </a:txBody>
                  <a:tcPr/>
                </a:tc>
                <a:extLst>
                  <a:ext uri="{0D108BD9-81ED-4DB2-BD59-A6C34878D82A}">
                    <a16:rowId xmlns:a16="http://schemas.microsoft.com/office/drawing/2014/main" val="10002"/>
                  </a:ext>
                </a:extLst>
              </a:tr>
              <a:tr h="320655">
                <a:tc>
                  <a:txBody>
                    <a:bodyPr/>
                    <a:lstStyle/>
                    <a:p>
                      <a:pPr algn="l" rtl="0"/>
                      <a:r>
                        <a:rPr lang="en-US" sz="1600" b="1" dirty="0">
                          <a:solidFill>
                            <a:srgbClr val="000000"/>
                          </a:solidFill>
                        </a:rPr>
                        <a:t>afficher la route IP</a:t>
                      </a:r>
                      <a:r>
                        <a:rPr lang="en-US" sz="1600" i="1" dirty="0">
                          <a:solidFill>
                            <a:srgbClr val="000000"/>
                          </a:solidFill>
                        </a:rPr>
                        <a:t>adresse IP</a:t>
                      </a:r>
                      <a:r>
                        <a:rPr lang="en-US" sz="1600" dirty="0">
                          <a:solidFill>
                            <a:srgbClr val="000000"/>
                          </a:solidFill>
                        </a:rPr>
                        <a:t>sortie de commande</a:t>
                      </a:r>
                    </a:p>
                  </a:txBody>
                  <a:tcPr/>
                </a:tc>
                <a:extLst>
                  <a:ext uri="{0D108BD9-81ED-4DB2-BD59-A6C34878D82A}">
                    <a16:rowId xmlns:a16="http://schemas.microsoft.com/office/drawing/2014/main" val="10003"/>
                  </a:ext>
                </a:extLst>
              </a:tr>
              <a:tr h="320655">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600" b="1" dirty="0">
                          <a:solidFill>
                            <a:srgbClr val="000000"/>
                          </a:solidFill>
                        </a:rPr>
                        <a:t>afficher l'ip cef</a:t>
                      </a:r>
                      <a:r>
                        <a:rPr lang="en-US" sz="1600" i="1" dirty="0">
                          <a:solidFill>
                            <a:srgbClr val="000000"/>
                          </a:solidFill>
                        </a:rPr>
                        <a:t>adresse IP</a:t>
                      </a:r>
                      <a:r>
                        <a:rPr lang="en-US" sz="1600" dirty="0">
                          <a:solidFill>
                            <a:srgbClr val="000000"/>
                          </a:solidFill>
                        </a:rPr>
                        <a:t>sortie de commande</a:t>
                      </a:r>
                    </a:p>
                  </a:txBody>
                  <a:tcPr/>
                </a:tc>
                <a:extLst>
                  <a:ext uri="{0D108BD9-81ED-4DB2-BD59-A6C34878D82A}">
                    <a16:rowId xmlns:a16="http://schemas.microsoft.com/office/drawing/2014/main" val="10004"/>
                  </a:ext>
                </a:extLst>
              </a:tr>
              <a:tr h="320655">
                <a:tc>
                  <a:txBody>
                    <a:bodyPr/>
                    <a:lstStyle/>
                    <a:p>
                      <a:pPr algn="l" rtl="0"/>
                      <a:r>
                        <a:rPr lang="en-US" sz="1600" b="1" dirty="0">
                          <a:solidFill>
                            <a:srgbClr val="000000"/>
                          </a:solidFill>
                        </a:rPr>
                        <a:t>afficher l'arp IP</a:t>
                      </a:r>
                      <a:r>
                        <a:rPr lang="en-US" sz="1600" i="1" dirty="0">
                          <a:solidFill>
                            <a:srgbClr val="000000"/>
                          </a:solidFill>
                        </a:rPr>
                        <a:t> </a:t>
                      </a:r>
                      <a:r>
                        <a:rPr lang="en-US" sz="1600" dirty="0">
                          <a:solidFill>
                            <a:srgbClr val="000000"/>
                          </a:solidFill>
                        </a:rPr>
                        <a:t>sortie de commande</a:t>
                      </a:r>
                    </a:p>
                  </a:txBody>
                  <a:tcPr/>
                </a:tc>
                <a:extLst>
                  <a:ext uri="{0D108BD9-81ED-4DB2-BD59-A6C34878D82A}">
                    <a16:rowId xmlns:a16="http://schemas.microsoft.com/office/drawing/2014/main" val="10005"/>
                  </a:ext>
                </a:extLst>
              </a:tr>
              <a:tr h="320655">
                <a:tc>
                  <a:txBody>
                    <a:bodyPr/>
                    <a:lstStyle/>
                    <a:p>
                      <a:pPr algn="l" rtl="0"/>
                      <a:r>
                        <a:rPr lang="en-US" sz="1600" dirty="0">
                          <a:solidFill>
                            <a:srgbClr val="000000"/>
                          </a:solidFill>
                        </a:rPr>
                        <a:t>Distance administrative des sources d'itinéraires</a:t>
                      </a:r>
                    </a:p>
                  </a:txBody>
                  <a:tcPr/>
                </a:tc>
                <a:extLst>
                  <a:ext uri="{0D108BD9-81ED-4DB2-BD59-A6C34878D82A}">
                    <a16:rowId xmlns:a16="http://schemas.microsoft.com/office/drawing/2014/main" val="10006"/>
                  </a:ext>
                </a:extLst>
              </a:tr>
              <a:tr h="320655">
                <a:tc>
                  <a:txBody>
                    <a:bodyPr/>
                    <a:lstStyle/>
                    <a:p>
                      <a:pPr algn="l" rtl="0"/>
                      <a:r>
                        <a:rPr lang="en-US" sz="1600" dirty="0">
                          <a:solidFill>
                            <a:srgbClr val="000000"/>
                          </a:solidFill>
                        </a:rPr>
                        <a:t>Vérifier la distance administrative d'un itinéraire dans la table de routage</a:t>
                      </a:r>
                    </a:p>
                  </a:txBody>
                  <a:tcPr/>
                </a:tc>
                <a:extLst>
                  <a:ext uri="{0D108BD9-81ED-4DB2-BD59-A6C34878D82A}">
                    <a16:rowId xmlns:a16="http://schemas.microsoft.com/office/drawing/2014/main" val="10007"/>
                  </a:ext>
                </a:extLst>
              </a:tr>
              <a:tr h="320655">
                <a:tc>
                  <a:txBody>
                    <a:bodyPr/>
                    <a:lstStyle/>
                    <a:p>
                      <a:pPr algn="l" rtl="0"/>
                      <a:r>
                        <a:rPr lang="en-US" sz="1600" dirty="0">
                          <a:solidFill>
                            <a:srgbClr val="000000"/>
                          </a:solidFill>
                        </a:rPr>
                        <a:t>L'importance de l'adresse du prochain saut dans une route statique IPv4</a:t>
                      </a:r>
                    </a:p>
                  </a:txBody>
                  <a:tcPr/>
                </a:tc>
                <a:extLst>
                  <a:ext uri="{0D108BD9-81ED-4DB2-BD59-A6C34878D82A}">
                    <a16:rowId xmlns:a16="http://schemas.microsoft.com/office/drawing/2014/main" val="2875473574"/>
                  </a:ext>
                </a:extLst>
              </a:tr>
              <a:tr h="320655">
                <a:tc>
                  <a:txBody>
                    <a:bodyPr/>
                    <a:lstStyle/>
                    <a:p>
                      <a:pPr algn="l" rtl="0"/>
                      <a:r>
                        <a:rPr lang="en-US" sz="1600" dirty="0">
                          <a:solidFill>
                            <a:srgbClr val="000000"/>
                          </a:solidFill>
                        </a:rPr>
                        <a:t>Utilisation d'une interface Ethernet dans une route statique IPv4</a:t>
                      </a:r>
                    </a:p>
                  </a:txBody>
                  <a:tcPr/>
                </a:tc>
                <a:extLst>
                  <a:ext uri="{0D108BD9-81ED-4DB2-BD59-A6C34878D82A}">
                    <a16:rowId xmlns:a16="http://schemas.microsoft.com/office/drawing/2014/main" val="292207656"/>
                  </a:ext>
                </a:extLst>
              </a:tr>
              <a:tr h="320655">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600" dirty="0">
                          <a:solidFill>
                            <a:srgbClr val="000000"/>
                          </a:solidFill>
                        </a:rPr>
                        <a:t>Utilisation d'une interface Ethernet dans une route statique IPv6</a:t>
                      </a:r>
                    </a:p>
                  </a:txBody>
                  <a:tcPr/>
                </a:tc>
                <a:extLst>
                  <a:ext uri="{0D108BD9-81ED-4DB2-BD59-A6C34878D82A}">
                    <a16:rowId xmlns:a16="http://schemas.microsoft.com/office/drawing/2014/main" val="2442289462"/>
                  </a:ext>
                </a:extLst>
              </a:tr>
            </a:tbl>
          </a:graphicData>
        </a:graphic>
      </p:graphicFrame>
    </p:spTree>
    <p:extLst>
      <p:ext uri="{BB962C8B-B14F-4D97-AF65-F5344CB8AC3E}">
        <p14:creationId xmlns:p14="http://schemas.microsoft.com/office/powerpoint/2010/main" val="402489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45959"/>
          </a:xfrm>
        </p:spPr>
        <p:txBody>
          <a:bodyPr/>
          <a:lstStyle/>
          <a:p>
            <a:pPr algn="l" rtl="0"/>
            <a:r>
              <a:rPr lang="en-US" sz="1600" dirty="0"/>
              <a:t>Préparez-vous à l'examen</a:t>
            </a:r>
            <a:br>
              <a:rPr lang="en-US" sz="2400" dirty="0"/>
            </a:br>
            <a:r>
              <a:rPr lang="en-US" sz="2400" dirty="0"/>
              <a:t>Termes clés du chapitre 1</a:t>
            </a:r>
          </a:p>
        </p:txBody>
      </p:sp>
      <p:graphicFrame>
        <p:nvGraphicFramePr>
          <p:cNvPr id="2" name="Table 1"/>
          <p:cNvGraphicFramePr>
            <a:graphicFrameLocks noGrp="1"/>
          </p:cNvGraphicFramePr>
          <p:nvPr>
            <p:extLst>
              <p:ext uri="{D42A27DB-BD31-4B8C-83A1-F6EECF244321}">
                <p14:modId xmlns:p14="http://schemas.microsoft.com/office/powerpoint/2010/main" val="983805867"/>
              </p:ext>
            </p:extLst>
          </p:nvPr>
        </p:nvGraphicFramePr>
        <p:xfrm>
          <a:off x="809297" y="1088390"/>
          <a:ext cx="7746123" cy="3402438"/>
        </p:xfrm>
        <a:graphic>
          <a:graphicData uri="http://schemas.openxmlformats.org/drawingml/2006/table">
            <a:tbl>
              <a:tblPr firstRow="1" bandRow="1">
                <a:tableStyleId>{5C22544A-7EE6-4342-B048-85BDC9FD1C3A}</a:tableStyleId>
              </a:tblPr>
              <a:tblGrid>
                <a:gridCol w="3384331">
                  <a:extLst>
                    <a:ext uri="{9D8B030D-6E8A-4147-A177-3AD203B41FA5}">
                      <a16:colId xmlns:a16="http://schemas.microsoft.com/office/drawing/2014/main" val="20000"/>
                    </a:ext>
                  </a:extLst>
                </a:gridCol>
                <a:gridCol w="4361792">
                  <a:extLst>
                    <a:ext uri="{9D8B030D-6E8A-4147-A177-3AD203B41FA5}">
                      <a16:colId xmlns:a16="http://schemas.microsoft.com/office/drawing/2014/main" val="3777475585"/>
                    </a:ext>
                  </a:extLst>
                </a:gridCol>
              </a:tblGrid>
              <a:tr h="284787">
                <a:tc>
                  <a:txBody>
                    <a:bodyPr/>
                    <a:lstStyle/>
                    <a:p>
                      <a:pPr algn="l" rtl="0"/>
                      <a:r>
                        <a:rPr lang="en-US" dirty="0"/>
                        <a:t>Terme</a:t>
                      </a:r>
                    </a:p>
                  </a:txBody>
                  <a:tcPr/>
                </a:tc>
                <a:tc>
                  <a:txBody>
                    <a:bodyPr/>
                    <a:lstStyle/>
                    <a:p>
                      <a:pPr algn="l" rtl="0"/>
                      <a:endParaRPr lang="en-US" dirty="0"/>
                    </a:p>
                  </a:txBody>
                  <a:tcPr/>
                </a:tc>
                <a:extLst>
                  <a:ext uri="{0D108BD9-81ED-4DB2-BD59-A6C34878D82A}">
                    <a16:rowId xmlns:a16="http://schemas.microsoft.com/office/drawing/2014/main" val="10000"/>
                  </a:ext>
                </a:extLst>
              </a:tr>
              <a:tr h="313266">
                <a:tc>
                  <a:txBody>
                    <a:bodyPr/>
                    <a:lstStyle/>
                    <a:p>
                      <a:pPr algn="l" rtl="0"/>
                      <a:r>
                        <a:rPr lang="en-US" sz="1600" b="0" i="0" u="none" strike="noStrike" kern="1200" baseline="0" dirty="0">
                          <a:solidFill>
                            <a:srgbClr val="000000"/>
                          </a:solidFill>
                          <a:latin typeface="+mn-lt"/>
                          <a:ea typeface="+mn-ea"/>
                          <a:cs typeface="+mn-cs"/>
                        </a:rPr>
                        <a:t>DHCP</a:t>
                      </a:r>
                      <a:endParaRPr lang="en-US" sz="1600" dirty="0">
                        <a:solidFill>
                          <a:srgbClr val="000000"/>
                        </a:solidFill>
                      </a:endParaRPr>
                    </a:p>
                  </a:txBody>
                  <a:tcPr/>
                </a:tc>
                <a:tc>
                  <a:txBody>
                    <a:bodyPr/>
                    <a:lstStyle/>
                    <a:p>
                      <a:pPr algn="l" rtl="0"/>
                      <a:r>
                        <a:rPr lang="en-US" sz="1600" b="0" i="0" u="none" strike="noStrike" kern="1200" baseline="0" dirty="0">
                          <a:solidFill>
                            <a:srgbClr val="000000"/>
                          </a:solidFill>
                          <a:latin typeface="+mn-lt"/>
                          <a:ea typeface="+mn-ea"/>
                          <a:cs typeface="+mn-cs"/>
                        </a:rPr>
                        <a:t>EUI-64</a:t>
                      </a:r>
                      <a:endParaRPr lang="en-US" sz="1600" dirty="0">
                        <a:solidFill>
                          <a:srgbClr val="000000"/>
                        </a:solidFill>
                      </a:endParaRPr>
                    </a:p>
                  </a:txBody>
                  <a:tcPr/>
                </a:tc>
                <a:extLst>
                  <a:ext uri="{0D108BD9-81ED-4DB2-BD59-A6C34878D82A}">
                    <a16:rowId xmlns:a16="http://schemas.microsoft.com/office/drawing/2014/main" val="10001"/>
                  </a:ext>
                </a:extLst>
              </a:tr>
              <a:tr h="313266">
                <a:tc>
                  <a:txBody>
                    <a:bodyPr/>
                    <a:lstStyle/>
                    <a:p>
                      <a:pPr algn="l" rtl="0"/>
                      <a:r>
                        <a:rPr lang="en-US" sz="1600" b="0" i="0" u="none" strike="noStrike" kern="1200" baseline="0" dirty="0">
                          <a:solidFill>
                            <a:srgbClr val="000000"/>
                          </a:solidFill>
                          <a:latin typeface="+mn-lt"/>
                          <a:ea typeface="+mn-ea"/>
                          <a:cs typeface="+mn-cs"/>
                        </a:rPr>
                        <a:t>DORA</a:t>
                      </a:r>
                      <a:endParaRPr lang="en-US" sz="1600" dirty="0">
                        <a:solidFill>
                          <a:srgbClr val="000000"/>
                        </a:solidFill>
                      </a:endParaRPr>
                    </a:p>
                  </a:txBody>
                  <a:tcPr/>
                </a:tc>
                <a:tc>
                  <a:txBody>
                    <a:bodyPr/>
                    <a:lstStyle/>
                    <a:p>
                      <a:pPr algn="l" rtl="0"/>
                      <a:r>
                        <a:rPr lang="en-US" sz="1600" b="0" i="0" u="none" strike="noStrike" kern="1200" baseline="0" dirty="0">
                          <a:solidFill>
                            <a:srgbClr val="000000"/>
                          </a:solidFill>
                          <a:latin typeface="+mn-lt"/>
                          <a:ea typeface="+mn-ea"/>
                          <a:cs typeface="+mn-cs"/>
                        </a:rPr>
                        <a:t>configuration automatique d'adresse sans état (SLAAC)</a:t>
                      </a:r>
                    </a:p>
                  </a:txBody>
                  <a:tcPr/>
                </a:tc>
                <a:extLst>
                  <a:ext uri="{0D108BD9-81ED-4DB2-BD59-A6C34878D82A}">
                    <a16:rowId xmlns:a16="http://schemas.microsoft.com/office/drawing/2014/main" val="10002"/>
                  </a:ext>
                </a:extLst>
              </a:tr>
              <a:tr h="313266">
                <a:tc>
                  <a:txBody>
                    <a:bodyPr/>
                    <a:lstStyle/>
                    <a:p>
                      <a:pPr algn="l" rtl="0"/>
                      <a:r>
                        <a:rPr lang="en-US" sz="1600" b="0" i="0" u="none" strike="noStrike" kern="1200" baseline="0" dirty="0">
                          <a:solidFill>
                            <a:srgbClr val="000000"/>
                          </a:solidFill>
                          <a:latin typeface="+mn-lt"/>
                          <a:ea typeface="+mn-ea"/>
                          <a:cs typeface="+mn-cs"/>
                        </a:rPr>
                        <a:t>DÉCOUVRIR DHCP</a:t>
                      </a:r>
                      <a:endParaRPr lang="en-US" sz="1600" dirty="0">
                        <a:solidFill>
                          <a:srgbClr val="000000"/>
                        </a:solidFill>
                      </a:endParaRPr>
                    </a:p>
                  </a:txBody>
                  <a:tcPr/>
                </a:tc>
                <a:tc>
                  <a:txBody>
                    <a:bodyPr/>
                    <a:lstStyle/>
                    <a:p>
                      <a:pPr algn="l" rtl="0"/>
                      <a:r>
                        <a:rPr lang="en-US" sz="1600" b="0" i="0" u="none" strike="noStrike" kern="1200" baseline="0" dirty="0">
                          <a:solidFill>
                            <a:srgbClr val="000000"/>
                          </a:solidFill>
                          <a:latin typeface="+mn-lt"/>
                          <a:ea typeface="+mn-ea"/>
                          <a:cs typeface="+mn-cs"/>
                        </a:rPr>
                        <a:t>DHCPv6 avec état</a:t>
                      </a:r>
                      <a:endParaRPr lang="en-US" sz="1600" dirty="0">
                        <a:solidFill>
                          <a:srgbClr val="000000"/>
                        </a:solidFill>
                      </a:endParaRPr>
                    </a:p>
                  </a:txBody>
                  <a:tcPr/>
                </a:tc>
                <a:extLst>
                  <a:ext uri="{0D108BD9-81ED-4DB2-BD59-A6C34878D82A}">
                    <a16:rowId xmlns:a16="http://schemas.microsoft.com/office/drawing/2014/main" val="10003"/>
                  </a:ext>
                </a:extLst>
              </a:tr>
              <a:tr h="313266">
                <a:tc>
                  <a:txBody>
                    <a:bodyPr/>
                    <a:lstStyle/>
                    <a:p>
                      <a:pPr algn="l" rtl="0"/>
                      <a:r>
                        <a:rPr lang="en-US" sz="1600" b="0" i="0" u="none" strike="noStrike" kern="1200" baseline="0" dirty="0">
                          <a:solidFill>
                            <a:srgbClr val="000000"/>
                          </a:solidFill>
                          <a:latin typeface="+mn-lt"/>
                          <a:ea typeface="+mn-ea"/>
                          <a:cs typeface="+mn-cs"/>
                        </a:rPr>
                        <a:t>OFFRE DHCP</a:t>
                      </a:r>
                    </a:p>
                  </a:txBody>
                  <a:tcPr/>
                </a:tc>
                <a:tc>
                  <a:txBody>
                    <a:bodyPr/>
                    <a:lstStyle/>
                    <a:p>
                      <a:pPr algn="l" rtl="0"/>
                      <a:r>
                        <a:rPr lang="en-US" sz="1600" b="0" i="0" u="none" strike="noStrike" kern="1200" baseline="0" dirty="0">
                          <a:solidFill>
                            <a:srgbClr val="000000"/>
                          </a:solidFill>
                          <a:latin typeface="+mn-lt"/>
                          <a:ea typeface="+mn-ea"/>
                          <a:cs typeface="+mn-cs"/>
                        </a:rPr>
                        <a:t>DHCPv6 sans état</a:t>
                      </a:r>
                      <a:endParaRPr lang="en-US" sz="1600" dirty="0">
                        <a:solidFill>
                          <a:srgbClr val="000000"/>
                        </a:solidFill>
                      </a:endParaRPr>
                    </a:p>
                  </a:txBody>
                  <a:tcPr/>
                </a:tc>
                <a:extLst>
                  <a:ext uri="{0D108BD9-81ED-4DB2-BD59-A6C34878D82A}">
                    <a16:rowId xmlns:a16="http://schemas.microsoft.com/office/drawing/2014/main" val="10004"/>
                  </a:ext>
                </a:extLst>
              </a:tr>
              <a:tr h="313266">
                <a:tc>
                  <a:txBody>
                    <a:bodyPr/>
                    <a:lstStyle/>
                    <a:p>
                      <a:pPr algn="l" rtl="0"/>
                      <a:r>
                        <a:rPr lang="en-US" sz="1600" b="0" i="0" u="none" strike="noStrike" kern="1200" baseline="0" dirty="0">
                          <a:solidFill>
                            <a:srgbClr val="000000"/>
                          </a:solidFill>
                          <a:latin typeface="+mn-lt"/>
                          <a:ea typeface="+mn-ea"/>
                          <a:cs typeface="+mn-cs"/>
                        </a:rPr>
                        <a:t>DEMANDE DHCP</a:t>
                      </a:r>
                      <a:endParaRPr lang="en-US" sz="1600" dirty="0">
                        <a:solidFill>
                          <a:srgbClr val="000000"/>
                        </a:solidFill>
                      </a:endParaRPr>
                    </a:p>
                  </a:txBody>
                  <a:tcPr/>
                </a:tc>
                <a:tc>
                  <a:txBody>
                    <a:bodyPr/>
                    <a:lstStyle/>
                    <a:p>
                      <a:pPr algn="l" rtl="0"/>
                      <a:r>
                        <a:rPr lang="en-US" sz="1600" dirty="0">
                          <a:solidFill>
                            <a:srgbClr val="000000"/>
                          </a:solidFill>
                        </a:rPr>
                        <a:t>sollicitation de routeur</a:t>
                      </a:r>
                    </a:p>
                  </a:txBody>
                  <a:tcPr/>
                </a:tc>
                <a:extLst>
                  <a:ext uri="{0D108BD9-81ED-4DB2-BD59-A6C34878D82A}">
                    <a16:rowId xmlns:a16="http://schemas.microsoft.com/office/drawing/2014/main" val="10005"/>
                  </a:ext>
                </a:extLst>
              </a:tr>
              <a:tr h="313266">
                <a:tc>
                  <a:txBody>
                    <a:bodyPr/>
                    <a:lstStyle/>
                    <a:p>
                      <a:pPr algn="l" rtl="0"/>
                      <a:r>
                        <a:rPr lang="en-US" sz="1600" b="0" i="0" u="none" strike="noStrike" kern="1200" baseline="0" dirty="0">
                          <a:solidFill>
                            <a:srgbClr val="000000"/>
                          </a:solidFill>
                          <a:latin typeface="+mn-lt"/>
                          <a:ea typeface="+mn-ea"/>
                          <a:cs typeface="+mn-cs"/>
                        </a:rPr>
                        <a:t>DHCPACK</a:t>
                      </a:r>
                      <a:endParaRPr lang="en-US" sz="1600" dirty="0">
                        <a:solidFill>
                          <a:srgbClr val="000000"/>
                        </a:solidFill>
                      </a:endParaRPr>
                    </a:p>
                  </a:txBody>
                  <a:tcPr/>
                </a:tc>
                <a:tc>
                  <a:txBody>
                    <a:bodyPr/>
                    <a:lstStyle/>
                    <a:p>
                      <a:pPr algn="l" rtl="0"/>
                      <a:r>
                        <a:rPr lang="en-US" sz="1600" dirty="0">
                          <a:solidFill>
                            <a:srgbClr val="000000"/>
                          </a:solidFill>
                        </a:rPr>
                        <a:t>publicité de routeur</a:t>
                      </a:r>
                    </a:p>
                  </a:txBody>
                  <a:tcPr/>
                </a:tc>
                <a:extLst>
                  <a:ext uri="{0D108BD9-81ED-4DB2-BD59-A6C34878D82A}">
                    <a16:rowId xmlns:a16="http://schemas.microsoft.com/office/drawing/2014/main" val="10006"/>
                  </a:ext>
                </a:extLst>
              </a:tr>
              <a:tr h="313266">
                <a:tc>
                  <a:txBody>
                    <a:bodyPr/>
                    <a:lstStyle/>
                    <a:p>
                      <a:pPr algn="l" rtl="0"/>
                      <a:r>
                        <a:rPr lang="en-US" sz="1600" b="0" i="0" u="none" strike="noStrike" kern="1200" baseline="0" dirty="0">
                          <a:solidFill>
                            <a:srgbClr val="000000"/>
                          </a:solidFill>
                          <a:latin typeface="+mn-lt"/>
                          <a:ea typeface="+mn-ea"/>
                          <a:cs typeface="+mn-cs"/>
                        </a:rPr>
                        <a:t>Agent relais DHCP</a:t>
                      </a:r>
                      <a:endParaRPr lang="en-US" sz="1600" dirty="0">
                        <a:solidFill>
                          <a:srgbClr val="000000"/>
                        </a:solidFill>
                      </a:endParaRPr>
                    </a:p>
                  </a:txBody>
                  <a:tcPr/>
                </a:tc>
                <a:tc>
                  <a:txBody>
                    <a:bodyPr/>
                    <a:lstStyle/>
                    <a:p>
                      <a:pPr algn="l" rtl="0"/>
                      <a:r>
                        <a:rPr lang="en-US" sz="1600" dirty="0">
                          <a:solidFill>
                            <a:schemeClr val="tx1">
                              <a:lumMod val="50000"/>
                            </a:schemeClr>
                          </a:solidFill>
                        </a:rPr>
                        <a:t>adresse lien-local</a:t>
                      </a:r>
                    </a:p>
                  </a:txBody>
                  <a:tcPr/>
                </a:tc>
                <a:extLst>
                  <a:ext uri="{0D108BD9-81ED-4DB2-BD59-A6C34878D82A}">
                    <a16:rowId xmlns:a16="http://schemas.microsoft.com/office/drawing/2014/main" val="10007"/>
                  </a:ext>
                </a:extLst>
              </a:tr>
              <a:tr h="375339">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600" b="0" i="0" u="none" strike="noStrike" kern="1200" baseline="0" dirty="0">
                          <a:solidFill>
                            <a:srgbClr val="000000"/>
                          </a:solidFill>
                          <a:latin typeface="+mn-lt"/>
                          <a:ea typeface="+mn-ea"/>
                          <a:cs typeface="+mn-cs"/>
                        </a:rPr>
                        <a:t>APIPA</a:t>
                      </a:r>
                      <a:endParaRPr lang="en-US" sz="1600" dirty="0">
                        <a:solidFill>
                          <a:srgbClr val="000000"/>
                        </a:solidFill>
                      </a:endParaRPr>
                    </a:p>
                  </a:txBody>
                  <a:tcPr/>
                </a:tc>
                <a:tc>
                  <a:txBody>
                    <a:bodyPr/>
                    <a:lstStyle/>
                    <a:p>
                      <a:pPr algn="l" rtl="0"/>
                      <a:r>
                        <a:rPr lang="en-US" sz="1600" dirty="0">
                          <a:solidFill>
                            <a:schemeClr val="tx1">
                              <a:lumMod val="50000"/>
                            </a:schemeClr>
                          </a:solidFill>
                        </a:rPr>
                        <a:t>adresse de monodiffusion globale</a:t>
                      </a:r>
                    </a:p>
                  </a:txBody>
                  <a:tcPr/>
                </a:tc>
                <a:extLst>
                  <a:ext uri="{0D108BD9-81ED-4DB2-BD59-A6C34878D82A}">
                    <a16:rowId xmlns:a16="http://schemas.microsoft.com/office/drawing/2014/main" val="3426779729"/>
                  </a:ext>
                </a:extLst>
              </a:tr>
              <a:tr h="375339">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600" b="0" i="0" u="none" strike="noStrike" kern="1200" baseline="0" dirty="0">
                          <a:solidFill>
                            <a:srgbClr val="000000"/>
                          </a:solidFill>
                          <a:latin typeface="+mn-lt"/>
                          <a:ea typeface="+mn-ea"/>
                          <a:cs typeface="+mn-cs"/>
                        </a:rPr>
                        <a:t>Découverte des voisins</a:t>
                      </a:r>
                      <a:endParaRPr lang="en-US" sz="1600" dirty="0">
                        <a:solidFill>
                          <a:srgbClr val="000000"/>
                        </a:solidFill>
                      </a:endParaRPr>
                    </a:p>
                  </a:txBody>
                  <a:tcPr/>
                </a:tc>
                <a:tc>
                  <a:txBody>
                    <a:bodyPr/>
                    <a:lstStyle/>
                    <a:p>
                      <a:pPr algn="l" rtl="0"/>
                      <a:r>
                        <a:rPr lang="en-US" sz="1600" dirty="0">
                          <a:solidFill>
                            <a:schemeClr val="tx1">
                              <a:lumMod val="50000"/>
                            </a:schemeClr>
                          </a:solidFill>
                        </a:rPr>
                        <a:t>Message de SOLLICITATION</a:t>
                      </a:r>
                    </a:p>
                  </a:txBody>
                  <a:tcPr/>
                </a:tc>
                <a:extLst>
                  <a:ext uri="{0D108BD9-81ED-4DB2-BD59-A6C34878D82A}">
                    <a16:rowId xmlns:a16="http://schemas.microsoft.com/office/drawing/2014/main" val="512690345"/>
                  </a:ext>
                </a:extLst>
              </a:tr>
            </a:tbl>
          </a:graphicData>
        </a:graphic>
      </p:graphicFrame>
    </p:spTree>
    <p:extLst>
      <p:ext uri="{BB962C8B-B14F-4D97-AF65-F5344CB8AC3E}">
        <p14:creationId xmlns:p14="http://schemas.microsoft.com/office/powerpoint/2010/main" val="2601916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45959"/>
          </a:xfrm>
        </p:spPr>
        <p:txBody>
          <a:bodyPr/>
          <a:lstStyle/>
          <a:p>
            <a:pPr algn="l" rtl="0"/>
            <a:r>
              <a:rPr lang="en-US" sz="1600" dirty="0"/>
              <a:t>Préparez-vous à l'examen</a:t>
            </a:r>
            <a:br>
              <a:rPr lang="en-US" sz="2400" dirty="0"/>
            </a:br>
            <a:r>
              <a:rPr lang="en-US" sz="2400" dirty="0"/>
              <a:t>Termes clés du chapitre 1 (suite)</a:t>
            </a:r>
          </a:p>
        </p:txBody>
      </p:sp>
      <p:graphicFrame>
        <p:nvGraphicFramePr>
          <p:cNvPr id="2" name="Table 1"/>
          <p:cNvGraphicFramePr>
            <a:graphicFrameLocks noGrp="1"/>
          </p:cNvGraphicFramePr>
          <p:nvPr>
            <p:extLst>
              <p:ext uri="{D42A27DB-BD31-4B8C-83A1-F6EECF244321}">
                <p14:modId xmlns:p14="http://schemas.microsoft.com/office/powerpoint/2010/main" val="1594160293"/>
              </p:ext>
            </p:extLst>
          </p:nvPr>
        </p:nvGraphicFramePr>
        <p:xfrm>
          <a:off x="809297" y="1088390"/>
          <a:ext cx="7746123" cy="3402438"/>
        </p:xfrm>
        <a:graphic>
          <a:graphicData uri="http://schemas.openxmlformats.org/drawingml/2006/table">
            <a:tbl>
              <a:tblPr firstRow="1" bandRow="1">
                <a:tableStyleId>{5C22544A-7EE6-4342-B048-85BDC9FD1C3A}</a:tableStyleId>
              </a:tblPr>
              <a:tblGrid>
                <a:gridCol w="3384331">
                  <a:extLst>
                    <a:ext uri="{9D8B030D-6E8A-4147-A177-3AD203B41FA5}">
                      <a16:colId xmlns:a16="http://schemas.microsoft.com/office/drawing/2014/main" val="20000"/>
                    </a:ext>
                  </a:extLst>
                </a:gridCol>
                <a:gridCol w="4361792">
                  <a:extLst>
                    <a:ext uri="{9D8B030D-6E8A-4147-A177-3AD203B41FA5}">
                      <a16:colId xmlns:a16="http://schemas.microsoft.com/office/drawing/2014/main" val="3777475585"/>
                    </a:ext>
                  </a:extLst>
                </a:gridCol>
              </a:tblGrid>
              <a:tr h="284787">
                <a:tc>
                  <a:txBody>
                    <a:bodyPr/>
                    <a:lstStyle/>
                    <a:p>
                      <a:pPr algn="l" rtl="0"/>
                      <a:r>
                        <a:rPr lang="en-US" dirty="0"/>
                        <a:t>Terme</a:t>
                      </a:r>
                    </a:p>
                  </a:txBody>
                  <a:tcPr/>
                </a:tc>
                <a:tc>
                  <a:txBody>
                    <a:bodyPr/>
                    <a:lstStyle/>
                    <a:p>
                      <a:pPr algn="l" rtl="0"/>
                      <a:endParaRPr lang="en-US" dirty="0"/>
                    </a:p>
                  </a:txBody>
                  <a:tcPr/>
                </a:tc>
                <a:extLst>
                  <a:ext uri="{0D108BD9-81ED-4DB2-BD59-A6C34878D82A}">
                    <a16:rowId xmlns:a16="http://schemas.microsoft.com/office/drawing/2014/main" val="10000"/>
                  </a:ext>
                </a:extLst>
              </a:tr>
              <a:tr h="313266">
                <a:tc>
                  <a:txBody>
                    <a:bodyPr/>
                    <a:lstStyle/>
                    <a:p>
                      <a:pPr algn="l" rtl="0"/>
                      <a:r>
                        <a:rPr lang="en-US" sz="1600" b="0" i="0" u="none" strike="noStrike" kern="1200" baseline="0" dirty="0">
                          <a:solidFill>
                            <a:srgbClr val="000000"/>
                          </a:solidFill>
                          <a:latin typeface="+mn-lt"/>
                          <a:ea typeface="+mn-ea"/>
                          <a:cs typeface="+mn-cs"/>
                        </a:rPr>
                        <a:t>Message de publicité</a:t>
                      </a:r>
                      <a:endParaRPr lang="en-US" sz="1600" dirty="0">
                        <a:solidFill>
                          <a:srgbClr val="000000"/>
                        </a:solidFill>
                      </a:endParaRPr>
                    </a:p>
                  </a:txBody>
                  <a:tcPr/>
                </a:tc>
                <a:tc>
                  <a:txBody>
                    <a:bodyPr/>
                    <a:lstStyle/>
                    <a:p>
                      <a:pPr algn="l" rtl="0"/>
                      <a:r>
                        <a:rPr lang="en-US" sz="1600" b="0" i="0" u="none" strike="noStrike" kern="1200" baseline="0" dirty="0">
                          <a:solidFill>
                            <a:srgbClr val="000000"/>
                          </a:solidFill>
                          <a:latin typeface="+mn-lt"/>
                          <a:ea typeface="+mn-ea"/>
                          <a:cs typeface="+mn-cs"/>
                        </a:rPr>
                        <a:t>CEF</a:t>
                      </a:r>
                      <a:endParaRPr lang="en-US" sz="1600" dirty="0">
                        <a:solidFill>
                          <a:srgbClr val="000000"/>
                        </a:solidFill>
                      </a:endParaRPr>
                    </a:p>
                  </a:txBody>
                  <a:tcPr/>
                </a:tc>
                <a:extLst>
                  <a:ext uri="{0D108BD9-81ED-4DB2-BD59-A6C34878D82A}">
                    <a16:rowId xmlns:a16="http://schemas.microsoft.com/office/drawing/2014/main" val="10001"/>
                  </a:ext>
                </a:extLst>
              </a:tr>
              <a:tr h="313266">
                <a:tc>
                  <a:txBody>
                    <a:bodyPr/>
                    <a:lstStyle/>
                    <a:p>
                      <a:pPr algn="l" rtl="0"/>
                      <a:r>
                        <a:rPr lang="en-US" sz="1600" b="0" i="0" u="none" strike="noStrike" kern="1200" baseline="0" dirty="0">
                          <a:solidFill>
                            <a:srgbClr val="000000"/>
                          </a:solidFill>
                          <a:latin typeface="+mn-lt"/>
                          <a:ea typeface="+mn-ea"/>
                          <a:cs typeface="+mn-cs"/>
                        </a:rPr>
                        <a:t>Message DEMANDE</a:t>
                      </a:r>
                      <a:endParaRPr lang="en-US" sz="1600" dirty="0">
                        <a:solidFill>
                          <a:srgbClr val="000000"/>
                        </a:solidFill>
                      </a:endParaRPr>
                    </a:p>
                  </a:txBody>
                  <a:tcPr/>
                </a:tc>
                <a:tc>
                  <a:txBody>
                    <a:bodyPr/>
                    <a:lstStyle/>
                    <a:p>
                      <a:pPr algn="l" rtl="0"/>
                      <a:r>
                        <a:rPr lang="en-US" sz="1600" b="0" i="0" u="none" strike="noStrike" kern="1200" baseline="0" dirty="0">
                          <a:solidFill>
                            <a:srgbClr val="000000"/>
                          </a:solidFill>
                          <a:latin typeface="+mn-lt"/>
                          <a:ea typeface="+mn-ea"/>
                          <a:cs typeface="+mn-cs"/>
                        </a:rPr>
                        <a:t>MENSONGE</a:t>
                      </a:r>
                    </a:p>
                  </a:txBody>
                  <a:tcPr/>
                </a:tc>
                <a:extLst>
                  <a:ext uri="{0D108BD9-81ED-4DB2-BD59-A6C34878D82A}">
                    <a16:rowId xmlns:a16="http://schemas.microsoft.com/office/drawing/2014/main" val="10002"/>
                  </a:ext>
                </a:extLst>
              </a:tr>
              <a:tr h="313266">
                <a:tc>
                  <a:txBody>
                    <a:bodyPr/>
                    <a:lstStyle/>
                    <a:p>
                      <a:pPr algn="l" rtl="0"/>
                      <a:r>
                        <a:rPr lang="en-US" sz="1600" b="0" i="0" u="none" strike="noStrike" kern="1200" baseline="0" dirty="0">
                          <a:solidFill>
                            <a:srgbClr val="000000"/>
                          </a:solidFill>
                          <a:latin typeface="+mn-lt"/>
                          <a:ea typeface="+mn-ea"/>
                          <a:cs typeface="+mn-cs"/>
                        </a:rPr>
                        <a:t>Message de réponse</a:t>
                      </a:r>
                      <a:endParaRPr lang="en-US" sz="1600" dirty="0">
                        <a:solidFill>
                          <a:srgbClr val="000000"/>
                        </a:solidFill>
                      </a:endParaRPr>
                    </a:p>
                  </a:txBody>
                  <a:tcPr/>
                </a:tc>
                <a:tc>
                  <a:txBody>
                    <a:bodyPr/>
                    <a:lstStyle/>
                    <a:p>
                      <a:pPr algn="l" rtl="0"/>
                      <a:r>
                        <a:rPr lang="en-US" sz="1600" b="0" i="0" u="none" strike="noStrike" kern="1200" baseline="0" dirty="0">
                          <a:solidFill>
                            <a:srgbClr val="000000"/>
                          </a:solidFill>
                          <a:latin typeface="+mn-lt"/>
                          <a:ea typeface="+mn-ea"/>
                          <a:cs typeface="+mn-cs"/>
                        </a:rPr>
                        <a:t>tableau de contiguïté</a:t>
                      </a:r>
                      <a:endParaRPr lang="en-US" sz="1600" dirty="0">
                        <a:solidFill>
                          <a:srgbClr val="000000"/>
                        </a:solidFill>
                      </a:endParaRPr>
                    </a:p>
                  </a:txBody>
                  <a:tcPr/>
                </a:tc>
                <a:extLst>
                  <a:ext uri="{0D108BD9-81ED-4DB2-BD59-A6C34878D82A}">
                    <a16:rowId xmlns:a16="http://schemas.microsoft.com/office/drawing/2014/main" val="10003"/>
                  </a:ext>
                </a:extLst>
              </a:tr>
              <a:tr h="313266">
                <a:tc>
                  <a:txBody>
                    <a:bodyPr/>
                    <a:lstStyle/>
                    <a:p>
                      <a:pPr algn="l" rtl="0"/>
                      <a:r>
                        <a:rPr lang="en-US" sz="1600" b="0" i="0" u="none" strike="noStrike" kern="1200" baseline="0" dirty="0">
                          <a:solidFill>
                            <a:srgbClr val="000000"/>
                          </a:solidFill>
                          <a:latin typeface="+mn-lt"/>
                          <a:ea typeface="+mn-ea"/>
                          <a:cs typeface="+mn-cs"/>
                        </a:rPr>
                        <a:t>Agent de relais DHCPv6</a:t>
                      </a:r>
                    </a:p>
                  </a:txBody>
                  <a:tcPr/>
                </a:tc>
                <a:tc>
                  <a:txBody>
                    <a:bodyPr/>
                    <a:lstStyle/>
                    <a:p>
                      <a:pPr algn="l" rtl="0"/>
                      <a:r>
                        <a:rPr lang="en-US" sz="1600" b="0" i="0" u="none" strike="noStrike" kern="1200" baseline="0" dirty="0">
                          <a:solidFill>
                            <a:srgbClr val="000000"/>
                          </a:solidFill>
                          <a:latin typeface="+mn-lt"/>
                          <a:ea typeface="+mn-ea"/>
                          <a:cs typeface="+mn-cs"/>
                        </a:rPr>
                        <a:t>avion de contrôle</a:t>
                      </a:r>
                      <a:endParaRPr lang="en-US" sz="1600" dirty="0">
                        <a:solidFill>
                          <a:srgbClr val="000000"/>
                        </a:solidFill>
                      </a:endParaRPr>
                    </a:p>
                  </a:txBody>
                  <a:tcPr/>
                </a:tc>
                <a:extLst>
                  <a:ext uri="{0D108BD9-81ED-4DB2-BD59-A6C34878D82A}">
                    <a16:rowId xmlns:a16="http://schemas.microsoft.com/office/drawing/2014/main" val="10004"/>
                  </a:ext>
                </a:extLst>
              </a:tr>
              <a:tr h="313266">
                <a:tc>
                  <a:txBody>
                    <a:bodyPr/>
                    <a:lstStyle/>
                    <a:p>
                      <a:pPr algn="l" rtl="0"/>
                      <a:r>
                        <a:rPr lang="en-US" sz="1600" b="0" i="0" u="none" strike="noStrike" kern="1200" baseline="0" dirty="0">
                          <a:solidFill>
                            <a:srgbClr val="000000"/>
                          </a:solidFill>
                          <a:latin typeface="+mn-lt"/>
                          <a:ea typeface="+mn-ea"/>
                          <a:cs typeface="+mn-cs"/>
                        </a:rPr>
                        <a:t>Transfert de paquets</a:t>
                      </a:r>
                      <a:endParaRPr lang="en-US" sz="1600" dirty="0">
                        <a:solidFill>
                          <a:srgbClr val="000000"/>
                        </a:solidFill>
                      </a:endParaRPr>
                    </a:p>
                  </a:txBody>
                  <a:tcPr/>
                </a:tc>
                <a:tc>
                  <a:txBody>
                    <a:bodyPr/>
                    <a:lstStyle/>
                    <a:p>
                      <a:pPr algn="l" rtl="0"/>
                      <a:r>
                        <a:rPr lang="en-US" sz="1600" dirty="0">
                          <a:solidFill>
                            <a:srgbClr val="000000"/>
                          </a:solidFill>
                        </a:rPr>
                        <a:t>plan de données</a:t>
                      </a:r>
                    </a:p>
                  </a:txBody>
                  <a:tcPr/>
                </a:tc>
                <a:extLst>
                  <a:ext uri="{0D108BD9-81ED-4DB2-BD59-A6C34878D82A}">
                    <a16:rowId xmlns:a16="http://schemas.microsoft.com/office/drawing/2014/main" val="10005"/>
                  </a:ext>
                </a:extLst>
              </a:tr>
              <a:tr h="313266">
                <a:tc>
                  <a:txBody>
                    <a:bodyPr/>
                    <a:lstStyle/>
                    <a:p>
                      <a:pPr algn="l" rtl="0"/>
                      <a:r>
                        <a:rPr lang="en-US" sz="1600" b="0" i="0" u="none" strike="noStrike" kern="1200" baseline="0" dirty="0">
                          <a:solidFill>
                            <a:srgbClr val="000000"/>
                          </a:solidFill>
                          <a:latin typeface="+mn-lt"/>
                          <a:ea typeface="+mn-ea"/>
                          <a:cs typeface="+mn-cs"/>
                        </a:rPr>
                        <a:t>ARP</a:t>
                      </a:r>
                      <a:endParaRPr lang="en-US" sz="1600" dirty="0">
                        <a:solidFill>
                          <a:srgbClr val="000000"/>
                        </a:solidFill>
                      </a:endParaRPr>
                    </a:p>
                  </a:txBody>
                  <a:tcPr/>
                </a:tc>
                <a:tc>
                  <a:txBody>
                    <a:bodyPr/>
                    <a:lstStyle/>
                    <a:p>
                      <a:pPr algn="l" rtl="0"/>
                      <a:r>
                        <a:rPr lang="en-US" sz="1600" dirty="0">
                          <a:solidFill>
                            <a:srgbClr val="000000"/>
                          </a:solidFill>
                        </a:rPr>
                        <a:t>distance administrative</a:t>
                      </a:r>
                    </a:p>
                  </a:txBody>
                  <a:tcPr/>
                </a:tc>
                <a:extLst>
                  <a:ext uri="{0D108BD9-81ED-4DB2-BD59-A6C34878D82A}">
                    <a16:rowId xmlns:a16="http://schemas.microsoft.com/office/drawing/2014/main" val="10006"/>
                  </a:ext>
                </a:extLst>
              </a:tr>
              <a:tr h="313266">
                <a:tc>
                  <a:txBody>
                    <a:bodyPr/>
                    <a:lstStyle/>
                    <a:p>
                      <a:pPr algn="l" rtl="0"/>
                      <a:r>
                        <a:rPr lang="en-US" sz="1600" b="0" i="0" u="none" strike="noStrike" kern="1200" baseline="0" dirty="0">
                          <a:solidFill>
                            <a:srgbClr val="000000"/>
                          </a:solidFill>
                          <a:latin typeface="+mn-lt"/>
                          <a:ea typeface="+mn-ea"/>
                          <a:cs typeface="+mn-cs"/>
                        </a:rPr>
                        <a:t>Durée de vie</a:t>
                      </a:r>
                      <a:endParaRPr lang="en-US" sz="1600" dirty="0">
                        <a:solidFill>
                          <a:srgbClr val="000000"/>
                        </a:solidFill>
                      </a:endParaRPr>
                    </a:p>
                  </a:txBody>
                  <a:tcPr/>
                </a:tc>
                <a:tc>
                  <a:txBody>
                    <a:bodyPr/>
                    <a:lstStyle/>
                    <a:p>
                      <a:pPr algn="l" rtl="0"/>
                      <a:r>
                        <a:rPr lang="en-US" sz="1600" dirty="0">
                          <a:solidFill>
                            <a:schemeClr val="tx1">
                              <a:lumMod val="50000"/>
                            </a:schemeClr>
                          </a:solidFill>
                        </a:rPr>
                        <a:t>itinéraire statique</a:t>
                      </a:r>
                    </a:p>
                  </a:txBody>
                  <a:tcPr/>
                </a:tc>
                <a:extLst>
                  <a:ext uri="{0D108BD9-81ED-4DB2-BD59-A6C34878D82A}">
                    <a16:rowId xmlns:a16="http://schemas.microsoft.com/office/drawing/2014/main" val="10007"/>
                  </a:ext>
                </a:extLst>
              </a:tr>
              <a:tr h="375339">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600" b="0" i="0" u="none" strike="noStrike" kern="1200" baseline="0" dirty="0">
                          <a:solidFill>
                            <a:srgbClr val="000000"/>
                          </a:solidFill>
                          <a:latin typeface="+mn-lt"/>
                          <a:ea typeface="+mn-ea"/>
                          <a:cs typeface="+mn-cs"/>
                        </a:rPr>
                        <a:t>table de routage</a:t>
                      </a:r>
                      <a:endParaRPr lang="en-US" sz="1600" dirty="0">
                        <a:solidFill>
                          <a:srgbClr val="000000"/>
                        </a:solidFill>
                      </a:endParaRPr>
                    </a:p>
                  </a:txBody>
                  <a:tcPr/>
                </a:tc>
                <a:tc>
                  <a:txBody>
                    <a:bodyPr/>
                    <a:lstStyle/>
                    <a:p>
                      <a:pPr algn="l" rtl="0"/>
                      <a:r>
                        <a:rPr lang="en-US" sz="1600" dirty="0">
                          <a:solidFill>
                            <a:schemeClr val="tx1">
                              <a:lumMod val="50000"/>
                            </a:schemeClr>
                          </a:solidFill>
                        </a:rPr>
                        <a:t>ARP proxy</a:t>
                      </a:r>
                    </a:p>
                  </a:txBody>
                  <a:tcPr/>
                </a:tc>
                <a:extLst>
                  <a:ext uri="{0D108BD9-81ED-4DB2-BD59-A6C34878D82A}">
                    <a16:rowId xmlns:a16="http://schemas.microsoft.com/office/drawing/2014/main" val="3426779729"/>
                  </a:ext>
                </a:extLst>
              </a:tr>
              <a:tr h="375339">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600" b="0" i="0" u="none" strike="noStrike" kern="1200" baseline="0" dirty="0">
                          <a:solidFill>
                            <a:srgbClr val="000000"/>
                          </a:solidFill>
                          <a:latin typeface="+mn-lt"/>
                          <a:ea typeface="+mn-ea"/>
                          <a:cs typeface="+mn-cs"/>
                        </a:rPr>
                        <a:t>Cache ARP</a:t>
                      </a:r>
                      <a:endParaRPr lang="en-US" sz="1600" dirty="0">
                        <a:solidFill>
                          <a:srgbClr val="000000"/>
                        </a:solidFill>
                      </a:endParaRPr>
                    </a:p>
                  </a:txBody>
                  <a:tcPr/>
                </a:tc>
                <a:tc>
                  <a:txBody>
                    <a:bodyPr/>
                    <a:lstStyle/>
                    <a:p>
                      <a:pPr algn="l" rtl="0"/>
                      <a:endParaRPr lang="en-US" sz="1600" dirty="0">
                        <a:solidFill>
                          <a:schemeClr val="tx1">
                            <a:lumMod val="50000"/>
                          </a:schemeClr>
                        </a:solidFill>
                      </a:endParaRPr>
                    </a:p>
                  </a:txBody>
                  <a:tcPr/>
                </a:tc>
                <a:extLst>
                  <a:ext uri="{0D108BD9-81ED-4DB2-BD59-A6C34878D82A}">
                    <a16:rowId xmlns:a16="http://schemas.microsoft.com/office/drawing/2014/main" val="512690345"/>
                  </a:ext>
                </a:extLst>
              </a:tr>
            </a:tbl>
          </a:graphicData>
        </a:graphic>
      </p:graphicFrame>
    </p:spTree>
    <p:extLst>
      <p:ext uri="{BB962C8B-B14F-4D97-AF65-F5344CB8AC3E}">
        <p14:creationId xmlns:p14="http://schemas.microsoft.com/office/powerpoint/2010/main" val="4100528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04774"/>
            <a:ext cx="8345488" cy="731837"/>
          </a:xfrm>
        </p:spPr>
        <p:txBody>
          <a:bodyPr/>
          <a:lstStyle/>
          <a:p>
            <a:pPr algn="l" rtl="0"/>
            <a:r>
              <a:rPr lang="en-US" sz="1600" dirty="0"/>
              <a:t>Préparez-vous à l'examen</a:t>
            </a:r>
            <a:br>
              <a:rPr lang="en-US" sz="2400" dirty="0"/>
            </a:br>
            <a:r>
              <a:rPr lang="en-US" sz="2400" dirty="0"/>
              <a:t>Référence des commandes pour le chapitre 1</a:t>
            </a:r>
          </a:p>
        </p:txBody>
      </p:sp>
      <p:graphicFrame>
        <p:nvGraphicFramePr>
          <p:cNvPr id="2" name="Table 1"/>
          <p:cNvGraphicFramePr>
            <a:graphicFrameLocks noGrp="1"/>
          </p:cNvGraphicFramePr>
          <p:nvPr>
            <p:extLst>
              <p:ext uri="{D42A27DB-BD31-4B8C-83A1-F6EECF244321}">
                <p14:modId xmlns:p14="http://schemas.microsoft.com/office/powerpoint/2010/main" val="1758318149"/>
              </p:ext>
            </p:extLst>
          </p:nvPr>
        </p:nvGraphicFramePr>
        <p:xfrm>
          <a:off x="269630" y="836611"/>
          <a:ext cx="8604739" cy="3822798"/>
        </p:xfrm>
        <a:graphic>
          <a:graphicData uri="http://schemas.openxmlformats.org/drawingml/2006/table">
            <a:tbl>
              <a:tblPr firstRow="1" bandRow="1">
                <a:tableStyleId>{5C22544A-7EE6-4342-B048-85BDC9FD1C3A}</a:tableStyleId>
              </a:tblPr>
              <a:tblGrid>
                <a:gridCol w="4282705">
                  <a:extLst>
                    <a:ext uri="{9D8B030D-6E8A-4147-A177-3AD203B41FA5}">
                      <a16:colId xmlns:a16="http://schemas.microsoft.com/office/drawing/2014/main" val="20000"/>
                    </a:ext>
                  </a:extLst>
                </a:gridCol>
                <a:gridCol w="4322034">
                  <a:extLst>
                    <a:ext uri="{9D8B030D-6E8A-4147-A177-3AD203B41FA5}">
                      <a16:colId xmlns:a16="http://schemas.microsoft.com/office/drawing/2014/main" val="20001"/>
                    </a:ext>
                  </a:extLst>
                </a:gridCol>
              </a:tblGrid>
              <a:tr h="378558">
                <a:tc>
                  <a:txBody>
                    <a:bodyPr/>
                    <a:lstStyle/>
                    <a:p>
                      <a:pPr algn="l" rtl="0"/>
                      <a:r>
                        <a:rPr lang="en-US" dirty="0"/>
                        <a:t>Tâche</a:t>
                      </a:r>
                    </a:p>
                  </a:txBody>
                  <a:tcPr/>
                </a:tc>
                <a:tc>
                  <a:txBody>
                    <a:bodyPr/>
                    <a:lstStyle/>
                    <a:p>
                      <a:pPr algn="l" rtl="0"/>
                      <a:r>
                        <a:rPr lang="en-US" sz="1400" b="1" i="0" u="none" strike="noStrike" kern="1200" baseline="0" dirty="0">
                          <a:solidFill>
                            <a:schemeClr val="lt1"/>
                          </a:solidFill>
                          <a:latin typeface="+mn-lt"/>
                          <a:ea typeface="+mn-ea"/>
                          <a:cs typeface="+mn-cs"/>
                        </a:rPr>
                        <a:t>Syntaxe des commandes</a:t>
                      </a:r>
                      <a:endParaRPr lang="en-US" dirty="0"/>
                    </a:p>
                  </a:txBody>
                  <a:tcPr/>
                </a:tc>
                <a:extLst>
                  <a:ext uri="{0D108BD9-81ED-4DB2-BD59-A6C34878D82A}">
                    <a16:rowId xmlns:a16="http://schemas.microsoft.com/office/drawing/2014/main" val="10000"/>
                  </a:ext>
                </a:extLst>
              </a:tr>
              <a:tr h="370840">
                <a:tc>
                  <a:txBody>
                    <a:bodyPr/>
                    <a:lstStyle/>
                    <a:p>
                      <a:pPr algn="l" rtl="0"/>
                      <a:r>
                        <a:rPr lang="en-US" sz="1400" dirty="0">
                          <a:solidFill>
                            <a:srgbClr val="000000"/>
                          </a:solidFill>
                        </a:rPr>
                        <a:t>Afficher l'adresse IP, le masque de sous-réseau et la passerelle par défaut d'un PC Windows</a:t>
                      </a:r>
                    </a:p>
                  </a:txBody>
                  <a:tcPr/>
                </a:tc>
                <a:tc>
                  <a:txBody>
                    <a:bodyPr/>
                    <a:lstStyle/>
                    <a:p>
                      <a:pPr algn="l" rtl="0"/>
                      <a:r>
                        <a:rPr lang="en-US" sz="1400" b="1" dirty="0">
                          <a:solidFill>
                            <a:srgbClr val="000000"/>
                          </a:solidFill>
                        </a:rPr>
                        <a:t>ipconfig</a:t>
                      </a:r>
                    </a:p>
                  </a:txBody>
                  <a:tcPr/>
                </a:tc>
                <a:extLst>
                  <a:ext uri="{0D108BD9-81ED-4DB2-BD59-A6C34878D82A}">
                    <a16:rowId xmlns:a16="http://schemas.microsoft.com/office/drawing/2014/main" val="10001"/>
                  </a:ext>
                </a:extLst>
              </a:tr>
              <a:tr h="370840">
                <a:tc>
                  <a:txBody>
                    <a:bodyPr/>
                    <a:lstStyle/>
                    <a:p>
                      <a:pPr algn="l" rtl="0"/>
                      <a:r>
                        <a:rPr lang="en-US" sz="1400" dirty="0">
                          <a:solidFill>
                            <a:srgbClr val="000000"/>
                          </a:solidFill>
                        </a:rPr>
                        <a:t>Afficher l'adresse IP, le masque de sous-réseau et la passerelle par défaut d'un PC Windows, en plus des serveurs DNS, du nom de domaine, de l'adresse MAC et si la configuration automatique est activée</a:t>
                      </a:r>
                    </a:p>
                  </a:txBody>
                  <a:tcPr/>
                </a:tc>
                <a:tc>
                  <a:txBody>
                    <a:bodyPr/>
                    <a:lstStyle/>
                    <a:p>
                      <a:pPr algn="l" rtl="0"/>
                      <a:r>
                        <a:rPr lang="en-US" sz="1400" b="1" dirty="0">
                          <a:solidFill>
                            <a:srgbClr val="000000"/>
                          </a:solidFill>
                        </a:rPr>
                        <a:t>ipconfig / tout</a:t>
                      </a:r>
                    </a:p>
                  </a:txBody>
                  <a:tcPr/>
                </a:tc>
                <a:extLst>
                  <a:ext uri="{0D108BD9-81ED-4DB2-BD59-A6C34878D82A}">
                    <a16:rowId xmlns:a16="http://schemas.microsoft.com/office/drawing/2014/main" val="10002"/>
                  </a:ext>
                </a:extLst>
              </a:tr>
              <a:tr h="370840">
                <a:tc>
                  <a:txBody>
                    <a:bodyPr/>
                    <a:lstStyle/>
                    <a:p>
                      <a:pPr algn="l" rtl="0"/>
                      <a:r>
                        <a:rPr lang="en-US" sz="1400" dirty="0">
                          <a:solidFill>
                            <a:srgbClr val="000000"/>
                          </a:solidFill>
                        </a:rPr>
                        <a:t>Afficher divers paramètres liés à l'IP pour une interface de routeur, y compris l'adresse IP et le masque de sous-réseau</a:t>
                      </a:r>
                    </a:p>
                  </a:txBody>
                  <a:tcPr/>
                </a:tc>
                <a:tc>
                  <a:txBody>
                    <a:bodyPr/>
                    <a:lstStyle/>
                    <a:p>
                      <a:pPr algn="l" rtl="0"/>
                      <a:r>
                        <a:rPr lang="en-US" sz="1400" b="1" i="0" dirty="0">
                          <a:solidFill>
                            <a:srgbClr val="000000"/>
                          </a:solidFill>
                        </a:rPr>
                        <a:t>afficher l'interface IP</a:t>
                      </a:r>
                      <a:r>
                        <a:rPr lang="en-US" sz="1400" b="0" i="1" dirty="0">
                          <a:solidFill>
                            <a:srgbClr val="000000"/>
                          </a:solidFill>
                        </a:rPr>
                        <a:t>type_interface numéro_interface</a:t>
                      </a:r>
                    </a:p>
                  </a:txBody>
                  <a:tcPr/>
                </a:tc>
                <a:extLst>
                  <a:ext uri="{0D108BD9-81ED-4DB2-BD59-A6C34878D82A}">
                    <a16:rowId xmlns:a16="http://schemas.microsoft.com/office/drawing/2014/main" val="10003"/>
                  </a:ext>
                </a:extLst>
              </a:tr>
              <a:tr h="370840">
                <a:tc>
                  <a:txBody>
                    <a:bodyPr/>
                    <a:lstStyle/>
                    <a:p>
                      <a:pPr algn="l" rtl="0"/>
                      <a:r>
                        <a:rPr lang="en-US" sz="1400" dirty="0">
                          <a:solidFill>
                            <a:srgbClr val="000000"/>
                          </a:solidFill>
                        </a:rPr>
                        <a:t>Identifiez tout conflit d'adresse IP qu'un routeur configuré en tant que serveur DHCP identifie, ainsi que la méthode utilisée par le routeur pour identifier les conflits (c'est-à-dire via ping ou ARP gratuit)</a:t>
                      </a:r>
                    </a:p>
                  </a:txBody>
                  <a:tcPr/>
                </a:tc>
                <a:tc>
                  <a:txBody>
                    <a:bodyPr/>
                    <a:lstStyle/>
                    <a:p>
                      <a:pPr algn="l" rtl="0"/>
                      <a:r>
                        <a:rPr lang="en-US" sz="1400" b="1" i="0" dirty="0">
                          <a:solidFill>
                            <a:srgbClr val="000000"/>
                          </a:solidFill>
                        </a:rPr>
                        <a:t>afficher le conflit IP DHCP</a:t>
                      </a:r>
                      <a:endParaRPr lang="en-US" sz="1400" i="0" dirty="0">
                        <a:solidFill>
                          <a:srgbClr val="000000"/>
                        </a:solidFill>
                      </a:endParaRPr>
                    </a:p>
                  </a:txBody>
                  <a:tcPr/>
                </a:tc>
                <a:extLst>
                  <a:ext uri="{0D108BD9-81ED-4DB2-BD59-A6C34878D82A}">
                    <a16:rowId xmlns:a16="http://schemas.microsoft.com/office/drawing/2014/main" val="10004"/>
                  </a:ext>
                </a:extLst>
              </a:tr>
              <a:tr h="370840">
                <a:tc>
                  <a:txBody>
                    <a:bodyPr/>
                    <a:lstStyle/>
                    <a:p>
                      <a:pPr algn="l" rtl="0"/>
                      <a:r>
                        <a:rPr lang="en-US" sz="1400" dirty="0">
                          <a:solidFill>
                            <a:srgbClr val="000000"/>
                          </a:solidFill>
                        </a:rPr>
                        <a:t>Afficher les adresses IP attribuées par un serveur DHCP IOS, leurs adresses MAC et les expirations des baux</a:t>
                      </a:r>
                    </a:p>
                  </a:txBody>
                  <a:tcPr/>
                </a:tc>
                <a:tc>
                  <a:txBody>
                    <a:bodyPr/>
                    <a:lstStyle/>
                    <a:p>
                      <a:pPr algn="l" rtl="0"/>
                      <a:r>
                        <a:rPr lang="en-US" sz="1400" b="1" i="0" dirty="0">
                          <a:solidFill>
                            <a:srgbClr val="000000"/>
                          </a:solidFill>
                        </a:rPr>
                        <a:t>afficher la liaison IP DHCP</a:t>
                      </a:r>
                      <a:endParaRPr lang="en-US" sz="1400" i="0" dirty="0">
                        <a:solidFill>
                          <a:srgbClr val="000000"/>
                        </a:solidFill>
                      </a:endParaRPr>
                    </a:p>
                    <a:p>
                      <a:pPr algn="l" rtl="0"/>
                      <a:endParaRPr lang="en-US" sz="1400" b="0" dirty="0">
                        <a:solidFill>
                          <a:srgbClr val="000000"/>
                        </a:solidFill>
                      </a:endParaRP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25728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04774"/>
            <a:ext cx="8345488" cy="731837"/>
          </a:xfrm>
        </p:spPr>
        <p:txBody>
          <a:bodyPr/>
          <a:lstStyle/>
          <a:p>
            <a:pPr algn="l" rtl="0"/>
            <a:r>
              <a:rPr lang="en-US" sz="1600" dirty="0"/>
              <a:t>Préparez-vous à l'examen</a:t>
            </a:r>
            <a:br>
              <a:rPr lang="en-US" sz="2400" dirty="0"/>
            </a:br>
            <a:r>
              <a:rPr lang="en-US" sz="2400" dirty="0"/>
              <a:t>Référence des commandes pour le chapitre 1 (suite)</a:t>
            </a:r>
          </a:p>
        </p:txBody>
      </p:sp>
      <p:graphicFrame>
        <p:nvGraphicFramePr>
          <p:cNvPr id="2" name="Table 1"/>
          <p:cNvGraphicFramePr>
            <a:graphicFrameLocks noGrp="1"/>
          </p:cNvGraphicFramePr>
          <p:nvPr>
            <p:extLst>
              <p:ext uri="{D42A27DB-BD31-4B8C-83A1-F6EECF244321}">
                <p14:modId xmlns:p14="http://schemas.microsoft.com/office/powerpoint/2010/main" val="1578040281"/>
              </p:ext>
            </p:extLst>
          </p:nvPr>
        </p:nvGraphicFramePr>
        <p:xfrm>
          <a:off x="269630" y="836611"/>
          <a:ext cx="8604739" cy="3797398"/>
        </p:xfrm>
        <a:graphic>
          <a:graphicData uri="http://schemas.openxmlformats.org/drawingml/2006/table">
            <a:tbl>
              <a:tblPr firstRow="1" bandRow="1">
                <a:tableStyleId>{5C22544A-7EE6-4342-B048-85BDC9FD1C3A}</a:tableStyleId>
              </a:tblPr>
              <a:tblGrid>
                <a:gridCol w="5059454">
                  <a:extLst>
                    <a:ext uri="{9D8B030D-6E8A-4147-A177-3AD203B41FA5}">
                      <a16:colId xmlns:a16="http://schemas.microsoft.com/office/drawing/2014/main" val="20000"/>
                    </a:ext>
                  </a:extLst>
                </a:gridCol>
                <a:gridCol w="3545285">
                  <a:extLst>
                    <a:ext uri="{9D8B030D-6E8A-4147-A177-3AD203B41FA5}">
                      <a16:colId xmlns:a16="http://schemas.microsoft.com/office/drawing/2014/main" val="20001"/>
                    </a:ext>
                  </a:extLst>
                </a:gridCol>
              </a:tblGrid>
              <a:tr h="378558">
                <a:tc>
                  <a:txBody>
                    <a:bodyPr/>
                    <a:lstStyle/>
                    <a:p>
                      <a:pPr algn="l" rtl="0"/>
                      <a:r>
                        <a:rPr lang="en-US" dirty="0"/>
                        <a:t>Tâche</a:t>
                      </a:r>
                    </a:p>
                  </a:txBody>
                  <a:tcPr/>
                </a:tc>
                <a:tc>
                  <a:txBody>
                    <a:bodyPr/>
                    <a:lstStyle/>
                    <a:p>
                      <a:pPr algn="l" rtl="0"/>
                      <a:r>
                        <a:rPr lang="en-US" sz="1400" b="1" i="0" u="none" strike="noStrike" kern="1200" baseline="0" dirty="0">
                          <a:solidFill>
                            <a:schemeClr val="lt1"/>
                          </a:solidFill>
                          <a:latin typeface="+mn-lt"/>
                          <a:ea typeface="+mn-ea"/>
                          <a:cs typeface="+mn-cs"/>
                        </a:rPr>
                        <a:t>Syntaxe des commandes</a:t>
                      </a:r>
                      <a:endParaRPr lang="en-US" dirty="0"/>
                    </a:p>
                  </a:txBody>
                  <a:tcPr/>
                </a:tc>
                <a:extLst>
                  <a:ext uri="{0D108BD9-81ED-4DB2-BD59-A6C34878D82A}">
                    <a16:rowId xmlns:a16="http://schemas.microsoft.com/office/drawing/2014/main" val="10000"/>
                  </a:ext>
                </a:extLst>
              </a:tr>
              <a:tr h="370840">
                <a:tc>
                  <a:txBody>
                    <a:bodyPr/>
                    <a:lstStyle/>
                    <a:p>
                      <a:pPr algn="l" rtl="0"/>
                      <a:r>
                        <a:rPr lang="en-US" sz="1400" dirty="0">
                          <a:solidFill>
                            <a:srgbClr val="000000"/>
                          </a:solidFill>
                        </a:rPr>
                        <a:t>Déterminer si IPv6 est activé sur une interface, afficher les groupes de multidiffusion dont l'interface du routeur est membre, afficher les adresses de monodiffusion globales et lien-local associées à une interface, indiquer si EUI-64 a été utilisé ou si la configuration automatique sans état a été utilisée pour obtenir le Adresse IPv6 pour l'interface, affiche si les RA sont supprimés pour l'interface et affiche comment les appareils connectés au même lien que l'interface obtiendront une adresse IPv6 et comment ils obtiendront d'autres options</a:t>
                      </a:r>
                    </a:p>
                  </a:txBody>
                  <a:tcPr/>
                </a:tc>
                <a:tc>
                  <a:txBody>
                    <a:bodyPr/>
                    <a:lstStyle/>
                    <a:p>
                      <a:pPr algn="l" rtl="0"/>
                      <a:r>
                        <a:rPr lang="en-US" sz="1400" b="1" i="0" dirty="0">
                          <a:solidFill>
                            <a:srgbClr val="000000"/>
                          </a:solidFill>
                        </a:rPr>
                        <a:t>afficher l'interface ipv6</a:t>
                      </a:r>
                      <a:r>
                        <a:rPr lang="en-US" sz="1400" b="0" i="1" dirty="0">
                          <a:solidFill>
                            <a:srgbClr val="000000"/>
                          </a:solidFill>
                        </a:rPr>
                        <a:t>type_interface numéro_interface</a:t>
                      </a:r>
                    </a:p>
                  </a:txBody>
                  <a:tcPr/>
                </a:tc>
                <a:extLst>
                  <a:ext uri="{0D108BD9-81ED-4DB2-BD59-A6C34878D82A}">
                    <a16:rowId xmlns:a16="http://schemas.microsoft.com/office/drawing/2014/main" val="10001"/>
                  </a:ext>
                </a:extLst>
              </a:tr>
              <a:tr h="370840">
                <a:tc>
                  <a:txBody>
                    <a:bodyPr/>
                    <a:lstStyle/>
                    <a:p>
                      <a:pPr algn="l" rtl="0"/>
                      <a:r>
                        <a:rPr lang="en-US" sz="1400" dirty="0">
                          <a:solidFill>
                            <a:srgbClr val="000000"/>
                          </a:solidFill>
                        </a:rPr>
                        <a:t>Afficher les adresses IPv6 utilisées par chacun des clients DHCPv6</a:t>
                      </a:r>
                    </a:p>
                  </a:txBody>
                  <a:tcPr/>
                </a:tc>
                <a:tc>
                  <a:txBody>
                    <a:bodyPr/>
                    <a:lstStyle/>
                    <a:p>
                      <a:pPr algn="l" rtl="0"/>
                      <a:r>
                        <a:rPr lang="en-US" sz="1400" b="1" dirty="0">
                          <a:solidFill>
                            <a:srgbClr val="000000"/>
                          </a:solidFill>
                        </a:rPr>
                        <a:t>afficher la liaison DHCP ipv6</a:t>
                      </a:r>
                    </a:p>
                  </a:txBody>
                  <a:tcPr/>
                </a:tc>
                <a:extLst>
                  <a:ext uri="{0D108BD9-81ED-4DB2-BD59-A6C34878D82A}">
                    <a16:rowId xmlns:a16="http://schemas.microsoft.com/office/drawing/2014/main" val="10002"/>
                  </a:ext>
                </a:extLst>
              </a:tr>
              <a:tr h="370840">
                <a:tc>
                  <a:txBody>
                    <a:bodyPr/>
                    <a:lstStyle/>
                    <a:p>
                      <a:pPr algn="l" rtl="0"/>
                      <a:r>
                        <a:rPr lang="en-US" sz="1400" dirty="0">
                          <a:solidFill>
                            <a:srgbClr val="000000"/>
                          </a:solidFill>
                        </a:rPr>
                        <a:t>Afficher quel pool DHCPv6 est attribué à quelle interface sur le routeur</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b="1" dirty="0">
                          <a:solidFill>
                            <a:srgbClr val="000000"/>
                          </a:solidFill>
                        </a:rPr>
                        <a:t>afficher l'interface DHCP ipv6</a:t>
                      </a:r>
                    </a:p>
                    <a:p>
                      <a:pPr algn="l" rtl="0"/>
                      <a:endParaRPr lang="en-US" sz="1400" b="0" i="1" dirty="0">
                        <a:solidFill>
                          <a:srgbClr val="000000"/>
                        </a:solidFill>
                      </a:endParaRPr>
                    </a:p>
                  </a:txBody>
                  <a:tcPr/>
                </a:tc>
                <a:extLst>
                  <a:ext uri="{0D108BD9-81ED-4DB2-BD59-A6C34878D82A}">
                    <a16:rowId xmlns:a16="http://schemas.microsoft.com/office/drawing/2014/main" val="10003"/>
                  </a:ext>
                </a:extLst>
              </a:tr>
              <a:tr h="370840">
                <a:tc>
                  <a:txBody>
                    <a:bodyPr/>
                    <a:lstStyle/>
                    <a:p>
                      <a:pPr algn="l" rtl="0"/>
                      <a:r>
                        <a:rPr lang="en-US" sz="1400" dirty="0">
                          <a:solidFill>
                            <a:srgbClr val="000000"/>
                          </a:solidFill>
                        </a:rPr>
                        <a:t>Afficher les pools DHCPv6 configurés sur le routeur</a:t>
                      </a:r>
                    </a:p>
                  </a:txBody>
                  <a:tcPr/>
                </a:tc>
                <a:tc>
                  <a:txBody>
                    <a:bodyPr/>
                    <a:lstStyle/>
                    <a:p>
                      <a:pPr algn="l" rtl="0"/>
                      <a:r>
                        <a:rPr lang="en-US" sz="1400" b="1" i="0" dirty="0">
                          <a:solidFill>
                            <a:srgbClr val="000000"/>
                          </a:solidFill>
                        </a:rPr>
                        <a:t>afficher le pool DHCP ipv6</a:t>
                      </a:r>
                      <a:endParaRPr lang="en-US" sz="1400" i="0" dirty="0">
                        <a:solidFill>
                          <a:srgbClr val="000000"/>
                        </a:solidFill>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25344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04774"/>
            <a:ext cx="8345488" cy="731837"/>
          </a:xfrm>
        </p:spPr>
        <p:txBody>
          <a:bodyPr/>
          <a:lstStyle/>
          <a:p>
            <a:pPr algn="l" rtl="0"/>
            <a:r>
              <a:rPr lang="en-US" sz="1600" dirty="0"/>
              <a:t>Préparez-vous à l'examen</a:t>
            </a:r>
            <a:br>
              <a:rPr lang="en-US" sz="2400" dirty="0"/>
            </a:br>
            <a:r>
              <a:rPr lang="en-US" sz="2400" dirty="0"/>
              <a:t>Référence des commandes pour le chapitre 1 (suite)</a:t>
            </a:r>
          </a:p>
        </p:txBody>
      </p:sp>
      <p:graphicFrame>
        <p:nvGraphicFramePr>
          <p:cNvPr id="2" name="Table 1"/>
          <p:cNvGraphicFramePr>
            <a:graphicFrameLocks noGrp="1"/>
          </p:cNvGraphicFramePr>
          <p:nvPr>
            <p:extLst>
              <p:ext uri="{D42A27DB-BD31-4B8C-83A1-F6EECF244321}">
                <p14:modId xmlns:p14="http://schemas.microsoft.com/office/powerpoint/2010/main" val="3401009735"/>
              </p:ext>
            </p:extLst>
          </p:nvPr>
        </p:nvGraphicFramePr>
        <p:xfrm>
          <a:off x="269630" y="836611"/>
          <a:ext cx="8604739" cy="3954878"/>
        </p:xfrm>
        <a:graphic>
          <a:graphicData uri="http://schemas.openxmlformats.org/drawingml/2006/table">
            <a:tbl>
              <a:tblPr firstRow="1" bandRow="1">
                <a:tableStyleId>{5C22544A-7EE6-4342-B048-85BDC9FD1C3A}</a:tableStyleId>
              </a:tblPr>
              <a:tblGrid>
                <a:gridCol w="5059454">
                  <a:extLst>
                    <a:ext uri="{9D8B030D-6E8A-4147-A177-3AD203B41FA5}">
                      <a16:colId xmlns:a16="http://schemas.microsoft.com/office/drawing/2014/main" val="20000"/>
                    </a:ext>
                  </a:extLst>
                </a:gridCol>
                <a:gridCol w="3545285">
                  <a:extLst>
                    <a:ext uri="{9D8B030D-6E8A-4147-A177-3AD203B41FA5}">
                      <a16:colId xmlns:a16="http://schemas.microsoft.com/office/drawing/2014/main" val="20001"/>
                    </a:ext>
                  </a:extLst>
                </a:gridCol>
              </a:tblGrid>
              <a:tr h="378558">
                <a:tc>
                  <a:txBody>
                    <a:bodyPr/>
                    <a:lstStyle/>
                    <a:p>
                      <a:pPr algn="l" rtl="0"/>
                      <a:r>
                        <a:rPr lang="en-US" dirty="0"/>
                        <a:t>Tâche</a:t>
                      </a:r>
                    </a:p>
                  </a:txBody>
                  <a:tcPr/>
                </a:tc>
                <a:tc>
                  <a:txBody>
                    <a:bodyPr/>
                    <a:lstStyle/>
                    <a:p>
                      <a:pPr algn="l" rtl="0"/>
                      <a:r>
                        <a:rPr lang="en-US" sz="1400" b="1" i="0" u="none" strike="noStrike" kern="1200" baseline="0" dirty="0">
                          <a:solidFill>
                            <a:schemeClr val="lt1"/>
                          </a:solidFill>
                          <a:latin typeface="+mn-lt"/>
                          <a:ea typeface="+mn-ea"/>
                          <a:cs typeface="+mn-cs"/>
                        </a:rPr>
                        <a:t>Syntaxe des commandes</a:t>
                      </a:r>
                      <a:endParaRPr lang="en-US" dirty="0"/>
                    </a:p>
                  </a:txBody>
                  <a:tcPr/>
                </a:tc>
                <a:extLst>
                  <a:ext uri="{0D108BD9-81ED-4DB2-BD59-A6C34878D82A}">
                    <a16:rowId xmlns:a16="http://schemas.microsoft.com/office/drawing/2014/main" val="10000"/>
                  </a:ext>
                </a:extLst>
              </a:tr>
              <a:tr h="370840">
                <a:tc>
                  <a:txBody>
                    <a:bodyPr/>
                    <a:lstStyle/>
                    <a:p>
                      <a:pPr algn="l" rtl="0"/>
                      <a:r>
                        <a:rPr lang="en-US" sz="1400" dirty="0">
                          <a:solidFill>
                            <a:srgbClr val="000000"/>
                          </a:solidFill>
                        </a:rPr>
                        <a:t>Afficher le meilleur itinéraire d'un routeur vers l'adresse IP spécifiée</a:t>
                      </a:r>
                    </a:p>
                  </a:txBody>
                  <a:tcPr/>
                </a:tc>
                <a:tc>
                  <a:txBody>
                    <a:bodyPr/>
                    <a:lstStyle/>
                    <a:p>
                      <a:pPr algn="l" rtl="0"/>
                      <a:r>
                        <a:rPr lang="en-US" sz="1400" b="1" i="0" dirty="0">
                          <a:solidFill>
                            <a:srgbClr val="000000"/>
                          </a:solidFill>
                        </a:rPr>
                        <a:t>afficher la route IP</a:t>
                      </a:r>
                      <a:r>
                        <a:rPr lang="en-US" sz="1400" b="0" i="1" dirty="0">
                          <a:solidFill>
                            <a:srgbClr val="000000"/>
                          </a:solidFill>
                        </a:rPr>
                        <a:t>adresse IP</a:t>
                      </a:r>
                    </a:p>
                  </a:txBody>
                  <a:tcPr/>
                </a:tc>
                <a:extLst>
                  <a:ext uri="{0D108BD9-81ED-4DB2-BD59-A6C34878D82A}">
                    <a16:rowId xmlns:a16="http://schemas.microsoft.com/office/drawing/2014/main" val="10001"/>
                  </a:ext>
                </a:extLst>
              </a:tr>
              <a:tr h="370840">
                <a:tc>
                  <a:txBody>
                    <a:bodyPr/>
                    <a:lstStyle/>
                    <a:p>
                      <a:pPr algn="l" rtl="0"/>
                      <a:r>
                        <a:rPr lang="en-US" sz="1400" dirty="0">
                          <a:solidFill>
                            <a:srgbClr val="000000"/>
                          </a:solidFill>
                        </a:rPr>
                        <a:t>Afficher uniquement les routes statiques dans la table de routage d'un routeur</a:t>
                      </a:r>
                    </a:p>
                  </a:txBody>
                  <a:tcPr/>
                </a:tc>
                <a:tc>
                  <a:txBody>
                    <a:bodyPr/>
                    <a:lstStyle/>
                    <a:p>
                      <a:pPr algn="l" rtl="0"/>
                      <a:r>
                        <a:rPr lang="en-US" sz="1400" b="1" dirty="0">
                          <a:solidFill>
                            <a:srgbClr val="000000"/>
                          </a:solidFill>
                        </a:rPr>
                        <a:t>afficher la route IP statique</a:t>
                      </a:r>
                    </a:p>
                  </a:txBody>
                  <a:tcPr/>
                </a:tc>
                <a:extLst>
                  <a:ext uri="{0D108BD9-81ED-4DB2-BD59-A6C34878D82A}">
                    <a16:rowId xmlns:a16="http://schemas.microsoft.com/office/drawing/2014/main" val="10002"/>
                  </a:ext>
                </a:extLst>
              </a:tr>
              <a:tr h="370840">
                <a:tc>
                  <a:txBody>
                    <a:bodyPr/>
                    <a:lstStyle/>
                    <a:p>
                      <a:pPr algn="l" rtl="0"/>
                      <a:r>
                        <a:rPr lang="en-US" sz="1400" dirty="0">
                          <a:solidFill>
                            <a:srgbClr val="000000"/>
                          </a:solidFill>
                        </a:rPr>
                        <a:t>Afficher le meilleur itinéraire d'un routeur vers le réseau spécifié si l'itinéraire spécifié (avec une longueur de masque de sous-réseau correspondante) se trouve dans la table de routage IP du routeur</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b="1" i="0" dirty="0">
                          <a:solidFill>
                            <a:srgbClr val="000000"/>
                          </a:solidFill>
                        </a:rPr>
                        <a:t>afficher la route IP</a:t>
                      </a:r>
                      <a:r>
                        <a:rPr lang="en-US" sz="1400" b="0" i="1" dirty="0">
                          <a:solidFill>
                            <a:srgbClr val="000000"/>
                          </a:solidFill>
                        </a:rPr>
                        <a:t>adresse_ip masque_de-sous-réseau</a:t>
                      </a:r>
                      <a:endParaRPr lang="en-US" sz="1400" b="1" dirty="0">
                        <a:solidFill>
                          <a:srgbClr val="000000"/>
                        </a:solidFill>
                      </a:endParaRPr>
                    </a:p>
                    <a:p>
                      <a:pPr algn="l" rtl="0"/>
                      <a:endParaRPr lang="en-US" sz="1400" b="0" i="1" dirty="0">
                        <a:solidFill>
                          <a:srgbClr val="000000"/>
                        </a:solidFill>
                      </a:endParaRPr>
                    </a:p>
                  </a:txBody>
                  <a:tcPr/>
                </a:tc>
                <a:extLst>
                  <a:ext uri="{0D108BD9-81ED-4DB2-BD59-A6C34878D82A}">
                    <a16:rowId xmlns:a16="http://schemas.microsoft.com/office/drawing/2014/main" val="10003"/>
                  </a:ext>
                </a:extLst>
              </a:tr>
              <a:tr h="370840">
                <a:tc>
                  <a:txBody>
                    <a:bodyPr/>
                    <a:lstStyle/>
                    <a:p>
                      <a:pPr algn="l" rtl="0"/>
                      <a:r>
                        <a:rPr lang="en-US" sz="1400" dirty="0">
                          <a:solidFill>
                            <a:srgbClr val="000000"/>
                          </a:solidFill>
                        </a:rPr>
                        <a:t>Afficher toutes les routes de la table de routage IP d'un routeur qui sont englobées par l'adresse réseau et le masque de sous-réseau spécifiés (cette commande est souvent utile lors du dépannage des problèmes de récapitulation des routes)</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b="1" i="0" dirty="0">
                          <a:solidFill>
                            <a:srgbClr val="000000"/>
                          </a:solidFill>
                        </a:rPr>
                        <a:t>afficher la route IP</a:t>
                      </a:r>
                      <a:r>
                        <a:rPr lang="en-US" sz="1400" b="0" i="1" dirty="0">
                          <a:solidFill>
                            <a:srgbClr val="000000"/>
                          </a:solidFill>
                        </a:rPr>
                        <a:t>adresse_ip masque_de-sous-réseau</a:t>
                      </a:r>
                      <a:r>
                        <a:rPr lang="en-US" sz="1400" b="1" i="0" dirty="0">
                          <a:solidFill>
                            <a:srgbClr val="000000"/>
                          </a:solidFill>
                        </a:rPr>
                        <a:t>préfixes plus longs</a:t>
                      </a:r>
                    </a:p>
                  </a:txBody>
                  <a:tcPr/>
                </a:tc>
                <a:extLst>
                  <a:ext uri="{0D108BD9-81ED-4DB2-BD59-A6C34878D82A}">
                    <a16:rowId xmlns:a16="http://schemas.microsoft.com/office/drawing/2014/main" val="10004"/>
                  </a:ext>
                </a:extLst>
              </a:tr>
              <a:tr h="370840">
                <a:tc>
                  <a:txBody>
                    <a:bodyPr/>
                    <a:lstStyle/>
                    <a:p>
                      <a:pPr algn="l" rtl="0"/>
                      <a:r>
                        <a:rPr lang="en-US" sz="1400" dirty="0">
                          <a:solidFill>
                            <a:srgbClr val="000000"/>
                          </a:solidFill>
                        </a:rPr>
                        <a:t>Afficher les informations (par exemple, l'adresse IP du tronçon suivant et l'interface de sortie) requises pour transférer un paquet, similaires à la sortie du</a:t>
                      </a:r>
                      <a:r>
                        <a:rPr lang="en-US" sz="1400" b="1" dirty="0">
                          <a:solidFill>
                            <a:srgbClr val="000000"/>
                          </a:solidFill>
                        </a:rPr>
                        <a:t>afficher la route IP</a:t>
                      </a:r>
                      <a:r>
                        <a:rPr lang="en-US" sz="1400" i="1" dirty="0">
                          <a:solidFill>
                            <a:srgbClr val="000000"/>
                          </a:solidFill>
                        </a:rPr>
                        <a:t>adresse IP</a:t>
                      </a:r>
                      <a:r>
                        <a:rPr lang="en-US" sz="1400" dirty="0">
                          <a:solidFill>
                            <a:srgbClr val="000000"/>
                          </a:solidFill>
                        </a:rPr>
                        <a:t>commande. (La sortie de cette commande provient de CEF. Par conséquent, les informations sur le protocole de routage ne sont pas présentes dans la sortie.</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b="1" i="0" dirty="0">
                          <a:solidFill>
                            <a:srgbClr val="000000"/>
                          </a:solidFill>
                        </a:rPr>
                        <a:t>afficher l'ip cef</a:t>
                      </a:r>
                      <a:r>
                        <a:rPr lang="en-US" sz="1400" b="0" i="1" dirty="0">
                          <a:solidFill>
                            <a:srgbClr val="000000"/>
                          </a:solidFill>
                        </a:rPr>
                        <a:t>adresse IP</a:t>
                      </a:r>
                    </a:p>
                  </a:txBody>
                  <a:tcPr/>
                </a:tc>
                <a:extLst>
                  <a:ext uri="{0D108BD9-81ED-4DB2-BD59-A6C34878D82A}">
                    <a16:rowId xmlns:a16="http://schemas.microsoft.com/office/drawing/2014/main" val="3153794205"/>
                  </a:ext>
                </a:extLst>
              </a:tr>
            </a:tbl>
          </a:graphicData>
        </a:graphic>
      </p:graphicFrame>
    </p:spTree>
    <p:extLst>
      <p:ext uri="{BB962C8B-B14F-4D97-AF65-F5344CB8AC3E}">
        <p14:creationId xmlns:p14="http://schemas.microsoft.com/office/powerpoint/2010/main" val="1028187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04774"/>
            <a:ext cx="8345488" cy="731837"/>
          </a:xfrm>
        </p:spPr>
        <p:txBody>
          <a:bodyPr/>
          <a:lstStyle/>
          <a:p>
            <a:pPr algn="l" rtl="0"/>
            <a:r>
              <a:rPr lang="en-US" sz="1600" dirty="0"/>
              <a:t>Préparez-vous à l'examen</a:t>
            </a:r>
            <a:br>
              <a:rPr lang="en-US" sz="2400" dirty="0"/>
            </a:br>
            <a:r>
              <a:rPr lang="en-US" sz="2400" dirty="0"/>
              <a:t>Référence des commandes pour le chapitre 1 (suite)</a:t>
            </a:r>
          </a:p>
        </p:txBody>
      </p:sp>
      <p:graphicFrame>
        <p:nvGraphicFramePr>
          <p:cNvPr id="2" name="Table 1"/>
          <p:cNvGraphicFramePr>
            <a:graphicFrameLocks noGrp="1"/>
          </p:cNvGraphicFramePr>
          <p:nvPr>
            <p:extLst>
              <p:ext uri="{D42A27DB-BD31-4B8C-83A1-F6EECF244321}">
                <p14:modId xmlns:p14="http://schemas.microsoft.com/office/powerpoint/2010/main" val="1853039118"/>
              </p:ext>
            </p:extLst>
          </p:nvPr>
        </p:nvGraphicFramePr>
        <p:xfrm>
          <a:off x="269630" y="836611"/>
          <a:ext cx="8604739" cy="4036158"/>
        </p:xfrm>
        <a:graphic>
          <a:graphicData uri="http://schemas.openxmlformats.org/drawingml/2006/table">
            <a:tbl>
              <a:tblPr firstRow="1" bandRow="1">
                <a:tableStyleId>{5C22544A-7EE6-4342-B048-85BDC9FD1C3A}</a:tableStyleId>
              </a:tblPr>
              <a:tblGrid>
                <a:gridCol w="5275764">
                  <a:extLst>
                    <a:ext uri="{9D8B030D-6E8A-4147-A177-3AD203B41FA5}">
                      <a16:colId xmlns:a16="http://schemas.microsoft.com/office/drawing/2014/main" val="20000"/>
                    </a:ext>
                  </a:extLst>
                </a:gridCol>
                <a:gridCol w="3328975">
                  <a:extLst>
                    <a:ext uri="{9D8B030D-6E8A-4147-A177-3AD203B41FA5}">
                      <a16:colId xmlns:a16="http://schemas.microsoft.com/office/drawing/2014/main" val="20001"/>
                    </a:ext>
                  </a:extLst>
                </a:gridCol>
              </a:tblGrid>
              <a:tr h="378558">
                <a:tc>
                  <a:txBody>
                    <a:bodyPr/>
                    <a:lstStyle/>
                    <a:p>
                      <a:pPr algn="l" rtl="0"/>
                      <a:r>
                        <a:rPr lang="en-US" dirty="0"/>
                        <a:t>Tâche</a:t>
                      </a:r>
                    </a:p>
                  </a:txBody>
                  <a:tcPr/>
                </a:tc>
                <a:tc>
                  <a:txBody>
                    <a:bodyPr/>
                    <a:lstStyle/>
                    <a:p>
                      <a:pPr algn="l" rtl="0"/>
                      <a:r>
                        <a:rPr lang="en-US" sz="1400" b="1" i="0" u="none" strike="noStrike" kern="1200" baseline="0" dirty="0">
                          <a:solidFill>
                            <a:schemeClr val="lt1"/>
                          </a:solidFill>
                          <a:latin typeface="+mn-lt"/>
                          <a:ea typeface="+mn-ea"/>
                          <a:cs typeface="+mn-cs"/>
                        </a:rPr>
                        <a:t>Syntaxe des commandes</a:t>
                      </a:r>
                      <a:endParaRPr lang="en-US" dirty="0"/>
                    </a:p>
                  </a:txBody>
                  <a:tcPr/>
                </a:tc>
                <a:extLst>
                  <a:ext uri="{0D108BD9-81ED-4DB2-BD59-A6C34878D82A}">
                    <a16:rowId xmlns:a16="http://schemas.microsoft.com/office/drawing/2014/main" val="10000"/>
                  </a:ext>
                </a:extLst>
              </a:tr>
              <a:tr h="370840">
                <a:tc>
                  <a:txBody>
                    <a:bodyPr/>
                    <a:lstStyle/>
                    <a:p>
                      <a:pPr algn="l" rtl="0"/>
                      <a:r>
                        <a:rPr lang="en-US" sz="1400" dirty="0">
                          <a:solidFill>
                            <a:srgbClr val="000000"/>
                          </a:solidFill>
                        </a:rPr>
                        <a:t>Afficher les informations de la FIB d'un routeur montrant les informations nécessaires pour acheminer un paquet vers le réseau spécifié avec le masque de sous-réseau spécifié</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b="1" i="0" dirty="0">
                          <a:solidFill>
                            <a:srgbClr val="000000"/>
                          </a:solidFill>
                        </a:rPr>
                        <a:t>afficher l'ip cef</a:t>
                      </a:r>
                      <a:r>
                        <a:rPr lang="en-US" sz="1400" b="0" i="1" dirty="0">
                          <a:solidFill>
                            <a:srgbClr val="000000"/>
                          </a:solidFill>
                        </a:rPr>
                        <a:t>adresse_ip masque_de-sous-réseau</a:t>
                      </a:r>
                    </a:p>
                  </a:txBody>
                  <a:tcPr/>
                </a:tc>
                <a:extLst>
                  <a:ext uri="{0D108BD9-81ED-4DB2-BD59-A6C34878D82A}">
                    <a16:rowId xmlns:a16="http://schemas.microsoft.com/office/drawing/2014/main" val="10001"/>
                  </a:ext>
                </a:extLst>
              </a:tr>
              <a:tr h="370840">
                <a:tc>
                  <a:txBody>
                    <a:bodyPr/>
                    <a:lstStyle/>
                    <a:p>
                      <a:pPr algn="l" rtl="0"/>
                      <a:r>
                        <a:rPr lang="en-US" sz="1400" dirty="0">
                          <a:solidFill>
                            <a:srgbClr val="000000"/>
                          </a:solidFill>
                        </a:rPr>
                        <a:t>Afficher la contiguïté qui sera utilisée pour transférer un paquet de l'adresse IP source spécifiée vers l'adresse IP de destination spécifiée (cette commande est utile si le routeur équilibre la charge sur plusieurs contiguïtés et que vous souhaitez voir quelle contiguïté sera utilisée pour un certaine combinaison d'adresses IP source et de destination.)</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b="1" i="0" dirty="0">
                          <a:solidFill>
                            <a:srgbClr val="000000"/>
                          </a:solidFill>
                        </a:rPr>
                        <a:t>afficher l'itinéraire exact de l'ip cef</a:t>
                      </a:r>
                      <a:r>
                        <a:rPr lang="en-US" sz="1400" b="0" i="1" dirty="0">
                          <a:solidFill>
                            <a:srgbClr val="000000"/>
                          </a:solidFill>
                        </a:rPr>
                        <a:t>adresse_source adresse_de destination</a:t>
                      </a:r>
                    </a:p>
                  </a:txBody>
                  <a:tcPr/>
                </a:tc>
                <a:extLst>
                  <a:ext uri="{0D108BD9-81ED-4DB2-BD59-A6C34878D82A}">
                    <a16:rowId xmlns:a16="http://schemas.microsoft.com/office/drawing/2014/main" val="10002"/>
                  </a:ext>
                </a:extLst>
              </a:tr>
              <a:tr h="370840">
                <a:tc>
                  <a:txBody>
                    <a:bodyPr/>
                    <a:lstStyle/>
                    <a:p>
                      <a:pPr algn="l" rtl="0"/>
                      <a:r>
                        <a:rPr lang="en-US" sz="1400" dirty="0">
                          <a:solidFill>
                            <a:srgbClr val="000000"/>
                          </a:solidFill>
                        </a:rPr>
                        <a:t>Afficher les routes IPv6 statiques configurées sur un appareil</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b="1" i="0" dirty="0">
                          <a:solidFill>
                            <a:srgbClr val="000000"/>
                          </a:solidFill>
                        </a:rPr>
                        <a:t>afficher la route ipv6 statique</a:t>
                      </a:r>
                      <a:endParaRPr lang="en-US" sz="1400" b="1" dirty="0">
                        <a:solidFill>
                          <a:srgbClr val="000000"/>
                        </a:solidFill>
                      </a:endParaRPr>
                    </a:p>
                    <a:p>
                      <a:pPr algn="l" rtl="0"/>
                      <a:endParaRPr lang="en-US" sz="1400" b="0" i="1" dirty="0">
                        <a:solidFill>
                          <a:srgbClr val="000000"/>
                        </a:solidFill>
                      </a:endParaRPr>
                    </a:p>
                  </a:txBody>
                  <a:tcPr/>
                </a:tc>
                <a:extLst>
                  <a:ext uri="{0D108BD9-81ED-4DB2-BD59-A6C34878D82A}">
                    <a16:rowId xmlns:a16="http://schemas.microsoft.com/office/drawing/2014/main" val="10003"/>
                  </a:ext>
                </a:extLst>
              </a:tr>
              <a:tr h="370840">
                <a:tc>
                  <a:txBody>
                    <a:bodyPr/>
                    <a:lstStyle/>
                    <a:p>
                      <a:pPr algn="l" rtl="0"/>
                      <a:r>
                        <a:rPr lang="en-US" sz="1400" dirty="0">
                          <a:solidFill>
                            <a:srgbClr val="000000"/>
                          </a:solidFill>
                        </a:rPr>
                        <a:t>Afficher les mappages d'adresse IPv6 de couche 3 vers l'adresse MAC de couche 2</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b="1" i="0" dirty="0">
                          <a:solidFill>
                            <a:srgbClr val="000000"/>
                          </a:solidFill>
                        </a:rPr>
                        <a:t>afficher les voisins IPv6</a:t>
                      </a:r>
                    </a:p>
                  </a:txBody>
                  <a:tcPr/>
                </a:tc>
                <a:extLst>
                  <a:ext uri="{0D108BD9-81ED-4DB2-BD59-A6C34878D82A}">
                    <a16:rowId xmlns:a16="http://schemas.microsoft.com/office/drawing/2014/main" val="10004"/>
                  </a:ext>
                </a:extLst>
              </a:tr>
              <a:tr h="370840">
                <a:tc>
                  <a:txBody>
                    <a:bodyPr/>
                    <a:lstStyle/>
                    <a:p>
                      <a:pPr algn="l" rtl="0"/>
                      <a:r>
                        <a:rPr lang="en-US" sz="1400" dirty="0">
                          <a:solidFill>
                            <a:srgbClr val="000000"/>
                          </a:solidFill>
                        </a:rPr>
                        <a:t>Afficher le cache ARP du routeur, contenant les mappages d'adresse IPv4 vers l'adresse MAC</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b="1" i="0" dirty="0">
                          <a:solidFill>
                            <a:srgbClr val="000000"/>
                          </a:solidFill>
                        </a:rPr>
                        <a:t>afficher l'arp IP</a:t>
                      </a:r>
                      <a:endParaRPr lang="en-US" sz="1400" b="0" i="1" dirty="0">
                        <a:solidFill>
                          <a:srgbClr val="000000"/>
                        </a:solidFill>
                      </a:endParaRPr>
                    </a:p>
                  </a:txBody>
                  <a:tcPr/>
                </a:tc>
                <a:extLst>
                  <a:ext uri="{0D108BD9-81ED-4DB2-BD59-A6C34878D82A}">
                    <a16:rowId xmlns:a16="http://schemas.microsoft.com/office/drawing/2014/main" val="3153794205"/>
                  </a:ext>
                </a:extLst>
              </a:tr>
            </a:tbl>
          </a:graphicData>
        </a:graphic>
      </p:graphicFrame>
    </p:spTree>
    <p:extLst>
      <p:ext uri="{BB962C8B-B14F-4D97-AF65-F5344CB8AC3E}">
        <p14:creationId xmlns:p14="http://schemas.microsoft.com/office/powerpoint/2010/main" val="1598623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994790165"/>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5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40620</TotalTime>
  <Words>10359</Words>
  <Application>Microsoft Office PowerPoint</Application>
  <PresentationFormat>Affichage à l'écran (16:9)</PresentationFormat>
  <Paragraphs>662</Paragraphs>
  <Slides>77</Slides>
  <Notes>77</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77</vt:i4>
      </vt:variant>
    </vt:vector>
  </HeadingPairs>
  <TitlesOfParts>
    <vt:vector size="82" baseType="lpstr">
      <vt:lpstr>Arial</vt:lpstr>
      <vt:lpstr>Calibri</vt:lpstr>
      <vt:lpstr>CiscoSans ExtraLight</vt:lpstr>
      <vt:lpstr>Courier New</vt:lpstr>
      <vt:lpstr>Default Theme</vt:lpstr>
      <vt:lpstr>Chapitre 1 : Examen de l'adressage et du routage IPv4/IPv6</vt:lpstr>
      <vt:lpstr>Contenu du chapitre 1</vt:lpstr>
      <vt:lpstr>Contenu du chapitre 1 (suite)</vt:lpstr>
      <vt:lpstr>Adressage IPv4</vt:lpstr>
      <vt:lpstr>Adressage IPv4 Problèmes de résolution IPv4</vt:lpstr>
      <vt:lpstr>Adressage IPv4 Problèmes d'adressage IPv4 (suite)</vt:lpstr>
      <vt:lpstr>Adressage IPv4 Problèmes d'adressage IPv4 (suite)</vt:lpstr>
      <vt:lpstr>Adressage IPv4 Problèmes d'adressage IPv4 (suite)</vt:lpstr>
      <vt:lpstr>Adressage IPv4 Détermination des adresses IP dans un sous-réseau</vt:lpstr>
      <vt:lpstr>DHCP pour IPv4</vt:lpstr>
      <vt:lpstr>DHCPv4 pour IPv4 Examen des opérations DHCP</vt:lpstr>
      <vt:lpstr>DHCPv4 pour IPv4 Processus DHCP-DORA</vt:lpstr>
      <vt:lpstr>DHCPv4 pour IPv4 Agent de relais DHCP</vt:lpstr>
      <vt:lpstr>DHCPv4 pour IPv4 Agent de relais DHCP (suite)</vt:lpstr>
      <vt:lpstr>DHCPv4 pour IPv4 Types de messages DHCP</vt:lpstr>
      <vt:lpstr>DHCPv4 pour IPv4 Routeur en tant que client DHCP ou serveur DHCP</vt:lpstr>
      <vt:lpstr>DHCPv4 pour IPv4 Problèmes de dépannage DHCP</vt:lpstr>
      <vt:lpstr>DHCPv4 pour IPv4 Commandes de dépannage DHCP</vt:lpstr>
      <vt:lpstr>DHCPv4 pour IPv4 Commandes de dépannage DHCP (suite)</vt:lpstr>
      <vt:lpstr>DHCPv4 pour IPv4 Commandes de dépannage DHCP (suite)</vt:lpstr>
      <vt:lpstr>Adressage IPv6</vt:lpstr>
      <vt:lpstr>Adressage IPv6 Examen de l'adressage IPv6</vt:lpstr>
      <vt:lpstr>Adressage IPv6 Examen de l'adressage IPv6 (suite)</vt:lpstr>
      <vt:lpstr>Adressage IPv6 EUI-64</vt:lpstr>
      <vt:lpstr>Adressage IPv6 EUI-64 (suite)</vt:lpstr>
      <vt:lpstr>IPv6 SLAAC, DHCPv6 avec état et DHCPv6 sans état</vt:lpstr>
      <vt:lpstr>IPv6 SLAAC, DHCPv6 avec état, DHCPv6 sans état SLAAC</vt:lpstr>
      <vt:lpstr>IPv6 SLAAC, DHCPv6 avec état, DHCPv6 sans état SLAAC (suite)</vt:lpstr>
      <vt:lpstr>IPv6 SLAAC, DHCPv6 avec état, DHCPv6 sans état SLAAC (suite)</vt:lpstr>
      <vt:lpstr>IPv6 SLAAC, DHCPv6 avec état, DHCPv6 sans état Annonces de routeur (RA)</vt:lpstr>
      <vt:lpstr>IPv6 SLAAC, DHCPv6 avec état, DHCPv6 sans état DHCPv6 avec état</vt:lpstr>
      <vt:lpstr>IPv6 SLAAC, DHCPv6 avec état, DHCPv6 sans état DHCPv6 sans état</vt:lpstr>
      <vt:lpstr>IPv6 SLAAC, DHCPv6 avec état, DHCPv6 sans état Fonctionnement DHCPv6</vt:lpstr>
      <vt:lpstr>IPv6 SLAAC, DHCPv6 avec état, DHCPv6 sans état Messages DHCPv6</vt:lpstr>
      <vt:lpstr>IPv6 SLAAC, DHCPv6 avec état, DHCPv6 sans état Agent de relais DHCPv6</vt:lpstr>
      <vt:lpstr>Processus de transfert de paquets</vt:lpstr>
      <vt:lpstr>Processus de transfert de paquets Examen du processus de transfert de paquets de couche 3</vt:lpstr>
      <vt:lpstr>Processus de transfert de paquets Examen du processus de transfert de paquets de couche 3 (suite)</vt:lpstr>
      <vt:lpstr>Processus de transfert de paquets Examen du processus de transfert de paquets de couche 3 (suite)</vt:lpstr>
      <vt:lpstr>Processus de transfert de paquets Examen du processus de transfert de paquets de couche 3 (suite)</vt:lpstr>
      <vt:lpstr>Processus de transfert de paquets Examen du processus de transfert de paquets de couche 3 (suite)</vt:lpstr>
      <vt:lpstr>Processus de transfert de paquets Examen du processus de transfert de paquets de couche 3 (suite)</vt:lpstr>
      <vt:lpstr>Processus de transfert de paquets Dépannage du processus de transfert de paquets</vt:lpstr>
      <vt:lpstr>Processus de transfert de paquets Dépannage du processus de transfert de paquets (suite)</vt:lpstr>
      <vt:lpstr>Processus de transfert de paquets Dépannage du processus de transfert de paquets (suite)</vt:lpstr>
      <vt:lpstr>Processus de transfert de paquets Dépannage du processus de transfert de paquets (suite)</vt:lpstr>
      <vt:lpstr>Sources d'informations sur le routage</vt:lpstr>
      <vt:lpstr>Sources d'informations sur le routage Structures de données et table de routage</vt:lpstr>
      <vt:lpstr>Sources d'informations sur le routage Sources d'informations d'acheminement</vt:lpstr>
      <vt:lpstr>Itinéraires statiques</vt:lpstr>
      <vt:lpstr>Itinéraires statiques Routes statiques IPv4 – Configuration de base</vt:lpstr>
      <vt:lpstr>Itinéraires statiques Routes statiques IPv4 – Erreurs courantes</vt:lpstr>
      <vt:lpstr>Itinéraires statiques Routes statiques IPv4 – Recherche récursive</vt:lpstr>
      <vt:lpstr>Itinéraires statiques Routes statiques IPv4 – Interface de sortie</vt:lpstr>
      <vt:lpstr>Itinéraires statiques Routes statiques IPv4 – Proxy ARP</vt:lpstr>
      <vt:lpstr>Itinéraires statiques Routes statiques IPv4 – Proxy ARP</vt:lpstr>
      <vt:lpstr>Itinéraires statiques Routes statiques IPv4 – Proxy ARP (suite)</vt:lpstr>
      <vt:lpstr>Itinéraires statiques Routes statiques IPv6</vt:lpstr>
      <vt:lpstr>Itinéraires statiques Routes statiques IPv6 (suite)</vt:lpstr>
      <vt:lpstr>Itinéraires statiques Routes statiques IPv6 (suite)</vt:lpstr>
      <vt:lpstr>Billets de problème</vt:lpstr>
      <vt:lpstr>Billets de problème Tickets de problèmes d’adressage IPv4 et de technologies d’adressage (suite)</vt:lpstr>
      <vt:lpstr>Billets de problème Tickets de problèmes d’adressage IPv4 et de technologies d’adressage (suite)</vt:lpstr>
      <vt:lpstr>Billets de problème Tickets de problèmes d’adressage IPv6</vt:lpstr>
      <vt:lpstr>Billets de problème Tickets de problèmes de routage statique</vt:lpstr>
      <vt:lpstr>Préparez-vous à l'examen</vt:lpstr>
      <vt:lpstr>Préparez-vous à l'examen Sujets clés du chapitre 1</vt:lpstr>
      <vt:lpstr>Préparez-vous à l'examen Sujets clés du chapitre 1 (suite)</vt:lpstr>
      <vt:lpstr>Préparez-vous à l'examen Sujets clés du chapitre 1 (suite)</vt:lpstr>
      <vt:lpstr>Préparez-vous à l'examen Sujets clés du chapitre 1 (suite)</vt:lpstr>
      <vt:lpstr>Préparez-vous à l'examen Termes clés du chapitre 1</vt:lpstr>
      <vt:lpstr>Préparez-vous à l'examen Termes clés du chapitre 1 (suite)</vt:lpstr>
      <vt:lpstr>Préparez-vous à l'examen Référence des commandes pour le chapitre 1</vt:lpstr>
      <vt:lpstr>Préparez-vous à l'examen Référence des commandes pour le chapitre 1 (suite)</vt:lpstr>
      <vt:lpstr>Préparez-vous à l'examen Référence des commandes pour le chapitre 1 (suite)</vt:lpstr>
      <vt:lpstr>Préparez-vous à l'examen Référence des commandes pour le chapitre 1 (suite)</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SERVTEK</cp:lastModifiedBy>
  <cp:revision>718</cp:revision>
  <dcterms:created xsi:type="dcterms:W3CDTF">2019-10-18T06:21:22Z</dcterms:created>
  <dcterms:modified xsi:type="dcterms:W3CDTF">2024-02-03T14:52:33Z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