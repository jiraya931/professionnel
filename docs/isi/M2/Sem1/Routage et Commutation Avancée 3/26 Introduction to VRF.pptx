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1"/>
    <p:sldMasterId id="2147483857" r:id="rId2"/>
  </p:sldMasterIdLst>
  <p:notesMasterIdLst>
    <p:notesMasterId r:id="rId27"/>
  </p:notesMasterIdLst>
  <p:handoutMasterIdLst>
    <p:handoutMasterId r:id="rId28"/>
  </p:handoutMasterIdLst>
  <p:sldIdLst>
    <p:sldId id="272" r:id="rId3"/>
    <p:sldId id="271" r:id="rId4"/>
    <p:sldId id="273" r:id="rId5"/>
    <p:sldId id="275" r:id="rId6"/>
    <p:sldId id="276" r:id="rId7"/>
    <p:sldId id="279" r:id="rId8"/>
    <p:sldId id="282" r:id="rId9"/>
    <p:sldId id="283" r:id="rId10"/>
    <p:sldId id="278" r:id="rId11"/>
    <p:sldId id="280" r:id="rId12"/>
    <p:sldId id="281" r:id="rId13"/>
    <p:sldId id="286" r:id="rId14"/>
    <p:sldId id="287" r:id="rId15"/>
    <p:sldId id="296" r:id="rId16"/>
    <p:sldId id="277" r:id="rId17"/>
    <p:sldId id="288" r:id="rId18"/>
    <p:sldId id="289" r:id="rId19"/>
    <p:sldId id="285" r:id="rId20"/>
    <p:sldId id="290" r:id="rId21"/>
    <p:sldId id="291" r:id="rId22"/>
    <p:sldId id="292" r:id="rId23"/>
    <p:sldId id="293" r:id="rId24"/>
    <p:sldId id="294" r:id="rId25"/>
    <p:sldId id="295" r:id="rId26"/>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2251" userDrawn="1">
          <p15:clr>
            <a:srgbClr val="A4A3A4"/>
          </p15:clr>
        </p15:guide>
        <p15:guide id="7" pos="3885"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linruizjhw (Leroy)" initials="Z(" lastIdx="27" clrIdx="0">
    <p:extLst>
      <p:ext uri="{19B8F6BF-5375-455C-9EA6-DF929625EA0E}">
        <p15:presenceInfo xmlns:p15="http://schemas.microsoft.com/office/powerpoint/2012/main" userId="S-1-5-21-147214757-305610072-1517763936-5615262" providerId="AD"/>
      </p:ext>
    </p:extLst>
  </p:cmAuthor>
  <p:cmAuthor id="2" name="hejunjianzjhw" initials="h" lastIdx="4" clrIdx="1">
    <p:extLst>
      <p:ext uri="{19B8F6BF-5375-455C-9EA6-DF929625EA0E}">
        <p15:presenceInfo xmlns:p15="http://schemas.microsoft.com/office/powerpoint/2012/main" userId="S-1-5-21-147214757-305610072-1517763936-5682676" providerId="AD"/>
      </p:ext>
    </p:extLst>
  </p:cmAuthor>
  <p:cmAuthor id="3" name="y00335324" initials="y" lastIdx="4" clrIdx="2">
    <p:extLst>
      <p:ext uri="{19B8F6BF-5375-455C-9EA6-DF929625EA0E}">
        <p15:presenceInfo xmlns:p15="http://schemas.microsoft.com/office/powerpoint/2012/main" userId="y00335324" providerId="None"/>
      </p:ext>
    </p:extLst>
  </p:cmAuthor>
  <p:cmAuthor id="4" name="Yangyufu (Yang)" initials="Y(" lastIdx="1" clrIdx="3">
    <p:extLst>
      <p:ext uri="{19B8F6BF-5375-455C-9EA6-DF929625EA0E}">
        <p15:presenceInfo xmlns:p15="http://schemas.microsoft.com/office/powerpoint/2012/main" userId="S-1-5-21-147214757-305610072-1517763936-44501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2CC"/>
    <a:srgbClr val="FFD17D"/>
    <a:srgbClr val="00B0F0"/>
    <a:srgbClr val="EC7061"/>
    <a:srgbClr val="8BC9A0"/>
    <a:srgbClr val="A6A6A6"/>
    <a:srgbClr val="BDE7F6"/>
    <a:srgbClr val="F4FBFE"/>
    <a:srgbClr val="F3FBFE"/>
    <a:srgbClr val="99DF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965" autoAdjust="0"/>
  </p:normalViewPr>
  <p:slideViewPr>
    <p:cSldViewPr snapToGrid="0" snapToObjects="1">
      <p:cViewPr varScale="1">
        <p:scale>
          <a:sx n="100" d="100"/>
          <a:sy n="100" d="100"/>
        </p:scale>
        <p:origin x="72" y="270"/>
      </p:cViewPr>
      <p:guideLst>
        <p:guide orient="horz" pos="2251"/>
        <p:guide pos="3885"/>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0" d="100"/>
          <a:sy n="80" d="100"/>
        </p:scale>
        <p:origin x="3456" y="102"/>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8/12/2020</a:t>
            </a:fld>
            <a:endParaRPr lang="en-US">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latin typeface="Huawei Sans" panose="020C0503030203020204" pitchFamily="34" charset="0"/>
            </a:endParaRPr>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4239347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3409481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1045543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3019823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645929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latin typeface="Huawei Sans" panose="020C0503030203020204" pitchFamily="34" charset="0"/>
            </a:endParaRPr>
          </a:p>
        </p:txBody>
      </p:sp>
    </p:spTree>
    <p:extLst>
      <p:ext uri="{BB962C8B-B14F-4D97-AF65-F5344CB8AC3E}">
        <p14:creationId xmlns:p14="http://schemas.microsoft.com/office/powerpoint/2010/main" val="1791513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2629643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2635806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3368900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en-US">
                <a:latin typeface="Huawei Sans" panose="020C0503030203020204" pitchFamily="34" charset="0"/>
              </a:rPr>
              <a:t>By default, all interfaces on a network device belong to the same forwarding instance, that is, the root instance of the device.</a:t>
            </a:r>
          </a:p>
          <a:p>
            <a:endParaRPr lang="zh-CN" altLang="en-US" dirty="0">
              <a:latin typeface="Huawei Sans" panose="020C0503030203020204" pitchFamily="34" charset="0"/>
            </a:endParaRPr>
          </a:p>
          <a:p>
            <a:endParaRPr lang="zh-CN" altLang="en-US" dirty="0">
              <a:latin typeface="Huawei Sans" panose="020C0503030203020204" pitchFamily="34" charset="0"/>
            </a:endParaRPr>
          </a:p>
        </p:txBody>
      </p:sp>
    </p:spTree>
    <p:extLst>
      <p:ext uri="{BB962C8B-B14F-4D97-AF65-F5344CB8AC3E}">
        <p14:creationId xmlns:p14="http://schemas.microsoft.com/office/powerpoint/2010/main" val="1194846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3319416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124331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626719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en-US" dirty="0">
                <a:latin typeface="Huawei Sans" panose="020C0503030203020204" pitchFamily="34" charset="0"/>
              </a:rPr>
              <a:t>For more information about BGP/MPLS IP VPN, see the related HCIP-Datacom-Advance courses.</a:t>
            </a:r>
          </a:p>
        </p:txBody>
      </p:sp>
    </p:spTree>
    <p:extLst>
      <p:ext uri="{BB962C8B-B14F-4D97-AF65-F5344CB8AC3E}">
        <p14:creationId xmlns:p14="http://schemas.microsoft.com/office/powerpoint/2010/main" val="1932169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381757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1369830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2721121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2964108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9267204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652708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26544443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228600" lvl="0" indent="-228600">
              <a:buFont typeface="+mj-lt"/>
              <a:buAutoNum type="arabicPeriod"/>
            </a:pPr>
            <a:r>
              <a:rPr lang="en-US" dirty="0">
                <a:latin typeface="Huawei Sans" panose="020C0503030203020204" pitchFamily="34" charset="0"/>
              </a:rPr>
              <a:t>B</a:t>
            </a:r>
          </a:p>
          <a:p>
            <a:pPr marL="228600" lvl="0" indent="-228600">
              <a:buFont typeface="+mj-lt"/>
              <a:buAutoNum type="arabicPeriod"/>
            </a:pPr>
            <a:r>
              <a:rPr lang="en-US" dirty="0">
                <a:latin typeface="Huawei Sans" panose="020C0503030203020204" pitchFamily="34" charset="0"/>
              </a:rPr>
              <a:t>A</a:t>
            </a:r>
          </a:p>
        </p:txBody>
      </p:sp>
    </p:spTree>
    <p:extLst>
      <p:ext uri="{BB962C8B-B14F-4D97-AF65-F5344CB8AC3E}">
        <p14:creationId xmlns:p14="http://schemas.microsoft.com/office/powerpoint/2010/main" val="2811546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26524466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latin typeface="Huawei Sans" panose="020C0503030203020204" pitchFamily="34" charset="0"/>
            </a:endParaRPr>
          </a:p>
        </p:txBody>
      </p:sp>
    </p:spTree>
    <p:extLst>
      <p:ext uri="{BB962C8B-B14F-4D97-AF65-F5344CB8AC3E}">
        <p14:creationId xmlns:p14="http://schemas.microsoft.com/office/powerpoint/2010/main" val="3550128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sp>
        <p:nvSpPr>
          <p:cNvPr id="31"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ctr" latinLnBrk="0" hangingPunct="0">
              <a:lnSpc>
                <a:spcPct val="100000"/>
              </a:lnSpc>
              <a:spcBef>
                <a:spcPct val="0"/>
              </a:spcBef>
              <a:spcAft>
                <a:spcPct val="0"/>
              </a:spcAft>
              <a:buClrTx/>
              <a:buSzTx/>
              <a:buFontTx/>
              <a:buNone/>
              <a:tabLst/>
              <a:defRPr/>
            </a:pPr>
            <a:r>
              <a:rPr lang="en-US" altLang="zh-CN" sz="3500" b="1" baseline="0" dirty="0">
                <a:solidFill>
                  <a:schemeClr val="tx1">
                    <a:lumMod val="75000"/>
                    <a:lumOff val="25000"/>
                  </a:schemeClr>
                </a:solidFill>
                <a:latin typeface="Huawei Sans" panose="020C0503030203020204" pitchFamily="34" charset="0"/>
                <a:ea typeface="方正兰亭黑简体" panose="02000000000000000000" pitchFamily="2" charset="-122"/>
              </a:rPr>
              <a:t>Revision Record</a:t>
            </a:r>
            <a:endPar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endParaRPr>
          </a:p>
        </p:txBody>
      </p:sp>
      <p:sp>
        <p:nvSpPr>
          <p:cNvPr id="32"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fontAlgn="ctr">
              <a:spcBef>
                <a:spcPct val="50000"/>
              </a:spcBef>
            </a:pPr>
            <a:r>
              <a:rPr lang="en-US" altLang="zh-CN" sz="2800" kern="1200" baseline="0" dirty="0">
                <a:solidFill>
                  <a:srgbClr val="4D4D4D"/>
                </a:solidFill>
                <a:latin typeface="Huawei Sans" panose="020C0503030203020204" pitchFamily="34" charset="0"/>
                <a:ea typeface="方正兰亭黑简体" panose="02000000000000000000" pitchFamily="2" charset="-122"/>
                <a:cs typeface="+mn-cs"/>
              </a:rPr>
              <a:t>Do Not Print this Page</a:t>
            </a:r>
            <a:endParaRPr lang="zh-CN" altLang="en-US" sz="2800" kern="1200" baseline="0" dirty="0">
              <a:solidFill>
                <a:srgbClr val="4D4D4D"/>
              </a:solidFill>
              <a:latin typeface="Huawei Sans" panose="020C0503030203020204" pitchFamily="34" charset="0"/>
              <a:ea typeface="方正兰亭黑简体" panose="02000000000000000000" pitchFamily="2" charset="-122"/>
              <a:cs typeface="+mn-cs"/>
            </a:endParaRPr>
          </a:p>
        </p:txBody>
      </p:sp>
      <p:graphicFrame>
        <p:nvGraphicFramePr>
          <p:cNvPr id="33" name="Group 3"/>
          <p:cNvGraphicFramePr>
            <a:graphicFrameLocks noGrp="1"/>
          </p:cNvGraphicFramePr>
          <p:nvPr userDrawn="1"/>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val="20000"/>
                    </a:ext>
                  </a:extLst>
                </a:gridCol>
                <a:gridCol w="2155444">
                  <a:extLst>
                    <a:ext uri="{9D8B030D-6E8A-4147-A177-3AD203B41FA5}">
                      <a16:colId xmlns:a16="http://schemas.microsoft.com/office/drawing/2014/main" val="20001"/>
                    </a:ext>
                  </a:extLst>
                </a:gridCol>
                <a:gridCol w="2930727">
                  <a:extLst>
                    <a:ext uri="{9D8B030D-6E8A-4147-A177-3AD203B41FA5}">
                      <a16:colId xmlns:a16="http://schemas.microsoft.com/office/drawing/2014/main" val="20002"/>
                    </a:ext>
                  </a:extLst>
                </a:gridCol>
                <a:gridCol w="231962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Course Code</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Product</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Product Version</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4" name="Group 21"/>
          <p:cNvGraphicFramePr>
            <a:graphicFrameLocks noGrp="1"/>
          </p:cNvGraphicFramePr>
          <p:nvPr userDrawn="1"/>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val="20000"/>
                    </a:ext>
                  </a:extLst>
                </a:gridCol>
                <a:gridCol w="2155920">
                  <a:extLst>
                    <a:ext uri="{9D8B030D-6E8A-4147-A177-3AD203B41FA5}">
                      <a16:colId xmlns:a16="http://schemas.microsoft.com/office/drawing/2014/main" val="20001"/>
                    </a:ext>
                  </a:extLst>
                </a:gridCol>
                <a:gridCol w="2912127">
                  <a:extLst>
                    <a:ext uri="{9D8B030D-6E8A-4147-A177-3AD203B41FA5}">
                      <a16:colId xmlns:a16="http://schemas.microsoft.com/office/drawing/2014/main" val="20002"/>
                    </a:ext>
                  </a:extLst>
                </a:gridCol>
                <a:gridCol w="231094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Author/ID</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Date</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Reviewer/ID</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New</a:t>
                      </a:r>
                      <a:r>
                        <a:rPr kumimoji="1" lang="zh-CN"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en-US" altLang="zh-CN"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Update</a:t>
                      </a:r>
                      <a:endParaRPr kumimoji="1"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0491851"/>
                  </a:ext>
                </a:extLst>
              </a:tr>
            </a:tbl>
          </a:graphicData>
        </a:graphic>
      </p:graphicFrame>
      <p:sp>
        <p:nvSpPr>
          <p:cNvPr id="35"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Course Code</a:t>
            </a:r>
          </a:p>
        </p:txBody>
      </p:sp>
      <p:sp>
        <p:nvSpPr>
          <p:cNvPr id="36"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Product</a:t>
            </a:r>
          </a:p>
        </p:txBody>
      </p:sp>
      <p:sp>
        <p:nvSpPr>
          <p:cNvPr id="39" name="文本占位符 7"/>
          <p:cNvSpPr>
            <a:spLocks noGrp="1"/>
          </p:cNvSpPr>
          <p:nvPr>
            <p:ph type="body" sz="quarter" idx="13" hasCustomPrompt="1"/>
          </p:nvPr>
        </p:nvSpPr>
        <p:spPr>
          <a:xfrm>
            <a:off x="1007616"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0" name="文本占位符 7"/>
          <p:cNvSpPr>
            <a:spLocks noGrp="1"/>
          </p:cNvSpPr>
          <p:nvPr>
            <p:ph type="body" sz="quarter" idx="14" hasCustomPrompt="1"/>
          </p:nvPr>
        </p:nvSpPr>
        <p:spPr>
          <a:xfrm>
            <a:off x="4079859" y="3089025"/>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1" name="文本占位符 7"/>
          <p:cNvSpPr>
            <a:spLocks noGrp="1"/>
          </p:cNvSpPr>
          <p:nvPr>
            <p:ph type="body" sz="quarter" idx="15" hasCustomPrompt="1"/>
          </p:nvPr>
        </p:nvSpPr>
        <p:spPr>
          <a:xfrm>
            <a:off x="6240016"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42" name="文本占位符 7"/>
          <p:cNvSpPr>
            <a:spLocks noGrp="1"/>
          </p:cNvSpPr>
          <p:nvPr>
            <p:ph type="body" sz="quarter" idx="16" hasCustomPrompt="1"/>
          </p:nvPr>
        </p:nvSpPr>
        <p:spPr>
          <a:xfrm>
            <a:off x="9168424" y="3089025"/>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43" name="文本占位符 7">
            <a:extLst>
              <a:ext uri="{FF2B5EF4-FFF2-40B4-BE49-F238E27FC236}">
                <a16:creationId xmlns:a16="http://schemas.microsoft.com/office/drawing/2014/main" id="{44F86C3E-C49E-485B-8EB0-960F41282238}"/>
              </a:ext>
            </a:extLst>
          </p:cNvPr>
          <p:cNvSpPr>
            <a:spLocks noGrp="1"/>
          </p:cNvSpPr>
          <p:nvPr>
            <p:ph type="body" sz="quarter" idx="21" hasCustomPrompt="1"/>
          </p:nvPr>
        </p:nvSpPr>
        <p:spPr>
          <a:xfrm>
            <a:off x="100761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4" name="文本占位符 7">
            <a:extLst>
              <a:ext uri="{FF2B5EF4-FFF2-40B4-BE49-F238E27FC236}">
                <a16:creationId xmlns:a16="http://schemas.microsoft.com/office/drawing/2014/main" id="{DB3D228B-4BFD-4782-B68D-12F66EA8C589}"/>
              </a:ext>
            </a:extLst>
          </p:cNvPr>
          <p:cNvSpPr>
            <a:spLocks noGrp="1"/>
          </p:cNvSpPr>
          <p:nvPr>
            <p:ph type="body" sz="quarter" idx="22" hasCustomPrompt="1"/>
          </p:nvPr>
        </p:nvSpPr>
        <p:spPr>
          <a:xfrm>
            <a:off x="4079859" y="3608189"/>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5" name="文本占位符 7">
            <a:extLst>
              <a:ext uri="{FF2B5EF4-FFF2-40B4-BE49-F238E27FC236}">
                <a16:creationId xmlns:a16="http://schemas.microsoft.com/office/drawing/2014/main" id="{FECCD724-6B1F-4104-8A9B-6B6764A3F859}"/>
              </a:ext>
            </a:extLst>
          </p:cNvPr>
          <p:cNvSpPr>
            <a:spLocks noGrp="1"/>
          </p:cNvSpPr>
          <p:nvPr>
            <p:ph type="body" sz="quarter" idx="23" hasCustomPrompt="1"/>
          </p:nvPr>
        </p:nvSpPr>
        <p:spPr>
          <a:xfrm>
            <a:off x="624001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46" name="文本占位符 7">
            <a:extLst>
              <a:ext uri="{FF2B5EF4-FFF2-40B4-BE49-F238E27FC236}">
                <a16:creationId xmlns:a16="http://schemas.microsoft.com/office/drawing/2014/main" id="{57E1C633-41F6-4A25-9DB3-D6799CE610DD}"/>
              </a:ext>
            </a:extLst>
          </p:cNvPr>
          <p:cNvSpPr>
            <a:spLocks noGrp="1"/>
          </p:cNvSpPr>
          <p:nvPr>
            <p:ph type="body" sz="quarter" idx="24" hasCustomPrompt="1"/>
          </p:nvPr>
        </p:nvSpPr>
        <p:spPr>
          <a:xfrm>
            <a:off x="9168424" y="3608189"/>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47" name="文本占位符 7">
            <a:extLst>
              <a:ext uri="{FF2B5EF4-FFF2-40B4-BE49-F238E27FC236}">
                <a16:creationId xmlns:a16="http://schemas.microsoft.com/office/drawing/2014/main" id="{C68CBD59-B896-4217-9781-389A1B11CE8D}"/>
              </a:ext>
            </a:extLst>
          </p:cNvPr>
          <p:cNvSpPr>
            <a:spLocks noGrp="1"/>
          </p:cNvSpPr>
          <p:nvPr>
            <p:ph type="body" sz="quarter" idx="25" hasCustomPrompt="1"/>
          </p:nvPr>
        </p:nvSpPr>
        <p:spPr>
          <a:xfrm>
            <a:off x="100761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8" name="文本占位符 7">
            <a:extLst>
              <a:ext uri="{FF2B5EF4-FFF2-40B4-BE49-F238E27FC236}">
                <a16:creationId xmlns:a16="http://schemas.microsoft.com/office/drawing/2014/main" id="{791E82EE-AF55-486C-953D-3BD5CEE81CE4}"/>
              </a:ext>
            </a:extLst>
          </p:cNvPr>
          <p:cNvSpPr>
            <a:spLocks noGrp="1"/>
          </p:cNvSpPr>
          <p:nvPr>
            <p:ph type="body" sz="quarter" idx="26" hasCustomPrompt="1"/>
          </p:nvPr>
        </p:nvSpPr>
        <p:spPr>
          <a:xfrm>
            <a:off x="4079859" y="4077072"/>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9" name="文本占位符 7">
            <a:extLst>
              <a:ext uri="{FF2B5EF4-FFF2-40B4-BE49-F238E27FC236}">
                <a16:creationId xmlns:a16="http://schemas.microsoft.com/office/drawing/2014/main" id="{0F4FBCD0-2E04-4942-AFAF-B2774F425FB6}"/>
              </a:ext>
            </a:extLst>
          </p:cNvPr>
          <p:cNvSpPr>
            <a:spLocks noGrp="1"/>
          </p:cNvSpPr>
          <p:nvPr>
            <p:ph type="body" sz="quarter" idx="27" hasCustomPrompt="1"/>
          </p:nvPr>
        </p:nvSpPr>
        <p:spPr>
          <a:xfrm>
            <a:off x="624001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0" name="文本占位符 7">
            <a:extLst>
              <a:ext uri="{FF2B5EF4-FFF2-40B4-BE49-F238E27FC236}">
                <a16:creationId xmlns:a16="http://schemas.microsoft.com/office/drawing/2014/main" id="{701F8BDF-8D3E-4528-8B32-92CDA38CF25C}"/>
              </a:ext>
            </a:extLst>
          </p:cNvPr>
          <p:cNvSpPr>
            <a:spLocks noGrp="1"/>
          </p:cNvSpPr>
          <p:nvPr>
            <p:ph type="body" sz="quarter" idx="28" hasCustomPrompt="1"/>
          </p:nvPr>
        </p:nvSpPr>
        <p:spPr>
          <a:xfrm>
            <a:off x="9168424" y="4077072"/>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1" name="文本占位符 7">
            <a:extLst>
              <a:ext uri="{FF2B5EF4-FFF2-40B4-BE49-F238E27FC236}">
                <a16:creationId xmlns:a16="http://schemas.microsoft.com/office/drawing/2014/main" id="{2DAE044E-F1B2-424B-BDD0-3E92A10C4695}"/>
              </a:ext>
            </a:extLst>
          </p:cNvPr>
          <p:cNvSpPr>
            <a:spLocks noGrp="1"/>
          </p:cNvSpPr>
          <p:nvPr>
            <p:ph type="body" sz="quarter" idx="29" hasCustomPrompt="1"/>
          </p:nvPr>
        </p:nvSpPr>
        <p:spPr>
          <a:xfrm>
            <a:off x="100761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52" name="文本占位符 7">
            <a:extLst>
              <a:ext uri="{FF2B5EF4-FFF2-40B4-BE49-F238E27FC236}">
                <a16:creationId xmlns:a16="http://schemas.microsoft.com/office/drawing/2014/main" id="{19929436-360F-44DC-A864-1DA42B59198F}"/>
              </a:ext>
            </a:extLst>
          </p:cNvPr>
          <p:cNvSpPr>
            <a:spLocks noGrp="1"/>
          </p:cNvSpPr>
          <p:nvPr>
            <p:ph type="body" sz="quarter" idx="30" hasCustomPrompt="1"/>
          </p:nvPr>
        </p:nvSpPr>
        <p:spPr>
          <a:xfrm>
            <a:off x="4079859" y="4581128"/>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53" name="文本占位符 7">
            <a:extLst>
              <a:ext uri="{FF2B5EF4-FFF2-40B4-BE49-F238E27FC236}">
                <a16:creationId xmlns:a16="http://schemas.microsoft.com/office/drawing/2014/main" id="{E3F04EDE-0D87-45F2-9033-289878AAF2FA}"/>
              </a:ext>
            </a:extLst>
          </p:cNvPr>
          <p:cNvSpPr>
            <a:spLocks noGrp="1"/>
          </p:cNvSpPr>
          <p:nvPr>
            <p:ph type="body" sz="quarter" idx="31" hasCustomPrompt="1"/>
          </p:nvPr>
        </p:nvSpPr>
        <p:spPr>
          <a:xfrm>
            <a:off x="624001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4" name="文本占位符 7">
            <a:extLst>
              <a:ext uri="{FF2B5EF4-FFF2-40B4-BE49-F238E27FC236}">
                <a16:creationId xmlns:a16="http://schemas.microsoft.com/office/drawing/2014/main" id="{3F9FD2BB-87FB-42F0-8418-F87E96763F68}"/>
              </a:ext>
            </a:extLst>
          </p:cNvPr>
          <p:cNvSpPr>
            <a:spLocks noGrp="1"/>
          </p:cNvSpPr>
          <p:nvPr>
            <p:ph type="body" sz="quarter" idx="32" hasCustomPrompt="1"/>
          </p:nvPr>
        </p:nvSpPr>
        <p:spPr>
          <a:xfrm>
            <a:off x="9168424" y="4581128"/>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5" name="文本占位符 7">
            <a:extLst>
              <a:ext uri="{FF2B5EF4-FFF2-40B4-BE49-F238E27FC236}">
                <a16:creationId xmlns:a16="http://schemas.microsoft.com/office/drawing/2014/main" id="{450C36C1-EC46-4EAC-8A54-EFB2EF58F730}"/>
              </a:ext>
            </a:extLst>
          </p:cNvPr>
          <p:cNvSpPr>
            <a:spLocks noGrp="1"/>
          </p:cNvSpPr>
          <p:nvPr>
            <p:ph type="body" sz="quarter" idx="33" hasCustomPrompt="1"/>
          </p:nvPr>
        </p:nvSpPr>
        <p:spPr>
          <a:xfrm>
            <a:off x="100761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56" name="文本占位符 7">
            <a:extLst>
              <a:ext uri="{FF2B5EF4-FFF2-40B4-BE49-F238E27FC236}">
                <a16:creationId xmlns:a16="http://schemas.microsoft.com/office/drawing/2014/main" id="{06E305FB-6351-4BDD-B27A-CA91C0B55424}"/>
              </a:ext>
            </a:extLst>
          </p:cNvPr>
          <p:cNvSpPr>
            <a:spLocks noGrp="1"/>
          </p:cNvSpPr>
          <p:nvPr>
            <p:ph type="body" sz="quarter" idx="34" hasCustomPrompt="1"/>
          </p:nvPr>
        </p:nvSpPr>
        <p:spPr>
          <a:xfrm>
            <a:off x="4079859" y="5049180"/>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57" name="文本占位符 7">
            <a:extLst>
              <a:ext uri="{FF2B5EF4-FFF2-40B4-BE49-F238E27FC236}">
                <a16:creationId xmlns:a16="http://schemas.microsoft.com/office/drawing/2014/main" id="{986CE630-9BBE-44AB-B3AC-29A48255E185}"/>
              </a:ext>
            </a:extLst>
          </p:cNvPr>
          <p:cNvSpPr>
            <a:spLocks noGrp="1"/>
          </p:cNvSpPr>
          <p:nvPr>
            <p:ph type="body" sz="quarter" idx="35" hasCustomPrompt="1"/>
          </p:nvPr>
        </p:nvSpPr>
        <p:spPr>
          <a:xfrm>
            <a:off x="624001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8" name="文本占位符 7">
            <a:extLst>
              <a:ext uri="{FF2B5EF4-FFF2-40B4-BE49-F238E27FC236}">
                <a16:creationId xmlns:a16="http://schemas.microsoft.com/office/drawing/2014/main" id="{4DDD786F-E21B-4BBC-A377-D2EC3EE50688}"/>
              </a:ext>
            </a:extLst>
          </p:cNvPr>
          <p:cNvSpPr>
            <a:spLocks noGrp="1"/>
          </p:cNvSpPr>
          <p:nvPr>
            <p:ph type="body" sz="quarter" idx="36" hasCustomPrompt="1"/>
          </p:nvPr>
        </p:nvSpPr>
        <p:spPr>
          <a:xfrm>
            <a:off x="9168424" y="5049180"/>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9" name="文本占位符 7">
            <a:extLst>
              <a:ext uri="{FF2B5EF4-FFF2-40B4-BE49-F238E27FC236}">
                <a16:creationId xmlns:a16="http://schemas.microsoft.com/office/drawing/2014/main" id="{EE728293-3BC5-4224-A4F0-27996EC76EA2}"/>
              </a:ext>
            </a:extLst>
          </p:cNvPr>
          <p:cNvSpPr>
            <a:spLocks noGrp="1"/>
          </p:cNvSpPr>
          <p:nvPr>
            <p:ph type="body" sz="quarter" idx="37" hasCustomPrompt="1"/>
          </p:nvPr>
        </p:nvSpPr>
        <p:spPr>
          <a:xfrm>
            <a:off x="100761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60" name="文本占位符 7">
            <a:extLst>
              <a:ext uri="{FF2B5EF4-FFF2-40B4-BE49-F238E27FC236}">
                <a16:creationId xmlns:a16="http://schemas.microsoft.com/office/drawing/2014/main" id="{84C5C924-BCE5-46C8-9041-30EDC3D85E52}"/>
              </a:ext>
            </a:extLst>
          </p:cNvPr>
          <p:cNvSpPr>
            <a:spLocks noGrp="1"/>
          </p:cNvSpPr>
          <p:nvPr>
            <p:ph type="body" sz="quarter" idx="38" hasCustomPrompt="1"/>
          </p:nvPr>
        </p:nvSpPr>
        <p:spPr>
          <a:xfrm>
            <a:off x="4079859" y="5553236"/>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61" name="文本占位符 7">
            <a:extLst>
              <a:ext uri="{FF2B5EF4-FFF2-40B4-BE49-F238E27FC236}">
                <a16:creationId xmlns:a16="http://schemas.microsoft.com/office/drawing/2014/main" id="{1DBD4C29-C885-4339-873D-B55FBD81DDFE}"/>
              </a:ext>
            </a:extLst>
          </p:cNvPr>
          <p:cNvSpPr>
            <a:spLocks noGrp="1"/>
          </p:cNvSpPr>
          <p:nvPr>
            <p:ph type="body" sz="quarter" idx="39" hasCustomPrompt="1"/>
          </p:nvPr>
        </p:nvSpPr>
        <p:spPr>
          <a:xfrm>
            <a:off x="624001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62" name="文本占位符 7">
            <a:extLst>
              <a:ext uri="{FF2B5EF4-FFF2-40B4-BE49-F238E27FC236}">
                <a16:creationId xmlns:a16="http://schemas.microsoft.com/office/drawing/2014/main" id="{6D84506C-645A-472E-A06C-3A65A7744312}"/>
              </a:ext>
            </a:extLst>
          </p:cNvPr>
          <p:cNvSpPr>
            <a:spLocks noGrp="1"/>
          </p:cNvSpPr>
          <p:nvPr>
            <p:ph type="body" sz="quarter" idx="40" hasCustomPrompt="1"/>
          </p:nvPr>
        </p:nvSpPr>
        <p:spPr>
          <a:xfrm>
            <a:off x="9168424" y="5553236"/>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37" name="文本占位符 11"/>
          <p:cNvSpPr txBox="1">
            <a:spLocks/>
          </p:cNvSpPr>
          <p:nvPr userDrawn="1"/>
        </p:nvSpPr>
        <p:spPr bwMode="auto">
          <a:xfrm>
            <a:off x="6228196" y="1816983"/>
            <a:ext cx="2888578" cy="504887"/>
          </a:xfrm>
          <a:prstGeom prst="rect">
            <a:avLst/>
          </a:prstGeom>
          <a:noFill/>
          <a:ln w="9525">
            <a:noFill/>
            <a:miter lim="800000"/>
            <a:headEnd/>
            <a:tailEnd/>
          </a:ln>
        </p:spPr>
        <p:txBody>
          <a:bodyPr vert="horz" wrap="square" lIns="80141" tIns="40071" rIns="80141" bIns="40071" numCol="1" anchor="ctr" anchorCtr="0" compatLnSpc="1">
            <a:prstTxWarp prst="textNoShape">
              <a:avLst/>
            </a:prstTxWarp>
            <a:noAutofit/>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lnSpc>
                <a:spcPct val="100000"/>
              </a:lnSpc>
              <a:buFont typeface="Wingdings" panose="05000000000000000000" pitchFamily="2" charset="2"/>
              <a:buNone/>
            </a:pPr>
            <a:r>
              <a:rPr lang="en-US" altLang="zh-CN" sz="1600" dirty="0">
                <a:latin typeface="Huawei Sans" panose="020C0503030203020204" pitchFamily="34" charset="0"/>
              </a:rPr>
              <a:t>V500R002</a:t>
            </a:r>
            <a:endParaRPr lang="zh-CN" altLang="en-US" sz="1600" dirty="0">
              <a:latin typeface="Huawei Sans" panose="020C0503030203020204" pitchFamily="34" charset="0"/>
            </a:endParaRPr>
          </a:p>
        </p:txBody>
      </p:sp>
      <p:sp>
        <p:nvSpPr>
          <p:cNvPr id="38" name="文本占位符 12"/>
          <p:cNvSpPr txBox="1">
            <a:spLocks/>
          </p:cNvSpPr>
          <p:nvPr userDrawn="1"/>
        </p:nvSpPr>
        <p:spPr bwMode="auto">
          <a:xfrm>
            <a:off x="9116775" y="1816983"/>
            <a:ext cx="2351079" cy="504887"/>
          </a:xfrm>
          <a:prstGeom prst="rect">
            <a:avLst/>
          </a:prstGeom>
          <a:noFill/>
          <a:ln w="9525">
            <a:noFill/>
            <a:miter lim="800000"/>
            <a:headEnd/>
            <a:tailEnd/>
          </a:ln>
        </p:spPr>
        <p:txBody>
          <a:bodyPr vert="horz" wrap="square" lIns="80141" tIns="40071" rIns="80141" bIns="40071" numCol="1" anchor="ctr" anchorCtr="0" compatLnSpc="1">
            <a:prstTxWarp prst="textNoShape">
              <a:avLst/>
            </a:prstTxWarp>
            <a:noAutofit/>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lnSpc>
                <a:spcPct val="100000"/>
              </a:lnSpc>
              <a:buFont typeface="Wingdings" panose="05000000000000000000" pitchFamily="2" charset="2"/>
              <a:buNone/>
            </a:pPr>
            <a:r>
              <a:rPr lang="en-US" altLang="zh-CN" sz="1600" dirty="0">
                <a:latin typeface="Huawei Sans" panose="020C0503030203020204" pitchFamily="34" charset="0"/>
              </a:rPr>
              <a:t>V100R001</a:t>
            </a:r>
            <a:endParaRPr lang="zh-CN" altLang="en-US" sz="1600" dirty="0">
              <a:latin typeface="Huawei Sans" panose="020C0503030203020204" pitchFamily="34" charset="0"/>
            </a:endParaRPr>
          </a:p>
        </p:txBody>
      </p:sp>
    </p:spTree>
    <p:extLst>
      <p:ext uri="{BB962C8B-B14F-4D97-AF65-F5344CB8AC3E}">
        <p14:creationId xmlns:p14="http://schemas.microsoft.com/office/powerpoint/2010/main" val="1877713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17"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447"/>
          <a:stretch/>
        </p:blipFill>
        <p:spPr bwMode="auto">
          <a:xfrm>
            <a:off x="1" y="85"/>
            <a:ext cx="12192000" cy="686474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ctr" hangingPunct="0">
              <a:spcBef>
                <a:spcPct val="0"/>
              </a:spcBef>
              <a:spcAft>
                <a:spcPct val="0"/>
              </a:spcAft>
              <a:defRPr lang="zh-CN" altLang="en-US" sz="4300" b="1" kern="1200" baseline="0" dirty="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defRPr>
            </a:lvl1pPr>
          </a:lstStyle>
          <a:p>
            <a:r>
              <a:rPr lang="en-US" altLang="zh-CN" dirty="0"/>
              <a:t>Click to Edit Title</a:t>
            </a:r>
            <a:endParaRPr lang="zh-CN" altLang="en-US" dirty="0"/>
          </a:p>
        </p:txBody>
      </p:sp>
      <p:sp>
        <p:nvSpPr>
          <p:cNvPr id="19"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ctr" hangingPunct="0">
              <a:spcBef>
                <a:spcPct val="0"/>
              </a:spcBef>
              <a:spcAft>
                <a:spcPct val="0"/>
              </a:spcAft>
              <a:buNone/>
              <a:defRPr lang="zh-CN" altLang="en-US" sz="2000" kern="1200" baseline="0" dirty="0" smtClean="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Click to Edit Title</a:t>
            </a:r>
            <a:endParaRPr lang="zh-CN" altLang="en-US" dirty="0"/>
          </a:p>
        </p:txBody>
      </p:sp>
      <p:sp>
        <p:nvSpPr>
          <p:cNvPr id="20" name="Rectangle 54"/>
          <p:cNvSpPr>
            <a:spLocks noChangeArrowheads="1"/>
          </p:cNvSpPr>
          <p:nvPr userDrawn="1"/>
        </p:nvSpPr>
        <p:spPr bwMode="auto">
          <a:xfrm>
            <a:off x="947428" y="6500581"/>
            <a:ext cx="494833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baseline="0" dirty="0">
                <a:latin typeface="Huawei Sans" panose="020C0503030203020204" pitchFamily="34" charset="0"/>
                <a:ea typeface="方正兰亭黑简体" panose="02000000000000000000" pitchFamily="2" charset="-122"/>
                <a:cs typeface="Huawei Sans" panose="020C0503030203020204" pitchFamily="34" charset="0"/>
              </a:rPr>
              <a:t>Copyright © 2020 Huawei Technologies Co., Ltd. All rights reserved. </a:t>
            </a:r>
          </a:p>
        </p:txBody>
      </p:sp>
      <p:pic>
        <p:nvPicPr>
          <p:cNvPr id="21" name="图片 2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extLst>
      <p:ext uri="{BB962C8B-B14F-4D97-AF65-F5344CB8AC3E}">
        <p14:creationId xmlns:p14="http://schemas.microsoft.com/office/powerpoint/2010/main" val="166552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4" name="文本占位符 6"/>
          <p:cNvSpPr>
            <a:spLocks noGrp="1"/>
          </p:cNvSpPr>
          <p:nvPr>
            <p:ph type="body" sz="quarter" idx="10" hasCustomPrompt="1"/>
          </p:nvPr>
        </p:nvSpPr>
        <p:spPr>
          <a:xfrm>
            <a:off x="451878" y="1242453"/>
            <a:ext cx="11306175" cy="4679788"/>
          </a:xfrm>
          <a:prstGeom prst="rect">
            <a:avLst/>
          </a:prstGeom>
        </p:spPr>
        <p:txBody>
          <a:bodyPr/>
          <a:lstStyle>
            <a:lvl1pPr algn="just" eaLnBrk="1" hangingPunct="1">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pPr eaLnBrk="1" hangingPunct="1"/>
            <a:r>
              <a:rPr lang="en-US" altLang="zh-CN" dirty="0"/>
              <a:t>The chapter describes ...</a:t>
            </a:r>
            <a:endParaRPr lang="zh-CN" altLang="en-US" dirty="0"/>
          </a:p>
        </p:txBody>
      </p:sp>
      <p:sp>
        <p:nvSpPr>
          <p:cNvPr id="2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latin typeface="Huawei Sans" panose="020C0503030203020204" pitchFamily="34" charset="0"/>
                <a:ea typeface="方正兰亭黑简体" panose="02000000000000000000" pitchFamily="2" charset="-122"/>
                <a:cs typeface="Huawei Sans" panose="020C0503030203020204" pitchFamily="34" charset="0"/>
              </a:rPr>
              <a:t>Foreword</a:t>
            </a:r>
            <a:endParaRPr lang="zh-CN" altLang="en-US" baseline="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30" name="组合 29"/>
          <p:cNvGrpSpPr/>
          <p:nvPr userDrawn="1"/>
        </p:nvGrpSpPr>
        <p:grpSpPr>
          <a:xfrm>
            <a:off x="335360" y="498828"/>
            <a:ext cx="628158" cy="459460"/>
            <a:chOff x="3275013" y="1363663"/>
            <a:chExt cx="5645150" cy="4129087"/>
          </a:xfrm>
          <a:solidFill>
            <a:schemeClr val="bg1"/>
          </a:solidFill>
        </p:grpSpPr>
        <p:sp>
          <p:nvSpPr>
            <p:cNvPr id="31"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36"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37114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1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Objectives</a:t>
            </a:r>
          </a:p>
        </p:txBody>
      </p:sp>
      <p:sp>
        <p:nvSpPr>
          <p:cNvPr id="1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1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grpSp>
        <p:nvGrpSpPr>
          <p:cNvPr id="20" name="组合 19"/>
          <p:cNvGrpSpPr/>
          <p:nvPr userDrawn="1"/>
        </p:nvGrpSpPr>
        <p:grpSpPr>
          <a:xfrm>
            <a:off x="443372" y="440668"/>
            <a:ext cx="533970" cy="533470"/>
            <a:chOff x="2960687" y="4865687"/>
            <a:chExt cx="1698626" cy="1697038"/>
          </a:xfrm>
          <a:solidFill>
            <a:schemeClr val="bg1"/>
          </a:solidFill>
        </p:grpSpPr>
        <p:sp>
          <p:nvSpPr>
            <p:cNvPr id="2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grpSp>
      <p:sp>
        <p:nvSpPr>
          <p:cNvPr id="2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2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30" name="内容占位符 6"/>
          <p:cNvSpPr>
            <a:spLocks noGrp="1"/>
          </p:cNvSpPr>
          <p:nvPr>
            <p:ph sz="quarter" idx="11" hasCustomPrompt="1"/>
          </p:nvPr>
        </p:nvSpPr>
        <p:spPr>
          <a:xfrm>
            <a:off x="451202" y="1233276"/>
            <a:ext cx="11306175" cy="4680000"/>
          </a:xfrm>
          <a:prstGeom prst="rect">
            <a:avLst/>
          </a:prstGeom>
        </p:spPr>
        <p:txBody>
          <a:bodyPr/>
          <a:lstStyle>
            <a:lvl1pPr marL="301625" marR="0" indent="-301625" algn="just" defTabSz="801688" rtl="0" eaLnBrk="1" fontAlgn="ctr" latinLnBrk="0" hangingPunct="1">
              <a:lnSpc>
                <a:spcPct val="140000"/>
              </a:lnSpc>
              <a:spcBef>
                <a:spcPct val="30000"/>
              </a:spcBef>
              <a:spcAft>
                <a:spcPct val="0"/>
              </a:spcAft>
              <a:buClr>
                <a:schemeClr val="tx1"/>
              </a:buClr>
              <a:buSzPct val="50000"/>
              <a:buFont typeface="Wingdings" pitchFamily="2" charset="2"/>
              <a:buChar char="l"/>
              <a:tabLst/>
              <a:defRPr kumimoji="0" lang="en-US" altLang="zh-CN" sz="2200" b="0" i="0" u="none" strike="noStrike" kern="0" cap="none" spc="0" normalizeH="0" baseline="0" noProof="0"/>
            </a:lvl1pPr>
            <a:lvl2pPr algn="just">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marL="301625" marR="0" lvl="0" indent="-301625" algn="just" defTabSz="801688" rtl="0" eaLnBrk="1" fontAlgn="ctr" latinLnBrk="0" hangingPunct="1">
              <a:lnSpc>
                <a:spcPct val="140000"/>
              </a:lnSpc>
              <a:spcBef>
                <a:spcPct val="30000"/>
              </a:spcBef>
              <a:spcAft>
                <a:spcPct val="0"/>
              </a:spcAft>
              <a:buClr>
                <a:schemeClr val="tx1"/>
              </a:buClr>
              <a:buSzPct val="5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689689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2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fontAlgn="ctr" hangingPunct="0"/>
            <a:r>
              <a:rPr lang="en-US" altLang="zh-CN" sz="3500" b="1"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Contents</a:t>
            </a:r>
          </a:p>
        </p:txBody>
      </p:sp>
      <p:sp>
        <p:nvSpPr>
          <p:cNvPr id="2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8"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29" name="组合 28"/>
          <p:cNvGrpSpPr/>
          <p:nvPr userDrawn="1"/>
        </p:nvGrpSpPr>
        <p:grpSpPr>
          <a:xfrm>
            <a:off x="587388" y="515379"/>
            <a:ext cx="358335" cy="426359"/>
            <a:chOff x="3295650" y="230188"/>
            <a:chExt cx="936625" cy="1114426"/>
          </a:xfrm>
          <a:solidFill>
            <a:schemeClr val="bg1"/>
          </a:solidFill>
        </p:grpSpPr>
        <p:sp>
          <p:nvSpPr>
            <p:cNvPr id="30"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1"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6"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8"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9"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0"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1"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2"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3"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4"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5"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4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5" name="文本占位符 6"/>
          <p:cNvSpPr>
            <a:spLocks noGrp="1"/>
          </p:cNvSpPr>
          <p:nvPr>
            <p:ph type="body" sz="quarter" idx="10" hasCustomPrompt="1"/>
          </p:nvPr>
        </p:nvSpPr>
        <p:spPr>
          <a:xfrm>
            <a:off x="454816" y="1233487"/>
            <a:ext cx="11307600" cy="4680000"/>
          </a:xfr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ctr">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Tree>
    <p:extLst>
      <p:ext uri="{BB962C8B-B14F-4D97-AF65-F5344CB8AC3E}">
        <p14:creationId xmlns:p14="http://schemas.microsoft.com/office/powerpoint/2010/main" val="2378971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451878" y="1242452"/>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latin typeface="Huawei Sans" panose="020C0503030203020204" pitchFamily="34" charset="0"/>
                <a:ea typeface="方正兰亭黑简体" panose="02000000000000000000" pitchFamily="2" charset="-122"/>
                <a:cs typeface="Huawei Sans" panose="020C0503030203020204" pitchFamily="34" charset="0"/>
              </a:rPr>
              <a:t>Overview and Objectives</a:t>
            </a:r>
          </a:p>
        </p:txBody>
      </p:sp>
      <p:sp>
        <p:nvSpPr>
          <p:cNvPr id="12"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3"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4" name="组合 13"/>
          <p:cNvGrpSpPr/>
          <p:nvPr userDrawn="1"/>
        </p:nvGrpSpPr>
        <p:grpSpPr>
          <a:xfrm>
            <a:off x="587388" y="505779"/>
            <a:ext cx="374708" cy="445558"/>
            <a:chOff x="-1647825" y="2492375"/>
            <a:chExt cx="1947863" cy="2316163"/>
          </a:xfrm>
          <a:solidFill>
            <a:schemeClr val="bg1"/>
          </a:solidFill>
        </p:grpSpPr>
        <p:sp>
          <p:nvSpPr>
            <p:cNvPr id="15"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6"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83512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10" name="文本占位符 6"/>
          <p:cNvSpPr>
            <a:spLocks noGrp="1"/>
          </p:cNvSpPr>
          <p:nvPr>
            <p:ph type="body" sz="quarter" idx="10" hasCustomPrompt="1"/>
          </p:nvPr>
        </p:nvSpPr>
        <p:spPr>
          <a:xfrm>
            <a:off x="451877" y="1242453"/>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en-US" altLang="zh-CN" dirty="0"/>
              <a:t>Click here to edit</a:t>
            </a:r>
            <a:endParaRPr lang="zh-CN" altLang="en-US" dirty="0"/>
          </a:p>
        </p:txBody>
      </p:sp>
      <p:sp>
        <p:nvSpPr>
          <p:cNvPr id="11"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2"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3" name="组合 12"/>
          <p:cNvGrpSpPr/>
          <p:nvPr userDrawn="1"/>
        </p:nvGrpSpPr>
        <p:grpSpPr>
          <a:xfrm>
            <a:off x="587388" y="505779"/>
            <a:ext cx="374708" cy="445558"/>
            <a:chOff x="-1647825" y="2492375"/>
            <a:chExt cx="1947863" cy="2316163"/>
          </a:xfrm>
          <a:solidFill>
            <a:schemeClr val="bg1"/>
          </a:solidFill>
        </p:grpSpPr>
        <p:sp>
          <p:nvSpPr>
            <p:cNvPr id="14"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16" name="标题 1"/>
          <p:cNvSpPr>
            <a:spLocks noGrp="1"/>
          </p:cNvSpPr>
          <p:nvPr>
            <p:ph type="title" hasCustomPrompt="1"/>
          </p:nvPr>
        </p:nvSpPr>
        <p:spPr>
          <a:xfrm>
            <a:off x="1594800" y="410400"/>
            <a:ext cx="9831600" cy="640800"/>
          </a:xfrm>
          <a:noFill/>
          <a:ln w="9525">
            <a:noFill/>
            <a:miter lim="800000"/>
            <a:headEnd/>
            <a:tailEnd/>
          </a:ln>
        </p:spPr>
        <p:txBody>
          <a:bodyPr vert="horz" wrap="square" lIns="100800" tIns="50400" rIns="100800" bIns="50400" numCol="1" anchor="t" anchorCtr="0" compatLnSpc="1">
            <a:prstTxWarp prst="textNoShape">
              <a:avLst/>
            </a:prstTxWarp>
          </a:bodyPr>
          <a:lstStyle>
            <a:lvl1pPr>
              <a:defRPr lang="zh-CN" altLang="en-US" b="1" kern="0" baseline="0" dirty="0"/>
            </a:lvl1pPr>
          </a:lstStyle>
          <a:p>
            <a:pPr lvl="0"/>
            <a:r>
              <a:rPr lang="en-US" altLang="zh-CN" dirty="0"/>
              <a:t>Title</a:t>
            </a:r>
            <a:endParaRPr lang="zh-CN" altLang="en-US" dirty="0"/>
          </a:p>
        </p:txBody>
      </p:sp>
    </p:spTree>
    <p:extLst>
      <p:ext uri="{BB962C8B-B14F-4D97-AF65-F5344CB8AC3E}">
        <p14:creationId xmlns:p14="http://schemas.microsoft.com/office/powerpoint/2010/main" val="2568947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8"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9"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10" name="标题 1"/>
          <p:cNvSpPr>
            <a:spLocks noGrp="1"/>
          </p:cNvSpPr>
          <p:nvPr>
            <p:ph type="title" hasCustomPrompt="1"/>
          </p:nvPr>
        </p:nvSpPr>
        <p:spPr>
          <a:xfrm>
            <a:off x="1594800" y="410400"/>
            <a:ext cx="9831600" cy="640800"/>
          </a:xfrm>
          <a:noFill/>
          <a:ln w="9525">
            <a:noFill/>
            <a:miter lim="800000"/>
            <a:headEnd/>
            <a:tailEnd/>
          </a:ln>
        </p:spPr>
        <p:txBody>
          <a:bodyPr vert="horz" wrap="square" lIns="100800" tIns="50400" rIns="100800" bIns="50400" numCol="1" anchor="t" anchorCtr="0" compatLnSpc="1">
            <a:prstTxWarp prst="textNoShape">
              <a:avLst/>
            </a:prstTxWarp>
          </a:bodyPr>
          <a:lstStyle>
            <a:lvl1pPr>
              <a:defRPr lang="zh-CN" altLang="en-US" b="1" kern="0" baseline="0" dirty="0"/>
            </a:lvl1pPr>
          </a:lstStyle>
          <a:p>
            <a:pPr lvl="0"/>
            <a:r>
              <a:rPr lang="en-US" altLang="zh-CN" dirty="0"/>
              <a:t>Title</a:t>
            </a:r>
            <a:endParaRPr lang="zh-CN" altLang="en-US" dirty="0"/>
          </a:p>
        </p:txBody>
      </p:sp>
    </p:spTree>
    <p:extLst>
      <p:ext uri="{BB962C8B-B14F-4D97-AF65-F5344CB8AC3E}">
        <p14:creationId xmlns:p14="http://schemas.microsoft.com/office/powerpoint/2010/main" val="4209311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924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23" name="文本占位符 6"/>
          <p:cNvSpPr>
            <a:spLocks noGrp="1"/>
          </p:cNvSpPr>
          <p:nvPr>
            <p:ph type="body" sz="quarter" idx="10" hasCustomPrompt="1"/>
          </p:nvPr>
        </p:nvSpPr>
        <p:spPr>
          <a:xfrm>
            <a:off x="451878" y="1242452"/>
            <a:ext cx="11306175" cy="4680000"/>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a:buSzPct val="100000"/>
              <a:buFont typeface="+mj-lt"/>
              <a:buAutoNum type="alphaUcPeriod"/>
              <a:defRPr sz="1800" baseline="0">
                <a:latin typeface="Huawei Sans" panose="020C0503030203020204" pitchFamily="34" charset="0"/>
              </a:defRPr>
            </a:lvl2pPr>
            <a:lvl3pPr>
              <a:defRPr/>
            </a:lvl3pPr>
            <a:lvl5pPr>
              <a:buNone/>
              <a:defRPr/>
            </a:lvl5pPr>
          </a:lstStyle>
          <a:p>
            <a:r>
              <a:rPr lang="en-US" altLang="zh-CN" dirty="0"/>
              <a:t>Question description.</a:t>
            </a:r>
          </a:p>
          <a:p>
            <a:pPr lvl="1"/>
            <a:endParaRPr lang="en-US" altLang="zh-CN" dirty="0"/>
          </a:p>
        </p:txBody>
      </p:sp>
      <p:sp>
        <p:nvSpPr>
          <p:cNvPr id="24"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latin typeface="Huawei Sans" panose="020C0503030203020204" pitchFamily="34" charset="0"/>
                <a:ea typeface="方正兰亭黑简体" panose="02000000000000000000" pitchFamily="2" charset="-122"/>
                <a:cs typeface="Huawei Sans" panose="020C0503030203020204" pitchFamily="34" charset="0"/>
              </a:rPr>
              <a:t>Quiz</a:t>
            </a:r>
          </a:p>
        </p:txBody>
      </p:sp>
      <p:sp>
        <p:nvSpPr>
          <p:cNvPr id="25"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6"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27" name="组合 26"/>
          <p:cNvGrpSpPr/>
          <p:nvPr userDrawn="1"/>
        </p:nvGrpSpPr>
        <p:grpSpPr>
          <a:xfrm>
            <a:off x="479376" y="424270"/>
            <a:ext cx="495619" cy="592462"/>
            <a:chOff x="5554662" y="2422526"/>
            <a:chExt cx="690564" cy="825500"/>
          </a:xfrm>
          <a:solidFill>
            <a:schemeClr val="bg1"/>
          </a:solidFill>
        </p:grpSpPr>
        <p:sp>
          <p:nvSpPr>
            <p:cNvPr id="2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41"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2"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579641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11" name="文本占位符 6"/>
          <p:cNvSpPr>
            <a:spLocks noGrp="1"/>
          </p:cNvSpPr>
          <p:nvPr>
            <p:ph type="body" sz="quarter" idx="10" hasCustomPrompt="1"/>
          </p:nvPr>
        </p:nvSpPr>
        <p:spPr>
          <a:xfrm>
            <a:off x="451878" y="1242452"/>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en-US" altLang="zh-CN" dirty="0"/>
              <a:t>Click here to edit summary</a:t>
            </a:r>
            <a:endParaRPr lang="zh-CN" altLang="en-US" dirty="0"/>
          </a:p>
        </p:txBody>
      </p:sp>
      <p:sp>
        <p:nvSpPr>
          <p:cNvPr id="12"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latin typeface="Huawei Sans" panose="020C0503030203020204" pitchFamily="34" charset="0"/>
                <a:ea typeface="方正兰亭黑简体" panose="02000000000000000000" pitchFamily="2" charset="-122"/>
                <a:cs typeface="Huawei Sans" panose="020C0503030203020204" pitchFamily="34" charset="0"/>
              </a:rPr>
              <a:t>Section Summary</a:t>
            </a:r>
          </a:p>
        </p:txBody>
      </p:sp>
      <p:sp>
        <p:nvSpPr>
          <p:cNvPr id="1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5" name="组合 14"/>
          <p:cNvGrpSpPr/>
          <p:nvPr userDrawn="1"/>
        </p:nvGrpSpPr>
        <p:grpSpPr>
          <a:xfrm>
            <a:off x="515380" y="490848"/>
            <a:ext cx="470694" cy="475421"/>
            <a:chOff x="5540375" y="2868613"/>
            <a:chExt cx="1106488" cy="1117600"/>
          </a:xfrm>
          <a:solidFill>
            <a:schemeClr val="bg1"/>
          </a:solidFill>
        </p:grpSpPr>
        <p:sp>
          <p:nvSpPr>
            <p:cNvPr id="16"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7"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91947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9"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Summary</a:t>
            </a:r>
          </a:p>
        </p:txBody>
      </p:sp>
      <p:sp>
        <p:nvSpPr>
          <p:cNvPr id="11"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2"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3" name="组合 12"/>
          <p:cNvGrpSpPr/>
          <p:nvPr userDrawn="1"/>
        </p:nvGrpSpPr>
        <p:grpSpPr>
          <a:xfrm>
            <a:off x="515380" y="490848"/>
            <a:ext cx="470694" cy="475421"/>
            <a:chOff x="5540375" y="2868613"/>
            <a:chExt cx="1106488" cy="1117600"/>
          </a:xfrm>
          <a:solidFill>
            <a:schemeClr val="bg1"/>
          </a:solidFill>
        </p:grpSpPr>
        <p:sp>
          <p:nvSpPr>
            <p:cNvPr id="14"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16" name="文本占位符 6"/>
          <p:cNvSpPr>
            <a:spLocks noGrp="1"/>
          </p:cNvSpPr>
          <p:nvPr>
            <p:ph type="body" sz="quarter" idx="11" hasCustomPrompt="1"/>
          </p:nvPr>
        </p:nvSpPr>
        <p:spPr>
          <a:xfrm>
            <a:off x="451879" y="1241721"/>
            <a:ext cx="11306174"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defRPr baseline="0">
                <a:latin typeface="Huawei Sans" panose="020C0503030203020204" pitchFamily="34" charset="0"/>
              </a:defRPr>
            </a:lvl2pPr>
            <a:lvl3pPr>
              <a:defRPr baseline="0">
                <a:latin typeface="Huawei Sans" panose="020C0503030203020204" pitchFamily="34" charset="0"/>
              </a:defRPr>
            </a:lvl3pPr>
            <a:lvl4pPr>
              <a:defRPr baseline="0">
                <a:latin typeface="Huawei Sans" panose="020C0503030203020204" pitchFamily="34" charset="0"/>
              </a:defRPr>
            </a:lvl4pPr>
            <a:lvl5pPr>
              <a:buNone/>
              <a:defRPr baseline="0">
                <a:latin typeface="Huawei Sans" panose="020C0503030203020204" pitchFamily="34" charset="0"/>
              </a:defRPr>
            </a:lvl5pPr>
          </a:lstStyle>
          <a:p>
            <a:pPr lvl="0"/>
            <a:r>
              <a:rPr lang="en-US" altLang="zh-CN" dirty="0"/>
              <a:t>Click to edit</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146867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12" name="文本占位符 6"/>
          <p:cNvSpPr>
            <a:spLocks noGrp="1"/>
          </p:cNvSpPr>
          <p:nvPr>
            <p:ph type="body" sz="quarter" idx="10" hasCustomPrompt="1"/>
          </p:nvPr>
        </p:nvSpPr>
        <p:spPr>
          <a:xfrm>
            <a:off x="451878" y="1242452"/>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en-US" altLang="zh-CN" dirty="0"/>
              <a:t>More information for trainees</a:t>
            </a:r>
            <a:endParaRPr lang="zh-CN" altLang="en-US" dirty="0"/>
          </a:p>
        </p:txBody>
      </p:sp>
      <p:sp>
        <p:nvSpPr>
          <p:cNvPr id="13"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More Information</a:t>
            </a:r>
          </a:p>
        </p:txBody>
      </p:sp>
      <p:sp>
        <p:nvSpPr>
          <p:cNvPr id="14"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6" name="组合 15"/>
          <p:cNvGrpSpPr/>
          <p:nvPr userDrawn="1"/>
        </p:nvGrpSpPr>
        <p:grpSpPr>
          <a:xfrm>
            <a:off x="479376" y="480268"/>
            <a:ext cx="496581" cy="496581"/>
            <a:chOff x="4485904" y="3429000"/>
            <a:chExt cx="2003425" cy="2003425"/>
          </a:xfrm>
          <a:solidFill>
            <a:schemeClr val="bg1"/>
          </a:solidFill>
        </p:grpSpPr>
        <p:sp>
          <p:nvSpPr>
            <p:cNvPr id="17"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8"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9"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0"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4564207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14" name="文本占位符 6"/>
          <p:cNvSpPr>
            <a:spLocks noGrp="1"/>
          </p:cNvSpPr>
          <p:nvPr>
            <p:ph type="body" sz="quarter" idx="10"/>
          </p:nvPr>
        </p:nvSpPr>
        <p:spPr>
          <a:xfrm>
            <a:off x="451878" y="1242452"/>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sp>
        <p:nvSpPr>
          <p:cNvPr id="1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Recommendations</a:t>
            </a:r>
          </a:p>
        </p:txBody>
      </p:sp>
      <p:sp>
        <p:nvSpPr>
          <p:cNvPr id="1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8" name="组合 17"/>
          <p:cNvGrpSpPr/>
          <p:nvPr userDrawn="1"/>
        </p:nvGrpSpPr>
        <p:grpSpPr>
          <a:xfrm>
            <a:off x="515380" y="456929"/>
            <a:ext cx="461963" cy="485190"/>
            <a:chOff x="-779463" y="1835151"/>
            <a:chExt cx="1136650" cy="1193799"/>
          </a:xfrm>
          <a:solidFill>
            <a:schemeClr val="bg1"/>
          </a:solidFill>
        </p:grpSpPr>
        <p:sp>
          <p:nvSpPr>
            <p:cNvPr id="19"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0"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1"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2"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3"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4"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448336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ctr"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4478610" y="2345035"/>
              <a:ext cx="3544342" cy="923010"/>
            </a:xfrm>
            <a:prstGeom prst="rect">
              <a:avLst/>
            </a:prstGeom>
            <a:noFill/>
          </p:spPr>
          <p:txBody>
            <a:bodyPr wrap="none" lIns="91440" tIns="45720" rIns="91440" bIns="45720">
              <a:spAutoFit/>
            </a:bodyPr>
            <a:lstStyle/>
            <a:p>
              <a:pPr algn="ctr" fontAlgn="ctr"/>
              <a:r>
                <a:rPr lang="en-US" altLang="zh-CN" sz="5398"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rPr>
                <a:t>Thank You</a:t>
              </a: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fontAlgn="ctr"/>
              <a:r>
                <a:rPr lang="en-US" altLang="zh-CN" sz="3599"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rPr>
                <a:t>www.huawei.com</a:t>
              </a:r>
              <a:endParaRPr lang="zh-CN" altLang="en-US" sz="3599"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16063751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sp>
        <p:nvSpPr>
          <p:cNvPr id="31"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ctr" latinLnBrk="0" hangingPunct="0">
              <a:lnSpc>
                <a:spcPct val="100000"/>
              </a:lnSpc>
              <a:spcBef>
                <a:spcPct val="0"/>
              </a:spcBef>
              <a:spcAft>
                <a:spcPct val="0"/>
              </a:spcAft>
              <a:buClrTx/>
              <a:buSzTx/>
              <a:buFontTx/>
              <a:buNone/>
              <a:tabLst/>
              <a:defRPr/>
            </a:pPr>
            <a:r>
              <a:rPr lang="en-US" altLang="zh-CN" sz="3500" b="1" baseline="0" dirty="0">
                <a:solidFill>
                  <a:schemeClr val="tx1"/>
                </a:solidFill>
                <a:latin typeface="Huawei Sans" panose="020C0503030203020204" pitchFamily="34" charset="0"/>
                <a:ea typeface="方正兰亭黑简体" panose="02000000000000000000" pitchFamily="2" charset="-122"/>
              </a:rPr>
              <a:t>Revision Record</a:t>
            </a:r>
            <a:endParaRPr lang="zh-CN" altLang="en-US" sz="3500" b="1" baseline="0" dirty="0">
              <a:solidFill>
                <a:schemeClr val="tx1"/>
              </a:solidFill>
              <a:latin typeface="Huawei Sans" panose="020C0503030203020204" pitchFamily="34" charset="0"/>
              <a:ea typeface="方正兰亭黑简体" panose="02000000000000000000" pitchFamily="2" charset="-122"/>
            </a:endParaRPr>
          </a:p>
        </p:txBody>
      </p:sp>
      <p:sp>
        <p:nvSpPr>
          <p:cNvPr id="32"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fontAlgn="ctr">
              <a:spcBef>
                <a:spcPct val="50000"/>
              </a:spcBef>
            </a:pPr>
            <a:r>
              <a:rPr lang="en-US" altLang="zh-CN" sz="2800" kern="1200" baseline="0" dirty="0">
                <a:solidFill>
                  <a:srgbClr val="4D4D4D"/>
                </a:solidFill>
                <a:latin typeface="Huawei Sans" panose="020C0503030203020204" pitchFamily="34" charset="0"/>
                <a:ea typeface="方正兰亭黑简体" panose="02000000000000000000" pitchFamily="2" charset="-122"/>
                <a:cs typeface="+mn-cs"/>
              </a:rPr>
              <a:t>Do Not Print this Page</a:t>
            </a:r>
            <a:endParaRPr lang="zh-CN" altLang="en-US" sz="2800" kern="1200" baseline="0" dirty="0">
              <a:solidFill>
                <a:srgbClr val="4D4D4D"/>
              </a:solidFill>
              <a:latin typeface="Huawei Sans" panose="020C0503030203020204" pitchFamily="34" charset="0"/>
              <a:ea typeface="方正兰亭黑简体" panose="02000000000000000000" pitchFamily="2" charset="-122"/>
              <a:cs typeface="+mn-cs"/>
            </a:endParaRPr>
          </a:p>
        </p:txBody>
      </p:sp>
      <p:graphicFrame>
        <p:nvGraphicFramePr>
          <p:cNvPr id="33" name="Group 3"/>
          <p:cNvGraphicFramePr>
            <a:graphicFrameLocks noGrp="1"/>
          </p:cNvGraphicFramePr>
          <p:nvPr userDrawn="1">
            <p:extLst>
              <p:ext uri="{D42A27DB-BD31-4B8C-83A1-F6EECF244321}">
                <p14:modId xmlns:p14="http://schemas.microsoft.com/office/powerpoint/2010/main" val="241561022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val="20000"/>
                    </a:ext>
                  </a:extLst>
                </a:gridCol>
                <a:gridCol w="2155444">
                  <a:extLst>
                    <a:ext uri="{9D8B030D-6E8A-4147-A177-3AD203B41FA5}">
                      <a16:colId xmlns:a16="http://schemas.microsoft.com/office/drawing/2014/main" val="20001"/>
                    </a:ext>
                  </a:extLst>
                </a:gridCol>
                <a:gridCol w="2873927">
                  <a:extLst>
                    <a:ext uri="{9D8B030D-6E8A-4147-A177-3AD203B41FA5}">
                      <a16:colId xmlns:a16="http://schemas.microsoft.com/office/drawing/2014/main" val="20002"/>
                    </a:ext>
                  </a:extLst>
                </a:gridCol>
                <a:gridCol w="237642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Course Code</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Product</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Product Version</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4" name="Group 21"/>
          <p:cNvGraphicFramePr>
            <a:graphicFrameLocks noGrp="1"/>
          </p:cNvGraphicFramePr>
          <p:nvPr userDrawn="1">
            <p:extLst>
              <p:ext uri="{D42A27DB-BD31-4B8C-83A1-F6EECF244321}">
                <p14:modId xmlns:p14="http://schemas.microsoft.com/office/powerpoint/2010/main" val="311978986"/>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val="20000"/>
                    </a:ext>
                  </a:extLst>
                </a:gridCol>
                <a:gridCol w="2155920">
                  <a:extLst>
                    <a:ext uri="{9D8B030D-6E8A-4147-A177-3AD203B41FA5}">
                      <a16:colId xmlns:a16="http://schemas.microsoft.com/office/drawing/2014/main" val="20001"/>
                    </a:ext>
                  </a:extLst>
                </a:gridCol>
                <a:gridCol w="2912127">
                  <a:extLst>
                    <a:ext uri="{9D8B030D-6E8A-4147-A177-3AD203B41FA5}">
                      <a16:colId xmlns:a16="http://schemas.microsoft.com/office/drawing/2014/main" val="20002"/>
                    </a:ext>
                  </a:extLst>
                </a:gridCol>
                <a:gridCol w="231094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Author/ID</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Date</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Reviewer/ID</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New</a:t>
                      </a:r>
                      <a:r>
                        <a:rPr kumimoji="1" lang="zh-CN"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a:t>
                      </a:r>
                      <a:r>
                        <a:rPr kumimoji="1" lang="en-US" altLang="zh-CN"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rPr>
                        <a:t> Update</a:t>
                      </a:r>
                      <a:endParaRPr kumimoji="1" lang="zh-CN" altLang="en-US" sz="1600" b="1"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方正兰亭黑简体" panose="02000000000000000000" pitchFamily="2" charset="-122"/>
                        <a:ea typeface="方正兰亭黑简体" panose="02000000000000000000"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0491851"/>
                  </a:ext>
                </a:extLst>
              </a:tr>
            </a:tbl>
          </a:graphicData>
        </a:graphic>
      </p:graphicFrame>
      <p:sp>
        <p:nvSpPr>
          <p:cNvPr id="35"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Course Code</a:t>
            </a:r>
          </a:p>
        </p:txBody>
      </p:sp>
      <p:sp>
        <p:nvSpPr>
          <p:cNvPr id="36"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Product</a:t>
            </a:r>
          </a:p>
        </p:txBody>
      </p:sp>
      <p:sp>
        <p:nvSpPr>
          <p:cNvPr id="37"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X.X</a:t>
            </a:r>
          </a:p>
        </p:txBody>
      </p:sp>
      <p:sp>
        <p:nvSpPr>
          <p:cNvPr id="38"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X.X</a:t>
            </a:r>
          </a:p>
        </p:txBody>
      </p:sp>
      <p:sp>
        <p:nvSpPr>
          <p:cNvPr id="39"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0"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1"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42"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43" name="文本占位符 7">
            <a:extLst>
              <a:ext uri="{FF2B5EF4-FFF2-40B4-BE49-F238E27FC236}">
                <a16:creationId xmlns:a16="http://schemas.microsoft.com/office/drawing/2014/main"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4" name="文本占位符 7">
            <a:extLst>
              <a:ext uri="{FF2B5EF4-FFF2-40B4-BE49-F238E27FC236}">
                <a16:creationId xmlns:a16="http://schemas.microsoft.com/office/drawing/2014/main"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5" name="文本占位符 7">
            <a:extLst>
              <a:ext uri="{FF2B5EF4-FFF2-40B4-BE49-F238E27FC236}">
                <a16:creationId xmlns:a16="http://schemas.microsoft.com/office/drawing/2014/main"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46" name="文本占位符 7">
            <a:extLst>
              <a:ext uri="{FF2B5EF4-FFF2-40B4-BE49-F238E27FC236}">
                <a16:creationId xmlns:a16="http://schemas.microsoft.com/office/drawing/2014/main"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47" name="文本占位符 7">
            <a:extLst>
              <a:ext uri="{FF2B5EF4-FFF2-40B4-BE49-F238E27FC236}">
                <a16:creationId xmlns:a16="http://schemas.microsoft.com/office/drawing/2014/main"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48" name="文本占位符 7">
            <a:extLst>
              <a:ext uri="{FF2B5EF4-FFF2-40B4-BE49-F238E27FC236}">
                <a16:creationId xmlns:a16="http://schemas.microsoft.com/office/drawing/2014/main"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49" name="文本占位符 7">
            <a:extLst>
              <a:ext uri="{FF2B5EF4-FFF2-40B4-BE49-F238E27FC236}">
                <a16:creationId xmlns:a16="http://schemas.microsoft.com/office/drawing/2014/main"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0" name="文本占位符 7">
            <a:extLst>
              <a:ext uri="{FF2B5EF4-FFF2-40B4-BE49-F238E27FC236}">
                <a16:creationId xmlns:a16="http://schemas.microsoft.com/office/drawing/2014/main"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1" name="文本占位符 7">
            <a:extLst>
              <a:ext uri="{FF2B5EF4-FFF2-40B4-BE49-F238E27FC236}">
                <a16:creationId xmlns:a16="http://schemas.microsoft.com/office/drawing/2014/main"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52" name="文本占位符 7">
            <a:extLst>
              <a:ext uri="{FF2B5EF4-FFF2-40B4-BE49-F238E27FC236}">
                <a16:creationId xmlns:a16="http://schemas.microsoft.com/office/drawing/2014/main"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53" name="文本占位符 7">
            <a:extLst>
              <a:ext uri="{FF2B5EF4-FFF2-40B4-BE49-F238E27FC236}">
                <a16:creationId xmlns:a16="http://schemas.microsoft.com/office/drawing/2014/main"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4" name="文本占位符 7">
            <a:extLst>
              <a:ext uri="{FF2B5EF4-FFF2-40B4-BE49-F238E27FC236}">
                <a16:creationId xmlns:a16="http://schemas.microsoft.com/office/drawing/2014/main"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5" name="文本占位符 7">
            <a:extLst>
              <a:ext uri="{FF2B5EF4-FFF2-40B4-BE49-F238E27FC236}">
                <a16:creationId xmlns:a16="http://schemas.microsoft.com/office/drawing/2014/main"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56" name="文本占位符 7">
            <a:extLst>
              <a:ext uri="{FF2B5EF4-FFF2-40B4-BE49-F238E27FC236}">
                <a16:creationId xmlns:a16="http://schemas.microsoft.com/office/drawing/2014/main"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57" name="文本占位符 7">
            <a:extLst>
              <a:ext uri="{FF2B5EF4-FFF2-40B4-BE49-F238E27FC236}">
                <a16:creationId xmlns:a16="http://schemas.microsoft.com/office/drawing/2014/main"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58" name="文本占位符 7">
            <a:extLst>
              <a:ext uri="{FF2B5EF4-FFF2-40B4-BE49-F238E27FC236}">
                <a16:creationId xmlns:a16="http://schemas.microsoft.com/office/drawing/2014/main"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
        <p:nvSpPr>
          <p:cNvPr id="59" name="文本占位符 7">
            <a:extLst>
              <a:ext uri="{FF2B5EF4-FFF2-40B4-BE49-F238E27FC236}">
                <a16:creationId xmlns:a16="http://schemas.microsoft.com/office/drawing/2014/main"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Author/ID</a:t>
            </a:r>
          </a:p>
        </p:txBody>
      </p:sp>
      <p:sp>
        <p:nvSpPr>
          <p:cNvPr id="60" name="文本占位符 7">
            <a:extLst>
              <a:ext uri="{FF2B5EF4-FFF2-40B4-BE49-F238E27FC236}">
                <a16:creationId xmlns:a16="http://schemas.microsoft.com/office/drawing/2014/main"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2015.01.25</a:t>
            </a:r>
            <a:endParaRPr lang="zh-CN" altLang="en-US" dirty="0"/>
          </a:p>
        </p:txBody>
      </p:sp>
      <p:sp>
        <p:nvSpPr>
          <p:cNvPr id="61" name="文本占位符 7">
            <a:extLst>
              <a:ext uri="{FF2B5EF4-FFF2-40B4-BE49-F238E27FC236}">
                <a16:creationId xmlns:a16="http://schemas.microsoft.com/office/drawing/2014/main"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baseline="0">
                <a:latin typeface="Huawei Sans" panose="020C0503030203020204" pitchFamily="34" charset="0"/>
                <a:ea typeface="方正兰亭黑简体" panose="02000000000000000000" pitchFamily="2" charset="-122"/>
              </a:defRPr>
            </a:lvl1pPr>
          </a:lstStyle>
          <a:p>
            <a:pPr lvl="0"/>
            <a:r>
              <a:rPr lang="en-US" altLang="zh-CN" dirty="0"/>
              <a:t>Reviewer/ID</a:t>
            </a:r>
          </a:p>
        </p:txBody>
      </p:sp>
      <p:sp>
        <p:nvSpPr>
          <p:cNvPr id="62" name="文本占位符 7">
            <a:extLst>
              <a:ext uri="{FF2B5EF4-FFF2-40B4-BE49-F238E27FC236}">
                <a16:creationId xmlns:a16="http://schemas.microsoft.com/office/drawing/2014/main"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defRPr>
            </a:lvl1pPr>
          </a:lstStyle>
          <a:p>
            <a:pPr lvl="0"/>
            <a:r>
              <a:rPr lang="en-US" altLang="zh-CN" dirty="0"/>
              <a:t>Type</a:t>
            </a:r>
            <a:endParaRPr lang="zh-CN" altLang="en-US" dirty="0"/>
          </a:p>
        </p:txBody>
      </p:sp>
    </p:spTree>
    <p:extLst>
      <p:ext uri="{BB962C8B-B14F-4D97-AF65-F5344CB8AC3E}">
        <p14:creationId xmlns:p14="http://schemas.microsoft.com/office/powerpoint/2010/main" val="2603567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17"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447"/>
          <a:stretch/>
        </p:blipFill>
        <p:spPr bwMode="auto">
          <a:xfrm>
            <a:off x="1" y="85"/>
            <a:ext cx="12192000" cy="686474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ctr" hangingPunct="0">
              <a:spcBef>
                <a:spcPct val="0"/>
              </a:spcBef>
              <a:spcAft>
                <a:spcPct val="0"/>
              </a:spcAft>
              <a:defRPr lang="zh-CN" altLang="en-US" sz="4300" b="1" kern="1200" baseline="0" dirty="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defRPr>
            </a:lvl1pPr>
          </a:lstStyle>
          <a:p>
            <a:r>
              <a:rPr lang="en-US" altLang="zh-CN" dirty="0"/>
              <a:t>Click to Edit Title</a:t>
            </a:r>
            <a:endParaRPr lang="zh-CN" altLang="en-US" dirty="0"/>
          </a:p>
        </p:txBody>
      </p:sp>
      <p:sp>
        <p:nvSpPr>
          <p:cNvPr id="19"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ctr" hangingPunct="0">
              <a:spcBef>
                <a:spcPct val="0"/>
              </a:spcBef>
              <a:spcAft>
                <a:spcPct val="0"/>
              </a:spcAft>
              <a:buNone/>
              <a:defRPr lang="zh-CN" altLang="en-US" sz="2000" kern="1200" baseline="0" dirty="0" smtClean="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Click to Edit Title</a:t>
            </a:r>
            <a:endParaRPr lang="zh-CN" altLang="en-US" dirty="0"/>
          </a:p>
        </p:txBody>
      </p:sp>
      <p:sp>
        <p:nvSpPr>
          <p:cNvPr id="20" name="Rectangle 54"/>
          <p:cNvSpPr>
            <a:spLocks noChangeArrowheads="1"/>
          </p:cNvSpPr>
          <p:nvPr userDrawn="1"/>
        </p:nvSpPr>
        <p:spPr bwMode="auto">
          <a:xfrm>
            <a:off x="947428" y="6500581"/>
            <a:ext cx="494833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baseline="0" dirty="0">
                <a:latin typeface="Huawei Sans" panose="020C0503030203020204" pitchFamily="34" charset="0"/>
                <a:ea typeface="方正兰亭黑简体" panose="02000000000000000000" pitchFamily="2" charset="-122"/>
                <a:cs typeface="Huawei Sans" panose="020C0503030203020204" pitchFamily="34" charset="0"/>
              </a:rPr>
              <a:t>Copyright © 2020 Huawei Technologies Co., Ltd. All rights reserved. </a:t>
            </a:r>
          </a:p>
        </p:txBody>
      </p:sp>
      <p:pic>
        <p:nvPicPr>
          <p:cNvPr id="21" name="图片 2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extLst>
      <p:ext uri="{BB962C8B-B14F-4D97-AF65-F5344CB8AC3E}">
        <p14:creationId xmlns:p14="http://schemas.microsoft.com/office/powerpoint/2010/main" val="1619296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4" name="文本占位符 6"/>
          <p:cNvSpPr>
            <a:spLocks noGrp="1"/>
          </p:cNvSpPr>
          <p:nvPr>
            <p:ph type="body" sz="quarter" idx="10" hasCustomPrompt="1"/>
          </p:nvPr>
        </p:nvSpPr>
        <p:spPr>
          <a:xfrm>
            <a:off x="451878" y="1242453"/>
            <a:ext cx="11306175" cy="4679788"/>
          </a:xfrm>
          <a:prstGeom prst="rect">
            <a:avLst/>
          </a:prstGeom>
        </p:spPr>
        <p:txBody>
          <a:bodyPr/>
          <a:lstStyle>
            <a:lvl1pPr algn="just" eaLnBrk="1" hangingPunct="1">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pPr eaLnBrk="1" hangingPunct="1"/>
            <a:r>
              <a:rPr lang="en-US" altLang="zh-CN" dirty="0"/>
              <a:t>The chapter describes ...</a:t>
            </a:r>
            <a:endParaRPr lang="zh-CN" altLang="en-US" dirty="0"/>
          </a:p>
        </p:txBody>
      </p:sp>
      <p:sp>
        <p:nvSpPr>
          <p:cNvPr id="2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Foreword</a:t>
            </a:r>
            <a:endParaRPr lang="zh-CN" altLang="en-US"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30" name="组合 29"/>
          <p:cNvGrpSpPr/>
          <p:nvPr userDrawn="1"/>
        </p:nvGrpSpPr>
        <p:grpSpPr>
          <a:xfrm>
            <a:off x="335360" y="498828"/>
            <a:ext cx="628158" cy="459460"/>
            <a:chOff x="3275013" y="1363663"/>
            <a:chExt cx="5645150" cy="4129087"/>
          </a:xfrm>
          <a:solidFill>
            <a:schemeClr val="bg1"/>
          </a:solidFill>
        </p:grpSpPr>
        <p:sp>
          <p:nvSpPr>
            <p:cNvPr id="31"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36"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024698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17"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Objectives</a:t>
            </a:r>
          </a:p>
        </p:txBody>
      </p:sp>
      <p:sp>
        <p:nvSpPr>
          <p:cNvPr id="1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1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grpSp>
        <p:nvGrpSpPr>
          <p:cNvPr id="20" name="组合 19"/>
          <p:cNvGrpSpPr/>
          <p:nvPr userDrawn="1"/>
        </p:nvGrpSpPr>
        <p:grpSpPr>
          <a:xfrm>
            <a:off x="443372" y="440668"/>
            <a:ext cx="533970" cy="533470"/>
            <a:chOff x="2960687" y="4865687"/>
            <a:chExt cx="1698626" cy="1697038"/>
          </a:xfrm>
          <a:solidFill>
            <a:schemeClr val="bg1"/>
          </a:solidFill>
        </p:grpSpPr>
        <p:sp>
          <p:nvSpPr>
            <p:cNvPr id="2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sp>
          <p:nvSpPr>
            <p:cNvPr id="2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endParaRPr>
            </a:p>
          </p:txBody>
        </p:sp>
      </p:grpSp>
      <p:sp>
        <p:nvSpPr>
          <p:cNvPr id="2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2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latin typeface="Huawei Sans" panose="020C0503030203020204" pitchFamily="34" charset="0"/>
              <a:ea typeface="方正兰亭黑简体" panose="02000000000000000000" pitchFamily="2" charset="-122"/>
            </a:endParaRPr>
          </a:p>
        </p:txBody>
      </p:sp>
      <p:sp>
        <p:nvSpPr>
          <p:cNvPr id="30" name="内容占位符 6"/>
          <p:cNvSpPr>
            <a:spLocks noGrp="1"/>
          </p:cNvSpPr>
          <p:nvPr>
            <p:ph sz="quarter" idx="11" hasCustomPrompt="1"/>
          </p:nvPr>
        </p:nvSpPr>
        <p:spPr>
          <a:xfrm>
            <a:off x="451202" y="1233276"/>
            <a:ext cx="11306175" cy="4680000"/>
          </a:xfrm>
          <a:prstGeom prst="rect">
            <a:avLst/>
          </a:prstGeom>
        </p:spPr>
        <p:txBody>
          <a:bodyPr/>
          <a:lstStyle>
            <a:lvl1pPr marL="301625" marR="0" indent="-301625" algn="just" defTabSz="801688" rtl="0" eaLnBrk="1" fontAlgn="ctr" latinLnBrk="0" hangingPunct="1">
              <a:lnSpc>
                <a:spcPct val="140000"/>
              </a:lnSpc>
              <a:spcBef>
                <a:spcPct val="30000"/>
              </a:spcBef>
              <a:spcAft>
                <a:spcPct val="0"/>
              </a:spcAft>
              <a:buClr>
                <a:schemeClr val="tx1"/>
              </a:buClr>
              <a:buSzPct val="50000"/>
              <a:buFont typeface="Wingdings" pitchFamily="2" charset="2"/>
              <a:buChar char="l"/>
              <a:tabLst/>
              <a:defRPr kumimoji="0" lang="en-US" altLang="zh-CN" sz="2200" b="0" i="0" u="none" strike="noStrike" kern="0" cap="none" spc="0" normalizeH="0" baseline="0" noProof="0"/>
            </a:lvl1pPr>
            <a:lvl2pPr algn="just">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marL="301625" marR="0" lvl="0" indent="-301625" algn="just" defTabSz="801688" rtl="0" eaLnBrk="1" fontAlgn="ctr" latinLnBrk="0" hangingPunct="1">
              <a:lnSpc>
                <a:spcPct val="140000"/>
              </a:lnSpc>
              <a:spcBef>
                <a:spcPct val="30000"/>
              </a:spcBef>
              <a:spcAft>
                <a:spcPct val="0"/>
              </a:spcAft>
              <a:buClr>
                <a:schemeClr val="tx1"/>
              </a:buClr>
              <a:buSzPct val="5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8652179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26"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fontAlgn="ctr" hangingPunct="0"/>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Contents</a:t>
            </a:r>
          </a:p>
        </p:txBody>
      </p:sp>
      <p:sp>
        <p:nvSpPr>
          <p:cNvPr id="2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8"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29" name="组合 28"/>
          <p:cNvGrpSpPr/>
          <p:nvPr userDrawn="1"/>
        </p:nvGrpSpPr>
        <p:grpSpPr>
          <a:xfrm>
            <a:off x="587388" y="515379"/>
            <a:ext cx="358335" cy="426359"/>
            <a:chOff x="3295650" y="230188"/>
            <a:chExt cx="936625" cy="1114426"/>
          </a:xfrm>
          <a:solidFill>
            <a:schemeClr val="bg1"/>
          </a:solidFill>
        </p:grpSpPr>
        <p:sp>
          <p:nvSpPr>
            <p:cNvPr id="30"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1"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6"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8"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9"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0"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1"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2"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3"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4"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5"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4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5" name="文本占位符 6"/>
          <p:cNvSpPr>
            <a:spLocks noGrp="1"/>
          </p:cNvSpPr>
          <p:nvPr>
            <p:ph type="body" sz="quarter" idx="10" hasCustomPrompt="1"/>
          </p:nvPr>
        </p:nvSpPr>
        <p:spPr>
          <a:xfrm>
            <a:off x="454816" y="1233487"/>
            <a:ext cx="11307600" cy="4680000"/>
          </a:xfr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ctr">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Tree>
    <p:extLst>
      <p:ext uri="{BB962C8B-B14F-4D97-AF65-F5344CB8AC3E}">
        <p14:creationId xmlns:p14="http://schemas.microsoft.com/office/powerpoint/2010/main" val="30674498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451878" y="1242452"/>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Overview and Objectives</a:t>
            </a:r>
          </a:p>
        </p:txBody>
      </p:sp>
      <p:sp>
        <p:nvSpPr>
          <p:cNvPr id="12"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3"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4" name="组合 13"/>
          <p:cNvGrpSpPr/>
          <p:nvPr userDrawn="1"/>
        </p:nvGrpSpPr>
        <p:grpSpPr>
          <a:xfrm>
            <a:off x="587388" y="505779"/>
            <a:ext cx="374708" cy="445558"/>
            <a:chOff x="-1647825" y="2492375"/>
            <a:chExt cx="1947863" cy="2316163"/>
          </a:xfrm>
          <a:solidFill>
            <a:schemeClr val="bg1"/>
          </a:solidFill>
        </p:grpSpPr>
        <p:sp>
          <p:nvSpPr>
            <p:cNvPr id="15"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6"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5924126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10" name="文本占位符 6"/>
          <p:cNvSpPr>
            <a:spLocks noGrp="1"/>
          </p:cNvSpPr>
          <p:nvPr>
            <p:ph type="body" sz="quarter" idx="10" hasCustomPrompt="1"/>
          </p:nvPr>
        </p:nvSpPr>
        <p:spPr>
          <a:xfrm>
            <a:off x="451877" y="1242453"/>
            <a:ext cx="11306175" cy="4680000"/>
          </a:xfrm>
          <a:prstGeom prst="rect">
            <a:avLst/>
          </a:prstGeom>
        </p:spPr>
        <p:txBody>
          <a:bodyPr/>
          <a:lstStyle>
            <a:lvl1pPr algn="just">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en-US" altLang="zh-CN" dirty="0"/>
              <a:t>Click here to edit</a:t>
            </a:r>
            <a:endParaRPr lang="zh-CN" altLang="en-US" dirty="0"/>
          </a:p>
        </p:txBody>
      </p:sp>
      <p:sp>
        <p:nvSpPr>
          <p:cNvPr id="11"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2"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3" name="组合 12"/>
          <p:cNvGrpSpPr/>
          <p:nvPr userDrawn="1"/>
        </p:nvGrpSpPr>
        <p:grpSpPr>
          <a:xfrm>
            <a:off x="587388" y="505779"/>
            <a:ext cx="374708" cy="445558"/>
            <a:chOff x="-1647825" y="2492375"/>
            <a:chExt cx="1947863" cy="2316163"/>
          </a:xfrm>
          <a:solidFill>
            <a:schemeClr val="bg1"/>
          </a:solidFill>
        </p:grpSpPr>
        <p:sp>
          <p:nvSpPr>
            <p:cNvPr id="14"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16" name="标题 1"/>
          <p:cNvSpPr>
            <a:spLocks noGrp="1"/>
          </p:cNvSpPr>
          <p:nvPr>
            <p:ph type="title" hasCustomPrompt="1"/>
          </p:nvPr>
        </p:nvSpPr>
        <p:spPr>
          <a:xfrm>
            <a:off x="1594800" y="410400"/>
            <a:ext cx="9831600" cy="640800"/>
          </a:xfrm>
          <a:noFill/>
          <a:ln w="9525">
            <a:noFill/>
            <a:miter lim="800000"/>
            <a:headEnd/>
            <a:tailEnd/>
          </a:ln>
        </p:spPr>
        <p:txBody>
          <a:bodyPr vert="horz" wrap="square" lIns="100800" tIns="50400" rIns="100800" bIns="50400" numCol="1" anchor="ctr" anchorCtr="0" compatLnSpc="1">
            <a:prstTxWarp prst="textNoShape">
              <a:avLst/>
            </a:prstTxWarp>
          </a:bodyPr>
          <a:lstStyle>
            <a:lvl1pPr fontAlgn="auto">
              <a:defRPr lang="zh-CN" altLang="en-US" b="1" kern="0" baseline="0" dirty="0"/>
            </a:lvl1pPr>
          </a:lstStyle>
          <a:p>
            <a:pPr lvl="0"/>
            <a:r>
              <a:rPr lang="en-US" altLang="zh-CN" dirty="0"/>
              <a:t>Title</a:t>
            </a:r>
            <a:endParaRPr lang="zh-CN" altLang="en-US" dirty="0"/>
          </a:p>
        </p:txBody>
      </p:sp>
    </p:spTree>
    <p:extLst>
      <p:ext uri="{BB962C8B-B14F-4D97-AF65-F5344CB8AC3E}">
        <p14:creationId xmlns:p14="http://schemas.microsoft.com/office/powerpoint/2010/main" val="1840209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ea typeface="方正兰亭黑简体" panose="02000000000000000000" pitchFamily="2" charset="-122"/>
            </a:endParaRPr>
          </a:p>
        </p:txBody>
      </p:sp>
      <p:sp>
        <p:nvSpPr>
          <p:cNvPr id="8"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dirty="0">
              <a:ea typeface="方正兰亭黑简体" panose="02000000000000000000" pitchFamily="2" charset="-122"/>
            </a:endParaRPr>
          </a:p>
        </p:txBody>
      </p:sp>
      <p:sp>
        <p:nvSpPr>
          <p:cNvPr id="9"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dirty="0">
              <a:ea typeface="方正兰亭黑简体" panose="02000000000000000000" pitchFamily="2" charset="-122"/>
            </a:endParaRPr>
          </a:p>
        </p:txBody>
      </p:sp>
      <p:sp>
        <p:nvSpPr>
          <p:cNvPr id="10" name="标题 1"/>
          <p:cNvSpPr>
            <a:spLocks noGrp="1"/>
          </p:cNvSpPr>
          <p:nvPr>
            <p:ph type="title" hasCustomPrompt="1"/>
          </p:nvPr>
        </p:nvSpPr>
        <p:spPr>
          <a:xfrm>
            <a:off x="1594800" y="410400"/>
            <a:ext cx="9831600" cy="640800"/>
          </a:xfrm>
          <a:noFill/>
          <a:ln w="9525">
            <a:noFill/>
            <a:miter lim="800000"/>
            <a:headEnd/>
            <a:tailEnd/>
          </a:ln>
        </p:spPr>
        <p:txBody>
          <a:bodyPr vert="horz" wrap="square" lIns="100800" tIns="50400" rIns="100800" bIns="50400" numCol="1" anchor="ctr" anchorCtr="0" compatLnSpc="1">
            <a:prstTxWarp prst="textNoShape">
              <a:avLst/>
            </a:prstTxWarp>
          </a:bodyPr>
          <a:lstStyle>
            <a:lvl1pPr fontAlgn="auto">
              <a:defRPr lang="zh-CN" altLang="en-US" b="1" kern="0" baseline="0" dirty="0"/>
            </a:lvl1pPr>
          </a:lstStyle>
          <a:p>
            <a:pPr lvl="0"/>
            <a:r>
              <a:rPr lang="en-US" altLang="zh-CN" dirty="0"/>
              <a:t>Title</a:t>
            </a:r>
            <a:endParaRPr lang="zh-CN" altLang="en-US" dirty="0"/>
          </a:p>
        </p:txBody>
      </p:sp>
    </p:spTree>
    <p:extLst>
      <p:ext uri="{BB962C8B-B14F-4D97-AF65-F5344CB8AC3E}">
        <p14:creationId xmlns:p14="http://schemas.microsoft.com/office/powerpoint/2010/main" val="3361100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4" name="矩形 3">
              <a:extLst>
                <a:ext uri="{FF2B5EF4-FFF2-40B4-BE49-F238E27FC236}">
                  <a16:creationId xmlns:a16="http://schemas.microsoft.com/office/drawing/2014/main"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5" name="矩形 4">
              <a:extLst>
                <a:ext uri="{FF2B5EF4-FFF2-40B4-BE49-F238E27FC236}">
                  <a16:creationId xmlns:a16="http://schemas.microsoft.com/office/drawing/2014/main"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6" name="矩形 5">
              <a:extLst>
                <a:ext uri="{FF2B5EF4-FFF2-40B4-BE49-F238E27FC236}">
                  <a16:creationId xmlns:a16="http://schemas.microsoft.com/office/drawing/2014/main" id="{947DE7E3-EC9F-4331-B252-7BCE51B7F0DA}"/>
                </a:ext>
              </a:extLst>
            </p:cNvPr>
            <p:cNvSpPr/>
            <p:nvPr userDrawn="1"/>
          </p:nvSpPr>
          <p:spPr>
            <a:xfrm>
              <a:off x="12212029" y="5518168"/>
              <a:ext cx="539729" cy="288000"/>
            </a:xfrm>
            <a:prstGeom prst="rect">
              <a:avLst/>
            </a:prstGeom>
            <a:solidFill>
              <a:srgbClr val="C00000"/>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7" name="矩形 6">
              <a:extLst>
                <a:ext uri="{FF2B5EF4-FFF2-40B4-BE49-F238E27FC236}">
                  <a16:creationId xmlns:a16="http://schemas.microsoft.com/office/drawing/2014/main"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8" name="矩形 7">
              <a:extLst>
                <a:ext uri="{FF2B5EF4-FFF2-40B4-BE49-F238E27FC236}">
                  <a16:creationId xmlns:a16="http://schemas.microsoft.com/office/drawing/2014/main" id="{BE8A406D-0F03-42D8-9159-77B9DE9EB30E}"/>
                </a:ext>
              </a:extLst>
            </p:cNvPr>
            <p:cNvSpPr/>
            <p:nvPr userDrawn="1"/>
          </p:nvSpPr>
          <p:spPr>
            <a:xfrm>
              <a:off x="12212029" y="6094370"/>
              <a:ext cx="539729" cy="288000"/>
            </a:xfrm>
            <a:prstGeom prst="rect">
              <a:avLst/>
            </a:prstGeom>
            <a:solidFill>
              <a:srgbClr val="FFC000"/>
            </a:solidFill>
          </p:spPr>
          <p:txBody>
            <a:bodyPr wrap="none" rtlCol="0" anchor="ctr">
              <a:noAutofit/>
            </a:bodyPr>
            <a:lstStyle/>
            <a:p>
              <a:pPr marL="342763" indent="-342763" algn="ctr" fontAlgn="auto">
                <a:buFont typeface="+mj-lt"/>
                <a:buAutoNum type="arabicPeriod"/>
              </a:pPr>
              <a:endParaRPr lang="zh-CN" altLang="en-US" sz="900" dirty="0">
                <a:latin typeface="+mn-lt"/>
                <a:ea typeface="+mn-ea"/>
                <a:cs typeface="Huawei Sans" panose="020C0503030203020204" pitchFamily="34" charset="0"/>
              </a:endParaRPr>
            </a:p>
          </p:txBody>
        </p:sp>
        <p:sp>
          <p:nvSpPr>
            <p:cNvPr id="9" name="文本框 8">
              <a:extLst>
                <a:ext uri="{FF2B5EF4-FFF2-40B4-BE49-F238E27FC236}">
                  <a16:creationId xmlns:a16="http://schemas.microsoft.com/office/drawing/2014/main"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7566456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23" name="文本占位符 6"/>
          <p:cNvSpPr>
            <a:spLocks noGrp="1"/>
          </p:cNvSpPr>
          <p:nvPr>
            <p:ph type="body" sz="quarter" idx="10" hasCustomPrompt="1"/>
          </p:nvPr>
        </p:nvSpPr>
        <p:spPr>
          <a:xfrm>
            <a:off x="451878" y="1242452"/>
            <a:ext cx="11306175" cy="4680000"/>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en-US" altLang="zh-CN" dirty="0"/>
              <a:t>Question description.</a:t>
            </a:r>
          </a:p>
          <a:p>
            <a:pPr lvl="1"/>
            <a:endParaRPr lang="en-US" altLang="zh-CN" dirty="0"/>
          </a:p>
        </p:txBody>
      </p:sp>
      <p:sp>
        <p:nvSpPr>
          <p:cNvPr id="24"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auto"/>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Quiz</a:t>
            </a:r>
          </a:p>
        </p:txBody>
      </p:sp>
      <p:sp>
        <p:nvSpPr>
          <p:cNvPr id="25"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6"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27" name="组合 26"/>
          <p:cNvGrpSpPr/>
          <p:nvPr userDrawn="1"/>
        </p:nvGrpSpPr>
        <p:grpSpPr>
          <a:xfrm>
            <a:off x="479376" y="424270"/>
            <a:ext cx="495619" cy="592462"/>
            <a:chOff x="5554662" y="2422526"/>
            <a:chExt cx="690564" cy="825500"/>
          </a:xfrm>
          <a:solidFill>
            <a:schemeClr val="bg1"/>
          </a:solidFill>
        </p:grpSpPr>
        <p:sp>
          <p:nvSpPr>
            <p:cNvPr id="2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3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41"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42"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40175880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11" name="文本占位符 6"/>
          <p:cNvSpPr>
            <a:spLocks noGrp="1"/>
          </p:cNvSpPr>
          <p:nvPr>
            <p:ph type="body" sz="quarter" idx="10" hasCustomPrompt="1"/>
          </p:nvPr>
        </p:nvSpPr>
        <p:spPr>
          <a:xfrm>
            <a:off x="451878" y="1242452"/>
            <a:ext cx="11306175"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en-US" altLang="zh-CN" dirty="0"/>
              <a:t>Click here to edit summary</a:t>
            </a:r>
            <a:endParaRPr lang="zh-CN" altLang="en-US" dirty="0"/>
          </a:p>
        </p:txBody>
      </p:sp>
      <p:sp>
        <p:nvSpPr>
          <p:cNvPr id="12"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fontAlgn="ctr"/>
            <a:r>
              <a:rPr lang="en-US" altLang="zh-CN"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Section Summary</a:t>
            </a:r>
          </a:p>
        </p:txBody>
      </p:sp>
      <p:sp>
        <p:nvSpPr>
          <p:cNvPr id="1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5" name="组合 14"/>
          <p:cNvGrpSpPr/>
          <p:nvPr userDrawn="1"/>
        </p:nvGrpSpPr>
        <p:grpSpPr>
          <a:xfrm>
            <a:off x="515380" y="490848"/>
            <a:ext cx="470694" cy="475421"/>
            <a:chOff x="5540375" y="2868613"/>
            <a:chExt cx="1106488" cy="1117600"/>
          </a:xfrm>
          <a:solidFill>
            <a:schemeClr val="bg1"/>
          </a:solidFill>
        </p:grpSpPr>
        <p:sp>
          <p:nvSpPr>
            <p:cNvPr id="16"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7"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448201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9"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Summary</a:t>
            </a:r>
          </a:p>
        </p:txBody>
      </p:sp>
      <p:sp>
        <p:nvSpPr>
          <p:cNvPr id="11"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2"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3" name="组合 12"/>
          <p:cNvGrpSpPr/>
          <p:nvPr userDrawn="1"/>
        </p:nvGrpSpPr>
        <p:grpSpPr>
          <a:xfrm>
            <a:off x="515380" y="490848"/>
            <a:ext cx="470694" cy="475421"/>
            <a:chOff x="5540375" y="2868613"/>
            <a:chExt cx="1106488" cy="1117600"/>
          </a:xfrm>
          <a:solidFill>
            <a:schemeClr val="bg1"/>
          </a:solidFill>
        </p:grpSpPr>
        <p:sp>
          <p:nvSpPr>
            <p:cNvPr id="14"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
        <p:nvSpPr>
          <p:cNvPr id="16" name="文本占位符 6"/>
          <p:cNvSpPr>
            <a:spLocks noGrp="1"/>
          </p:cNvSpPr>
          <p:nvPr>
            <p:ph type="body" sz="quarter" idx="11" hasCustomPrompt="1"/>
          </p:nvPr>
        </p:nvSpPr>
        <p:spPr>
          <a:xfrm>
            <a:off x="451879" y="1241721"/>
            <a:ext cx="11306174"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defRPr baseline="0">
                <a:latin typeface="Huawei Sans" panose="020C0503030203020204" pitchFamily="34" charset="0"/>
              </a:defRPr>
            </a:lvl2pPr>
            <a:lvl3pPr fontAlgn="auto">
              <a:defRPr baseline="0">
                <a:latin typeface="Huawei Sans" panose="020C0503030203020204" pitchFamily="34" charset="0"/>
              </a:defRPr>
            </a:lvl3pPr>
            <a:lvl4pPr fontAlgn="auto">
              <a:defRPr baseline="0">
                <a:latin typeface="Huawei Sans" panose="020C0503030203020204" pitchFamily="34" charset="0"/>
              </a:defRPr>
            </a:lvl4pPr>
            <a:lvl5pPr fontAlgn="auto">
              <a:buNone/>
              <a:defRPr baseline="0">
                <a:latin typeface="Huawei Sans" panose="020C0503030203020204" pitchFamily="34" charset="0"/>
              </a:defRPr>
            </a:lvl5pPr>
          </a:lstStyle>
          <a:p>
            <a:pPr lvl="0"/>
            <a:r>
              <a:rPr lang="en-US" altLang="zh-CN" dirty="0"/>
              <a:t>Click to edit</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268070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12" name="文本占位符 6"/>
          <p:cNvSpPr>
            <a:spLocks noGrp="1"/>
          </p:cNvSpPr>
          <p:nvPr>
            <p:ph type="body" sz="quarter" idx="10" hasCustomPrompt="1"/>
          </p:nvPr>
        </p:nvSpPr>
        <p:spPr>
          <a:xfrm>
            <a:off x="451878" y="1242452"/>
            <a:ext cx="11306175"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en-US" altLang="zh-CN" dirty="0"/>
              <a:t>More information for trainees</a:t>
            </a:r>
            <a:endParaRPr lang="zh-CN" altLang="en-US" dirty="0"/>
          </a:p>
        </p:txBody>
      </p:sp>
      <p:sp>
        <p:nvSpPr>
          <p:cNvPr id="13"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More Information</a:t>
            </a:r>
          </a:p>
        </p:txBody>
      </p:sp>
      <p:sp>
        <p:nvSpPr>
          <p:cNvPr id="14"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5"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6" name="组合 15"/>
          <p:cNvGrpSpPr/>
          <p:nvPr userDrawn="1"/>
        </p:nvGrpSpPr>
        <p:grpSpPr>
          <a:xfrm>
            <a:off x="479376" y="480268"/>
            <a:ext cx="496581" cy="496581"/>
            <a:chOff x="4485904" y="3429000"/>
            <a:chExt cx="2003425" cy="2003425"/>
          </a:xfrm>
          <a:solidFill>
            <a:schemeClr val="bg1"/>
          </a:solidFill>
        </p:grpSpPr>
        <p:sp>
          <p:nvSpPr>
            <p:cNvPr id="17"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8"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9"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0"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668908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14" name="文本占位符 6"/>
          <p:cNvSpPr>
            <a:spLocks noGrp="1"/>
          </p:cNvSpPr>
          <p:nvPr>
            <p:ph type="body" sz="quarter" idx="10"/>
          </p:nvPr>
        </p:nvSpPr>
        <p:spPr>
          <a:xfrm>
            <a:off x="451878" y="1242452"/>
            <a:ext cx="11306175" cy="4680000"/>
          </a:xfrm>
          <a:prstGeom prst="rect">
            <a:avLst/>
          </a:prstGeom>
        </p:spPr>
        <p:txBody>
          <a:bodyPr/>
          <a:lstStyle>
            <a:lvl1pPr algn="just" fontAlgn="auto">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sp>
        <p:nvSpPr>
          <p:cNvPr id="15" name="TextBox 10">
            <a:extLst>
              <a:ext uri="{FF2B5EF4-FFF2-40B4-BE49-F238E27FC236}">
                <a16:creationId xmlns:a16="http://schemas.microsoft.com/office/drawing/2014/main"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ctr" hangingPunct="0">
              <a:spcBef>
                <a:spcPct val="0"/>
              </a:spcBef>
              <a:spcAft>
                <a:spcPct val="0"/>
              </a:spcAft>
            </a:pPr>
            <a:r>
              <a:rPr lang="en-US" altLang="zh-CN" sz="3500" b="1"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Recommendations</a:t>
            </a:r>
          </a:p>
        </p:txBody>
      </p:sp>
      <p:sp>
        <p:nvSpPr>
          <p:cNvPr id="1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1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baseline="0" dirty="0">
              <a:latin typeface="Huawei Sans" panose="020C0503030203020204" pitchFamily="34" charset="0"/>
              <a:ea typeface="方正兰亭黑简体" panose="02000000000000000000" pitchFamily="2" charset="-122"/>
            </a:endParaRPr>
          </a:p>
        </p:txBody>
      </p:sp>
      <p:grpSp>
        <p:nvGrpSpPr>
          <p:cNvPr id="18" name="组合 17"/>
          <p:cNvGrpSpPr/>
          <p:nvPr userDrawn="1"/>
        </p:nvGrpSpPr>
        <p:grpSpPr>
          <a:xfrm>
            <a:off x="515380" y="456929"/>
            <a:ext cx="461963" cy="485190"/>
            <a:chOff x="-779463" y="1835151"/>
            <a:chExt cx="1136650" cy="1193799"/>
          </a:xfrm>
          <a:solidFill>
            <a:schemeClr val="bg1"/>
          </a:solidFill>
        </p:grpSpPr>
        <p:sp>
          <p:nvSpPr>
            <p:cNvPr id="19"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0"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1"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2"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3"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sp>
          <p:nvSpPr>
            <p:cNvPr id="24"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aseline="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17712529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ctr"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4478610" y="2345035"/>
              <a:ext cx="3544342" cy="923010"/>
            </a:xfrm>
            <a:prstGeom prst="rect">
              <a:avLst/>
            </a:prstGeom>
            <a:noFill/>
          </p:spPr>
          <p:txBody>
            <a:bodyPr wrap="none" lIns="91440" tIns="45720" rIns="91440" bIns="45720">
              <a:spAutoFit/>
            </a:bodyPr>
            <a:lstStyle/>
            <a:p>
              <a:pPr algn="ctr" fontAlgn="ctr"/>
              <a:r>
                <a:rPr lang="en-US" altLang="zh-CN" sz="5398"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rPr>
                <a:t>Thank You</a:t>
              </a: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fontAlgn="ctr"/>
              <a:r>
                <a:rPr lang="en-US" altLang="zh-CN" sz="3599"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rPr>
                <a:t>www.huawei.com</a:t>
              </a:r>
              <a:endParaRPr lang="zh-CN" altLang="en-US" sz="3599" b="0" cap="none" spc="0" baseline="0" dirty="0">
                <a:ln w="0"/>
                <a:solidFill>
                  <a:schemeClr val="bg1"/>
                </a:solidFill>
                <a:effectLst>
                  <a:outerShdw blurRad="38100" dist="19050" dir="2700000" algn="tl" rotWithShape="0">
                    <a:schemeClr val="dk1">
                      <a:alpha val="40000"/>
                    </a:schemeClr>
                  </a:outerShdw>
                </a:effectLst>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67892877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pn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8" name="Rectangle 57"/>
          <p:cNvSpPr>
            <a:spLocks noGrp="1" noChangeArrowheads="1"/>
          </p:cNvSpPr>
          <p:nvPr>
            <p:ph type="body" idx="1"/>
          </p:nvPr>
        </p:nvSpPr>
        <p:spPr bwMode="auto">
          <a:xfrm>
            <a:off x="448290" y="1248073"/>
            <a:ext cx="11307600"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r>
              <a:rPr lang="en-US" altLang="zh-CN" dirty="0"/>
              <a:t>0</a:t>
            </a:r>
            <a:endParaRPr lang="zh-CN" altLang="en-US" dirty="0"/>
          </a:p>
        </p:txBody>
      </p:sp>
      <p:pic>
        <p:nvPicPr>
          <p:cNvPr id="24" name="图片 2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25" name="Rectangle 69"/>
          <p:cNvSpPr>
            <a:spLocks noChangeArrowheads="1"/>
          </p:cNvSpPr>
          <p:nvPr userDrawn="1"/>
        </p:nvSpPr>
        <p:spPr bwMode="auto">
          <a:xfrm>
            <a:off x="119336" y="6500581"/>
            <a:ext cx="742054"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Page</a:t>
            </a:r>
            <a:r>
              <a:rPr lang="en-US" altLang="zh-CN" sz="1200" baseline="0" dirty="0">
                <a:latin typeface="Huawei Sans" panose="020C0503030203020204" pitchFamily="34" charset="0"/>
                <a:ea typeface="方正兰亭黑简体" panose="02000000000000000000" pitchFamily="2" charset="-122"/>
                <a:cs typeface="Huawei Sans" panose="020C0503030203020204" pitchFamily="34" charset="0"/>
              </a:rPr>
              <a:t> </a:t>
            </a:r>
            <a:fld id="{2F2CF7F5-F178-4429-B6CA-28062DF31937}" type="slidenum">
              <a:rPr lang="en-US" altLang="zh-CN" sz="1200" smtClean="0">
                <a:latin typeface="Huawei Sans" panose="020C0503030203020204" pitchFamily="34" charset="0"/>
                <a:ea typeface="方正兰亭黑简体" panose="02000000000000000000" pitchFamily="2" charset="-122"/>
                <a:cs typeface="Huawei Sans" panose="020C0503030203020204" pitchFamily="34" charset="0"/>
              </a:rPr>
              <a:pPr defTabSz="801668" eaLnBrk="0" fontAlgn="base" hangingPunct="0">
                <a:defRPr/>
              </a:pPr>
              <a:t>‹#›</a:t>
            </a:fld>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6" name="Rectangle 54"/>
          <p:cNvSpPr>
            <a:spLocks noChangeArrowheads="1"/>
          </p:cNvSpPr>
          <p:nvPr userDrawn="1"/>
        </p:nvSpPr>
        <p:spPr bwMode="auto">
          <a:xfrm>
            <a:off x="947428" y="6500581"/>
            <a:ext cx="494833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Copyright © 2020 Huawei Technologies Co., Ltd. All rights reserved. </a:t>
            </a:r>
          </a:p>
        </p:txBody>
      </p:sp>
    </p:spTree>
    <p:extLst>
      <p:ext uri="{BB962C8B-B14F-4D97-AF65-F5344CB8AC3E}">
        <p14:creationId xmlns:p14="http://schemas.microsoft.com/office/powerpoint/2010/main" val="2869751710"/>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Lst>
  <p:txStyles>
    <p:titleStyle>
      <a:lvl1pPr algn="l" defTabSz="914034" rtl="0" eaLnBrk="1" fontAlgn="ctr" latinLnBrk="0" hangingPunct="1">
        <a:lnSpc>
          <a:spcPct val="90000"/>
        </a:lnSpc>
        <a:spcBef>
          <a:spcPct val="0"/>
        </a:spcBef>
        <a:buNone/>
        <a:defRPr sz="3499" kern="1200">
          <a:solidFill>
            <a:schemeClr val="tx1"/>
          </a:solidFill>
          <a:latin typeface="Huawei Sans" panose="020C0503030203020204" pitchFamily="34" charset="0"/>
          <a:ea typeface="方正兰亭黑简体" panose="02000000000000000000" pitchFamily="2" charset="-122"/>
          <a:cs typeface="+mj-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7" name="Title Placeholder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8" name="Rectangle 57"/>
          <p:cNvSpPr>
            <a:spLocks noGrp="1" noChangeArrowheads="1"/>
          </p:cNvSpPr>
          <p:nvPr>
            <p:ph type="body" idx="1"/>
          </p:nvPr>
        </p:nvSpPr>
        <p:spPr bwMode="auto">
          <a:xfrm>
            <a:off x="448290" y="1248073"/>
            <a:ext cx="11307600"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r>
              <a:rPr lang="en-US" altLang="zh-CN" dirty="0"/>
              <a:t>0</a:t>
            </a:r>
            <a:endParaRPr lang="zh-CN" altLang="en-US" dirty="0"/>
          </a:p>
        </p:txBody>
      </p:sp>
      <p:pic>
        <p:nvPicPr>
          <p:cNvPr id="24" name="图片 23"/>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25" name="Rectangle 69"/>
          <p:cNvSpPr>
            <a:spLocks noChangeArrowheads="1"/>
          </p:cNvSpPr>
          <p:nvPr userDrawn="1"/>
        </p:nvSpPr>
        <p:spPr bwMode="auto">
          <a:xfrm>
            <a:off x="119336" y="6500581"/>
            <a:ext cx="742054"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Page</a:t>
            </a:r>
            <a:r>
              <a:rPr lang="en-US" altLang="zh-CN" sz="1200" baseline="0" dirty="0">
                <a:latin typeface="Huawei Sans" panose="020C0503030203020204" pitchFamily="34" charset="0"/>
                <a:ea typeface="方正兰亭黑简体" panose="02000000000000000000" pitchFamily="2" charset="-122"/>
                <a:cs typeface="Huawei Sans" panose="020C0503030203020204" pitchFamily="34" charset="0"/>
              </a:rPr>
              <a:t> </a:t>
            </a:r>
            <a:fld id="{2F2CF7F5-F178-4429-B6CA-28062DF31937}" type="slidenum">
              <a:rPr lang="en-US" altLang="zh-CN" sz="1200" smtClean="0">
                <a:latin typeface="Huawei Sans" panose="020C0503030203020204" pitchFamily="34" charset="0"/>
                <a:ea typeface="方正兰亭黑简体" panose="02000000000000000000" pitchFamily="2" charset="-122"/>
                <a:cs typeface="Huawei Sans" panose="020C0503030203020204" pitchFamily="34" charset="0"/>
              </a:rPr>
              <a:pPr defTabSz="801668" eaLnBrk="0" fontAlgn="base" hangingPunct="0">
                <a:defRPr/>
              </a:pPr>
              <a:t>‹#›</a:t>
            </a:fld>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6" name="Rectangle 54"/>
          <p:cNvSpPr>
            <a:spLocks noChangeArrowheads="1"/>
          </p:cNvSpPr>
          <p:nvPr userDrawn="1"/>
        </p:nvSpPr>
        <p:spPr bwMode="auto">
          <a:xfrm>
            <a:off x="947428" y="6500581"/>
            <a:ext cx="494833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Copyright © 2020 Huawei Technologies Co., Ltd. All rights reserved. </a:t>
            </a:r>
          </a:p>
        </p:txBody>
      </p:sp>
      <p:grpSp>
        <p:nvGrpSpPr>
          <p:cNvPr id="3" name="组合 2"/>
          <p:cNvGrpSpPr/>
          <p:nvPr userDrawn="1"/>
        </p:nvGrpSpPr>
        <p:grpSpPr>
          <a:xfrm>
            <a:off x="12162526" y="3916624"/>
            <a:ext cx="1088654" cy="2144829"/>
            <a:chOff x="12162526" y="3916624"/>
            <a:chExt cx="1088654" cy="2144829"/>
          </a:xfrm>
        </p:grpSpPr>
        <p:sp>
          <p:nvSpPr>
            <p:cNvPr id="55" name="矩形 54">
              <a:extLst>
                <a:ext uri="{FF2B5EF4-FFF2-40B4-BE49-F238E27FC236}">
                  <a16:creationId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56" name="矩形 55">
              <a:extLst>
                <a:ext uri="{FF2B5EF4-FFF2-40B4-BE49-F238E27FC236}">
                  <a16:creationId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57" name="矩形 56">
              <a:extLst>
                <a:ext uri="{FF2B5EF4-FFF2-40B4-BE49-F238E27FC236}">
                  <a16:creationId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58" name="矩形 57">
              <a:extLst>
                <a:ext uri="{FF2B5EF4-FFF2-40B4-BE49-F238E27FC236}">
                  <a16:creationId xmlns:a16="http://schemas.microsoft.com/office/drawing/2014/main" id="{947DE7E3-EC9F-4331-B252-7BCE51B7F0DA}"/>
                </a:ext>
              </a:extLst>
            </p:cNvPr>
            <p:cNvSpPr/>
            <p:nvPr userDrawn="1"/>
          </p:nvSpPr>
          <p:spPr>
            <a:xfrm>
              <a:off x="12246898" y="4781656"/>
              <a:ext cx="919908" cy="288000"/>
            </a:xfrm>
            <a:prstGeom prst="rect">
              <a:avLst/>
            </a:prstGeom>
            <a:solidFill>
              <a:srgbClr val="EC7061">
                <a:lumMod val="100000"/>
              </a:srgbClr>
            </a:solidFill>
          </p:spPr>
          <p:txBody>
            <a:bodyPr wrap="none" rtlCol="0" anchor="ctr">
              <a:noAutofit/>
            </a:bodyPr>
            <a:lstStyle/>
            <a:p>
              <a:pPr marL="342763" marR="0" lvl="0" indent="-342763" algn="ctr" defTabSz="914400" eaLnBrk="1" fontAlgn="auto" latinLnBrk="0" hangingPunct="1">
                <a:lnSpc>
                  <a:spcPct val="100000"/>
                </a:lnSpc>
                <a:spcBef>
                  <a:spcPts val="0"/>
                </a:spcBef>
                <a:spcAft>
                  <a:spcPts val="0"/>
                </a:spcAft>
                <a:buClrTx/>
                <a:buSzTx/>
                <a:buFont typeface="+mj-lt"/>
                <a:buAutoNum type="arabicPeriod"/>
                <a:tabLst/>
                <a:defRPr/>
              </a:pPr>
              <a:endParaRPr kumimoji="0" lang="zh-CN" altLang="en-US" sz="900" b="0" i="0" u="none" strike="noStrike" kern="0" cap="none" spc="0" normalizeH="0" baseline="0" noProof="0">
                <a:ln>
                  <a:noFill/>
                </a:ln>
                <a:solidFill>
                  <a:prstClr val="black"/>
                </a:solidFill>
                <a:effectLst/>
                <a:uLnTx/>
                <a:uFillTx/>
                <a:cs typeface="Courier New" panose="02070309020205020404" pitchFamily="49" charset="0"/>
              </a:endParaRPr>
            </a:p>
          </p:txBody>
        </p:sp>
        <p:sp>
          <p:nvSpPr>
            <p:cNvPr id="59" name="矩形 58">
              <a:extLst>
                <a:ext uri="{FF2B5EF4-FFF2-40B4-BE49-F238E27FC236}">
                  <a16:creationId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60" name="文本框 59">
              <a:extLst>
                <a:ext uri="{FF2B5EF4-FFF2-40B4-BE49-F238E27FC236}">
                  <a16:creationId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rPr>
                <a:t>表格表头</a:t>
              </a:r>
            </a:p>
          </p:txBody>
        </p:sp>
        <p:sp>
          <p:nvSpPr>
            <p:cNvPr id="61" name="文本框 60">
              <a:extLst>
                <a:ext uri="{FF2B5EF4-FFF2-40B4-BE49-F238E27FC236}">
                  <a16:creationId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表格</a:t>
              </a:r>
              <a:r>
                <a:rPr kumimoji="0" lang="en-US" altLang="zh-CN" sz="900" b="0" i="0" u="none" strike="noStrike" kern="0" cap="none" spc="0" normalizeH="0" baseline="0" noProof="0" dirty="0">
                  <a:ln>
                    <a:noFill/>
                  </a:ln>
                  <a:solidFill>
                    <a:prstClr val="black"/>
                  </a:solidFill>
                  <a:effectLst/>
                  <a:uLnTx/>
                  <a:uFillTx/>
                </a:rPr>
                <a:t>/</a:t>
              </a:r>
              <a:r>
                <a:rPr kumimoji="0" lang="zh-CN" altLang="en-US" sz="900" b="0" i="0" u="none" strike="noStrike" kern="0" cap="none" spc="0" normalizeH="0" baseline="0" noProof="0" dirty="0">
                  <a:ln>
                    <a:noFill/>
                  </a:ln>
                  <a:solidFill>
                    <a:prstClr val="black"/>
                  </a:solidFill>
                  <a:effectLst/>
                  <a:uLnTx/>
                  <a:uFillTx/>
                </a:rPr>
                <a:t>文字边框</a:t>
              </a:r>
            </a:p>
          </p:txBody>
        </p:sp>
        <p:sp>
          <p:nvSpPr>
            <p:cNvPr id="62" name="文本框 61">
              <a:extLst>
                <a:ext uri="{FF2B5EF4-FFF2-40B4-BE49-F238E27FC236}">
                  <a16:creationId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导航灰底</a:t>
              </a:r>
            </a:p>
          </p:txBody>
        </p:sp>
        <p:sp>
          <p:nvSpPr>
            <p:cNvPr id="63" name="文本框 62">
              <a:extLst>
                <a:ext uri="{FF2B5EF4-FFF2-40B4-BE49-F238E27FC236}">
                  <a16:creationId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rPr>
                <a:t>红</a:t>
              </a:r>
            </a:p>
          </p:txBody>
        </p:sp>
        <p:sp>
          <p:nvSpPr>
            <p:cNvPr id="64" name="文本框 63">
              <a:extLst>
                <a:ext uri="{FF2B5EF4-FFF2-40B4-BE49-F238E27FC236}">
                  <a16:creationId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表格</a:t>
              </a:r>
              <a:r>
                <a:rPr kumimoji="0" lang="en-US" altLang="zh-CN" sz="900" b="0" i="0" u="none" strike="noStrike" kern="0" cap="none" spc="0" normalizeH="0" baseline="0" noProof="0" dirty="0">
                  <a:ln>
                    <a:noFill/>
                  </a:ln>
                  <a:solidFill>
                    <a:prstClr val="black"/>
                  </a:solidFill>
                  <a:effectLst/>
                  <a:uLnTx/>
                  <a:uFillTx/>
                </a:rPr>
                <a:t>/</a:t>
              </a:r>
              <a:r>
                <a:rPr kumimoji="0" lang="zh-CN" altLang="en-US" sz="900" b="0" i="0" u="none" strike="noStrike" kern="0" cap="none" spc="0" normalizeH="0" baseline="0" noProof="0" dirty="0">
                  <a:ln>
                    <a:noFill/>
                  </a:ln>
                  <a:solidFill>
                    <a:prstClr val="black"/>
                  </a:solidFill>
                  <a:effectLst/>
                  <a:uLnTx/>
                  <a:uFillTx/>
                </a:rPr>
                <a:t>文字底色</a:t>
              </a:r>
            </a:p>
          </p:txBody>
        </p:sp>
        <p:sp>
          <p:nvSpPr>
            <p:cNvPr id="65" name="矩形 64">
              <a:extLst>
                <a:ext uri="{FF2B5EF4-FFF2-40B4-BE49-F238E27FC236}">
                  <a16:creationId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66" name="矩形 65">
              <a:extLst>
                <a:ext uri="{FF2B5EF4-FFF2-40B4-BE49-F238E27FC236}">
                  <a16:creationId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a:buFont typeface="+mj-lt"/>
                <a:buAutoNum type="arabicPeriod"/>
              </a:pPr>
              <a:endParaRPr lang="zh-CN" altLang="en-US" sz="900">
                <a:solidFill>
                  <a:prstClr val="black"/>
                </a:solidFill>
                <a:cs typeface="Courier New" panose="02070309020205020404" pitchFamily="49" charset="0"/>
              </a:endParaRPr>
            </a:p>
          </p:txBody>
        </p:sp>
        <p:sp>
          <p:nvSpPr>
            <p:cNvPr id="67" name="文本框 66">
              <a:extLst>
                <a:ext uri="{FF2B5EF4-FFF2-40B4-BE49-F238E27FC236}">
                  <a16:creationId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rPr>
                <a:t>备用</a:t>
              </a:r>
            </a:p>
          </p:txBody>
        </p:sp>
        <p:sp>
          <p:nvSpPr>
            <p:cNvPr id="68" name="矩形 67">
              <a:extLst>
                <a:ext uri="{FF2B5EF4-FFF2-40B4-BE49-F238E27FC236}">
                  <a16:creationId xmlns:a16="http://schemas.microsoft.com/office/drawing/2014/main" id="{947DE7E3-EC9F-4331-B252-7BCE51B7F0DA}"/>
                </a:ext>
              </a:extLst>
            </p:cNvPr>
            <p:cNvSpPr/>
            <p:nvPr userDrawn="1"/>
          </p:nvSpPr>
          <p:spPr>
            <a:xfrm>
              <a:off x="12246898" y="5773453"/>
              <a:ext cx="919908" cy="288000"/>
            </a:xfrm>
            <a:prstGeom prst="rect">
              <a:avLst/>
            </a:prstGeom>
            <a:solidFill>
              <a:srgbClr val="8BC9A0"/>
            </a:solidFill>
          </p:spPr>
          <p:txBody>
            <a:bodyPr wrap="none" rtlCol="0" anchor="ctr">
              <a:noAutofit/>
            </a:bodyPr>
            <a:lstStyle/>
            <a:p>
              <a:pPr marL="342763" marR="0" lvl="0" indent="-342763" algn="ctr" defTabSz="914400" eaLnBrk="1" fontAlgn="auto" latinLnBrk="0" hangingPunct="1">
                <a:lnSpc>
                  <a:spcPct val="100000"/>
                </a:lnSpc>
                <a:spcBef>
                  <a:spcPts val="0"/>
                </a:spcBef>
                <a:spcAft>
                  <a:spcPts val="0"/>
                </a:spcAft>
                <a:buClrTx/>
                <a:buSzTx/>
                <a:buFont typeface="+mj-lt"/>
                <a:buAutoNum type="arabicPeriod"/>
                <a:tabLst/>
                <a:defRPr/>
              </a:pPr>
              <a:endParaRPr kumimoji="0" lang="zh-CN" altLang="en-US" sz="900" b="0" i="0" u="none" strike="noStrike" kern="0" cap="none" spc="0" normalizeH="0" baseline="0" noProof="0">
                <a:ln>
                  <a:noFill/>
                </a:ln>
                <a:solidFill>
                  <a:prstClr val="black"/>
                </a:solidFill>
                <a:effectLst/>
                <a:uLnTx/>
                <a:uFillTx/>
                <a:cs typeface="Courier New" panose="02070309020205020404" pitchFamily="49" charset="0"/>
              </a:endParaRPr>
            </a:p>
          </p:txBody>
        </p:sp>
        <p:sp>
          <p:nvSpPr>
            <p:cNvPr id="69" name="文本框 68">
              <a:extLst>
                <a:ext uri="{FF2B5EF4-FFF2-40B4-BE49-F238E27FC236}">
                  <a16:creationId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rPr>
                <a:t>绿</a:t>
              </a:r>
            </a:p>
          </p:txBody>
        </p:sp>
      </p:grpSp>
    </p:spTree>
    <p:extLst>
      <p:ext uri="{BB962C8B-B14F-4D97-AF65-F5344CB8AC3E}">
        <p14:creationId xmlns:p14="http://schemas.microsoft.com/office/powerpoint/2010/main" val="1500954526"/>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Lst>
  <p:txStyles>
    <p:titleStyle>
      <a:lvl1pPr algn="l" defTabSz="914034" rtl="0" eaLnBrk="1" fontAlgn="ctr" latinLnBrk="0" hangingPunct="1">
        <a:lnSpc>
          <a:spcPct val="90000"/>
        </a:lnSpc>
        <a:spcBef>
          <a:spcPct val="0"/>
        </a:spcBef>
        <a:buNone/>
        <a:defRPr sz="3499" kern="1200">
          <a:solidFill>
            <a:schemeClr val="tx1"/>
          </a:solidFill>
          <a:latin typeface="Huawei Sans" panose="020C0503030203020204" pitchFamily="34" charset="0"/>
          <a:ea typeface="方正兰亭黑简体" panose="02000000000000000000" pitchFamily="2" charset="-122"/>
          <a:cs typeface="+mj-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4020">
          <p15:clr>
            <a:srgbClr val="F26B43"/>
          </p15:clr>
        </p15:guide>
        <p15:guide id="5" orient="horz" pos="777">
          <p15:clr>
            <a:srgbClr val="F26B43"/>
          </p15:clr>
        </p15:guide>
        <p15:guide id="6" pos="3840">
          <p15:clr>
            <a:srgbClr val="F26B43"/>
          </p15:clr>
        </p15:guide>
        <p15:guide id="7" orient="horz" pos="45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2.xml"/><Relationship Id="rId1" Type="http://schemas.openxmlformats.org/officeDocument/2006/relationships/tags" Target="../tags/tag1.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6251639-1E8D-4BAD-83B2-9F4FDB2115BE}"/>
              </a:ext>
            </a:extLst>
          </p:cNvPr>
          <p:cNvSpPr>
            <a:spLocks noGrp="1"/>
          </p:cNvSpPr>
          <p:nvPr>
            <p:ph type="body" sz="quarter" idx="17"/>
          </p:nvPr>
        </p:nvSpPr>
        <p:spPr bwMode="gray"/>
        <p:txBody>
          <a:bodyPr/>
          <a:lstStyle/>
          <a:p>
            <a:endParaRPr lang="en-US"/>
          </a:p>
        </p:txBody>
      </p:sp>
      <p:sp>
        <p:nvSpPr>
          <p:cNvPr id="6" name="Text Placeholder 5">
            <a:extLst>
              <a:ext uri="{FF2B5EF4-FFF2-40B4-BE49-F238E27FC236}">
                <a16:creationId xmlns:a16="http://schemas.microsoft.com/office/drawing/2014/main" id="{803D9410-E3BB-4B15-A510-852D7ACDBB57}"/>
              </a:ext>
            </a:extLst>
          </p:cNvPr>
          <p:cNvSpPr>
            <a:spLocks noGrp="1"/>
          </p:cNvSpPr>
          <p:nvPr>
            <p:ph type="body" sz="quarter" idx="18"/>
          </p:nvPr>
        </p:nvSpPr>
        <p:spPr bwMode="gray"/>
        <p:txBody>
          <a:bodyPr/>
          <a:lstStyle/>
          <a:p>
            <a:endParaRPr lang="en-US"/>
          </a:p>
        </p:txBody>
      </p:sp>
      <p:sp>
        <p:nvSpPr>
          <p:cNvPr id="7" name="Text Placeholder 6">
            <a:extLst>
              <a:ext uri="{FF2B5EF4-FFF2-40B4-BE49-F238E27FC236}">
                <a16:creationId xmlns:a16="http://schemas.microsoft.com/office/drawing/2014/main" id="{5050FE49-2346-403B-A910-BF0443AD752E}"/>
              </a:ext>
            </a:extLst>
          </p:cNvPr>
          <p:cNvSpPr>
            <a:spLocks noGrp="1"/>
          </p:cNvSpPr>
          <p:nvPr>
            <p:ph type="body" sz="quarter" idx="19"/>
          </p:nvPr>
        </p:nvSpPr>
        <p:spPr bwMode="gray"/>
        <p:txBody>
          <a:bodyPr/>
          <a:lstStyle/>
          <a:p>
            <a:endParaRPr lang="en-US"/>
          </a:p>
        </p:txBody>
      </p:sp>
      <p:sp>
        <p:nvSpPr>
          <p:cNvPr id="8" name="Text Placeholder 7">
            <a:extLst>
              <a:ext uri="{FF2B5EF4-FFF2-40B4-BE49-F238E27FC236}">
                <a16:creationId xmlns:a16="http://schemas.microsoft.com/office/drawing/2014/main" id="{F63CFF53-1C8F-4D39-ABF2-6804B48C1773}"/>
              </a:ext>
            </a:extLst>
          </p:cNvPr>
          <p:cNvSpPr>
            <a:spLocks noGrp="1"/>
          </p:cNvSpPr>
          <p:nvPr>
            <p:ph type="body" sz="quarter" idx="20"/>
          </p:nvPr>
        </p:nvSpPr>
        <p:spPr bwMode="gray"/>
        <p:txBody>
          <a:bodyPr/>
          <a:lstStyle/>
          <a:p>
            <a:endParaRPr lang="en-US"/>
          </a:p>
        </p:txBody>
      </p:sp>
      <p:sp>
        <p:nvSpPr>
          <p:cNvPr id="2" name="Text Placeholder 1">
            <a:extLst>
              <a:ext uri="{FF2B5EF4-FFF2-40B4-BE49-F238E27FC236}">
                <a16:creationId xmlns:a16="http://schemas.microsoft.com/office/drawing/2014/main" id="{949D7BCE-2CA6-46FA-9161-58262A3AF286}"/>
              </a:ext>
            </a:extLst>
          </p:cNvPr>
          <p:cNvSpPr>
            <a:spLocks noGrp="1"/>
          </p:cNvSpPr>
          <p:nvPr>
            <p:ph type="body" sz="quarter" idx="13"/>
          </p:nvPr>
        </p:nvSpPr>
        <p:spPr bwMode="gray"/>
        <p:txBody>
          <a:bodyPr/>
          <a:lstStyle/>
          <a:p>
            <a:endParaRPr lang="en-US"/>
          </a:p>
        </p:txBody>
      </p:sp>
      <p:sp>
        <p:nvSpPr>
          <p:cNvPr id="3" name="Text Placeholder 2">
            <a:extLst>
              <a:ext uri="{FF2B5EF4-FFF2-40B4-BE49-F238E27FC236}">
                <a16:creationId xmlns:a16="http://schemas.microsoft.com/office/drawing/2014/main" id="{C56364C1-8A31-4AA8-B09C-9645496F0256}"/>
              </a:ext>
            </a:extLst>
          </p:cNvPr>
          <p:cNvSpPr>
            <a:spLocks noGrp="1"/>
          </p:cNvSpPr>
          <p:nvPr>
            <p:ph type="body" sz="quarter" idx="14"/>
          </p:nvPr>
        </p:nvSpPr>
        <p:spPr bwMode="gray"/>
        <p:txBody>
          <a:bodyPr/>
          <a:lstStyle/>
          <a:p>
            <a:endParaRPr lang="en-US"/>
          </a:p>
        </p:txBody>
      </p:sp>
      <p:sp>
        <p:nvSpPr>
          <p:cNvPr id="4" name="Text Placeholder 3">
            <a:extLst>
              <a:ext uri="{FF2B5EF4-FFF2-40B4-BE49-F238E27FC236}">
                <a16:creationId xmlns:a16="http://schemas.microsoft.com/office/drawing/2014/main" id="{FCFDB291-F7CB-4AC2-A441-AF5C243FE284}"/>
              </a:ext>
            </a:extLst>
          </p:cNvPr>
          <p:cNvSpPr>
            <a:spLocks noGrp="1"/>
          </p:cNvSpPr>
          <p:nvPr>
            <p:ph type="body" sz="quarter" idx="15"/>
          </p:nvPr>
        </p:nvSpPr>
        <p:spPr bwMode="gray"/>
        <p:txBody>
          <a:bodyPr/>
          <a:lstStyle/>
          <a:p>
            <a:endParaRPr lang="en-US"/>
          </a:p>
        </p:txBody>
      </p:sp>
      <p:sp>
        <p:nvSpPr>
          <p:cNvPr id="29" name="文本占位符 28"/>
          <p:cNvSpPr>
            <a:spLocks noGrp="1"/>
          </p:cNvSpPr>
          <p:nvPr>
            <p:ph type="body" sz="quarter" idx="16"/>
          </p:nvPr>
        </p:nvSpPr>
        <p:spPr bwMode="gray"/>
        <p:txBody>
          <a:bodyPr wrap="square">
            <a:noAutofit/>
          </a:bodyPr>
          <a:lstStyle/>
          <a:p>
            <a:r>
              <a:rPr kumimoji="1" lang="en-US" altLang="zh-CN" dirty="0">
                <a:latin typeface="Huawei Sans" panose="020C0503030203020204" pitchFamily="34" charset="0"/>
              </a:rPr>
              <a:t>New</a:t>
            </a:r>
            <a:endParaRPr lang="zh-CN" altLang="en-US" dirty="0">
              <a:latin typeface="Huawei Sans" panose="020C0503030203020204" pitchFamily="34" charset="0"/>
            </a:endParaRPr>
          </a:p>
        </p:txBody>
      </p:sp>
      <p:sp>
        <p:nvSpPr>
          <p:cNvPr id="9" name="Text Placeholder 8">
            <a:extLst>
              <a:ext uri="{FF2B5EF4-FFF2-40B4-BE49-F238E27FC236}">
                <a16:creationId xmlns:a16="http://schemas.microsoft.com/office/drawing/2014/main" id="{9D132768-FEB8-45CF-9E57-58D465E225CB}"/>
              </a:ext>
            </a:extLst>
          </p:cNvPr>
          <p:cNvSpPr>
            <a:spLocks noGrp="1"/>
          </p:cNvSpPr>
          <p:nvPr>
            <p:ph type="body" sz="quarter" idx="21"/>
          </p:nvPr>
        </p:nvSpPr>
        <p:spPr bwMode="gray"/>
        <p:txBody>
          <a:bodyPr/>
          <a:lstStyle/>
          <a:p>
            <a:endParaRPr lang="en-US"/>
          </a:p>
        </p:txBody>
      </p:sp>
      <p:sp>
        <p:nvSpPr>
          <p:cNvPr id="35" name="文本占位符 34"/>
          <p:cNvSpPr>
            <a:spLocks noGrp="1"/>
          </p:cNvSpPr>
          <p:nvPr>
            <p:ph type="body" sz="quarter" idx="22"/>
          </p:nvPr>
        </p:nvSpPr>
        <p:spPr bwMode="gray"/>
        <p:txBody>
          <a:bodyPr wrap="square">
            <a:noAutofit/>
          </a:bodyPr>
          <a:lstStyle/>
          <a:p>
            <a:pPr marL="0" lvl="0" indent="0" defTabSz="914400">
              <a:lnSpc>
                <a:spcPct val="140000"/>
              </a:lnSpc>
              <a:spcBef>
                <a:spcPct val="30000"/>
              </a:spcBef>
              <a:spcAft>
                <a:spcPct val="0"/>
              </a:spcAft>
              <a:buClr>
                <a:srgbClr val="808080"/>
              </a:buClr>
              <a:buSzPct val="60000"/>
            </a:pPr>
            <a:r>
              <a:rPr kumimoji="1" lang="en-US" altLang="zh-CN" dirty="0">
                <a:latin typeface="Huawei Sans" panose="020C0503030203020204" pitchFamily="34" charset="0"/>
              </a:rPr>
              <a:t>Update</a:t>
            </a:r>
            <a:endParaRPr kumimoji="1" lang="zh-CN" altLang="en-US" dirty="0">
              <a:latin typeface="Huawei Sans" panose="020C0503030203020204" pitchFamily="34" charset="0"/>
            </a:endParaRPr>
          </a:p>
        </p:txBody>
      </p:sp>
      <p:sp>
        <p:nvSpPr>
          <p:cNvPr id="10" name="Text Placeholder 9">
            <a:extLst>
              <a:ext uri="{FF2B5EF4-FFF2-40B4-BE49-F238E27FC236}">
                <a16:creationId xmlns:a16="http://schemas.microsoft.com/office/drawing/2014/main" id="{01BA8C1E-C22C-420B-A64E-F24A06B7AFDD}"/>
              </a:ext>
            </a:extLst>
          </p:cNvPr>
          <p:cNvSpPr>
            <a:spLocks noGrp="1"/>
          </p:cNvSpPr>
          <p:nvPr>
            <p:ph type="body" sz="quarter" idx="23"/>
          </p:nvPr>
        </p:nvSpPr>
        <p:spPr bwMode="gray"/>
        <p:txBody>
          <a:bodyPr/>
          <a:lstStyle/>
          <a:p>
            <a:endParaRPr lang="en-US"/>
          </a:p>
        </p:txBody>
      </p:sp>
      <p:sp>
        <p:nvSpPr>
          <p:cNvPr id="11" name="Text Placeholder 10">
            <a:extLst>
              <a:ext uri="{FF2B5EF4-FFF2-40B4-BE49-F238E27FC236}">
                <a16:creationId xmlns:a16="http://schemas.microsoft.com/office/drawing/2014/main" id="{9BFA199F-9EEA-4FEF-9EA8-EAAEC85232DC}"/>
              </a:ext>
            </a:extLst>
          </p:cNvPr>
          <p:cNvSpPr>
            <a:spLocks noGrp="1"/>
          </p:cNvSpPr>
          <p:nvPr>
            <p:ph type="body" sz="quarter" idx="24"/>
          </p:nvPr>
        </p:nvSpPr>
        <p:spPr bwMode="gray"/>
        <p:txBody>
          <a:bodyPr/>
          <a:lstStyle/>
          <a:p>
            <a:endParaRPr lang="en-US"/>
          </a:p>
        </p:txBody>
      </p:sp>
      <p:sp>
        <p:nvSpPr>
          <p:cNvPr id="12" name="Text Placeholder 11">
            <a:extLst>
              <a:ext uri="{FF2B5EF4-FFF2-40B4-BE49-F238E27FC236}">
                <a16:creationId xmlns:a16="http://schemas.microsoft.com/office/drawing/2014/main" id="{0DECA8AC-614A-4733-BCDB-55BFA9E5A336}"/>
              </a:ext>
            </a:extLst>
          </p:cNvPr>
          <p:cNvSpPr>
            <a:spLocks noGrp="1"/>
          </p:cNvSpPr>
          <p:nvPr>
            <p:ph type="body" sz="quarter" idx="25"/>
          </p:nvPr>
        </p:nvSpPr>
        <p:spPr bwMode="gray"/>
        <p:txBody>
          <a:bodyPr/>
          <a:lstStyle/>
          <a:p>
            <a:endParaRPr lang="en-US"/>
          </a:p>
        </p:txBody>
      </p:sp>
      <p:sp>
        <p:nvSpPr>
          <p:cNvPr id="39" name="文本占位符 38"/>
          <p:cNvSpPr>
            <a:spLocks noGrp="1"/>
          </p:cNvSpPr>
          <p:nvPr>
            <p:ph type="body" sz="quarter" idx="26"/>
          </p:nvPr>
        </p:nvSpPr>
        <p:spPr bwMode="gray"/>
        <p:txBody>
          <a:bodyPr wrap="square">
            <a:noAutofit/>
          </a:bodyPr>
          <a:lstStyle/>
          <a:p>
            <a:r>
              <a:rPr kumimoji="1" lang="en-US" altLang="zh-CN" dirty="0">
                <a:latin typeface="Huawei Sans" panose="020C0503030203020204" pitchFamily="34" charset="0"/>
              </a:rPr>
              <a:t>Update</a:t>
            </a:r>
            <a:endParaRPr kumimoji="1" lang="zh-CN" altLang="en-US" dirty="0">
              <a:latin typeface="Huawei Sans" panose="020C0503030203020204" pitchFamily="34" charset="0"/>
            </a:endParaRPr>
          </a:p>
        </p:txBody>
      </p:sp>
      <p:sp>
        <p:nvSpPr>
          <p:cNvPr id="13" name="Text Placeholder 12">
            <a:extLst>
              <a:ext uri="{FF2B5EF4-FFF2-40B4-BE49-F238E27FC236}">
                <a16:creationId xmlns:a16="http://schemas.microsoft.com/office/drawing/2014/main" id="{CCA94BB7-63A0-46F7-8FC2-1DD7B8F038D8}"/>
              </a:ext>
            </a:extLst>
          </p:cNvPr>
          <p:cNvSpPr>
            <a:spLocks noGrp="1"/>
          </p:cNvSpPr>
          <p:nvPr>
            <p:ph type="body" sz="quarter" idx="27"/>
          </p:nvPr>
        </p:nvSpPr>
        <p:spPr bwMode="gray"/>
        <p:txBody>
          <a:bodyPr/>
          <a:lstStyle/>
          <a:p>
            <a:endParaRPr lang="en-US"/>
          </a:p>
        </p:txBody>
      </p:sp>
      <p:sp>
        <p:nvSpPr>
          <p:cNvPr id="14" name="Text Placeholder 13">
            <a:extLst>
              <a:ext uri="{FF2B5EF4-FFF2-40B4-BE49-F238E27FC236}">
                <a16:creationId xmlns:a16="http://schemas.microsoft.com/office/drawing/2014/main" id="{439E9B3E-485E-4359-B4F3-D91ED4510E69}"/>
              </a:ext>
            </a:extLst>
          </p:cNvPr>
          <p:cNvSpPr>
            <a:spLocks noGrp="1"/>
          </p:cNvSpPr>
          <p:nvPr>
            <p:ph type="body" sz="quarter" idx="28"/>
          </p:nvPr>
        </p:nvSpPr>
        <p:spPr bwMode="gray"/>
        <p:txBody>
          <a:bodyPr/>
          <a:lstStyle/>
          <a:p>
            <a:endParaRPr lang="en-US"/>
          </a:p>
        </p:txBody>
      </p:sp>
      <p:sp>
        <p:nvSpPr>
          <p:cNvPr id="15" name="Text Placeholder 14">
            <a:extLst>
              <a:ext uri="{FF2B5EF4-FFF2-40B4-BE49-F238E27FC236}">
                <a16:creationId xmlns:a16="http://schemas.microsoft.com/office/drawing/2014/main" id="{5242FED3-39D7-48AD-A353-4CD20733B857}"/>
              </a:ext>
            </a:extLst>
          </p:cNvPr>
          <p:cNvSpPr>
            <a:spLocks noGrp="1"/>
          </p:cNvSpPr>
          <p:nvPr>
            <p:ph type="body" sz="quarter" idx="29"/>
          </p:nvPr>
        </p:nvSpPr>
        <p:spPr bwMode="gray"/>
        <p:txBody>
          <a:bodyPr/>
          <a:lstStyle/>
          <a:p>
            <a:endParaRPr lang="en-US"/>
          </a:p>
        </p:txBody>
      </p:sp>
      <p:sp>
        <p:nvSpPr>
          <p:cNvPr id="43" name="文本占位符 42"/>
          <p:cNvSpPr>
            <a:spLocks noGrp="1"/>
          </p:cNvSpPr>
          <p:nvPr>
            <p:ph type="body" sz="quarter" idx="30"/>
          </p:nvPr>
        </p:nvSpPr>
        <p:spPr bwMode="gray"/>
        <p:txBody>
          <a:bodyPr wrap="square">
            <a:noAutofit/>
          </a:bodyPr>
          <a:lstStyle/>
          <a:p>
            <a:pPr marL="0" lvl="0" indent="0" defTabSz="914400">
              <a:lnSpc>
                <a:spcPct val="140000"/>
              </a:lnSpc>
              <a:spcBef>
                <a:spcPct val="30000"/>
              </a:spcBef>
              <a:spcAft>
                <a:spcPct val="0"/>
              </a:spcAft>
              <a:buClr>
                <a:srgbClr val="808080"/>
              </a:buClr>
              <a:buSzPct val="60000"/>
            </a:pPr>
            <a:r>
              <a:rPr kumimoji="1" lang="en-US" altLang="zh-CN" dirty="0">
                <a:latin typeface="Huawei Sans" panose="020C0503030203020204" pitchFamily="34" charset="0"/>
              </a:rPr>
              <a:t>Update</a:t>
            </a:r>
            <a:endParaRPr kumimoji="1" lang="zh-CN" altLang="en-US" dirty="0">
              <a:latin typeface="Huawei Sans" panose="020C0503030203020204" pitchFamily="34" charset="0"/>
            </a:endParaRPr>
          </a:p>
        </p:txBody>
      </p:sp>
      <p:sp>
        <p:nvSpPr>
          <p:cNvPr id="16" name="Text Placeholder 15">
            <a:extLst>
              <a:ext uri="{FF2B5EF4-FFF2-40B4-BE49-F238E27FC236}">
                <a16:creationId xmlns:a16="http://schemas.microsoft.com/office/drawing/2014/main" id="{5F3113FF-51D9-43A4-85C4-2A57FB581E6B}"/>
              </a:ext>
            </a:extLst>
          </p:cNvPr>
          <p:cNvSpPr>
            <a:spLocks noGrp="1"/>
          </p:cNvSpPr>
          <p:nvPr>
            <p:ph type="body" sz="quarter" idx="31"/>
          </p:nvPr>
        </p:nvSpPr>
        <p:spPr bwMode="gray"/>
        <p:txBody>
          <a:bodyPr/>
          <a:lstStyle/>
          <a:p>
            <a:endParaRPr lang="en-US"/>
          </a:p>
        </p:txBody>
      </p:sp>
      <p:sp>
        <p:nvSpPr>
          <p:cNvPr id="17" name="Text Placeholder 16">
            <a:extLst>
              <a:ext uri="{FF2B5EF4-FFF2-40B4-BE49-F238E27FC236}">
                <a16:creationId xmlns:a16="http://schemas.microsoft.com/office/drawing/2014/main" id="{5D7EAD9F-8B76-4ACC-8141-EBD4017623E1}"/>
              </a:ext>
            </a:extLst>
          </p:cNvPr>
          <p:cNvSpPr>
            <a:spLocks noGrp="1"/>
          </p:cNvSpPr>
          <p:nvPr>
            <p:ph type="body" sz="quarter" idx="32"/>
          </p:nvPr>
        </p:nvSpPr>
        <p:spPr bwMode="gray"/>
        <p:txBody>
          <a:bodyPr/>
          <a:lstStyle/>
          <a:p>
            <a:endParaRPr lang="en-US"/>
          </a:p>
        </p:txBody>
      </p:sp>
      <p:sp>
        <p:nvSpPr>
          <p:cNvPr id="18" name="Text Placeholder 17">
            <a:extLst>
              <a:ext uri="{FF2B5EF4-FFF2-40B4-BE49-F238E27FC236}">
                <a16:creationId xmlns:a16="http://schemas.microsoft.com/office/drawing/2014/main" id="{68FC3D92-8CE7-4CB3-AFEA-DB7E7890746C}"/>
              </a:ext>
            </a:extLst>
          </p:cNvPr>
          <p:cNvSpPr>
            <a:spLocks noGrp="1"/>
          </p:cNvSpPr>
          <p:nvPr>
            <p:ph type="body" sz="quarter" idx="33"/>
          </p:nvPr>
        </p:nvSpPr>
        <p:spPr bwMode="gray"/>
        <p:txBody>
          <a:bodyPr/>
          <a:lstStyle/>
          <a:p>
            <a:endParaRPr lang="en-US"/>
          </a:p>
        </p:txBody>
      </p:sp>
      <p:sp>
        <p:nvSpPr>
          <p:cNvPr id="47" name="文本占位符 46"/>
          <p:cNvSpPr>
            <a:spLocks noGrp="1"/>
          </p:cNvSpPr>
          <p:nvPr>
            <p:ph type="body" sz="quarter" idx="34"/>
          </p:nvPr>
        </p:nvSpPr>
        <p:spPr bwMode="gray"/>
        <p:txBody>
          <a:bodyPr wrap="square">
            <a:noAutofit/>
          </a:bodyPr>
          <a:lstStyle/>
          <a:p>
            <a:pPr marL="0" lvl="0" indent="0" defTabSz="914400">
              <a:lnSpc>
                <a:spcPct val="140000"/>
              </a:lnSpc>
              <a:spcBef>
                <a:spcPct val="30000"/>
              </a:spcBef>
              <a:spcAft>
                <a:spcPct val="0"/>
              </a:spcAft>
              <a:buClr>
                <a:srgbClr val="808080"/>
              </a:buClr>
              <a:buSzPct val="60000"/>
            </a:pPr>
            <a:r>
              <a:rPr kumimoji="1" lang="en-US" altLang="zh-CN" dirty="0">
                <a:latin typeface="Huawei Sans" panose="020C0503030203020204" pitchFamily="34" charset="0"/>
              </a:rPr>
              <a:t>Update</a:t>
            </a:r>
            <a:endParaRPr kumimoji="1" lang="zh-CN" altLang="en-US" dirty="0">
              <a:latin typeface="Huawei Sans" panose="020C0503030203020204" pitchFamily="34" charset="0"/>
            </a:endParaRPr>
          </a:p>
        </p:txBody>
      </p:sp>
      <p:sp>
        <p:nvSpPr>
          <p:cNvPr id="19" name="Text Placeholder 18">
            <a:extLst>
              <a:ext uri="{FF2B5EF4-FFF2-40B4-BE49-F238E27FC236}">
                <a16:creationId xmlns:a16="http://schemas.microsoft.com/office/drawing/2014/main" id="{DBE9E10C-D8F4-44A6-BC43-9EE22E623934}"/>
              </a:ext>
            </a:extLst>
          </p:cNvPr>
          <p:cNvSpPr>
            <a:spLocks noGrp="1"/>
          </p:cNvSpPr>
          <p:nvPr>
            <p:ph type="body" sz="quarter" idx="35"/>
          </p:nvPr>
        </p:nvSpPr>
        <p:spPr bwMode="gray"/>
        <p:txBody>
          <a:bodyPr/>
          <a:lstStyle/>
          <a:p>
            <a:endParaRPr lang="en-US"/>
          </a:p>
        </p:txBody>
      </p:sp>
      <p:sp>
        <p:nvSpPr>
          <p:cNvPr id="20" name="Text Placeholder 19">
            <a:extLst>
              <a:ext uri="{FF2B5EF4-FFF2-40B4-BE49-F238E27FC236}">
                <a16:creationId xmlns:a16="http://schemas.microsoft.com/office/drawing/2014/main" id="{0B6C4B82-DB71-4BE8-865C-1A8C0F980669}"/>
              </a:ext>
            </a:extLst>
          </p:cNvPr>
          <p:cNvSpPr>
            <a:spLocks noGrp="1"/>
          </p:cNvSpPr>
          <p:nvPr>
            <p:ph type="body" sz="quarter" idx="36"/>
          </p:nvPr>
        </p:nvSpPr>
        <p:spPr bwMode="gray"/>
        <p:txBody>
          <a:bodyPr/>
          <a:lstStyle/>
          <a:p>
            <a:endParaRPr lang="en-US"/>
          </a:p>
        </p:txBody>
      </p:sp>
      <p:sp>
        <p:nvSpPr>
          <p:cNvPr id="21" name="Text Placeholder 20">
            <a:extLst>
              <a:ext uri="{FF2B5EF4-FFF2-40B4-BE49-F238E27FC236}">
                <a16:creationId xmlns:a16="http://schemas.microsoft.com/office/drawing/2014/main" id="{DA0B15BB-0924-4D3C-8E1A-FCB19A862D6E}"/>
              </a:ext>
            </a:extLst>
          </p:cNvPr>
          <p:cNvSpPr>
            <a:spLocks noGrp="1"/>
          </p:cNvSpPr>
          <p:nvPr>
            <p:ph type="body" sz="quarter" idx="37"/>
          </p:nvPr>
        </p:nvSpPr>
        <p:spPr bwMode="gray"/>
        <p:txBody>
          <a:bodyPr/>
          <a:lstStyle/>
          <a:p>
            <a:endParaRPr lang="en-US"/>
          </a:p>
        </p:txBody>
      </p:sp>
      <p:sp>
        <p:nvSpPr>
          <p:cNvPr id="51" name="文本占位符 50"/>
          <p:cNvSpPr>
            <a:spLocks noGrp="1"/>
          </p:cNvSpPr>
          <p:nvPr>
            <p:ph type="body" sz="quarter" idx="38"/>
          </p:nvPr>
        </p:nvSpPr>
        <p:spPr bwMode="gray"/>
        <p:txBody>
          <a:bodyPr wrap="square">
            <a:noAutofit/>
          </a:bodyPr>
          <a:lstStyle/>
          <a:p>
            <a:pPr marL="0" lvl="0" indent="0" defTabSz="914400">
              <a:lnSpc>
                <a:spcPct val="140000"/>
              </a:lnSpc>
              <a:spcBef>
                <a:spcPct val="30000"/>
              </a:spcBef>
              <a:spcAft>
                <a:spcPct val="0"/>
              </a:spcAft>
              <a:buClr>
                <a:srgbClr val="808080"/>
              </a:buClr>
              <a:buSzPct val="60000"/>
            </a:pPr>
            <a:r>
              <a:rPr kumimoji="1" lang="en-US" altLang="zh-CN" dirty="0">
                <a:latin typeface="Huawei Sans" panose="020C0503030203020204" pitchFamily="34" charset="0"/>
              </a:rPr>
              <a:t>Update</a:t>
            </a:r>
            <a:endParaRPr kumimoji="1" lang="zh-CN" altLang="en-US" dirty="0">
              <a:latin typeface="Huawei Sans" panose="020C0503030203020204" pitchFamily="34" charset="0"/>
            </a:endParaRPr>
          </a:p>
        </p:txBody>
      </p:sp>
      <p:sp>
        <p:nvSpPr>
          <p:cNvPr id="22" name="Text Placeholder 21">
            <a:extLst>
              <a:ext uri="{FF2B5EF4-FFF2-40B4-BE49-F238E27FC236}">
                <a16:creationId xmlns:a16="http://schemas.microsoft.com/office/drawing/2014/main" id="{DCECC381-AC4C-4839-951C-4E257B7CE62F}"/>
              </a:ext>
            </a:extLst>
          </p:cNvPr>
          <p:cNvSpPr>
            <a:spLocks noGrp="1"/>
          </p:cNvSpPr>
          <p:nvPr>
            <p:ph type="body" sz="quarter" idx="39"/>
          </p:nvPr>
        </p:nvSpPr>
        <p:spPr bwMode="gray"/>
        <p:txBody>
          <a:bodyPr/>
          <a:lstStyle/>
          <a:p>
            <a:endParaRPr lang="en-US"/>
          </a:p>
        </p:txBody>
      </p:sp>
      <p:sp>
        <p:nvSpPr>
          <p:cNvPr id="23" name="Text Placeholder 22">
            <a:extLst>
              <a:ext uri="{FF2B5EF4-FFF2-40B4-BE49-F238E27FC236}">
                <a16:creationId xmlns:a16="http://schemas.microsoft.com/office/drawing/2014/main" id="{7D377A48-2879-4833-A8F1-C6D0C6A733AD}"/>
              </a:ext>
            </a:extLst>
          </p:cNvPr>
          <p:cNvSpPr>
            <a:spLocks noGrp="1"/>
          </p:cNvSpPr>
          <p:nvPr>
            <p:ph type="body" sz="quarter" idx="40"/>
          </p:nvPr>
        </p:nvSpPr>
        <p:spPr bwMode="gray"/>
        <p:txBody>
          <a:bodyPr/>
          <a:lstStyle/>
          <a:p>
            <a:endParaRPr lang="en-US"/>
          </a:p>
        </p:txBody>
      </p:sp>
    </p:spTree>
    <p:extLst>
      <p:ext uri="{BB962C8B-B14F-4D97-AF65-F5344CB8AC3E}">
        <p14:creationId xmlns:p14="http://schemas.microsoft.com/office/powerpoint/2010/main" val="1300442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p:cNvSpPr>
            <a:spLocks noGrp="1"/>
          </p:cNvSpPr>
          <p:nvPr>
            <p:ph type="ctrTitle" sz="quarter"/>
          </p:nvPr>
        </p:nvSpPr>
        <p:spPr bwMode="gray"/>
        <p:txBody>
          <a:bodyPr wrap="square">
            <a:no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Introduction to </a:t>
            </a:r>
            <a:r>
              <a:rPr lang="en-US" dirty="0">
                <a:latin typeface="Huawei Sans" panose="020C0503030203020204" pitchFamily="34" charset="0"/>
                <a:ea typeface="方正兰亭黑简体" panose="02000000000000000000" pitchFamily="2" charset="-122"/>
                <a:sym typeface="Huawei Sans" panose="020C0503030203020204" pitchFamily="34" charset="0"/>
              </a:rPr>
              <a:t>VRF</a:t>
            </a:r>
          </a:p>
        </p:txBody>
      </p:sp>
      <p:sp>
        <p:nvSpPr>
          <p:cNvPr id="2" name="Text Placeholder 1">
            <a:extLst>
              <a:ext uri="{FF2B5EF4-FFF2-40B4-BE49-F238E27FC236}">
                <a16:creationId xmlns:a16="http://schemas.microsoft.com/office/drawing/2014/main" id="{0FF84AF5-3D4A-445E-9640-1E5CBD1F6DA3}"/>
              </a:ext>
            </a:extLst>
          </p:cNvPr>
          <p:cNvSpPr>
            <a:spLocks noGrp="1"/>
          </p:cNvSpPr>
          <p:nvPr>
            <p:ph type="body" sz="quarter" idx="10"/>
          </p:nvPr>
        </p:nvSpPr>
        <p:spPr bwMode="gray"/>
        <p:txBody>
          <a:bodyPr/>
          <a:lstStyle/>
          <a:p>
            <a:endParaRPr lang="en-US"/>
          </a:p>
        </p:txBody>
      </p:sp>
    </p:spTree>
    <p:extLst>
      <p:ext uri="{BB962C8B-B14F-4D97-AF65-F5344CB8AC3E}">
        <p14:creationId xmlns:p14="http://schemas.microsoft.com/office/powerpoint/2010/main" val="2967021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wrap="square">
            <a:noAutofit/>
          </a:bodyPr>
          <a:lstStyle/>
          <a:p>
            <a:pPr algn="l"/>
            <a:r>
              <a:rPr lang="en-US" dirty="0">
                <a:latin typeface="Huawei Sans" panose="020C0503030203020204" pitchFamily="34" charset="0"/>
              </a:rPr>
              <a:t>Looking back on the previous courses, would you recall certain protocols or technologies whose names contain the letter "V"? What are the characteristics or similarities of these protocols or technologies?</a:t>
            </a:r>
          </a:p>
          <a:p>
            <a:pPr algn="l"/>
            <a:r>
              <a:rPr lang="en-US" dirty="0">
                <a:latin typeface="Huawei Sans" panose="020C0503030203020204" pitchFamily="34" charset="0"/>
              </a:rPr>
              <a:t>Virtual routing and forwarding (VRF) technology creates multiple routing tables on a Layer 3 forwarding device to isolate data or services. This technology is often used in isolation-related scenarios, such as when Multiprotocol Label Switching (MPLS) VPN and firewalls are deployed.</a:t>
            </a:r>
          </a:p>
          <a:p>
            <a:pPr algn="l"/>
            <a:r>
              <a:rPr lang="en-US" dirty="0">
                <a:latin typeface="Huawei Sans" panose="020C0503030203020204" pitchFamily="34" charset="0"/>
              </a:rPr>
              <a:t>This course describes basic concepts and configurations of VRF</a:t>
            </a:r>
            <a:r>
              <a:rPr lang="en-US" altLang="zh-CN" dirty="0"/>
              <a:t> technology</a:t>
            </a:r>
            <a:r>
              <a:rPr lang="en-US" dirty="0">
                <a:latin typeface="Huawei Sans" panose="020C0503030203020204" pitchFamily="34" charset="0"/>
              </a:rPr>
              <a:t>.</a:t>
            </a:r>
          </a:p>
        </p:txBody>
      </p:sp>
    </p:spTree>
    <p:extLst>
      <p:ext uri="{BB962C8B-B14F-4D97-AF65-F5344CB8AC3E}">
        <p14:creationId xmlns:p14="http://schemas.microsoft.com/office/powerpoint/2010/main" val="284212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sz="quarter" idx="11"/>
          </p:nvPr>
        </p:nvSpPr>
        <p:spPr bwMode="gray"/>
        <p:txBody>
          <a:bodyPr wrap="square">
            <a:noAutofit/>
          </a:bodyPr>
          <a:lstStyle/>
          <a:p>
            <a:r>
              <a:rPr lang="en-US" dirty="0">
                <a:latin typeface="Huawei Sans" panose="020C0503030203020204" pitchFamily="34" charset="0"/>
              </a:rPr>
              <a:t>Upon completion of this course, you will be able to:</a:t>
            </a:r>
          </a:p>
          <a:p>
            <a:pPr marL="654050" lvl="1" indent="-322263"/>
            <a:r>
              <a:rPr lang="en-US" dirty="0">
                <a:latin typeface="Huawei Sans" panose="020C0503030203020204" pitchFamily="34" charset="0"/>
              </a:rPr>
              <a:t>Understand basic </a:t>
            </a:r>
            <a:r>
              <a:rPr lang="en-US" altLang="zh-CN" dirty="0">
                <a:latin typeface="Huawei Sans" panose="020C0503030203020204" pitchFamily="34" charset="0"/>
              </a:rPr>
              <a:t>VRF</a:t>
            </a:r>
            <a:r>
              <a:rPr lang="en-US" dirty="0">
                <a:latin typeface="Huawei Sans" panose="020C0503030203020204" pitchFamily="34" charset="0"/>
              </a:rPr>
              <a:t> concept</a:t>
            </a:r>
            <a:r>
              <a:rPr lang="en-US" altLang="zh-CN" dirty="0">
                <a:latin typeface="Huawei Sans" panose="020C0503030203020204" pitchFamily="34" charset="0"/>
              </a:rPr>
              <a:t>s</a:t>
            </a:r>
            <a:r>
              <a:rPr lang="en-US" dirty="0">
                <a:latin typeface="Huawei Sans" panose="020C0503030203020204" pitchFamily="34" charset="0"/>
              </a:rPr>
              <a:t>.</a:t>
            </a:r>
          </a:p>
          <a:p>
            <a:pPr marL="654050" lvl="1" indent="-322263"/>
            <a:r>
              <a:rPr lang="en-US" dirty="0">
                <a:latin typeface="Huawei Sans" panose="020C0503030203020204" pitchFamily="34" charset="0"/>
              </a:rPr>
              <a:t>Understand typical VRF applications.</a:t>
            </a:r>
          </a:p>
          <a:p>
            <a:pPr marL="654050" lvl="1" indent="-322263"/>
            <a:r>
              <a:rPr lang="en-US" dirty="0">
                <a:latin typeface="Huawei Sans" panose="020C0503030203020204" pitchFamily="34" charset="0"/>
              </a:rPr>
              <a:t>Implement basic VRF configurations.</a:t>
            </a:r>
          </a:p>
        </p:txBody>
      </p:sp>
    </p:spTree>
    <p:extLst>
      <p:ext uri="{BB962C8B-B14F-4D97-AF65-F5344CB8AC3E}">
        <p14:creationId xmlns:p14="http://schemas.microsoft.com/office/powerpoint/2010/main" val="3794898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wrap="square">
            <a:noAutofit/>
          </a:bodyPr>
          <a:lstStyle/>
          <a:p>
            <a:r>
              <a:rPr lang="en-US" b="1">
                <a:latin typeface="Huawei Sans" panose="020C0503030203020204" pitchFamily="34" charset="0"/>
              </a:rPr>
              <a:t>Basic Concepts of VRF</a:t>
            </a:r>
          </a:p>
          <a:p>
            <a:r>
              <a:rPr lang="en-US">
                <a:solidFill>
                  <a:schemeClr val="bg1">
                    <a:lumMod val="50000"/>
                  </a:schemeClr>
                </a:solidFill>
                <a:latin typeface="Huawei Sans" panose="020C0503030203020204" pitchFamily="34" charset="0"/>
              </a:rPr>
              <a:t>Typical VRF Configuration Examples</a:t>
            </a:r>
          </a:p>
        </p:txBody>
      </p:sp>
    </p:spTree>
    <p:extLst>
      <p:ext uri="{BB962C8B-B14F-4D97-AF65-F5344CB8AC3E}">
        <p14:creationId xmlns:p14="http://schemas.microsoft.com/office/powerpoint/2010/main" val="9139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矩形 144"/>
          <p:cNvSpPr/>
          <p:nvPr/>
        </p:nvSpPr>
        <p:spPr bwMode="gray">
          <a:xfrm>
            <a:off x="3317809" y="3694752"/>
            <a:ext cx="2375210" cy="2606984"/>
          </a:xfrm>
          <a:prstGeom prst="rect">
            <a:avLst/>
          </a:prstGeom>
          <a:solidFill>
            <a:srgbClr val="FFFFFF"/>
          </a:solidFill>
          <a:ln w="12700" cap="flat" cmpd="sng" algn="ctr">
            <a:solidFill>
              <a:srgbClr val="EC7061"/>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矩形 143"/>
          <p:cNvSpPr/>
          <p:nvPr/>
        </p:nvSpPr>
        <p:spPr bwMode="gray">
          <a:xfrm>
            <a:off x="843965" y="3694753"/>
            <a:ext cx="2375210" cy="2606984"/>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2" name="直接连接符 171"/>
          <p:cNvCxnSpPr/>
          <p:nvPr/>
        </p:nvCxnSpPr>
        <p:spPr bwMode="gray">
          <a:xfrm>
            <a:off x="2621336" y="5050634"/>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bwMode="gray">
          <a:xfrm>
            <a:off x="1434337" y="5041100"/>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bwMode="gray">
          <a:xfrm flipV="1">
            <a:off x="3204336" y="2233596"/>
            <a:ext cx="1442766" cy="11336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bwMode="gray">
          <a:xfrm flipH="1" flipV="1">
            <a:off x="1863880" y="2297151"/>
            <a:ext cx="1340456" cy="10606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bwMode="gray"/>
        <p:txBody>
          <a:bodyPr/>
          <a:lstStyle/>
          <a:p>
            <a:r>
              <a:rPr lang="en-US" dirty="0"/>
              <a:t>Network Requirements</a:t>
            </a:r>
          </a:p>
        </p:txBody>
      </p:sp>
      <p:cxnSp>
        <p:nvCxnSpPr>
          <p:cNvPr id="133" name="直接连接符 132"/>
          <p:cNvCxnSpPr/>
          <p:nvPr/>
        </p:nvCxnSpPr>
        <p:spPr bwMode="gray">
          <a:xfrm flipH="1">
            <a:off x="1445187" y="4215864"/>
            <a:ext cx="586384" cy="8165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gray">
          <a:xfrm>
            <a:off x="2031570" y="4215864"/>
            <a:ext cx="586383"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bwMode="gray">
          <a:xfrm>
            <a:off x="3204336" y="3357814"/>
            <a:ext cx="1172766" cy="8580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bwMode="gray">
          <a:xfrm flipH="1">
            <a:off x="2031570" y="3357814"/>
            <a:ext cx="1172766" cy="8580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21" name="图片 120" descr="通用交换机.png"/>
          <p:cNvPicPr>
            <a:picLocks noChangeAspect="1"/>
          </p:cNvPicPr>
          <p:nvPr/>
        </p:nvPicPr>
        <p:blipFill>
          <a:blip r:embed="rId3" cstate="print"/>
          <a:stretch>
            <a:fillRect/>
          </a:stretch>
        </p:blipFill>
        <p:spPr bwMode="gray">
          <a:xfrm>
            <a:off x="1164337" y="4820191"/>
            <a:ext cx="540000" cy="441818"/>
          </a:xfrm>
          <a:prstGeom prst="rect">
            <a:avLst/>
          </a:prstGeom>
        </p:spPr>
      </p:pic>
      <p:pic>
        <p:nvPicPr>
          <p:cNvPr id="124" name="图片 12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61570" y="3994464"/>
            <a:ext cx="540000" cy="442800"/>
          </a:xfrm>
          <a:prstGeom prst="rect">
            <a:avLst/>
          </a:prstGeom>
        </p:spPr>
      </p:pic>
      <p:pic>
        <p:nvPicPr>
          <p:cNvPr id="125" name="图片 12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997836" y="3136414"/>
            <a:ext cx="540000" cy="442800"/>
          </a:xfrm>
          <a:prstGeom prst="rect">
            <a:avLst/>
          </a:prstGeom>
        </p:spPr>
      </p:pic>
      <p:pic>
        <p:nvPicPr>
          <p:cNvPr id="126" name="图片 125" descr="通用交换机.png"/>
          <p:cNvPicPr>
            <a:picLocks noChangeAspect="1"/>
          </p:cNvPicPr>
          <p:nvPr/>
        </p:nvPicPr>
        <p:blipFill>
          <a:blip r:embed="rId3" cstate="print"/>
          <a:stretch>
            <a:fillRect/>
          </a:stretch>
        </p:blipFill>
        <p:spPr bwMode="gray">
          <a:xfrm>
            <a:off x="2353992" y="4820191"/>
            <a:ext cx="540000" cy="441818"/>
          </a:xfrm>
          <a:prstGeom prst="rect">
            <a:avLst/>
          </a:prstGeom>
        </p:spPr>
      </p:pic>
      <p:sp>
        <p:nvSpPr>
          <p:cNvPr id="143" name="Freeform 159"/>
          <p:cNvSpPr>
            <a:spLocks noChangeAspect="1"/>
          </p:cNvSpPr>
          <p:nvPr/>
        </p:nvSpPr>
        <p:spPr bwMode="gray">
          <a:xfrm flipH="1">
            <a:off x="843965" y="1626178"/>
            <a:ext cx="2066081"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159"/>
          <p:cNvSpPr>
            <a:spLocks noChangeAspect="1"/>
          </p:cNvSpPr>
          <p:nvPr/>
        </p:nvSpPr>
        <p:spPr bwMode="gray">
          <a:xfrm flipH="1">
            <a:off x="3560443" y="1626178"/>
            <a:ext cx="2186660"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9" name="图片 158"/>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779805" y="1818375"/>
            <a:ext cx="540000" cy="442800"/>
          </a:xfrm>
          <a:prstGeom prst="rect">
            <a:avLst/>
          </a:prstGeom>
        </p:spPr>
      </p:pic>
      <p:pic>
        <p:nvPicPr>
          <p:cNvPr id="160" name="图片 159"/>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715187" y="1592167"/>
            <a:ext cx="540000" cy="442800"/>
          </a:xfrm>
          <a:prstGeom prst="rect">
            <a:avLst/>
          </a:prstGeom>
        </p:spPr>
      </p:pic>
      <p:pic>
        <p:nvPicPr>
          <p:cNvPr id="161" name="图片 160"/>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461199" y="1897789"/>
            <a:ext cx="540000" cy="442800"/>
          </a:xfrm>
          <a:prstGeom prst="rect">
            <a:avLst/>
          </a:prstGeom>
        </p:spPr>
      </p:pic>
      <p:pic>
        <p:nvPicPr>
          <p:cNvPr id="162" name="图片 161"/>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5174302" y="1781164"/>
            <a:ext cx="540000" cy="442800"/>
          </a:xfrm>
          <a:prstGeom prst="rect">
            <a:avLst/>
          </a:prstGeom>
        </p:spPr>
      </p:pic>
      <p:pic>
        <p:nvPicPr>
          <p:cNvPr id="163" name="图片 162"/>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4230604" y="1464936"/>
            <a:ext cx="540000" cy="442800"/>
          </a:xfrm>
          <a:prstGeom prst="rect">
            <a:avLst/>
          </a:prstGeom>
        </p:spPr>
      </p:pic>
      <p:pic>
        <p:nvPicPr>
          <p:cNvPr id="164" name="图片 16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3423801" y="1898678"/>
            <a:ext cx="540000" cy="442800"/>
          </a:xfrm>
          <a:prstGeom prst="rect">
            <a:avLst/>
          </a:prstGeom>
        </p:spPr>
      </p:pic>
      <p:pic>
        <p:nvPicPr>
          <p:cNvPr id="167" name="图片 166" descr="PC.png"/>
          <p:cNvPicPr>
            <a:picLocks noChangeAspect="1"/>
          </p:cNvPicPr>
          <p:nvPr/>
        </p:nvPicPr>
        <p:blipFill>
          <a:blip r:embed="rId7" cstate="print"/>
          <a:stretch>
            <a:fillRect/>
          </a:stretch>
        </p:blipFill>
        <p:spPr bwMode="gray">
          <a:xfrm>
            <a:off x="1164806" y="5405320"/>
            <a:ext cx="539063" cy="414000"/>
          </a:xfrm>
          <a:prstGeom prst="rect">
            <a:avLst/>
          </a:prstGeom>
        </p:spPr>
      </p:pic>
      <p:pic>
        <p:nvPicPr>
          <p:cNvPr id="168" name="图片 167" descr="PC.png"/>
          <p:cNvPicPr>
            <a:picLocks noChangeAspect="1"/>
          </p:cNvPicPr>
          <p:nvPr/>
        </p:nvPicPr>
        <p:blipFill>
          <a:blip r:embed="rId7" cstate="print"/>
          <a:stretch>
            <a:fillRect/>
          </a:stretch>
        </p:blipFill>
        <p:spPr bwMode="gray">
          <a:xfrm>
            <a:off x="2354461" y="5414854"/>
            <a:ext cx="539063" cy="414000"/>
          </a:xfrm>
          <a:prstGeom prst="rect">
            <a:avLst/>
          </a:prstGeom>
        </p:spPr>
      </p:pic>
      <p:sp>
        <p:nvSpPr>
          <p:cNvPr id="177" name="文本占位符 3"/>
          <p:cNvSpPr txBox="1">
            <a:spLocks/>
          </p:cNvSpPr>
          <p:nvPr/>
        </p:nvSpPr>
        <p:spPr bwMode="gray">
          <a:xfrm>
            <a:off x="6100794" y="1242411"/>
            <a:ext cx="5514944" cy="4887702"/>
          </a:xfrm>
          <a:prstGeom prst="rect">
            <a:avLst/>
          </a:prstGeom>
        </p:spPr>
        <p:txBody>
          <a:bodyPr wrap="square">
            <a:noAutofit/>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ctr">
              <a:lnSpc>
                <a:spcPct val="130000"/>
              </a:lnSpc>
            </a:pPr>
            <a:r>
              <a:rPr lang="en-US" sz="1800" dirty="0">
                <a:latin typeface="Huawei Sans" panose="020C0503030203020204" pitchFamily="34" charset="0"/>
              </a:rPr>
              <a:t>An enterprise network has a production network and a management network. Each network exclusively uses an aggregation switch and access switches and shares a core switch with the other one.</a:t>
            </a:r>
          </a:p>
          <a:p>
            <a:pPr fontAlgn="ctr">
              <a:lnSpc>
                <a:spcPct val="130000"/>
              </a:lnSpc>
            </a:pPr>
            <a:r>
              <a:rPr lang="en-US" sz="1800" dirty="0">
                <a:latin typeface="Huawei Sans" panose="020C0503030203020204" pitchFamily="34" charset="0"/>
              </a:rPr>
              <a:t>The core switch connects to a server cluster on each of the production and management networks. The two network segments are 192.168.100.0/24.</a:t>
            </a:r>
          </a:p>
          <a:p>
            <a:pPr fontAlgn="ctr">
              <a:lnSpc>
                <a:spcPct val="130000"/>
              </a:lnSpc>
            </a:pPr>
            <a:r>
              <a:rPr lang="en-US" sz="1800" dirty="0">
                <a:latin typeface="Huawei Sans" panose="020C0503030203020204" pitchFamily="34" charset="0"/>
              </a:rPr>
              <a:t>Requirements: Implement data communication within the production and management networks and isolate the communication between the two networks.</a:t>
            </a:r>
          </a:p>
        </p:txBody>
      </p:sp>
      <p:sp>
        <p:nvSpPr>
          <p:cNvPr id="179" name="任意多边形 178"/>
          <p:cNvSpPr/>
          <p:nvPr/>
        </p:nvSpPr>
        <p:spPr bwMode="gray">
          <a:xfrm>
            <a:off x="1184625" y="2510587"/>
            <a:ext cx="1867969" cy="2955073"/>
          </a:xfrm>
          <a:custGeom>
            <a:avLst/>
            <a:gdLst>
              <a:gd name="connsiteX0" fmla="*/ 68783 w 1867969"/>
              <a:gd name="connsiteY0" fmla="*/ 2955073 h 2955073"/>
              <a:gd name="connsiteX1" fmla="*/ 57632 w 1867969"/>
              <a:gd name="connsiteY1" fmla="*/ 2419815 h 2955073"/>
              <a:gd name="connsiteX2" fmla="*/ 693251 w 1867969"/>
              <a:gd name="connsiteY2" fmla="*/ 1594624 h 2955073"/>
              <a:gd name="connsiteX3" fmla="*/ 1841827 w 1867969"/>
              <a:gd name="connsiteY3" fmla="*/ 747132 h 2955073"/>
              <a:gd name="connsiteX4" fmla="*/ 1384627 w 1867969"/>
              <a:gd name="connsiteY4" fmla="*/ 0 h 2955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7969" h="2955073">
                <a:moveTo>
                  <a:pt x="68783" y="2955073"/>
                </a:moveTo>
                <a:cubicBezTo>
                  <a:pt x="11168" y="2800814"/>
                  <a:pt x="-46446" y="2646556"/>
                  <a:pt x="57632" y="2419815"/>
                </a:cubicBezTo>
                <a:cubicBezTo>
                  <a:pt x="161710" y="2193074"/>
                  <a:pt x="395885" y="1873404"/>
                  <a:pt x="693251" y="1594624"/>
                </a:cubicBezTo>
                <a:cubicBezTo>
                  <a:pt x="990617" y="1315843"/>
                  <a:pt x="1726598" y="1012903"/>
                  <a:pt x="1841827" y="747132"/>
                </a:cubicBezTo>
                <a:cubicBezTo>
                  <a:pt x="1957056" y="481361"/>
                  <a:pt x="1670841" y="240680"/>
                  <a:pt x="1384627" y="0"/>
                </a:cubicBezTo>
              </a:path>
            </a:pathLst>
          </a:custGeom>
          <a:noFill/>
          <a:ln w="31750">
            <a:solidFill>
              <a:srgbClr val="8BC9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a:latin typeface="Huawei Sans" panose="020C0503030203020204" pitchFamily="34" charset="0"/>
            </a:endParaRPr>
          </a:p>
        </p:txBody>
      </p:sp>
      <p:grpSp>
        <p:nvGrpSpPr>
          <p:cNvPr id="180" name="组合 179"/>
          <p:cNvGrpSpPr/>
          <p:nvPr/>
        </p:nvGrpSpPr>
        <p:grpSpPr bwMode="gray">
          <a:xfrm>
            <a:off x="1841186" y="3647303"/>
            <a:ext cx="288001" cy="288001"/>
            <a:chOff x="10467178" y="5640414"/>
            <a:chExt cx="213540" cy="213540"/>
          </a:xfrm>
          <a:solidFill>
            <a:srgbClr val="8BC9A0"/>
          </a:solidFill>
        </p:grpSpPr>
        <p:sp>
          <p:nvSpPr>
            <p:cNvPr id="181" name="椭圆 180"/>
            <p:cNvSpPr>
              <a:spLocks noChangeAspect="1"/>
            </p:cNvSpPr>
            <p:nvPr/>
          </p:nvSpPr>
          <p:spPr bwMode="gray">
            <a:xfrm>
              <a:off x="10467178" y="5640414"/>
              <a:ext cx="213540" cy="21354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任意多边形 181"/>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5" name="任意多边形 184"/>
          <p:cNvSpPr/>
          <p:nvPr/>
        </p:nvSpPr>
        <p:spPr bwMode="gray">
          <a:xfrm>
            <a:off x="2792484" y="2461398"/>
            <a:ext cx="2598512" cy="2943922"/>
          </a:xfrm>
          <a:custGeom>
            <a:avLst/>
            <a:gdLst>
              <a:gd name="connsiteX0" fmla="*/ 2330605 w 2598512"/>
              <a:gd name="connsiteY0" fmla="*/ 2943922 h 2943922"/>
              <a:gd name="connsiteX1" fmla="*/ 2386361 w 2598512"/>
              <a:gd name="connsiteY1" fmla="*/ 2319453 h 2943922"/>
              <a:gd name="connsiteX2" fmla="*/ 0 w 2598512"/>
              <a:gd name="connsiteY2" fmla="*/ 0 h 2943922"/>
            </a:gdLst>
            <a:ahLst/>
            <a:cxnLst>
              <a:cxn ang="0">
                <a:pos x="connsiteX0" y="connsiteY0"/>
              </a:cxn>
              <a:cxn ang="0">
                <a:pos x="connsiteX1" y="connsiteY1"/>
              </a:cxn>
              <a:cxn ang="0">
                <a:pos x="connsiteX2" y="connsiteY2"/>
              </a:cxn>
            </a:cxnLst>
            <a:rect l="l" t="t" r="r" b="b"/>
            <a:pathLst>
              <a:path w="2598512" h="2943922">
                <a:moveTo>
                  <a:pt x="2330605" y="2943922"/>
                </a:moveTo>
                <a:cubicBezTo>
                  <a:pt x="2552700" y="2877014"/>
                  <a:pt x="2774795" y="2810107"/>
                  <a:pt x="2386361" y="2319453"/>
                </a:cubicBezTo>
                <a:cubicBezTo>
                  <a:pt x="1997927" y="1828799"/>
                  <a:pt x="998963" y="914399"/>
                  <a:pt x="0" y="0"/>
                </a:cubicBezTo>
              </a:path>
            </a:pathLst>
          </a:custGeom>
          <a:noFill/>
          <a:ln w="31750">
            <a:solidFill>
              <a:srgbClr val="EC7061"/>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a:latin typeface="Huawei Sans" panose="020C0503030203020204" pitchFamily="34" charset="0"/>
            </a:endParaRPr>
          </a:p>
        </p:txBody>
      </p:sp>
      <p:grpSp>
        <p:nvGrpSpPr>
          <p:cNvPr id="186" name="组合 185"/>
          <p:cNvGrpSpPr/>
          <p:nvPr/>
        </p:nvGrpSpPr>
        <p:grpSpPr bwMode="gray">
          <a:xfrm>
            <a:off x="3916719" y="3245791"/>
            <a:ext cx="288000" cy="288000"/>
            <a:chOff x="856677" y="2615810"/>
            <a:chExt cx="288000" cy="288000"/>
          </a:xfrm>
        </p:grpSpPr>
        <p:sp>
          <p:nvSpPr>
            <p:cNvPr id="187" name="椭圆 186"/>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font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8" name="组合 187"/>
            <p:cNvGrpSpPr/>
            <p:nvPr/>
          </p:nvGrpSpPr>
          <p:grpSpPr bwMode="gray">
            <a:xfrm>
              <a:off x="923444" y="2692169"/>
              <a:ext cx="144001" cy="144002"/>
              <a:chOff x="898853" y="2657982"/>
              <a:chExt cx="203649" cy="203652"/>
            </a:xfrm>
          </p:grpSpPr>
          <p:cxnSp>
            <p:nvCxnSpPr>
              <p:cNvPr id="189" name="直接连接符 188"/>
              <p:cNvCxnSpPr>
                <a:stCxn id="187" idx="3"/>
                <a:endCxn id="187"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190" name="直接连接符 189"/>
              <p:cNvCxnSpPr>
                <a:stCxn id="187" idx="1"/>
                <a:endCxn id="187"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cxnSp>
        <p:nvCxnSpPr>
          <p:cNvPr id="191" name="直接连接符 190"/>
          <p:cNvCxnSpPr/>
          <p:nvPr/>
        </p:nvCxnSpPr>
        <p:spPr bwMode="gray">
          <a:xfrm>
            <a:off x="3887165" y="5063334"/>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bwMode="gray">
          <a:xfrm>
            <a:off x="5074164" y="5072868"/>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bwMode="gray">
          <a:xfrm flipH="1">
            <a:off x="3892319" y="4228564"/>
            <a:ext cx="586384"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bwMode="gray">
          <a:xfrm>
            <a:off x="4478702" y="4228564"/>
            <a:ext cx="586383"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95" name="图片 194" descr="通用交换机.png"/>
          <p:cNvPicPr>
            <a:picLocks noChangeAspect="1"/>
          </p:cNvPicPr>
          <p:nvPr/>
        </p:nvPicPr>
        <p:blipFill>
          <a:blip r:embed="rId3" cstate="print"/>
          <a:stretch>
            <a:fillRect/>
          </a:stretch>
        </p:blipFill>
        <p:spPr bwMode="gray">
          <a:xfrm>
            <a:off x="3622319" y="4832891"/>
            <a:ext cx="540000" cy="441818"/>
          </a:xfrm>
          <a:prstGeom prst="rect">
            <a:avLst/>
          </a:prstGeom>
        </p:spPr>
      </p:pic>
      <p:pic>
        <p:nvPicPr>
          <p:cNvPr id="196" name="图片 19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208702" y="4007164"/>
            <a:ext cx="540000" cy="442800"/>
          </a:xfrm>
          <a:prstGeom prst="rect">
            <a:avLst/>
          </a:prstGeom>
        </p:spPr>
      </p:pic>
      <p:pic>
        <p:nvPicPr>
          <p:cNvPr id="197" name="图片 196" descr="通用交换机.png"/>
          <p:cNvPicPr>
            <a:picLocks noChangeAspect="1"/>
          </p:cNvPicPr>
          <p:nvPr/>
        </p:nvPicPr>
        <p:blipFill>
          <a:blip r:embed="rId3" cstate="print"/>
          <a:stretch>
            <a:fillRect/>
          </a:stretch>
        </p:blipFill>
        <p:spPr bwMode="gray">
          <a:xfrm>
            <a:off x="4795085" y="4832891"/>
            <a:ext cx="540000" cy="441818"/>
          </a:xfrm>
          <a:prstGeom prst="rect">
            <a:avLst/>
          </a:prstGeom>
        </p:spPr>
      </p:pic>
      <p:pic>
        <p:nvPicPr>
          <p:cNvPr id="199" name="图片 198" descr="PC.png"/>
          <p:cNvPicPr>
            <a:picLocks noChangeAspect="1"/>
          </p:cNvPicPr>
          <p:nvPr/>
        </p:nvPicPr>
        <p:blipFill>
          <a:blip r:embed="rId7" cstate="print"/>
          <a:stretch>
            <a:fillRect/>
          </a:stretch>
        </p:blipFill>
        <p:spPr bwMode="gray">
          <a:xfrm>
            <a:off x="3617634" y="5427554"/>
            <a:ext cx="539063" cy="414000"/>
          </a:xfrm>
          <a:prstGeom prst="rect">
            <a:avLst/>
          </a:prstGeom>
        </p:spPr>
      </p:pic>
      <p:pic>
        <p:nvPicPr>
          <p:cNvPr id="200" name="图片 199" descr="PC.png"/>
          <p:cNvPicPr>
            <a:picLocks noChangeAspect="1"/>
          </p:cNvPicPr>
          <p:nvPr/>
        </p:nvPicPr>
        <p:blipFill>
          <a:blip r:embed="rId7" cstate="print"/>
          <a:stretch>
            <a:fillRect/>
          </a:stretch>
        </p:blipFill>
        <p:spPr bwMode="gray">
          <a:xfrm>
            <a:off x="4807289" y="5437088"/>
            <a:ext cx="539063" cy="414000"/>
          </a:xfrm>
          <a:prstGeom prst="rect">
            <a:avLst/>
          </a:prstGeom>
        </p:spPr>
      </p:pic>
      <p:sp>
        <p:nvSpPr>
          <p:cNvPr id="51" name="文本框 50"/>
          <p:cNvSpPr txBox="1"/>
          <p:nvPr/>
        </p:nvSpPr>
        <p:spPr bwMode="gray">
          <a:xfrm>
            <a:off x="1072306" y="5818837"/>
            <a:ext cx="1918530" cy="307777"/>
          </a:xfrm>
          <a:prstGeom prst="rect">
            <a:avLst/>
          </a:prstGeom>
          <a:noFill/>
        </p:spPr>
        <p:txBody>
          <a:bodyPr wrap="square" rtlCol="0">
            <a:noAutofit/>
          </a:bodyPr>
          <a:lstStyle/>
          <a:p>
            <a:pPr algn="ctr" fontAlgn="ctr"/>
            <a:r>
              <a:rPr lang="en-US" sz="1200" dirty="0">
                <a:latin typeface="Huawei Sans" panose="020C0503030203020204" pitchFamily="34" charset="0"/>
              </a:rPr>
              <a:t>Clients on the production network</a:t>
            </a:r>
          </a:p>
        </p:txBody>
      </p:sp>
      <p:sp>
        <p:nvSpPr>
          <p:cNvPr id="52" name="文本框 51"/>
          <p:cNvSpPr txBox="1"/>
          <p:nvPr/>
        </p:nvSpPr>
        <p:spPr bwMode="gray">
          <a:xfrm>
            <a:off x="637392" y="2270434"/>
            <a:ext cx="2415488"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 servers</a:t>
            </a:r>
          </a:p>
          <a:p>
            <a:pPr algn="ctr" fontAlgn="ctr"/>
            <a:r>
              <a:rPr lang="en-US" sz="1200" b="1" dirty="0">
                <a:latin typeface="Huawei Sans" panose="020C0503030203020204" pitchFamily="34" charset="0"/>
              </a:rPr>
              <a:t>192.168.100.0/24</a:t>
            </a:r>
          </a:p>
        </p:txBody>
      </p:sp>
      <p:sp>
        <p:nvSpPr>
          <p:cNvPr id="53" name="文本框 52"/>
          <p:cNvSpPr txBox="1"/>
          <p:nvPr/>
        </p:nvSpPr>
        <p:spPr bwMode="gray">
          <a:xfrm>
            <a:off x="3453024" y="2278254"/>
            <a:ext cx="2415488" cy="523220"/>
          </a:xfrm>
          <a:prstGeom prst="rect">
            <a:avLst/>
          </a:prstGeom>
          <a:noFill/>
        </p:spPr>
        <p:txBody>
          <a:bodyPr wrap="square" rtlCol="0">
            <a:noAutofit/>
          </a:bodyPr>
          <a:lstStyle/>
          <a:p>
            <a:pPr algn="ctr" fontAlgn="ctr"/>
            <a:r>
              <a:rPr lang="en-US" sz="1200" dirty="0">
                <a:latin typeface="Huawei Sans" panose="020C0503030203020204" pitchFamily="34" charset="0"/>
              </a:rPr>
              <a:t>Management network servers</a:t>
            </a:r>
          </a:p>
          <a:p>
            <a:pPr algn="ctr" fontAlgn="ctr"/>
            <a:r>
              <a:rPr lang="en-US" sz="1200" b="1" dirty="0">
                <a:latin typeface="Huawei Sans" panose="020C0503030203020204" pitchFamily="34" charset="0"/>
              </a:rPr>
              <a:t>192.168.100.0/24</a:t>
            </a:r>
          </a:p>
        </p:txBody>
      </p:sp>
      <p:sp>
        <p:nvSpPr>
          <p:cNvPr id="54" name="文本框 53"/>
          <p:cNvSpPr txBox="1"/>
          <p:nvPr/>
        </p:nvSpPr>
        <p:spPr bwMode="gray">
          <a:xfrm>
            <a:off x="3402499" y="5822336"/>
            <a:ext cx="2110383" cy="307777"/>
          </a:xfrm>
          <a:prstGeom prst="rect">
            <a:avLst/>
          </a:prstGeom>
          <a:noFill/>
        </p:spPr>
        <p:txBody>
          <a:bodyPr wrap="square" rtlCol="0">
            <a:noAutofit/>
          </a:bodyPr>
          <a:lstStyle/>
          <a:p>
            <a:pPr algn="ctr" fontAlgn="ctr"/>
            <a:r>
              <a:rPr lang="en-US" sz="1200">
                <a:latin typeface="Huawei Sans" panose="020C0503030203020204" pitchFamily="34" charset="0"/>
              </a:rPr>
              <a:t>Clients on the management network</a:t>
            </a:r>
          </a:p>
        </p:txBody>
      </p:sp>
    </p:spTree>
    <p:extLst>
      <p:ext uri="{BB962C8B-B14F-4D97-AF65-F5344CB8AC3E}">
        <p14:creationId xmlns:p14="http://schemas.microsoft.com/office/powerpoint/2010/main" val="3318459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wrap="square">
            <a:noAutofit/>
          </a:bodyPr>
          <a:lstStyle/>
          <a:p>
            <a:r>
              <a:rPr lang="en-US" altLang="zh-CN" dirty="0">
                <a:latin typeface="Huawei Sans" panose="020C0503030203020204" pitchFamily="34" charset="0"/>
              </a:rPr>
              <a:t>Implementation by </a:t>
            </a:r>
            <a:r>
              <a:rPr lang="en-US" dirty="0">
                <a:latin typeface="Huawei Sans" panose="020C0503030203020204" pitchFamily="34" charset="0"/>
              </a:rPr>
              <a:t>Deploying ACLs</a:t>
            </a:r>
          </a:p>
        </p:txBody>
      </p:sp>
      <p:sp>
        <p:nvSpPr>
          <p:cNvPr id="40" name="矩形 39"/>
          <p:cNvSpPr/>
          <p:nvPr/>
        </p:nvSpPr>
        <p:spPr bwMode="gray">
          <a:xfrm>
            <a:off x="3317809" y="3694752"/>
            <a:ext cx="2375210" cy="2610797"/>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843965" y="3694753"/>
            <a:ext cx="2375210" cy="2610797"/>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p:nvPr/>
        </p:nvCxnSpPr>
        <p:spPr bwMode="gray">
          <a:xfrm>
            <a:off x="2621336" y="5050634"/>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gray">
          <a:xfrm>
            <a:off x="1434337" y="5041100"/>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flipV="1">
            <a:off x="3204336" y="2233596"/>
            <a:ext cx="1442766" cy="11336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gray">
          <a:xfrm flipH="1" flipV="1">
            <a:off x="1863880" y="2297151"/>
            <a:ext cx="1340456" cy="10606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gray">
          <a:xfrm flipH="1">
            <a:off x="1445187" y="4215864"/>
            <a:ext cx="586384" cy="8165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gray">
          <a:xfrm>
            <a:off x="2031570" y="4215864"/>
            <a:ext cx="586383"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a:off x="3204336" y="3357814"/>
            <a:ext cx="1274367" cy="8580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flipH="1">
            <a:off x="2031570" y="3357814"/>
            <a:ext cx="1172766" cy="8580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4" name="图片 53" descr="通用交换机.png"/>
          <p:cNvPicPr>
            <a:picLocks noChangeAspect="1"/>
          </p:cNvPicPr>
          <p:nvPr/>
        </p:nvPicPr>
        <p:blipFill>
          <a:blip r:embed="rId3" cstate="print"/>
          <a:stretch>
            <a:fillRect/>
          </a:stretch>
        </p:blipFill>
        <p:spPr bwMode="gray">
          <a:xfrm>
            <a:off x="1164337" y="4820191"/>
            <a:ext cx="540000" cy="441818"/>
          </a:xfrm>
          <a:prstGeom prst="rect">
            <a:avLst/>
          </a:prstGeom>
        </p:spPr>
      </p:pic>
      <p:pic>
        <p:nvPicPr>
          <p:cNvPr id="55" name="图片 5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61570" y="3994464"/>
            <a:ext cx="540000" cy="442800"/>
          </a:xfrm>
          <a:prstGeom prst="rect">
            <a:avLst/>
          </a:prstGeom>
        </p:spPr>
      </p:pic>
      <p:pic>
        <p:nvPicPr>
          <p:cNvPr id="56" name="图片 5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985136" y="3136414"/>
            <a:ext cx="540000" cy="442800"/>
          </a:xfrm>
          <a:prstGeom prst="rect">
            <a:avLst/>
          </a:prstGeom>
        </p:spPr>
      </p:pic>
      <p:pic>
        <p:nvPicPr>
          <p:cNvPr id="57" name="图片 56" descr="通用交换机.png"/>
          <p:cNvPicPr>
            <a:picLocks noChangeAspect="1"/>
          </p:cNvPicPr>
          <p:nvPr/>
        </p:nvPicPr>
        <p:blipFill>
          <a:blip r:embed="rId3" cstate="print"/>
          <a:stretch>
            <a:fillRect/>
          </a:stretch>
        </p:blipFill>
        <p:spPr bwMode="gray">
          <a:xfrm>
            <a:off x="2353992" y="4820191"/>
            <a:ext cx="540000" cy="441818"/>
          </a:xfrm>
          <a:prstGeom prst="rect">
            <a:avLst/>
          </a:prstGeom>
        </p:spPr>
      </p:pic>
      <p:sp>
        <p:nvSpPr>
          <p:cNvPr id="61" name="Freeform 159"/>
          <p:cNvSpPr>
            <a:spLocks noChangeAspect="1"/>
          </p:cNvSpPr>
          <p:nvPr/>
        </p:nvSpPr>
        <p:spPr bwMode="gray">
          <a:xfrm flipH="1">
            <a:off x="843965" y="1626178"/>
            <a:ext cx="2066081"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1159512" y="5846545"/>
            <a:ext cx="1744118" cy="307777"/>
          </a:xfrm>
          <a:prstGeom prst="rect">
            <a:avLst/>
          </a:prstGeom>
          <a:noFill/>
        </p:spPr>
        <p:txBody>
          <a:bodyPr wrap="square" rtlCol="0">
            <a:noAutofit/>
          </a:bodyPr>
          <a:lstStyle/>
          <a:p>
            <a:pPr algn="ctr" fontAlgn="ctr"/>
            <a:r>
              <a:rPr lang="en-US" sz="1200" dirty="0">
                <a:latin typeface="Huawei Sans" panose="020C0503030203020204" pitchFamily="34" charset="0"/>
              </a:rPr>
              <a:t>Clients on the production network</a:t>
            </a:r>
          </a:p>
        </p:txBody>
      </p:sp>
      <p:sp>
        <p:nvSpPr>
          <p:cNvPr id="64" name="Freeform 159"/>
          <p:cNvSpPr>
            <a:spLocks noChangeAspect="1"/>
          </p:cNvSpPr>
          <p:nvPr/>
        </p:nvSpPr>
        <p:spPr bwMode="gray">
          <a:xfrm flipH="1">
            <a:off x="3598362" y="1626178"/>
            <a:ext cx="2164262"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665967" y="2260909"/>
            <a:ext cx="2415488"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 servers</a:t>
            </a:r>
          </a:p>
          <a:p>
            <a:pPr algn="ctr" fontAlgn="ctr"/>
            <a:r>
              <a:rPr lang="en-US" sz="1200" b="1" dirty="0">
                <a:latin typeface="Huawei Sans" panose="020C0503030203020204" pitchFamily="34" charset="0"/>
              </a:rPr>
              <a:t>192.168.100.0/24</a:t>
            </a:r>
          </a:p>
        </p:txBody>
      </p:sp>
      <p:pic>
        <p:nvPicPr>
          <p:cNvPr id="66" name="图片 65"/>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779805" y="1761225"/>
            <a:ext cx="540000" cy="442800"/>
          </a:xfrm>
          <a:prstGeom prst="rect">
            <a:avLst/>
          </a:prstGeom>
        </p:spPr>
      </p:pic>
      <p:pic>
        <p:nvPicPr>
          <p:cNvPr id="67" name="图片 66"/>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715187" y="1535017"/>
            <a:ext cx="540000" cy="442800"/>
          </a:xfrm>
          <a:prstGeom prst="rect">
            <a:avLst/>
          </a:prstGeom>
        </p:spPr>
      </p:pic>
      <p:pic>
        <p:nvPicPr>
          <p:cNvPr id="68" name="图片 6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461199" y="1878739"/>
            <a:ext cx="540000" cy="442800"/>
          </a:xfrm>
          <a:prstGeom prst="rect">
            <a:avLst/>
          </a:prstGeom>
        </p:spPr>
      </p:pic>
      <p:pic>
        <p:nvPicPr>
          <p:cNvPr id="69" name="图片 68"/>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5174302" y="1762114"/>
            <a:ext cx="540000" cy="442800"/>
          </a:xfrm>
          <a:prstGeom prst="rect">
            <a:avLst/>
          </a:prstGeom>
        </p:spPr>
      </p:pic>
      <p:pic>
        <p:nvPicPr>
          <p:cNvPr id="70" name="图片 69"/>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4230604" y="1407786"/>
            <a:ext cx="540000" cy="442800"/>
          </a:xfrm>
          <a:prstGeom prst="rect">
            <a:avLst/>
          </a:prstGeom>
        </p:spPr>
      </p:pic>
      <p:pic>
        <p:nvPicPr>
          <p:cNvPr id="71" name="图片 70"/>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3423801" y="1879628"/>
            <a:ext cx="540000" cy="442800"/>
          </a:xfrm>
          <a:prstGeom prst="rect">
            <a:avLst/>
          </a:prstGeom>
        </p:spPr>
      </p:pic>
      <p:sp>
        <p:nvSpPr>
          <p:cNvPr id="72" name="文本框 71"/>
          <p:cNvSpPr txBox="1"/>
          <p:nvPr/>
        </p:nvSpPr>
        <p:spPr bwMode="gray">
          <a:xfrm>
            <a:off x="3472074" y="2259204"/>
            <a:ext cx="2415488" cy="523220"/>
          </a:xfrm>
          <a:prstGeom prst="rect">
            <a:avLst/>
          </a:prstGeom>
          <a:noFill/>
        </p:spPr>
        <p:txBody>
          <a:bodyPr wrap="square" rtlCol="0">
            <a:noAutofit/>
          </a:bodyPr>
          <a:lstStyle/>
          <a:p>
            <a:pPr algn="ctr" fontAlgn="ctr"/>
            <a:r>
              <a:rPr lang="en-US" sz="1200" dirty="0">
                <a:latin typeface="Huawei Sans" panose="020C0503030203020204" pitchFamily="34" charset="0"/>
              </a:rPr>
              <a:t>Management network servers</a:t>
            </a:r>
          </a:p>
          <a:p>
            <a:pPr algn="ctr" fontAlgn="ctr"/>
            <a:r>
              <a:rPr lang="en-US" sz="1200" b="1" dirty="0">
                <a:latin typeface="Huawei Sans" panose="020C0503030203020204" pitchFamily="34" charset="0"/>
              </a:rPr>
              <a:t>192.168.100.0/24</a:t>
            </a:r>
          </a:p>
        </p:txBody>
      </p:sp>
      <p:pic>
        <p:nvPicPr>
          <p:cNvPr id="73" name="图片 72" descr="PC.png"/>
          <p:cNvPicPr>
            <a:picLocks noChangeAspect="1"/>
          </p:cNvPicPr>
          <p:nvPr/>
        </p:nvPicPr>
        <p:blipFill>
          <a:blip r:embed="rId7" cstate="print"/>
          <a:stretch>
            <a:fillRect/>
          </a:stretch>
        </p:blipFill>
        <p:spPr bwMode="gray">
          <a:xfrm>
            <a:off x="1164806" y="5405320"/>
            <a:ext cx="539063" cy="414000"/>
          </a:xfrm>
          <a:prstGeom prst="rect">
            <a:avLst/>
          </a:prstGeom>
        </p:spPr>
      </p:pic>
      <p:pic>
        <p:nvPicPr>
          <p:cNvPr id="74" name="图片 73" descr="PC.png"/>
          <p:cNvPicPr>
            <a:picLocks noChangeAspect="1"/>
          </p:cNvPicPr>
          <p:nvPr/>
        </p:nvPicPr>
        <p:blipFill>
          <a:blip r:embed="rId7" cstate="print"/>
          <a:stretch>
            <a:fillRect/>
          </a:stretch>
        </p:blipFill>
        <p:spPr bwMode="gray">
          <a:xfrm>
            <a:off x="2354461" y="5414854"/>
            <a:ext cx="539063" cy="414000"/>
          </a:xfrm>
          <a:prstGeom prst="rect">
            <a:avLst/>
          </a:prstGeom>
        </p:spPr>
      </p:pic>
      <p:sp>
        <p:nvSpPr>
          <p:cNvPr id="88" name="文本占位符 3"/>
          <p:cNvSpPr txBox="1">
            <a:spLocks/>
          </p:cNvSpPr>
          <p:nvPr/>
        </p:nvSpPr>
        <p:spPr bwMode="gray">
          <a:xfrm>
            <a:off x="6100794" y="1261175"/>
            <a:ext cx="5033931" cy="3047228"/>
          </a:xfrm>
          <a:prstGeom prst="rect">
            <a:avLst/>
          </a:prstGeom>
        </p:spPr>
        <p:txBody>
          <a:bodyPr wrap="square">
            <a:noAutofit/>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ctr"/>
            <a:r>
              <a:rPr lang="en-US" sz="1800" dirty="0">
                <a:latin typeface="Huawei Sans" panose="020C0503030203020204" pitchFamily="34" charset="0"/>
              </a:rPr>
              <a:t>Configure an ACL on the core switch to prevent mutual access between the production and management networks.</a:t>
            </a:r>
          </a:p>
          <a:p>
            <a:pPr fontAlgn="ctr"/>
            <a:r>
              <a:rPr lang="en-US" sz="1800" dirty="0">
                <a:latin typeface="Huawei Sans" panose="020C0503030203020204" pitchFamily="34" charset="0"/>
              </a:rPr>
              <a:t>Disadvantages:</a:t>
            </a:r>
          </a:p>
          <a:p>
            <a:pPr marL="654050" lvl="1" indent="-330200" fontAlgn="ctr"/>
            <a:r>
              <a:rPr lang="en-US" sz="1600" dirty="0">
                <a:latin typeface="Huawei Sans" panose="020C0503030203020204" pitchFamily="34" charset="0"/>
              </a:rPr>
              <a:t>The configuration is complex, and scalability is poor.</a:t>
            </a:r>
          </a:p>
          <a:p>
            <a:pPr marL="654050" lvl="1" indent="-330200" fontAlgn="ctr"/>
            <a:r>
              <a:rPr lang="en-US" sz="1600" dirty="0">
                <a:latin typeface="Huawei Sans" panose="020C0503030203020204" pitchFamily="34" charset="0"/>
              </a:rPr>
              <a:t>The problem that two networks use overlapping network segments cannot be resolved. Additional configurations must be performed to prevent the use of overlapping network segments.</a:t>
            </a:r>
          </a:p>
        </p:txBody>
      </p:sp>
      <p:cxnSp>
        <p:nvCxnSpPr>
          <p:cNvPr id="91" name="直接连接符 487"/>
          <p:cNvCxnSpPr/>
          <p:nvPr/>
        </p:nvCxnSpPr>
        <p:spPr bwMode="gray">
          <a:xfrm flipV="1">
            <a:off x="3270086" y="1735042"/>
            <a:ext cx="0" cy="4562486"/>
          </a:xfrm>
          <a:prstGeom prst="line">
            <a:avLst/>
          </a:prstGeom>
          <a:solidFill>
            <a:schemeClr val="accent1"/>
          </a:solidFill>
          <a:ln w="19050" cap="flat" cmpd="sng" algn="ctr">
            <a:solidFill>
              <a:srgbClr val="EC7061"/>
            </a:solidFill>
            <a:prstDash val="sysDash"/>
            <a:round/>
            <a:headEnd type="none" w="med" len="med"/>
            <a:tailEnd type="none" w="med" len="med"/>
          </a:ln>
          <a:effectLst/>
        </p:spPr>
      </p:cxnSp>
      <p:cxnSp>
        <p:nvCxnSpPr>
          <p:cNvPr id="92" name="直接连接符 91"/>
          <p:cNvCxnSpPr/>
          <p:nvPr/>
        </p:nvCxnSpPr>
        <p:spPr bwMode="gray">
          <a:xfrm>
            <a:off x="3887165" y="5063334"/>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a:off x="5074164" y="5072868"/>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bwMode="gray">
          <a:xfrm flipH="1">
            <a:off x="3892319" y="4228564"/>
            <a:ext cx="586384"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bwMode="gray">
          <a:xfrm>
            <a:off x="4478702" y="4228564"/>
            <a:ext cx="586383"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6" name="图片 95" descr="通用交换机.png"/>
          <p:cNvPicPr>
            <a:picLocks noChangeAspect="1"/>
          </p:cNvPicPr>
          <p:nvPr/>
        </p:nvPicPr>
        <p:blipFill>
          <a:blip r:embed="rId3" cstate="print"/>
          <a:stretch>
            <a:fillRect/>
          </a:stretch>
        </p:blipFill>
        <p:spPr bwMode="gray">
          <a:xfrm>
            <a:off x="3622319" y="4832891"/>
            <a:ext cx="540000" cy="441818"/>
          </a:xfrm>
          <a:prstGeom prst="rect">
            <a:avLst/>
          </a:prstGeom>
        </p:spPr>
      </p:pic>
      <p:pic>
        <p:nvPicPr>
          <p:cNvPr id="97" name="图片 9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208702" y="4007164"/>
            <a:ext cx="540000" cy="442800"/>
          </a:xfrm>
          <a:prstGeom prst="rect">
            <a:avLst/>
          </a:prstGeom>
        </p:spPr>
      </p:pic>
      <p:pic>
        <p:nvPicPr>
          <p:cNvPr id="98" name="图片 97" descr="通用交换机.png"/>
          <p:cNvPicPr>
            <a:picLocks noChangeAspect="1"/>
          </p:cNvPicPr>
          <p:nvPr/>
        </p:nvPicPr>
        <p:blipFill>
          <a:blip r:embed="rId3" cstate="print"/>
          <a:stretch>
            <a:fillRect/>
          </a:stretch>
        </p:blipFill>
        <p:spPr bwMode="gray">
          <a:xfrm>
            <a:off x="4795085" y="4832891"/>
            <a:ext cx="540000" cy="441818"/>
          </a:xfrm>
          <a:prstGeom prst="rect">
            <a:avLst/>
          </a:prstGeom>
        </p:spPr>
      </p:pic>
      <p:pic>
        <p:nvPicPr>
          <p:cNvPr id="100" name="图片 99" descr="PC.png"/>
          <p:cNvPicPr>
            <a:picLocks noChangeAspect="1"/>
          </p:cNvPicPr>
          <p:nvPr/>
        </p:nvPicPr>
        <p:blipFill>
          <a:blip r:embed="rId7" cstate="print"/>
          <a:stretch>
            <a:fillRect/>
          </a:stretch>
        </p:blipFill>
        <p:spPr bwMode="gray">
          <a:xfrm>
            <a:off x="3617634" y="5427554"/>
            <a:ext cx="539063" cy="414000"/>
          </a:xfrm>
          <a:prstGeom prst="rect">
            <a:avLst/>
          </a:prstGeom>
        </p:spPr>
      </p:pic>
      <p:pic>
        <p:nvPicPr>
          <p:cNvPr id="101" name="图片 100" descr="PC.png"/>
          <p:cNvPicPr>
            <a:picLocks noChangeAspect="1"/>
          </p:cNvPicPr>
          <p:nvPr/>
        </p:nvPicPr>
        <p:blipFill>
          <a:blip r:embed="rId7" cstate="print"/>
          <a:stretch>
            <a:fillRect/>
          </a:stretch>
        </p:blipFill>
        <p:spPr bwMode="gray">
          <a:xfrm>
            <a:off x="4807289" y="5437088"/>
            <a:ext cx="539063" cy="414000"/>
          </a:xfrm>
          <a:prstGeom prst="rect">
            <a:avLst/>
          </a:prstGeom>
        </p:spPr>
      </p:pic>
      <p:sp>
        <p:nvSpPr>
          <p:cNvPr id="42" name="文本框 41"/>
          <p:cNvSpPr txBox="1"/>
          <p:nvPr/>
        </p:nvSpPr>
        <p:spPr bwMode="gray">
          <a:xfrm>
            <a:off x="3585631" y="5850044"/>
            <a:ext cx="1744118" cy="307777"/>
          </a:xfrm>
          <a:prstGeom prst="rect">
            <a:avLst/>
          </a:prstGeom>
          <a:noFill/>
        </p:spPr>
        <p:txBody>
          <a:bodyPr wrap="square" rtlCol="0">
            <a:noAutofit/>
          </a:bodyPr>
          <a:lstStyle/>
          <a:p>
            <a:pPr algn="ctr" fontAlgn="ctr"/>
            <a:r>
              <a:rPr lang="en-US" sz="1200">
                <a:latin typeface="Huawei Sans" panose="020C0503030203020204" pitchFamily="34" charset="0"/>
              </a:rPr>
              <a:t>Clients on the management network</a:t>
            </a:r>
          </a:p>
        </p:txBody>
      </p:sp>
    </p:spTree>
    <p:extLst>
      <p:ext uri="{BB962C8B-B14F-4D97-AF65-F5344CB8AC3E}">
        <p14:creationId xmlns:p14="http://schemas.microsoft.com/office/powerpoint/2010/main" val="1346811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bwMode="gray">
          <a:xfrm>
            <a:off x="3394009" y="3694752"/>
            <a:ext cx="2375210" cy="2620323"/>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连接符 77"/>
          <p:cNvCxnSpPr/>
          <p:nvPr/>
        </p:nvCxnSpPr>
        <p:spPr bwMode="gray">
          <a:xfrm flipV="1">
            <a:off x="4452873" y="2706178"/>
            <a:ext cx="0" cy="15096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矩形 42"/>
          <p:cNvSpPr/>
          <p:nvPr/>
        </p:nvSpPr>
        <p:spPr bwMode="gray">
          <a:xfrm>
            <a:off x="755065" y="3694753"/>
            <a:ext cx="2375210" cy="2620323"/>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连接符 3"/>
          <p:cNvCxnSpPr/>
          <p:nvPr/>
        </p:nvCxnSpPr>
        <p:spPr bwMode="gray">
          <a:xfrm flipV="1">
            <a:off x="2031570" y="2706178"/>
            <a:ext cx="0" cy="15096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wrap="square">
            <a:noAutofit/>
          </a:bodyPr>
          <a:lstStyle/>
          <a:p>
            <a:r>
              <a:rPr lang="en-US">
                <a:latin typeface="Huawei Sans" panose="020C0503030203020204" pitchFamily="34" charset="0"/>
              </a:rPr>
              <a:t>Adding a Core Switch</a:t>
            </a:r>
          </a:p>
        </p:txBody>
      </p:sp>
      <p:cxnSp>
        <p:nvCxnSpPr>
          <p:cNvPr id="44" name="直接连接符 43"/>
          <p:cNvCxnSpPr/>
          <p:nvPr/>
        </p:nvCxnSpPr>
        <p:spPr bwMode="gray">
          <a:xfrm>
            <a:off x="2621336" y="5050634"/>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gray">
          <a:xfrm>
            <a:off x="1434337" y="5041100"/>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gray">
          <a:xfrm flipH="1">
            <a:off x="1445187" y="4215864"/>
            <a:ext cx="586384" cy="8165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gray">
          <a:xfrm>
            <a:off x="2031570" y="4215864"/>
            <a:ext cx="586383"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4" name="图片 53" descr="通用交换机.png"/>
          <p:cNvPicPr>
            <a:picLocks noChangeAspect="1"/>
          </p:cNvPicPr>
          <p:nvPr/>
        </p:nvPicPr>
        <p:blipFill>
          <a:blip r:embed="rId3" cstate="print"/>
          <a:stretch>
            <a:fillRect/>
          </a:stretch>
        </p:blipFill>
        <p:spPr bwMode="gray">
          <a:xfrm>
            <a:off x="1164337" y="4820191"/>
            <a:ext cx="540000" cy="441818"/>
          </a:xfrm>
          <a:prstGeom prst="rect">
            <a:avLst/>
          </a:prstGeom>
        </p:spPr>
      </p:pic>
      <p:pic>
        <p:nvPicPr>
          <p:cNvPr id="55" name="图片 5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61570" y="3994464"/>
            <a:ext cx="540000" cy="442800"/>
          </a:xfrm>
          <a:prstGeom prst="rect">
            <a:avLst/>
          </a:prstGeom>
        </p:spPr>
      </p:pic>
      <p:pic>
        <p:nvPicPr>
          <p:cNvPr id="56" name="图片 5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761571" y="3145808"/>
            <a:ext cx="540000" cy="442800"/>
          </a:xfrm>
          <a:prstGeom prst="rect">
            <a:avLst/>
          </a:prstGeom>
        </p:spPr>
      </p:pic>
      <p:pic>
        <p:nvPicPr>
          <p:cNvPr id="57" name="图片 56" descr="通用交换机.png"/>
          <p:cNvPicPr>
            <a:picLocks noChangeAspect="1"/>
          </p:cNvPicPr>
          <p:nvPr/>
        </p:nvPicPr>
        <p:blipFill>
          <a:blip r:embed="rId3" cstate="print"/>
          <a:stretch>
            <a:fillRect/>
          </a:stretch>
        </p:blipFill>
        <p:spPr bwMode="gray">
          <a:xfrm>
            <a:off x="2353992" y="4820191"/>
            <a:ext cx="540000" cy="441818"/>
          </a:xfrm>
          <a:prstGeom prst="rect">
            <a:avLst/>
          </a:prstGeom>
        </p:spPr>
      </p:pic>
      <p:sp>
        <p:nvSpPr>
          <p:cNvPr id="61" name="Freeform 159"/>
          <p:cNvSpPr>
            <a:spLocks noChangeAspect="1"/>
          </p:cNvSpPr>
          <p:nvPr/>
        </p:nvSpPr>
        <p:spPr bwMode="gray">
          <a:xfrm flipH="1">
            <a:off x="843965" y="1626178"/>
            <a:ext cx="2066081"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159"/>
          <p:cNvSpPr>
            <a:spLocks noChangeAspect="1"/>
          </p:cNvSpPr>
          <p:nvPr/>
        </p:nvSpPr>
        <p:spPr bwMode="gray">
          <a:xfrm flipH="1">
            <a:off x="3560262" y="1645229"/>
            <a:ext cx="2232000" cy="10618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6" name="图片 65"/>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779805" y="1789800"/>
            <a:ext cx="540000" cy="442800"/>
          </a:xfrm>
          <a:prstGeom prst="rect">
            <a:avLst/>
          </a:prstGeom>
        </p:spPr>
      </p:pic>
      <p:pic>
        <p:nvPicPr>
          <p:cNvPr id="67" name="图片 66"/>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715187" y="1563592"/>
            <a:ext cx="540000" cy="442800"/>
          </a:xfrm>
          <a:prstGeom prst="rect">
            <a:avLst/>
          </a:prstGeom>
        </p:spPr>
      </p:pic>
      <p:pic>
        <p:nvPicPr>
          <p:cNvPr id="68" name="图片 6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461199" y="1907314"/>
            <a:ext cx="540000" cy="442800"/>
          </a:xfrm>
          <a:prstGeom prst="rect">
            <a:avLst/>
          </a:prstGeom>
        </p:spPr>
      </p:pic>
      <p:pic>
        <p:nvPicPr>
          <p:cNvPr id="69" name="图片 68"/>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5174302" y="1781164"/>
            <a:ext cx="540000" cy="442800"/>
          </a:xfrm>
          <a:prstGeom prst="rect">
            <a:avLst/>
          </a:prstGeom>
        </p:spPr>
      </p:pic>
      <p:pic>
        <p:nvPicPr>
          <p:cNvPr id="70" name="图片 69"/>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4230604" y="1426836"/>
            <a:ext cx="540000" cy="442800"/>
          </a:xfrm>
          <a:prstGeom prst="rect">
            <a:avLst/>
          </a:prstGeom>
        </p:spPr>
      </p:pic>
      <p:pic>
        <p:nvPicPr>
          <p:cNvPr id="71" name="图片 70"/>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3423801" y="1898678"/>
            <a:ext cx="540000" cy="442800"/>
          </a:xfrm>
          <a:prstGeom prst="rect">
            <a:avLst/>
          </a:prstGeom>
        </p:spPr>
      </p:pic>
      <p:pic>
        <p:nvPicPr>
          <p:cNvPr id="73" name="图片 72" descr="PC.png"/>
          <p:cNvPicPr>
            <a:picLocks noChangeAspect="1"/>
          </p:cNvPicPr>
          <p:nvPr/>
        </p:nvPicPr>
        <p:blipFill>
          <a:blip r:embed="rId7" cstate="print"/>
          <a:stretch>
            <a:fillRect/>
          </a:stretch>
        </p:blipFill>
        <p:spPr bwMode="gray">
          <a:xfrm>
            <a:off x="1164806" y="5405320"/>
            <a:ext cx="539063" cy="414000"/>
          </a:xfrm>
          <a:prstGeom prst="rect">
            <a:avLst/>
          </a:prstGeom>
        </p:spPr>
      </p:pic>
      <p:pic>
        <p:nvPicPr>
          <p:cNvPr id="74" name="图片 73" descr="PC.png"/>
          <p:cNvPicPr>
            <a:picLocks noChangeAspect="1"/>
          </p:cNvPicPr>
          <p:nvPr/>
        </p:nvPicPr>
        <p:blipFill>
          <a:blip r:embed="rId7" cstate="print"/>
          <a:stretch>
            <a:fillRect/>
          </a:stretch>
        </p:blipFill>
        <p:spPr bwMode="gray">
          <a:xfrm>
            <a:off x="2354461" y="5414854"/>
            <a:ext cx="539063" cy="414000"/>
          </a:xfrm>
          <a:prstGeom prst="rect">
            <a:avLst/>
          </a:prstGeom>
        </p:spPr>
      </p:pic>
      <p:sp>
        <p:nvSpPr>
          <p:cNvPr id="88" name="文本占位符 3"/>
          <p:cNvSpPr txBox="1">
            <a:spLocks/>
          </p:cNvSpPr>
          <p:nvPr/>
        </p:nvSpPr>
        <p:spPr bwMode="gray">
          <a:xfrm>
            <a:off x="6248683" y="2334552"/>
            <a:ext cx="5391201" cy="3047228"/>
          </a:xfrm>
          <a:prstGeom prst="rect">
            <a:avLst/>
          </a:prstGeom>
        </p:spPr>
        <p:txBody>
          <a:bodyPr wrap="square">
            <a:noAutofit/>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ctr"/>
            <a:r>
              <a:rPr lang="en-US" sz="1800" dirty="0">
                <a:latin typeface="Huawei Sans" panose="020C0503030203020204" pitchFamily="34" charset="0"/>
              </a:rPr>
              <a:t>Add a core switch so that an exclusive core switch serves each network to physically isolate the two networks.</a:t>
            </a:r>
          </a:p>
          <a:p>
            <a:pPr fontAlgn="ctr"/>
            <a:r>
              <a:rPr lang="en-US" sz="1800" dirty="0">
                <a:latin typeface="Huawei Sans" panose="020C0503030203020204" pitchFamily="34" charset="0"/>
              </a:rPr>
              <a:t>Disadvantage: Additional equipment expenditures are required.</a:t>
            </a:r>
          </a:p>
          <a:p>
            <a:pPr lvl="1" fontAlgn="ctr"/>
            <a:endParaRPr lang="en-US" altLang="zh-CN" sz="1800" dirty="0">
              <a:latin typeface="Huawei Sans" panose="020C0503030203020204" pitchFamily="34" charset="0"/>
            </a:endParaRPr>
          </a:p>
        </p:txBody>
      </p:sp>
      <p:pic>
        <p:nvPicPr>
          <p:cNvPr id="77" name="图片 7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196003" y="3132086"/>
            <a:ext cx="540000" cy="442800"/>
          </a:xfrm>
          <a:prstGeom prst="rect">
            <a:avLst/>
          </a:prstGeom>
        </p:spPr>
      </p:pic>
      <p:cxnSp>
        <p:nvCxnSpPr>
          <p:cNvPr id="79" name="直接连接符 487"/>
          <p:cNvCxnSpPr/>
          <p:nvPr/>
        </p:nvCxnSpPr>
        <p:spPr bwMode="gray">
          <a:xfrm flipV="1">
            <a:off x="3270086" y="1592167"/>
            <a:ext cx="0" cy="4716000"/>
          </a:xfrm>
          <a:prstGeom prst="line">
            <a:avLst/>
          </a:prstGeom>
          <a:solidFill>
            <a:schemeClr val="accent1"/>
          </a:solidFill>
          <a:ln w="19050" cap="flat" cmpd="sng" algn="ctr">
            <a:solidFill>
              <a:srgbClr val="EC7061"/>
            </a:solidFill>
            <a:prstDash val="solid"/>
            <a:round/>
            <a:headEnd type="none" w="med" len="med"/>
            <a:tailEnd type="none" w="med" len="med"/>
          </a:ln>
          <a:effectLst/>
        </p:spPr>
      </p:cxnSp>
      <p:cxnSp>
        <p:nvCxnSpPr>
          <p:cNvPr id="80" name="直接连接符 79"/>
          <p:cNvCxnSpPr/>
          <p:nvPr/>
        </p:nvCxnSpPr>
        <p:spPr bwMode="gray">
          <a:xfrm>
            <a:off x="3887165" y="5063334"/>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a:off x="5074164" y="5072868"/>
            <a:ext cx="0" cy="5712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bwMode="gray">
          <a:xfrm flipH="1">
            <a:off x="3892319" y="4228564"/>
            <a:ext cx="586384"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bwMode="gray">
          <a:xfrm>
            <a:off x="4478702" y="4228564"/>
            <a:ext cx="586383" cy="8252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4" name="图片 83" descr="通用交换机.png"/>
          <p:cNvPicPr>
            <a:picLocks noChangeAspect="1"/>
          </p:cNvPicPr>
          <p:nvPr/>
        </p:nvPicPr>
        <p:blipFill>
          <a:blip r:embed="rId3" cstate="print"/>
          <a:stretch>
            <a:fillRect/>
          </a:stretch>
        </p:blipFill>
        <p:spPr bwMode="gray">
          <a:xfrm>
            <a:off x="3622319" y="4832891"/>
            <a:ext cx="540000" cy="441818"/>
          </a:xfrm>
          <a:prstGeom prst="rect">
            <a:avLst/>
          </a:prstGeom>
        </p:spPr>
      </p:pic>
      <p:pic>
        <p:nvPicPr>
          <p:cNvPr id="85" name="图片 8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208702" y="4007164"/>
            <a:ext cx="540000" cy="442800"/>
          </a:xfrm>
          <a:prstGeom prst="rect">
            <a:avLst/>
          </a:prstGeom>
        </p:spPr>
      </p:pic>
      <p:pic>
        <p:nvPicPr>
          <p:cNvPr id="86" name="图片 85" descr="通用交换机.png"/>
          <p:cNvPicPr>
            <a:picLocks noChangeAspect="1"/>
          </p:cNvPicPr>
          <p:nvPr/>
        </p:nvPicPr>
        <p:blipFill>
          <a:blip r:embed="rId3" cstate="print"/>
          <a:stretch>
            <a:fillRect/>
          </a:stretch>
        </p:blipFill>
        <p:spPr bwMode="gray">
          <a:xfrm>
            <a:off x="4795085" y="4832891"/>
            <a:ext cx="540000" cy="441818"/>
          </a:xfrm>
          <a:prstGeom prst="rect">
            <a:avLst/>
          </a:prstGeom>
        </p:spPr>
      </p:pic>
      <p:pic>
        <p:nvPicPr>
          <p:cNvPr id="89" name="图片 88" descr="PC.png"/>
          <p:cNvPicPr>
            <a:picLocks noChangeAspect="1"/>
          </p:cNvPicPr>
          <p:nvPr/>
        </p:nvPicPr>
        <p:blipFill>
          <a:blip r:embed="rId7" cstate="print"/>
          <a:stretch>
            <a:fillRect/>
          </a:stretch>
        </p:blipFill>
        <p:spPr bwMode="gray">
          <a:xfrm>
            <a:off x="3617634" y="5427554"/>
            <a:ext cx="539063" cy="414000"/>
          </a:xfrm>
          <a:prstGeom prst="rect">
            <a:avLst/>
          </a:prstGeom>
        </p:spPr>
      </p:pic>
      <p:pic>
        <p:nvPicPr>
          <p:cNvPr id="90" name="图片 89" descr="PC.png"/>
          <p:cNvPicPr>
            <a:picLocks noChangeAspect="1"/>
          </p:cNvPicPr>
          <p:nvPr/>
        </p:nvPicPr>
        <p:blipFill>
          <a:blip r:embed="rId7" cstate="print"/>
          <a:stretch>
            <a:fillRect/>
          </a:stretch>
        </p:blipFill>
        <p:spPr bwMode="gray">
          <a:xfrm>
            <a:off x="4807289" y="5437088"/>
            <a:ext cx="539063" cy="414000"/>
          </a:xfrm>
          <a:prstGeom prst="rect">
            <a:avLst/>
          </a:prstGeom>
        </p:spPr>
      </p:pic>
      <p:sp>
        <p:nvSpPr>
          <p:cNvPr id="41" name="文本框 40"/>
          <p:cNvSpPr txBox="1"/>
          <p:nvPr/>
        </p:nvSpPr>
        <p:spPr bwMode="gray">
          <a:xfrm>
            <a:off x="1159512" y="5846545"/>
            <a:ext cx="1744118" cy="307777"/>
          </a:xfrm>
          <a:prstGeom prst="rect">
            <a:avLst/>
          </a:prstGeom>
          <a:noFill/>
        </p:spPr>
        <p:txBody>
          <a:bodyPr wrap="square" rtlCol="0">
            <a:noAutofit/>
          </a:bodyPr>
          <a:lstStyle/>
          <a:p>
            <a:pPr algn="ctr" fontAlgn="ctr"/>
            <a:r>
              <a:rPr lang="en-US" sz="1200">
                <a:latin typeface="Huawei Sans" panose="020C0503030203020204" pitchFamily="34" charset="0"/>
              </a:rPr>
              <a:t>Clients on the production network</a:t>
            </a:r>
          </a:p>
        </p:txBody>
      </p:sp>
      <p:sp>
        <p:nvSpPr>
          <p:cNvPr id="42" name="文本框 41"/>
          <p:cNvSpPr txBox="1"/>
          <p:nvPr/>
        </p:nvSpPr>
        <p:spPr bwMode="gray">
          <a:xfrm>
            <a:off x="675492" y="2279959"/>
            <a:ext cx="2415488"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 servers</a:t>
            </a:r>
          </a:p>
          <a:p>
            <a:pPr algn="ctr" fontAlgn="ctr"/>
            <a:r>
              <a:rPr lang="en-US" sz="1200" b="1" dirty="0">
                <a:latin typeface="Huawei Sans" panose="020C0503030203020204" pitchFamily="34" charset="0"/>
              </a:rPr>
              <a:t>192.168.100.0/24</a:t>
            </a:r>
          </a:p>
        </p:txBody>
      </p:sp>
      <p:sp>
        <p:nvSpPr>
          <p:cNvPr id="46" name="文本框 45"/>
          <p:cNvSpPr txBox="1"/>
          <p:nvPr/>
        </p:nvSpPr>
        <p:spPr bwMode="gray">
          <a:xfrm>
            <a:off x="3481599" y="2278254"/>
            <a:ext cx="2415488" cy="523220"/>
          </a:xfrm>
          <a:prstGeom prst="rect">
            <a:avLst/>
          </a:prstGeom>
          <a:noFill/>
        </p:spPr>
        <p:txBody>
          <a:bodyPr wrap="square" rtlCol="0">
            <a:noAutofit/>
          </a:bodyPr>
          <a:lstStyle/>
          <a:p>
            <a:pPr algn="ctr" fontAlgn="ctr"/>
            <a:r>
              <a:rPr lang="en-US" sz="1200" dirty="0">
                <a:latin typeface="Huawei Sans" panose="020C0503030203020204" pitchFamily="34" charset="0"/>
              </a:rPr>
              <a:t>Management network servers</a:t>
            </a:r>
          </a:p>
          <a:p>
            <a:pPr algn="ctr" fontAlgn="ctr"/>
            <a:r>
              <a:rPr lang="en-US" sz="1200" b="1" dirty="0">
                <a:latin typeface="Huawei Sans" panose="020C0503030203020204" pitchFamily="34" charset="0"/>
              </a:rPr>
              <a:t>192.168.100.0/24</a:t>
            </a:r>
          </a:p>
        </p:txBody>
      </p:sp>
      <p:sp>
        <p:nvSpPr>
          <p:cNvPr id="47" name="文本框 46"/>
          <p:cNvSpPr txBox="1"/>
          <p:nvPr/>
        </p:nvSpPr>
        <p:spPr bwMode="gray">
          <a:xfrm>
            <a:off x="3585631" y="5850044"/>
            <a:ext cx="1744118" cy="307777"/>
          </a:xfrm>
          <a:prstGeom prst="rect">
            <a:avLst/>
          </a:prstGeom>
          <a:noFill/>
        </p:spPr>
        <p:txBody>
          <a:bodyPr wrap="square" rtlCol="0">
            <a:noAutofit/>
          </a:bodyPr>
          <a:lstStyle/>
          <a:p>
            <a:pPr algn="ctr" fontAlgn="ctr"/>
            <a:r>
              <a:rPr lang="en-US" sz="1200" dirty="0">
                <a:latin typeface="Huawei Sans" panose="020C0503030203020204" pitchFamily="34" charset="0"/>
              </a:rPr>
              <a:t>Clients on the management network</a:t>
            </a:r>
          </a:p>
        </p:txBody>
      </p:sp>
    </p:spTree>
    <p:extLst>
      <p:ext uri="{BB962C8B-B14F-4D97-AF65-F5344CB8AC3E}">
        <p14:creationId xmlns:p14="http://schemas.microsoft.com/office/powerpoint/2010/main" val="2020815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图片 146" descr="核心交换机.png"/>
          <p:cNvPicPr>
            <a:picLocks noChangeAspect="1"/>
          </p:cNvPicPr>
          <p:nvPr/>
        </p:nvPicPr>
        <p:blipFill>
          <a:blip r:embed="rId3" cstate="print"/>
          <a:stretch>
            <a:fillRect/>
          </a:stretch>
        </p:blipFill>
        <p:spPr bwMode="gray">
          <a:xfrm>
            <a:off x="2543994" y="2973333"/>
            <a:ext cx="540000" cy="441818"/>
          </a:xfrm>
          <a:prstGeom prst="rect">
            <a:avLst/>
          </a:prstGeom>
        </p:spPr>
      </p:pic>
      <p:sp>
        <p:nvSpPr>
          <p:cNvPr id="149" name="文本占位符 3"/>
          <p:cNvSpPr txBox="1">
            <a:spLocks/>
          </p:cNvSpPr>
          <p:nvPr/>
        </p:nvSpPr>
        <p:spPr bwMode="gray">
          <a:xfrm>
            <a:off x="6128733" y="1247775"/>
            <a:ext cx="5617180" cy="11557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noAutofit/>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02279" marR="0" lvl="0" indent="-302279" algn="l" defTabSz="914034" rtl="0" eaLnBrk="1" fontAlgn="ctr" latinLnBrk="0" hangingPunct="1">
              <a:lnSpc>
                <a:spcPct val="140000"/>
              </a:lnSpc>
              <a:spcBef>
                <a:spcPts val="792"/>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a:cs typeface="+mn-cs"/>
              </a:rPr>
              <a:t>VRF, also called VPN instance, is a virtualization technology. Multiple VPN instances are created on a physical device. Each VPN instance has </a:t>
            </a:r>
            <a:r>
              <a:rPr kumimoji="0" lang="en-US" sz="1400" b="1" i="0" u="none" strike="noStrike" kern="1200" cap="none" spc="0" normalizeH="0" baseline="0" noProof="0" dirty="0">
                <a:ln>
                  <a:noFill/>
                </a:ln>
                <a:solidFill>
                  <a:srgbClr val="EC7061"/>
                </a:solidFill>
                <a:effectLst/>
                <a:uLnTx/>
                <a:uFillTx/>
                <a:latin typeface="Huawei Sans" panose="020C0503030203020204" pitchFamily="34" charset="0"/>
                <a:ea typeface="方正兰亭黑简体"/>
                <a:cs typeface="+mn-cs"/>
              </a:rPr>
              <a:t>its own </a:t>
            </a:r>
            <a:r>
              <a:rPr kumimoji="0" lang="en-US" sz="14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a:cs typeface="+mn-cs"/>
              </a:rPr>
              <a:t>interfaces, a routing table, and routing protocol processes.</a:t>
            </a:r>
          </a:p>
        </p:txBody>
      </p:sp>
      <p:sp>
        <p:nvSpPr>
          <p:cNvPr id="150" name="矩形 149"/>
          <p:cNvSpPr/>
          <p:nvPr/>
        </p:nvSpPr>
        <p:spPr bwMode="gray">
          <a:xfrm>
            <a:off x="3394009" y="3694752"/>
            <a:ext cx="2375210" cy="2686998"/>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sym typeface="Huawei Sans" panose="020C0503030203020204" pitchFamily="34" charset="0"/>
            </a:endParaRPr>
          </a:p>
        </p:txBody>
      </p:sp>
      <p:cxnSp>
        <p:nvCxnSpPr>
          <p:cNvPr id="151" name="直接连接符 150"/>
          <p:cNvCxnSpPr>
            <a:stCxn id="180" idx="0"/>
          </p:cNvCxnSpPr>
          <p:nvPr/>
        </p:nvCxnSpPr>
        <p:spPr bwMode="gray">
          <a:xfrm flipV="1">
            <a:off x="3378967" y="2341271"/>
            <a:ext cx="1291326" cy="645471"/>
          </a:xfrm>
          <a:prstGeom prst="line">
            <a:avLst/>
          </a:prstGeom>
          <a:noFill/>
          <a:ln w="12700" cap="flat" cmpd="sng" algn="ctr">
            <a:solidFill>
              <a:sysClr val="windowText" lastClr="000000"/>
            </a:solidFill>
            <a:prstDash val="solid"/>
            <a:miter lim="800000"/>
          </a:ln>
          <a:effectLst/>
        </p:spPr>
      </p:cxnSp>
      <p:sp>
        <p:nvSpPr>
          <p:cNvPr id="152" name="矩形 151"/>
          <p:cNvSpPr/>
          <p:nvPr/>
        </p:nvSpPr>
        <p:spPr bwMode="gray">
          <a:xfrm>
            <a:off x="755065" y="3694753"/>
            <a:ext cx="2375210" cy="2686997"/>
          </a:xfrm>
          <a:prstGeom prst="rect">
            <a:avLst/>
          </a:prstGeom>
          <a:solidFill>
            <a:srgbClr val="FFFFFF"/>
          </a:solidFill>
          <a:ln w="12700" cap="flat" cmpd="sng" algn="ctr">
            <a:solidFill>
              <a:srgbClr val="A6A6A6"/>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sym typeface="Huawei Sans" panose="020C0503030203020204" pitchFamily="34" charset="0"/>
            </a:endParaRPr>
          </a:p>
        </p:txBody>
      </p:sp>
      <p:cxnSp>
        <p:nvCxnSpPr>
          <p:cNvPr id="153" name="直接连接符 152"/>
          <p:cNvCxnSpPr>
            <a:stCxn id="147" idx="0"/>
          </p:cNvCxnSpPr>
          <p:nvPr/>
        </p:nvCxnSpPr>
        <p:spPr bwMode="gray">
          <a:xfrm flipH="1" flipV="1">
            <a:off x="1826087" y="2489556"/>
            <a:ext cx="987907" cy="483777"/>
          </a:xfrm>
          <a:prstGeom prst="line">
            <a:avLst/>
          </a:prstGeom>
          <a:noFill/>
          <a:ln w="12700" cap="flat" cmpd="sng" algn="ctr">
            <a:solidFill>
              <a:sysClr val="windowText" lastClr="000000"/>
            </a:solidFill>
            <a:prstDash val="solid"/>
            <a:miter lim="800000"/>
          </a:ln>
          <a:effectLst/>
        </p:spPr>
      </p:cxnSp>
      <p:cxnSp>
        <p:nvCxnSpPr>
          <p:cNvPr id="154" name="直接连接符 153"/>
          <p:cNvCxnSpPr/>
          <p:nvPr/>
        </p:nvCxnSpPr>
        <p:spPr bwMode="gray">
          <a:xfrm>
            <a:off x="3887165" y="5063334"/>
            <a:ext cx="0" cy="571220"/>
          </a:xfrm>
          <a:prstGeom prst="line">
            <a:avLst/>
          </a:prstGeom>
          <a:noFill/>
          <a:ln w="12700" cap="flat" cmpd="sng" algn="ctr">
            <a:solidFill>
              <a:sysClr val="windowText" lastClr="000000"/>
            </a:solidFill>
            <a:prstDash val="solid"/>
            <a:miter lim="800000"/>
          </a:ln>
          <a:effectLst/>
        </p:spPr>
      </p:cxnSp>
      <p:cxnSp>
        <p:nvCxnSpPr>
          <p:cNvPr id="155" name="直接连接符 154"/>
          <p:cNvCxnSpPr/>
          <p:nvPr/>
        </p:nvCxnSpPr>
        <p:spPr bwMode="gray">
          <a:xfrm>
            <a:off x="5074164" y="5072868"/>
            <a:ext cx="0" cy="571220"/>
          </a:xfrm>
          <a:prstGeom prst="line">
            <a:avLst/>
          </a:prstGeom>
          <a:noFill/>
          <a:ln w="12700" cap="flat" cmpd="sng" algn="ctr">
            <a:solidFill>
              <a:sysClr val="windowText" lastClr="000000"/>
            </a:solidFill>
            <a:prstDash val="solid"/>
            <a:miter lim="800000"/>
          </a:ln>
          <a:effectLst/>
        </p:spPr>
      </p:cxnSp>
      <p:cxnSp>
        <p:nvCxnSpPr>
          <p:cNvPr id="156" name="直接连接符 155"/>
          <p:cNvCxnSpPr/>
          <p:nvPr/>
        </p:nvCxnSpPr>
        <p:spPr bwMode="gray">
          <a:xfrm>
            <a:off x="2621336" y="5050634"/>
            <a:ext cx="0" cy="571220"/>
          </a:xfrm>
          <a:prstGeom prst="line">
            <a:avLst/>
          </a:prstGeom>
          <a:noFill/>
          <a:ln w="12700" cap="flat" cmpd="sng" algn="ctr">
            <a:solidFill>
              <a:sysClr val="windowText" lastClr="000000"/>
            </a:solidFill>
            <a:prstDash val="solid"/>
            <a:miter lim="800000"/>
          </a:ln>
          <a:effectLst/>
        </p:spPr>
      </p:cxnSp>
      <p:cxnSp>
        <p:nvCxnSpPr>
          <p:cNvPr id="157" name="直接连接符 156"/>
          <p:cNvCxnSpPr/>
          <p:nvPr/>
        </p:nvCxnSpPr>
        <p:spPr bwMode="gray">
          <a:xfrm>
            <a:off x="1434337" y="5041100"/>
            <a:ext cx="0" cy="571220"/>
          </a:xfrm>
          <a:prstGeom prst="line">
            <a:avLst/>
          </a:prstGeom>
          <a:noFill/>
          <a:ln w="12700" cap="flat" cmpd="sng" algn="ctr">
            <a:solidFill>
              <a:sysClr val="windowText" lastClr="000000"/>
            </a:solidFill>
            <a:prstDash val="solid"/>
            <a:miter lim="800000"/>
          </a:ln>
          <a:effectLst/>
        </p:spPr>
      </p:cxnSp>
      <p:cxnSp>
        <p:nvCxnSpPr>
          <p:cNvPr id="158" name="直接连接符 157"/>
          <p:cNvCxnSpPr/>
          <p:nvPr/>
        </p:nvCxnSpPr>
        <p:spPr bwMode="gray">
          <a:xfrm flipH="1">
            <a:off x="1445187" y="4215864"/>
            <a:ext cx="586384" cy="816572"/>
          </a:xfrm>
          <a:prstGeom prst="line">
            <a:avLst/>
          </a:prstGeom>
          <a:noFill/>
          <a:ln w="12700" cap="flat" cmpd="sng" algn="ctr">
            <a:solidFill>
              <a:sysClr val="windowText" lastClr="000000"/>
            </a:solidFill>
            <a:prstDash val="solid"/>
            <a:miter lim="800000"/>
          </a:ln>
          <a:effectLst/>
        </p:spPr>
      </p:cxnSp>
      <p:cxnSp>
        <p:nvCxnSpPr>
          <p:cNvPr id="159" name="直接连接符 158"/>
          <p:cNvCxnSpPr/>
          <p:nvPr/>
        </p:nvCxnSpPr>
        <p:spPr bwMode="gray">
          <a:xfrm>
            <a:off x="2031570" y="4215864"/>
            <a:ext cx="586383" cy="825236"/>
          </a:xfrm>
          <a:prstGeom prst="line">
            <a:avLst/>
          </a:prstGeom>
          <a:noFill/>
          <a:ln w="12700" cap="flat" cmpd="sng" algn="ctr">
            <a:solidFill>
              <a:sysClr val="windowText" lastClr="000000"/>
            </a:solidFill>
            <a:prstDash val="solid"/>
            <a:miter lim="800000"/>
          </a:ln>
          <a:effectLst/>
        </p:spPr>
      </p:cxnSp>
      <p:cxnSp>
        <p:nvCxnSpPr>
          <p:cNvPr id="160" name="直接连接符 159"/>
          <p:cNvCxnSpPr/>
          <p:nvPr/>
        </p:nvCxnSpPr>
        <p:spPr bwMode="gray">
          <a:xfrm flipH="1">
            <a:off x="3892319" y="4228564"/>
            <a:ext cx="586384" cy="825236"/>
          </a:xfrm>
          <a:prstGeom prst="line">
            <a:avLst/>
          </a:prstGeom>
          <a:noFill/>
          <a:ln w="12700" cap="flat" cmpd="sng" algn="ctr">
            <a:solidFill>
              <a:sysClr val="windowText" lastClr="000000"/>
            </a:solidFill>
            <a:prstDash val="solid"/>
            <a:miter lim="800000"/>
          </a:ln>
          <a:effectLst/>
        </p:spPr>
      </p:cxnSp>
      <p:cxnSp>
        <p:nvCxnSpPr>
          <p:cNvPr id="161" name="直接连接符 160"/>
          <p:cNvCxnSpPr/>
          <p:nvPr/>
        </p:nvCxnSpPr>
        <p:spPr bwMode="gray">
          <a:xfrm>
            <a:off x="4478702" y="4228564"/>
            <a:ext cx="586383" cy="825236"/>
          </a:xfrm>
          <a:prstGeom prst="line">
            <a:avLst/>
          </a:prstGeom>
          <a:noFill/>
          <a:ln w="12700" cap="flat" cmpd="sng" algn="ctr">
            <a:solidFill>
              <a:sysClr val="windowText" lastClr="000000"/>
            </a:solidFill>
            <a:prstDash val="solid"/>
            <a:miter lim="800000"/>
          </a:ln>
          <a:effectLst/>
        </p:spPr>
      </p:cxnSp>
      <p:pic>
        <p:nvPicPr>
          <p:cNvPr id="162" name="图片 161" descr="通用交换机.png"/>
          <p:cNvPicPr>
            <a:picLocks noChangeAspect="1"/>
          </p:cNvPicPr>
          <p:nvPr/>
        </p:nvPicPr>
        <p:blipFill>
          <a:blip r:embed="rId4" cstate="print">
            <a:duotone>
              <a:srgbClr val="F3FBFE">
                <a:shade val="45000"/>
                <a:satMod val="135000"/>
              </a:srgbClr>
              <a:prstClr val="white"/>
            </a:duotone>
          </a:blip>
          <a:stretch>
            <a:fillRect/>
          </a:stretch>
        </p:blipFill>
        <p:spPr bwMode="gray">
          <a:xfrm>
            <a:off x="1164337" y="4820191"/>
            <a:ext cx="540000" cy="441818"/>
          </a:xfrm>
          <a:prstGeom prst="rect">
            <a:avLst/>
          </a:prstGeom>
        </p:spPr>
      </p:pic>
      <p:pic>
        <p:nvPicPr>
          <p:cNvPr id="163" name="图片 162"/>
          <p:cNvPicPr>
            <a:picLocks/>
          </p:cNvPicPr>
          <p:nvPr/>
        </p:nvPicPr>
        <p:blipFill>
          <a:blip r:embed="rId5"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a:off x="1761570" y="3994464"/>
            <a:ext cx="540000" cy="442800"/>
          </a:xfrm>
          <a:prstGeom prst="rect">
            <a:avLst/>
          </a:prstGeom>
        </p:spPr>
      </p:pic>
      <p:pic>
        <p:nvPicPr>
          <p:cNvPr id="164" name="图片 163" descr="通用交换机.png"/>
          <p:cNvPicPr>
            <a:picLocks noChangeAspect="1"/>
          </p:cNvPicPr>
          <p:nvPr/>
        </p:nvPicPr>
        <p:blipFill>
          <a:blip r:embed="rId4" cstate="print">
            <a:duotone>
              <a:srgbClr val="F3FBFE">
                <a:shade val="45000"/>
                <a:satMod val="135000"/>
              </a:srgbClr>
              <a:prstClr val="white"/>
            </a:duotone>
          </a:blip>
          <a:stretch>
            <a:fillRect/>
          </a:stretch>
        </p:blipFill>
        <p:spPr bwMode="gray">
          <a:xfrm>
            <a:off x="2353992" y="4820191"/>
            <a:ext cx="540000" cy="441818"/>
          </a:xfrm>
          <a:prstGeom prst="rect">
            <a:avLst/>
          </a:prstGeom>
        </p:spPr>
      </p:pic>
      <p:pic>
        <p:nvPicPr>
          <p:cNvPr id="165" name="图片 164" descr="通用交换机.png"/>
          <p:cNvPicPr>
            <a:picLocks noChangeAspect="1"/>
          </p:cNvPicPr>
          <p:nvPr/>
        </p:nvPicPr>
        <p:blipFill>
          <a:blip r:embed="rId4" cstate="print">
            <a:duotone>
              <a:srgbClr val="F3FBFE">
                <a:shade val="45000"/>
                <a:satMod val="135000"/>
              </a:srgbClr>
              <a:prstClr val="white"/>
            </a:duotone>
          </a:blip>
          <a:stretch>
            <a:fillRect/>
          </a:stretch>
        </p:blipFill>
        <p:spPr bwMode="gray">
          <a:xfrm>
            <a:off x="3622319" y="4832891"/>
            <a:ext cx="540000" cy="441818"/>
          </a:xfrm>
          <a:prstGeom prst="rect">
            <a:avLst/>
          </a:prstGeom>
        </p:spPr>
      </p:pic>
      <p:pic>
        <p:nvPicPr>
          <p:cNvPr id="166" name="图片 165"/>
          <p:cNvPicPr>
            <a:picLocks/>
          </p:cNvPicPr>
          <p:nvPr/>
        </p:nvPicPr>
        <p:blipFill>
          <a:blip r:embed="rId5"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a:off x="4208702" y="4007164"/>
            <a:ext cx="540000" cy="442800"/>
          </a:xfrm>
          <a:prstGeom prst="rect">
            <a:avLst/>
          </a:prstGeom>
        </p:spPr>
      </p:pic>
      <p:pic>
        <p:nvPicPr>
          <p:cNvPr id="167" name="图片 166" descr="通用交换机.png"/>
          <p:cNvPicPr>
            <a:picLocks noChangeAspect="1"/>
          </p:cNvPicPr>
          <p:nvPr/>
        </p:nvPicPr>
        <p:blipFill>
          <a:blip r:embed="rId4" cstate="print">
            <a:duotone>
              <a:srgbClr val="F3FBFE">
                <a:shade val="45000"/>
                <a:satMod val="135000"/>
              </a:srgbClr>
              <a:prstClr val="white"/>
            </a:duotone>
          </a:blip>
          <a:stretch>
            <a:fillRect/>
          </a:stretch>
        </p:blipFill>
        <p:spPr bwMode="gray">
          <a:xfrm>
            <a:off x="4795085" y="4832891"/>
            <a:ext cx="540000" cy="441818"/>
          </a:xfrm>
          <a:prstGeom prst="rect">
            <a:avLst/>
          </a:prstGeom>
        </p:spPr>
      </p:pic>
      <p:sp>
        <p:nvSpPr>
          <p:cNvPr id="168" name="Freeform 159"/>
          <p:cNvSpPr>
            <a:spLocks noChangeAspect="1"/>
          </p:cNvSpPr>
          <p:nvPr/>
        </p:nvSpPr>
        <p:spPr bwMode="gray">
          <a:xfrm flipH="1">
            <a:off x="843965" y="1369705"/>
            <a:ext cx="2066081"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69" name="Freeform 159"/>
          <p:cNvSpPr>
            <a:spLocks noChangeAspect="1"/>
          </p:cNvSpPr>
          <p:nvPr/>
        </p:nvSpPr>
        <p:spPr bwMode="gray">
          <a:xfrm flipH="1">
            <a:off x="3577222" y="1369705"/>
            <a:ext cx="2163422" cy="108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pic>
        <p:nvPicPr>
          <p:cNvPr id="170" name="图片 169"/>
          <p:cNvPicPr>
            <a:picLocks/>
          </p:cNvPicPr>
          <p:nvPr/>
        </p:nvPicPr>
        <p:blipFill>
          <a:blip r:embed="rId6"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a:off x="779805" y="1561902"/>
            <a:ext cx="540000" cy="442800"/>
          </a:xfrm>
          <a:prstGeom prst="rect">
            <a:avLst/>
          </a:prstGeom>
        </p:spPr>
      </p:pic>
      <p:pic>
        <p:nvPicPr>
          <p:cNvPr id="171" name="图片 170"/>
          <p:cNvPicPr>
            <a:picLocks/>
          </p:cNvPicPr>
          <p:nvPr/>
        </p:nvPicPr>
        <p:blipFill>
          <a:blip r:embed="rId6"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a:off x="1715187" y="1335694"/>
            <a:ext cx="540000" cy="442800"/>
          </a:xfrm>
          <a:prstGeom prst="rect">
            <a:avLst/>
          </a:prstGeom>
        </p:spPr>
      </p:pic>
      <p:pic>
        <p:nvPicPr>
          <p:cNvPr id="172" name="图片 171"/>
          <p:cNvPicPr>
            <a:picLocks/>
          </p:cNvPicPr>
          <p:nvPr/>
        </p:nvPicPr>
        <p:blipFill>
          <a:blip r:embed="rId6"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a:off x="2461199" y="1631791"/>
            <a:ext cx="540000" cy="442800"/>
          </a:xfrm>
          <a:prstGeom prst="rect">
            <a:avLst/>
          </a:prstGeom>
        </p:spPr>
      </p:pic>
      <p:pic>
        <p:nvPicPr>
          <p:cNvPr id="173" name="图片 172"/>
          <p:cNvPicPr>
            <a:picLocks/>
          </p:cNvPicPr>
          <p:nvPr/>
        </p:nvPicPr>
        <p:blipFill>
          <a:blip r:embed="rId6"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flipH="1">
            <a:off x="5174302" y="1515166"/>
            <a:ext cx="540000" cy="442800"/>
          </a:xfrm>
          <a:prstGeom prst="rect">
            <a:avLst/>
          </a:prstGeom>
        </p:spPr>
      </p:pic>
      <p:pic>
        <p:nvPicPr>
          <p:cNvPr id="174" name="图片 173"/>
          <p:cNvPicPr>
            <a:picLocks/>
          </p:cNvPicPr>
          <p:nvPr/>
        </p:nvPicPr>
        <p:blipFill>
          <a:blip r:embed="rId6"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flipH="1">
            <a:off x="4219871" y="1293224"/>
            <a:ext cx="540000" cy="442800"/>
          </a:xfrm>
          <a:prstGeom prst="rect">
            <a:avLst/>
          </a:prstGeom>
        </p:spPr>
      </p:pic>
      <p:pic>
        <p:nvPicPr>
          <p:cNvPr id="175" name="图片 174"/>
          <p:cNvPicPr>
            <a:picLocks/>
          </p:cNvPicPr>
          <p:nvPr/>
        </p:nvPicPr>
        <p:blipFill>
          <a:blip r:embed="rId6" cstate="print">
            <a:duotone>
              <a:srgbClr val="F3FBFE">
                <a:shade val="45000"/>
                <a:satMod val="135000"/>
              </a:srgbClr>
              <a:prstClr val="white"/>
            </a:duotone>
            <a:extLst>
              <a:ext uri="{28A0092B-C50C-407E-A947-70E740481C1C}">
                <a14:useLocalDpi xmlns:a14="http://schemas.microsoft.com/office/drawing/2010/main" val="0"/>
              </a:ext>
            </a:extLst>
          </a:blip>
          <a:stretch>
            <a:fillRect/>
          </a:stretch>
        </p:blipFill>
        <p:spPr bwMode="gray">
          <a:xfrm flipH="1">
            <a:off x="3423801" y="1632680"/>
            <a:ext cx="540000" cy="442800"/>
          </a:xfrm>
          <a:prstGeom prst="rect">
            <a:avLst/>
          </a:prstGeom>
        </p:spPr>
      </p:pic>
      <p:pic>
        <p:nvPicPr>
          <p:cNvPr id="176" name="图片 175" descr="PC.png"/>
          <p:cNvPicPr>
            <a:picLocks noChangeAspect="1"/>
          </p:cNvPicPr>
          <p:nvPr/>
        </p:nvPicPr>
        <p:blipFill>
          <a:blip r:embed="rId7" cstate="print"/>
          <a:stretch>
            <a:fillRect/>
          </a:stretch>
        </p:blipFill>
        <p:spPr bwMode="gray">
          <a:xfrm>
            <a:off x="1164806" y="5405320"/>
            <a:ext cx="539063" cy="414000"/>
          </a:xfrm>
          <a:prstGeom prst="rect">
            <a:avLst/>
          </a:prstGeom>
        </p:spPr>
      </p:pic>
      <p:pic>
        <p:nvPicPr>
          <p:cNvPr id="177" name="图片 176" descr="PC.png"/>
          <p:cNvPicPr>
            <a:picLocks noChangeAspect="1"/>
          </p:cNvPicPr>
          <p:nvPr/>
        </p:nvPicPr>
        <p:blipFill>
          <a:blip r:embed="rId7" cstate="print"/>
          <a:stretch>
            <a:fillRect/>
          </a:stretch>
        </p:blipFill>
        <p:spPr bwMode="gray">
          <a:xfrm>
            <a:off x="2354461" y="5414854"/>
            <a:ext cx="539063" cy="414000"/>
          </a:xfrm>
          <a:prstGeom prst="rect">
            <a:avLst/>
          </a:prstGeom>
        </p:spPr>
      </p:pic>
      <p:pic>
        <p:nvPicPr>
          <p:cNvPr id="178" name="图片 177" descr="PC.png"/>
          <p:cNvPicPr>
            <a:picLocks noChangeAspect="1"/>
          </p:cNvPicPr>
          <p:nvPr/>
        </p:nvPicPr>
        <p:blipFill>
          <a:blip r:embed="rId7" cstate="print"/>
          <a:stretch>
            <a:fillRect/>
          </a:stretch>
        </p:blipFill>
        <p:spPr bwMode="gray">
          <a:xfrm>
            <a:off x="3617634" y="5427554"/>
            <a:ext cx="539063" cy="414000"/>
          </a:xfrm>
          <a:prstGeom prst="rect">
            <a:avLst/>
          </a:prstGeom>
        </p:spPr>
      </p:pic>
      <p:pic>
        <p:nvPicPr>
          <p:cNvPr id="179" name="图片 178" descr="PC.png"/>
          <p:cNvPicPr>
            <a:picLocks noChangeAspect="1"/>
          </p:cNvPicPr>
          <p:nvPr/>
        </p:nvPicPr>
        <p:blipFill>
          <a:blip r:embed="rId7" cstate="print"/>
          <a:stretch>
            <a:fillRect/>
          </a:stretch>
        </p:blipFill>
        <p:spPr bwMode="gray">
          <a:xfrm>
            <a:off x="4807289" y="5437088"/>
            <a:ext cx="539063" cy="414000"/>
          </a:xfrm>
          <a:prstGeom prst="rect">
            <a:avLst/>
          </a:prstGeom>
        </p:spPr>
      </p:pic>
      <p:pic>
        <p:nvPicPr>
          <p:cNvPr id="180" name="图片 179" descr="核心交换机.png"/>
          <p:cNvPicPr>
            <a:picLocks noChangeAspect="1"/>
          </p:cNvPicPr>
          <p:nvPr/>
        </p:nvPicPr>
        <p:blipFill>
          <a:blip r:embed="rId3" cstate="print"/>
          <a:stretch>
            <a:fillRect/>
          </a:stretch>
        </p:blipFill>
        <p:spPr bwMode="gray">
          <a:xfrm>
            <a:off x="3108967" y="2986742"/>
            <a:ext cx="540000" cy="441818"/>
          </a:xfrm>
          <a:prstGeom prst="rect">
            <a:avLst/>
          </a:prstGeom>
        </p:spPr>
      </p:pic>
      <p:cxnSp>
        <p:nvCxnSpPr>
          <p:cNvPr id="181" name="直接连接符 180"/>
          <p:cNvCxnSpPr>
            <a:stCxn id="147" idx="2"/>
            <a:endCxn id="163" idx="0"/>
          </p:cNvCxnSpPr>
          <p:nvPr/>
        </p:nvCxnSpPr>
        <p:spPr bwMode="gray">
          <a:xfrm flipH="1">
            <a:off x="2031570" y="3415151"/>
            <a:ext cx="782424" cy="579313"/>
          </a:xfrm>
          <a:prstGeom prst="line">
            <a:avLst/>
          </a:prstGeom>
          <a:noFill/>
          <a:ln w="12700" cap="flat" cmpd="sng" algn="ctr">
            <a:solidFill>
              <a:sysClr val="windowText" lastClr="000000"/>
            </a:solidFill>
            <a:prstDash val="solid"/>
            <a:miter lim="800000"/>
          </a:ln>
          <a:effectLst/>
        </p:spPr>
      </p:cxnSp>
      <p:cxnSp>
        <p:nvCxnSpPr>
          <p:cNvPr id="182" name="直接连接符 181"/>
          <p:cNvCxnSpPr>
            <a:stCxn id="180" idx="2"/>
            <a:endCxn id="166" idx="0"/>
          </p:cNvCxnSpPr>
          <p:nvPr/>
        </p:nvCxnSpPr>
        <p:spPr bwMode="gray">
          <a:xfrm>
            <a:off x="3378967" y="3428560"/>
            <a:ext cx="1099735" cy="578604"/>
          </a:xfrm>
          <a:prstGeom prst="line">
            <a:avLst/>
          </a:prstGeom>
          <a:noFill/>
          <a:ln w="12700" cap="flat" cmpd="sng" algn="ctr">
            <a:solidFill>
              <a:sysClr val="windowText" lastClr="000000"/>
            </a:solidFill>
            <a:prstDash val="solid"/>
            <a:miter lim="800000"/>
          </a:ln>
          <a:effectLst/>
        </p:spPr>
      </p:cxnSp>
      <p:sp>
        <p:nvSpPr>
          <p:cNvPr id="183" name="文本框 182"/>
          <p:cNvSpPr txBox="1"/>
          <p:nvPr/>
        </p:nvSpPr>
        <p:spPr bwMode="gray">
          <a:xfrm>
            <a:off x="985057" y="3057483"/>
            <a:ext cx="1703704" cy="236906"/>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VPN instance: VPNA</a:t>
            </a:r>
          </a:p>
        </p:txBody>
      </p:sp>
      <p:sp>
        <p:nvSpPr>
          <p:cNvPr id="184" name="文本框 183"/>
          <p:cNvSpPr txBox="1"/>
          <p:nvPr/>
        </p:nvSpPr>
        <p:spPr bwMode="gray">
          <a:xfrm>
            <a:off x="3669785" y="3057483"/>
            <a:ext cx="1693124" cy="236906"/>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VPN instance: VPNB</a:t>
            </a:r>
          </a:p>
        </p:txBody>
      </p:sp>
      <p:sp>
        <p:nvSpPr>
          <p:cNvPr id="185" name="文本框 184"/>
          <p:cNvSpPr txBox="1"/>
          <p:nvPr/>
        </p:nvSpPr>
        <p:spPr bwMode="gray">
          <a:xfrm rot="1483833">
            <a:off x="1990731" y="2551859"/>
            <a:ext cx="963725" cy="276999"/>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Huawei Sans" panose="020C0503030203020204" pitchFamily="34" charset="0"/>
              </a:rPr>
              <a:t>VLANIF100</a:t>
            </a:r>
          </a:p>
        </p:txBody>
      </p:sp>
      <p:sp>
        <p:nvSpPr>
          <p:cNvPr id="186" name="文本框 185"/>
          <p:cNvSpPr txBox="1"/>
          <p:nvPr/>
        </p:nvSpPr>
        <p:spPr bwMode="gray">
          <a:xfrm rot="19401018">
            <a:off x="2086353" y="3600879"/>
            <a:ext cx="963725" cy="276999"/>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Huawei Sans" panose="020C0503030203020204" pitchFamily="34" charset="0"/>
              </a:rPr>
              <a:t>VLANIF101</a:t>
            </a:r>
          </a:p>
        </p:txBody>
      </p:sp>
      <p:sp>
        <p:nvSpPr>
          <p:cNvPr id="187" name="文本框 186"/>
          <p:cNvSpPr txBox="1"/>
          <p:nvPr/>
        </p:nvSpPr>
        <p:spPr bwMode="gray">
          <a:xfrm rot="1675786">
            <a:off x="3286440" y="3595779"/>
            <a:ext cx="963725" cy="276999"/>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Huawei Sans" panose="020C0503030203020204" pitchFamily="34" charset="0"/>
              </a:rPr>
              <a:t>VLANIF201</a:t>
            </a:r>
          </a:p>
        </p:txBody>
      </p:sp>
      <p:sp>
        <p:nvSpPr>
          <p:cNvPr id="188" name="文本框 187"/>
          <p:cNvSpPr txBox="1"/>
          <p:nvPr/>
        </p:nvSpPr>
        <p:spPr bwMode="gray">
          <a:xfrm rot="20020760">
            <a:off x="3298837" y="2550679"/>
            <a:ext cx="963725" cy="276999"/>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VLANIF200</a:t>
            </a:r>
          </a:p>
        </p:txBody>
      </p:sp>
      <p:graphicFrame>
        <p:nvGraphicFramePr>
          <p:cNvPr id="189" name="表格 188"/>
          <p:cNvGraphicFramePr>
            <a:graphicFrameLocks noGrp="1"/>
          </p:cNvGraphicFramePr>
          <p:nvPr>
            <p:extLst>
              <p:ext uri="{D42A27DB-BD31-4B8C-83A1-F6EECF244321}">
                <p14:modId xmlns:p14="http://schemas.microsoft.com/office/powerpoint/2010/main" val="1823038476"/>
              </p:ext>
            </p:extLst>
          </p:nvPr>
        </p:nvGraphicFramePr>
        <p:xfrm>
          <a:off x="6478074" y="2935579"/>
          <a:ext cx="4929017" cy="1189012"/>
        </p:xfrm>
        <a:graphic>
          <a:graphicData uri="http://schemas.openxmlformats.org/drawingml/2006/table">
            <a:tbl>
              <a:tblPr/>
              <a:tblGrid>
                <a:gridCol w="1571222">
                  <a:extLst>
                    <a:ext uri="{9D8B030D-6E8A-4147-A177-3AD203B41FA5}">
                      <a16:colId xmlns:a16="http://schemas.microsoft.com/office/drawing/2014/main" val="20000"/>
                    </a:ext>
                  </a:extLst>
                </a:gridCol>
                <a:gridCol w="914400">
                  <a:extLst>
                    <a:ext uri="{9D8B030D-6E8A-4147-A177-3AD203B41FA5}">
                      <a16:colId xmlns:a16="http://schemas.microsoft.com/office/drawing/2014/main" val="20002"/>
                    </a:ext>
                  </a:extLst>
                </a:gridCol>
                <a:gridCol w="1021351">
                  <a:extLst>
                    <a:ext uri="{9D8B030D-6E8A-4147-A177-3AD203B41FA5}">
                      <a16:colId xmlns:a16="http://schemas.microsoft.com/office/drawing/2014/main" val="20001"/>
                    </a:ext>
                  </a:extLst>
                </a:gridCol>
                <a:gridCol w="1422044">
                  <a:extLst>
                    <a:ext uri="{9D8B030D-6E8A-4147-A177-3AD203B41FA5}">
                      <a16:colId xmlns:a16="http://schemas.microsoft.com/office/drawing/2014/main" val="20003"/>
                    </a:ext>
                  </a:extLst>
                </a:gridCol>
              </a:tblGrid>
              <a:tr h="382011">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Destination/</a:t>
                      </a:r>
                    </a:p>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Mask</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Protocol</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Interface</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345146">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192.168.100.0/24</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OSPF</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VLANIF100</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192.168.100.1</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5146">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192.168.1.0/24</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OSPF</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VLANIF101</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dirty="0">
                          <a:latin typeface="Huawei Sans" panose="020C0503030203020204" pitchFamily="34" charset="0"/>
                          <a:ea typeface="方正兰亭黑简体" panose="02000000000000000000" pitchFamily="2" charset="-122"/>
                          <a:sym typeface="Huawei Sans" panose="020C0503030203020204" pitchFamily="34" charset="0"/>
                        </a:rPr>
                        <a:t>192.168.101.1</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90" name="TextBox 105"/>
          <p:cNvSpPr txBox="1"/>
          <p:nvPr/>
        </p:nvSpPr>
        <p:spPr bwMode="gray">
          <a:xfrm>
            <a:off x="681098" y="5842443"/>
            <a:ext cx="1829462"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Huawei Sans" panose="020C0503030203020204" pitchFamily="34" charset="0"/>
              </a:rPr>
              <a:t>PC1 </a:t>
            </a: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192.168.1.1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Gateway 192.168.1.254</a:t>
            </a:r>
          </a:p>
        </p:txBody>
      </p:sp>
      <p:sp>
        <p:nvSpPr>
          <p:cNvPr id="191" name="TextBox 106"/>
          <p:cNvSpPr txBox="1"/>
          <p:nvPr/>
        </p:nvSpPr>
        <p:spPr bwMode="gray">
          <a:xfrm>
            <a:off x="4116999" y="5842443"/>
            <a:ext cx="1724722"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Huawei Sans" panose="020C0503030203020204" pitchFamily="34" charset="0"/>
              </a:rPr>
              <a:t>PC2 </a:t>
            </a: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172.16.1.1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Gateway 172.16.1.254</a:t>
            </a:r>
          </a:p>
        </p:txBody>
      </p:sp>
      <p:graphicFrame>
        <p:nvGraphicFramePr>
          <p:cNvPr id="192" name="表格 191"/>
          <p:cNvGraphicFramePr>
            <a:graphicFrameLocks noGrp="1"/>
          </p:cNvGraphicFramePr>
          <p:nvPr>
            <p:extLst>
              <p:ext uri="{D42A27DB-BD31-4B8C-83A1-F6EECF244321}">
                <p14:modId xmlns:p14="http://schemas.microsoft.com/office/powerpoint/2010/main" val="861550863"/>
              </p:ext>
            </p:extLst>
          </p:nvPr>
        </p:nvGraphicFramePr>
        <p:xfrm>
          <a:off x="6433779" y="4889560"/>
          <a:ext cx="4973313" cy="1142376"/>
        </p:xfrm>
        <a:graphic>
          <a:graphicData uri="http://schemas.openxmlformats.org/drawingml/2006/table">
            <a:tbl>
              <a:tblPr/>
              <a:tblGrid>
                <a:gridCol w="1662230">
                  <a:extLst>
                    <a:ext uri="{9D8B030D-6E8A-4147-A177-3AD203B41FA5}">
                      <a16:colId xmlns:a16="http://schemas.microsoft.com/office/drawing/2014/main" val="20000"/>
                    </a:ext>
                  </a:extLst>
                </a:gridCol>
                <a:gridCol w="919202">
                  <a:extLst>
                    <a:ext uri="{9D8B030D-6E8A-4147-A177-3AD203B41FA5}">
                      <a16:colId xmlns:a16="http://schemas.microsoft.com/office/drawing/2014/main" val="20002"/>
                    </a:ext>
                  </a:extLst>
                </a:gridCol>
                <a:gridCol w="1030310">
                  <a:extLst>
                    <a:ext uri="{9D8B030D-6E8A-4147-A177-3AD203B41FA5}">
                      <a16:colId xmlns:a16="http://schemas.microsoft.com/office/drawing/2014/main" val="20001"/>
                    </a:ext>
                  </a:extLst>
                </a:gridCol>
                <a:gridCol w="1361571">
                  <a:extLst>
                    <a:ext uri="{9D8B030D-6E8A-4147-A177-3AD203B41FA5}">
                      <a16:colId xmlns:a16="http://schemas.microsoft.com/office/drawing/2014/main" val="20003"/>
                    </a:ext>
                  </a:extLst>
                </a:gridCol>
              </a:tblGrid>
              <a:tr h="580062">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Destination/</a:t>
                      </a:r>
                    </a:p>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Mask</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Protocol</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Interface</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400" b="1"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NextHop</a:t>
                      </a:r>
                      <a:endParaRPr 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81157">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192.168.100.0/24</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OSPF</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dirty="0">
                          <a:latin typeface="Huawei Sans" panose="020C0503030203020204" pitchFamily="34" charset="0"/>
                          <a:ea typeface="方正兰亭黑简体" panose="02000000000000000000" pitchFamily="2" charset="-122"/>
                          <a:sym typeface="Huawei Sans" panose="020C0503030203020204" pitchFamily="34" charset="0"/>
                        </a:rPr>
                        <a:t>VLANIF200</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192.168.100.1</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1157">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172.16.1.0/24</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dirty="0">
                          <a:latin typeface="Huawei Sans" panose="020C0503030203020204" pitchFamily="34" charset="0"/>
                          <a:ea typeface="方正兰亭黑简体" panose="02000000000000000000" pitchFamily="2" charset="-122"/>
                          <a:sym typeface="Huawei Sans" panose="020C0503030203020204" pitchFamily="34" charset="0"/>
                        </a:rPr>
                        <a:t>Static</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a:latin typeface="Huawei Sans" panose="020C0503030203020204" pitchFamily="34" charset="0"/>
                          <a:ea typeface="方正兰亭黑简体" panose="02000000000000000000" pitchFamily="2" charset="-122"/>
                          <a:sym typeface="Huawei Sans" panose="020C0503030203020204" pitchFamily="34" charset="0"/>
                        </a:rPr>
                        <a:t>VLANIF201</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fontAlgn="ctr">
                        <a:lnSpc>
                          <a:spcPct val="100000"/>
                        </a:lnSpc>
                      </a:pPr>
                      <a:r>
                        <a:rPr lang="en-US" sz="1200" dirty="0">
                          <a:latin typeface="Huawei Sans" panose="020C0503030203020204" pitchFamily="34" charset="0"/>
                          <a:ea typeface="方正兰亭黑简体" panose="02000000000000000000" pitchFamily="2" charset="-122"/>
                          <a:sym typeface="Huawei Sans" panose="020C0503030203020204" pitchFamily="34" charset="0"/>
                        </a:rPr>
                        <a:t>192.168.201.1</a:t>
                      </a:r>
                    </a:p>
                  </a:txBody>
                  <a:tcPr marL="72000" marR="72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93" name="文本框 192"/>
          <p:cNvSpPr txBox="1"/>
          <p:nvPr/>
        </p:nvSpPr>
        <p:spPr bwMode="gray">
          <a:xfrm>
            <a:off x="6433779" y="2569519"/>
            <a:ext cx="3286553" cy="338554"/>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Huawei Sans" panose="020C0503030203020204" pitchFamily="34" charset="0"/>
              </a:rPr>
              <a:t>VPNA's routing table</a:t>
            </a:r>
          </a:p>
        </p:txBody>
      </p:sp>
      <p:sp>
        <p:nvSpPr>
          <p:cNvPr id="194" name="文本框 193"/>
          <p:cNvSpPr txBox="1"/>
          <p:nvPr/>
        </p:nvSpPr>
        <p:spPr bwMode="gray">
          <a:xfrm>
            <a:off x="6433780" y="4475287"/>
            <a:ext cx="3262670" cy="338554"/>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Huawei Sans" panose="020C0503030203020204" pitchFamily="34" charset="0"/>
              </a:rPr>
              <a:t>VPNB's routing table</a:t>
            </a:r>
          </a:p>
        </p:txBody>
      </p:sp>
      <p:pic>
        <p:nvPicPr>
          <p:cNvPr id="195" name="图片 194"/>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2827193" y="2597554"/>
            <a:ext cx="540000" cy="442800"/>
          </a:xfrm>
          <a:prstGeom prst="rect">
            <a:avLst/>
          </a:prstGeom>
        </p:spPr>
      </p:pic>
      <p:sp>
        <p:nvSpPr>
          <p:cNvPr id="196" name="文本框 195"/>
          <p:cNvSpPr txBox="1"/>
          <p:nvPr/>
        </p:nvSpPr>
        <p:spPr bwMode="gray">
          <a:xfrm>
            <a:off x="501603" y="3681083"/>
            <a:ext cx="1421135"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Production network</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clients</a:t>
            </a:r>
          </a:p>
        </p:txBody>
      </p:sp>
      <p:sp>
        <p:nvSpPr>
          <p:cNvPr id="197" name="文本框 196"/>
          <p:cNvSpPr txBox="1"/>
          <p:nvPr/>
        </p:nvSpPr>
        <p:spPr bwMode="gray">
          <a:xfrm>
            <a:off x="796612" y="2020961"/>
            <a:ext cx="2097049" cy="461665"/>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Production network servers</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lumMod val="50000"/>
                  </a:prstClr>
                </a:solidFill>
                <a:effectLst/>
                <a:uLnTx/>
                <a:uFillTx/>
                <a:latin typeface="Huawei Sans" panose="020C0503030203020204" pitchFamily="34" charset="0"/>
              </a:rPr>
              <a:t>192.168.100.0/24</a:t>
            </a:r>
          </a:p>
        </p:txBody>
      </p:sp>
      <p:sp>
        <p:nvSpPr>
          <p:cNvPr id="198" name="文本框 197"/>
          <p:cNvSpPr txBox="1"/>
          <p:nvPr/>
        </p:nvSpPr>
        <p:spPr bwMode="gray">
          <a:xfrm>
            <a:off x="3529597" y="2020275"/>
            <a:ext cx="2281394" cy="461665"/>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Management network servers</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lumMod val="50000"/>
                  </a:prstClr>
                </a:solidFill>
                <a:effectLst/>
                <a:uLnTx/>
                <a:uFillTx/>
                <a:latin typeface="Huawei Sans" panose="020C0503030203020204" pitchFamily="34" charset="0"/>
              </a:rPr>
              <a:t>192.168.100.0/24</a:t>
            </a:r>
          </a:p>
        </p:txBody>
      </p:sp>
      <p:sp>
        <p:nvSpPr>
          <p:cNvPr id="199" name="文本框 198"/>
          <p:cNvSpPr txBox="1"/>
          <p:nvPr/>
        </p:nvSpPr>
        <p:spPr bwMode="gray">
          <a:xfrm>
            <a:off x="4656793" y="3687148"/>
            <a:ext cx="1193631"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Management network</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clients</a:t>
            </a:r>
          </a:p>
        </p:txBody>
      </p:sp>
      <p:sp>
        <p:nvSpPr>
          <p:cNvPr id="4" name="Title 3">
            <a:extLst>
              <a:ext uri="{FF2B5EF4-FFF2-40B4-BE49-F238E27FC236}">
                <a16:creationId xmlns:a16="http://schemas.microsoft.com/office/drawing/2014/main" id="{4D967596-02BB-491B-9421-9C9559231F61}"/>
              </a:ext>
            </a:extLst>
          </p:cNvPr>
          <p:cNvSpPr>
            <a:spLocks noGrp="1"/>
          </p:cNvSpPr>
          <p:nvPr>
            <p:ph type="title"/>
          </p:nvPr>
        </p:nvSpPr>
        <p:spPr bwMode="gray"/>
        <p:txBody>
          <a:bodyPr/>
          <a:lstStyle/>
          <a:p>
            <a:r>
              <a:rPr lang="en-US" dirty="0"/>
              <a:t>Using VRF Technology</a:t>
            </a:r>
          </a:p>
        </p:txBody>
      </p:sp>
    </p:spTree>
    <p:extLst>
      <p:ext uri="{BB962C8B-B14F-4D97-AF65-F5344CB8AC3E}">
        <p14:creationId xmlns:p14="http://schemas.microsoft.com/office/powerpoint/2010/main" val="3106693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a:xfrm>
            <a:off x="6090350" y="1242453"/>
            <a:ext cx="5667702" cy="4680000"/>
          </a:xfrm>
        </p:spPr>
        <p:txBody>
          <a:bodyPr wrap="square">
            <a:noAutofit/>
          </a:bodyPr>
          <a:lstStyle/>
          <a:p>
            <a:pPr>
              <a:lnSpc>
                <a:spcPct val="100000"/>
              </a:lnSpc>
            </a:pPr>
            <a:r>
              <a:rPr lang="en-US" sz="1600" dirty="0">
                <a:latin typeface="Huawei Sans" panose="020C0503030203020204" pitchFamily="34" charset="0"/>
              </a:rPr>
              <a:t>A VRF is a logical unit on a physical device. Each logical unit is called a VPN instance, and instances are isolated on the routing plane. VRF implementation is as follows:</a:t>
            </a:r>
          </a:p>
          <a:p>
            <a:pPr marL="609600" lvl="1" indent="-295275">
              <a:lnSpc>
                <a:spcPct val="100000"/>
              </a:lnSpc>
              <a:buSzPct val="100000"/>
              <a:buFont typeface="+mj-lt"/>
              <a:buAutoNum type="arabicPeriod"/>
            </a:pPr>
            <a:r>
              <a:rPr lang="en-US" sz="1400" dirty="0">
                <a:latin typeface="Huawei Sans" panose="020C0503030203020204" pitchFamily="34" charset="0"/>
              </a:rPr>
              <a:t>Create an instance and bind each involved Layer 3 interface (physical interface, sub-interface, or VLANIF interface) to the instance.</a:t>
            </a:r>
          </a:p>
          <a:p>
            <a:pPr marL="609600" lvl="1" indent="-295275">
              <a:lnSpc>
                <a:spcPct val="100000"/>
              </a:lnSpc>
              <a:buSzPct val="100000"/>
              <a:buFont typeface="+mj-lt"/>
              <a:buAutoNum type="arabicPeriod"/>
            </a:pPr>
            <a:r>
              <a:rPr lang="en-US" sz="1400" dirty="0">
                <a:latin typeface="Huawei Sans" panose="020C0503030203020204" pitchFamily="34" charset="0"/>
              </a:rPr>
              <a:t>(Optional) Configure a routing protocol or static route </a:t>
            </a:r>
            <a:r>
              <a:rPr lang="en-US" altLang="zh-CN" sz="1400" dirty="0">
                <a:latin typeface="Huawei Sans" panose="020C0503030203020204" pitchFamily="34" charset="0"/>
              </a:rPr>
              <a:t>and bind it </a:t>
            </a:r>
            <a:r>
              <a:rPr lang="en-US" sz="1400" dirty="0">
                <a:latin typeface="Huawei Sans" panose="020C0503030203020204" pitchFamily="34" charset="0"/>
              </a:rPr>
              <a:t>to the VPN instance.</a:t>
            </a:r>
          </a:p>
          <a:p>
            <a:pPr marL="609600" lvl="1" indent="-295275">
              <a:lnSpc>
                <a:spcPct val="100000"/>
              </a:lnSpc>
              <a:buSzPct val="100000"/>
              <a:buFont typeface="+mj-lt"/>
              <a:buAutoNum type="arabicPeriod"/>
            </a:pPr>
            <a:r>
              <a:rPr lang="en-US" altLang="zh-CN" sz="1400" dirty="0">
                <a:latin typeface="Huawei Sans" panose="020C0503030203020204" pitchFamily="34" charset="0"/>
              </a:rPr>
              <a:t>A</a:t>
            </a:r>
            <a:r>
              <a:rPr lang="en-US" sz="1400" dirty="0">
                <a:latin typeface="Huawei Sans" panose="020C0503030203020204" pitchFamily="34" charset="0"/>
              </a:rPr>
              <a:t> VPN instance routing table is created using information about the interfaces and routing protocols bound to the instance. Then data is forwarded using entries contained in the instance routing table, and instance isolation is implemented.</a:t>
            </a:r>
          </a:p>
        </p:txBody>
      </p:sp>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VRF Implementation</a:t>
            </a:r>
          </a:p>
        </p:txBody>
      </p:sp>
      <p:grpSp>
        <p:nvGrpSpPr>
          <p:cNvPr id="76" name="组合 75"/>
          <p:cNvGrpSpPr/>
          <p:nvPr/>
        </p:nvGrpSpPr>
        <p:grpSpPr bwMode="gray">
          <a:xfrm>
            <a:off x="989652" y="1785534"/>
            <a:ext cx="1734607" cy="1082915"/>
            <a:chOff x="991113" y="1316259"/>
            <a:chExt cx="1734607" cy="1082915"/>
          </a:xfrm>
        </p:grpSpPr>
        <p:grpSp>
          <p:nvGrpSpPr>
            <p:cNvPr id="37" name="组合 36"/>
            <p:cNvGrpSpPr/>
            <p:nvPr/>
          </p:nvGrpSpPr>
          <p:grpSpPr bwMode="gray">
            <a:xfrm>
              <a:off x="1708891" y="1319174"/>
              <a:ext cx="310159" cy="1080000"/>
              <a:chOff x="3088221" y="1668186"/>
              <a:chExt cx="310159" cy="1080000"/>
            </a:xfrm>
          </p:grpSpPr>
          <p:cxnSp>
            <p:nvCxnSpPr>
              <p:cNvPr id="22" name="直接连接符 21"/>
              <p:cNvCxnSpPr/>
              <p:nvPr/>
            </p:nvCxnSpPr>
            <p:spPr bwMode="gray">
              <a:xfrm>
                <a:off x="3088221" y="1668186"/>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
              <a:xfrm>
                <a:off x="3398380" y="1668186"/>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9" name="Picture 12" descr="E:\2016.01\1.12 扁平化图标\蓝色\AR-蓝色最新-40.png"/>
            <p:cNvPicPr>
              <a:picLocks noChangeAspect="1" noChangeArrowheads="1"/>
            </p:cNvPicPr>
            <p:nvPr/>
          </p:nvPicPr>
          <p:blipFill>
            <a:blip r:embed="rId4" cstate="print"/>
            <a:srcRect/>
            <a:stretch>
              <a:fillRect/>
            </a:stretch>
          </p:blipFill>
          <p:spPr bwMode="gray">
            <a:xfrm>
              <a:off x="1593970" y="1602693"/>
              <a:ext cx="540000" cy="441818"/>
            </a:xfrm>
            <a:prstGeom prst="rect">
              <a:avLst/>
            </a:prstGeom>
            <a:noFill/>
          </p:spPr>
        </p:pic>
        <p:sp>
          <p:nvSpPr>
            <p:cNvPr id="24" name="文本框 23"/>
            <p:cNvSpPr txBox="1"/>
            <p:nvPr/>
          </p:nvSpPr>
          <p:spPr bwMode="gray">
            <a:xfrm>
              <a:off x="991113" y="2095790"/>
              <a:ext cx="756938" cy="276999"/>
            </a:xfrm>
            <a:prstGeom prst="rect">
              <a:avLst/>
            </a:prstGeom>
            <a:noFill/>
          </p:spPr>
          <p:txBody>
            <a:bodyPr wrap="square" rtlCol="0">
              <a:noAutofit/>
            </a:bodyPr>
            <a:lstStyle/>
            <a:p>
              <a:pPr fontAlgn="ctr"/>
              <a:r>
                <a:rPr lang="en-US" sz="1200">
                  <a:latin typeface="Huawei Sans" panose="020C0503030203020204" pitchFamily="34" charset="0"/>
                </a:rPr>
                <a:t>GE0/0/0</a:t>
              </a:r>
            </a:p>
          </p:txBody>
        </p:sp>
        <p:sp>
          <p:nvSpPr>
            <p:cNvPr id="25" name="文本框 24"/>
            <p:cNvSpPr txBox="1"/>
            <p:nvPr/>
          </p:nvSpPr>
          <p:spPr bwMode="gray">
            <a:xfrm>
              <a:off x="991113" y="1316259"/>
              <a:ext cx="756938" cy="276999"/>
            </a:xfrm>
            <a:prstGeom prst="rect">
              <a:avLst/>
            </a:prstGeom>
            <a:noFill/>
          </p:spPr>
          <p:txBody>
            <a:bodyPr wrap="square" rtlCol="0">
              <a:noAutofit/>
            </a:bodyPr>
            <a:lstStyle/>
            <a:p>
              <a:pPr fontAlgn="ctr"/>
              <a:r>
                <a:rPr lang="en-US" sz="1200">
                  <a:latin typeface="Huawei Sans" panose="020C0503030203020204" pitchFamily="34" charset="0"/>
                </a:rPr>
                <a:t>GE0/0/1</a:t>
              </a:r>
            </a:p>
          </p:txBody>
        </p:sp>
        <p:sp>
          <p:nvSpPr>
            <p:cNvPr id="26" name="文本框 25"/>
            <p:cNvSpPr txBox="1"/>
            <p:nvPr/>
          </p:nvSpPr>
          <p:spPr bwMode="gray">
            <a:xfrm>
              <a:off x="1968782" y="2095790"/>
              <a:ext cx="756938" cy="276999"/>
            </a:xfrm>
            <a:prstGeom prst="rect">
              <a:avLst/>
            </a:prstGeom>
            <a:noFill/>
          </p:spPr>
          <p:txBody>
            <a:bodyPr wrap="square" rtlCol="0">
              <a:noAutofit/>
            </a:bodyPr>
            <a:lstStyle/>
            <a:p>
              <a:pPr fontAlgn="ctr"/>
              <a:r>
                <a:rPr lang="en-US" sz="1200">
                  <a:latin typeface="Huawei Sans" panose="020C0503030203020204" pitchFamily="34" charset="0"/>
                </a:rPr>
                <a:t>GE0/0/2</a:t>
              </a:r>
            </a:p>
          </p:txBody>
        </p:sp>
        <p:sp>
          <p:nvSpPr>
            <p:cNvPr id="27" name="文本框 26"/>
            <p:cNvSpPr txBox="1"/>
            <p:nvPr/>
          </p:nvSpPr>
          <p:spPr bwMode="gray">
            <a:xfrm>
              <a:off x="1968782" y="1316259"/>
              <a:ext cx="756938" cy="276999"/>
            </a:xfrm>
            <a:prstGeom prst="rect">
              <a:avLst/>
            </a:prstGeom>
            <a:noFill/>
          </p:spPr>
          <p:txBody>
            <a:bodyPr wrap="square" rtlCol="0">
              <a:noAutofit/>
            </a:bodyPr>
            <a:lstStyle/>
            <a:p>
              <a:pPr fontAlgn="ctr"/>
              <a:r>
                <a:rPr lang="en-US" sz="1200">
                  <a:latin typeface="Huawei Sans" panose="020C0503030203020204" pitchFamily="34" charset="0"/>
                </a:rPr>
                <a:t>GE0/0/3</a:t>
              </a:r>
            </a:p>
          </p:txBody>
        </p:sp>
      </p:grpSp>
      <p:sp>
        <p:nvSpPr>
          <p:cNvPr id="18" name="Oval 4"/>
          <p:cNvSpPr>
            <a:spLocks noChangeAspect="1"/>
          </p:cNvSpPr>
          <p:nvPr/>
        </p:nvSpPr>
        <p:spPr bwMode="gray">
          <a:xfrm>
            <a:off x="3291002" y="3283198"/>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spcBef>
                <a:spcPts val="0"/>
              </a:spcBef>
              <a:spcAft>
                <a:spcPts val="0"/>
              </a:spcAft>
            </a:pPr>
            <a:r>
              <a:rPr 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cxnSp>
        <p:nvCxnSpPr>
          <p:cNvPr id="39" name="直接连接符 38"/>
          <p:cNvCxnSpPr/>
          <p:nvPr/>
        </p:nvCxnSpPr>
        <p:spPr bwMode="gray">
          <a:xfrm>
            <a:off x="4345660" y="1788449"/>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gray">
          <a:xfrm>
            <a:off x="5324887" y="1788449"/>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12" descr="E:\2016.01\1.12 扁平化图标\蓝色\AR-蓝色最新-40.png"/>
          <p:cNvPicPr>
            <a:picLocks noChangeAspect="1" noChangeArrowheads="1"/>
          </p:cNvPicPr>
          <p:nvPr/>
        </p:nvPicPr>
        <p:blipFill>
          <a:blip r:embed="rId4" cstate="print"/>
          <a:srcRect/>
          <a:stretch>
            <a:fillRect/>
          </a:stretch>
        </p:blipFill>
        <p:spPr bwMode="gray">
          <a:xfrm>
            <a:off x="4576426" y="2071968"/>
            <a:ext cx="540000" cy="441818"/>
          </a:xfrm>
          <a:prstGeom prst="rect">
            <a:avLst/>
          </a:prstGeom>
          <a:noFill/>
        </p:spPr>
      </p:pic>
      <p:sp>
        <p:nvSpPr>
          <p:cNvPr id="42" name="文本框 41"/>
          <p:cNvSpPr txBox="1"/>
          <p:nvPr/>
        </p:nvSpPr>
        <p:spPr bwMode="gray">
          <a:xfrm>
            <a:off x="3660403" y="2520640"/>
            <a:ext cx="756938" cy="276999"/>
          </a:xfrm>
          <a:prstGeom prst="rect">
            <a:avLst/>
          </a:prstGeom>
          <a:noFill/>
        </p:spPr>
        <p:txBody>
          <a:bodyPr wrap="square" rtlCol="0">
            <a:noAutofit/>
          </a:bodyPr>
          <a:lstStyle/>
          <a:p>
            <a:pPr fontAlgn="ctr"/>
            <a:r>
              <a:rPr lang="en-US" sz="1200">
                <a:latin typeface="Huawei Sans" panose="020C0503030203020204" pitchFamily="34" charset="0"/>
              </a:rPr>
              <a:t>GE0/0/0</a:t>
            </a:r>
          </a:p>
        </p:txBody>
      </p:sp>
      <p:sp>
        <p:nvSpPr>
          <p:cNvPr id="43" name="文本框 42"/>
          <p:cNvSpPr txBox="1"/>
          <p:nvPr/>
        </p:nvSpPr>
        <p:spPr bwMode="gray">
          <a:xfrm>
            <a:off x="3657749" y="1890434"/>
            <a:ext cx="756938" cy="276999"/>
          </a:xfrm>
          <a:prstGeom prst="rect">
            <a:avLst/>
          </a:prstGeom>
          <a:noFill/>
        </p:spPr>
        <p:txBody>
          <a:bodyPr wrap="square" rtlCol="0">
            <a:noAutofit/>
          </a:bodyPr>
          <a:lstStyle/>
          <a:p>
            <a:pPr fontAlgn="ctr"/>
            <a:r>
              <a:rPr lang="en-US" sz="1200" dirty="0">
                <a:latin typeface="Huawei Sans" panose="020C0503030203020204" pitchFamily="34" charset="0"/>
              </a:rPr>
              <a:t>GE0/0/1</a:t>
            </a:r>
          </a:p>
        </p:txBody>
      </p:sp>
      <p:sp>
        <p:nvSpPr>
          <p:cNvPr id="44" name="文本框 43"/>
          <p:cNvSpPr txBox="1"/>
          <p:nvPr/>
        </p:nvSpPr>
        <p:spPr bwMode="gray">
          <a:xfrm>
            <a:off x="5273253" y="2565065"/>
            <a:ext cx="756938" cy="276999"/>
          </a:xfrm>
          <a:prstGeom prst="rect">
            <a:avLst/>
          </a:prstGeom>
          <a:noFill/>
        </p:spPr>
        <p:txBody>
          <a:bodyPr wrap="square" rtlCol="0">
            <a:noAutofit/>
          </a:bodyPr>
          <a:lstStyle/>
          <a:p>
            <a:pPr fontAlgn="ctr"/>
            <a:r>
              <a:rPr lang="en-US" sz="1200">
                <a:latin typeface="Huawei Sans" panose="020C0503030203020204" pitchFamily="34" charset="0"/>
              </a:rPr>
              <a:t>GE0/0/2</a:t>
            </a:r>
          </a:p>
        </p:txBody>
      </p:sp>
      <p:sp>
        <p:nvSpPr>
          <p:cNvPr id="45" name="文本框 44"/>
          <p:cNvSpPr txBox="1"/>
          <p:nvPr/>
        </p:nvSpPr>
        <p:spPr bwMode="gray">
          <a:xfrm>
            <a:off x="5264728" y="1903171"/>
            <a:ext cx="756938" cy="276999"/>
          </a:xfrm>
          <a:prstGeom prst="rect">
            <a:avLst/>
          </a:prstGeom>
          <a:noFill/>
        </p:spPr>
        <p:txBody>
          <a:bodyPr wrap="square" rtlCol="0">
            <a:noAutofit/>
          </a:bodyPr>
          <a:lstStyle/>
          <a:p>
            <a:pPr fontAlgn="ctr"/>
            <a:r>
              <a:rPr lang="en-US" sz="1200">
                <a:latin typeface="Huawei Sans" panose="020C0503030203020204" pitchFamily="34" charset="0"/>
              </a:rPr>
              <a:t>GE0/0/3</a:t>
            </a:r>
          </a:p>
        </p:txBody>
      </p:sp>
      <p:pic>
        <p:nvPicPr>
          <p:cNvPr id="46" name="Picture 24" descr="E:\2016.01\1.12 扁平化图标\黄色\AR-黄色最新-41.png"/>
          <p:cNvPicPr>
            <a:picLocks noChangeAspect="1" noChangeArrowheads="1"/>
          </p:cNvPicPr>
          <p:nvPr/>
        </p:nvPicPr>
        <p:blipFill>
          <a:blip r:embed="rId5" cstate="print"/>
          <a:srcRect/>
          <a:stretch>
            <a:fillRect/>
          </a:stretch>
        </p:blipFill>
        <p:spPr bwMode="gray">
          <a:xfrm>
            <a:off x="4075586" y="2132218"/>
            <a:ext cx="540000" cy="440151"/>
          </a:xfrm>
          <a:prstGeom prst="rect">
            <a:avLst/>
          </a:prstGeom>
          <a:noFill/>
        </p:spPr>
      </p:pic>
      <p:pic>
        <p:nvPicPr>
          <p:cNvPr id="47" name="Picture 24" descr="E:\2016.01\1.12 扁平化图标\黄色\AR-黄色最新-41.png"/>
          <p:cNvPicPr>
            <a:picLocks noChangeAspect="1" noChangeArrowheads="1"/>
          </p:cNvPicPr>
          <p:nvPr/>
        </p:nvPicPr>
        <p:blipFill>
          <a:blip r:embed="rId5" cstate="print"/>
          <a:srcRect/>
          <a:stretch>
            <a:fillRect/>
          </a:stretch>
        </p:blipFill>
        <p:spPr bwMode="gray">
          <a:xfrm>
            <a:off x="5067157" y="2180170"/>
            <a:ext cx="540000" cy="440151"/>
          </a:xfrm>
          <a:prstGeom prst="rect">
            <a:avLst/>
          </a:prstGeom>
          <a:noFill/>
        </p:spPr>
      </p:pic>
      <p:sp>
        <p:nvSpPr>
          <p:cNvPr id="49" name="Oval 4"/>
          <p:cNvSpPr>
            <a:spLocks noChangeAspect="1"/>
          </p:cNvSpPr>
          <p:nvPr/>
        </p:nvSpPr>
        <p:spPr bwMode="gray">
          <a:xfrm>
            <a:off x="2921804" y="3637670"/>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spcBef>
                <a:spcPts val="0"/>
              </a:spcBef>
              <a:spcAft>
                <a:spcPts val="0"/>
              </a:spcAft>
            </a:pPr>
            <a:r>
              <a:rPr 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grpSp>
        <p:nvGrpSpPr>
          <p:cNvPr id="139" name="组合 138"/>
          <p:cNvGrpSpPr/>
          <p:nvPr/>
        </p:nvGrpSpPr>
        <p:grpSpPr bwMode="gray">
          <a:xfrm>
            <a:off x="366798" y="3863800"/>
            <a:ext cx="2908829" cy="1355108"/>
            <a:chOff x="500610" y="3841498"/>
            <a:chExt cx="2908829" cy="1355108"/>
          </a:xfrm>
        </p:grpSpPr>
        <p:cxnSp>
          <p:nvCxnSpPr>
            <p:cNvPr id="60" name="直接连接符 59"/>
            <p:cNvCxnSpPr/>
            <p:nvPr/>
          </p:nvCxnSpPr>
          <p:spPr bwMode="gray">
            <a:xfrm>
              <a:off x="1462762" y="3841498"/>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gray">
            <a:xfrm>
              <a:off x="2441989" y="3841498"/>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2" name="Picture 12" descr="E:\2016.01\1.12 扁平化图标\蓝色\AR-蓝色最新-40.png"/>
            <p:cNvPicPr>
              <a:picLocks noChangeAspect="1" noChangeArrowheads="1"/>
            </p:cNvPicPr>
            <p:nvPr/>
          </p:nvPicPr>
          <p:blipFill>
            <a:blip r:embed="rId4" cstate="print"/>
            <a:srcRect/>
            <a:stretch>
              <a:fillRect/>
            </a:stretch>
          </p:blipFill>
          <p:spPr bwMode="gray">
            <a:xfrm>
              <a:off x="1693528" y="4125017"/>
              <a:ext cx="540000" cy="441818"/>
            </a:xfrm>
            <a:prstGeom prst="rect">
              <a:avLst/>
            </a:prstGeom>
            <a:noFill/>
          </p:spPr>
        </p:pic>
        <p:sp>
          <p:nvSpPr>
            <p:cNvPr id="63" name="文本框 62"/>
            <p:cNvSpPr txBox="1"/>
            <p:nvPr/>
          </p:nvSpPr>
          <p:spPr bwMode="gray">
            <a:xfrm>
              <a:off x="777505" y="4573689"/>
              <a:ext cx="756938" cy="276999"/>
            </a:xfrm>
            <a:prstGeom prst="rect">
              <a:avLst/>
            </a:prstGeom>
            <a:noFill/>
          </p:spPr>
          <p:txBody>
            <a:bodyPr wrap="square" rtlCol="0">
              <a:noAutofit/>
            </a:bodyPr>
            <a:lstStyle/>
            <a:p>
              <a:pPr fontAlgn="ctr"/>
              <a:r>
                <a:rPr lang="en-US" sz="1200">
                  <a:solidFill>
                    <a:schemeClr val="bg1">
                      <a:lumMod val="50000"/>
                    </a:schemeClr>
                  </a:solidFill>
                  <a:latin typeface="Huawei Sans" panose="020C0503030203020204" pitchFamily="34" charset="0"/>
                </a:rPr>
                <a:t>GE0/0/0</a:t>
              </a:r>
            </a:p>
          </p:txBody>
        </p:sp>
        <p:sp>
          <p:nvSpPr>
            <p:cNvPr id="64" name="文本框 63"/>
            <p:cNvSpPr txBox="1"/>
            <p:nvPr/>
          </p:nvSpPr>
          <p:spPr bwMode="gray">
            <a:xfrm>
              <a:off x="784376" y="3943483"/>
              <a:ext cx="756938" cy="276999"/>
            </a:xfrm>
            <a:prstGeom prst="rect">
              <a:avLst/>
            </a:prstGeom>
            <a:noFill/>
          </p:spPr>
          <p:txBody>
            <a:bodyPr wrap="square" rtlCol="0">
              <a:noAutofit/>
            </a:bodyPr>
            <a:lstStyle/>
            <a:p>
              <a:pPr fontAlgn="ctr"/>
              <a:r>
                <a:rPr lang="en-US" sz="1200" dirty="0">
                  <a:solidFill>
                    <a:schemeClr val="bg1">
                      <a:lumMod val="50000"/>
                    </a:schemeClr>
                  </a:solidFill>
                  <a:latin typeface="Huawei Sans" panose="020C0503030203020204" pitchFamily="34" charset="0"/>
                </a:rPr>
                <a:t>GE0/0/1</a:t>
              </a:r>
            </a:p>
          </p:txBody>
        </p:sp>
        <p:sp>
          <p:nvSpPr>
            <p:cNvPr id="65" name="文本框 64"/>
            <p:cNvSpPr txBox="1"/>
            <p:nvPr/>
          </p:nvSpPr>
          <p:spPr bwMode="gray">
            <a:xfrm>
              <a:off x="2390355" y="4618114"/>
              <a:ext cx="756938" cy="276999"/>
            </a:xfrm>
            <a:prstGeom prst="rect">
              <a:avLst/>
            </a:prstGeom>
            <a:noFill/>
          </p:spPr>
          <p:txBody>
            <a:bodyPr wrap="square" rtlCol="0">
              <a:noAutofit/>
            </a:bodyPr>
            <a:lstStyle/>
            <a:p>
              <a:pPr fontAlgn="ctr"/>
              <a:r>
                <a:rPr lang="en-US" sz="1200">
                  <a:solidFill>
                    <a:schemeClr val="bg1">
                      <a:lumMod val="50000"/>
                    </a:schemeClr>
                  </a:solidFill>
                  <a:latin typeface="Huawei Sans" panose="020C0503030203020204" pitchFamily="34" charset="0"/>
                </a:rPr>
                <a:t>GE0/0/2</a:t>
              </a:r>
            </a:p>
          </p:txBody>
        </p:sp>
        <p:sp>
          <p:nvSpPr>
            <p:cNvPr id="66" name="文本框 65"/>
            <p:cNvSpPr txBox="1"/>
            <p:nvPr/>
          </p:nvSpPr>
          <p:spPr bwMode="gray">
            <a:xfrm>
              <a:off x="2381830" y="3956220"/>
              <a:ext cx="756938" cy="276999"/>
            </a:xfrm>
            <a:prstGeom prst="rect">
              <a:avLst/>
            </a:prstGeom>
            <a:noFill/>
          </p:spPr>
          <p:txBody>
            <a:bodyPr wrap="square" rtlCol="0">
              <a:noAutofit/>
            </a:bodyPr>
            <a:lstStyle/>
            <a:p>
              <a:pPr fontAlgn="ctr"/>
              <a:r>
                <a:rPr lang="en-US" sz="1200">
                  <a:solidFill>
                    <a:schemeClr val="bg1">
                      <a:lumMod val="50000"/>
                    </a:schemeClr>
                  </a:solidFill>
                  <a:latin typeface="Huawei Sans" panose="020C0503030203020204" pitchFamily="34" charset="0"/>
                </a:rPr>
                <a:t>GE0/0/3</a:t>
              </a:r>
            </a:p>
          </p:txBody>
        </p:sp>
        <p:pic>
          <p:nvPicPr>
            <p:cNvPr id="67" name="Picture 24" descr="E:\2016.01\1.12 扁平化图标\黄色\AR-黄色最新-41.png"/>
            <p:cNvPicPr>
              <a:picLocks noChangeAspect="1" noChangeArrowheads="1"/>
            </p:cNvPicPr>
            <p:nvPr/>
          </p:nvPicPr>
          <p:blipFill>
            <a:blip r:embed="rId5" cstate="print"/>
            <a:srcRect/>
            <a:stretch>
              <a:fillRect/>
            </a:stretch>
          </p:blipFill>
          <p:spPr bwMode="gray">
            <a:xfrm>
              <a:off x="1192688" y="4185267"/>
              <a:ext cx="540000" cy="440151"/>
            </a:xfrm>
            <a:prstGeom prst="rect">
              <a:avLst/>
            </a:prstGeom>
            <a:noFill/>
          </p:spPr>
        </p:pic>
        <p:pic>
          <p:nvPicPr>
            <p:cNvPr id="68" name="Picture 24" descr="E:\2016.01\1.12 扁平化图标\黄色\AR-黄色最新-41.png"/>
            <p:cNvPicPr>
              <a:picLocks noChangeAspect="1" noChangeArrowheads="1"/>
            </p:cNvPicPr>
            <p:nvPr/>
          </p:nvPicPr>
          <p:blipFill>
            <a:blip r:embed="rId5" cstate="print"/>
            <a:srcRect/>
            <a:stretch>
              <a:fillRect/>
            </a:stretch>
          </p:blipFill>
          <p:spPr bwMode="gray">
            <a:xfrm>
              <a:off x="2184259" y="4233219"/>
              <a:ext cx="540000" cy="440151"/>
            </a:xfrm>
            <a:prstGeom prst="rect">
              <a:avLst/>
            </a:prstGeom>
            <a:noFill/>
          </p:spPr>
        </p:pic>
        <p:sp>
          <p:nvSpPr>
            <p:cNvPr id="69" name="文本框 68"/>
            <p:cNvSpPr txBox="1"/>
            <p:nvPr/>
          </p:nvSpPr>
          <p:spPr bwMode="gray">
            <a:xfrm>
              <a:off x="500610" y="4887421"/>
              <a:ext cx="1263058" cy="307777"/>
            </a:xfrm>
            <a:prstGeom prst="rect">
              <a:avLst/>
            </a:prstGeom>
            <a:noFill/>
          </p:spPr>
          <p:txBody>
            <a:bodyPr wrap="square" rtlCol="0">
              <a:noAutofit/>
            </a:bodyPr>
            <a:lstStyle/>
            <a:p>
              <a:pPr fontAlgn="ctr"/>
              <a:r>
                <a:rPr lang="en-US" sz="1200" dirty="0">
                  <a:latin typeface="Huawei Sans" panose="020C0503030203020204" pitchFamily="34" charset="0"/>
                </a:rPr>
                <a:t>Deploy OSPF.</a:t>
              </a:r>
            </a:p>
          </p:txBody>
        </p:sp>
        <p:sp>
          <p:nvSpPr>
            <p:cNvPr id="70" name="文本框 69"/>
            <p:cNvSpPr txBox="1"/>
            <p:nvPr/>
          </p:nvSpPr>
          <p:spPr bwMode="gray">
            <a:xfrm>
              <a:off x="2305365" y="4888829"/>
              <a:ext cx="1104074" cy="307777"/>
            </a:xfrm>
            <a:prstGeom prst="rect">
              <a:avLst/>
            </a:prstGeom>
            <a:noFill/>
          </p:spPr>
          <p:txBody>
            <a:bodyPr wrap="square" rtlCol="0">
              <a:noAutofit/>
            </a:bodyPr>
            <a:lstStyle/>
            <a:p>
              <a:pPr fontAlgn="ctr"/>
              <a:r>
                <a:rPr lang="en-US" sz="1200" dirty="0">
                  <a:latin typeface="Huawei Sans" panose="020C0503030203020204" pitchFamily="34" charset="0"/>
                </a:rPr>
                <a:t>Deploy IS-IS.</a:t>
              </a:r>
            </a:p>
          </p:txBody>
        </p:sp>
      </p:grpSp>
      <p:cxnSp>
        <p:nvCxnSpPr>
          <p:cNvPr id="71" name="直接箭头连接符 70">
            <a:extLst>
              <a:ext uri="{FF2B5EF4-FFF2-40B4-BE49-F238E27FC236}">
                <a16:creationId xmlns:a16="http://schemas.microsoft.com/office/drawing/2014/main" id="{22E47E9F-0DA1-48E9-9F0B-22EC7AD79494}"/>
              </a:ext>
            </a:extLst>
          </p:cNvPr>
          <p:cNvCxnSpPr>
            <a:cxnSpLocks/>
          </p:cNvCxnSpPr>
          <p:nvPr/>
        </p:nvCxnSpPr>
        <p:spPr bwMode="gray">
          <a:xfrm>
            <a:off x="446088" y="3587520"/>
            <a:ext cx="5620514" cy="0"/>
          </a:xfrm>
          <a:prstGeom prst="straightConnector1">
            <a:avLst/>
          </a:prstGeom>
          <a:solidFill>
            <a:srgbClr val="4F81BD"/>
          </a:solidFill>
          <a:ln w="22225" cap="flat" cmpd="sng" algn="ctr">
            <a:solidFill>
              <a:sysClr val="windowText" lastClr="000000"/>
            </a:solidFill>
            <a:prstDash val="dash"/>
            <a:round/>
            <a:headEnd type="none" w="med" len="med"/>
            <a:tailEnd type="none" w="med" len="med"/>
          </a:ln>
          <a:effectLst/>
        </p:spPr>
      </p:cxnSp>
      <p:cxnSp>
        <p:nvCxnSpPr>
          <p:cNvPr id="74" name="直接箭头连接符 73">
            <a:extLst>
              <a:ext uri="{FF2B5EF4-FFF2-40B4-BE49-F238E27FC236}">
                <a16:creationId xmlns:a16="http://schemas.microsoft.com/office/drawing/2014/main" id="{22E47E9F-0DA1-48E9-9F0B-22EC7AD79494}"/>
              </a:ext>
            </a:extLst>
          </p:cNvPr>
          <p:cNvCxnSpPr>
            <a:cxnSpLocks/>
          </p:cNvCxnSpPr>
          <p:nvPr/>
        </p:nvCxnSpPr>
        <p:spPr bwMode="gray">
          <a:xfrm flipH="1" flipV="1">
            <a:off x="3256346" y="1233488"/>
            <a:ext cx="1" cy="5158157"/>
          </a:xfrm>
          <a:prstGeom prst="straightConnector1">
            <a:avLst/>
          </a:prstGeom>
          <a:solidFill>
            <a:srgbClr val="4F81BD"/>
          </a:solidFill>
          <a:ln w="22225" cap="flat" cmpd="sng" algn="ctr">
            <a:solidFill>
              <a:sysClr val="windowText" lastClr="000000"/>
            </a:solidFill>
            <a:prstDash val="dash"/>
            <a:round/>
            <a:headEnd type="none" w="med" len="med"/>
            <a:tailEnd type="none" w="med" len="med"/>
          </a:ln>
          <a:effectLst/>
        </p:spPr>
      </p:cxnSp>
      <p:sp>
        <p:nvSpPr>
          <p:cNvPr id="94" name="Oval 4"/>
          <p:cNvSpPr>
            <a:spLocks noChangeAspect="1"/>
          </p:cNvSpPr>
          <p:nvPr/>
        </p:nvSpPr>
        <p:spPr bwMode="gray">
          <a:xfrm>
            <a:off x="3291002" y="3637670"/>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spcBef>
                <a:spcPts val="0"/>
              </a:spcBef>
              <a:spcAft>
                <a:spcPts val="0"/>
              </a:spcAft>
            </a:pPr>
            <a:r>
              <a:rPr 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95" name="文本框 94"/>
          <p:cNvSpPr txBox="1"/>
          <p:nvPr/>
        </p:nvSpPr>
        <p:spPr bwMode="gray">
          <a:xfrm>
            <a:off x="3343160" y="1425930"/>
            <a:ext cx="1798333" cy="307777"/>
          </a:xfrm>
          <a:prstGeom prst="rect">
            <a:avLst/>
          </a:prstGeom>
          <a:noFill/>
        </p:spPr>
        <p:txBody>
          <a:bodyPr wrap="square" rtlCol="0">
            <a:noAutofit/>
          </a:bodyPr>
          <a:lstStyle/>
          <a:p>
            <a:pPr fontAlgn="ctr"/>
            <a:r>
              <a:rPr lang="en-US" sz="1200" dirty="0">
                <a:latin typeface="Huawei Sans" panose="020C0503030203020204" pitchFamily="34" charset="0"/>
              </a:rPr>
              <a:t>VPN instance: VPNA</a:t>
            </a:r>
          </a:p>
        </p:txBody>
      </p:sp>
      <p:sp>
        <p:nvSpPr>
          <p:cNvPr id="96" name="文本框 95"/>
          <p:cNvSpPr txBox="1"/>
          <p:nvPr/>
        </p:nvSpPr>
        <p:spPr bwMode="gray">
          <a:xfrm>
            <a:off x="4459291" y="2925111"/>
            <a:ext cx="1598609" cy="307777"/>
          </a:xfrm>
          <a:prstGeom prst="rect">
            <a:avLst/>
          </a:prstGeom>
          <a:noFill/>
        </p:spPr>
        <p:txBody>
          <a:bodyPr wrap="square" rtlCol="0">
            <a:noAutofit/>
          </a:bodyPr>
          <a:lstStyle/>
          <a:p>
            <a:pPr fontAlgn="ctr"/>
            <a:r>
              <a:rPr lang="en-US" sz="1200" dirty="0">
                <a:latin typeface="Huawei Sans" panose="020C0503030203020204" pitchFamily="34" charset="0"/>
              </a:rPr>
              <a:t>VPN instance: VPNB</a:t>
            </a:r>
          </a:p>
        </p:txBody>
      </p:sp>
      <p:cxnSp>
        <p:nvCxnSpPr>
          <p:cNvPr id="97" name="直接连接符 96"/>
          <p:cNvCxnSpPr/>
          <p:nvPr/>
        </p:nvCxnSpPr>
        <p:spPr bwMode="gray">
          <a:xfrm>
            <a:off x="4318092" y="3904564"/>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gray">
          <a:xfrm>
            <a:off x="5297319" y="3904564"/>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9" name="Picture 12" descr="E:\2016.01\1.12 扁平化图标\蓝色\AR-蓝色最新-40.png"/>
          <p:cNvPicPr>
            <a:picLocks noChangeAspect="1" noChangeArrowheads="1"/>
          </p:cNvPicPr>
          <p:nvPr/>
        </p:nvPicPr>
        <p:blipFill>
          <a:blip r:embed="rId4" cstate="print"/>
          <a:srcRect/>
          <a:stretch>
            <a:fillRect/>
          </a:stretch>
        </p:blipFill>
        <p:spPr bwMode="gray">
          <a:xfrm>
            <a:off x="4548858" y="4188083"/>
            <a:ext cx="540000" cy="441818"/>
          </a:xfrm>
          <a:prstGeom prst="rect">
            <a:avLst/>
          </a:prstGeom>
          <a:noFill/>
        </p:spPr>
      </p:pic>
      <p:sp>
        <p:nvSpPr>
          <p:cNvPr id="100" name="文本框 99"/>
          <p:cNvSpPr txBox="1"/>
          <p:nvPr/>
        </p:nvSpPr>
        <p:spPr bwMode="gray">
          <a:xfrm>
            <a:off x="3632835" y="4636755"/>
            <a:ext cx="756938" cy="276999"/>
          </a:xfrm>
          <a:prstGeom prst="rect">
            <a:avLst/>
          </a:prstGeom>
          <a:noFill/>
        </p:spPr>
        <p:txBody>
          <a:bodyPr wrap="square" rtlCol="0">
            <a:noAutofit/>
          </a:bodyPr>
          <a:lstStyle/>
          <a:p>
            <a:pPr fontAlgn="ctr"/>
            <a:r>
              <a:rPr lang="en-US" sz="1200">
                <a:solidFill>
                  <a:schemeClr val="bg1">
                    <a:lumMod val="50000"/>
                  </a:schemeClr>
                </a:solidFill>
                <a:latin typeface="Huawei Sans" panose="020C0503030203020204" pitchFamily="34" charset="0"/>
              </a:rPr>
              <a:t>GE0/0/0</a:t>
            </a:r>
          </a:p>
        </p:txBody>
      </p:sp>
      <p:sp>
        <p:nvSpPr>
          <p:cNvPr id="101" name="文本框 100"/>
          <p:cNvSpPr txBox="1"/>
          <p:nvPr/>
        </p:nvSpPr>
        <p:spPr bwMode="gray">
          <a:xfrm>
            <a:off x="3668281" y="4006549"/>
            <a:ext cx="756938" cy="276999"/>
          </a:xfrm>
          <a:prstGeom prst="rect">
            <a:avLst/>
          </a:prstGeom>
          <a:noFill/>
        </p:spPr>
        <p:txBody>
          <a:bodyPr wrap="square" rtlCol="0">
            <a:noAutofit/>
          </a:bodyPr>
          <a:lstStyle/>
          <a:p>
            <a:pPr fontAlgn="ctr"/>
            <a:r>
              <a:rPr lang="en-US" sz="1200">
                <a:solidFill>
                  <a:schemeClr val="bg1">
                    <a:lumMod val="50000"/>
                  </a:schemeClr>
                </a:solidFill>
                <a:latin typeface="Huawei Sans" panose="020C0503030203020204" pitchFamily="34" charset="0"/>
              </a:rPr>
              <a:t>GE0/0/1</a:t>
            </a:r>
          </a:p>
        </p:txBody>
      </p:sp>
      <p:sp>
        <p:nvSpPr>
          <p:cNvPr id="102" name="文本框 101"/>
          <p:cNvSpPr txBox="1"/>
          <p:nvPr/>
        </p:nvSpPr>
        <p:spPr bwMode="gray">
          <a:xfrm>
            <a:off x="5245685" y="4681180"/>
            <a:ext cx="756938" cy="276999"/>
          </a:xfrm>
          <a:prstGeom prst="rect">
            <a:avLst/>
          </a:prstGeom>
          <a:noFill/>
        </p:spPr>
        <p:txBody>
          <a:bodyPr wrap="square" rtlCol="0">
            <a:noAutofit/>
          </a:bodyPr>
          <a:lstStyle/>
          <a:p>
            <a:pPr fontAlgn="ctr"/>
            <a:r>
              <a:rPr lang="en-US" sz="1200">
                <a:solidFill>
                  <a:schemeClr val="bg1">
                    <a:lumMod val="50000"/>
                  </a:schemeClr>
                </a:solidFill>
                <a:latin typeface="Huawei Sans" panose="020C0503030203020204" pitchFamily="34" charset="0"/>
              </a:rPr>
              <a:t>GE0/0/2</a:t>
            </a:r>
          </a:p>
        </p:txBody>
      </p:sp>
      <p:sp>
        <p:nvSpPr>
          <p:cNvPr id="103" name="文本框 102"/>
          <p:cNvSpPr txBox="1"/>
          <p:nvPr/>
        </p:nvSpPr>
        <p:spPr bwMode="gray">
          <a:xfrm>
            <a:off x="5246685" y="4019286"/>
            <a:ext cx="756938" cy="276999"/>
          </a:xfrm>
          <a:prstGeom prst="rect">
            <a:avLst/>
          </a:prstGeom>
          <a:noFill/>
        </p:spPr>
        <p:txBody>
          <a:bodyPr wrap="square" rtlCol="0">
            <a:noAutofit/>
          </a:bodyPr>
          <a:lstStyle/>
          <a:p>
            <a:pPr fontAlgn="ctr"/>
            <a:r>
              <a:rPr lang="en-US" sz="1200" dirty="0">
                <a:solidFill>
                  <a:schemeClr val="bg1">
                    <a:lumMod val="50000"/>
                  </a:schemeClr>
                </a:solidFill>
                <a:latin typeface="Huawei Sans" panose="020C0503030203020204" pitchFamily="34" charset="0"/>
              </a:rPr>
              <a:t>GE0/0/3</a:t>
            </a:r>
          </a:p>
        </p:txBody>
      </p:sp>
      <p:pic>
        <p:nvPicPr>
          <p:cNvPr id="104" name="Picture 24" descr="E:\2016.01\1.12 扁平化图标\黄色\AR-黄色最新-41.png"/>
          <p:cNvPicPr>
            <a:picLocks noChangeAspect="1" noChangeArrowheads="1"/>
          </p:cNvPicPr>
          <p:nvPr/>
        </p:nvPicPr>
        <p:blipFill>
          <a:blip r:embed="rId5" cstate="print"/>
          <a:srcRect/>
          <a:stretch>
            <a:fillRect/>
          </a:stretch>
        </p:blipFill>
        <p:spPr bwMode="gray">
          <a:xfrm>
            <a:off x="4048018" y="4248333"/>
            <a:ext cx="540000" cy="440151"/>
          </a:xfrm>
          <a:prstGeom prst="rect">
            <a:avLst/>
          </a:prstGeom>
          <a:noFill/>
        </p:spPr>
      </p:pic>
      <p:pic>
        <p:nvPicPr>
          <p:cNvPr id="105" name="Picture 24" descr="E:\2016.01\1.12 扁平化图标\黄色\AR-黄色最新-41.png"/>
          <p:cNvPicPr>
            <a:picLocks noChangeAspect="1" noChangeArrowheads="1"/>
          </p:cNvPicPr>
          <p:nvPr/>
        </p:nvPicPr>
        <p:blipFill>
          <a:blip r:embed="rId5" cstate="print"/>
          <a:srcRect/>
          <a:stretch>
            <a:fillRect/>
          </a:stretch>
        </p:blipFill>
        <p:spPr bwMode="gray">
          <a:xfrm>
            <a:off x="5039589" y="4296285"/>
            <a:ext cx="540000" cy="440151"/>
          </a:xfrm>
          <a:prstGeom prst="rect">
            <a:avLst/>
          </a:prstGeom>
          <a:noFill/>
        </p:spPr>
      </p:pic>
      <p:cxnSp>
        <p:nvCxnSpPr>
          <p:cNvPr id="107" name="直接箭头连接符 106"/>
          <p:cNvCxnSpPr/>
          <p:nvPr/>
        </p:nvCxnSpPr>
        <p:spPr bwMode="gray">
          <a:xfrm flipV="1">
            <a:off x="4417341" y="4006550"/>
            <a:ext cx="0" cy="990954"/>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肘形连接符 108"/>
          <p:cNvCxnSpPr/>
          <p:nvPr/>
        </p:nvCxnSpPr>
        <p:spPr bwMode="gray">
          <a:xfrm flipV="1">
            <a:off x="4516590" y="4775254"/>
            <a:ext cx="624904" cy="222250"/>
          </a:xfrm>
          <a:prstGeom prst="bentConnector3">
            <a:avLst>
              <a:gd name="adj1" fmla="val -808"/>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nvGrpSpPr>
          <p:cNvPr id="121" name="组合 120"/>
          <p:cNvGrpSpPr>
            <a:grpSpLocks noChangeAspect="1"/>
          </p:cNvGrpSpPr>
          <p:nvPr/>
        </p:nvGrpSpPr>
        <p:grpSpPr bwMode="gray">
          <a:xfrm>
            <a:off x="4726184" y="4827200"/>
            <a:ext cx="180000" cy="180000"/>
            <a:chOff x="856677" y="2615810"/>
            <a:chExt cx="288000" cy="288000"/>
          </a:xfrm>
        </p:grpSpPr>
        <p:sp>
          <p:nvSpPr>
            <p:cNvPr id="122" name="椭圆 121"/>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font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3" name="组合 122"/>
            <p:cNvGrpSpPr/>
            <p:nvPr/>
          </p:nvGrpSpPr>
          <p:grpSpPr bwMode="gray">
            <a:xfrm>
              <a:off x="923444" y="2692169"/>
              <a:ext cx="144001" cy="144002"/>
              <a:chOff x="898853" y="2657982"/>
              <a:chExt cx="203649" cy="203652"/>
            </a:xfrm>
          </p:grpSpPr>
          <p:cxnSp>
            <p:nvCxnSpPr>
              <p:cNvPr id="124" name="直接连接符 123"/>
              <p:cNvCxnSpPr>
                <a:stCxn id="122" idx="3"/>
                <a:endCxn id="122"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125" name="直接连接符 124"/>
              <p:cNvCxnSpPr>
                <a:stCxn id="122" idx="1"/>
                <a:endCxn id="122"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132" name="组合 131"/>
          <p:cNvGrpSpPr/>
          <p:nvPr/>
        </p:nvGrpSpPr>
        <p:grpSpPr bwMode="gray">
          <a:xfrm>
            <a:off x="3342763" y="5250484"/>
            <a:ext cx="1194558" cy="929292"/>
            <a:chOff x="3342763" y="5462353"/>
            <a:chExt cx="1194558" cy="929292"/>
          </a:xfrm>
        </p:grpSpPr>
        <p:sp>
          <p:nvSpPr>
            <p:cNvPr id="128" name="forms_324103"/>
            <p:cNvSpPr>
              <a:spLocks noChangeAspect="1"/>
            </p:cNvSpPr>
            <p:nvPr/>
          </p:nvSpPr>
          <p:spPr bwMode="gray">
            <a:xfrm>
              <a:off x="3678858" y="5462353"/>
              <a:ext cx="503319" cy="609685"/>
            </a:xfrm>
            <a:custGeom>
              <a:avLst/>
              <a:gdLst>
                <a:gd name="connsiteX0" fmla="*/ 162114 w 500873"/>
                <a:gd name="connsiteY0" fmla="*/ 359955 h 606722"/>
                <a:gd name="connsiteX1" fmla="*/ 384486 w 500873"/>
                <a:gd name="connsiteY1" fmla="*/ 359955 h 606722"/>
                <a:gd name="connsiteX2" fmla="*/ 396860 w 500873"/>
                <a:gd name="connsiteY2" fmla="*/ 372295 h 606722"/>
                <a:gd name="connsiteX3" fmla="*/ 384486 w 500873"/>
                <a:gd name="connsiteY3" fmla="*/ 384723 h 606722"/>
                <a:gd name="connsiteX4" fmla="*/ 162114 w 500873"/>
                <a:gd name="connsiteY4" fmla="*/ 384723 h 606722"/>
                <a:gd name="connsiteX5" fmla="*/ 149740 w 500873"/>
                <a:gd name="connsiteY5" fmla="*/ 372295 h 606722"/>
                <a:gd name="connsiteX6" fmla="*/ 162114 w 500873"/>
                <a:gd name="connsiteY6" fmla="*/ 359955 h 606722"/>
                <a:gd name="connsiteX7" fmla="*/ 116452 w 500873"/>
                <a:gd name="connsiteY7" fmla="*/ 359955 h 606722"/>
                <a:gd name="connsiteX8" fmla="*/ 122058 w 500873"/>
                <a:gd name="connsiteY8" fmla="*/ 359955 h 606722"/>
                <a:gd name="connsiteX9" fmla="*/ 134427 w 500873"/>
                <a:gd name="connsiteY9" fmla="*/ 372295 h 606722"/>
                <a:gd name="connsiteX10" fmla="*/ 122058 w 500873"/>
                <a:gd name="connsiteY10" fmla="*/ 384723 h 606722"/>
                <a:gd name="connsiteX11" fmla="*/ 116452 w 500873"/>
                <a:gd name="connsiteY11" fmla="*/ 384723 h 606722"/>
                <a:gd name="connsiteX12" fmla="*/ 104084 w 500873"/>
                <a:gd name="connsiteY12" fmla="*/ 372295 h 606722"/>
                <a:gd name="connsiteX13" fmla="*/ 116452 w 500873"/>
                <a:gd name="connsiteY13" fmla="*/ 359955 h 606722"/>
                <a:gd name="connsiteX14" fmla="*/ 162114 w 500873"/>
                <a:gd name="connsiteY14" fmla="*/ 303290 h 606722"/>
                <a:gd name="connsiteX15" fmla="*/ 384486 w 500873"/>
                <a:gd name="connsiteY15" fmla="*/ 303290 h 606722"/>
                <a:gd name="connsiteX16" fmla="*/ 396860 w 500873"/>
                <a:gd name="connsiteY16" fmla="*/ 315754 h 606722"/>
                <a:gd name="connsiteX17" fmla="*/ 384486 w 500873"/>
                <a:gd name="connsiteY17" fmla="*/ 328129 h 606722"/>
                <a:gd name="connsiteX18" fmla="*/ 162114 w 500873"/>
                <a:gd name="connsiteY18" fmla="*/ 328129 h 606722"/>
                <a:gd name="connsiteX19" fmla="*/ 149740 w 500873"/>
                <a:gd name="connsiteY19" fmla="*/ 315754 h 606722"/>
                <a:gd name="connsiteX20" fmla="*/ 162114 w 500873"/>
                <a:gd name="connsiteY20" fmla="*/ 303290 h 606722"/>
                <a:gd name="connsiteX21" fmla="*/ 116452 w 500873"/>
                <a:gd name="connsiteY21" fmla="*/ 303290 h 606722"/>
                <a:gd name="connsiteX22" fmla="*/ 122058 w 500873"/>
                <a:gd name="connsiteY22" fmla="*/ 303290 h 606722"/>
                <a:gd name="connsiteX23" fmla="*/ 134427 w 500873"/>
                <a:gd name="connsiteY23" fmla="*/ 315754 h 606722"/>
                <a:gd name="connsiteX24" fmla="*/ 122058 w 500873"/>
                <a:gd name="connsiteY24" fmla="*/ 328129 h 606722"/>
                <a:gd name="connsiteX25" fmla="*/ 116452 w 500873"/>
                <a:gd name="connsiteY25" fmla="*/ 328129 h 606722"/>
                <a:gd name="connsiteX26" fmla="*/ 104084 w 500873"/>
                <a:gd name="connsiteY26" fmla="*/ 315754 h 606722"/>
                <a:gd name="connsiteX27" fmla="*/ 116452 w 500873"/>
                <a:gd name="connsiteY27" fmla="*/ 303290 h 606722"/>
                <a:gd name="connsiteX28" fmla="*/ 162114 w 500873"/>
                <a:gd name="connsiteY28" fmla="*/ 246767 h 606722"/>
                <a:gd name="connsiteX29" fmla="*/ 384486 w 500873"/>
                <a:gd name="connsiteY29" fmla="*/ 246767 h 606722"/>
                <a:gd name="connsiteX30" fmla="*/ 396860 w 500873"/>
                <a:gd name="connsiteY30" fmla="*/ 259151 h 606722"/>
                <a:gd name="connsiteX31" fmla="*/ 384486 w 500873"/>
                <a:gd name="connsiteY31" fmla="*/ 271535 h 606722"/>
                <a:gd name="connsiteX32" fmla="*/ 162114 w 500873"/>
                <a:gd name="connsiteY32" fmla="*/ 271535 h 606722"/>
                <a:gd name="connsiteX33" fmla="*/ 149740 w 500873"/>
                <a:gd name="connsiteY33" fmla="*/ 259151 h 606722"/>
                <a:gd name="connsiteX34" fmla="*/ 162114 w 500873"/>
                <a:gd name="connsiteY34" fmla="*/ 246767 h 606722"/>
                <a:gd name="connsiteX35" fmla="*/ 116452 w 500873"/>
                <a:gd name="connsiteY35" fmla="*/ 246767 h 606722"/>
                <a:gd name="connsiteX36" fmla="*/ 122058 w 500873"/>
                <a:gd name="connsiteY36" fmla="*/ 246767 h 606722"/>
                <a:gd name="connsiteX37" fmla="*/ 134427 w 500873"/>
                <a:gd name="connsiteY37" fmla="*/ 259151 h 606722"/>
                <a:gd name="connsiteX38" fmla="*/ 122058 w 500873"/>
                <a:gd name="connsiteY38" fmla="*/ 271535 h 606722"/>
                <a:gd name="connsiteX39" fmla="*/ 116452 w 500873"/>
                <a:gd name="connsiteY39" fmla="*/ 271535 h 606722"/>
                <a:gd name="connsiteX40" fmla="*/ 104084 w 500873"/>
                <a:gd name="connsiteY40" fmla="*/ 259151 h 606722"/>
                <a:gd name="connsiteX41" fmla="*/ 116452 w 500873"/>
                <a:gd name="connsiteY41" fmla="*/ 246767 h 606722"/>
                <a:gd name="connsiteX42" fmla="*/ 354029 w 500873"/>
                <a:gd name="connsiteY42" fmla="*/ 42302 h 606722"/>
                <a:gd name="connsiteX43" fmla="*/ 354029 w 500873"/>
                <a:gd name="connsiteY43" fmla="*/ 111266 h 606722"/>
                <a:gd name="connsiteX44" fmla="*/ 364352 w 500873"/>
                <a:gd name="connsiteY44" fmla="*/ 136328 h 606722"/>
                <a:gd name="connsiteX45" fmla="*/ 389449 w 500873"/>
                <a:gd name="connsiteY45" fmla="*/ 146726 h 606722"/>
                <a:gd name="connsiteX46" fmla="*/ 458600 w 500873"/>
                <a:gd name="connsiteY46" fmla="*/ 146726 h 606722"/>
                <a:gd name="connsiteX47" fmla="*/ 60250 w 500873"/>
                <a:gd name="connsiteY47" fmla="*/ 24795 h 606722"/>
                <a:gd name="connsiteX48" fmla="*/ 24830 w 500873"/>
                <a:gd name="connsiteY48" fmla="*/ 60165 h 606722"/>
                <a:gd name="connsiteX49" fmla="*/ 24830 w 500873"/>
                <a:gd name="connsiteY49" fmla="*/ 546557 h 606722"/>
                <a:gd name="connsiteX50" fmla="*/ 60250 w 500873"/>
                <a:gd name="connsiteY50" fmla="*/ 581927 h 606722"/>
                <a:gd name="connsiteX51" fmla="*/ 440623 w 500873"/>
                <a:gd name="connsiteY51" fmla="*/ 581927 h 606722"/>
                <a:gd name="connsiteX52" fmla="*/ 476132 w 500873"/>
                <a:gd name="connsiteY52" fmla="*/ 546557 h 606722"/>
                <a:gd name="connsiteX53" fmla="*/ 476132 w 500873"/>
                <a:gd name="connsiteY53" fmla="*/ 171432 h 606722"/>
                <a:gd name="connsiteX54" fmla="*/ 389449 w 500873"/>
                <a:gd name="connsiteY54" fmla="*/ 171432 h 606722"/>
                <a:gd name="connsiteX55" fmla="*/ 346820 w 500873"/>
                <a:gd name="connsiteY55" fmla="*/ 153835 h 606722"/>
                <a:gd name="connsiteX56" fmla="*/ 329199 w 500873"/>
                <a:gd name="connsiteY56" fmla="*/ 111266 h 606722"/>
                <a:gd name="connsiteX57" fmla="*/ 329199 w 500873"/>
                <a:gd name="connsiteY57" fmla="*/ 24795 h 606722"/>
                <a:gd name="connsiteX58" fmla="*/ 60250 w 500873"/>
                <a:gd name="connsiteY58" fmla="*/ 0 h 606722"/>
                <a:gd name="connsiteX59" fmla="*/ 341569 w 500873"/>
                <a:gd name="connsiteY59" fmla="*/ 0 h 606722"/>
                <a:gd name="connsiteX60" fmla="*/ 350380 w 500873"/>
                <a:gd name="connsiteY60" fmla="*/ 3643 h 606722"/>
                <a:gd name="connsiteX61" fmla="*/ 497313 w 500873"/>
                <a:gd name="connsiteY61" fmla="*/ 150369 h 606722"/>
                <a:gd name="connsiteX62" fmla="*/ 500873 w 500873"/>
                <a:gd name="connsiteY62" fmla="*/ 159079 h 606722"/>
                <a:gd name="connsiteX63" fmla="*/ 500873 w 500873"/>
                <a:gd name="connsiteY63" fmla="*/ 546557 h 606722"/>
                <a:gd name="connsiteX64" fmla="*/ 440623 w 500873"/>
                <a:gd name="connsiteY64" fmla="*/ 606722 h 606722"/>
                <a:gd name="connsiteX65" fmla="*/ 60250 w 500873"/>
                <a:gd name="connsiteY65" fmla="*/ 606722 h 606722"/>
                <a:gd name="connsiteX66" fmla="*/ 0 w 500873"/>
                <a:gd name="connsiteY66" fmla="*/ 546557 h 606722"/>
                <a:gd name="connsiteX67" fmla="*/ 0 w 500873"/>
                <a:gd name="connsiteY67" fmla="*/ 60165 h 606722"/>
                <a:gd name="connsiteX68" fmla="*/ 60250 w 500873"/>
                <a:gd name="connsiteY6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00873" h="606722">
                  <a:moveTo>
                    <a:pt x="162114" y="359955"/>
                  </a:moveTo>
                  <a:lnTo>
                    <a:pt x="384486" y="359955"/>
                  </a:lnTo>
                  <a:cubicBezTo>
                    <a:pt x="391252" y="359955"/>
                    <a:pt x="396860" y="365459"/>
                    <a:pt x="396860" y="372295"/>
                  </a:cubicBezTo>
                  <a:cubicBezTo>
                    <a:pt x="396860" y="379130"/>
                    <a:pt x="391252" y="384723"/>
                    <a:pt x="384486" y="384723"/>
                  </a:cubicBezTo>
                  <a:lnTo>
                    <a:pt x="162114" y="384723"/>
                  </a:lnTo>
                  <a:cubicBezTo>
                    <a:pt x="155260" y="384723"/>
                    <a:pt x="149740" y="379130"/>
                    <a:pt x="149740" y="372295"/>
                  </a:cubicBezTo>
                  <a:cubicBezTo>
                    <a:pt x="149740" y="365459"/>
                    <a:pt x="155260" y="359955"/>
                    <a:pt x="162114" y="359955"/>
                  </a:cubicBezTo>
                  <a:close/>
                  <a:moveTo>
                    <a:pt x="116452" y="359955"/>
                  </a:moveTo>
                  <a:lnTo>
                    <a:pt x="122058" y="359955"/>
                  </a:lnTo>
                  <a:cubicBezTo>
                    <a:pt x="128821" y="359955"/>
                    <a:pt x="134427" y="365459"/>
                    <a:pt x="134427" y="372295"/>
                  </a:cubicBezTo>
                  <a:cubicBezTo>
                    <a:pt x="134427" y="379130"/>
                    <a:pt x="128821" y="384723"/>
                    <a:pt x="122058" y="384723"/>
                  </a:cubicBezTo>
                  <a:lnTo>
                    <a:pt x="116452" y="384723"/>
                  </a:lnTo>
                  <a:cubicBezTo>
                    <a:pt x="109601" y="384723"/>
                    <a:pt x="104084" y="379130"/>
                    <a:pt x="104084" y="372295"/>
                  </a:cubicBezTo>
                  <a:cubicBezTo>
                    <a:pt x="104084" y="365459"/>
                    <a:pt x="109601" y="359955"/>
                    <a:pt x="116452" y="359955"/>
                  </a:cubicBezTo>
                  <a:close/>
                  <a:moveTo>
                    <a:pt x="162114" y="303290"/>
                  </a:moveTo>
                  <a:lnTo>
                    <a:pt x="384486" y="303290"/>
                  </a:lnTo>
                  <a:cubicBezTo>
                    <a:pt x="391252" y="303290"/>
                    <a:pt x="396860" y="308899"/>
                    <a:pt x="396860" y="315754"/>
                  </a:cubicBezTo>
                  <a:cubicBezTo>
                    <a:pt x="396860" y="322609"/>
                    <a:pt x="391252" y="328129"/>
                    <a:pt x="384486" y="328129"/>
                  </a:cubicBezTo>
                  <a:lnTo>
                    <a:pt x="162114" y="328129"/>
                  </a:lnTo>
                  <a:cubicBezTo>
                    <a:pt x="155260" y="328129"/>
                    <a:pt x="149740" y="322609"/>
                    <a:pt x="149740" y="315754"/>
                  </a:cubicBezTo>
                  <a:cubicBezTo>
                    <a:pt x="149740" y="308899"/>
                    <a:pt x="155260" y="303290"/>
                    <a:pt x="162114" y="303290"/>
                  </a:cubicBezTo>
                  <a:close/>
                  <a:moveTo>
                    <a:pt x="116452" y="303290"/>
                  </a:moveTo>
                  <a:lnTo>
                    <a:pt x="122058" y="303290"/>
                  </a:lnTo>
                  <a:cubicBezTo>
                    <a:pt x="128821" y="303290"/>
                    <a:pt x="134427" y="308899"/>
                    <a:pt x="134427" y="315754"/>
                  </a:cubicBezTo>
                  <a:cubicBezTo>
                    <a:pt x="134427" y="322609"/>
                    <a:pt x="128821" y="328129"/>
                    <a:pt x="122058" y="328129"/>
                  </a:cubicBezTo>
                  <a:lnTo>
                    <a:pt x="116452" y="328129"/>
                  </a:lnTo>
                  <a:cubicBezTo>
                    <a:pt x="109601" y="328129"/>
                    <a:pt x="104084" y="322609"/>
                    <a:pt x="104084" y="315754"/>
                  </a:cubicBezTo>
                  <a:cubicBezTo>
                    <a:pt x="104084" y="308899"/>
                    <a:pt x="109601" y="303290"/>
                    <a:pt x="116452" y="303290"/>
                  </a:cubicBezTo>
                  <a:close/>
                  <a:moveTo>
                    <a:pt x="162114" y="246767"/>
                  </a:moveTo>
                  <a:lnTo>
                    <a:pt x="384486" y="246767"/>
                  </a:lnTo>
                  <a:cubicBezTo>
                    <a:pt x="391252" y="246767"/>
                    <a:pt x="396860" y="252291"/>
                    <a:pt x="396860" y="259151"/>
                  </a:cubicBezTo>
                  <a:cubicBezTo>
                    <a:pt x="396860" y="266011"/>
                    <a:pt x="391252" y="271535"/>
                    <a:pt x="384486" y="271535"/>
                  </a:cubicBezTo>
                  <a:lnTo>
                    <a:pt x="162114" y="271535"/>
                  </a:lnTo>
                  <a:cubicBezTo>
                    <a:pt x="155260" y="271535"/>
                    <a:pt x="149740" y="266011"/>
                    <a:pt x="149740" y="259151"/>
                  </a:cubicBezTo>
                  <a:cubicBezTo>
                    <a:pt x="149740" y="252291"/>
                    <a:pt x="155260" y="246767"/>
                    <a:pt x="162114" y="246767"/>
                  </a:cubicBezTo>
                  <a:close/>
                  <a:moveTo>
                    <a:pt x="116452" y="246767"/>
                  </a:moveTo>
                  <a:lnTo>
                    <a:pt x="122058" y="246767"/>
                  </a:lnTo>
                  <a:cubicBezTo>
                    <a:pt x="128821" y="246767"/>
                    <a:pt x="134427" y="252291"/>
                    <a:pt x="134427" y="259151"/>
                  </a:cubicBezTo>
                  <a:cubicBezTo>
                    <a:pt x="134427" y="266011"/>
                    <a:pt x="128821" y="271535"/>
                    <a:pt x="122058" y="271535"/>
                  </a:cubicBezTo>
                  <a:lnTo>
                    <a:pt x="116452" y="271535"/>
                  </a:lnTo>
                  <a:cubicBezTo>
                    <a:pt x="109601" y="271535"/>
                    <a:pt x="104084" y="266011"/>
                    <a:pt x="104084" y="259151"/>
                  </a:cubicBezTo>
                  <a:cubicBezTo>
                    <a:pt x="104084" y="252291"/>
                    <a:pt x="109601" y="246767"/>
                    <a:pt x="116452" y="246767"/>
                  </a:cubicBezTo>
                  <a:close/>
                  <a:moveTo>
                    <a:pt x="354029" y="42302"/>
                  </a:moveTo>
                  <a:lnTo>
                    <a:pt x="354029" y="111266"/>
                  </a:lnTo>
                  <a:cubicBezTo>
                    <a:pt x="354029" y="120775"/>
                    <a:pt x="357678" y="129662"/>
                    <a:pt x="364352" y="136328"/>
                  </a:cubicBezTo>
                  <a:cubicBezTo>
                    <a:pt x="371116" y="142993"/>
                    <a:pt x="380016" y="146726"/>
                    <a:pt x="389449" y="146726"/>
                  </a:cubicBezTo>
                  <a:lnTo>
                    <a:pt x="458600" y="146726"/>
                  </a:lnTo>
                  <a:close/>
                  <a:moveTo>
                    <a:pt x="60250" y="24795"/>
                  </a:moveTo>
                  <a:cubicBezTo>
                    <a:pt x="40760" y="24795"/>
                    <a:pt x="24830" y="40614"/>
                    <a:pt x="24830" y="60165"/>
                  </a:cubicBezTo>
                  <a:lnTo>
                    <a:pt x="24830" y="546557"/>
                  </a:lnTo>
                  <a:cubicBezTo>
                    <a:pt x="24830" y="566019"/>
                    <a:pt x="40760" y="581927"/>
                    <a:pt x="60250" y="581927"/>
                  </a:cubicBezTo>
                  <a:lnTo>
                    <a:pt x="440623" y="581927"/>
                  </a:lnTo>
                  <a:cubicBezTo>
                    <a:pt x="460202" y="581927"/>
                    <a:pt x="476132" y="566019"/>
                    <a:pt x="476132" y="546557"/>
                  </a:cubicBezTo>
                  <a:lnTo>
                    <a:pt x="476132" y="171432"/>
                  </a:lnTo>
                  <a:lnTo>
                    <a:pt x="389449" y="171432"/>
                  </a:lnTo>
                  <a:cubicBezTo>
                    <a:pt x="373341" y="171432"/>
                    <a:pt x="358212" y="165211"/>
                    <a:pt x="346820" y="153835"/>
                  </a:cubicBezTo>
                  <a:cubicBezTo>
                    <a:pt x="335429" y="142460"/>
                    <a:pt x="329199" y="127352"/>
                    <a:pt x="329199" y="111266"/>
                  </a:cubicBezTo>
                  <a:lnTo>
                    <a:pt x="329199" y="24795"/>
                  </a:lnTo>
                  <a:close/>
                  <a:moveTo>
                    <a:pt x="60250" y="0"/>
                  </a:moveTo>
                  <a:lnTo>
                    <a:pt x="341569" y="0"/>
                  </a:lnTo>
                  <a:cubicBezTo>
                    <a:pt x="344862" y="0"/>
                    <a:pt x="348066" y="1333"/>
                    <a:pt x="350380" y="3643"/>
                  </a:cubicBezTo>
                  <a:lnTo>
                    <a:pt x="497313" y="150369"/>
                  </a:lnTo>
                  <a:cubicBezTo>
                    <a:pt x="499627" y="152680"/>
                    <a:pt x="500873" y="155791"/>
                    <a:pt x="500873" y="159079"/>
                  </a:cubicBezTo>
                  <a:lnTo>
                    <a:pt x="500873" y="546557"/>
                  </a:lnTo>
                  <a:cubicBezTo>
                    <a:pt x="500873" y="579705"/>
                    <a:pt x="473907" y="606722"/>
                    <a:pt x="440623" y="606722"/>
                  </a:cubicBezTo>
                  <a:lnTo>
                    <a:pt x="60250" y="606722"/>
                  </a:lnTo>
                  <a:cubicBezTo>
                    <a:pt x="27055" y="606722"/>
                    <a:pt x="0" y="579705"/>
                    <a:pt x="0" y="546557"/>
                  </a:cubicBezTo>
                  <a:lnTo>
                    <a:pt x="0" y="60165"/>
                  </a:lnTo>
                  <a:cubicBezTo>
                    <a:pt x="0" y="27017"/>
                    <a:pt x="27055" y="0"/>
                    <a:pt x="60250" y="0"/>
                  </a:cubicBezTo>
                  <a:close/>
                </a:path>
              </a:pathLst>
            </a:custGeom>
            <a:solidFill>
              <a:schemeClr val="accent1"/>
            </a:solidFill>
            <a:ln>
              <a:noFill/>
            </a:ln>
          </p:spPr>
        </p:sp>
        <p:sp>
          <p:nvSpPr>
            <p:cNvPr id="131" name="文本框 130"/>
            <p:cNvSpPr txBox="1"/>
            <p:nvPr/>
          </p:nvSpPr>
          <p:spPr bwMode="gray">
            <a:xfrm>
              <a:off x="3342763" y="6083868"/>
              <a:ext cx="1194558" cy="307777"/>
            </a:xfrm>
            <a:prstGeom prst="rect">
              <a:avLst/>
            </a:prstGeom>
            <a:noFill/>
          </p:spPr>
          <p:txBody>
            <a:bodyPr wrap="square" rtlCol="0">
              <a:noAutofit/>
            </a:bodyPr>
            <a:lstStyle/>
            <a:p>
              <a:pPr algn="ctr" fontAlgn="ctr"/>
              <a:r>
                <a:rPr lang="en-US" sz="1200" dirty="0">
                  <a:latin typeface="Huawei Sans" panose="020C0503030203020204" pitchFamily="34" charset="0"/>
                </a:rPr>
                <a:t>VPNA's routing table</a:t>
              </a:r>
            </a:p>
          </p:txBody>
        </p:sp>
      </p:grpSp>
      <p:grpSp>
        <p:nvGrpSpPr>
          <p:cNvPr id="134" name="组合 133"/>
          <p:cNvGrpSpPr/>
          <p:nvPr/>
        </p:nvGrpSpPr>
        <p:grpSpPr bwMode="gray">
          <a:xfrm>
            <a:off x="4619646" y="5260087"/>
            <a:ext cx="1085962" cy="925446"/>
            <a:chOff x="4362256" y="5462353"/>
            <a:chExt cx="1085962" cy="925446"/>
          </a:xfrm>
        </p:grpSpPr>
        <p:sp>
          <p:nvSpPr>
            <p:cNvPr id="129" name="forms_324103"/>
            <p:cNvSpPr>
              <a:spLocks noChangeAspect="1"/>
            </p:cNvSpPr>
            <p:nvPr/>
          </p:nvSpPr>
          <p:spPr bwMode="gray">
            <a:xfrm>
              <a:off x="4644053" y="5462353"/>
              <a:ext cx="503319" cy="609685"/>
            </a:xfrm>
            <a:custGeom>
              <a:avLst/>
              <a:gdLst>
                <a:gd name="connsiteX0" fmla="*/ 162114 w 500873"/>
                <a:gd name="connsiteY0" fmla="*/ 359955 h 606722"/>
                <a:gd name="connsiteX1" fmla="*/ 384486 w 500873"/>
                <a:gd name="connsiteY1" fmla="*/ 359955 h 606722"/>
                <a:gd name="connsiteX2" fmla="*/ 396860 w 500873"/>
                <a:gd name="connsiteY2" fmla="*/ 372295 h 606722"/>
                <a:gd name="connsiteX3" fmla="*/ 384486 w 500873"/>
                <a:gd name="connsiteY3" fmla="*/ 384723 h 606722"/>
                <a:gd name="connsiteX4" fmla="*/ 162114 w 500873"/>
                <a:gd name="connsiteY4" fmla="*/ 384723 h 606722"/>
                <a:gd name="connsiteX5" fmla="*/ 149740 w 500873"/>
                <a:gd name="connsiteY5" fmla="*/ 372295 h 606722"/>
                <a:gd name="connsiteX6" fmla="*/ 162114 w 500873"/>
                <a:gd name="connsiteY6" fmla="*/ 359955 h 606722"/>
                <a:gd name="connsiteX7" fmla="*/ 116452 w 500873"/>
                <a:gd name="connsiteY7" fmla="*/ 359955 h 606722"/>
                <a:gd name="connsiteX8" fmla="*/ 122058 w 500873"/>
                <a:gd name="connsiteY8" fmla="*/ 359955 h 606722"/>
                <a:gd name="connsiteX9" fmla="*/ 134427 w 500873"/>
                <a:gd name="connsiteY9" fmla="*/ 372295 h 606722"/>
                <a:gd name="connsiteX10" fmla="*/ 122058 w 500873"/>
                <a:gd name="connsiteY10" fmla="*/ 384723 h 606722"/>
                <a:gd name="connsiteX11" fmla="*/ 116452 w 500873"/>
                <a:gd name="connsiteY11" fmla="*/ 384723 h 606722"/>
                <a:gd name="connsiteX12" fmla="*/ 104084 w 500873"/>
                <a:gd name="connsiteY12" fmla="*/ 372295 h 606722"/>
                <a:gd name="connsiteX13" fmla="*/ 116452 w 500873"/>
                <a:gd name="connsiteY13" fmla="*/ 359955 h 606722"/>
                <a:gd name="connsiteX14" fmla="*/ 162114 w 500873"/>
                <a:gd name="connsiteY14" fmla="*/ 303290 h 606722"/>
                <a:gd name="connsiteX15" fmla="*/ 384486 w 500873"/>
                <a:gd name="connsiteY15" fmla="*/ 303290 h 606722"/>
                <a:gd name="connsiteX16" fmla="*/ 396860 w 500873"/>
                <a:gd name="connsiteY16" fmla="*/ 315754 h 606722"/>
                <a:gd name="connsiteX17" fmla="*/ 384486 w 500873"/>
                <a:gd name="connsiteY17" fmla="*/ 328129 h 606722"/>
                <a:gd name="connsiteX18" fmla="*/ 162114 w 500873"/>
                <a:gd name="connsiteY18" fmla="*/ 328129 h 606722"/>
                <a:gd name="connsiteX19" fmla="*/ 149740 w 500873"/>
                <a:gd name="connsiteY19" fmla="*/ 315754 h 606722"/>
                <a:gd name="connsiteX20" fmla="*/ 162114 w 500873"/>
                <a:gd name="connsiteY20" fmla="*/ 303290 h 606722"/>
                <a:gd name="connsiteX21" fmla="*/ 116452 w 500873"/>
                <a:gd name="connsiteY21" fmla="*/ 303290 h 606722"/>
                <a:gd name="connsiteX22" fmla="*/ 122058 w 500873"/>
                <a:gd name="connsiteY22" fmla="*/ 303290 h 606722"/>
                <a:gd name="connsiteX23" fmla="*/ 134427 w 500873"/>
                <a:gd name="connsiteY23" fmla="*/ 315754 h 606722"/>
                <a:gd name="connsiteX24" fmla="*/ 122058 w 500873"/>
                <a:gd name="connsiteY24" fmla="*/ 328129 h 606722"/>
                <a:gd name="connsiteX25" fmla="*/ 116452 w 500873"/>
                <a:gd name="connsiteY25" fmla="*/ 328129 h 606722"/>
                <a:gd name="connsiteX26" fmla="*/ 104084 w 500873"/>
                <a:gd name="connsiteY26" fmla="*/ 315754 h 606722"/>
                <a:gd name="connsiteX27" fmla="*/ 116452 w 500873"/>
                <a:gd name="connsiteY27" fmla="*/ 303290 h 606722"/>
                <a:gd name="connsiteX28" fmla="*/ 162114 w 500873"/>
                <a:gd name="connsiteY28" fmla="*/ 246767 h 606722"/>
                <a:gd name="connsiteX29" fmla="*/ 384486 w 500873"/>
                <a:gd name="connsiteY29" fmla="*/ 246767 h 606722"/>
                <a:gd name="connsiteX30" fmla="*/ 396860 w 500873"/>
                <a:gd name="connsiteY30" fmla="*/ 259151 h 606722"/>
                <a:gd name="connsiteX31" fmla="*/ 384486 w 500873"/>
                <a:gd name="connsiteY31" fmla="*/ 271535 h 606722"/>
                <a:gd name="connsiteX32" fmla="*/ 162114 w 500873"/>
                <a:gd name="connsiteY32" fmla="*/ 271535 h 606722"/>
                <a:gd name="connsiteX33" fmla="*/ 149740 w 500873"/>
                <a:gd name="connsiteY33" fmla="*/ 259151 h 606722"/>
                <a:gd name="connsiteX34" fmla="*/ 162114 w 500873"/>
                <a:gd name="connsiteY34" fmla="*/ 246767 h 606722"/>
                <a:gd name="connsiteX35" fmla="*/ 116452 w 500873"/>
                <a:gd name="connsiteY35" fmla="*/ 246767 h 606722"/>
                <a:gd name="connsiteX36" fmla="*/ 122058 w 500873"/>
                <a:gd name="connsiteY36" fmla="*/ 246767 h 606722"/>
                <a:gd name="connsiteX37" fmla="*/ 134427 w 500873"/>
                <a:gd name="connsiteY37" fmla="*/ 259151 h 606722"/>
                <a:gd name="connsiteX38" fmla="*/ 122058 w 500873"/>
                <a:gd name="connsiteY38" fmla="*/ 271535 h 606722"/>
                <a:gd name="connsiteX39" fmla="*/ 116452 w 500873"/>
                <a:gd name="connsiteY39" fmla="*/ 271535 h 606722"/>
                <a:gd name="connsiteX40" fmla="*/ 104084 w 500873"/>
                <a:gd name="connsiteY40" fmla="*/ 259151 h 606722"/>
                <a:gd name="connsiteX41" fmla="*/ 116452 w 500873"/>
                <a:gd name="connsiteY41" fmla="*/ 246767 h 606722"/>
                <a:gd name="connsiteX42" fmla="*/ 354029 w 500873"/>
                <a:gd name="connsiteY42" fmla="*/ 42302 h 606722"/>
                <a:gd name="connsiteX43" fmla="*/ 354029 w 500873"/>
                <a:gd name="connsiteY43" fmla="*/ 111266 h 606722"/>
                <a:gd name="connsiteX44" fmla="*/ 364352 w 500873"/>
                <a:gd name="connsiteY44" fmla="*/ 136328 h 606722"/>
                <a:gd name="connsiteX45" fmla="*/ 389449 w 500873"/>
                <a:gd name="connsiteY45" fmla="*/ 146726 h 606722"/>
                <a:gd name="connsiteX46" fmla="*/ 458600 w 500873"/>
                <a:gd name="connsiteY46" fmla="*/ 146726 h 606722"/>
                <a:gd name="connsiteX47" fmla="*/ 60250 w 500873"/>
                <a:gd name="connsiteY47" fmla="*/ 24795 h 606722"/>
                <a:gd name="connsiteX48" fmla="*/ 24830 w 500873"/>
                <a:gd name="connsiteY48" fmla="*/ 60165 h 606722"/>
                <a:gd name="connsiteX49" fmla="*/ 24830 w 500873"/>
                <a:gd name="connsiteY49" fmla="*/ 546557 h 606722"/>
                <a:gd name="connsiteX50" fmla="*/ 60250 w 500873"/>
                <a:gd name="connsiteY50" fmla="*/ 581927 h 606722"/>
                <a:gd name="connsiteX51" fmla="*/ 440623 w 500873"/>
                <a:gd name="connsiteY51" fmla="*/ 581927 h 606722"/>
                <a:gd name="connsiteX52" fmla="*/ 476132 w 500873"/>
                <a:gd name="connsiteY52" fmla="*/ 546557 h 606722"/>
                <a:gd name="connsiteX53" fmla="*/ 476132 w 500873"/>
                <a:gd name="connsiteY53" fmla="*/ 171432 h 606722"/>
                <a:gd name="connsiteX54" fmla="*/ 389449 w 500873"/>
                <a:gd name="connsiteY54" fmla="*/ 171432 h 606722"/>
                <a:gd name="connsiteX55" fmla="*/ 346820 w 500873"/>
                <a:gd name="connsiteY55" fmla="*/ 153835 h 606722"/>
                <a:gd name="connsiteX56" fmla="*/ 329199 w 500873"/>
                <a:gd name="connsiteY56" fmla="*/ 111266 h 606722"/>
                <a:gd name="connsiteX57" fmla="*/ 329199 w 500873"/>
                <a:gd name="connsiteY57" fmla="*/ 24795 h 606722"/>
                <a:gd name="connsiteX58" fmla="*/ 60250 w 500873"/>
                <a:gd name="connsiteY58" fmla="*/ 0 h 606722"/>
                <a:gd name="connsiteX59" fmla="*/ 341569 w 500873"/>
                <a:gd name="connsiteY59" fmla="*/ 0 h 606722"/>
                <a:gd name="connsiteX60" fmla="*/ 350380 w 500873"/>
                <a:gd name="connsiteY60" fmla="*/ 3643 h 606722"/>
                <a:gd name="connsiteX61" fmla="*/ 497313 w 500873"/>
                <a:gd name="connsiteY61" fmla="*/ 150369 h 606722"/>
                <a:gd name="connsiteX62" fmla="*/ 500873 w 500873"/>
                <a:gd name="connsiteY62" fmla="*/ 159079 h 606722"/>
                <a:gd name="connsiteX63" fmla="*/ 500873 w 500873"/>
                <a:gd name="connsiteY63" fmla="*/ 546557 h 606722"/>
                <a:gd name="connsiteX64" fmla="*/ 440623 w 500873"/>
                <a:gd name="connsiteY64" fmla="*/ 606722 h 606722"/>
                <a:gd name="connsiteX65" fmla="*/ 60250 w 500873"/>
                <a:gd name="connsiteY65" fmla="*/ 606722 h 606722"/>
                <a:gd name="connsiteX66" fmla="*/ 0 w 500873"/>
                <a:gd name="connsiteY66" fmla="*/ 546557 h 606722"/>
                <a:gd name="connsiteX67" fmla="*/ 0 w 500873"/>
                <a:gd name="connsiteY67" fmla="*/ 60165 h 606722"/>
                <a:gd name="connsiteX68" fmla="*/ 60250 w 500873"/>
                <a:gd name="connsiteY6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00873" h="606722">
                  <a:moveTo>
                    <a:pt x="162114" y="359955"/>
                  </a:moveTo>
                  <a:lnTo>
                    <a:pt x="384486" y="359955"/>
                  </a:lnTo>
                  <a:cubicBezTo>
                    <a:pt x="391252" y="359955"/>
                    <a:pt x="396860" y="365459"/>
                    <a:pt x="396860" y="372295"/>
                  </a:cubicBezTo>
                  <a:cubicBezTo>
                    <a:pt x="396860" y="379130"/>
                    <a:pt x="391252" y="384723"/>
                    <a:pt x="384486" y="384723"/>
                  </a:cubicBezTo>
                  <a:lnTo>
                    <a:pt x="162114" y="384723"/>
                  </a:lnTo>
                  <a:cubicBezTo>
                    <a:pt x="155260" y="384723"/>
                    <a:pt x="149740" y="379130"/>
                    <a:pt x="149740" y="372295"/>
                  </a:cubicBezTo>
                  <a:cubicBezTo>
                    <a:pt x="149740" y="365459"/>
                    <a:pt x="155260" y="359955"/>
                    <a:pt x="162114" y="359955"/>
                  </a:cubicBezTo>
                  <a:close/>
                  <a:moveTo>
                    <a:pt x="116452" y="359955"/>
                  </a:moveTo>
                  <a:lnTo>
                    <a:pt x="122058" y="359955"/>
                  </a:lnTo>
                  <a:cubicBezTo>
                    <a:pt x="128821" y="359955"/>
                    <a:pt x="134427" y="365459"/>
                    <a:pt x="134427" y="372295"/>
                  </a:cubicBezTo>
                  <a:cubicBezTo>
                    <a:pt x="134427" y="379130"/>
                    <a:pt x="128821" y="384723"/>
                    <a:pt x="122058" y="384723"/>
                  </a:cubicBezTo>
                  <a:lnTo>
                    <a:pt x="116452" y="384723"/>
                  </a:lnTo>
                  <a:cubicBezTo>
                    <a:pt x="109601" y="384723"/>
                    <a:pt x="104084" y="379130"/>
                    <a:pt x="104084" y="372295"/>
                  </a:cubicBezTo>
                  <a:cubicBezTo>
                    <a:pt x="104084" y="365459"/>
                    <a:pt x="109601" y="359955"/>
                    <a:pt x="116452" y="359955"/>
                  </a:cubicBezTo>
                  <a:close/>
                  <a:moveTo>
                    <a:pt x="162114" y="303290"/>
                  </a:moveTo>
                  <a:lnTo>
                    <a:pt x="384486" y="303290"/>
                  </a:lnTo>
                  <a:cubicBezTo>
                    <a:pt x="391252" y="303290"/>
                    <a:pt x="396860" y="308899"/>
                    <a:pt x="396860" y="315754"/>
                  </a:cubicBezTo>
                  <a:cubicBezTo>
                    <a:pt x="396860" y="322609"/>
                    <a:pt x="391252" y="328129"/>
                    <a:pt x="384486" y="328129"/>
                  </a:cubicBezTo>
                  <a:lnTo>
                    <a:pt x="162114" y="328129"/>
                  </a:lnTo>
                  <a:cubicBezTo>
                    <a:pt x="155260" y="328129"/>
                    <a:pt x="149740" y="322609"/>
                    <a:pt x="149740" y="315754"/>
                  </a:cubicBezTo>
                  <a:cubicBezTo>
                    <a:pt x="149740" y="308899"/>
                    <a:pt x="155260" y="303290"/>
                    <a:pt x="162114" y="303290"/>
                  </a:cubicBezTo>
                  <a:close/>
                  <a:moveTo>
                    <a:pt x="116452" y="303290"/>
                  </a:moveTo>
                  <a:lnTo>
                    <a:pt x="122058" y="303290"/>
                  </a:lnTo>
                  <a:cubicBezTo>
                    <a:pt x="128821" y="303290"/>
                    <a:pt x="134427" y="308899"/>
                    <a:pt x="134427" y="315754"/>
                  </a:cubicBezTo>
                  <a:cubicBezTo>
                    <a:pt x="134427" y="322609"/>
                    <a:pt x="128821" y="328129"/>
                    <a:pt x="122058" y="328129"/>
                  </a:cubicBezTo>
                  <a:lnTo>
                    <a:pt x="116452" y="328129"/>
                  </a:lnTo>
                  <a:cubicBezTo>
                    <a:pt x="109601" y="328129"/>
                    <a:pt x="104084" y="322609"/>
                    <a:pt x="104084" y="315754"/>
                  </a:cubicBezTo>
                  <a:cubicBezTo>
                    <a:pt x="104084" y="308899"/>
                    <a:pt x="109601" y="303290"/>
                    <a:pt x="116452" y="303290"/>
                  </a:cubicBezTo>
                  <a:close/>
                  <a:moveTo>
                    <a:pt x="162114" y="246767"/>
                  </a:moveTo>
                  <a:lnTo>
                    <a:pt x="384486" y="246767"/>
                  </a:lnTo>
                  <a:cubicBezTo>
                    <a:pt x="391252" y="246767"/>
                    <a:pt x="396860" y="252291"/>
                    <a:pt x="396860" y="259151"/>
                  </a:cubicBezTo>
                  <a:cubicBezTo>
                    <a:pt x="396860" y="266011"/>
                    <a:pt x="391252" y="271535"/>
                    <a:pt x="384486" y="271535"/>
                  </a:cubicBezTo>
                  <a:lnTo>
                    <a:pt x="162114" y="271535"/>
                  </a:lnTo>
                  <a:cubicBezTo>
                    <a:pt x="155260" y="271535"/>
                    <a:pt x="149740" y="266011"/>
                    <a:pt x="149740" y="259151"/>
                  </a:cubicBezTo>
                  <a:cubicBezTo>
                    <a:pt x="149740" y="252291"/>
                    <a:pt x="155260" y="246767"/>
                    <a:pt x="162114" y="246767"/>
                  </a:cubicBezTo>
                  <a:close/>
                  <a:moveTo>
                    <a:pt x="116452" y="246767"/>
                  </a:moveTo>
                  <a:lnTo>
                    <a:pt x="122058" y="246767"/>
                  </a:lnTo>
                  <a:cubicBezTo>
                    <a:pt x="128821" y="246767"/>
                    <a:pt x="134427" y="252291"/>
                    <a:pt x="134427" y="259151"/>
                  </a:cubicBezTo>
                  <a:cubicBezTo>
                    <a:pt x="134427" y="266011"/>
                    <a:pt x="128821" y="271535"/>
                    <a:pt x="122058" y="271535"/>
                  </a:cubicBezTo>
                  <a:lnTo>
                    <a:pt x="116452" y="271535"/>
                  </a:lnTo>
                  <a:cubicBezTo>
                    <a:pt x="109601" y="271535"/>
                    <a:pt x="104084" y="266011"/>
                    <a:pt x="104084" y="259151"/>
                  </a:cubicBezTo>
                  <a:cubicBezTo>
                    <a:pt x="104084" y="252291"/>
                    <a:pt x="109601" y="246767"/>
                    <a:pt x="116452" y="246767"/>
                  </a:cubicBezTo>
                  <a:close/>
                  <a:moveTo>
                    <a:pt x="354029" y="42302"/>
                  </a:moveTo>
                  <a:lnTo>
                    <a:pt x="354029" y="111266"/>
                  </a:lnTo>
                  <a:cubicBezTo>
                    <a:pt x="354029" y="120775"/>
                    <a:pt x="357678" y="129662"/>
                    <a:pt x="364352" y="136328"/>
                  </a:cubicBezTo>
                  <a:cubicBezTo>
                    <a:pt x="371116" y="142993"/>
                    <a:pt x="380016" y="146726"/>
                    <a:pt x="389449" y="146726"/>
                  </a:cubicBezTo>
                  <a:lnTo>
                    <a:pt x="458600" y="146726"/>
                  </a:lnTo>
                  <a:close/>
                  <a:moveTo>
                    <a:pt x="60250" y="24795"/>
                  </a:moveTo>
                  <a:cubicBezTo>
                    <a:pt x="40760" y="24795"/>
                    <a:pt x="24830" y="40614"/>
                    <a:pt x="24830" y="60165"/>
                  </a:cubicBezTo>
                  <a:lnTo>
                    <a:pt x="24830" y="546557"/>
                  </a:lnTo>
                  <a:cubicBezTo>
                    <a:pt x="24830" y="566019"/>
                    <a:pt x="40760" y="581927"/>
                    <a:pt x="60250" y="581927"/>
                  </a:cubicBezTo>
                  <a:lnTo>
                    <a:pt x="440623" y="581927"/>
                  </a:lnTo>
                  <a:cubicBezTo>
                    <a:pt x="460202" y="581927"/>
                    <a:pt x="476132" y="566019"/>
                    <a:pt x="476132" y="546557"/>
                  </a:cubicBezTo>
                  <a:lnTo>
                    <a:pt x="476132" y="171432"/>
                  </a:lnTo>
                  <a:lnTo>
                    <a:pt x="389449" y="171432"/>
                  </a:lnTo>
                  <a:cubicBezTo>
                    <a:pt x="373341" y="171432"/>
                    <a:pt x="358212" y="165211"/>
                    <a:pt x="346820" y="153835"/>
                  </a:cubicBezTo>
                  <a:cubicBezTo>
                    <a:pt x="335429" y="142460"/>
                    <a:pt x="329199" y="127352"/>
                    <a:pt x="329199" y="111266"/>
                  </a:cubicBezTo>
                  <a:lnTo>
                    <a:pt x="329199" y="24795"/>
                  </a:lnTo>
                  <a:close/>
                  <a:moveTo>
                    <a:pt x="60250" y="0"/>
                  </a:moveTo>
                  <a:lnTo>
                    <a:pt x="341569" y="0"/>
                  </a:lnTo>
                  <a:cubicBezTo>
                    <a:pt x="344862" y="0"/>
                    <a:pt x="348066" y="1333"/>
                    <a:pt x="350380" y="3643"/>
                  </a:cubicBezTo>
                  <a:lnTo>
                    <a:pt x="497313" y="150369"/>
                  </a:lnTo>
                  <a:cubicBezTo>
                    <a:pt x="499627" y="152680"/>
                    <a:pt x="500873" y="155791"/>
                    <a:pt x="500873" y="159079"/>
                  </a:cubicBezTo>
                  <a:lnTo>
                    <a:pt x="500873" y="546557"/>
                  </a:lnTo>
                  <a:cubicBezTo>
                    <a:pt x="500873" y="579705"/>
                    <a:pt x="473907" y="606722"/>
                    <a:pt x="440623" y="606722"/>
                  </a:cubicBezTo>
                  <a:lnTo>
                    <a:pt x="60250" y="606722"/>
                  </a:lnTo>
                  <a:cubicBezTo>
                    <a:pt x="27055" y="606722"/>
                    <a:pt x="0" y="579705"/>
                    <a:pt x="0" y="546557"/>
                  </a:cubicBezTo>
                  <a:lnTo>
                    <a:pt x="0" y="60165"/>
                  </a:lnTo>
                  <a:cubicBezTo>
                    <a:pt x="0" y="27017"/>
                    <a:pt x="27055" y="0"/>
                    <a:pt x="60250" y="0"/>
                  </a:cubicBezTo>
                  <a:close/>
                </a:path>
              </a:pathLst>
            </a:custGeom>
            <a:solidFill>
              <a:schemeClr val="accent1"/>
            </a:solidFill>
            <a:ln>
              <a:noFill/>
            </a:ln>
          </p:spPr>
        </p:sp>
        <p:sp>
          <p:nvSpPr>
            <p:cNvPr id="133" name="文本框 132"/>
            <p:cNvSpPr txBox="1"/>
            <p:nvPr/>
          </p:nvSpPr>
          <p:spPr bwMode="gray">
            <a:xfrm>
              <a:off x="4362256" y="6080022"/>
              <a:ext cx="1085962" cy="307777"/>
            </a:xfrm>
            <a:prstGeom prst="rect">
              <a:avLst/>
            </a:prstGeom>
            <a:noFill/>
          </p:spPr>
          <p:txBody>
            <a:bodyPr wrap="square" rtlCol="0">
              <a:noAutofit/>
            </a:bodyPr>
            <a:lstStyle/>
            <a:p>
              <a:pPr algn="ctr" fontAlgn="ctr"/>
              <a:r>
                <a:rPr lang="en-US" sz="1200" dirty="0">
                  <a:latin typeface="Huawei Sans" panose="020C0503030203020204" pitchFamily="34" charset="0"/>
                </a:rPr>
                <a:t>VPNB's routing table</a:t>
              </a:r>
            </a:p>
          </p:txBody>
        </p:sp>
      </p:grpSp>
      <p:sp>
        <p:nvSpPr>
          <p:cNvPr id="136" name="文本框 135"/>
          <p:cNvSpPr txBox="1"/>
          <p:nvPr/>
        </p:nvSpPr>
        <p:spPr bwMode="gray">
          <a:xfrm>
            <a:off x="5677039" y="5263392"/>
            <a:ext cx="433132" cy="523220"/>
          </a:xfrm>
          <a:prstGeom prst="rect">
            <a:avLst/>
          </a:prstGeom>
          <a:noFill/>
        </p:spPr>
        <p:txBody>
          <a:bodyPr wrap="square" rtlCol="0">
            <a:noAutofit/>
          </a:bodyPr>
          <a:lstStyle/>
          <a:p>
            <a:pPr fontAlgn="ctr"/>
            <a:r>
              <a:rPr lang="en-US" sz="2800">
                <a:solidFill>
                  <a:schemeClr val="bg1">
                    <a:lumMod val="50000"/>
                  </a:schemeClr>
                </a:solidFill>
                <a:latin typeface="Huawei Sans" panose="020C0503030203020204" pitchFamily="34" charset="0"/>
              </a:rPr>
              <a:t>...</a:t>
            </a:r>
          </a:p>
        </p:txBody>
      </p:sp>
      <p:sp>
        <p:nvSpPr>
          <p:cNvPr id="137" name="man-angry_10752"/>
          <p:cNvSpPr>
            <a:spLocks noChangeAspect="1"/>
          </p:cNvSpPr>
          <p:nvPr/>
        </p:nvSpPr>
        <p:spPr bwMode="gray">
          <a:xfrm>
            <a:off x="10958441" y="5098814"/>
            <a:ext cx="720080" cy="1288256"/>
          </a:xfrm>
          <a:custGeom>
            <a:avLst/>
            <a:gdLst>
              <a:gd name="connsiteX0" fmla="*/ 68160 w 334098"/>
              <a:gd name="connsiteY0" fmla="*/ 270064 h 597716"/>
              <a:gd name="connsiteX1" fmla="*/ 101585 w 334098"/>
              <a:gd name="connsiteY1" fmla="*/ 307987 h 597716"/>
              <a:gd name="connsiteX2" fmla="*/ 137289 w 334098"/>
              <a:gd name="connsiteY2" fmla="*/ 310262 h 597716"/>
              <a:gd name="connsiteX3" fmla="*/ 160839 w 334098"/>
              <a:gd name="connsiteY3" fmla="*/ 308745 h 597716"/>
              <a:gd name="connsiteX4" fmla="*/ 159320 w 334098"/>
              <a:gd name="connsiteY4" fmla="*/ 437682 h 597716"/>
              <a:gd name="connsiteX5" fmla="*/ 159320 w 334098"/>
              <a:gd name="connsiteY5" fmla="*/ 572687 h 597716"/>
              <a:gd name="connsiteX6" fmla="*/ 110701 w 334098"/>
              <a:gd name="connsiteY6" fmla="*/ 572687 h 597716"/>
              <a:gd name="connsiteX7" fmla="*/ 110701 w 334098"/>
              <a:gd name="connsiteY7" fmla="*/ 380798 h 597716"/>
              <a:gd name="connsiteX8" fmla="*/ 87152 w 334098"/>
              <a:gd name="connsiteY8" fmla="*/ 380798 h 597716"/>
              <a:gd name="connsiteX9" fmla="*/ 87152 w 334098"/>
              <a:gd name="connsiteY9" fmla="*/ 571928 h 597716"/>
              <a:gd name="connsiteX10" fmla="*/ 59804 w 334098"/>
              <a:gd name="connsiteY10" fmla="*/ 597716 h 597716"/>
              <a:gd name="connsiteX11" fmla="*/ 34735 w 334098"/>
              <a:gd name="connsiteY11" fmla="*/ 571928 h 597716"/>
              <a:gd name="connsiteX12" fmla="*/ 34735 w 334098"/>
              <a:gd name="connsiteY12" fmla="*/ 437682 h 597716"/>
              <a:gd name="connsiteX13" fmla="*/ 34735 w 334098"/>
              <a:gd name="connsiteY13" fmla="*/ 289784 h 597716"/>
              <a:gd name="connsiteX14" fmla="*/ 68160 w 334098"/>
              <a:gd name="connsiteY14" fmla="*/ 270064 h 597716"/>
              <a:gd name="connsiteX15" fmla="*/ 126724 w 334098"/>
              <a:gd name="connsiteY15" fmla="*/ 150296 h 597716"/>
              <a:gd name="connsiteX16" fmla="*/ 155584 w 334098"/>
              <a:gd name="connsiteY16" fmla="*/ 160916 h 597716"/>
              <a:gd name="connsiteX17" fmla="*/ 160900 w 334098"/>
              <a:gd name="connsiteY17" fmla="*/ 163191 h 597716"/>
              <a:gd name="connsiteX18" fmla="*/ 206468 w 334098"/>
              <a:gd name="connsiteY18" fmla="*/ 261800 h 597716"/>
              <a:gd name="connsiteX19" fmla="*/ 200392 w 334098"/>
              <a:gd name="connsiteY19" fmla="*/ 274695 h 597716"/>
              <a:gd name="connsiteX20" fmla="*/ 198114 w 334098"/>
              <a:gd name="connsiteY20" fmla="*/ 277729 h 597716"/>
              <a:gd name="connsiteX21" fmla="*/ 103180 w 334098"/>
              <a:gd name="connsiteY21" fmla="*/ 294417 h 597716"/>
              <a:gd name="connsiteX22" fmla="*/ 81915 w 334098"/>
              <a:gd name="connsiteY22" fmla="*/ 267110 h 597716"/>
              <a:gd name="connsiteX23" fmla="*/ 101661 w 334098"/>
              <a:gd name="connsiteY23" fmla="*/ 251180 h 597716"/>
              <a:gd name="connsiteX24" fmla="*/ 130521 w 334098"/>
              <a:gd name="connsiteY24" fmla="*/ 252698 h 597716"/>
              <a:gd name="connsiteX25" fmla="*/ 133559 w 334098"/>
              <a:gd name="connsiteY25" fmla="*/ 253456 h 597716"/>
              <a:gd name="connsiteX26" fmla="*/ 166976 w 334098"/>
              <a:gd name="connsiteY26" fmla="*/ 246629 h 597716"/>
              <a:gd name="connsiteX27" fmla="*/ 156343 w 334098"/>
              <a:gd name="connsiteY27" fmla="*/ 208703 h 597716"/>
              <a:gd name="connsiteX28" fmla="*/ 139635 w 334098"/>
              <a:gd name="connsiteY28" fmla="*/ 192774 h 597716"/>
              <a:gd name="connsiteX29" fmla="*/ 139635 w 334098"/>
              <a:gd name="connsiteY29" fmla="*/ 192015 h 597716"/>
              <a:gd name="connsiteX30" fmla="*/ 138116 w 334098"/>
              <a:gd name="connsiteY30" fmla="*/ 191257 h 597716"/>
              <a:gd name="connsiteX31" fmla="*/ 132040 w 334098"/>
              <a:gd name="connsiteY31" fmla="*/ 186706 h 597716"/>
              <a:gd name="connsiteX32" fmla="*/ 127483 w 334098"/>
              <a:gd name="connsiteY32" fmla="*/ 192015 h 597716"/>
              <a:gd name="connsiteX33" fmla="*/ 128243 w 334098"/>
              <a:gd name="connsiteY33" fmla="*/ 201118 h 597716"/>
              <a:gd name="connsiteX34" fmla="*/ 127483 w 334098"/>
              <a:gd name="connsiteY34" fmla="*/ 201118 h 597716"/>
              <a:gd name="connsiteX35" fmla="*/ 129002 w 334098"/>
              <a:gd name="connsiteY35" fmla="*/ 202635 h 597716"/>
              <a:gd name="connsiteX36" fmla="*/ 131281 w 334098"/>
              <a:gd name="connsiteY36" fmla="*/ 204152 h 597716"/>
              <a:gd name="connsiteX37" fmla="*/ 145711 w 334098"/>
              <a:gd name="connsiteY37" fmla="*/ 217805 h 597716"/>
              <a:gd name="connsiteX38" fmla="*/ 154824 w 334098"/>
              <a:gd name="connsiteY38" fmla="*/ 238286 h 597716"/>
              <a:gd name="connsiteX39" fmla="*/ 133559 w 334098"/>
              <a:gd name="connsiteY39" fmla="*/ 239044 h 597716"/>
              <a:gd name="connsiteX40" fmla="*/ 131281 w 334098"/>
              <a:gd name="connsiteY40" fmla="*/ 239044 h 597716"/>
              <a:gd name="connsiteX41" fmla="*/ 103180 w 334098"/>
              <a:gd name="connsiteY41" fmla="*/ 236768 h 597716"/>
              <a:gd name="connsiteX42" fmla="*/ 91029 w 334098"/>
              <a:gd name="connsiteY42" fmla="*/ 238286 h 597716"/>
              <a:gd name="connsiteX43" fmla="*/ 106218 w 334098"/>
              <a:gd name="connsiteY43" fmla="*/ 206427 h 597716"/>
              <a:gd name="connsiteX44" fmla="*/ 122167 w 334098"/>
              <a:gd name="connsiteY44" fmla="*/ 173052 h 597716"/>
              <a:gd name="connsiteX45" fmla="*/ 126724 w 334098"/>
              <a:gd name="connsiteY45" fmla="*/ 150296 h 597716"/>
              <a:gd name="connsiteX46" fmla="*/ 84913 w 334098"/>
              <a:gd name="connsiteY46" fmla="*/ 137342 h 597716"/>
              <a:gd name="connsiteX47" fmla="*/ 111501 w 334098"/>
              <a:gd name="connsiteY47" fmla="*/ 147204 h 597716"/>
              <a:gd name="connsiteX48" fmla="*/ 110742 w 334098"/>
              <a:gd name="connsiteY48" fmla="*/ 166169 h 597716"/>
              <a:gd name="connsiteX49" fmla="*/ 94029 w 334098"/>
              <a:gd name="connsiteY49" fmla="*/ 200307 h 597716"/>
              <a:gd name="connsiteX50" fmla="*/ 34775 w 334098"/>
              <a:gd name="connsiteY50" fmla="*/ 275409 h 597716"/>
              <a:gd name="connsiteX51" fmla="*/ 4389 w 334098"/>
              <a:gd name="connsiteY51" fmla="*/ 257203 h 597716"/>
              <a:gd name="connsiteX52" fmla="*/ 21101 w 334098"/>
              <a:gd name="connsiteY52" fmla="*/ 172997 h 597716"/>
              <a:gd name="connsiteX53" fmla="*/ 55286 w 334098"/>
              <a:gd name="connsiteY53" fmla="*/ 154790 h 597716"/>
              <a:gd name="connsiteX54" fmla="*/ 46170 w 334098"/>
              <a:gd name="connsiteY54" fmla="*/ 173755 h 597716"/>
              <a:gd name="connsiteX55" fmla="*/ 26419 w 334098"/>
              <a:gd name="connsiteY55" fmla="*/ 229893 h 597716"/>
              <a:gd name="connsiteX56" fmla="*/ 32496 w 334098"/>
              <a:gd name="connsiteY56" fmla="*/ 233686 h 597716"/>
              <a:gd name="connsiteX57" fmla="*/ 58325 w 334098"/>
              <a:gd name="connsiteY57" fmla="*/ 179824 h 597716"/>
              <a:gd name="connsiteX58" fmla="*/ 75037 w 334098"/>
              <a:gd name="connsiteY58" fmla="*/ 145687 h 597716"/>
              <a:gd name="connsiteX59" fmla="*/ 84913 w 334098"/>
              <a:gd name="connsiteY59" fmla="*/ 137342 h 597716"/>
              <a:gd name="connsiteX60" fmla="*/ 232297 w 334098"/>
              <a:gd name="connsiteY60" fmla="*/ 121421 h 597716"/>
              <a:gd name="connsiteX61" fmla="*/ 223187 w 334098"/>
              <a:gd name="connsiteY61" fmla="*/ 122179 h 597716"/>
              <a:gd name="connsiteX62" fmla="*/ 232297 w 334098"/>
              <a:gd name="connsiteY62" fmla="*/ 125972 h 597716"/>
              <a:gd name="connsiteX63" fmla="*/ 232297 w 334098"/>
              <a:gd name="connsiteY63" fmla="*/ 121421 h 597716"/>
              <a:gd name="connsiteX64" fmla="*/ 223946 w 334098"/>
              <a:gd name="connsiteY64" fmla="*/ 82731 h 597716"/>
              <a:gd name="connsiteX65" fmla="*/ 223946 w 334098"/>
              <a:gd name="connsiteY65" fmla="*/ 88042 h 597716"/>
              <a:gd name="connsiteX66" fmla="*/ 230020 w 334098"/>
              <a:gd name="connsiteY66" fmla="*/ 92593 h 597716"/>
              <a:gd name="connsiteX67" fmla="*/ 239130 w 334098"/>
              <a:gd name="connsiteY67" fmla="*/ 95628 h 597716"/>
              <a:gd name="connsiteX68" fmla="*/ 245963 w 334098"/>
              <a:gd name="connsiteY68" fmla="*/ 93352 h 597716"/>
              <a:gd name="connsiteX69" fmla="*/ 274812 w 334098"/>
              <a:gd name="connsiteY69" fmla="*/ 98662 h 597716"/>
              <a:gd name="connsiteX70" fmla="*/ 286959 w 334098"/>
              <a:gd name="connsiteY70" fmla="*/ 97145 h 597716"/>
              <a:gd name="connsiteX71" fmla="*/ 292273 w 334098"/>
              <a:gd name="connsiteY71" fmla="*/ 88042 h 597716"/>
              <a:gd name="connsiteX72" fmla="*/ 283922 w 334098"/>
              <a:gd name="connsiteY72" fmla="*/ 88800 h 597716"/>
              <a:gd name="connsiteX73" fmla="*/ 278608 w 334098"/>
              <a:gd name="connsiteY73" fmla="*/ 89559 h 597716"/>
              <a:gd name="connsiteX74" fmla="*/ 274053 w 334098"/>
              <a:gd name="connsiteY74" fmla="*/ 88800 h 597716"/>
              <a:gd name="connsiteX75" fmla="*/ 260387 w 334098"/>
              <a:gd name="connsiteY75" fmla="*/ 88042 h 597716"/>
              <a:gd name="connsiteX76" fmla="*/ 223946 w 334098"/>
              <a:gd name="connsiteY76" fmla="*/ 82731 h 597716"/>
              <a:gd name="connsiteX77" fmla="*/ 237611 w 334098"/>
              <a:gd name="connsiteY77" fmla="*/ 66042 h 597716"/>
              <a:gd name="connsiteX78" fmla="*/ 226224 w 334098"/>
              <a:gd name="connsiteY78" fmla="*/ 70594 h 597716"/>
              <a:gd name="connsiteX79" fmla="*/ 245203 w 334098"/>
              <a:gd name="connsiteY79" fmla="*/ 74387 h 597716"/>
              <a:gd name="connsiteX80" fmla="*/ 252036 w 334098"/>
              <a:gd name="connsiteY80" fmla="*/ 75145 h 597716"/>
              <a:gd name="connsiteX81" fmla="*/ 247481 w 334098"/>
              <a:gd name="connsiteY81" fmla="*/ 66801 h 597716"/>
              <a:gd name="connsiteX82" fmla="*/ 237611 w 334098"/>
              <a:gd name="connsiteY82" fmla="*/ 66042 h 597716"/>
              <a:gd name="connsiteX83" fmla="*/ 261146 w 334098"/>
              <a:gd name="connsiteY83" fmla="*/ 55421 h 597716"/>
              <a:gd name="connsiteX84" fmla="*/ 260387 w 334098"/>
              <a:gd name="connsiteY84" fmla="*/ 56180 h 597716"/>
              <a:gd name="connsiteX85" fmla="*/ 264942 w 334098"/>
              <a:gd name="connsiteY85" fmla="*/ 57697 h 597716"/>
              <a:gd name="connsiteX86" fmla="*/ 261146 w 334098"/>
              <a:gd name="connsiteY86" fmla="*/ 55421 h 597716"/>
              <a:gd name="connsiteX87" fmla="*/ 248240 w 334098"/>
              <a:gd name="connsiteY87" fmla="*/ 52387 h 597716"/>
              <a:gd name="connsiteX88" fmla="*/ 239130 w 334098"/>
              <a:gd name="connsiteY88" fmla="*/ 53904 h 597716"/>
              <a:gd name="connsiteX89" fmla="*/ 247481 w 334098"/>
              <a:gd name="connsiteY89" fmla="*/ 53904 h 597716"/>
              <a:gd name="connsiteX90" fmla="*/ 248240 w 334098"/>
              <a:gd name="connsiteY90" fmla="*/ 52387 h 597716"/>
              <a:gd name="connsiteX91" fmla="*/ 290755 w 334098"/>
              <a:gd name="connsiteY91" fmla="*/ 44042 h 597716"/>
              <a:gd name="connsiteX92" fmla="*/ 275571 w 334098"/>
              <a:gd name="connsiteY92" fmla="*/ 46318 h 597716"/>
              <a:gd name="connsiteX93" fmla="*/ 272534 w 334098"/>
              <a:gd name="connsiteY93" fmla="*/ 47077 h 597716"/>
              <a:gd name="connsiteX94" fmla="*/ 289237 w 334098"/>
              <a:gd name="connsiteY94" fmla="*/ 59973 h 597716"/>
              <a:gd name="connsiteX95" fmla="*/ 299106 w 334098"/>
              <a:gd name="connsiteY95" fmla="*/ 73628 h 597716"/>
              <a:gd name="connsiteX96" fmla="*/ 317327 w 334098"/>
              <a:gd name="connsiteY96" fmla="*/ 49352 h 597716"/>
              <a:gd name="connsiteX97" fmla="*/ 297588 w 334098"/>
              <a:gd name="connsiteY97" fmla="*/ 44042 h 597716"/>
              <a:gd name="connsiteX98" fmla="*/ 290755 w 334098"/>
              <a:gd name="connsiteY98" fmla="*/ 44042 h 597716"/>
              <a:gd name="connsiteX99" fmla="*/ 98579 w 334098"/>
              <a:gd name="connsiteY99" fmla="*/ 36498 h 597716"/>
              <a:gd name="connsiteX100" fmla="*/ 144147 w 334098"/>
              <a:gd name="connsiteY100" fmla="*/ 82005 h 597716"/>
              <a:gd name="connsiteX101" fmla="*/ 98579 w 334098"/>
              <a:gd name="connsiteY101" fmla="*/ 127512 h 597716"/>
              <a:gd name="connsiteX102" fmla="*/ 53011 w 334098"/>
              <a:gd name="connsiteY102" fmla="*/ 82005 h 597716"/>
              <a:gd name="connsiteX103" fmla="*/ 98579 w 334098"/>
              <a:gd name="connsiteY103" fmla="*/ 36498 h 597716"/>
              <a:gd name="connsiteX104" fmla="*/ 277469 w 334098"/>
              <a:gd name="connsiteY104" fmla="*/ 13129 h 597716"/>
              <a:gd name="connsiteX105" fmla="*/ 249759 w 334098"/>
              <a:gd name="connsiteY105" fmla="*/ 14456 h 597716"/>
              <a:gd name="connsiteX106" fmla="*/ 200411 w 334098"/>
              <a:gd name="connsiteY106" fmla="*/ 28111 h 597716"/>
              <a:gd name="connsiteX107" fmla="*/ 185986 w 334098"/>
              <a:gd name="connsiteY107" fmla="*/ 48594 h 597716"/>
              <a:gd name="connsiteX108" fmla="*/ 208762 w 334098"/>
              <a:gd name="connsiteY108" fmla="*/ 65283 h 597716"/>
              <a:gd name="connsiteX109" fmla="*/ 212558 w 334098"/>
              <a:gd name="connsiteY109" fmla="*/ 66801 h 597716"/>
              <a:gd name="connsiteX110" fmla="*/ 214076 w 334098"/>
              <a:gd name="connsiteY110" fmla="*/ 65283 h 597716"/>
              <a:gd name="connsiteX111" fmla="*/ 226983 w 334098"/>
              <a:gd name="connsiteY111" fmla="*/ 46318 h 597716"/>
              <a:gd name="connsiteX112" fmla="*/ 257350 w 334098"/>
              <a:gd name="connsiteY112" fmla="*/ 41008 h 597716"/>
              <a:gd name="connsiteX113" fmla="*/ 289237 w 334098"/>
              <a:gd name="connsiteY113" fmla="*/ 31146 h 597716"/>
              <a:gd name="connsiteX114" fmla="*/ 277469 w 334098"/>
              <a:gd name="connsiteY114" fmla="*/ 13129 h 597716"/>
              <a:gd name="connsiteX115" fmla="*/ 256876 w 334098"/>
              <a:gd name="connsiteY115" fmla="*/ 422 h 597716"/>
              <a:gd name="connsiteX116" fmla="*/ 302143 w 334098"/>
              <a:gd name="connsiteY116" fmla="*/ 31904 h 597716"/>
              <a:gd name="connsiteX117" fmla="*/ 312772 w 334098"/>
              <a:gd name="connsiteY117" fmla="*/ 34180 h 597716"/>
              <a:gd name="connsiteX118" fmla="*/ 327196 w 334098"/>
              <a:gd name="connsiteY118" fmla="*/ 73628 h 597716"/>
              <a:gd name="connsiteX119" fmla="*/ 303661 w 334098"/>
              <a:gd name="connsiteY119" fmla="*/ 85766 h 597716"/>
              <a:gd name="connsiteX120" fmla="*/ 289996 w 334098"/>
              <a:gd name="connsiteY120" fmla="*/ 109283 h 597716"/>
              <a:gd name="connsiteX121" fmla="*/ 276330 w 334098"/>
              <a:gd name="connsiteY121" fmla="*/ 111559 h 597716"/>
              <a:gd name="connsiteX122" fmla="*/ 273294 w 334098"/>
              <a:gd name="connsiteY122" fmla="*/ 115352 h 597716"/>
              <a:gd name="connsiteX123" fmla="*/ 253555 w 334098"/>
              <a:gd name="connsiteY123" fmla="*/ 122938 h 597716"/>
              <a:gd name="connsiteX124" fmla="*/ 240648 w 334098"/>
              <a:gd name="connsiteY124" fmla="*/ 135834 h 597716"/>
              <a:gd name="connsiteX125" fmla="*/ 258869 w 334098"/>
              <a:gd name="connsiteY125" fmla="*/ 148731 h 597716"/>
              <a:gd name="connsiteX126" fmla="*/ 248240 w 334098"/>
              <a:gd name="connsiteY126" fmla="*/ 155558 h 597716"/>
              <a:gd name="connsiteX127" fmla="*/ 207244 w 334098"/>
              <a:gd name="connsiteY127" fmla="*/ 124455 h 597716"/>
              <a:gd name="connsiteX128" fmla="*/ 217872 w 334098"/>
              <a:gd name="connsiteY128" fmla="*/ 106248 h 597716"/>
              <a:gd name="connsiteX129" fmla="*/ 216354 w 334098"/>
              <a:gd name="connsiteY129" fmla="*/ 103214 h 597716"/>
              <a:gd name="connsiteX130" fmla="*/ 211799 w 334098"/>
              <a:gd name="connsiteY130" fmla="*/ 91076 h 597716"/>
              <a:gd name="connsiteX131" fmla="*/ 208762 w 334098"/>
              <a:gd name="connsiteY131" fmla="*/ 78180 h 597716"/>
              <a:gd name="connsiteX132" fmla="*/ 193578 w 334098"/>
              <a:gd name="connsiteY132" fmla="*/ 71352 h 597716"/>
              <a:gd name="connsiteX133" fmla="*/ 185986 w 334098"/>
              <a:gd name="connsiteY133" fmla="*/ 21284 h 597716"/>
              <a:gd name="connsiteX134" fmla="*/ 256876 w 334098"/>
              <a:gd name="connsiteY134" fmla="*/ 422 h 59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334098" h="597716">
                <a:moveTo>
                  <a:pt x="68160" y="270064"/>
                </a:moveTo>
                <a:cubicBezTo>
                  <a:pt x="68160" y="288267"/>
                  <a:pt x="80315" y="305712"/>
                  <a:pt x="101585" y="307987"/>
                </a:cubicBezTo>
                <a:cubicBezTo>
                  <a:pt x="111461" y="308745"/>
                  <a:pt x="123615" y="310262"/>
                  <a:pt x="137289" y="310262"/>
                </a:cubicBezTo>
                <a:cubicBezTo>
                  <a:pt x="144886" y="310262"/>
                  <a:pt x="152483" y="309504"/>
                  <a:pt x="160839" y="308745"/>
                </a:cubicBezTo>
                <a:lnTo>
                  <a:pt x="159320" y="437682"/>
                </a:lnTo>
                <a:lnTo>
                  <a:pt x="159320" y="572687"/>
                </a:lnTo>
                <a:cubicBezTo>
                  <a:pt x="159320" y="603783"/>
                  <a:pt x="110701" y="603783"/>
                  <a:pt x="110701" y="572687"/>
                </a:cubicBezTo>
                <a:lnTo>
                  <a:pt x="110701" y="380798"/>
                </a:lnTo>
                <a:lnTo>
                  <a:pt x="87152" y="380798"/>
                </a:lnTo>
                <a:lnTo>
                  <a:pt x="87152" y="571928"/>
                </a:lnTo>
                <a:cubicBezTo>
                  <a:pt x="87152" y="586339"/>
                  <a:pt x="74997" y="597716"/>
                  <a:pt x="59804" y="597716"/>
                </a:cubicBezTo>
                <a:cubicBezTo>
                  <a:pt x="45370" y="597716"/>
                  <a:pt x="34735" y="586339"/>
                  <a:pt x="34735" y="571928"/>
                </a:cubicBezTo>
                <a:lnTo>
                  <a:pt x="34735" y="437682"/>
                </a:lnTo>
                <a:lnTo>
                  <a:pt x="34735" y="289784"/>
                </a:lnTo>
                <a:cubicBezTo>
                  <a:pt x="48409" y="285992"/>
                  <a:pt x="59044" y="279166"/>
                  <a:pt x="68160" y="270064"/>
                </a:cubicBezTo>
                <a:close/>
                <a:moveTo>
                  <a:pt x="126724" y="150296"/>
                </a:moveTo>
                <a:cubicBezTo>
                  <a:pt x="141154" y="154089"/>
                  <a:pt x="151027" y="158640"/>
                  <a:pt x="155584" y="160916"/>
                </a:cubicBezTo>
                <a:cubicBezTo>
                  <a:pt x="157103" y="161674"/>
                  <a:pt x="158621" y="162433"/>
                  <a:pt x="160900" y="163191"/>
                </a:cubicBezTo>
                <a:cubicBezTo>
                  <a:pt x="193557" y="186706"/>
                  <a:pt x="217860" y="220081"/>
                  <a:pt x="206468" y="261800"/>
                </a:cubicBezTo>
                <a:cubicBezTo>
                  <a:pt x="204949" y="267110"/>
                  <a:pt x="202671" y="270902"/>
                  <a:pt x="200392" y="274695"/>
                </a:cubicBezTo>
                <a:cubicBezTo>
                  <a:pt x="199633" y="275453"/>
                  <a:pt x="198873" y="276970"/>
                  <a:pt x="198114" y="277729"/>
                </a:cubicBezTo>
                <a:cubicBezTo>
                  <a:pt x="179127" y="298209"/>
                  <a:pt x="141913" y="297451"/>
                  <a:pt x="103180" y="294417"/>
                </a:cubicBezTo>
                <a:cubicBezTo>
                  <a:pt x="87991" y="292900"/>
                  <a:pt x="81156" y="279246"/>
                  <a:pt x="81915" y="267110"/>
                </a:cubicBezTo>
                <a:cubicBezTo>
                  <a:pt x="82675" y="263317"/>
                  <a:pt x="85713" y="249663"/>
                  <a:pt x="101661" y="251180"/>
                </a:cubicBezTo>
                <a:cubicBezTo>
                  <a:pt x="112294" y="251939"/>
                  <a:pt x="121408" y="252698"/>
                  <a:pt x="130521" y="252698"/>
                </a:cubicBezTo>
                <a:lnTo>
                  <a:pt x="133559" y="253456"/>
                </a:lnTo>
                <a:cubicBezTo>
                  <a:pt x="157862" y="253456"/>
                  <a:pt x="164697" y="252698"/>
                  <a:pt x="166976" y="246629"/>
                </a:cubicBezTo>
                <a:cubicBezTo>
                  <a:pt x="173052" y="233734"/>
                  <a:pt x="165457" y="217805"/>
                  <a:pt x="156343" y="208703"/>
                </a:cubicBezTo>
                <a:cubicBezTo>
                  <a:pt x="150267" y="201876"/>
                  <a:pt x="144951" y="197325"/>
                  <a:pt x="139635" y="192774"/>
                </a:cubicBezTo>
                <a:cubicBezTo>
                  <a:pt x="139635" y="192774"/>
                  <a:pt x="139635" y="192774"/>
                  <a:pt x="139635" y="192015"/>
                </a:cubicBezTo>
                <a:cubicBezTo>
                  <a:pt x="138875" y="192015"/>
                  <a:pt x="138116" y="191257"/>
                  <a:pt x="138116" y="191257"/>
                </a:cubicBezTo>
                <a:lnTo>
                  <a:pt x="132040" y="186706"/>
                </a:lnTo>
                <a:lnTo>
                  <a:pt x="127483" y="192015"/>
                </a:lnTo>
                <a:cubicBezTo>
                  <a:pt x="124445" y="195808"/>
                  <a:pt x="125964" y="198842"/>
                  <a:pt x="128243" y="201118"/>
                </a:cubicBezTo>
                <a:lnTo>
                  <a:pt x="127483" y="201118"/>
                </a:lnTo>
                <a:cubicBezTo>
                  <a:pt x="128243" y="201876"/>
                  <a:pt x="129002" y="201876"/>
                  <a:pt x="129002" y="202635"/>
                </a:cubicBezTo>
                <a:cubicBezTo>
                  <a:pt x="129762" y="202635"/>
                  <a:pt x="130521" y="203393"/>
                  <a:pt x="131281" y="204152"/>
                </a:cubicBezTo>
                <a:cubicBezTo>
                  <a:pt x="135837" y="207944"/>
                  <a:pt x="140394" y="211737"/>
                  <a:pt x="145711" y="217805"/>
                </a:cubicBezTo>
                <a:cubicBezTo>
                  <a:pt x="151027" y="223873"/>
                  <a:pt x="155584" y="232217"/>
                  <a:pt x="154824" y="238286"/>
                </a:cubicBezTo>
                <a:cubicBezTo>
                  <a:pt x="149508" y="239044"/>
                  <a:pt x="138116" y="239044"/>
                  <a:pt x="133559" y="239044"/>
                </a:cubicBezTo>
                <a:lnTo>
                  <a:pt x="131281" y="239044"/>
                </a:lnTo>
                <a:cubicBezTo>
                  <a:pt x="122167" y="239044"/>
                  <a:pt x="113053" y="238286"/>
                  <a:pt x="103180" y="236768"/>
                </a:cubicBezTo>
                <a:cubicBezTo>
                  <a:pt x="98624" y="236768"/>
                  <a:pt x="94826" y="236768"/>
                  <a:pt x="91029" y="238286"/>
                </a:cubicBezTo>
                <a:cubicBezTo>
                  <a:pt x="96345" y="227666"/>
                  <a:pt x="101661" y="216288"/>
                  <a:pt x="106218" y="206427"/>
                </a:cubicBezTo>
                <a:cubicBezTo>
                  <a:pt x="111535" y="194291"/>
                  <a:pt x="116851" y="182154"/>
                  <a:pt x="122167" y="173052"/>
                </a:cubicBezTo>
                <a:cubicBezTo>
                  <a:pt x="126724" y="165467"/>
                  <a:pt x="128243" y="157882"/>
                  <a:pt x="126724" y="150296"/>
                </a:cubicBezTo>
                <a:close/>
                <a:moveTo>
                  <a:pt x="84913" y="137342"/>
                </a:moveTo>
                <a:cubicBezTo>
                  <a:pt x="94789" y="135066"/>
                  <a:pt x="105424" y="139618"/>
                  <a:pt x="111501" y="147204"/>
                </a:cubicBezTo>
                <a:cubicBezTo>
                  <a:pt x="114540" y="152514"/>
                  <a:pt x="114540" y="159342"/>
                  <a:pt x="110742" y="166169"/>
                </a:cubicBezTo>
                <a:cubicBezTo>
                  <a:pt x="104664" y="176031"/>
                  <a:pt x="99347" y="188169"/>
                  <a:pt x="94029" y="200307"/>
                </a:cubicBezTo>
                <a:cubicBezTo>
                  <a:pt x="79595" y="232927"/>
                  <a:pt x="64402" y="266306"/>
                  <a:pt x="34775" y="275409"/>
                </a:cubicBezTo>
                <a:cubicBezTo>
                  <a:pt x="34775" y="275409"/>
                  <a:pt x="8947" y="279202"/>
                  <a:pt x="4389" y="257203"/>
                </a:cubicBezTo>
                <a:cubicBezTo>
                  <a:pt x="-11564" y="201065"/>
                  <a:pt x="21101" y="172997"/>
                  <a:pt x="21101" y="172997"/>
                </a:cubicBezTo>
                <a:cubicBezTo>
                  <a:pt x="32496" y="164652"/>
                  <a:pt x="43891" y="158583"/>
                  <a:pt x="55286" y="154790"/>
                </a:cubicBezTo>
                <a:cubicBezTo>
                  <a:pt x="50728" y="163893"/>
                  <a:pt x="46170" y="172997"/>
                  <a:pt x="46170" y="173755"/>
                </a:cubicBezTo>
                <a:lnTo>
                  <a:pt x="26419" y="229893"/>
                </a:lnTo>
                <a:lnTo>
                  <a:pt x="32496" y="233686"/>
                </a:lnTo>
                <a:lnTo>
                  <a:pt x="58325" y="179824"/>
                </a:lnTo>
                <a:cubicBezTo>
                  <a:pt x="58325" y="179066"/>
                  <a:pt x="68960" y="156307"/>
                  <a:pt x="75037" y="145687"/>
                </a:cubicBezTo>
                <a:cubicBezTo>
                  <a:pt x="78076" y="141135"/>
                  <a:pt x="81115" y="138859"/>
                  <a:pt x="84913" y="137342"/>
                </a:cubicBezTo>
                <a:close/>
                <a:moveTo>
                  <a:pt x="232297" y="121421"/>
                </a:moveTo>
                <a:cubicBezTo>
                  <a:pt x="228501" y="120662"/>
                  <a:pt x="225464" y="121421"/>
                  <a:pt x="223187" y="122179"/>
                </a:cubicBezTo>
                <a:cubicBezTo>
                  <a:pt x="223187" y="124455"/>
                  <a:pt x="226224" y="125972"/>
                  <a:pt x="232297" y="125972"/>
                </a:cubicBezTo>
                <a:cubicBezTo>
                  <a:pt x="240648" y="125214"/>
                  <a:pt x="238371" y="121421"/>
                  <a:pt x="232297" y="121421"/>
                </a:cubicBezTo>
                <a:close/>
                <a:moveTo>
                  <a:pt x="223946" y="82731"/>
                </a:moveTo>
                <a:cubicBezTo>
                  <a:pt x="223187" y="84249"/>
                  <a:pt x="223946" y="86525"/>
                  <a:pt x="223946" y="88042"/>
                </a:cubicBezTo>
                <a:cubicBezTo>
                  <a:pt x="225464" y="89559"/>
                  <a:pt x="227742" y="91076"/>
                  <a:pt x="230020" y="92593"/>
                </a:cubicBezTo>
                <a:cubicBezTo>
                  <a:pt x="233056" y="93352"/>
                  <a:pt x="236093" y="94869"/>
                  <a:pt x="239130" y="95628"/>
                </a:cubicBezTo>
                <a:cubicBezTo>
                  <a:pt x="241407" y="94869"/>
                  <a:pt x="243685" y="94111"/>
                  <a:pt x="245963" y="93352"/>
                </a:cubicBezTo>
                <a:cubicBezTo>
                  <a:pt x="255832" y="91835"/>
                  <a:pt x="267220" y="91076"/>
                  <a:pt x="274812" y="98662"/>
                </a:cubicBezTo>
                <a:cubicBezTo>
                  <a:pt x="278608" y="98662"/>
                  <a:pt x="283163" y="97904"/>
                  <a:pt x="286959" y="97145"/>
                </a:cubicBezTo>
                <a:cubicBezTo>
                  <a:pt x="291514" y="95628"/>
                  <a:pt x="293033" y="92593"/>
                  <a:pt x="292273" y="88042"/>
                </a:cubicBezTo>
                <a:cubicBezTo>
                  <a:pt x="289237" y="88800"/>
                  <a:pt x="286200" y="88800"/>
                  <a:pt x="283922" y="88800"/>
                </a:cubicBezTo>
                <a:cubicBezTo>
                  <a:pt x="282404" y="88800"/>
                  <a:pt x="280126" y="89559"/>
                  <a:pt x="278608" y="89559"/>
                </a:cubicBezTo>
                <a:cubicBezTo>
                  <a:pt x="277090" y="89559"/>
                  <a:pt x="275571" y="89559"/>
                  <a:pt x="274053" y="88800"/>
                </a:cubicBezTo>
                <a:cubicBezTo>
                  <a:pt x="269498" y="88800"/>
                  <a:pt x="264942" y="88800"/>
                  <a:pt x="260387" y="88042"/>
                </a:cubicBezTo>
                <a:cubicBezTo>
                  <a:pt x="248240" y="87283"/>
                  <a:pt x="235334" y="85766"/>
                  <a:pt x="223946" y="82731"/>
                </a:cubicBezTo>
                <a:close/>
                <a:moveTo>
                  <a:pt x="237611" y="66042"/>
                </a:moveTo>
                <a:cubicBezTo>
                  <a:pt x="233815" y="66801"/>
                  <a:pt x="229260" y="68318"/>
                  <a:pt x="226224" y="70594"/>
                </a:cubicBezTo>
                <a:cubicBezTo>
                  <a:pt x="232297" y="72111"/>
                  <a:pt x="239130" y="72870"/>
                  <a:pt x="245203" y="74387"/>
                </a:cubicBezTo>
                <a:cubicBezTo>
                  <a:pt x="247481" y="74387"/>
                  <a:pt x="249759" y="74387"/>
                  <a:pt x="252036" y="75145"/>
                </a:cubicBezTo>
                <a:cubicBezTo>
                  <a:pt x="249759" y="72111"/>
                  <a:pt x="248240" y="69835"/>
                  <a:pt x="247481" y="66801"/>
                </a:cubicBezTo>
                <a:cubicBezTo>
                  <a:pt x="244444" y="66042"/>
                  <a:pt x="240648" y="66042"/>
                  <a:pt x="237611" y="66042"/>
                </a:cubicBezTo>
                <a:close/>
                <a:moveTo>
                  <a:pt x="261146" y="55421"/>
                </a:moveTo>
                <a:cubicBezTo>
                  <a:pt x="260387" y="55421"/>
                  <a:pt x="260387" y="56180"/>
                  <a:pt x="260387" y="56180"/>
                </a:cubicBezTo>
                <a:cubicBezTo>
                  <a:pt x="261906" y="56939"/>
                  <a:pt x="263424" y="56939"/>
                  <a:pt x="264942" y="57697"/>
                </a:cubicBezTo>
                <a:cubicBezTo>
                  <a:pt x="263424" y="56939"/>
                  <a:pt x="261906" y="56180"/>
                  <a:pt x="261146" y="55421"/>
                </a:cubicBezTo>
                <a:close/>
                <a:moveTo>
                  <a:pt x="248240" y="52387"/>
                </a:moveTo>
                <a:cubicBezTo>
                  <a:pt x="245203" y="51628"/>
                  <a:pt x="242167" y="52387"/>
                  <a:pt x="239130" y="53904"/>
                </a:cubicBezTo>
                <a:cubicBezTo>
                  <a:pt x="241407" y="53904"/>
                  <a:pt x="244444" y="53904"/>
                  <a:pt x="247481" y="53904"/>
                </a:cubicBezTo>
                <a:cubicBezTo>
                  <a:pt x="248240" y="53146"/>
                  <a:pt x="248240" y="52387"/>
                  <a:pt x="248240" y="52387"/>
                </a:cubicBezTo>
                <a:close/>
                <a:moveTo>
                  <a:pt x="290755" y="44042"/>
                </a:moveTo>
                <a:cubicBezTo>
                  <a:pt x="285441" y="44801"/>
                  <a:pt x="280126" y="45559"/>
                  <a:pt x="275571" y="46318"/>
                </a:cubicBezTo>
                <a:cubicBezTo>
                  <a:pt x="274812" y="46318"/>
                  <a:pt x="274053" y="47077"/>
                  <a:pt x="272534" y="47077"/>
                </a:cubicBezTo>
                <a:cubicBezTo>
                  <a:pt x="278608" y="50870"/>
                  <a:pt x="284681" y="55421"/>
                  <a:pt x="289237" y="59973"/>
                </a:cubicBezTo>
                <a:cubicBezTo>
                  <a:pt x="293033" y="63008"/>
                  <a:pt x="296069" y="68318"/>
                  <a:pt x="299106" y="73628"/>
                </a:cubicBezTo>
                <a:cubicBezTo>
                  <a:pt x="307457" y="71352"/>
                  <a:pt x="334029" y="58456"/>
                  <a:pt x="317327" y="49352"/>
                </a:cubicBezTo>
                <a:cubicBezTo>
                  <a:pt x="311253" y="46318"/>
                  <a:pt x="304420" y="44801"/>
                  <a:pt x="297588" y="44042"/>
                </a:cubicBezTo>
                <a:cubicBezTo>
                  <a:pt x="296069" y="45559"/>
                  <a:pt x="293033" y="45559"/>
                  <a:pt x="290755" y="44042"/>
                </a:cubicBezTo>
                <a:close/>
                <a:moveTo>
                  <a:pt x="98579" y="36498"/>
                </a:moveTo>
                <a:cubicBezTo>
                  <a:pt x="123746" y="36498"/>
                  <a:pt x="144147" y="56872"/>
                  <a:pt x="144147" y="82005"/>
                </a:cubicBezTo>
                <a:cubicBezTo>
                  <a:pt x="144147" y="107138"/>
                  <a:pt x="123746" y="127512"/>
                  <a:pt x="98579" y="127512"/>
                </a:cubicBezTo>
                <a:cubicBezTo>
                  <a:pt x="73412" y="127512"/>
                  <a:pt x="53011" y="107138"/>
                  <a:pt x="53011" y="82005"/>
                </a:cubicBezTo>
                <a:cubicBezTo>
                  <a:pt x="53011" y="56872"/>
                  <a:pt x="73412" y="36498"/>
                  <a:pt x="98579" y="36498"/>
                </a:cubicBezTo>
                <a:close/>
                <a:moveTo>
                  <a:pt x="277469" y="13129"/>
                </a:moveTo>
                <a:cubicBezTo>
                  <a:pt x="269498" y="11232"/>
                  <a:pt x="258869" y="12560"/>
                  <a:pt x="249759" y="14456"/>
                </a:cubicBezTo>
                <a:cubicBezTo>
                  <a:pt x="233815" y="17491"/>
                  <a:pt x="215595" y="20525"/>
                  <a:pt x="200411" y="28111"/>
                </a:cubicBezTo>
                <a:cubicBezTo>
                  <a:pt x="193578" y="31904"/>
                  <a:pt x="178394" y="37973"/>
                  <a:pt x="185986" y="48594"/>
                </a:cubicBezTo>
                <a:cubicBezTo>
                  <a:pt x="192060" y="56939"/>
                  <a:pt x="200411" y="61490"/>
                  <a:pt x="208762" y="65283"/>
                </a:cubicBezTo>
                <a:cubicBezTo>
                  <a:pt x="210280" y="65283"/>
                  <a:pt x="211799" y="66042"/>
                  <a:pt x="212558" y="66801"/>
                </a:cubicBezTo>
                <a:cubicBezTo>
                  <a:pt x="213317" y="66042"/>
                  <a:pt x="213317" y="65283"/>
                  <a:pt x="214076" y="65283"/>
                </a:cubicBezTo>
                <a:cubicBezTo>
                  <a:pt x="216354" y="57697"/>
                  <a:pt x="220909" y="50870"/>
                  <a:pt x="226983" y="46318"/>
                </a:cubicBezTo>
                <a:cubicBezTo>
                  <a:pt x="236852" y="39491"/>
                  <a:pt x="247481" y="38732"/>
                  <a:pt x="257350" y="41008"/>
                </a:cubicBezTo>
                <a:cubicBezTo>
                  <a:pt x="266461" y="34939"/>
                  <a:pt x="277849" y="31904"/>
                  <a:pt x="289237" y="31146"/>
                </a:cubicBezTo>
                <a:cubicBezTo>
                  <a:pt x="290755" y="20146"/>
                  <a:pt x="285441" y="15025"/>
                  <a:pt x="277469" y="13129"/>
                </a:cubicBezTo>
                <a:close/>
                <a:moveTo>
                  <a:pt x="256876" y="422"/>
                </a:moveTo>
                <a:cubicBezTo>
                  <a:pt x="283543" y="-1854"/>
                  <a:pt x="305939" y="4594"/>
                  <a:pt x="302143" y="31904"/>
                </a:cubicBezTo>
                <a:cubicBezTo>
                  <a:pt x="305939" y="32663"/>
                  <a:pt x="309735" y="33422"/>
                  <a:pt x="312772" y="34180"/>
                </a:cubicBezTo>
                <a:cubicBezTo>
                  <a:pt x="330233" y="38732"/>
                  <a:pt x="342380" y="57697"/>
                  <a:pt x="327196" y="73628"/>
                </a:cubicBezTo>
                <a:cubicBezTo>
                  <a:pt x="321123" y="79697"/>
                  <a:pt x="312772" y="83490"/>
                  <a:pt x="303661" y="85766"/>
                </a:cubicBezTo>
                <a:cubicBezTo>
                  <a:pt x="305939" y="96387"/>
                  <a:pt x="303661" y="106248"/>
                  <a:pt x="289996" y="109283"/>
                </a:cubicBezTo>
                <a:cubicBezTo>
                  <a:pt x="286200" y="110042"/>
                  <a:pt x="280885" y="110800"/>
                  <a:pt x="276330" y="111559"/>
                </a:cubicBezTo>
                <a:cubicBezTo>
                  <a:pt x="275571" y="112317"/>
                  <a:pt x="274812" y="113835"/>
                  <a:pt x="273294" y="115352"/>
                </a:cubicBezTo>
                <a:cubicBezTo>
                  <a:pt x="268738" y="120662"/>
                  <a:pt x="261146" y="122938"/>
                  <a:pt x="253555" y="122938"/>
                </a:cubicBezTo>
                <a:cubicBezTo>
                  <a:pt x="254314" y="129007"/>
                  <a:pt x="248240" y="133559"/>
                  <a:pt x="240648" y="135834"/>
                </a:cubicBezTo>
                <a:cubicBezTo>
                  <a:pt x="247481" y="139627"/>
                  <a:pt x="254314" y="143421"/>
                  <a:pt x="258869" y="148731"/>
                </a:cubicBezTo>
                <a:cubicBezTo>
                  <a:pt x="263424" y="155558"/>
                  <a:pt x="252795" y="161627"/>
                  <a:pt x="248240" y="155558"/>
                </a:cubicBezTo>
                <a:cubicBezTo>
                  <a:pt x="239130" y="143421"/>
                  <a:pt x="207244" y="142662"/>
                  <a:pt x="207244" y="124455"/>
                </a:cubicBezTo>
                <a:cubicBezTo>
                  <a:pt x="206485" y="117628"/>
                  <a:pt x="211040" y="111559"/>
                  <a:pt x="217872" y="106248"/>
                </a:cubicBezTo>
                <a:cubicBezTo>
                  <a:pt x="217113" y="105490"/>
                  <a:pt x="216354" y="104731"/>
                  <a:pt x="216354" y="103214"/>
                </a:cubicBezTo>
                <a:cubicBezTo>
                  <a:pt x="214076" y="99421"/>
                  <a:pt x="212558" y="94869"/>
                  <a:pt x="211799" y="91076"/>
                </a:cubicBezTo>
                <a:cubicBezTo>
                  <a:pt x="210280" y="86525"/>
                  <a:pt x="208762" y="82731"/>
                  <a:pt x="208762" y="78180"/>
                </a:cubicBezTo>
                <a:cubicBezTo>
                  <a:pt x="203448" y="76663"/>
                  <a:pt x="198893" y="74387"/>
                  <a:pt x="193578" y="71352"/>
                </a:cubicBezTo>
                <a:cubicBezTo>
                  <a:pt x="173839" y="59214"/>
                  <a:pt x="161692" y="36456"/>
                  <a:pt x="185986" y="21284"/>
                </a:cubicBezTo>
                <a:cubicBezTo>
                  <a:pt x="199272" y="13698"/>
                  <a:pt x="230209" y="2698"/>
                  <a:pt x="256876" y="422"/>
                </a:cubicBezTo>
                <a:close/>
              </a:path>
            </a:pathLst>
          </a:custGeom>
          <a:solidFill>
            <a:srgbClr val="3FCDFF"/>
          </a:solidFill>
          <a:ln>
            <a:noFill/>
          </a:ln>
        </p:spPr>
        <p:txBody>
          <a:bodyPr wrap="square">
            <a:noAutofit/>
          </a:bodyPr>
          <a:lstStyle/>
          <a:p>
            <a:pPr fontAlgn="ctr"/>
            <a:endParaRPr lang="zh-CN" altLang="en-US">
              <a:latin typeface="Huawei Sans" panose="020C0503030203020204" pitchFamily="34" charset="0"/>
            </a:endParaRPr>
          </a:p>
        </p:txBody>
      </p:sp>
      <p:sp>
        <p:nvSpPr>
          <p:cNvPr id="138" name="圆角矩形标注 137"/>
          <p:cNvSpPr/>
          <p:nvPr/>
        </p:nvSpPr>
        <p:spPr bwMode="gray">
          <a:xfrm>
            <a:off x="9350995" y="4733988"/>
            <a:ext cx="1636021" cy="590885"/>
          </a:xfrm>
          <a:prstGeom prst="wedgeRoundRectCallout">
            <a:avLst>
              <a:gd name="adj1" fmla="val 38922"/>
              <a:gd name="adj2" fmla="val 78570"/>
              <a:gd name="adj3" fmla="val 16667"/>
            </a:avLst>
          </a:prstGeom>
          <a:solidFill>
            <a:schemeClr val="bg1"/>
          </a:solidFill>
          <a:ln w="1905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l" defTabSz="914400" rtl="0" eaLnBrk="1" fontAlgn="ctr" latinLnBrk="0" hangingPunct="1">
              <a:spcBef>
                <a:spcPct val="0"/>
              </a:spcBef>
              <a:spcAft>
                <a:spcPct val="0"/>
              </a:spcAft>
              <a:buClrTx/>
              <a:buSzTx/>
              <a:buFontTx/>
              <a:buNone/>
              <a:tabLst/>
            </a:pPr>
            <a:r>
              <a:rPr lang="en-US" sz="1200" dirty="0">
                <a:latin typeface="Huawei Sans" panose="020C0503030203020204" pitchFamily="34" charset="0"/>
                <a:ea typeface="方正兰亭黑简体" panose="02000000000000000000" pitchFamily="2" charset="-122"/>
                <a:cs typeface="Huawei Sans" panose="020C0503030203020204" pitchFamily="34" charset="0"/>
              </a:rPr>
              <a:t>How many routing tables are there on this router?</a:t>
            </a:r>
          </a:p>
        </p:txBody>
      </p:sp>
    </p:spTree>
    <p:custDataLst>
      <p:tags r:id="rId1"/>
    </p:custDataLst>
    <p:extLst>
      <p:ext uri="{BB962C8B-B14F-4D97-AF65-F5344CB8AC3E}">
        <p14:creationId xmlns:p14="http://schemas.microsoft.com/office/powerpoint/2010/main" val="165066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47"/>
          <p:cNvSpPr/>
          <p:nvPr/>
        </p:nvSpPr>
        <p:spPr bwMode="gray">
          <a:xfrm>
            <a:off x="1077522" y="3162722"/>
            <a:ext cx="4193612" cy="1747829"/>
          </a:xfrm>
          <a:prstGeom prst="rect">
            <a:avLst/>
          </a:prstGeom>
          <a:solidFill>
            <a:srgbClr val="F3FBFE"/>
          </a:solidFill>
          <a:ln w="19050" cap="flat" cmpd="sng" algn="ctr">
            <a:solidFill>
              <a:srgbClr val="BAE6F6">
                <a:lumMod val="75000"/>
              </a:srgb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endParaRPr>
          </a:p>
        </p:txBody>
      </p:sp>
      <p:cxnSp>
        <p:nvCxnSpPr>
          <p:cNvPr id="72" name="直接连接符 487"/>
          <p:cNvCxnSpPr/>
          <p:nvPr/>
        </p:nvCxnSpPr>
        <p:spPr bwMode="gray">
          <a:xfrm flipV="1">
            <a:off x="4266666" y="1616557"/>
            <a:ext cx="0" cy="2001860"/>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sp>
        <p:nvSpPr>
          <p:cNvPr id="73" name="Freeform 159"/>
          <p:cNvSpPr/>
          <p:nvPr/>
        </p:nvSpPr>
        <p:spPr bwMode="gray">
          <a:xfrm flipH="1">
            <a:off x="3807633" y="1348861"/>
            <a:ext cx="1005448" cy="5255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graphicFrame>
        <p:nvGraphicFramePr>
          <p:cNvPr id="75" name="表格 46"/>
          <p:cNvGraphicFramePr>
            <a:graphicFrameLocks noGrp="1"/>
          </p:cNvGraphicFramePr>
          <p:nvPr>
            <p:extLst>
              <p:ext uri="{D42A27DB-BD31-4B8C-83A1-F6EECF244321}">
                <p14:modId xmlns:p14="http://schemas.microsoft.com/office/powerpoint/2010/main" val="2321447717"/>
              </p:ext>
            </p:extLst>
          </p:nvPr>
        </p:nvGraphicFramePr>
        <p:xfrm>
          <a:off x="6367309" y="1613443"/>
          <a:ext cx="4949205" cy="2048394"/>
        </p:xfrm>
        <a:graphic>
          <a:graphicData uri="http://schemas.openxmlformats.org/drawingml/2006/table">
            <a:tbl>
              <a:tblPr firstRow="1" bandRow="1"/>
              <a:tblGrid>
                <a:gridCol w="1706623">
                  <a:extLst>
                    <a:ext uri="{9D8B030D-6E8A-4147-A177-3AD203B41FA5}">
                      <a16:colId xmlns:a16="http://schemas.microsoft.com/office/drawing/2014/main" val="20000"/>
                    </a:ext>
                  </a:extLst>
                </a:gridCol>
                <a:gridCol w="889093">
                  <a:extLst>
                    <a:ext uri="{9D8B030D-6E8A-4147-A177-3AD203B41FA5}">
                      <a16:colId xmlns:a16="http://schemas.microsoft.com/office/drawing/2014/main" val="20001"/>
                    </a:ext>
                  </a:extLst>
                </a:gridCol>
                <a:gridCol w="989179">
                  <a:extLst>
                    <a:ext uri="{9D8B030D-6E8A-4147-A177-3AD203B41FA5}">
                      <a16:colId xmlns:a16="http://schemas.microsoft.com/office/drawing/2014/main" val="20002"/>
                    </a:ext>
                  </a:extLst>
                </a:gridCol>
                <a:gridCol w="1364310">
                  <a:extLst>
                    <a:ext uri="{9D8B030D-6E8A-4147-A177-3AD203B41FA5}">
                      <a16:colId xmlns:a16="http://schemas.microsoft.com/office/drawing/2014/main" val="20003"/>
                    </a:ext>
                  </a:extLst>
                </a:gridCol>
              </a:tblGrid>
              <a:tr h="402474">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dirty="0">
                          <a:solidFill>
                            <a:schemeClr val="bg1"/>
                          </a:solidFill>
                          <a:latin typeface="Huawei Sans" panose="020C0503030203020204" pitchFamily="34" charset="0"/>
                          <a:ea typeface="方正兰亭黑简体" panose="02000000000000000000" pitchFamily="2" charset="-122"/>
                          <a:cs typeface="+mn-cs"/>
                        </a:rPr>
                        <a:t>Destination/Mask</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a:solidFill>
                            <a:schemeClr val="bg1"/>
                          </a:solidFill>
                          <a:latin typeface="Huawei Sans" panose="020C0503030203020204" pitchFamily="34" charset="0"/>
                          <a:ea typeface="方正兰亭黑简体" panose="02000000000000000000" pitchFamily="2" charset="-122"/>
                          <a:cs typeface="+mn-cs"/>
                        </a:rPr>
                        <a:t>Protocol</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dirty="0">
                          <a:solidFill>
                            <a:schemeClr val="bg1"/>
                          </a:solidFill>
                          <a:latin typeface="Huawei Sans" panose="020C0503030203020204" pitchFamily="34" charset="0"/>
                          <a:ea typeface="方正兰亭黑简体" panose="02000000000000000000" pitchFamily="2" charset="-122"/>
                          <a:cs typeface="+mn-cs"/>
                        </a:rPr>
                        <a:t>Interface</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dirty="0" err="1">
                          <a:solidFill>
                            <a:schemeClr val="bg1"/>
                          </a:solidFill>
                          <a:latin typeface="Huawei Sans" panose="020C0503030203020204" pitchFamily="34" charset="0"/>
                          <a:ea typeface="方正兰亭黑简体" panose="02000000000000000000" pitchFamily="2" charset="-122"/>
                          <a:cs typeface="+mn-cs"/>
                        </a:rPr>
                        <a:t>NextHop</a:t>
                      </a:r>
                      <a:endParaRPr lang="en-US" sz="1200" dirty="0">
                        <a:solidFill>
                          <a:schemeClr val="bg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41485">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192.168.1.0/24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dirty="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dirty="0">
                          <a:solidFill>
                            <a:schemeClr val="tx1"/>
                          </a:solidFill>
                          <a:latin typeface="Huawei Sans" panose="020C0503030203020204" pitchFamily="34" charset="0"/>
                          <a:ea typeface="方正兰亭黑简体" panose="02000000000000000000" pitchFamily="2" charset="-122"/>
                          <a:cs typeface="+mn-cs"/>
                        </a:rPr>
                        <a:t>VLANIF10</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192.168.1.254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241485">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172.16.1.0/24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VLANIF200</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172.16.1.254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241485">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VLANIF11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192.168.100.1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41485">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172.16.100.0/24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VLANIF201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172.16.100.1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241485">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1.1.1.0/24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Static</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VLANIF11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192.168.100.2</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41485">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2.2.2.0/24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Static</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algn="ctr" defTabSz="914034" rtl="0" eaLnBrk="1" fontAlgn="ctr" latinLnBrk="0" hangingPunct="1">
                        <a:lnSpc>
                          <a:spcPct val="100000"/>
                        </a:lnSpc>
                      </a:pPr>
                      <a:r>
                        <a:rPr lang="en-US" sz="1200">
                          <a:solidFill>
                            <a:schemeClr val="tx1"/>
                          </a:solidFill>
                          <a:latin typeface="Huawei Sans" panose="020C0503030203020204" pitchFamily="34" charset="0"/>
                          <a:ea typeface="方正兰亭黑简体" panose="02000000000000000000" pitchFamily="2" charset="-122"/>
                          <a:cs typeface="+mn-cs"/>
                        </a:rPr>
                        <a:t>VLANIF201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172.16.100.2</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6"/>
                  </a:ext>
                </a:extLst>
              </a:tr>
            </a:tbl>
          </a:graphicData>
        </a:graphic>
      </p:graphicFrame>
      <p:cxnSp>
        <p:nvCxnSpPr>
          <p:cNvPr id="76" name="直接连接符 487"/>
          <p:cNvCxnSpPr/>
          <p:nvPr/>
        </p:nvCxnSpPr>
        <p:spPr bwMode="gray">
          <a:xfrm flipV="1">
            <a:off x="2076424" y="4628931"/>
            <a:ext cx="0" cy="771804"/>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pic>
        <p:nvPicPr>
          <p:cNvPr id="77" name="图片 43" descr="PC.png"/>
          <p:cNvPicPr>
            <a:picLocks noChangeAspect="1"/>
          </p:cNvPicPr>
          <p:nvPr/>
        </p:nvPicPr>
        <p:blipFill>
          <a:blip r:embed="rId3" cstate="print"/>
          <a:stretch>
            <a:fillRect/>
          </a:stretch>
        </p:blipFill>
        <p:spPr bwMode="gray">
          <a:xfrm>
            <a:off x="1779939" y="5173035"/>
            <a:ext cx="592969" cy="455400"/>
          </a:xfrm>
          <a:prstGeom prst="rect">
            <a:avLst/>
          </a:prstGeom>
        </p:spPr>
      </p:pic>
      <p:cxnSp>
        <p:nvCxnSpPr>
          <p:cNvPr id="78" name="直接连接符 487"/>
          <p:cNvCxnSpPr/>
          <p:nvPr/>
        </p:nvCxnSpPr>
        <p:spPr bwMode="gray">
          <a:xfrm flipV="1">
            <a:off x="2076424" y="1627773"/>
            <a:ext cx="0" cy="2001860"/>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sp>
        <p:nvSpPr>
          <p:cNvPr id="79" name="TextBox 73"/>
          <p:cNvSpPr txBox="1"/>
          <p:nvPr/>
        </p:nvSpPr>
        <p:spPr bwMode="gray">
          <a:xfrm>
            <a:off x="784332" y="2583938"/>
            <a:ext cx="1327608" cy="523220"/>
          </a:xfrm>
          <a:prstGeom prst="rect">
            <a:avLst/>
          </a:prstGeom>
          <a:noFill/>
        </p:spPr>
        <p:txBody>
          <a:bodyPr wrap="square" rtlCol="0">
            <a:noAutofit/>
          </a:bodyPr>
          <a:lstStyle/>
          <a:p>
            <a:pPr marL="0" marR="0" lvl="0" indent="0" algn="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GE0/0/0</a:t>
            </a:r>
          </a:p>
          <a:p>
            <a:pPr marL="0" marR="0" lvl="0" indent="0" algn="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192.168.100.2</a:t>
            </a:r>
          </a:p>
        </p:txBody>
      </p:sp>
      <p:pic>
        <p:nvPicPr>
          <p:cNvPr id="80" name="图片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06939" y="2145372"/>
            <a:ext cx="540000" cy="442800"/>
          </a:xfrm>
          <a:prstGeom prst="rect">
            <a:avLst/>
          </a:prstGeom>
        </p:spPr>
      </p:pic>
      <p:sp>
        <p:nvSpPr>
          <p:cNvPr id="81" name="Rectangle 58"/>
          <p:cNvSpPr/>
          <p:nvPr/>
        </p:nvSpPr>
        <p:spPr bwMode="gray">
          <a:xfrm>
            <a:off x="1375496" y="4228775"/>
            <a:ext cx="1403234" cy="486054"/>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VLANIF10</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192.168.1.254</a:t>
            </a:r>
          </a:p>
        </p:txBody>
      </p:sp>
      <p:sp>
        <p:nvSpPr>
          <p:cNvPr id="82" name="Rectangle 74"/>
          <p:cNvSpPr/>
          <p:nvPr/>
        </p:nvSpPr>
        <p:spPr bwMode="gray">
          <a:xfrm>
            <a:off x="1375496" y="3632747"/>
            <a:ext cx="1403234" cy="441867"/>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VLANIF11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192.168.100.1</a:t>
            </a:r>
          </a:p>
        </p:txBody>
      </p:sp>
      <p:sp>
        <p:nvSpPr>
          <p:cNvPr id="83" name="TextBox 105"/>
          <p:cNvSpPr txBox="1"/>
          <p:nvPr/>
        </p:nvSpPr>
        <p:spPr bwMode="gray">
          <a:xfrm>
            <a:off x="1013073" y="5676934"/>
            <a:ext cx="2101011"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PC1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192.168.1.1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Gateway 192.168.1.254</a:t>
            </a:r>
          </a:p>
        </p:txBody>
      </p:sp>
      <p:cxnSp>
        <p:nvCxnSpPr>
          <p:cNvPr id="84" name="直接连接符 487"/>
          <p:cNvCxnSpPr/>
          <p:nvPr/>
        </p:nvCxnSpPr>
        <p:spPr bwMode="gray">
          <a:xfrm flipV="1">
            <a:off x="4266666" y="4617715"/>
            <a:ext cx="0" cy="771804"/>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pic>
        <p:nvPicPr>
          <p:cNvPr id="85" name="图片 43" descr="PC.png"/>
          <p:cNvPicPr>
            <a:picLocks noChangeAspect="1"/>
          </p:cNvPicPr>
          <p:nvPr/>
        </p:nvPicPr>
        <p:blipFill>
          <a:blip r:embed="rId3" cstate="print"/>
          <a:stretch>
            <a:fillRect/>
          </a:stretch>
        </p:blipFill>
        <p:spPr bwMode="gray">
          <a:xfrm>
            <a:off x="3970181" y="5161819"/>
            <a:ext cx="592969" cy="455400"/>
          </a:xfrm>
          <a:prstGeom prst="rect">
            <a:avLst/>
          </a:prstGeom>
        </p:spPr>
      </p:pic>
      <p:pic>
        <p:nvPicPr>
          <p:cNvPr id="86" name="图片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996150" y="2134156"/>
            <a:ext cx="540000" cy="442800"/>
          </a:xfrm>
          <a:prstGeom prst="rect">
            <a:avLst/>
          </a:prstGeom>
        </p:spPr>
      </p:pic>
      <p:sp>
        <p:nvSpPr>
          <p:cNvPr id="87" name="TextBox 78"/>
          <p:cNvSpPr txBox="1"/>
          <p:nvPr/>
        </p:nvSpPr>
        <p:spPr bwMode="gray">
          <a:xfrm>
            <a:off x="4247872" y="2572722"/>
            <a:ext cx="1228221" cy="523220"/>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GE0/0/0</a:t>
            </a:r>
          </a:p>
          <a:p>
            <a:pPr marL="0" marR="0" lvl="0" indent="0"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172.16.100.2</a:t>
            </a:r>
          </a:p>
        </p:txBody>
      </p:sp>
      <p:sp>
        <p:nvSpPr>
          <p:cNvPr id="88" name="TextBox 103"/>
          <p:cNvSpPr txBox="1"/>
          <p:nvPr/>
        </p:nvSpPr>
        <p:spPr bwMode="gray">
          <a:xfrm>
            <a:off x="3798756" y="1539506"/>
            <a:ext cx="1024640"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2.2.2.0/24</a:t>
            </a:r>
          </a:p>
        </p:txBody>
      </p:sp>
      <p:sp>
        <p:nvSpPr>
          <p:cNvPr id="89" name="Rectangle 75"/>
          <p:cNvSpPr/>
          <p:nvPr/>
        </p:nvSpPr>
        <p:spPr bwMode="gray">
          <a:xfrm>
            <a:off x="3569927" y="3621531"/>
            <a:ext cx="1403234" cy="441867"/>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1D1D1A"/>
                </a:solidFill>
                <a:effectLst/>
                <a:uLnTx/>
                <a:uFillTx/>
                <a:latin typeface="Huawei Sans" panose="020C0503030203020204" pitchFamily="34" charset="0"/>
              </a:rPr>
              <a:t>VLANIF201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1D1D1A"/>
                </a:solidFill>
                <a:effectLst/>
                <a:uLnTx/>
                <a:uFillTx/>
                <a:latin typeface="Huawei Sans" panose="020C0503030203020204" pitchFamily="34" charset="0"/>
              </a:rPr>
              <a:t>172.16.100.1</a:t>
            </a:r>
          </a:p>
        </p:txBody>
      </p:sp>
      <p:sp>
        <p:nvSpPr>
          <p:cNvPr id="90" name="Rectangle 104"/>
          <p:cNvSpPr/>
          <p:nvPr/>
        </p:nvSpPr>
        <p:spPr bwMode="gray">
          <a:xfrm>
            <a:off x="3569927" y="4217559"/>
            <a:ext cx="1403234" cy="486054"/>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VLANIF200</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172.16.1.254</a:t>
            </a:r>
          </a:p>
        </p:txBody>
      </p:sp>
      <p:sp>
        <p:nvSpPr>
          <p:cNvPr id="91" name="TextBox 106"/>
          <p:cNvSpPr txBox="1"/>
          <p:nvPr/>
        </p:nvSpPr>
        <p:spPr bwMode="gray">
          <a:xfrm>
            <a:off x="3303481" y="5665718"/>
            <a:ext cx="1980755"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PC2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172.16.1.1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Gateway 172.16.1.254</a:t>
            </a:r>
          </a:p>
        </p:txBody>
      </p:sp>
      <p:sp>
        <p:nvSpPr>
          <p:cNvPr id="92" name="TextBox 107"/>
          <p:cNvSpPr txBox="1"/>
          <p:nvPr/>
        </p:nvSpPr>
        <p:spPr bwMode="gray">
          <a:xfrm>
            <a:off x="7403335" y="1266202"/>
            <a:ext cx="2657224"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Core switch's routing table</a:t>
            </a:r>
          </a:p>
        </p:txBody>
      </p:sp>
      <p:sp>
        <p:nvSpPr>
          <p:cNvPr id="93" name="TextBox 46"/>
          <p:cNvSpPr txBox="1"/>
          <p:nvPr/>
        </p:nvSpPr>
        <p:spPr bwMode="gray">
          <a:xfrm>
            <a:off x="6367308" y="3915335"/>
            <a:ext cx="4949205" cy="2485465"/>
          </a:xfrm>
          <a:prstGeom prst="rect">
            <a:avLst/>
          </a:prstGeom>
          <a:noFill/>
        </p:spPr>
        <p:txBody>
          <a:bodyPr wrap="square" rtlCol="0">
            <a:noAutofit/>
          </a:bodyPr>
          <a:lstStyle/>
          <a:p>
            <a:pPr lvl="0" defTabSz="914400" fontAlgn="ctr">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Background</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 </a:t>
            </a:r>
            <a:r>
              <a:rPr lang="en-US" altLang="zh-CN" sz="1400" kern="0" dirty="0">
                <a:solidFill>
                  <a:prstClr val="black"/>
                </a:solidFill>
                <a:latin typeface="Huawei Sans" panose="020C0503030203020204" pitchFamily="34" charset="0"/>
              </a:rPr>
              <a:t>PC1, R1, </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rPr>
              <a:t>and n</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etwork segment 1.1.1.0/24 connected R1 belongs to a service network.</a:t>
            </a:r>
          </a:p>
          <a:p>
            <a:pPr marL="0" marR="0" lvl="0" indent="0" defTabSz="914400" eaLnBrk="1" fontAlgn="ctr" latinLnBrk="0" hangingPunct="1">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PC2, R2, and network segment 2.2.2.0/24 connected to R2 belong to the management network. All direct routes on the core switch and routes destined for remote networks and discovered by the</a:t>
            </a:r>
            <a:r>
              <a:rPr kumimoji="0" lang="en-US" sz="1400" b="0" i="0" u="none" strike="noStrike" kern="0" cap="none" spc="0" normalizeH="0" noProof="0" dirty="0">
                <a:ln>
                  <a:noFill/>
                </a:ln>
                <a:solidFill>
                  <a:prstClr val="black"/>
                </a:solidFill>
                <a:effectLst/>
                <a:uLnTx/>
                <a:uFillTx/>
                <a:latin typeface="Huawei Sans" panose="020C0503030203020204" pitchFamily="34" charset="0"/>
              </a:rPr>
              <a:t> core switch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are stored in the core switch's routing table (also called the global routing table). With such a routing table, the core switch enables the service and management networks to communicate.</a:t>
            </a:r>
          </a:p>
          <a:p>
            <a:pPr marL="0" marR="0" lvl="0" indent="0" defTabSz="914400" eaLnBrk="1" fontAlgn="ctr" latinLnBrk="0" hangingPunct="1">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Requirements</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 </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rPr>
              <a:t>Configure the core switches</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 to isolate the service and management networks.</a:t>
            </a:r>
          </a:p>
        </p:txBody>
      </p:sp>
      <p:sp>
        <p:nvSpPr>
          <p:cNvPr id="94" name="Freeform 159"/>
          <p:cNvSpPr/>
          <p:nvPr/>
        </p:nvSpPr>
        <p:spPr bwMode="gray">
          <a:xfrm flipH="1">
            <a:off x="1558676" y="1348861"/>
            <a:ext cx="1005448" cy="5255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95" name="TextBox 91"/>
          <p:cNvSpPr txBox="1"/>
          <p:nvPr/>
        </p:nvSpPr>
        <p:spPr bwMode="gray">
          <a:xfrm>
            <a:off x="1544969" y="1539506"/>
            <a:ext cx="1024640"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1.1.1.0/24</a:t>
            </a:r>
          </a:p>
        </p:txBody>
      </p:sp>
      <p:sp>
        <p:nvSpPr>
          <p:cNvPr id="96" name="TextBox 48"/>
          <p:cNvSpPr txBox="1"/>
          <p:nvPr/>
        </p:nvSpPr>
        <p:spPr bwMode="gray">
          <a:xfrm>
            <a:off x="2454519" y="2857286"/>
            <a:ext cx="1440605"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Core switch</a:t>
            </a:r>
          </a:p>
        </p:txBody>
      </p:sp>
      <p:sp>
        <p:nvSpPr>
          <p:cNvPr id="97" name="文本框 96"/>
          <p:cNvSpPr txBox="1"/>
          <p:nvPr/>
        </p:nvSpPr>
        <p:spPr bwMode="gray">
          <a:xfrm>
            <a:off x="1410822" y="2184732"/>
            <a:ext cx="45557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rPr>
              <a:t>R1</a:t>
            </a:r>
          </a:p>
        </p:txBody>
      </p:sp>
      <p:sp>
        <p:nvSpPr>
          <p:cNvPr id="98" name="文本框 97"/>
          <p:cNvSpPr txBox="1"/>
          <p:nvPr/>
        </p:nvSpPr>
        <p:spPr bwMode="gray">
          <a:xfrm>
            <a:off x="4468683" y="2171244"/>
            <a:ext cx="45557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rPr>
              <a:t>R2</a:t>
            </a:r>
          </a:p>
        </p:txBody>
      </p:sp>
      <p:sp>
        <p:nvSpPr>
          <p:cNvPr id="4" name="Title 3">
            <a:extLst>
              <a:ext uri="{FF2B5EF4-FFF2-40B4-BE49-F238E27FC236}">
                <a16:creationId xmlns:a16="http://schemas.microsoft.com/office/drawing/2014/main" id="{32D106BC-630B-415F-81C5-C5716E1703AA}"/>
              </a:ext>
            </a:extLst>
          </p:cNvPr>
          <p:cNvSpPr>
            <a:spLocks noGrp="1"/>
          </p:cNvSpPr>
          <p:nvPr>
            <p:ph type="title"/>
          </p:nvPr>
        </p:nvSpPr>
        <p:spPr bwMode="gray"/>
        <p:txBody>
          <a:bodyPr/>
          <a:lstStyle/>
          <a:p>
            <a:r>
              <a:rPr lang="en-US" dirty="0"/>
              <a:t>Example: Before VRF Deployment</a:t>
            </a:r>
          </a:p>
        </p:txBody>
      </p:sp>
    </p:spTree>
    <p:extLst>
      <p:ext uri="{BB962C8B-B14F-4D97-AF65-F5344CB8AC3E}">
        <p14:creationId xmlns:p14="http://schemas.microsoft.com/office/powerpoint/2010/main" val="2471375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47"/>
          <p:cNvSpPr/>
          <p:nvPr/>
        </p:nvSpPr>
        <p:spPr bwMode="gray">
          <a:xfrm>
            <a:off x="1077522" y="3162722"/>
            <a:ext cx="4193612" cy="1747829"/>
          </a:xfrm>
          <a:prstGeom prst="rect">
            <a:avLst/>
          </a:prstGeom>
          <a:solidFill>
            <a:srgbClr val="F3FBFE"/>
          </a:solidFill>
          <a:ln w="19050" cap="flat" cmpd="sng" algn="ctr">
            <a:solidFill>
              <a:srgbClr val="BAE6F6">
                <a:lumMod val="75000"/>
              </a:srgb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endParaRPr>
          </a:p>
        </p:txBody>
      </p:sp>
      <p:sp>
        <p:nvSpPr>
          <p:cNvPr id="78" name="矩形 77"/>
          <p:cNvSpPr/>
          <p:nvPr/>
        </p:nvSpPr>
        <p:spPr bwMode="gray">
          <a:xfrm>
            <a:off x="3368517" y="3215170"/>
            <a:ext cx="1731025" cy="1579303"/>
          </a:xfrm>
          <a:prstGeom prst="rect">
            <a:avLst/>
          </a:prstGeom>
          <a:solidFill>
            <a:srgbClr val="FFF2CC"/>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sym typeface="Huawei Sans" panose="020C0503030203020204" pitchFamily="34" charset="0"/>
            </a:endParaRPr>
          </a:p>
        </p:txBody>
      </p:sp>
      <p:cxnSp>
        <p:nvCxnSpPr>
          <p:cNvPr id="79" name="直接连接符 487"/>
          <p:cNvCxnSpPr/>
          <p:nvPr/>
        </p:nvCxnSpPr>
        <p:spPr bwMode="gray">
          <a:xfrm flipV="1">
            <a:off x="4266666" y="1616557"/>
            <a:ext cx="0" cy="2001860"/>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sp>
        <p:nvSpPr>
          <p:cNvPr id="80" name="Freeform 159"/>
          <p:cNvSpPr/>
          <p:nvPr/>
        </p:nvSpPr>
        <p:spPr bwMode="gray">
          <a:xfrm flipH="1">
            <a:off x="3807633" y="1348861"/>
            <a:ext cx="1005448" cy="5255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82" name="TextBox 48"/>
          <p:cNvSpPr txBox="1"/>
          <p:nvPr/>
        </p:nvSpPr>
        <p:spPr bwMode="gray">
          <a:xfrm>
            <a:off x="2444916" y="2857286"/>
            <a:ext cx="1459808"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Core switch</a:t>
            </a:r>
          </a:p>
        </p:txBody>
      </p:sp>
      <p:cxnSp>
        <p:nvCxnSpPr>
          <p:cNvPr id="83" name="直接连接符 487"/>
          <p:cNvCxnSpPr/>
          <p:nvPr/>
        </p:nvCxnSpPr>
        <p:spPr bwMode="gray">
          <a:xfrm flipV="1">
            <a:off x="2076424" y="4628931"/>
            <a:ext cx="0" cy="771804"/>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pic>
        <p:nvPicPr>
          <p:cNvPr id="84" name="图片 43" descr="PC.png"/>
          <p:cNvPicPr>
            <a:picLocks noChangeAspect="1"/>
          </p:cNvPicPr>
          <p:nvPr/>
        </p:nvPicPr>
        <p:blipFill>
          <a:blip r:embed="rId3" cstate="print"/>
          <a:stretch>
            <a:fillRect/>
          </a:stretch>
        </p:blipFill>
        <p:spPr bwMode="gray">
          <a:xfrm>
            <a:off x="1779939" y="5173035"/>
            <a:ext cx="592969" cy="455400"/>
          </a:xfrm>
          <a:prstGeom prst="rect">
            <a:avLst/>
          </a:prstGeom>
        </p:spPr>
      </p:pic>
      <p:cxnSp>
        <p:nvCxnSpPr>
          <p:cNvPr id="85" name="直接连接符 487"/>
          <p:cNvCxnSpPr/>
          <p:nvPr/>
        </p:nvCxnSpPr>
        <p:spPr bwMode="gray">
          <a:xfrm flipV="1">
            <a:off x="2076424" y="1627773"/>
            <a:ext cx="0" cy="2001860"/>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sp>
        <p:nvSpPr>
          <p:cNvPr id="86" name="TextBox 73"/>
          <p:cNvSpPr txBox="1"/>
          <p:nvPr/>
        </p:nvSpPr>
        <p:spPr bwMode="gray">
          <a:xfrm>
            <a:off x="784332" y="2583938"/>
            <a:ext cx="1327608" cy="523220"/>
          </a:xfrm>
          <a:prstGeom prst="rect">
            <a:avLst/>
          </a:prstGeom>
          <a:noFill/>
        </p:spPr>
        <p:txBody>
          <a:bodyPr wrap="square" rtlCol="0">
            <a:noAutofit/>
          </a:bodyPr>
          <a:lstStyle/>
          <a:p>
            <a:pPr marL="0" marR="0" lvl="0" indent="0" algn="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rPr>
              <a:t>GE0/0/0</a:t>
            </a:r>
          </a:p>
          <a:p>
            <a:pPr marL="0" marR="0" lvl="0" indent="0" algn="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192.168.100.2</a:t>
            </a:r>
          </a:p>
        </p:txBody>
      </p:sp>
      <p:pic>
        <p:nvPicPr>
          <p:cNvPr id="87" name="图片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06939" y="2145372"/>
            <a:ext cx="540000" cy="442800"/>
          </a:xfrm>
          <a:prstGeom prst="rect">
            <a:avLst/>
          </a:prstGeom>
        </p:spPr>
      </p:pic>
      <p:sp>
        <p:nvSpPr>
          <p:cNvPr id="88" name="Rectangle 58"/>
          <p:cNvSpPr/>
          <p:nvPr/>
        </p:nvSpPr>
        <p:spPr bwMode="gray">
          <a:xfrm>
            <a:off x="1375496" y="4228775"/>
            <a:ext cx="1403234" cy="486054"/>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VLANIF10</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192.168.1.254</a:t>
            </a:r>
          </a:p>
        </p:txBody>
      </p:sp>
      <p:sp>
        <p:nvSpPr>
          <p:cNvPr id="89" name="Rectangle 74"/>
          <p:cNvSpPr/>
          <p:nvPr/>
        </p:nvSpPr>
        <p:spPr bwMode="gray">
          <a:xfrm>
            <a:off x="1375496" y="3642272"/>
            <a:ext cx="1403234" cy="441867"/>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VLANIF11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192.168.100.1</a:t>
            </a:r>
          </a:p>
        </p:txBody>
      </p:sp>
      <p:sp>
        <p:nvSpPr>
          <p:cNvPr id="90" name="TextBox 105"/>
          <p:cNvSpPr txBox="1"/>
          <p:nvPr/>
        </p:nvSpPr>
        <p:spPr bwMode="gray">
          <a:xfrm>
            <a:off x="898497" y="5648359"/>
            <a:ext cx="2311112"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PC1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192.168.1.1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Gateway 192.168.1.254</a:t>
            </a:r>
          </a:p>
        </p:txBody>
      </p:sp>
      <p:cxnSp>
        <p:nvCxnSpPr>
          <p:cNvPr id="91" name="直接连接符 487"/>
          <p:cNvCxnSpPr/>
          <p:nvPr/>
        </p:nvCxnSpPr>
        <p:spPr bwMode="gray">
          <a:xfrm flipV="1">
            <a:off x="4266666" y="4617715"/>
            <a:ext cx="0" cy="771804"/>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pic>
        <p:nvPicPr>
          <p:cNvPr id="92" name="图片 43" descr="PC.png"/>
          <p:cNvPicPr>
            <a:picLocks noChangeAspect="1"/>
          </p:cNvPicPr>
          <p:nvPr/>
        </p:nvPicPr>
        <p:blipFill>
          <a:blip r:embed="rId3" cstate="print"/>
          <a:stretch>
            <a:fillRect/>
          </a:stretch>
        </p:blipFill>
        <p:spPr bwMode="gray">
          <a:xfrm>
            <a:off x="3970181" y="5161819"/>
            <a:ext cx="592969" cy="455400"/>
          </a:xfrm>
          <a:prstGeom prst="rect">
            <a:avLst/>
          </a:prstGeom>
        </p:spPr>
      </p:pic>
      <p:pic>
        <p:nvPicPr>
          <p:cNvPr id="93" name="图片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996150" y="2134156"/>
            <a:ext cx="540000" cy="442800"/>
          </a:xfrm>
          <a:prstGeom prst="rect">
            <a:avLst/>
          </a:prstGeom>
        </p:spPr>
      </p:pic>
      <p:sp>
        <p:nvSpPr>
          <p:cNvPr id="94" name="TextBox 78"/>
          <p:cNvSpPr txBox="1"/>
          <p:nvPr/>
        </p:nvSpPr>
        <p:spPr bwMode="gray">
          <a:xfrm>
            <a:off x="4247872" y="2572722"/>
            <a:ext cx="1228221" cy="523220"/>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rPr>
              <a:t>GE0/0/0</a:t>
            </a:r>
          </a:p>
          <a:p>
            <a:pPr marL="0" marR="0" lvl="0" indent="0"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172.16.100.2</a:t>
            </a:r>
          </a:p>
        </p:txBody>
      </p:sp>
      <p:sp>
        <p:nvSpPr>
          <p:cNvPr id="95" name="TextBox 103"/>
          <p:cNvSpPr txBox="1"/>
          <p:nvPr/>
        </p:nvSpPr>
        <p:spPr bwMode="gray">
          <a:xfrm>
            <a:off x="3808281" y="1539506"/>
            <a:ext cx="1024640"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2.2.2.0/24</a:t>
            </a:r>
          </a:p>
        </p:txBody>
      </p:sp>
      <p:sp>
        <p:nvSpPr>
          <p:cNvPr id="96" name="Rectangle 75"/>
          <p:cNvSpPr/>
          <p:nvPr/>
        </p:nvSpPr>
        <p:spPr bwMode="gray">
          <a:xfrm>
            <a:off x="3569927" y="3631056"/>
            <a:ext cx="1403234" cy="441867"/>
          </a:xfrm>
          <a:prstGeom prst="rect">
            <a:avLst/>
          </a:prstGeom>
          <a:solidFill>
            <a:srgbClr val="FFD17D"/>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VLANIF201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172.16.100.1</a:t>
            </a:r>
          </a:p>
        </p:txBody>
      </p:sp>
      <p:sp>
        <p:nvSpPr>
          <p:cNvPr id="97" name="Rectangle 104"/>
          <p:cNvSpPr/>
          <p:nvPr/>
        </p:nvSpPr>
        <p:spPr bwMode="gray">
          <a:xfrm>
            <a:off x="3569927" y="4217559"/>
            <a:ext cx="1403234" cy="486054"/>
          </a:xfrm>
          <a:prstGeom prst="rect">
            <a:avLst/>
          </a:prstGeom>
          <a:solidFill>
            <a:srgbClr val="FFD17D"/>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1D1D1A"/>
                </a:solidFill>
                <a:effectLst/>
                <a:uLnTx/>
                <a:uFillTx/>
                <a:latin typeface="Huawei Sans" panose="020C0503030203020204" pitchFamily="34" charset="0"/>
              </a:rPr>
              <a:t>VLANIF200</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1D1D1A"/>
                </a:solidFill>
                <a:effectLst/>
                <a:uLnTx/>
                <a:uFillTx/>
                <a:latin typeface="Huawei Sans" panose="020C0503030203020204" pitchFamily="34" charset="0"/>
              </a:rPr>
              <a:t>172.16.1.254</a:t>
            </a:r>
          </a:p>
        </p:txBody>
      </p:sp>
      <p:sp>
        <p:nvSpPr>
          <p:cNvPr id="98" name="TextBox 106"/>
          <p:cNvSpPr txBox="1"/>
          <p:nvPr/>
        </p:nvSpPr>
        <p:spPr bwMode="gray">
          <a:xfrm>
            <a:off x="3194918" y="5637143"/>
            <a:ext cx="2178831"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PC2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172.16.1.1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Gateway 172.16.1.254</a:t>
            </a:r>
          </a:p>
        </p:txBody>
      </p:sp>
      <p:sp>
        <p:nvSpPr>
          <p:cNvPr id="99" name="Freeform 159"/>
          <p:cNvSpPr/>
          <p:nvPr/>
        </p:nvSpPr>
        <p:spPr bwMode="gray">
          <a:xfrm flipH="1">
            <a:off x="1558676" y="1348861"/>
            <a:ext cx="1005448" cy="5255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00" name="TextBox 91"/>
          <p:cNvSpPr txBox="1"/>
          <p:nvPr/>
        </p:nvSpPr>
        <p:spPr bwMode="gray">
          <a:xfrm>
            <a:off x="1554494" y="1539506"/>
            <a:ext cx="1024640"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rPr>
              <a:t>1.1.1.0/24</a:t>
            </a:r>
          </a:p>
        </p:txBody>
      </p:sp>
      <p:graphicFrame>
        <p:nvGraphicFramePr>
          <p:cNvPr id="101" name="表格 46"/>
          <p:cNvGraphicFramePr>
            <a:graphicFrameLocks noGrp="1"/>
          </p:cNvGraphicFramePr>
          <p:nvPr>
            <p:extLst>
              <p:ext uri="{D42A27DB-BD31-4B8C-83A1-F6EECF244321}">
                <p14:modId xmlns:p14="http://schemas.microsoft.com/office/powerpoint/2010/main" val="4093748091"/>
              </p:ext>
            </p:extLst>
          </p:nvPr>
        </p:nvGraphicFramePr>
        <p:xfrm>
          <a:off x="6201660" y="1752033"/>
          <a:ext cx="5059375" cy="1097280"/>
        </p:xfrm>
        <a:graphic>
          <a:graphicData uri="http://schemas.openxmlformats.org/drawingml/2006/table">
            <a:tbl>
              <a:tblPr firstRow="1" bandRow="1"/>
              <a:tblGrid>
                <a:gridCol w="1744613">
                  <a:extLst>
                    <a:ext uri="{9D8B030D-6E8A-4147-A177-3AD203B41FA5}">
                      <a16:colId xmlns:a16="http://schemas.microsoft.com/office/drawing/2014/main" val="20000"/>
                    </a:ext>
                  </a:extLst>
                </a:gridCol>
                <a:gridCol w="902452">
                  <a:extLst>
                    <a:ext uri="{9D8B030D-6E8A-4147-A177-3AD203B41FA5}">
                      <a16:colId xmlns:a16="http://schemas.microsoft.com/office/drawing/2014/main" val="20001"/>
                    </a:ext>
                  </a:extLst>
                </a:gridCol>
                <a:gridCol w="1100345">
                  <a:extLst>
                    <a:ext uri="{9D8B030D-6E8A-4147-A177-3AD203B41FA5}">
                      <a16:colId xmlns:a16="http://schemas.microsoft.com/office/drawing/2014/main" val="20002"/>
                    </a:ext>
                  </a:extLst>
                </a:gridCol>
                <a:gridCol w="1311965">
                  <a:extLst>
                    <a:ext uri="{9D8B030D-6E8A-4147-A177-3AD203B41FA5}">
                      <a16:colId xmlns:a16="http://schemas.microsoft.com/office/drawing/2014/main" val="20003"/>
                    </a:ext>
                  </a:extLst>
                </a:gridCol>
              </a:tblGrid>
              <a:tr h="0">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Destination/Mask</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Protocol</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Interface</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err="1">
                          <a:solidFill>
                            <a:schemeClr val="bg1"/>
                          </a:solidFill>
                          <a:latin typeface="Huawei Sans" panose="020C0503030203020204" pitchFamily="34" charset="0"/>
                          <a:ea typeface="方正兰亭黑简体" panose="02000000000000000000" pitchFamily="2" charset="-122"/>
                          <a:cs typeface="+mn-cs"/>
                        </a:rPr>
                        <a:t>NextHop</a:t>
                      </a:r>
                      <a:endParaRPr lang="en-US" sz="1200" b="1" dirty="0">
                        <a:solidFill>
                          <a:schemeClr val="bg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VLANIF10</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192.168.1.254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VLANIF11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1.1.1.0/24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Static</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VLANIF11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192.168.100.2</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sp>
        <p:nvSpPr>
          <p:cNvPr id="102" name="TextBox 107"/>
          <p:cNvSpPr txBox="1"/>
          <p:nvPr/>
        </p:nvSpPr>
        <p:spPr bwMode="gray">
          <a:xfrm>
            <a:off x="7095352" y="1203036"/>
            <a:ext cx="3161821"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Core switch's global routing table</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(Root device's routing table)</a:t>
            </a:r>
          </a:p>
        </p:txBody>
      </p:sp>
      <p:sp>
        <p:nvSpPr>
          <p:cNvPr id="103" name="文本框 102"/>
          <p:cNvSpPr txBox="1"/>
          <p:nvPr/>
        </p:nvSpPr>
        <p:spPr bwMode="gray">
          <a:xfrm>
            <a:off x="3301059" y="3215170"/>
            <a:ext cx="1028262"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VPN instance 1</a:t>
            </a:r>
          </a:p>
        </p:txBody>
      </p:sp>
      <p:graphicFrame>
        <p:nvGraphicFramePr>
          <p:cNvPr id="104" name="表格 103"/>
          <p:cNvGraphicFramePr>
            <a:graphicFrameLocks noGrp="1"/>
          </p:cNvGraphicFramePr>
          <p:nvPr>
            <p:extLst>
              <p:ext uri="{D42A27DB-BD31-4B8C-83A1-F6EECF244321}">
                <p14:modId xmlns:p14="http://schemas.microsoft.com/office/powerpoint/2010/main" val="433404040"/>
              </p:ext>
            </p:extLst>
          </p:nvPr>
        </p:nvGraphicFramePr>
        <p:xfrm>
          <a:off x="6216427" y="3550113"/>
          <a:ext cx="5044608" cy="822960"/>
        </p:xfrm>
        <a:graphic>
          <a:graphicData uri="http://schemas.openxmlformats.org/drawingml/2006/table">
            <a:tbl>
              <a:tblPr firstRow="1" bandRow="1"/>
              <a:tblGrid>
                <a:gridCol w="1739521">
                  <a:extLst>
                    <a:ext uri="{9D8B030D-6E8A-4147-A177-3AD203B41FA5}">
                      <a16:colId xmlns:a16="http://schemas.microsoft.com/office/drawing/2014/main" val="20000"/>
                    </a:ext>
                  </a:extLst>
                </a:gridCol>
                <a:gridCol w="902302">
                  <a:extLst>
                    <a:ext uri="{9D8B030D-6E8A-4147-A177-3AD203B41FA5}">
                      <a16:colId xmlns:a16="http://schemas.microsoft.com/office/drawing/2014/main" val="20001"/>
                    </a:ext>
                  </a:extLst>
                </a:gridCol>
                <a:gridCol w="1100759">
                  <a:extLst>
                    <a:ext uri="{9D8B030D-6E8A-4147-A177-3AD203B41FA5}">
                      <a16:colId xmlns:a16="http://schemas.microsoft.com/office/drawing/2014/main" val="20002"/>
                    </a:ext>
                  </a:extLst>
                </a:gridCol>
                <a:gridCol w="1302026">
                  <a:extLst>
                    <a:ext uri="{9D8B030D-6E8A-4147-A177-3AD203B41FA5}">
                      <a16:colId xmlns:a16="http://schemas.microsoft.com/office/drawing/2014/main" val="20003"/>
                    </a:ext>
                  </a:extLst>
                </a:gridCol>
              </a:tblGrid>
              <a:tr h="0">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Destination/Mask</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Protocol</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Interface</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err="1">
                          <a:solidFill>
                            <a:schemeClr val="tx1"/>
                          </a:solidFill>
                          <a:latin typeface="Huawei Sans" panose="020C0503030203020204" pitchFamily="34" charset="0"/>
                          <a:ea typeface="方正兰亭黑简体" panose="02000000000000000000" pitchFamily="2" charset="-122"/>
                          <a:cs typeface="+mn-cs"/>
                        </a:rPr>
                        <a:t>NextHop</a:t>
                      </a:r>
                      <a:endParaRPr lang="en-US" sz="1200" dirty="0">
                        <a:solidFill>
                          <a:schemeClr val="tx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172.16.1.0/24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Direct</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a:solidFill>
                            <a:schemeClr val="tx1"/>
                          </a:solidFill>
                          <a:latin typeface="Huawei Sans" panose="020C0503030203020204" pitchFamily="34" charset="0"/>
                        </a:rPr>
                        <a:t>VLANIF200</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172.16.1.254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172.16.100.0/24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Direct</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dirty="0">
                          <a:solidFill>
                            <a:schemeClr val="tx1"/>
                          </a:solidFill>
                          <a:latin typeface="Huawei Sans" panose="020C0503030203020204" pitchFamily="34" charset="0"/>
                        </a:rPr>
                        <a:t>VLANIF201</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dirty="0">
                          <a:solidFill>
                            <a:schemeClr val="tx1"/>
                          </a:solidFill>
                          <a:latin typeface="Huawei Sans" panose="020C0503030203020204" pitchFamily="34" charset="0"/>
                        </a:rPr>
                        <a:t>172.16.100.1</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sp>
        <p:nvSpPr>
          <p:cNvPr id="105" name="TextBox 49"/>
          <p:cNvSpPr txBox="1"/>
          <p:nvPr/>
        </p:nvSpPr>
        <p:spPr bwMode="gray">
          <a:xfrm>
            <a:off x="6372036" y="3162722"/>
            <a:ext cx="4637989"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VPN instance 1's routing table on the core switch</a:t>
            </a:r>
          </a:p>
        </p:txBody>
      </p:sp>
      <p:sp>
        <p:nvSpPr>
          <p:cNvPr id="106" name="文本框 105"/>
          <p:cNvSpPr txBox="1"/>
          <p:nvPr/>
        </p:nvSpPr>
        <p:spPr bwMode="gray">
          <a:xfrm>
            <a:off x="1410822" y="2184732"/>
            <a:ext cx="45557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rPr>
              <a:t>R1</a:t>
            </a:r>
          </a:p>
        </p:txBody>
      </p:sp>
      <p:sp>
        <p:nvSpPr>
          <p:cNvPr id="107" name="文本框 106"/>
          <p:cNvSpPr txBox="1"/>
          <p:nvPr/>
        </p:nvSpPr>
        <p:spPr bwMode="gray">
          <a:xfrm>
            <a:off x="4468683" y="2171244"/>
            <a:ext cx="45557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rPr>
              <a:t>R2</a:t>
            </a:r>
          </a:p>
        </p:txBody>
      </p:sp>
      <p:sp>
        <p:nvSpPr>
          <p:cNvPr id="4" name="Title 3">
            <a:extLst>
              <a:ext uri="{FF2B5EF4-FFF2-40B4-BE49-F238E27FC236}">
                <a16:creationId xmlns:a16="http://schemas.microsoft.com/office/drawing/2014/main" id="{075C7743-1B01-4C95-AFE4-F9A0A22B1D12}"/>
              </a:ext>
            </a:extLst>
          </p:cNvPr>
          <p:cNvSpPr>
            <a:spLocks noGrp="1"/>
          </p:cNvSpPr>
          <p:nvPr>
            <p:ph type="title"/>
          </p:nvPr>
        </p:nvSpPr>
        <p:spPr bwMode="gray"/>
        <p:txBody>
          <a:bodyPr/>
          <a:lstStyle/>
          <a:p>
            <a:r>
              <a:rPr lang="en-US" dirty="0"/>
              <a:t>Example: Creating VPN Instances</a:t>
            </a:r>
          </a:p>
        </p:txBody>
      </p:sp>
    </p:spTree>
    <p:extLst>
      <p:ext uri="{BB962C8B-B14F-4D97-AF65-F5344CB8AC3E}">
        <p14:creationId xmlns:p14="http://schemas.microsoft.com/office/powerpoint/2010/main" val="1620305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47"/>
          <p:cNvSpPr/>
          <p:nvPr/>
        </p:nvSpPr>
        <p:spPr bwMode="gray">
          <a:xfrm>
            <a:off x="1077522" y="3162722"/>
            <a:ext cx="4193612" cy="1747829"/>
          </a:xfrm>
          <a:prstGeom prst="rect">
            <a:avLst/>
          </a:prstGeom>
          <a:solidFill>
            <a:srgbClr val="F3FBFE"/>
          </a:solidFill>
          <a:ln w="19050" cap="flat" cmpd="sng" algn="ctr">
            <a:solidFill>
              <a:srgbClr val="BAE6F6">
                <a:lumMod val="75000"/>
              </a:srgb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endParaRPr>
          </a:p>
        </p:txBody>
      </p:sp>
      <p:sp>
        <p:nvSpPr>
          <p:cNvPr id="81" name="矩形 80"/>
          <p:cNvSpPr/>
          <p:nvPr/>
        </p:nvSpPr>
        <p:spPr bwMode="gray">
          <a:xfrm>
            <a:off x="3368517" y="3219450"/>
            <a:ext cx="1731025" cy="1575023"/>
          </a:xfrm>
          <a:prstGeom prst="rect">
            <a:avLst/>
          </a:prstGeom>
          <a:solidFill>
            <a:srgbClr val="FFF2CC"/>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sym typeface="Huawei Sans" panose="020C0503030203020204" pitchFamily="34" charset="0"/>
            </a:endParaRPr>
          </a:p>
        </p:txBody>
      </p:sp>
      <p:cxnSp>
        <p:nvCxnSpPr>
          <p:cNvPr id="82" name="直接连接符 487"/>
          <p:cNvCxnSpPr/>
          <p:nvPr/>
        </p:nvCxnSpPr>
        <p:spPr bwMode="gray">
          <a:xfrm flipV="1">
            <a:off x="4266666" y="1654657"/>
            <a:ext cx="0" cy="2001860"/>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sp>
        <p:nvSpPr>
          <p:cNvPr id="83" name="Freeform 159"/>
          <p:cNvSpPr/>
          <p:nvPr/>
        </p:nvSpPr>
        <p:spPr bwMode="gray">
          <a:xfrm flipH="1">
            <a:off x="3807633" y="1348861"/>
            <a:ext cx="1005448" cy="5255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85" name="TextBox 48"/>
          <p:cNvSpPr txBox="1"/>
          <p:nvPr/>
        </p:nvSpPr>
        <p:spPr bwMode="gray">
          <a:xfrm>
            <a:off x="2501746" y="2857286"/>
            <a:ext cx="1327098"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Core switch</a:t>
            </a:r>
          </a:p>
        </p:txBody>
      </p:sp>
      <p:cxnSp>
        <p:nvCxnSpPr>
          <p:cNvPr id="86" name="直接连接符 487"/>
          <p:cNvCxnSpPr/>
          <p:nvPr/>
        </p:nvCxnSpPr>
        <p:spPr bwMode="gray">
          <a:xfrm flipV="1">
            <a:off x="2076424" y="4628931"/>
            <a:ext cx="0" cy="771804"/>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pic>
        <p:nvPicPr>
          <p:cNvPr id="87" name="图片 43" descr="PC.png"/>
          <p:cNvPicPr>
            <a:picLocks noChangeAspect="1"/>
          </p:cNvPicPr>
          <p:nvPr/>
        </p:nvPicPr>
        <p:blipFill>
          <a:blip r:embed="rId3" cstate="print"/>
          <a:stretch>
            <a:fillRect/>
          </a:stretch>
        </p:blipFill>
        <p:spPr bwMode="gray">
          <a:xfrm>
            <a:off x="1779939" y="5173035"/>
            <a:ext cx="592969" cy="455400"/>
          </a:xfrm>
          <a:prstGeom prst="rect">
            <a:avLst/>
          </a:prstGeom>
        </p:spPr>
      </p:pic>
      <p:cxnSp>
        <p:nvCxnSpPr>
          <p:cNvPr id="88" name="直接连接符 487"/>
          <p:cNvCxnSpPr/>
          <p:nvPr/>
        </p:nvCxnSpPr>
        <p:spPr bwMode="gray">
          <a:xfrm flipV="1">
            <a:off x="2076424" y="1665873"/>
            <a:ext cx="0" cy="2001860"/>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sp>
        <p:nvSpPr>
          <p:cNvPr id="89" name="TextBox 73"/>
          <p:cNvSpPr txBox="1"/>
          <p:nvPr/>
        </p:nvSpPr>
        <p:spPr bwMode="gray">
          <a:xfrm>
            <a:off x="784332" y="2583938"/>
            <a:ext cx="1327608" cy="523220"/>
          </a:xfrm>
          <a:prstGeom prst="rect">
            <a:avLst/>
          </a:prstGeom>
          <a:noFill/>
        </p:spPr>
        <p:txBody>
          <a:bodyPr wrap="square" rtlCol="0">
            <a:noAutofit/>
          </a:bodyPr>
          <a:lstStyle/>
          <a:p>
            <a:pPr marL="0" marR="0" lvl="0" indent="0" algn="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rPr>
              <a:t>GE0/0/0</a:t>
            </a:r>
          </a:p>
          <a:p>
            <a:pPr marL="0" marR="0" lvl="0" indent="0" algn="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192.168.100.2</a:t>
            </a:r>
          </a:p>
        </p:txBody>
      </p:sp>
      <p:pic>
        <p:nvPicPr>
          <p:cNvPr id="90" name="图片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06939" y="2145372"/>
            <a:ext cx="540000" cy="442800"/>
          </a:xfrm>
          <a:prstGeom prst="rect">
            <a:avLst/>
          </a:prstGeom>
        </p:spPr>
      </p:pic>
      <p:sp>
        <p:nvSpPr>
          <p:cNvPr id="91" name="Rectangle 58"/>
          <p:cNvSpPr/>
          <p:nvPr/>
        </p:nvSpPr>
        <p:spPr bwMode="gray">
          <a:xfrm>
            <a:off x="1375496" y="4228775"/>
            <a:ext cx="1403234" cy="486054"/>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VLANIF10</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192.168.1.254</a:t>
            </a:r>
          </a:p>
        </p:txBody>
      </p:sp>
      <p:sp>
        <p:nvSpPr>
          <p:cNvPr id="92" name="Rectangle 74"/>
          <p:cNvSpPr/>
          <p:nvPr/>
        </p:nvSpPr>
        <p:spPr bwMode="gray">
          <a:xfrm>
            <a:off x="1375496" y="3651797"/>
            <a:ext cx="1403234" cy="441867"/>
          </a:xfrm>
          <a:prstGeom prst="rect">
            <a:avLst/>
          </a:prstGeom>
          <a:solidFill>
            <a:srgbClr val="FFFFFF"/>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VLANIF11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lumMod val="50000"/>
                  </a:prstClr>
                </a:solidFill>
                <a:effectLst/>
                <a:uLnTx/>
                <a:uFillTx/>
                <a:latin typeface="Huawei Sans" panose="020C0503030203020204" pitchFamily="34" charset="0"/>
              </a:rPr>
              <a:t>192.168.100.1</a:t>
            </a:r>
          </a:p>
        </p:txBody>
      </p:sp>
      <p:sp>
        <p:nvSpPr>
          <p:cNvPr id="93" name="TextBox 105"/>
          <p:cNvSpPr txBox="1"/>
          <p:nvPr/>
        </p:nvSpPr>
        <p:spPr bwMode="gray">
          <a:xfrm>
            <a:off x="1013073" y="5629309"/>
            <a:ext cx="2101011"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PC1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192.168.1.1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Gateway 192.168.1.254</a:t>
            </a:r>
          </a:p>
        </p:txBody>
      </p:sp>
      <p:cxnSp>
        <p:nvCxnSpPr>
          <p:cNvPr id="94" name="直接连接符 487"/>
          <p:cNvCxnSpPr/>
          <p:nvPr/>
        </p:nvCxnSpPr>
        <p:spPr bwMode="gray">
          <a:xfrm flipV="1">
            <a:off x="4266666" y="4617715"/>
            <a:ext cx="0" cy="771804"/>
          </a:xfrm>
          <a:prstGeom prst="line">
            <a:avLst/>
          </a:prstGeom>
          <a:solidFill>
            <a:srgbClr val="1AABE2"/>
          </a:solidFill>
          <a:ln w="12700" cap="flat" cmpd="sng" algn="ctr">
            <a:solidFill>
              <a:sysClr val="windowText" lastClr="000000"/>
            </a:solidFill>
            <a:prstDash val="solid"/>
            <a:round/>
            <a:headEnd type="none" w="med" len="med"/>
            <a:tailEnd type="none" w="med" len="med"/>
          </a:ln>
          <a:effectLst/>
        </p:spPr>
      </p:cxnSp>
      <p:pic>
        <p:nvPicPr>
          <p:cNvPr id="95" name="图片 43" descr="PC.png"/>
          <p:cNvPicPr>
            <a:picLocks noChangeAspect="1"/>
          </p:cNvPicPr>
          <p:nvPr/>
        </p:nvPicPr>
        <p:blipFill>
          <a:blip r:embed="rId3" cstate="print"/>
          <a:stretch>
            <a:fillRect/>
          </a:stretch>
        </p:blipFill>
        <p:spPr bwMode="gray">
          <a:xfrm>
            <a:off x="3970181" y="5161819"/>
            <a:ext cx="592969" cy="455400"/>
          </a:xfrm>
          <a:prstGeom prst="rect">
            <a:avLst/>
          </a:prstGeom>
        </p:spPr>
      </p:pic>
      <p:pic>
        <p:nvPicPr>
          <p:cNvPr id="96" name="图片 26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996150" y="2134156"/>
            <a:ext cx="540000" cy="442800"/>
          </a:xfrm>
          <a:prstGeom prst="rect">
            <a:avLst/>
          </a:prstGeom>
        </p:spPr>
      </p:pic>
      <p:sp>
        <p:nvSpPr>
          <p:cNvPr id="97" name="TextBox 78"/>
          <p:cNvSpPr txBox="1"/>
          <p:nvPr/>
        </p:nvSpPr>
        <p:spPr bwMode="gray">
          <a:xfrm>
            <a:off x="4247872" y="2572722"/>
            <a:ext cx="1228221" cy="523220"/>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rPr>
              <a:t>GE0/0/0</a:t>
            </a:r>
          </a:p>
          <a:p>
            <a:pPr marL="0" marR="0" lvl="0" indent="0"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lumMod val="50000"/>
                  </a:prstClr>
                </a:solidFill>
                <a:effectLst/>
                <a:uLnTx/>
                <a:uFillTx/>
                <a:latin typeface="Huawei Sans" panose="020C0503030203020204" pitchFamily="34" charset="0"/>
              </a:rPr>
              <a:t>172.16.100.2</a:t>
            </a:r>
          </a:p>
        </p:txBody>
      </p:sp>
      <p:sp>
        <p:nvSpPr>
          <p:cNvPr id="98" name="TextBox 103"/>
          <p:cNvSpPr txBox="1"/>
          <p:nvPr/>
        </p:nvSpPr>
        <p:spPr bwMode="gray">
          <a:xfrm>
            <a:off x="3789231" y="1539506"/>
            <a:ext cx="1024640"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2.2.2.0/24</a:t>
            </a:r>
          </a:p>
        </p:txBody>
      </p:sp>
      <p:sp>
        <p:nvSpPr>
          <p:cNvPr id="99" name="Rectangle 75"/>
          <p:cNvSpPr/>
          <p:nvPr/>
        </p:nvSpPr>
        <p:spPr bwMode="gray">
          <a:xfrm>
            <a:off x="3569927" y="3640581"/>
            <a:ext cx="1403234" cy="441867"/>
          </a:xfrm>
          <a:prstGeom prst="rect">
            <a:avLst/>
          </a:prstGeom>
          <a:solidFill>
            <a:srgbClr val="FFD17D"/>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VLANIF201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1D1D1A"/>
                </a:solidFill>
                <a:effectLst/>
                <a:uLnTx/>
                <a:uFillTx/>
                <a:latin typeface="Huawei Sans" panose="020C0503030203020204" pitchFamily="34" charset="0"/>
              </a:rPr>
              <a:t>172.16.100.1</a:t>
            </a:r>
          </a:p>
        </p:txBody>
      </p:sp>
      <p:sp>
        <p:nvSpPr>
          <p:cNvPr id="100" name="Rectangle 104"/>
          <p:cNvSpPr/>
          <p:nvPr/>
        </p:nvSpPr>
        <p:spPr bwMode="gray">
          <a:xfrm>
            <a:off x="3569927" y="4217559"/>
            <a:ext cx="1403234" cy="486054"/>
          </a:xfrm>
          <a:prstGeom prst="rect">
            <a:avLst/>
          </a:prstGeom>
          <a:solidFill>
            <a:srgbClr val="FFD17D"/>
          </a:solid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1D1D1A"/>
                </a:solidFill>
                <a:effectLst/>
                <a:uLnTx/>
                <a:uFillTx/>
                <a:latin typeface="Huawei Sans" panose="020C0503030203020204" pitchFamily="34" charset="0"/>
              </a:rPr>
              <a:t>VLANIF200</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1D1D1A"/>
                </a:solidFill>
                <a:effectLst/>
                <a:uLnTx/>
                <a:uFillTx/>
                <a:latin typeface="Huawei Sans" panose="020C0503030203020204" pitchFamily="34" charset="0"/>
              </a:rPr>
              <a:t>172.16.1.254</a:t>
            </a:r>
          </a:p>
        </p:txBody>
      </p:sp>
      <p:sp>
        <p:nvSpPr>
          <p:cNvPr id="101" name="TextBox 106"/>
          <p:cNvSpPr txBox="1"/>
          <p:nvPr/>
        </p:nvSpPr>
        <p:spPr bwMode="gray">
          <a:xfrm>
            <a:off x="3332056" y="5618093"/>
            <a:ext cx="1980755"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PC2 </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172.16.1.1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Gateway 172.16.1.254</a:t>
            </a:r>
          </a:p>
        </p:txBody>
      </p:sp>
      <p:sp>
        <p:nvSpPr>
          <p:cNvPr id="102" name="Freeform 159"/>
          <p:cNvSpPr/>
          <p:nvPr/>
        </p:nvSpPr>
        <p:spPr bwMode="gray">
          <a:xfrm flipH="1">
            <a:off x="1558676" y="1348861"/>
            <a:ext cx="1005448" cy="5255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65000"/>
              </a:sys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03" name="TextBox 91"/>
          <p:cNvSpPr txBox="1"/>
          <p:nvPr/>
        </p:nvSpPr>
        <p:spPr bwMode="gray">
          <a:xfrm>
            <a:off x="1554494" y="1539506"/>
            <a:ext cx="1024640"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rPr>
              <a:t>1.1.1.0/24</a:t>
            </a:r>
          </a:p>
        </p:txBody>
      </p:sp>
      <p:graphicFrame>
        <p:nvGraphicFramePr>
          <p:cNvPr id="104" name="表格 46"/>
          <p:cNvGraphicFramePr>
            <a:graphicFrameLocks noGrp="1"/>
          </p:cNvGraphicFramePr>
          <p:nvPr>
            <p:extLst>
              <p:ext uri="{D42A27DB-BD31-4B8C-83A1-F6EECF244321}">
                <p14:modId xmlns:p14="http://schemas.microsoft.com/office/powerpoint/2010/main" val="2420763615"/>
              </p:ext>
            </p:extLst>
          </p:nvPr>
        </p:nvGraphicFramePr>
        <p:xfrm>
          <a:off x="6201660" y="1742508"/>
          <a:ext cx="5059375" cy="1097280"/>
        </p:xfrm>
        <a:graphic>
          <a:graphicData uri="http://schemas.openxmlformats.org/drawingml/2006/table">
            <a:tbl>
              <a:tblPr firstRow="1" bandRow="1"/>
              <a:tblGrid>
                <a:gridCol w="1744613">
                  <a:extLst>
                    <a:ext uri="{9D8B030D-6E8A-4147-A177-3AD203B41FA5}">
                      <a16:colId xmlns:a16="http://schemas.microsoft.com/office/drawing/2014/main" val="20000"/>
                    </a:ext>
                  </a:extLst>
                </a:gridCol>
                <a:gridCol w="911977">
                  <a:extLst>
                    <a:ext uri="{9D8B030D-6E8A-4147-A177-3AD203B41FA5}">
                      <a16:colId xmlns:a16="http://schemas.microsoft.com/office/drawing/2014/main" val="20001"/>
                    </a:ext>
                  </a:extLst>
                </a:gridCol>
                <a:gridCol w="1092955">
                  <a:extLst>
                    <a:ext uri="{9D8B030D-6E8A-4147-A177-3AD203B41FA5}">
                      <a16:colId xmlns:a16="http://schemas.microsoft.com/office/drawing/2014/main" val="20002"/>
                    </a:ext>
                  </a:extLst>
                </a:gridCol>
                <a:gridCol w="1309830">
                  <a:extLst>
                    <a:ext uri="{9D8B030D-6E8A-4147-A177-3AD203B41FA5}">
                      <a16:colId xmlns:a16="http://schemas.microsoft.com/office/drawing/2014/main" val="20003"/>
                    </a:ext>
                  </a:extLst>
                </a:gridCol>
              </a:tblGrid>
              <a:tr h="0">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Destination/Mask</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a:solidFill>
                            <a:schemeClr val="bg1"/>
                          </a:solidFill>
                          <a:latin typeface="Huawei Sans" panose="020C0503030203020204" pitchFamily="34" charset="0"/>
                          <a:ea typeface="方正兰亭黑简体" panose="02000000000000000000" pitchFamily="2" charset="-122"/>
                          <a:cs typeface="+mn-cs"/>
                        </a:rPr>
                        <a:t>Protocol</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Interface</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algn="ctr" defTabSz="914034" rtl="0" eaLnBrk="1" fontAlgn="ctr" latinLnBrk="0" hangingPunct="1">
                        <a:lnSpc>
                          <a:spcPct val="100000"/>
                        </a:lnSpc>
                      </a:pPr>
                      <a:r>
                        <a:rPr lang="en-US" sz="1200" b="1" dirty="0" err="1">
                          <a:solidFill>
                            <a:schemeClr val="bg1"/>
                          </a:solidFill>
                          <a:latin typeface="Huawei Sans" panose="020C0503030203020204" pitchFamily="34" charset="0"/>
                          <a:ea typeface="方正兰亭黑简体" panose="02000000000000000000" pitchFamily="2" charset="-122"/>
                          <a:cs typeface="+mn-cs"/>
                        </a:rPr>
                        <a:t>NextHop</a:t>
                      </a:r>
                      <a:endParaRPr lang="en-US" sz="1200" b="1" dirty="0">
                        <a:solidFill>
                          <a:schemeClr val="bg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VLANIF10</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192.168.1.254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VLANIF11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1.1.1.0/24</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Static</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VLANIF11</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192.168.100.2</a:t>
                      </a:r>
                    </a:p>
                  </a:txBody>
                  <a:tcPr anchor="ctr">
                    <a:lnL w="12700" cap="flat" cmpd="sng" algn="ctr">
                      <a:solidFill>
                        <a:srgbClr val="F3FBFE">
                          <a:lumMod val="90000"/>
                        </a:srgbClr>
                      </a:solidFill>
                      <a:prstDash val="solid"/>
                      <a:round/>
                      <a:headEnd type="none" w="med" len="med"/>
                      <a:tailEnd type="none" w="med" len="med"/>
                    </a:lnL>
                    <a:lnR w="12700" cap="flat" cmpd="sng" algn="ctr">
                      <a:solidFill>
                        <a:srgbClr val="F3FBFE">
                          <a:lumMod val="90000"/>
                        </a:srgbClr>
                      </a:solidFill>
                      <a:prstDash val="solid"/>
                      <a:round/>
                      <a:headEnd type="none" w="med" len="med"/>
                      <a:tailEnd type="none" w="med" len="med"/>
                    </a:lnR>
                    <a:lnT w="12700" cap="flat" cmpd="sng" algn="ctr">
                      <a:solidFill>
                        <a:srgbClr val="F3FBFE">
                          <a:lumMod val="90000"/>
                        </a:srgbClr>
                      </a:solidFill>
                      <a:prstDash val="solid"/>
                      <a:round/>
                      <a:headEnd type="none" w="med" len="med"/>
                      <a:tailEnd type="none" w="med" len="med"/>
                    </a:lnT>
                    <a:lnB w="12700" cap="flat" cmpd="sng" algn="ctr">
                      <a:solidFill>
                        <a:srgbClr val="F3FBFE">
                          <a:lumMod val="90000"/>
                        </a:srgb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sp>
        <p:nvSpPr>
          <p:cNvPr id="105" name="TextBox 107"/>
          <p:cNvSpPr txBox="1"/>
          <p:nvPr/>
        </p:nvSpPr>
        <p:spPr bwMode="gray">
          <a:xfrm>
            <a:off x="7095352" y="1203036"/>
            <a:ext cx="3161821" cy="523220"/>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Core switch's global routing table</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(Root device's routing table)</a:t>
            </a:r>
          </a:p>
        </p:txBody>
      </p:sp>
      <p:graphicFrame>
        <p:nvGraphicFramePr>
          <p:cNvPr id="106" name="表格 105"/>
          <p:cNvGraphicFramePr>
            <a:graphicFrameLocks noGrp="1"/>
          </p:cNvGraphicFramePr>
          <p:nvPr>
            <p:extLst>
              <p:ext uri="{D42A27DB-BD31-4B8C-83A1-F6EECF244321}">
                <p14:modId xmlns:p14="http://schemas.microsoft.com/office/powerpoint/2010/main" val="813414919"/>
              </p:ext>
            </p:extLst>
          </p:nvPr>
        </p:nvGraphicFramePr>
        <p:xfrm>
          <a:off x="6216427" y="3559638"/>
          <a:ext cx="5044608" cy="1097280"/>
        </p:xfrm>
        <a:graphic>
          <a:graphicData uri="http://schemas.openxmlformats.org/drawingml/2006/table">
            <a:tbl>
              <a:tblPr firstRow="1" bandRow="1"/>
              <a:tblGrid>
                <a:gridCol w="1739521">
                  <a:extLst>
                    <a:ext uri="{9D8B030D-6E8A-4147-A177-3AD203B41FA5}">
                      <a16:colId xmlns:a16="http://schemas.microsoft.com/office/drawing/2014/main" val="20000"/>
                    </a:ext>
                  </a:extLst>
                </a:gridCol>
                <a:gridCol w="883252">
                  <a:extLst>
                    <a:ext uri="{9D8B030D-6E8A-4147-A177-3AD203B41FA5}">
                      <a16:colId xmlns:a16="http://schemas.microsoft.com/office/drawing/2014/main" val="20001"/>
                    </a:ext>
                  </a:extLst>
                </a:gridCol>
                <a:gridCol w="1110907">
                  <a:extLst>
                    <a:ext uri="{9D8B030D-6E8A-4147-A177-3AD203B41FA5}">
                      <a16:colId xmlns:a16="http://schemas.microsoft.com/office/drawing/2014/main" val="20002"/>
                    </a:ext>
                  </a:extLst>
                </a:gridCol>
                <a:gridCol w="1310928">
                  <a:extLst>
                    <a:ext uri="{9D8B030D-6E8A-4147-A177-3AD203B41FA5}">
                      <a16:colId xmlns:a16="http://schemas.microsoft.com/office/drawing/2014/main" val="20003"/>
                    </a:ext>
                  </a:extLst>
                </a:gridCol>
              </a:tblGrid>
              <a:tr h="0">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Destination/Mask</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Protocol</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Interface</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lvl1pPr marL="0" algn="l" defTabSz="914034" rtl="0" eaLnBrk="1" latinLnBrk="0" hangingPunct="1">
                        <a:defRPr sz="1799" b="1" kern="1200">
                          <a:solidFill>
                            <a:schemeClr val="lt1"/>
                          </a:solidFill>
                          <a:latin typeface="Huawei Sans"/>
                          <a:ea typeface="方正兰亭黑简体"/>
                        </a:defRPr>
                      </a:lvl1pPr>
                      <a:lvl2pPr marL="457017" algn="l" defTabSz="914034" rtl="0" eaLnBrk="1" latinLnBrk="0" hangingPunct="1">
                        <a:defRPr sz="1799" b="1" kern="1200">
                          <a:solidFill>
                            <a:schemeClr val="lt1"/>
                          </a:solidFill>
                          <a:latin typeface="Huawei Sans"/>
                          <a:ea typeface="方正兰亭黑简体"/>
                        </a:defRPr>
                      </a:lvl2pPr>
                      <a:lvl3pPr marL="914034" algn="l" defTabSz="914034" rtl="0" eaLnBrk="1" latinLnBrk="0" hangingPunct="1">
                        <a:defRPr sz="1799" b="1" kern="1200">
                          <a:solidFill>
                            <a:schemeClr val="lt1"/>
                          </a:solidFill>
                          <a:latin typeface="Huawei Sans"/>
                          <a:ea typeface="方正兰亭黑简体"/>
                        </a:defRPr>
                      </a:lvl3pPr>
                      <a:lvl4pPr marL="1371051" algn="l" defTabSz="914034" rtl="0" eaLnBrk="1" latinLnBrk="0" hangingPunct="1">
                        <a:defRPr sz="1799" b="1" kern="1200">
                          <a:solidFill>
                            <a:schemeClr val="lt1"/>
                          </a:solidFill>
                          <a:latin typeface="Huawei Sans"/>
                          <a:ea typeface="方正兰亭黑简体"/>
                        </a:defRPr>
                      </a:lvl4pPr>
                      <a:lvl5pPr marL="1828068" algn="l" defTabSz="914034" rtl="0" eaLnBrk="1" latinLnBrk="0" hangingPunct="1">
                        <a:defRPr sz="1799" b="1" kern="1200">
                          <a:solidFill>
                            <a:schemeClr val="lt1"/>
                          </a:solidFill>
                          <a:latin typeface="Huawei Sans"/>
                          <a:ea typeface="方正兰亭黑简体"/>
                        </a:defRPr>
                      </a:lvl5pPr>
                      <a:lvl6pPr marL="2285086" algn="l" defTabSz="914034" rtl="0" eaLnBrk="1" latinLnBrk="0" hangingPunct="1">
                        <a:defRPr sz="1799" b="1" kern="1200">
                          <a:solidFill>
                            <a:schemeClr val="lt1"/>
                          </a:solidFill>
                          <a:latin typeface="Huawei Sans"/>
                          <a:ea typeface="方正兰亭黑简体"/>
                        </a:defRPr>
                      </a:lvl6pPr>
                      <a:lvl7pPr marL="2742103" algn="l" defTabSz="914034" rtl="0" eaLnBrk="1" latinLnBrk="0" hangingPunct="1">
                        <a:defRPr sz="1799" b="1" kern="1200">
                          <a:solidFill>
                            <a:schemeClr val="lt1"/>
                          </a:solidFill>
                          <a:latin typeface="Huawei Sans"/>
                          <a:ea typeface="方正兰亭黑简体"/>
                        </a:defRPr>
                      </a:lvl7pPr>
                      <a:lvl8pPr marL="3199120" algn="l" defTabSz="914034" rtl="0" eaLnBrk="1" latinLnBrk="0" hangingPunct="1">
                        <a:defRPr sz="1799" b="1" kern="1200">
                          <a:solidFill>
                            <a:schemeClr val="lt1"/>
                          </a:solidFill>
                          <a:latin typeface="Huawei Sans"/>
                          <a:ea typeface="方正兰亭黑简体"/>
                        </a:defRPr>
                      </a:lvl8pPr>
                      <a:lvl9pPr marL="3656137" algn="l" defTabSz="914034" rtl="0" eaLnBrk="1" latinLnBrk="0" hangingPunct="1">
                        <a:defRPr sz="1799" b="1" kern="1200">
                          <a:solidFill>
                            <a:schemeClr val="lt1"/>
                          </a:solidFill>
                          <a:latin typeface="Huawei Sans"/>
                          <a:ea typeface="方正兰亭黑简体"/>
                        </a:defRPr>
                      </a:lvl9p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err="1">
                          <a:solidFill>
                            <a:schemeClr val="tx1"/>
                          </a:solidFill>
                          <a:latin typeface="Huawei Sans" panose="020C0503030203020204" pitchFamily="34" charset="0"/>
                          <a:ea typeface="方正兰亭黑简体" panose="02000000000000000000" pitchFamily="2" charset="-122"/>
                          <a:cs typeface="+mn-cs"/>
                        </a:rPr>
                        <a:t>NextHop</a:t>
                      </a:r>
                      <a:endParaRPr lang="en-US" sz="1200" dirty="0">
                        <a:solidFill>
                          <a:schemeClr val="tx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172.16.1.0/24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Direct</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a:solidFill>
                            <a:schemeClr val="tx1"/>
                          </a:solidFill>
                          <a:latin typeface="Huawei Sans" panose="020C0503030203020204" pitchFamily="34" charset="0"/>
                        </a:rPr>
                        <a:t>VLANIF200</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172.16.1.254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172.16.100.0/24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rPr>
                        <a:t>Direct</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a:solidFill>
                            <a:schemeClr val="tx1"/>
                          </a:solidFill>
                          <a:latin typeface="Huawei Sans" panose="020C0503030203020204" pitchFamily="34" charset="0"/>
                        </a:rPr>
                        <a:t>VLANIF201</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a:solidFill>
                            <a:schemeClr val="tx1"/>
                          </a:solidFill>
                          <a:latin typeface="Huawei Sans" panose="020C0503030203020204" pitchFamily="34" charset="0"/>
                        </a:rPr>
                        <a:t>172.16.100.1</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0">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b="1">
                          <a:solidFill>
                            <a:srgbClr val="EC7061"/>
                          </a:solidFill>
                          <a:latin typeface="Huawei Sans" panose="020C0503030203020204" pitchFamily="34" charset="0"/>
                        </a:rPr>
                        <a:t>2.2.2.0/24</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b="1">
                          <a:solidFill>
                            <a:srgbClr val="EC7061"/>
                          </a:solidFill>
                          <a:latin typeface="Huawei Sans" panose="020C0503030203020204" pitchFamily="34" charset="0"/>
                        </a:rPr>
                        <a:t>OSPF</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algn="ctr" fontAlgn="ctr"/>
                      <a:r>
                        <a:rPr lang="en-US" sz="1200" b="1">
                          <a:solidFill>
                            <a:srgbClr val="EC7061"/>
                          </a:solidFill>
                          <a:latin typeface="Huawei Sans" panose="020C0503030203020204" pitchFamily="34" charset="0"/>
                        </a:rPr>
                        <a:t>VLANIF201</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034" rtl="0" eaLnBrk="1" latinLnBrk="0" hangingPunct="1">
                        <a:defRPr sz="1799" kern="1200">
                          <a:solidFill>
                            <a:schemeClr val="dk1"/>
                          </a:solidFill>
                          <a:latin typeface="Huawei Sans"/>
                          <a:ea typeface="方正兰亭黑简体"/>
                        </a:defRPr>
                      </a:lvl1pPr>
                      <a:lvl2pPr marL="457017" algn="l" defTabSz="914034" rtl="0" eaLnBrk="1" latinLnBrk="0" hangingPunct="1">
                        <a:defRPr sz="1799" kern="1200">
                          <a:solidFill>
                            <a:schemeClr val="dk1"/>
                          </a:solidFill>
                          <a:latin typeface="Huawei Sans"/>
                          <a:ea typeface="方正兰亭黑简体"/>
                        </a:defRPr>
                      </a:lvl2pPr>
                      <a:lvl3pPr marL="914034" algn="l" defTabSz="914034" rtl="0" eaLnBrk="1" latinLnBrk="0" hangingPunct="1">
                        <a:defRPr sz="1799" kern="1200">
                          <a:solidFill>
                            <a:schemeClr val="dk1"/>
                          </a:solidFill>
                          <a:latin typeface="Huawei Sans"/>
                          <a:ea typeface="方正兰亭黑简体"/>
                        </a:defRPr>
                      </a:lvl3pPr>
                      <a:lvl4pPr marL="1371051" algn="l" defTabSz="914034" rtl="0" eaLnBrk="1" latinLnBrk="0" hangingPunct="1">
                        <a:defRPr sz="1799" kern="1200">
                          <a:solidFill>
                            <a:schemeClr val="dk1"/>
                          </a:solidFill>
                          <a:latin typeface="Huawei Sans"/>
                          <a:ea typeface="方正兰亭黑简体"/>
                        </a:defRPr>
                      </a:lvl4pPr>
                      <a:lvl5pPr marL="1828068" algn="l" defTabSz="914034" rtl="0" eaLnBrk="1" latinLnBrk="0" hangingPunct="1">
                        <a:defRPr sz="1799" kern="1200">
                          <a:solidFill>
                            <a:schemeClr val="dk1"/>
                          </a:solidFill>
                          <a:latin typeface="Huawei Sans"/>
                          <a:ea typeface="方正兰亭黑简体"/>
                        </a:defRPr>
                      </a:lvl5pPr>
                      <a:lvl6pPr marL="2285086" algn="l" defTabSz="914034" rtl="0" eaLnBrk="1" latinLnBrk="0" hangingPunct="1">
                        <a:defRPr sz="1799" kern="1200">
                          <a:solidFill>
                            <a:schemeClr val="dk1"/>
                          </a:solidFill>
                          <a:latin typeface="Huawei Sans"/>
                          <a:ea typeface="方正兰亭黑简体"/>
                        </a:defRPr>
                      </a:lvl6pPr>
                      <a:lvl7pPr marL="2742103" algn="l" defTabSz="914034" rtl="0" eaLnBrk="1" latinLnBrk="0" hangingPunct="1">
                        <a:defRPr sz="1799" kern="1200">
                          <a:solidFill>
                            <a:schemeClr val="dk1"/>
                          </a:solidFill>
                          <a:latin typeface="Huawei Sans"/>
                          <a:ea typeface="方正兰亭黑简体"/>
                        </a:defRPr>
                      </a:lvl7pPr>
                      <a:lvl8pPr marL="3199120" algn="l" defTabSz="914034" rtl="0" eaLnBrk="1" latinLnBrk="0" hangingPunct="1">
                        <a:defRPr sz="1799" kern="1200">
                          <a:solidFill>
                            <a:schemeClr val="dk1"/>
                          </a:solidFill>
                          <a:latin typeface="Huawei Sans"/>
                          <a:ea typeface="方正兰亭黑简体"/>
                        </a:defRPr>
                      </a:lvl8pPr>
                      <a:lvl9pPr marL="3656137" algn="l" defTabSz="914034" rtl="0" eaLnBrk="1" latinLnBrk="0" hangingPunct="1">
                        <a:defRPr sz="1799" kern="1200">
                          <a:solidFill>
                            <a:schemeClr val="dk1"/>
                          </a:solidFill>
                          <a:latin typeface="Huawei Sans"/>
                          <a:ea typeface="方正兰亭黑简体"/>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200" b="1" dirty="0">
                          <a:solidFill>
                            <a:srgbClr val="EC7061"/>
                          </a:solidFill>
                          <a:latin typeface="Huawei Sans" panose="020C0503030203020204" pitchFamily="34" charset="0"/>
                        </a:rPr>
                        <a:t>172.16.100.2</a:t>
                      </a:r>
                    </a:p>
                  </a:txBody>
                  <a:tcPr anchor="ctr">
                    <a:lnL w="12700" cap="flat" cmpd="sng" algn="ctr">
                      <a:solidFill>
                        <a:sysClr val="window" lastClr="FFFFFF">
                          <a:lumMod val="65000"/>
                        </a:sysClr>
                      </a:solidFill>
                      <a:prstDash val="solid"/>
                      <a:round/>
                      <a:headEnd type="none" w="med" len="med"/>
                      <a:tailEnd type="none" w="med" len="med"/>
                    </a:lnL>
                    <a:lnR w="12700" cap="flat" cmpd="sng" algn="ctr">
                      <a:solidFill>
                        <a:sysClr val="window" lastClr="FFFFFF">
                          <a:lumMod val="65000"/>
                        </a:sysClr>
                      </a:solidFill>
                      <a:prstDash val="solid"/>
                      <a:round/>
                      <a:headEnd type="none" w="med" len="med"/>
                      <a:tailEnd type="none" w="med" len="med"/>
                    </a:lnR>
                    <a:lnT w="12700" cap="flat" cmpd="sng" algn="ctr">
                      <a:solidFill>
                        <a:sysClr val="window" lastClr="FFFFFF">
                          <a:lumMod val="65000"/>
                        </a:sysClr>
                      </a:solidFill>
                      <a:prstDash val="solid"/>
                      <a:round/>
                      <a:headEnd type="none" w="med" len="med"/>
                      <a:tailEnd type="none" w="med" len="med"/>
                    </a:lnT>
                    <a:lnB w="12700" cap="flat" cmpd="sng" algn="ctr">
                      <a:solidFill>
                        <a:sysClr val="window" lastClr="FFFFFF">
                          <a:lumMod val="6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sp>
        <p:nvSpPr>
          <p:cNvPr id="107" name="TextBox 49"/>
          <p:cNvSpPr txBox="1"/>
          <p:nvPr/>
        </p:nvSpPr>
        <p:spPr bwMode="gray">
          <a:xfrm>
            <a:off x="6582853" y="3162722"/>
            <a:ext cx="4216354"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VPN instance 1's routing table on the core switch</a:t>
            </a:r>
          </a:p>
        </p:txBody>
      </p:sp>
      <p:sp>
        <p:nvSpPr>
          <p:cNvPr id="108" name="文本框 107"/>
          <p:cNvSpPr txBox="1"/>
          <p:nvPr/>
        </p:nvSpPr>
        <p:spPr bwMode="gray">
          <a:xfrm>
            <a:off x="3320108" y="3224695"/>
            <a:ext cx="998991"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Huawei Sans" panose="020C0503030203020204" pitchFamily="34" charset="0"/>
              </a:rPr>
              <a:t>VPN instance 1</a:t>
            </a:r>
          </a:p>
        </p:txBody>
      </p:sp>
      <p:sp>
        <p:nvSpPr>
          <p:cNvPr id="109" name="TextBox 53"/>
          <p:cNvSpPr txBox="1"/>
          <p:nvPr/>
        </p:nvSpPr>
        <p:spPr bwMode="gray">
          <a:xfrm>
            <a:off x="6135008" y="4927629"/>
            <a:ext cx="5516622" cy="938719"/>
          </a:xfrm>
          <a:prstGeom prst="rect">
            <a:avLst/>
          </a:prstGeom>
          <a:noFill/>
        </p:spPr>
        <p:txBody>
          <a:bodyPr wrap="square" rtlCol="0">
            <a:noAutofit/>
          </a:bodyPr>
          <a:lstStyle/>
          <a:p>
            <a:pPr marL="0" marR="0" lvl="0" indent="0" defTabSz="914400" eaLnBrk="1" fontAlgn="ctr" latinLnBrk="0" hangingPunct="1">
              <a:lnSpc>
                <a:spcPts val="22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Either multiple dynamic routing protocols or multiple processes of a specific dynamic routing protocol can run on a device. A dynamic routing protocol process associated with a VPN instance serves the instance, and the device installs the routes learned from the process to the routing table of the VPN instance.</a:t>
            </a:r>
          </a:p>
        </p:txBody>
      </p:sp>
      <p:sp>
        <p:nvSpPr>
          <p:cNvPr id="110" name="任意多边形 109"/>
          <p:cNvSpPr/>
          <p:nvPr/>
        </p:nvSpPr>
        <p:spPr bwMode="gray">
          <a:xfrm>
            <a:off x="3453593" y="2240443"/>
            <a:ext cx="458007" cy="1019976"/>
          </a:xfrm>
          <a:custGeom>
            <a:avLst/>
            <a:gdLst>
              <a:gd name="connsiteX0" fmla="*/ 458007 w 458007"/>
              <a:gd name="connsiteY0" fmla="*/ 16983 h 1071083"/>
              <a:gd name="connsiteX1" fmla="*/ 807 w 458007"/>
              <a:gd name="connsiteY1" fmla="*/ 143983 h 1071083"/>
              <a:gd name="connsiteX2" fmla="*/ 369107 w 458007"/>
              <a:gd name="connsiteY2" fmla="*/ 1071083 h 1071083"/>
            </a:gdLst>
            <a:ahLst/>
            <a:cxnLst>
              <a:cxn ang="0">
                <a:pos x="connsiteX0" y="connsiteY0"/>
              </a:cxn>
              <a:cxn ang="0">
                <a:pos x="connsiteX1" y="connsiteY1"/>
              </a:cxn>
              <a:cxn ang="0">
                <a:pos x="connsiteX2" y="connsiteY2"/>
              </a:cxn>
            </a:cxnLst>
            <a:rect l="l" t="t" r="r" b="b"/>
            <a:pathLst>
              <a:path w="458007" h="1071083">
                <a:moveTo>
                  <a:pt x="458007" y="16983"/>
                </a:moveTo>
                <a:cubicBezTo>
                  <a:pt x="236815" y="-7359"/>
                  <a:pt x="15624" y="-31700"/>
                  <a:pt x="807" y="143983"/>
                </a:cubicBezTo>
                <a:cubicBezTo>
                  <a:pt x="-14010" y="319666"/>
                  <a:pt x="177548" y="695374"/>
                  <a:pt x="369107" y="1071083"/>
                </a:cubicBezTo>
              </a:path>
            </a:pathLst>
          </a:custGeom>
          <a:noFill/>
          <a:ln w="31750" cap="flat" cmpd="sng" algn="ctr">
            <a:solidFill>
              <a:srgbClr val="FFD17D"/>
            </a:solidFill>
            <a:prstDash val="solid"/>
            <a:miter lim="800000"/>
            <a:headEnd type="triangle"/>
            <a:tailEnd type="triangle"/>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endParaRPr>
          </a:p>
        </p:txBody>
      </p:sp>
      <p:sp>
        <p:nvSpPr>
          <p:cNvPr id="111" name="文本框 110"/>
          <p:cNvSpPr txBox="1"/>
          <p:nvPr/>
        </p:nvSpPr>
        <p:spPr bwMode="gray">
          <a:xfrm>
            <a:off x="2577209" y="1970586"/>
            <a:ext cx="1453235"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rPr>
              <a:t>Deploy OSPF.</a:t>
            </a:r>
          </a:p>
        </p:txBody>
      </p:sp>
      <p:sp>
        <p:nvSpPr>
          <p:cNvPr id="112" name="文本框 111"/>
          <p:cNvSpPr txBox="1"/>
          <p:nvPr/>
        </p:nvSpPr>
        <p:spPr bwMode="gray">
          <a:xfrm>
            <a:off x="1410822" y="2184732"/>
            <a:ext cx="45557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rPr>
              <a:t>R1</a:t>
            </a:r>
          </a:p>
        </p:txBody>
      </p:sp>
      <p:sp>
        <p:nvSpPr>
          <p:cNvPr id="113" name="文本框 112"/>
          <p:cNvSpPr txBox="1"/>
          <p:nvPr/>
        </p:nvSpPr>
        <p:spPr bwMode="gray">
          <a:xfrm>
            <a:off x="4468683" y="2171244"/>
            <a:ext cx="45557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rPr>
              <a:t>R2</a:t>
            </a:r>
          </a:p>
        </p:txBody>
      </p:sp>
      <p:sp>
        <p:nvSpPr>
          <p:cNvPr id="2" name="Title 1">
            <a:extLst>
              <a:ext uri="{FF2B5EF4-FFF2-40B4-BE49-F238E27FC236}">
                <a16:creationId xmlns:a16="http://schemas.microsoft.com/office/drawing/2014/main" id="{1420F82C-3978-4C2D-8ED5-C522D434CC84}"/>
              </a:ext>
            </a:extLst>
          </p:cNvPr>
          <p:cNvSpPr>
            <a:spLocks noGrp="1"/>
          </p:cNvSpPr>
          <p:nvPr>
            <p:ph type="title"/>
          </p:nvPr>
        </p:nvSpPr>
        <p:spPr bwMode="gray">
          <a:xfrm>
            <a:off x="1594800" y="410400"/>
            <a:ext cx="10154288" cy="640800"/>
          </a:xfrm>
        </p:spPr>
        <p:txBody>
          <a:bodyPr/>
          <a:lstStyle/>
          <a:p>
            <a:r>
              <a:rPr lang="en-US" sz="3200" dirty="0"/>
              <a:t>Example: Configuring a Dynamic Routing Protocol</a:t>
            </a:r>
          </a:p>
        </p:txBody>
      </p:sp>
    </p:spTree>
    <p:extLst>
      <p:ext uri="{BB962C8B-B14F-4D97-AF65-F5344CB8AC3E}">
        <p14:creationId xmlns:p14="http://schemas.microsoft.com/office/powerpoint/2010/main" val="4169087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圆角矩形 75"/>
          <p:cNvSpPr/>
          <p:nvPr/>
        </p:nvSpPr>
        <p:spPr bwMode="gray">
          <a:xfrm>
            <a:off x="517529" y="1301002"/>
            <a:ext cx="5485706" cy="394020"/>
          </a:xfrm>
          <a:prstGeom prst="roundRect">
            <a:avLst>
              <a:gd name="adj" fmla="val 10604"/>
            </a:avLst>
          </a:prstGeom>
          <a:solidFill>
            <a:srgbClr val="00B0F0"/>
          </a:solidFill>
          <a:ln>
            <a:noFill/>
          </a:ln>
        </p:spPr>
        <p:txBody>
          <a:bodyPr wrap="square" rtlCol="0" anchor="ctr" anchorCtr="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Huawei Sans" panose="020C0503030203020204" pitchFamily="34" charset="0"/>
                <a:sym typeface="Huawei Sans" panose="020C0503030203020204" pitchFamily="34" charset="0"/>
              </a:rPr>
              <a:t>Firewall Virtual System</a:t>
            </a:r>
          </a:p>
        </p:txBody>
      </p:sp>
      <p:sp>
        <p:nvSpPr>
          <p:cNvPr id="153" name="圆角矩形 75"/>
          <p:cNvSpPr/>
          <p:nvPr/>
        </p:nvSpPr>
        <p:spPr bwMode="gray">
          <a:xfrm>
            <a:off x="517529" y="1732507"/>
            <a:ext cx="5485706" cy="4380058"/>
          </a:xfrm>
          <a:prstGeom prst="roundRect">
            <a:avLst>
              <a:gd name="adj" fmla="val 874"/>
            </a:avLst>
          </a:prstGeom>
          <a:noFill/>
          <a:ln w="9525" cap="flat" cmpd="sng" algn="ctr">
            <a:solidFill>
              <a:sysClr val="window" lastClr="FFFFFF">
                <a:lumMod val="65000"/>
              </a:sysClr>
            </a:solidFill>
            <a:prstDash val="solid"/>
            <a:miter lim="800000"/>
          </a:ln>
          <a:effectLst/>
        </p:spPr>
        <p:txBody>
          <a:bodyPr wrap="square" lIns="72000" tIns="36000" rIns="72000" bIns="36000" rtlCol="0" anchor="t" anchorCtr="0">
            <a:noAutofit/>
          </a:bodyPr>
          <a:lstStyle/>
          <a:p>
            <a:pPr marL="0" marR="0" lvl="0" indent="0" algn="just" defTabSz="914400" eaLnBrk="1" fontAlgn="ctr" latinLnBrk="0" hangingPunct="1">
              <a:lnSpc>
                <a:spcPts val="2600"/>
              </a:lnSpc>
              <a:spcBef>
                <a:spcPts val="0"/>
              </a:spcBef>
              <a:spcAft>
                <a:spcPts val="600"/>
              </a:spcAft>
              <a:buClrTx/>
              <a:buSzTx/>
              <a:buFontTx/>
              <a:buNone/>
              <a:tabLst/>
              <a:defRPr/>
            </a:pPr>
            <a:endPar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54" name="圆角矩形 75"/>
          <p:cNvSpPr/>
          <p:nvPr/>
        </p:nvSpPr>
        <p:spPr bwMode="gray">
          <a:xfrm>
            <a:off x="6155635" y="1301002"/>
            <a:ext cx="5485706" cy="394020"/>
          </a:xfrm>
          <a:prstGeom prst="roundRect">
            <a:avLst>
              <a:gd name="adj" fmla="val 10604"/>
            </a:avLst>
          </a:prstGeom>
          <a:solidFill>
            <a:srgbClr val="00B0F0"/>
          </a:solidFill>
          <a:ln>
            <a:noFill/>
          </a:ln>
        </p:spPr>
        <p:txBody>
          <a:bodyPr wrap="square" rtlCol="0" anchor="ctr" anchorCtr="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Huawei Sans" panose="020C0503030203020204" pitchFamily="34" charset="0"/>
                <a:sym typeface="Huawei Sans" panose="020C0503030203020204" pitchFamily="34" charset="0"/>
              </a:rPr>
              <a:t>BGP/MPLS IP VPN</a:t>
            </a:r>
          </a:p>
        </p:txBody>
      </p:sp>
      <p:sp>
        <p:nvSpPr>
          <p:cNvPr id="155" name="圆角矩形 75"/>
          <p:cNvSpPr/>
          <p:nvPr/>
        </p:nvSpPr>
        <p:spPr bwMode="gray">
          <a:xfrm>
            <a:off x="6155635" y="1732507"/>
            <a:ext cx="5485706" cy="4380058"/>
          </a:xfrm>
          <a:prstGeom prst="roundRect">
            <a:avLst>
              <a:gd name="adj" fmla="val 874"/>
            </a:avLst>
          </a:prstGeom>
          <a:noFill/>
          <a:ln w="9525" cap="flat" cmpd="sng" algn="ctr">
            <a:solidFill>
              <a:sysClr val="window" lastClr="FFFFFF">
                <a:lumMod val="65000"/>
              </a:sysClr>
            </a:solidFill>
            <a:prstDash val="solid"/>
            <a:miter lim="800000"/>
          </a:ln>
          <a:effectLst/>
        </p:spPr>
        <p:txBody>
          <a:bodyPr wrap="square" lIns="72000" tIns="36000" rIns="72000" bIns="36000" rtlCol="0" anchor="t" anchorCtr="0">
            <a:noAutofit/>
          </a:bodyPr>
          <a:lstStyle/>
          <a:p>
            <a:pPr marL="0" marR="0" lvl="0" indent="0" algn="just" defTabSz="914400" eaLnBrk="1" fontAlgn="ctr" latinLnBrk="0" hangingPunct="1">
              <a:lnSpc>
                <a:spcPts val="2600"/>
              </a:lnSpc>
              <a:spcBef>
                <a:spcPts val="0"/>
              </a:spcBef>
              <a:spcAft>
                <a:spcPts val="600"/>
              </a:spcAft>
              <a:buClrTx/>
              <a:buSzTx/>
              <a:buFontTx/>
              <a:buNone/>
              <a:tabLst/>
              <a:defRPr/>
            </a:pPr>
            <a:endPar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a:cs typeface="+mn-cs"/>
              <a:sym typeface="Huawei Sans" panose="020C0503030203020204" pitchFamily="34" charset="0"/>
            </a:endParaRPr>
          </a:p>
        </p:txBody>
      </p:sp>
      <p:pic>
        <p:nvPicPr>
          <p:cNvPr id="156" name="图片 15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50844" y="2829776"/>
            <a:ext cx="540000" cy="442174"/>
          </a:xfrm>
          <a:prstGeom prst="rect">
            <a:avLst/>
          </a:prstGeom>
        </p:spPr>
      </p:pic>
      <p:sp>
        <p:nvSpPr>
          <p:cNvPr id="157" name="下箭头 63"/>
          <p:cNvSpPr/>
          <p:nvPr/>
        </p:nvSpPr>
        <p:spPr bwMode="gray">
          <a:xfrm rot="5400000" flipV="1">
            <a:off x="1610844" y="2664073"/>
            <a:ext cx="829759" cy="77358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FFD17D"/>
                </a:gs>
              </a:gsLst>
              <a:lin ang="16200000" scaled="1"/>
              <a:tileRect/>
            </a:gra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58" name="圆角矩形 157"/>
          <p:cNvSpPr/>
          <p:nvPr/>
        </p:nvSpPr>
        <p:spPr bwMode="gray">
          <a:xfrm>
            <a:off x="2492733" y="2176670"/>
            <a:ext cx="3102997" cy="1759226"/>
          </a:xfrm>
          <a:prstGeom prst="roundRect">
            <a:avLst>
              <a:gd name="adj" fmla="val 2303"/>
            </a:avLst>
          </a:prstGeom>
          <a:solidFill>
            <a:srgbClr val="FFFFCC"/>
          </a:solidFill>
          <a:ln w="12700" cap="flat" cmpd="sng" algn="ctr">
            <a:solidFill>
              <a:srgbClr val="FFD17D"/>
            </a:solidFill>
            <a:prstDash val="solid"/>
            <a:miter lim="800000"/>
          </a:ln>
          <a:effectLst/>
        </p:spPr>
        <p:txBody>
          <a:bodyPr wrap="square" rtlCol="0" anchor="ctr">
            <a:noAutofit/>
          </a:bodyPr>
          <a:lstStyle/>
          <a:p>
            <a:pPr marL="0" marR="0" lvl="0" indent="0" defTabSz="914400" eaLnBrk="1" fontAlgn="ctr" latinLnBrk="0" hangingPunct="1">
              <a:lnSpc>
                <a:spcPts val="2200"/>
              </a:lnSpc>
              <a:spcBef>
                <a:spcPts val="0"/>
              </a:spcBef>
              <a:spcAft>
                <a:spcPts val="0"/>
              </a:spcAft>
              <a:buClrTx/>
              <a:buSzTx/>
              <a:buFontTx/>
              <a:buNone/>
              <a:tabLst/>
              <a:defRPr/>
            </a:pPr>
            <a:endParaRPr kumimoji="0" lang="zh-CN" altLang="en-US" sz="1600" b="0" i="1" u="none" strike="noStrike" kern="0" cap="none" spc="0" normalizeH="0" baseline="0" noProof="0" dirty="0">
              <a:ln>
                <a:noFill/>
              </a:ln>
              <a:solidFill>
                <a:srgbClr val="EC7061"/>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59" name="圆角矩形 158"/>
          <p:cNvSpPr/>
          <p:nvPr/>
        </p:nvSpPr>
        <p:spPr bwMode="gray">
          <a:xfrm>
            <a:off x="2589213" y="2268215"/>
            <a:ext cx="446069" cy="1123121"/>
          </a:xfrm>
          <a:prstGeom prst="roundRect">
            <a:avLst/>
          </a:prstGeom>
          <a:solidFill>
            <a:srgbClr val="00B0F0"/>
          </a:solidFill>
          <a:ln w="12700" cap="flat" cmpd="sng" algn="ctr">
            <a:noFill/>
            <a:prstDash val="solid"/>
            <a:miter lim="800000"/>
          </a:ln>
          <a:effectLst/>
        </p:spPr>
        <p:txBody>
          <a:bodyPr vert="vert270"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lang="en-US" sz="1400" kern="0" dirty="0">
                <a:solidFill>
                  <a:prstClr val="white"/>
                </a:solidFill>
                <a:latin typeface="Huawei Sans" panose="020C0503030203020204" pitchFamily="34" charset="0"/>
                <a:ea typeface="方正兰亭黑简体"/>
              </a:rPr>
              <a:t>Virtual system </a:t>
            </a:r>
            <a:r>
              <a:rPr kumimoji="0" 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a:cs typeface="+mn-cs"/>
              </a:rPr>
              <a:t>A</a:t>
            </a:r>
          </a:p>
        </p:txBody>
      </p:sp>
      <p:sp>
        <p:nvSpPr>
          <p:cNvPr id="160" name="圆角矩形 159"/>
          <p:cNvSpPr/>
          <p:nvPr/>
        </p:nvSpPr>
        <p:spPr bwMode="gray">
          <a:xfrm>
            <a:off x="3330990" y="2268214"/>
            <a:ext cx="446069" cy="1123121"/>
          </a:xfrm>
          <a:prstGeom prst="roundRect">
            <a:avLst/>
          </a:prstGeom>
          <a:solidFill>
            <a:srgbClr val="00B0F0"/>
          </a:solidFill>
          <a:ln w="12700" cap="flat" cmpd="sng" algn="ctr">
            <a:noFill/>
            <a:prstDash val="solid"/>
            <a:miter lim="800000"/>
          </a:ln>
          <a:effectLst/>
        </p:spPr>
        <p:txBody>
          <a:bodyPr vert="vert270" wrap="square" rtlCol="0" anchor="ctr">
            <a:noAutofit/>
          </a:bodyPr>
          <a:lstStyle/>
          <a:p>
            <a:pPr lvl="0" algn="ctr" defTabSz="914400" fontAlgn="ctr">
              <a:defRPr/>
            </a:pPr>
            <a:r>
              <a:rPr lang="en-US" altLang="zh-CN" sz="1400" kern="0" dirty="0">
                <a:solidFill>
                  <a:prstClr val="white"/>
                </a:solidFill>
                <a:latin typeface="Huawei Sans" panose="020C0503030203020204" pitchFamily="34" charset="0"/>
              </a:rPr>
              <a:t>Virtual system</a:t>
            </a:r>
            <a:r>
              <a:rPr kumimoji="0" 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a:cs typeface="+mn-cs"/>
              </a:rPr>
              <a:t> B</a:t>
            </a:r>
          </a:p>
        </p:txBody>
      </p:sp>
      <p:sp>
        <p:nvSpPr>
          <p:cNvPr id="161" name="圆角矩形 160"/>
          <p:cNvSpPr/>
          <p:nvPr/>
        </p:nvSpPr>
        <p:spPr bwMode="gray">
          <a:xfrm>
            <a:off x="4092471" y="2268213"/>
            <a:ext cx="446069" cy="1123121"/>
          </a:xfrm>
          <a:prstGeom prst="roundRect">
            <a:avLst/>
          </a:prstGeom>
          <a:solidFill>
            <a:srgbClr val="00B0F0"/>
          </a:solidFill>
          <a:ln w="12700" cap="flat" cmpd="sng" algn="ctr">
            <a:noFill/>
            <a:prstDash val="solid"/>
            <a:miter lim="800000"/>
          </a:ln>
          <a:effectLst/>
        </p:spPr>
        <p:txBody>
          <a:bodyPr vert="vert270" wrap="square" rtlCol="0" anchor="ctr">
            <a:noAutofit/>
          </a:bodyPr>
          <a:lstStyle/>
          <a:p>
            <a:pPr lvl="0" algn="ctr" defTabSz="914400" fontAlgn="ctr">
              <a:defRPr/>
            </a:pPr>
            <a:r>
              <a:rPr lang="en-US" altLang="zh-CN" sz="1400" kern="0" dirty="0">
                <a:solidFill>
                  <a:prstClr val="white"/>
                </a:solidFill>
                <a:latin typeface="Huawei Sans" panose="020C0503030203020204" pitchFamily="34" charset="0"/>
              </a:rPr>
              <a:t>Virtual system</a:t>
            </a:r>
            <a:r>
              <a:rPr kumimoji="0" 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a:cs typeface="+mn-cs"/>
              </a:rPr>
              <a:t> C</a:t>
            </a:r>
          </a:p>
        </p:txBody>
      </p:sp>
      <p:sp>
        <p:nvSpPr>
          <p:cNvPr id="162" name="圆角矩形 161"/>
          <p:cNvSpPr/>
          <p:nvPr/>
        </p:nvSpPr>
        <p:spPr bwMode="gray">
          <a:xfrm>
            <a:off x="2610425" y="3459033"/>
            <a:ext cx="2866036" cy="409162"/>
          </a:xfrm>
          <a:prstGeom prst="roundRect">
            <a:avLst/>
          </a:prstGeom>
          <a:solidFill>
            <a:sysClr val="window" lastClr="FFFFFF">
              <a:lumMod val="65000"/>
            </a:sysClr>
          </a:solidFill>
          <a:ln w="12700" cap="flat" cmpd="sng" algn="ctr">
            <a:no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rPr>
              <a:t>Root system</a:t>
            </a:r>
          </a:p>
        </p:txBody>
      </p:sp>
      <p:sp>
        <p:nvSpPr>
          <p:cNvPr id="163" name="文本框 162"/>
          <p:cNvSpPr txBox="1"/>
          <p:nvPr/>
        </p:nvSpPr>
        <p:spPr bwMode="gray">
          <a:xfrm>
            <a:off x="4834248" y="2574600"/>
            <a:ext cx="343364" cy="369332"/>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rPr>
              <a:t>...</a:t>
            </a:r>
          </a:p>
        </p:txBody>
      </p:sp>
      <p:sp>
        <p:nvSpPr>
          <p:cNvPr id="164" name="文本框 163"/>
          <p:cNvSpPr txBox="1"/>
          <p:nvPr/>
        </p:nvSpPr>
        <p:spPr bwMode="gray">
          <a:xfrm>
            <a:off x="516561" y="4057703"/>
            <a:ext cx="5486674" cy="2054862"/>
          </a:xfrm>
          <a:prstGeom prst="rect">
            <a:avLst/>
          </a:prstGeom>
          <a:noFill/>
        </p:spPr>
        <p:txBody>
          <a:bodyPr wrap="square" rtlCol="0">
            <a:noAutofit/>
          </a:bodyPr>
          <a:lstStyle/>
          <a:p>
            <a:pPr marL="0" marR="0" lvl="0" indent="0" defTabSz="914400" eaLnBrk="1" fontAlgn="ctr" latinLnBrk="0" hangingPunct="1">
              <a:lnSpc>
                <a:spcPct val="115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Virtual systems (VSs) are logical devices divided </a:t>
            </a:r>
            <a:r>
              <a:rPr lang="en-US" sz="1400" kern="0" dirty="0">
                <a:solidFill>
                  <a:prstClr val="black"/>
                </a:solidFill>
                <a:latin typeface="Huawei Sans" panose="020C0503030203020204" pitchFamily="34" charset="0"/>
              </a:rPr>
              <a:t>from</a:t>
            </a: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 a physical device and are working separately. A virtual system has the following characteristics:</a:t>
            </a:r>
          </a:p>
          <a:p>
            <a:pPr marL="285750" marR="0" lvl="0" indent="-285750" defTabSz="914400" eaLnBrk="1" fontAlgn="ctr" latinLnBrk="0" hangingPunct="1">
              <a:lnSpc>
                <a:spcPct val="115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Resource virtualization: Each VM has exclusive resources, including interfaces, VLANs, policies, and sessions.</a:t>
            </a:r>
          </a:p>
          <a:p>
            <a:pPr marL="285750" marR="0" lvl="0" indent="-285750" defTabSz="914400" eaLnBrk="1" fontAlgn="ctr" latinLnBrk="0" hangingPunct="1">
              <a:lnSpc>
                <a:spcPct val="115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Route virtualization: Each VM has its own routing table and is isolated from the other VMs.</a:t>
            </a:r>
          </a:p>
          <a:p>
            <a:pPr marL="0" marR="0" lvl="0" indent="0" defTabSz="914400" eaLnBrk="1" fontAlgn="ctr" latinLnBrk="0" hangingPunct="1">
              <a:lnSpc>
                <a:spcPct val="115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Route virtualization is implemented by creating VPN instances.</a:t>
            </a:r>
          </a:p>
        </p:txBody>
      </p:sp>
      <p:sp>
        <p:nvSpPr>
          <p:cNvPr id="165" name="圆角矩形 164"/>
          <p:cNvSpPr/>
          <p:nvPr/>
        </p:nvSpPr>
        <p:spPr bwMode="gray">
          <a:xfrm>
            <a:off x="7928463" y="1856691"/>
            <a:ext cx="1730545" cy="1879284"/>
          </a:xfrm>
          <a:prstGeom prst="roundRect">
            <a:avLst/>
          </a:prstGeom>
          <a:solidFill>
            <a:srgbClr val="F3FBFE"/>
          </a:solidFill>
          <a:ln w="28575"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sym typeface="Huawei Sans" panose="020C0503030203020204" pitchFamily="34" charset="0"/>
            </a:endParaRPr>
          </a:p>
        </p:txBody>
      </p:sp>
      <p:sp>
        <p:nvSpPr>
          <p:cNvPr id="166" name="矩形: 圆角 59">
            <a:extLst>
              <a:ext uri="{FF2B5EF4-FFF2-40B4-BE49-F238E27FC236}">
                <a16:creationId xmlns:a16="http://schemas.microsoft.com/office/drawing/2014/main" id="{0C6927D4-E6E8-412C-96E2-460C2397F385}"/>
              </a:ext>
            </a:extLst>
          </p:cNvPr>
          <p:cNvSpPr>
            <a:spLocks/>
          </p:cNvSpPr>
          <p:nvPr/>
        </p:nvSpPr>
        <p:spPr bwMode="gray">
          <a:xfrm>
            <a:off x="10020336" y="1848877"/>
            <a:ext cx="1392229" cy="848905"/>
          </a:xfrm>
          <a:prstGeom prst="roundRect">
            <a:avLst/>
          </a:prstGeom>
          <a:solidFill>
            <a:sysClr val="window" lastClr="FFFFFF"/>
          </a:solidFill>
          <a:ln w="19050" cap="flat" cmpd="sng" algn="ctr">
            <a:solidFill>
              <a:srgbClr val="EC7061">
                <a:lumMod val="60000"/>
                <a:lumOff val="40000"/>
              </a:srgb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cxnSp>
        <p:nvCxnSpPr>
          <p:cNvPr id="167" name="直接连接符 166"/>
          <p:cNvCxnSpPr>
            <a:endCxn id="175" idx="1"/>
          </p:cNvCxnSpPr>
          <p:nvPr/>
        </p:nvCxnSpPr>
        <p:spPr bwMode="gray">
          <a:xfrm flipV="1">
            <a:off x="9693356" y="2139867"/>
            <a:ext cx="485179" cy="0"/>
          </a:xfrm>
          <a:prstGeom prst="line">
            <a:avLst/>
          </a:prstGeom>
          <a:noFill/>
          <a:ln w="12700" cap="flat" cmpd="sng" algn="ctr">
            <a:solidFill>
              <a:sysClr val="windowText" lastClr="000000"/>
            </a:solidFill>
            <a:prstDash val="solid"/>
            <a:miter lim="800000"/>
          </a:ln>
          <a:effectLst/>
        </p:spPr>
      </p:cxnSp>
      <p:sp>
        <p:nvSpPr>
          <p:cNvPr id="168" name="矩形: 圆角 59">
            <a:extLst>
              <a:ext uri="{FF2B5EF4-FFF2-40B4-BE49-F238E27FC236}">
                <a16:creationId xmlns:a16="http://schemas.microsoft.com/office/drawing/2014/main" id="{0C6927D4-E6E8-412C-96E2-460C2397F385}"/>
              </a:ext>
            </a:extLst>
          </p:cNvPr>
          <p:cNvSpPr>
            <a:spLocks/>
          </p:cNvSpPr>
          <p:nvPr/>
        </p:nvSpPr>
        <p:spPr bwMode="gray">
          <a:xfrm>
            <a:off x="10020336" y="2884939"/>
            <a:ext cx="1392229" cy="848905"/>
          </a:xfrm>
          <a:prstGeom prst="roundRect">
            <a:avLst/>
          </a:prstGeom>
          <a:solidFill>
            <a:sysClr val="window" lastClr="FFFFFF"/>
          </a:solidFill>
          <a:ln w="19050" cap="flat" cmpd="sng" algn="ctr">
            <a:solidFill>
              <a:srgbClr val="8BC9A0"/>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69" name="矩形: 圆角 59">
            <a:extLst>
              <a:ext uri="{FF2B5EF4-FFF2-40B4-BE49-F238E27FC236}">
                <a16:creationId xmlns:a16="http://schemas.microsoft.com/office/drawing/2014/main" id="{0C6927D4-E6E8-412C-96E2-460C2397F385}"/>
              </a:ext>
            </a:extLst>
          </p:cNvPr>
          <p:cNvSpPr>
            <a:spLocks/>
          </p:cNvSpPr>
          <p:nvPr/>
        </p:nvSpPr>
        <p:spPr bwMode="gray">
          <a:xfrm>
            <a:off x="6332605" y="2931533"/>
            <a:ext cx="1387941" cy="848905"/>
          </a:xfrm>
          <a:prstGeom prst="roundRect">
            <a:avLst/>
          </a:prstGeom>
          <a:solidFill>
            <a:sysClr val="window" lastClr="FFFFFF"/>
          </a:solidFill>
          <a:ln w="19050" cap="flat" cmpd="sng" algn="ctr">
            <a:solidFill>
              <a:srgbClr val="8BC9A0"/>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sp>
        <p:nvSpPr>
          <p:cNvPr id="170" name="矩形: 圆角 59">
            <a:extLst>
              <a:ext uri="{FF2B5EF4-FFF2-40B4-BE49-F238E27FC236}">
                <a16:creationId xmlns:a16="http://schemas.microsoft.com/office/drawing/2014/main" id="{0C6927D4-E6E8-412C-96E2-460C2397F385}"/>
              </a:ext>
            </a:extLst>
          </p:cNvPr>
          <p:cNvSpPr>
            <a:spLocks/>
          </p:cNvSpPr>
          <p:nvPr/>
        </p:nvSpPr>
        <p:spPr bwMode="gray">
          <a:xfrm>
            <a:off x="6328777" y="1860776"/>
            <a:ext cx="1382024" cy="848905"/>
          </a:xfrm>
          <a:prstGeom prst="roundRect">
            <a:avLst/>
          </a:prstGeom>
          <a:solidFill>
            <a:sysClr val="window" lastClr="FFFFFF"/>
          </a:solidFill>
          <a:ln w="19050" cap="flat" cmpd="sng" algn="ctr">
            <a:solidFill>
              <a:srgbClr val="EC7061">
                <a:lumMod val="60000"/>
                <a:lumOff val="40000"/>
              </a:srgbClr>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Huawei Sans" panose="020C0503030203020204" pitchFamily="34" charset="0"/>
              <a:ea typeface="方正兰亭黑简体"/>
              <a:cs typeface="+mn-cs"/>
              <a:sym typeface="Huawei Sans" panose="020C0503030203020204" pitchFamily="34" charset="0"/>
            </a:endParaRPr>
          </a:p>
        </p:txBody>
      </p:sp>
      <p:pic>
        <p:nvPicPr>
          <p:cNvPr id="171" name="Picture 12" descr="E:\2016.01\1.12 扁平化图标\蓝色\AR-蓝色最新-40.png"/>
          <p:cNvPicPr>
            <a:picLocks noChangeAspect="1" noChangeArrowheads="1"/>
          </p:cNvPicPr>
          <p:nvPr/>
        </p:nvPicPr>
        <p:blipFill>
          <a:blip r:embed="rId4" cstate="print"/>
          <a:srcRect/>
          <a:stretch>
            <a:fillRect/>
          </a:stretch>
        </p:blipFill>
        <p:spPr bwMode="gray">
          <a:xfrm>
            <a:off x="7018457" y="3140673"/>
            <a:ext cx="540000" cy="441818"/>
          </a:xfrm>
          <a:prstGeom prst="rect">
            <a:avLst/>
          </a:prstGeom>
          <a:noFill/>
        </p:spPr>
      </p:pic>
      <p:pic>
        <p:nvPicPr>
          <p:cNvPr id="172" name="Picture 12" descr="E:\2016.01\1.12 扁平化图标\蓝色\AR-蓝色最新-40.png"/>
          <p:cNvPicPr>
            <a:picLocks noChangeAspect="1" noChangeArrowheads="1"/>
          </p:cNvPicPr>
          <p:nvPr/>
        </p:nvPicPr>
        <p:blipFill>
          <a:blip r:embed="rId4" cstate="print"/>
          <a:srcRect/>
          <a:stretch>
            <a:fillRect/>
          </a:stretch>
        </p:blipFill>
        <p:spPr bwMode="gray">
          <a:xfrm>
            <a:off x="7018457" y="2013546"/>
            <a:ext cx="540000" cy="441818"/>
          </a:xfrm>
          <a:prstGeom prst="rect">
            <a:avLst/>
          </a:prstGeom>
          <a:noFill/>
        </p:spPr>
      </p:pic>
      <p:pic>
        <p:nvPicPr>
          <p:cNvPr id="173" name="Picture 12" descr="E:\2016.01\1.12 扁平化图标\蓝色\AR-蓝色最新-40.png"/>
          <p:cNvPicPr>
            <a:picLocks noChangeAspect="1" noChangeArrowheads="1"/>
          </p:cNvPicPr>
          <p:nvPr/>
        </p:nvPicPr>
        <p:blipFill>
          <a:blip r:embed="rId4" cstate="print"/>
          <a:srcRect/>
          <a:stretch>
            <a:fillRect/>
          </a:stretch>
        </p:blipFill>
        <p:spPr bwMode="gray">
          <a:xfrm>
            <a:off x="7661301" y="2523656"/>
            <a:ext cx="540000" cy="441818"/>
          </a:xfrm>
          <a:prstGeom prst="rect">
            <a:avLst/>
          </a:prstGeom>
          <a:noFill/>
        </p:spPr>
      </p:pic>
      <p:pic>
        <p:nvPicPr>
          <p:cNvPr id="174" name="Picture 12" descr="E:\2016.01\1.12 扁平化图标\蓝色\AR-蓝色最新-40.png"/>
          <p:cNvPicPr>
            <a:picLocks noChangeAspect="1" noChangeArrowheads="1"/>
          </p:cNvPicPr>
          <p:nvPr/>
        </p:nvPicPr>
        <p:blipFill>
          <a:blip r:embed="rId4" cstate="print"/>
          <a:srcRect/>
          <a:stretch>
            <a:fillRect/>
          </a:stretch>
        </p:blipFill>
        <p:spPr bwMode="gray">
          <a:xfrm>
            <a:off x="10162741" y="3041946"/>
            <a:ext cx="540000" cy="441818"/>
          </a:xfrm>
          <a:prstGeom prst="rect">
            <a:avLst/>
          </a:prstGeom>
          <a:noFill/>
        </p:spPr>
      </p:pic>
      <p:pic>
        <p:nvPicPr>
          <p:cNvPr id="175" name="Picture 12" descr="E:\2016.01\1.12 扁平化图标\蓝色\AR-蓝色最新-40.png"/>
          <p:cNvPicPr>
            <a:picLocks noChangeAspect="1" noChangeArrowheads="1"/>
          </p:cNvPicPr>
          <p:nvPr/>
        </p:nvPicPr>
        <p:blipFill>
          <a:blip r:embed="rId4" cstate="print"/>
          <a:srcRect/>
          <a:stretch>
            <a:fillRect/>
          </a:stretch>
        </p:blipFill>
        <p:spPr bwMode="gray">
          <a:xfrm>
            <a:off x="10178535" y="1918958"/>
            <a:ext cx="540000" cy="441818"/>
          </a:xfrm>
          <a:prstGeom prst="rect">
            <a:avLst/>
          </a:prstGeom>
          <a:noFill/>
        </p:spPr>
      </p:pic>
      <p:pic>
        <p:nvPicPr>
          <p:cNvPr id="176" name="Picture 12" descr="E:\2016.01\1.12 扁平化图标\蓝色\AR-蓝色最新-40.png"/>
          <p:cNvPicPr>
            <a:picLocks noChangeAspect="1" noChangeArrowheads="1"/>
          </p:cNvPicPr>
          <p:nvPr/>
        </p:nvPicPr>
        <p:blipFill>
          <a:blip r:embed="rId4" cstate="print"/>
          <a:srcRect/>
          <a:stretch>
            <a:fillRect/>
          </a:stretch>
        </p:blipFill>
        <p:spPr bwMode="gray">
          <a:xfrm>
            <a:off x="8599884" y="1933739"/>
            <a:ext cx="540000" cy="441818"/>
          </a:xfrm>
          <a:prstGeom prst="rect">
            <a:avLst/>
          </a:prstGeom>
          <a:noFill/>
        </p:spPr>
      </p:pic>
      <p:pic>
        <p:nvPicPr>
          <p:cNvPr id="177" name="Picture 12" descr="E:\2016.01\1.12 扁平化图标\蓝色\AR-蓝色最新-40.png"/>
          <p:cNvPicPr>
            <a:picLocks noChangeAspect="1" noChangeArrowheads="1"/>
          </p:cNvPicPr>
          <p:nvPr/>
        </p:nvPicPr>
        <p:blipFill>
          <a:blip r:embed="rId4" cstate="print"/>
          <a:srcRect/>
          <a:stretch>
            <a:fillRect/>
          </a:stretch>
        </p:blipFill>
        <p:spPr bwMode="gray">
          <a:xfrm>
            <a:off x="8599884" y="3033507"/>
            <a:ext cx="540000" cy="441818"/>
          </a:xfrm>
          <a:prstGeom prst="rect">
            <a:avLst/>
          </a:prstGeom>
          <a:noFill/>
        </p:spPr>
      </p:pic>
      <p:cxnSp>
        <p:nvCxnSpPr>
          <p:cNvPr id="178" name="直接连接符 177"/>
          <p:cNvCxnSpPr>
            <a:stCxn id="176" idx="1"/>
            <a:endCxn id="173" idx="3"/>
          </p:cNvCxnSpPr>
          <p:nvPr/>
        </p:nvCxnSpPr>
        <p:spPr bwMode="gray">
          <a:xfrm flipH="1">
            <a:off x="8201301" y="2154648"/>
            <a:ext cx="398583" cy="589917"/>
          </a:xfrm>
          <a:prstGeom prst="line">
            <a:avLst/>
          </a:prstGeom>
          <a:noFill/>
          <a:ln w="12700" cap="flat" cmpd="sng" algn="ctr">
            <a:solidFill>
              <a:sysClr val="windowText" lastClr="000000"/>
            </a:solidFill>
            <a:prstDash val="solid"/>
            <a:miter lim="800000"/>
          </a:ln>
          <a:effectLst/>
        </p:spPr>
      </p:cxnSp>
      <p:cxnSp>
        <p:nvCxnSpPr>
          <p:cNvPr id="179" name="直接连接符 178"/>
          <p:cNvCxnSpPr>
            <a:stCxn id="202" idx="1"/>
            <a:endCxn id="176" idx="3"/>
          </p:cNvCxnSpPr>
          <p:nvPr/>
        </p:nvCxnSpPr>
        <p:spPr bwMode="gray">
          <a:xfrm flipH="1">
            <a:off x="9139884" y="2154648"/>
            <a:ext cx="236494" cy="0"/>
          </a:xfrm>
          <a:prstGeom prst="line">
            <a:avLst/>
          </a:prstGeom>
          <a:noFill/>
          <a:ln w="12700" cap="flat" cmpd="sng" algn="ctr">
            <a:solidFill>
              <a:sysClr val="windowText" lastClr="000000"/>
            </a:solidFill>
            <a:prstDash val="solid"/>
            <a:miter lim="800000"/>
          </a:ln>
          <a:effectLst/>
        </p:spPr>
      </p:cxnSp>
      <p:cxnSp>
        <p:nvCxnSpPr>
          <p:cNvPr id="180" name="直接连接符 179"/>
          <p:cNvCxnSpPr>
            <a:stCxn id="176" idx="2"/>
            <a:endCxn id="177" idx="0"/>
          </p:cNvCxnSpPr>
          <p:nvPr/>
        </p:nvCxnSpPr>
        <p:spPr bwMode="gray">
          <a:xfrm>
            <a:off x="8869884" y="2375557"/>
            <a:ext cx="0" cy="657950"/>
          </a:xfrm>
          <a:prstGeom prst="line">
            <a:avLst/>
          </a:prstGeom>
          <a:noFill/>
          <a:ln w="12700" cap="flat" cmpd="sng" algn="ctr">
            <a:solidFill>
              <a:sysClr val="windowText" lastClr="000000"/>
            </a:solidFill>
            <a:prstDash val="solid"/>
            <a:miter lim="800000"/>
          </a:ln>
          <a:effectLst/>
        </p:spPr>
      </p:cxnSp>
      <p:cxnSp>
        <p:nvCxnSpPr>
          <p:cNvPr id="181" name="直接连接符 180"/>
          <p:cNvCxnSpPr>
            <a:stCxn id="177" idx="3"/>
            <a:endCxn id="203" idx="1"/>
          </p:cNvCxnSpPr>
          <p:nvPr/>
        </p:nvCxnSpPr>
        <p:spPr bwMode="gray">
          <a:xfrm>
            <a:off x="9139884" y="3254416"/>
            <a:ext cx="236494" cy="0"/>
          </a:xfrm>
          <a:prstGeom prst="line">
            <a:avLst/>
          </a:prstGeom>
          <a:noFill/>
          <a:ln w="12700" cap="flat" cmpd="sng" algn="ctr">
            <a:solidFill>
              <a:sysClr val="windowText" lastClr="000000"/>
            </a:solidFill>
            <a:prstDash val="solid"/>
            <a:miter lim="800000"/>
          </a:ln>
          <a:effectLst/>
        </p:spPr>
      </p:cxnSp>
      <p:cxnSp>
        <p:nvCxnSpPr>
          <p:cNvPr id="182" name="直接连接符 181"/>
          <p:cNvCxnSpPr>
            <a:stCxn id="203" idx="0"/>
            <a:endCxn id="202" idx="2"/>
          </p:cNvCxnSpPr>
          <p:nvPr/>
        </p:nvCxnSpPr>
        <p:spPr bwMode="gray">
          <a:xfrm flipV="1">
            <a:off x="9646378" y="2375557"/>
            <a:ext cx="0" cy="657950"/>
          </a:xfrm>
          <a:prstGeom prst="line">
            <a:avLst/>
          </a:prstGeom>
          <a:noFill/>
          <a:ln w="12700" cap="flat" cmpd="sng" algn="ctr">
            <a:solidFill>
              <a:sysClr val="windowText" lastClr="000000"/>
            </a:solidFill>
            <a:prstDash val="solid"/>
            <a:miter lim="800000"/>
          </a:ln>
          <a:effectLst/>
        </p:spPr>
      </p:cxnSp>
      <p:cxnSp>
        <p:nvCxnSpPr>
          <p:cNvPr id="183" name="直接连接符 182"/>
          <p:cNvCxnSpPr>
            <a:endCxn id="174" idx="1"/>
          </p:cNvCxnSpPr>
          <p:nvPr/>
        </p:nvCxnSpPr>
        <p:spPr bwMode="gray">
          <a:xfrm>
            <a:off x="9693356" y="3254416"/>
            <a:ext cx="469385" cy="0"/>
          </a:xfrm>
          <a:prstGeom prst="line">
            <a:avLst/>
          </a:prstGeom>
          <a:noFill/>
          <a:ln w="12700" cap="flat" cmpd="sng" algn="ctr">
            <a:solidFill>
              <a:sysClr val="windowText" lastClr="000000"/>
            </a:solidFill>
            <a:prstDash val="solid"/>
            <a:miter lim="800000"/>
          </a:ln>
          <a:effectLst/>
        </p:spPr>
      </p:cxnSp>
      <p:cxnSp>
        <p:nvCxnSpPr>
          <p:cNvPr id="184" name="直接连接符 183"/>
          <p:cNvCxnSpPr>
            <a:stCxn id="173" idx="0"/>
            <a:endCxn id="172" idx="3"/>
          </p:cNvCxnSpPr>
          <p:nvPr/>
        </p:nvCxnSpPr>
        <p:spPr bwMode="gray">
          <a:xfrm flipH="1" flipV="1">
            <a:off x="7558457" y="2234455"/>
            <a:ext cx="372844" cy="289201"/>
          </a:xfrm>
          <a:prstGeom prst="line">
            <a:avLst/>
          </a:prstGeom>
          <a:noFill/>
          <a:ln w="12700" cap="flat" cmpd="sng" algn="ctr">
            <a:solidFill>
              <a:sysClr val="windowText" lastClr="000000"/>
            </a:solidFill>
            <a:prstDash val="solid"/>
            <a:miter lim="800000"/>
          </a:ln>
          <a:effectLst/>
        </p:spPr>
      </p:cxnSp>
      <p:cxnSp>
        <p:nvCxnSpPr>
          <p:cNvPr id="185" name="直接连接符 184"/>
          <p:cNvCxnSpPr>
            <a:stCxn id="173" idx="2"/>
            <a:endCxn id="171" idx="3"/>
          </p:cNvCxnSpPr>
          <p:nvPr/>
        </p:nvCxnSpPr>
        <p:spPr bwMode="gray">
          <a:xfrm flipH="1">
            <a:off x="7558457" y="2965474"/>
            <a:ext cx="372844" cy="396108"/>
          </a:xfrm>
          <a:prstGeom prst="line">
            <a:avLst/>
          </a:prstGeom>
          <a:noFill/>
          <a:ln w="12700" cap="flat" cmpd="sng" algn="ctr">
            <a:solidFill>
              <a:sysClr val="windowText" lastClr="000000"/>
            </a:solidFill>
            <a:prstDash val="solid"/>
            <a:miter lim="800000"/>
          </a:ln>
          <a:effectLst/>
        </p:spPr>
      </p:cxnSp>
      <p:sp>
        <p:nvSpPr>
          <p:cNvPr id="186" name="文本框 185"/>
          <p:cNvSpPr txBox="1"/>
          <p:nvPr/>
        </p:nvSpPr>
        <p:spPr bwMode="gray">
          <a:xfrm>
            <a:off x="8668302" y="2793642"/>
            <a:ext cx="292068"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P</a:t>
            </a:r>
          </a:p>
        </p:txBody>
      </p:sp>
      <p:sp>
        <p:nvSpPr>
          <p:cNvPr id="187" name="文本框 186"/>
          <p:cNvSpPr txBox="1"/>
          <p:nvPr/>
        </p:nvSpPr>
        <p:spPr bwMode="gray">
          <a:xfrm>
            <a:off x="9600071" y="2799445"/>
            <a:ext cx="393056"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PE</a:t>
            </a:r>
          </a:p>
        </p:txBody>
      </p:sp>
      <p:sp>
        <p:nvSpPr>
          <p:cNvPr id="188" name="文本框 187"/>
          <p:cNvSpPr txBox="1"/>
          <p:nvPr/>
        </p:nvSpPr>
        <p:spPr bwMode="gray">
          <a:xfrm>
            <a:off x="7757357" y="2295717"/>
            <a:ext cx="393056"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PE</a:t>
            </a:r>
          </a:p>
        </p:txBody>
      </p:sp>
      <p:sp>
        <p:nvSpPr>
          <p:cNvPr id="189" name="文本框 188"/>
          <p:cNvSpPr txBox="1"/>
          <p:nvPr/>
        </p:nvSpPr>
        <p:spPr bwMode="gray">
          <a:xfrm>
            <a:off x="7089524" y="2404648"/>
            <a:ext cx="397866"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CE</a:t>
            </a:r>
          </a:p>
        </p:txBody>
      </p:sp>
      <p:sp>
        <p:nvSpPr>
          <p:cNvPr id="190" name="文本框 189"/>
          <p:cNvSpPr txBox="1"/>
          <p:nvPr/>
        </p:nvSpPr>
        <p:spPr bwMode="gray">
          <a:xfrm>
            <a:off x="7089524" y="3525950"/>
            <a:ext cx="397866"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CE</a:t>
            </a:r>
          </a:p>
        </p:txBody>
      </p:sp>
      <p:sp>
        <p:nvSpPr>
          <p:cNvPr id="191" name="文本框 190"/>
          <p:cNvSpPr txBox="1"/>
          <p:nvPr/>
        </p:nvSpPr>
        <p:spPr bwMode="gray">
          <a:xfrm>
            <a:off x="10236645" y="2332721"/>
            <a:ext cx="397866"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CE</a:t>
            </a:r>
          </a:p>
        </p:txBody>
      </p:sp>
      <p:sp>
        <p:nvSpPr>
          <p:cNvPr id="192" name="文本框 191"/>
          <p:cNvSpPr txBox="1"/>
          <p:nvPr/>
        </p:nvSpPr>
        <p:spPr bwMode="gray">
          <a:xfrm>
            <a:off x="10233808" y="3427223"/>
            <a:ext cx="397866" cy="307777"/>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CE</a:t>
            </a:r>
          </a:p>
        </p:txBody>
      </p:sp>
      <p:sp>
        <p:nvSpPr>
          <p:cNvPr id="193" name="文本框 192"/>
          <p:cNvSpPr txBox="1"/>
          <p:nvPr/>
        </p:nvSpPr>
        <p:spPr bwMode="gray">
          <a:xfrm>
            <a:off x="8673004" y="2299173"/>
            <a:ext cx="292068"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P</a:t>
            </a:r>
          </a:p>
        </p:txBody>
      </p:sp>
      <p:sp>
        <p:nvSpPr>
          <p:cNvPr id="194" name="文本框 193"/>
          <p:cNvSpPr txBox="1"/>
          <p:nvPr/>
        </p:nvSpPr>
        <p:spPr bwMode="gray">
          <a:xfrm>
            <a:off x="9619048" y="2321527"/>
            <a:ext cx="393056"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PE</a:t>
            </a:r>
          </a:p>
        </p:txBody>
      </p:sp>
      <p:sp>
        <p:nvSpPr>
          <p:cNvPr id="195" name="文本框 194"/>
          <p:cNvSpPr txBox="1"/>
          <p:nvPr/>
        </p:nvSpPr>
        <p:spPr bwMode="gray">
          <a:xfrm>
            <a:off x="6300202" y="1918958"/>
            <a:ext cx="768160"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VPN1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site</a:t>
            </a:r>
          </a:p>
        </p:txBody>
      </p:sp>
      <p:sp>
        <p:nvSpPr>
          <p:cNvPr id="196" name="文本框 195"/>
          <p:cNvSpPr txBox="1"/>
          <p:nvPr/>
        </p:nvSpPr>
        <p:spPr bwMode="gray">
          <a:xfrm>
            <a:off x="7958422" y="3454133"/>
            <a:ext cx="1877993" cy="307777"/>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MPLS VPN network</a:t>
            </a:r>
          </a:p>
        </p:txBody>
      </p:sp>
      <p:cxnSp>
        <p:nvCxnSpPr>
          <p:cNvPr id="197" name="直接连接符 196"/>
          <p:cNvCxnSpPr>
            <a:stCxn id="176" idx="3"/>
          </p:cNvCxnSpPr>
          <p:nvPr/>
        </p:nvCxnSpPr>
        <p:spPr bwMode="gray">
          <a:xfrm>
            <a:off x="9139884" y="2154648"/>
            <a:ext cx="506494" cy="1099768"/>
          </a:xfrm>
          <a:prstGeom prst="line">
            <a:avLst/>
          </a:prstGeom>
          <a:noFill/>
          <a:ln w="12700" cap="flat" cmpd="sng" algn="ctr">
            <a:solidFill>
              <a:sysClr val="windowText" lastClr="000000"/>
            </a:solidFill>
            <a:prstDash val="solid"/>
            <a:miter lim="800000"/>
          </a:ln>
          <a:effectLst/>
        </p:spPr>
      </p:cxnSp>
      <p:cxnSp>
        <p:nvCxnSpPr>
          <p:cNvPr id="198" name="直接连接符 197"/>
          <p:cNvCxnSpPr/>
          <p:nvPr/>
        </p:nvCxnSpPr>
        <p:spPr bwMode="gray">
          <a:xfrm flipV="1">
            <a:off x="9139884" y="2154648"/>
            <a:ext cx="506494" cy="1099769"/>
          </a:xfrm>
          <a:prstGeom prst="line">
            <a:avLst/>
          </a:prstGeom>
          <a:noFill/>
          <a:ln w="12700" cap="flat" cmpd="sng" algn="ctr">
            <a:solidFill>
              <a:sysClr val="windowText" lastClr="000000"/>
            </a:solidFill>
            <a:prstDash val="solid"/>
            <a:miter lim="800000"/>
          </a:ln>
          <a:effectLst/>
        </p:spPr>
      </p:cxnSp>
      <p:sp>
        <p:nvSpPr>
          <p:cNvPr id="199" name="文本框 198"/>
          <p:cNvSpPr txBox="1"/>
          <p:nvPr/>
        </p:nvSpPr>
        <p:spPr bwMode="gray">
          <a:xfrm>
            <a:off x="10692030" y="1865537"/>
            <a:ext cx="768160"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VPN1</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site</a:t>
            </a:r>
          </a:p>
        </p:txBody>
      </p:sp>
      <p:sp>
        <p:nvSpPr>
          <p:cNvPr id="200" name="文本框 199"/>
          <p:cNvSpPr txBox="1"/>
          <p:nvPr/>
        </p:nvSpPr>
        <p:spPr bwMode="gray">
          <a:xfrm>
            <a:off x="6304030" y="3033507"/>
            <a:ext cx="768160"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VPN2</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Huawei Sans" panose="020C0503030203020204" pitchFamily="34" charset="0"/>
                <a:sym typeface="Huawei Sans" panose="020C0503030203020204" pitchFamily="34" charset="0"/>
              </a:rPr>
              <a:t>site</a:t>
            </a:r>
          </a:p>
        </p:txBody>
      </p:sp>
      <p:sp>
        <p:nvSpPr>
          <p:cNvPr id="201" name="文本框 200"/>
          <p:cNvSpPr txBox="1"/>
          <p:nvPr/>
        </p:nvSpPr>
        <p:spPr bwMode="gray">
          <a:xfrm>
            <a:off x="10682353" y="2961690"/>
            <a:ext cx="768160" cy="646331"/>
          </a:xfrm>
          <a:prstGeom prst="rect">
            <a:avLst/>
          </a:prstGeom>
          <a:noFill/>
        </p:spPr>
        <p:txBody>
          <a:bodyPr wrap="square" rtlCol="0">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VPN2</a:t>
            </a:r>
          </a:p>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Huawei Sans" panose="020C0503030203020204" pitchFamily="34" charset="0"/>
                <a:sym typeface="Huawei Sans" panose="020C0503030203020204" pitchFamily="34" charset="0"/>
              </a:rPr>
              <a:t>site</a:t>
            </a:r>
          </a:p>
        </p:txBody>
      </p:sp>
      <p:pic>
        <p:nvPicPr>
          <p:cNvPr id="202" name="Picture 12" descr="E:\2016.01\1.12 扁平化图标\蓝色\AR-蓝色最新-40.png"/>
          <p:cNvPicPr>
            <a:picLocks noChangeAspect="1" noChangeArrowheads="1"/>
          </p:cNvPicPr>
          <p:nvPr/>
        </p:nvPicPr>
        <p:blipFill>
          <a:blip r:embed="rId4" cstate="print"/>
          <a:srcRect/>
          <a:stretch>
            <a:fillRect/>
          </a:stretch>
        </p:blipFill>
        <p:spPr bwMode="gray">
          <a:xfrm>
            <a:off x="9376378" y="1933739"/>
            <a:ext cx="540000" cy="441818"/>
          </a:xfrm>
          <a:prstGeom prst="rect">
            <a:avLst/>
          </a:prstGeom>
          <a:noFill/>
        </p:spPr>
      </p:pic>
      <p:pic>
        <p:nvPicPr>
          <p:cNvPr id="203" name="Picture 12" descr="E:\2016.01\1.12 扁平化图标\蓝色\AR-蓝色最新-40.png"/>
          <p:cNvPicPr>
            <a:picLocks noChangeAspect="1" noChangeArrowheads="1"/>
          </p:cNvPicPr>
          <p:nvPr/>
        </p:nvPicPr>
        <p:blipFill>
          <a:blip r:embed="rId4" cstate="print"/>
          <a:srcRect/>
          <a:stretch>
            <a:fillRect/>
          </a:stretch>
        </p:blipFill>
        <p:spPr bwMode="gray">
          <a:xfrm>
            <a:off x="9376378" y="3033507"/>
            <a:ext cx="540000" cy="441818"/>
          </a:xfrm>
          <a:prstGeom prst="rect">
            <a:avLst/>
          </a:prstGeom>
          <a:noFill/>
        </p:spPr>
      </p:pic>
      <p:sp>
        <p:nvSpPr>
          <p:cNvPr id="204" name="文本框 203"/>
          <p:cNvSpPr txBox="1"/>
          <p:nvPr/>
        </p:nvSpPr>
        <p:spPr bwMode="gray">
          <a:xfrm>
            <a:off x="6162337" y="4057703"/>
            <a:ext cx="5486674" cy="1212640"/>
          </a:xfrm>
          <a:prstGeom prst="rect">
            <a:avLst/>
          </a:prstGeom>
          <a:noFill/>
        </p:spPr>
        <p:txBody>
          <a:bodyPr wrap="square" rtlCol="0">
            <a:noAutofit/>
          </a:bodyPr>
          <a:lstStyle/>
          <a:p>
            <a:pPr marL="0" marR="0" lvl="0" indent="0" defTabSz="914400" eaLnBrk="1" fontAlgn="ctr" latinLnBrk="0" hangingPunct="1">
              <a:lnSpc>
                <a:spcPct val="115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BGP/MPLS IP VPN is a PE-based L3VPN technology. It runs BGP to advertise VPN routes and MPLS to forward VPN packets over the backbone network of a service provider (SP).</a:t>
            </a:r>
          </a:p>
          <a:p>
            <a:pPr marL="0" marR="0" lvl="0" indent="0" defTabSz="914400" eaLnBrk="1" fontAlgn="ctr" latinLnBrk="0" hangingPunct="1">
              <a:lnSpc>
                <a:spcPct val="115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Huawei Sans" panose="020C0503030203020204" pitchFamily="34" charset="0"/>
              </a:rPr>
              <a:t>VPN instances are created on PEs to distinguish routes of different VPNs.</a:t>
            </a:r>
          </a:p>
        </p:txBody>
      </p:sp>
      <p:sp>
        <p:nvSpPr>
          <p:cNvPr id="4" name="Title 3">
            <a:extLst>
              <a:ext uri="{FF2B5EF4-FFF2-40B4-BE49-F238E27FC236}">
                <a16:creationId xmlns:a16="http://schemas.microsoft.com/office/drawing/2014/main" id="{73B43A3F-79F3-4A9B-AAEF-AF0DFECD0EA2}"/>
              </a:ext>
            </a:extLst>
          </p:cNvPr>
          <p:cNvSpPr>
            <a:spLocks noGrp="1"/>
          </p:cNvSpPr>
          <p:nvPr>
            <p:ph type="title"/>
          </p:nvPr>
        </p:nvSpPr>
        <p:spPr bwMode="gray"/>
        <p:txBody>
          <a:bodyPr/>
          <a:lstStyle/>
          <a:p>
            <a:r>
              <a:rPr lang="en-US" dirty="0"/>
              <a:t>Common Usage Scenarios</a:t>
            </a:r>
          </a:p>
        </p:txBody>
      </p:sp>
    </p:spTree>
    <p:extLst>
      <p:ext uri="{BB962C8B-B14F-4D97-AF65-F5344CB8AC3E}">
        <p14:creationId xmlns:p14="http://schemas.microsoft.com/office/powerpoint/2010/main" val="1626376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wrap="square">
            <a:noAutofit/>
          </a:bodyPr>
          <a:lstStyle/>
          <a:p>
            <a:r>
              <a:rPr lang="en-US">
                <a:solidFill>
                  <a:schemeClr val="bg1">
                    <a:lumMod val="50000"/>
                  </a:schemeClr>
                </a:solidFill>
                <a:latin typeface="Huawei Sans" panose="020C0503030203020204" pitchFamily="34" charset="0"/>
              </a:rPr>
              <a:t>Basic Concepts of VRF</a:t>
            </a:r>
          </a:p>
          <a:p>
            <a:r>
              <a:rPr lang="en-US" b="1">
                <a:latin typeface="Huawei Sans" panose="020C0503030203020204" pitchFamily="34" charset="0"/>
              </a:rPr>
              <a:t>Typical VRF Configuration Examples</a:t>
            </a:r>
          </a:p>
        </p:txBody>
      </p:sp>
    </p:spTree>
    <p:extLst>
      <p:ext uri="{BB962C8B-B14F-4D97-AF65-F5344CB8AC3E}">
        <p14:creationId xmlns:p14="http://schemas.microsoft.com/office/powerpoint/2010/main" val="3500484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Basic VRF Configuration Commands (1)</a:t>
            </a:r>
          </a:p>
        </p:txBody>
      </p:sp>
      <p:sp>
        <p:nvSpPr>
          <p:cNvPr id="4" name="矩形 3">
            <a:extLst>
              <a:ext uri="{FF2B5EF4-FFF2-40B4-BE49-F238E27FC236}">
                <a16:creationId xmlns:a16="http://schemas.microsoft.com/office/drawing/2014/main" id="{4155CF1B-D6D5-4CBC-A7C4-3539BA1D8C49}"/>
              </a:ext>
            </a:extLst>
          </p:cNvPr>
          <p:cNvSpPr/>
          <p:nvPr/>
        </p:nvSpPr>
        <p:spPr bwMode="gray">
          <a:xfrm>
            <a:off x="936667" y="1759359"/>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sz="1600" b="1">
                <a:latin typeface="Huawei Sans" panose="020C0503030203020204" pitchFamily="34" charset="0"/>
              </a:rPr>
              <a:t> ip vpn-instance</a:t>
            </a:r>
            <a:r>
              <a:rPr lang="en-US" sz="1600">
                <a:latin typeface="Huawei Sans" panose="020C0503030203020204" pitchFamily="34" charset="0"/>
              </a:rPr>
              <a:t> </a:t>
            </a:r>
            <a:r>
              <a:rPr lang="en-US" sz="1600" i="1">
                <a:latin typeface="Huawei Sans" panose="020C0503030203020204" pitchFamily="34" charset="0"/>
              </a:rPr>
              <a:t>vpn-instance-name</a:t>
            </a:r>
          </a:p>
        </p:txBody>
      </p:sp>
      <p:sp>
        <p:nvSpPr>
          <p:cNvPr id="5" name="矩形 4">
            <a:extLst>
              <a:ext uri="{FF2B5EF4-FFF2-40B4-BE49-F238E27FC236}">
                <a16:creationId xmlns:a16="http://schemas.microsoft.com/office/drawing/2014/main" id="{44C4E0BA-5C90-4FB6-BCA6-99B663B19FA8}"/>
              </a:ext>
            </a:extLst>
          </p:cNvPr>
          <p:cNvSpPr/>
          <p:nvPr/>
        </p:nvSpPr>
        <p:spPr bwMode="gray">
          <a:xfrm>
            <a:off x="456134" y="1365312"/>
            <a:ext cx="11089232" cy="338554"/>
          </a:xfrm>
          <a:prstGeom prst="rect">
            <a:avLst/>
          </a:prstGeom>
        </p:spPr>
        <p:txBody>
          <a:bodyPr wrap="square">
            <a:noAutofit/>
          </a:bodyPr>
          <a:lstStyle/>
          <a:p>
            <a:pPr marL="342900" indent="-342900" fontAlgn="ctr">
              <a:buFont typeface="+mj-lt"/>
              <a:buAutoNum type="arabicPeriod"/>
            </a:pP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Create a VPN instance and enter the VPN instance view.</a:t>
            </a:r>
          </a:p>
        </p:txBody>
      </p:sp>
      <p:sp>
        <p:nvSpPr>
          <p:cNvPr id="6" name="矩形 5">
            <a:extLst>
              <a:ext uri="{FF2B5EF4-FFF2-40B4-BE49-F238E27FC236}">
                <a16:creationId xmlns:a16="http://schemas.microsoft.com/office/drawing/2014/main" id="{2683E34D-F948-4861-A2DA-5897E9554D17}"/>
              </a:ext>
            </a:extLst>
          </p:cNvPr>
          <p:cNvSpPr/>
          <p:nvPr/>
        </p:nvSpPr>
        <p:spPr bwMode="gray">
          <a:xfrm>
            <a:off x="936667" y="2094637"/>
            <a:ext cx="10608699" cy="400110"/>
          </a:xfrm>
          <a:prstGeom prst="rect">
            <a:avLst/>
          </a:prstGeom>
        </p:spPr>
        <p:txBody>
          <a:bodyPr wrap="square">
            <a:noAutofit/>
          </a:bodyPr>
          <a:lstStyle/>
          <a:p>
            <a:pPr fontAlgn="ctr"/>
            <a:r>
              <a:rPr lang="en-US" sz="1600" dirty="0">
                <a:latin typeface="Huawei Sans" panose="020C0503030203020204" pitchFamily="34" charset="0"/>
              </a:rPr>
              <a:t>The </a:t>
            </a:r>
            <a:r>
              <a:rPr lang="en-US" sz="1600" b="1" dirty="0" err="1">
                <a:latin typeface="Huawei Sans" panose="020C0503030203020204" pitchFamily="34" charset="0"/>
              </a:rPr>
              <a:t>ip</a:t>
            </a:r>
            <a:r>
              <a:rPr lang="en-US" sz="1600" b="1" dirty="0">
                <a:latin typeface="Huawei Sans" panose="020C0503030203020204" pitchFamily="34" charset="0"/>
              </a:rPr>
              <a:t> </a:t>
            </a:r>
            <a:r>
              <a:rPr lang="en-US" sz="1600" b="1" dirty="0" err="1">
                <a:latin typeface="Huawei Sans" panose="020C0503030203020204" pitchFamily="34" charset="0"/>
              </a:rPr>
              <a:t>vpn</a:t>
            </a:r>
            <a:r>
              <a:rPr lang="en-US" sz="1600" b="1" dirty="0">
                <a:latin typeface="Huawei Sans" panose="020C0503030203020204" pitchFamily="34" charset="0"/>
              </a:rPr>
              <a:t>-instance</a:t>
            </a:r>
            <a:r>
              <a:rPr lang="en-US" sz="1600" dirty="0">
                <a:latin typeface="Huawei Sans" panose="020C0503030203020204" pitchFamily="34" charset="0"/>
              </a:rPr>
              <a:t> command creates a VPN instance and displays the VPN instance view. By default, no VPN instance is configured.</a:t>
            </a:r>
          </a:p>
        </p:txBody>
      </p:sp>
      <p:sp>
        <p:nvSpPr>
          <p:cNvPr id="7" name="矩形 6">
            <a:extLst>
              <a:ext uri="{FF2B5EF4-FFF2-40B4-BE49-F238E27FC236}">
                <a16:creationId xmlns:a16="http://schemas.microsoft.com/office/drawing/2014/main" id="{DE8F6EE9-08D2-4C17-B52B-2BA7D62EA7C2}"/>
              </a:ext>
            </a:extLst>
          </p:cNvPr>
          <p:cNvSpPr/>
          <p:nvPr/>
        </p:nvSpPr>
        <p:spPr bwMode="gray">
          <a:xfrm>
            <a:off x="936667" y="3159570"/>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[Huawei-vpn-instance-InstanceName] </a:t>
            </a:r>
            <a:r>
              <a:rPr lang="en-US"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ipv4-family</a:t>
            </a:r>
          </a:p>
        </p:txBody>
      </p:sp>
      <p:sp>
        <p:nvSpPr>
          <p:cNvPr id="8" name="矩形 7">
            <a:extLst>
              <a:ext uri="{FF2B5EF4-FFF2-40B4-BE49-F238E27FC236}">
                <a16:creationId xmlns:a16="http://schemas.microsoft.com/office/drawing/2014/main" id="{7D03D82F-BDCE-482A-A9FF-3C6992CF8382}"/>
              </a:ext>
            </a:extLst>
          </p:cNvPr>
          <p:cNvSpPr/>
          <p:nvPr/>
        </p:nvSpPr>
        <p:spPr bwMode="gray">
          <a:xfrm>
            <a:off x="456134" y="2775048"/>
            <a:ext cx="11089232" cy="338554"/>
          </a:xfrm>
          <a:prstGeom prst="rect">
            <a:avLst/>
          </a:prstGeom>
        </p:spPr>
        <p:txBody>
          <a:bodyPr wrap="square">
            <a:noAutofit/>
          </a:bodyPr>
          <a:lstStyle/>
          <a:p>
            <a:pPr marL="342900" indent="-342900" fontAlgn="ctr">
              <a:buFont typeface="+mj-lt"/>
              <a:buAutoNum type="arabicPeriod" startAt="2"/>
            </a:pPr>
            <a:r>
              <a:rPr 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Enable IPv4 route advertisement and data forwarding for the VPN instance.</a:t>
            </a:r>
          </a:p>
        </p:txBody>
      </p:sp>
      <p:sp>
        <p:nvSpPr>
          <p:cNvPr id="9" name="矩形 8">
            <a:extLst>
              <a:ext uri="{FF2B5EF4-FFF2-40B4-BE49-F238E27FC236}">
                <a16:creationId xmlns:a16="http://schemas.microsoft.com/office/drawing/2014/main" id="{3F657C96-E0F8-4158-BE13-42DD133614B1}"/>
              </a:ext>
            </a:extLst>
          </p:cNvPr>
          <p:cNvSpPr/>
          <p:nvPr/>
        </p:nvSpPr>
        <p:spPr bwMode="gray">
          <a:xfrm>
            <a:off x="936667" y="3513852"/>
            <a:ext cx="10608699" cy="707886"/>
          </a:xfrm>
          <a:prstGeom prst="rect">
            <a:avLst/>
          </a:prstGeom>
        </p:spPr>
        <p:txBody>
          <a:bodyPr wrap="square">
            <a:noAutofit/>
          </a:bodyPr>
          <a:lstStyle/>
          <a:p>
            <a:pPr fontAlgn="ct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The </a:t>
            </a:r>
            <a:r>
              <a:rPr 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ipv4-family</a:t>
            </a: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command creates an IPv4 address family for a VPN instance and displays the VPN instance IPv4 address family view. </a:t>
            </a:r>
            <a:r>
              <a:rPr lang="en-US" sz="1600" dirty="0">
                <a:latin typeface="Huawei Sans" panose="020C0503030203020204" pitchFamily="34" charset="0"/>
              </a:rPr>
              <a:t>By default, no IPv4 address family is created for a VPN instance. An interface cannot be bound to a VPN instance that has no address family created.</a:t>
            </a:r>
          </a:p>
        </p:txBody>
      </p:sp>
      <p:sp>
        <p:nvSpPr>
          <p:cNvPr id="10" name="矩形 9">
            <a:extLst>
              <a:ext uri="{FF2B5EF4-FFF2-40B4-BE49-F238E27FC236}">
                <a16:creationId xmlns:a16="http://schemas.microsoft.com/office/drawing/2014/main" id="{DE8F6EE9-08D2-4C17-B52B-2BA7D62EA7C2}"/>
              </a:ext>
            </a:extLst>
          </p:cNvPr>
          <p:cNvSpPr/>
          <p:nvPr/>
        </p:nvSpPr>
        <p:spPr bwMode="gray">
          <a:xfrm>
            <a:off x="936667" y="4811623"/>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rPr>
              <a:t>[Huawei-GigabitEthernet0/0/0]</a:t>
            </a:r>
            <a:r>
              <a:rPr lang="en-US" sz="1600" b="1">
                <a:latin typeface="Huawei Sans" panose="020C0503030203020204" pitchFamily="34" charset="0"/>
              </a:rPr>
              <a:t>ip binding vpn-instance </a:t>
            </a:r>
            <a:r>
              <a:rPr lang="en-US" sz="1600" i="1">
                <a:latin typeface="Huawei Sans" panose="020C0503030203020204" pitchFamily="34" charset="0"/>
              </a:rPr>
              <a:t>vpn-instance-name</a:t>
            </a:r>
          </a:p>
        </p:txBody>
      </p:sp>
      <p:sp>
        <p:nvSpPr>
          <p:cNvPr id="11" name="矩形 10">
            <a:extLst>
              <a:ext uri="{FF2B5EF4-FFF2-40B4-BE49-F238E27FC236}">
                <a16:creationId xmlns:a16="http://schemas.microsoft.com/office/drawing/2014/main" id="{7D03D82F-BDCE-482A-A9FF-3C6992CF8382}"/>
              </a:ext>
            </a:extLst>
          </p:cNvPr>
          <p:cNvSpPr/>
          <p:nvPr/>
        </p:nvSpPr>
        <p:spPr bwMode="gray">
          <a:xfrm>
            <a:off x="456134" y="4408051"/>
            <a:ext cx="11089232" cy="338554"/>
          </a:xfrm>
          <a:prstGeom prst="rect">
            <a:avLst/>
          </a:prstGeom>
        </p:spPr>
        <p:txBody>
          <a:bodyPr wrap="square">
            <a:noAutofit/>
          </a:bodyPr>
          <a:lstStyle/>
          <a:p>
            <a:pPr marL="342900" indent="-342900" fontAlgn="ctr">
              <a:buFont typeface="+mj-lt"/>
              <a:buAutoNum type="arabicPeriod" startAt="3"/>
            </a:pP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Bind an interface to the VPN instance.</a:t>
            </a:r>
          </a:p>
        </p:txBody>
      </p:sp>
      <p:sp>
        <p:nvSpPr>
          <p:cNvPr id="12" name="矩形 11">
            <a:extLst>
              <a:ext uri="{FF2B5EF4-FFF2-40B4-BE49-F238E27FC236}">
                <a16:creationId xmlns:a16="http://schemas.microsoft.com/office/drawing/2014/main" id="{3F657C96-E0F8-4158-BE13-42DD133614B1}"/>
              </a:ext>
            </a:extLst>
          </p:cNvPr>
          <p:cNvSpPr/>
          <p:nvPr/>
        </p:nvSpPr>
        <p:spPr bwMode="gray">
          <a:xfrm>
            <a:off x="936667" y="5204005"/>
            <a:ext cx="10608699" cy="1015663"/>
          </a:xfrm>
          <a:prstGeom prst="rect">
            <a:avLst/>
          </a:prstGeom>
        </p:spPr>
        <p:txBody>
          <a:bodyPr wrap="square">
            <a:noAutofit/>
          </a:bodyPr>
          <a:lstStyle/>
          <a:p>
            <a:pPr fontAlgn="ct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The</a:t>
            </a:r>
            <a:r>
              <a:rPr 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binding </a:t>
            </a:r>
            <a:r>
              <a:rPr lang="en-US"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a:t>
            </a: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command binds an interface on a PE to a VPN instance. By default, an interface is not bound to any VPN instance and belongs to the root instance. After an interface is bound to a VPN instance or unbound from a VPN instance, the IP address, Layer 3 features, and IP-related routing protocols on the interface are deleted. You have to reconfigure them if needed.</a:t>
            </a:r>
          </a:p>
        </p:txBody>
      </p:sp>
    </p:spTree>
    <p:extLst>
      <p:ext uri="{BB962C8B-B14F-4D97-AF65-F5344CB8AC3E}">
        <p14:creationId xmlns:p14="http://schemas.microsoft.com/office/powerpoint/2010/main" val="2088421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Basic VRF Configuration Commands (2)</a:t>
            </a:r>
          </a:p>
        </p:txBody>
      </p:sp>
      <p:sp>
        <p:nvSpPr>
          <p:cNvPr id="4" name="矩形 3">
            <a:extLst>
              <a:ext uri="{FF2B5EF4-FFF2-40B4-BE49-F238E27FC236}">
                <a16:creationId xmlns:a16="http://schemas.microsoft.com/office/drawing/2014/main" id="{4155CF1B-D6D5-4CBC-A7C4-3539BA1D8C49}"/>
              </a:ext>
            </a:extLst>
          </p:cNvPr>
          <p:cNvSpPr/>
          <p:nvPr/>
        </p:nvSpPr>
        <p:spPr bwMode="gray">
          <a:xfrm>
            <a:off x="899600" y="1730784"/>
            <a:ext cx="10608699" cy="584775"/>
          </a:xfrm>
          <a:prstGeom prst="rect">
            <a:avLst/>
          </a:prstGeom>
          <a:solidFill>
            <a:srgbClr val="F4FBFE"/>
          </a:solidFill>
          <a:ln>
            <a:solidFill>
              <a:srgbClr val="99DFF9"/>
            </a:solidFill>
          </a:ln>
        </p:spPr>
        <p:txBody>
          <a:bodyPr wrap="square">
            <a:noAutofit/>
          </a:bodyPr>
          <a:lstStyle/>
          <a:p>
            <a:pPr fontAlgn="ct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sz="1600" b="1" dirty="0">
                <a:latin typeface="Huawei Sans" panose="020C0503030203020204" pitchFamily="34" charset="0"/>
              </a:rPr>
              <a:t> </a:t>
            </a:r>
            <a:r>
              <a:rPr lang="en-US" sz="1600" b="1" dirty="0" err="1">
                <a:latin typeface="Huawei Sans" panose="020C0503030203020204" pitchFamily="34" charset="0"/>
              </a:rPr>
              <a:t>ip</a:t>
            </a:r>
            <a:r>
              <a:rPr lang="en-US" sz="1600" b="1" dirty="0">
                <a:latin typeface="Huawei Sans" panose="020C0503030203020204" pitchFamily="34" charset="0"/>
              </a:rPr>
              <a:t> route-static </a:t>
            </a:r>
            <a:r>
              <a:rPr lang="en-US" sz="1600" b="1" dirty="0" err="1">
                <a:latin typeface="Huawei Sans" panose="020C0503030203020204" pitchFamily="34" charset="0"/>
              </a:rPr>
              <a:t>vpn</a:t>
            </a:r>
            <a:r>
              <a:rPr lang="en-US" sz="1600" b="1" dirty="0">
                <a:latin typeface="Huawei Sans" panose="020C0503030203020204" pitchFamily="34" charset="0"/>
              </a:rPr>
              <a:t>-instance </a:t>
            </a:r>
            <a:r>
              <a:rPr lang="en-US" sz="1600" i="1" dirty="0" err="1">
                <a:latin typeface="Huawei Sans" panose="020C0503030203020204" pitchFamily="34" charset="0"/>
              </a:rPr>
              <a:t>vpn</a:t>
            </a:r>
            <a:r>
              <a:rPr lang="en-US" sz="1600" i="1" dirty="0">
                <a:latin typeface="Huawei Sans" panose="020C0503030203020204" pitchFamily="34" charset="0"/>
              </a:rPr>
              <a:t>-instance-name </a:t>
            </a:r>
            <a:r>
              <a:rPr lang="en-US" sz="1600" i="1" dirty="0" err="1">
                <a:latin typeface="Huawei Sans" panose="020C0503030203020204" pitchFamily="34" charset="0"/>
              </a:rPr>
              <a:t>ip</a:t>
            </a:r>
            <a:r>
              <a:rPr lang="en-US" sz="1600" i="1" dirty="0">
                <a:latin typeface="Huawei Sans" panose="020C0503030203020204" pitchFamily="34" charset="0"/>
              </a:rPr>
              <a:t>-address</a:t>
            </a:r>
            <a:r>
              <a:rPr lang="en-US" sz="1600" dirty="0">
                <a:latin typeface="Huawei Sans" panose="020C0503030203020204" pitchFamily="34" charset="0"/>
              </a:rPr>
              <a:t> { </a:t>
            </a:r>
            <a:r>
              <a:rPr lang="en-US" sz="1600" i="1" dirty="0">
                <a:latin typeface="Huawei Sans" panose="020C0503030203020204" pitchFamily="34" charset="0"/>
              </a:rPr>
              <a:t>mask</a:t>
            </a:r>
            <a:r>
              <a:rPr lang="en-US" sz="1600" dirty="0">
                <a:latin typeface="Huawei Sans" panose="020C0503030203020204" pitchFamily="34" charset="0"/>
              </a:rPr>
              <a:t> | </a:t>
            </a:r>
            <a:r>
              <a:rPr lang="en-US" sz="1600" i="1" dirty="0">
                <a:latin typeface="Huawei Sans" panose="020C0503030203020204" pitchFamily="34" charset="0"/>
              </a:rPr>
              <a:t>mask-length</a:t>
            </a:r>
            <a:r>
              <a:rPr lang="en-US" sz="1600" dirty="0">
                <a:latin typeface="Huawei Sans" panose="020C0503030203020204" pitchFamily="34" charset="0"/>
              </a:rPr>
              <a:t> } { </a:t>
            </a:r>
            <a:r>
              <a:rPr lang="en-US" sz="1600" i="1" dirty="0" err="1">
                <a:latin typeface="Huawei Sans" panose="020C0503030203020204" pitchFamily="34" charset="0"/>
              </a:rPr>
              <a:t>nexthop</a:t>
            </a:r>
            <a:r>
              <a:rPr lang="en-US" sz="1600" i="1" dirty="0">
                <a:latin typeface="Huawei Sans" panose="020C0503030203020204" pitchFamily="34" charset="0"/>
              </a:rPr>
              <a:t>-address</a:t>
            </a:r>
            <a:r>
              <a:rPr lang="en-US" sz="1600" dirty="0">
                <a:latin typeface="Huawei Sans" panose="020C0503030203020204" pitchFamily="34" charset="0"/>
              </a:rPr>
              <a:t> | </a:t>
            </a:r>
            <a:r>
              <a:rPr lang="en-US" sz="1600" i="1" dirty="0">
                <a:latin typeface="Huawei Sans" panose="020C0503030203020204" pitchFamily="34" charset="0"/>
              </a:rPr>
              <a:t>interface-type</a:t>
            </a:r>
            <a:r>
              <a:rPr lang="en-US" sz="1600" dirty="0">
                <a:latin typeface="Huawei Sans" panose="020C0503030203020204" pitchFamily="34" charset="0"/>
              </a:rPr>
              <a:t> </a:t>
            </a:r>
            <a:r>
              <a:rPr lang="en-US" sz="1600" i="1" dirty="0">
                <a:latin typeface="Huawei Sans" panose="020C0503030203020204" pitchFamily="34" charset="0"/>
              </a:rPr>
              <a:t>interface-number </a:t>
            </a:r>
            <a:r>
              <a:rPr lang="en-US" sz="1600" dirty="0">
                <a:latin typeface="Huawei Sans" panose="020C0503030203020204" pitchFamily="34" charset="0"/>
              </a:rPr>
              <a:t>}</a:t>
            </a:r>
          </a:p>
        </p:txBody>
      </p:sp>
      <p:sp>
        <p:nvSpPr>
          <p:cNvPr id="5" name="矩形 4">
            <a:extLst>
              <a:ext uri="{FF2B5EF4-FFF2-40B4-BE49-F238E27FC236}">
                <a16:creationId xmlns:a16="http://schemas.microsoft.com/office/drawing/2014/main" id="{44C4E0BA-5C90-4FB6-BCA6-99B663B19FA8}"/>
              </a:ext>
            </a:extLst>
          </p:cNvPr>
          <p:cNvSpPr/>
          <p:nvPr/>
        </p:nvSpPr>
        <p:spPr bwMode="gray">
          <a:xfrm>
            <a:off x="456134" y="1365312"/>
            <a:ext cx="11089232" cy="338554"/>
          </a:xfrm>
          <a:prstGeom prst="rect">
            <a:avLst/>
          </a:prstGeom>
        </p:spPr>
        <p:txBody>
          <a:bodyPr wrap="square">
            <a:noAutofit/>
          </a:bodyPr>
          <a:lstStyle/>
          <a:p>
            <a:pPr marL="342900" indent="-342900" fontAlgn="ctr">
              <a:buFont typeface="+mj-lt"/>
              <a:buAutoNum type="arabicPeriod" startAt="4"/>
            </a:pP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Add a static route to the routing table of the VPN instance.</a:t>
            </a:r>
          </a:p>
        </p:txBody>
      </p:sp>
      <p:sp>
        <p:nvSpPr>
          <p:cNvPr id="7" name="矩形 6">
            <a:extLst>
              <a:ext uri="{FF2B5EF4-FFF2-40B4-BE49-F238E27FC236}">
                <a16:creationId xmlns:a16="http://schemas.microsoft.com/office/drawing/2014/main" id="{DE8F6EE9-08D2-4C17-B52B-2BA7D62EA7C2}"/>
              </a:ext>
            </a:extLst>
          </p:cNvPr>
          <p:cNvSpPr/>
          <p:nvPr/>
        </p:nvSpPr>
        <p:spPr bwMode="gray">
          <a:xfrm>
            <a:off x="899600" y="2884748"/>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sz="1600" b="1">
                <a:latin typeface="Huawei Sans" panose="020C0503030203020204" pitchFamily="34" charset="0"/>
              </a:rPr>
              <a:t> ospf</a:t>
            </a:r>
            <a:r>
              <a:rPr lang="en-US" sz="1600">
                <a:latin typeface="Huawei Sans" panose="020C0503030203020204" pitchFamily="34" charset="0"/>
              </a:rPr>
              <a:t> [ </a:t>
            </a:r>
            <a:r>
              <a:rPr lang="en-US" sz="1600" i="1">
                <a:latin typeface="Huawei Sans" panose="020C0503030203020204" pitchFamily="34" charset="0"/>
              </a:rPr>
              <a:t>process-id</a:t>
            </a:r>
            <a:r>
              <a:rPr lang="en-US" sz="1600">
                <a:latin typeface="Huawei Sans" panose="020C0503030203020204" pitchFamily="34" charset="0"/>
              </a:rPr>
              <a:t> | </a:t>
            </a:r>
            <a:r>
              <a:rPr lang="en-US" sz="1600" b="1">
                <a:latin typeface="Huawei Sans" panose="020C0503030203020204" pitchFamily="34" charset="0"/>
              </a:rPr>
              <a:t>router-id</a:t>
            </a:r>
            <a:r>
              <a:rPr lang="en-US" sz="1600">
                <a:latin typeface="Huawei Sans" panose="020C0503030203020204" pitchFamily="34" charset="0"/>
              </a:rPr>
              <a:t> </a:t>
            </a:r>
            <a:r>
              <a:rPr lang="en-US" sz="1600" i="1">
                <a:latin typeface="Huawei Sans" panose="020C0503030203020204" pitchFamily="34" charset="0"/>
              </a:rPr>
              <a:t>router-id</a:t>
            </a:r>
            <a:r>
              <a:rPr lang="en-US" sz="1600">
                <a:latin typeface="Huawei Sans" panose="020C0503030203020204" pitchFamily="34" charset="0"/>
              </a:rPr>
              <a:t> ] </a:t>
            </a:r>
            <a:r>
              <a:rPr lang="en-US" sz="1600" b="1">
                <a:latin typeface="Huawei Sans" panose="020C0503030203020204" pitchFamily="34" charset="0"/>
              </a:rPr>
              <a:t>vpn-instance</a:t>
            </a:r>
            <a:r>
              <a:rPr lang="en-US" sz="1600">
                <a:latin typeface="Huawei Sans" panose="020C0503030203020204" pitchFamily="34" charset="0"/>
              </a:rPr>
              <a:t> </a:t>
            </a:r>
            <a:r>
              <a:rPr lang="en-US" sz="1600" i="1">
                <a:latin typeface="Huawei Sans" panose="020C0503030203020204" pitchFamily="34" charset="0"/>
              </a:rPr>
              <a:t>vpn-instance-name</a:t>
            </a:r>
            <a:r>
              <a:rPr lang="en-US" sz="1600">
                <a:latin typeface="Huawei Sans" panose="020C0503030203020204" pitchFamily="34" charset="0"/>
              </a:rPr>
              <a:t>  </a:t>
            </a:r>
          </a:p>
        </p:txBody>
      </p:sp>
      <p:sp>
        <p:nvSpPr>
          <p:cNvPr id="8" name="矩形 7">
            <a:extLst>
              <a:ext uri="{FF2B5EF4-FFF2-40B4-BE49-F238E27FC236}">
                <a16:creationId xmlns:a16="http://schemas.microsoft.com/office/drawing/2014/main" id="{7D03D82F-BDCE-482A-A9FF-3C6992CF8382}"/>
              </a:ext>
            </a:extLst>
          </p:cNvPr>
          <p:cNvSpPr/>
          <p:nvPr/>
        </p:nvSpPr>
        <p:spPr bwMode="gray">
          <a:xfrm>
            <a:off x="446088" y="2496296"/>
            <a:ext cx="11089232" cy="338554"/>
          </a:xfrm>
          <a:prstGeom prst="rect">
            <a:avLst/>
          </a:prstGeom>
        </p:spPr>
        <p:txBody>
          <a:bodyPr wrap="square">
            <a:noAutofit/>
          </a:bodyPr>
          <a:lstStyle/>
          <a:p>
            <a:pPr marL="342900" indent="-342900" fontAlgn="ctr">
              <a:buFont typeface="+mj-lt"/>
              <a:buAutoNum type="arabicPeriod" startAt="5"/>
            </a:pPr>
            <a:r>
              <a:rPr 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Create a dynamic routing protocol process (for example, OSPF) bound to the VPN instance.</a:t>
            </a:r>
          </a:p>
        </p:txBody>
      </p:sp>
      <p:sp>
        <p:nvSpPr>
          <p:cNvPr id="9" name="矩形 8">
            <a:extLst>
              <a:ext uri="{FF2B5EF4-FFF2-40B4-BE49-F238E27FC236}">
                <a16:creationId xmlns:a16="http://schemas.microsoft.com/office/drawing/2014/main" id="{3F657C96-E0F8-4158-BE13-42DD133614B1}"/>
              </a:ext>
            </a:extLst>
          </p:cNvPr>
          <p:cNvSpPr/>
          <p:nvPr/>
        </p:nvSpPr>
        <p:spPr bwMode="gray">
          <a:xfrm>
            <a:off x="926621" y="3262695"/>
            <a:ext cx="10608699" cy="400110"/>
          </a:xfrm>
          <a:prstGeom prst="rect">
            <a:avLst/>
          </a:prstGeom>
        </p:spPr>
        <p:txBody>
          <a:bodyPr wrap="square">
            <a:noAutofit/>
          </a:bodyPr>
          <a:lstStyle/>
          <a:p>
            <a:pPr fontAlgn="ct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Note: The process IDs of different VPN instances must be different.</a:t>
            </a:r>
          </a:p>
        </p:txBody>
      </p:sp>
      <p:sp>
        <p:nvSpPr>
          <p:cNvPr id="10" name="矩形 9">
            <a:extLst>
              <a:ext uri="{FF2B5EF4-FFF2-40B4-BE49-F238E27FC236}">
                <a16:creationId xmlns:a16="http://schemas.microsoft.com/office/drawing/2014/main" id="{DE8F6EE9-08D2-4C17-B52B-2BA7D62EA7C2}"/>
              </a:ext>
            </a:extLst>
          </p:cNvPr>
          <p:cNvSpPr/>
          <p:nvPr/>
        </p:nvSpPr>
        <p:spPr bwMode="gray">
          <a:xfrm>
            <a:off x="899600" y="4058927"/>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rPr>
              <a:t>[Huawei]</a:t>
            </a:r>
            <a:r>
              <a:rPr lang="en-US" sz="1600" b="1">
                <a:latin typeface="Huawei Sans" panose="020C0503030203020204" pitchFamily="34" charset="0"/>
              </a:rPr>
              <a:t> display ip routing-table</a:t>
            </a:r>
            <a:r>
              <a:rPr lang="en-US" sz="1600">
                <a:latin typeface="Huawei Sans" panose="020C0503030203020204" pitchFamily="34" charset="0"/>
              </a:rPr>
              <a:t>  </a:t>
            </a:r>
            <a:r>
              <a:rPr lang="en-US" sz="1600" b="1">
                <a:latin typeface="Huawei Sans" panose="020C0503030203020204" pitchFamily="34" charset="0"/>
              </a:rPr>
              <a:t>vpn-instance</a:t>
            </a:r>
            <a:r>
              <a:rPr lang="en-US" sz="1600">
                <a:latin typeface="Huawei Sans" panose="020C0503030203020204" pitchFamily="34" charset="0"/>
              </a:rPr>
              <a:t> </a:t>
            </a:r>
            <a:r>
              <a:rPr lang="en-US" sz="1600" i="1">
                <a:latin typeface="Huawei Sans" panose="020C0503030203020204" pitchFamily="34" charset="0"/>
              </a:rPr>
              <a:t>vpn-instance-name</a:t>
            </a:r>
            <a:r>
              <a:rPr lang="en-US" sz="1600">
                <a:latin typeface="Huawei Sans" panose="020C0503030203020204" pitchFamily="34" charset="0"/>
              </a:rPr>
              <a:t>  </a:t>
            </a:r>
          </a:p>
        </p:txBody>
      </p:sp>
      <p:sp>
        <p:nvSpPr>
          <p:cNvPr id="11" name="矩形 10">
            <a:extLst>
              <a:ext uri="{FF2B5EF4-FFF2-40B4-BE49-F238E27FC236}">
                <a16:creationId xmlns:a16="http://schemas.microsoft.com/office/drawing/2014/main" id="{7D03D82F-BDCE-482A-A9FF-3C6992CF8382}"/>
              </a:ext>
            </a:extLst>
          </p:cNvPr>
          <p:cNvSpPr/>
          <p:nvPr/>
        </p:nvSpPr>
        <p:spPr bwMode="gray">
          <a:xfrm>
            <a:off x="446088" y="3687383"/>
            <a:ext cx="11089232" cy="338554"/>
          </a:xfrm>
          <a:prstGeom prst="rect">
            <a:avLst/>
          </a:prstGeom>
        </p:spPr>
        <p:txBody>
          <a:bodyPr wrap="square">
            <a:noAutofit/>
          </a:bodyPr>
          <a:lstStyle/>
          <a:p>
            <a:pPr marL="342900" indent="-342900" fontAlgn="ctr">
              <a:buFont typeface="+mj-lt"/>
              <a:buAutoNum type="arabicPeriod" startAt="6"/>
            </a:pP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Use the following commands to maintain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 instances.</a:t>
            </a:r>
            <a:endPar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id="{DE8F6EE9-08D2-4C17-B52B-2BA7D62EA7C2}"/>
              </a:ext>
            </a:extLst>
          </p:cNvPr>
          <p:cNvSpPr/>
          <p:nvPr/>
        </p:nvSpPr>
        <p:spPr bwMode="gray">
          <a:xfrm>
            <a:off x="899600" y="4463408"/>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rPr>
              <a:t>[Huawei]</a:t>
            </a:r>
            <a:r>
              <a:rPr lang="en-US" sz="1600" b="1">
                <a:latin typeface="Huawei Sans" panose="020C0503030203020204" pitchFamily="34" charset="0"/>
              </a:rPr>
              <a:t> ping -vpn-instance</a:t>
            </a:r>
            <a:r>
              <a:rPr lang="en-US" sz="1600">
                <a:latin typeface="Huawei Sans" panose="020C0503030203020204" pitchFamily="34" charset="0"/>
              </a:rPr>
              <a:t> </a:t>
            </a:r>
            <a:r>
              <a:rPr lang="en-US" sz="1600" i="1">
                <a:latin typeface="Huawei Sans" panose="020C0503030203020204" pitchFamily="34" charset="0"/>
              </a:rPr>
              <a:t>vpn-instance-name host</a:t>
            </a:r>
            <a:r>
              <a:rPr lang="en-US" sz="1600">
                <a:latin typeface="Huawei Sans" panose="020C0503030203020204" pitchFamily="34" charset="0"/>
              </a:rPr>
              <a:t>    </a:t>
            </a:r>
          </a:p>
        </p:txBody>
      </p:sp>
      <p:sp>
        <p:nvSpPr>
          <p:cNvPr id="15" name="矩形 14">
            <a:extLst>
              <a:ext uri="{FF2B5EF4-FFF2-40B4-BE49-F238E27FC236}">
                <a16:creationId xmlns:a16="http://schemas.microsoft.com/office/drawing/2014/main" id="{DE8F6EE9-08D2-4C17-B52B-2BA7D62EA7C2}"/>
              </a:ext>
            </a:extLst>
          </p:cNvPr>
          <p:cNvSpPr/>
          <p:nvPr/>
        </p:nvSpPr>
        <p:spPr bwMode="gray">
          <a:xfrm>
            <a:off x="899600" y="4867889"/>
            <a:ext cx="10608699" cy="338554"/>
          </a:xfrm>
          <a:prstGeom prst="rect">
            <a:avLst/>
          </a:prstGeom>
          <a:solidFill>
            <a:srgbClr val="F4FBFE"/>
          </a:solidFill>
          <a:ln>
            <a:solidFill>
              <a:srgbClr val="99DFF9"/>
            </a:solidFill>
          </a:ln>
        </p:spPr>
        <p:txBody>
          <a:bodyPr wrap="square">
            <a:noAutofit/>
          </a:bodyPr>
          <a:lstStyle/>
          <a:p>
            <a:pPr fontAlgn="ctr"/>
            <a:r>
              <a:rPr lang="en-US" sz="1600">
                <a:latin typeface="Huawei Sans" panose="020C0503030203020204" pitchFamily="34" charset="0"/>
              </a:rPr>
              <a:t>[Huawei]</a:t>
            </a:r>
            <a:r>
              <a:rPr lang="en-US" sz="1600" b="1">
                <a:latin typeface="Huawei Sans" panose="020C0503030203020204" pitchFamily="34" charset="0"/>
              </a:rPr>
              <a:t> tracert -vpn-instance</a:t>
            </a:r>
            <a:r>
              <a:rPr lang="en-US" sz="1600">
                <a:latin typeface="Huawei Sans" panose="020C0503030203020204" pitchFamily="34" charset="0"/>
              </a:rPr>
              <a:t> </a:t>
            </a:r>
            <a:r>
              <a:rPr lang="en-US" sz="1600" i="1">
                <a:latin typeface="Huawei Sans" panose="020C0503030203020204" pitchFamily="34" charset="0"/>
              </a:rPr>
              <a:t>vpn-instance-name host</a:t>
            </a:r>
            <a:r>
              <a:rPr lang="en-US" sz="1600">
                <a:latin typeface="Huawei Sans" panose="020C0503030203020204" pitchFamily="34" charset="0"/>
              </a:rPr>
              <a:t>    </a:t>
            </a:r>
          </a:p>
        </p:txBody>
      </p:sp>
      <p:sp>
        <p:nvSpPr>
          <p:cNvPr id="16" name="矩形 15">
            <a:extLst>
              <a:ext uri="{FF2B5EF4-FFF2-40B4-BE49-F238E27FC236}">
                <a16:creationId xmlns:a16="http://schemas.microsoft.com/office/drawing/2014/main" id="{3F657C96-E0F8-4158-BE13-42DD133614B1}"/>
              </a:ext>
            </a:extLst>
          </p:cNvPr>
          <p:cNvSpPr/>
          <p:nvPr/>
        </p:nvSpPr>
        <p:spPr bwMode="gray">
          <a:xfrm>
            <a:off x="926620" y="5247760"/>
            <a:ext cx="10608699" cy="707886"/>
          </a:xfrm>
          <a:prstGeom prst="rect">
            <a:avLst/>
          </a:prstGeom>
        </p:spPr>
        <p:txBody>
          <a:bodyPr wrap="square">
            <a:noAutofit/>
          </a:bodyPr>
          <a:lstStyle/>
          <a:p>
            <a:pPr fontAlgn="ct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Note: If the </a:t>
            </a:r>
            <a:r>
              <a:rPr 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ping</a:t>
            </a: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command does not carry the </a:t>
            </a:r>
            <a:r>
              <a:rPr lang="en-US"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a:t>
            </a: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keyword, the ping is performed on the root device by default, and the generated ICMP messages are forwarded using entries in the global routing table, which also applies to the </a:t>
            </a:r>
            <a:r>
              <a:rPr lang="en-US"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tracert</a:t>
            </a:r>
            <a:r>
              <a:rPr 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operation.</a:t>
            </a:r>
          </a:p>
        </p:txBody>
      </p:sp>
    </p:spTree>
    <p:extLst>
      <p:ext uri="{BB962C8B-B14F-4D97-AF65-F5344CB8AC3E}">
        <p14:creationId xmlns:p14="http://schemas.microsoft.com/office/powerpoint/2010/main" val="2091625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a:cxnSpLocks/>
          </p:cNvCxnSpPr>
          <p:nvPr/>
        </p:nvCxnSpPr>
        <p:spPr bwMode="gray">
          <a:xfrm flipH="1">
            <a:off x="1891622" y="4342974"/>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cxnSpLocks/>
          </p:cNvCxnSpPr>
          <p:nvPr/>
        </p:nvCxnSpPr>
        <p:spPr bwMode="gray">
          <a:xfrm>
            <a:off x="2844098" y="4337642"/>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gray">
          <a:xfrm>
            <a:off x="2844098" y="3323728"/>
            <a:ext cx="0" cy="101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2" idx="0"/>
            <a:endCxn id="39" idx="0"/>
          </p:cNvCxnSpPr>
          <p:nvPr/>
        </p:nvCxnSpPr>
        <p:spPr bwMode="gray">
          <a:xfrm flipV="1">
            <a:off x="2856514" y="1762410"/>
            <a:ext cx="1227623" cy="13404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endCxn id="32" idx="0"/>
          </p:cNvCxnSpPr>
          <p:nvPr/>
        </p:nvCxnSpPr>
        <p:spPr bwMode="gray">
          <a:xfrm>
            <a:off x="1869327" y="2010252"/>
            <a:ext cx="987187" cy="10925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Configuration Case </a:t>
            </a:r>
            <a:r>
              <a:rPr lang="en-US" sz="3600" dirty="0">
                <a:latin typeface="Huawei Sans" panose="020C0503030203020204" pitchFamily="34" charset="0"/>
              </a:rPr>
              <a:t>—</a:t>
            </a:r>
            <a:r>
              <a:rPr lang="en-US" dirty="0">
                <a:latin typeface="Huawei Sans" panose="020C0503030203020204" pitchFamily="34" charset="0"/>
              </a:rPr>
              <a:t> Background and Requirement Analysis</a:t>
            </a:r>
          </a:p>
        </p:txBody>
      </p:sp>
      <p:pic>
        <p:nvPicPr>
          <p:cNvPr id="32" name="Picture 12" descr="E:\2016.01\1.12 扁平化图标\蓝色\AR-蓝色最新-40.png"/>
          <p:cNvPicPr>
            <a:picLocks noChangeAspect="1" noChangeArrowheads="1"/>
          </p:cNvPicPr>
          <p:nvPr/>
        </p:nvPicPr>
        <p:blipFill>
          <a:blip r:embed="rId3" cstate="print"/>
          <a:srcRect/>
          <a:stretch>
            <a:fillRect/>
          </a:stretch>
        </p:blipFill>
        <p:spPr bwMode="gray">
          <a:xfrm>
            <a:off x="2586514" y="3102819"/>
            <a:ext cx="540000" cy="441818"/>
          </a:xfrm>
          <a:prstGeom prst="rect">
            <a:avLst/>
          </a:prstGeom>
          <a:noFill/>
        </p:spPr>
      </p:pic>
      <p:sp>
        <p:nvSpPr>
          <p:cNvPr id="33" name="Freeform 159"/>
          <p:cNvSpPr>
            <a:spLocks/>
          </p:cNvSpPr>
          <p:nvPr/>
        </p:nvSpPr>
        <p:spPr bwMode="gray">
          <a:xfrm flipH="1">
            <a:off x="114021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59"/>
          <p:cNvSpPr>
            <a:spLocks/>
          </p:cNvSpPr>
          <p:nvPr/>
        </p:nvSpPr>
        <p:spPr bwMode="gray">
          <a:xfrm flipH="1">
            <a:off x="335502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1144832" y="1731324"/>
            <a:ext cx="1445909"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a:t>
            </a:r>
          </a:p>
          <a:p>
            <a:pPr algn="ctr" fontAlgn="ctr"/>
            <a:r>
              <a:rPr lang="en-US" sz="1200" dirty="0">
                <a:latin typeface="Huawei Sans" panose="020C0503030203020204" pitchFamily="34" charset="0"/>
              </a:rPr>
              <a:t>192.168.100.0/24</a:t>
            </a:r>
          </a:p>
        </p:txBody>
      </p:sp>
      <p:sp>
        <p:nvSpPr>
          <p:cNvPr id="39" name="文本框 38"/>
          <p:cNvSpPr txBox="1"/>
          <p:nvPr/>
        </p:nvSpPr>
        <p:spPr bwMode="gray">
          <a:xfrm>
            <a:off x="3288887" y="1762410"/>
            <a:ext cx="1590500" cy="523220"/>
          </a:xfrm>
          <a:prstGeom prst="rect">
            <a:avLst/>
          </a:prstGeom>
          <a:noFill/>
        </p:spPr>
        <p:txBody>
          <a:bodyPr wrap="square" rtlCol="0">
            <a:noAutofit/>
          </a:bodyPr>
          <a:lstStyle>
            <a:defPPr>
              <a:defRPr lang="en-US"/>
            </a:defPPr>
            <a:lvl1pPr algn="ctr">
              <a:defRPr sz="1400"/>
            </a:lvl1pPr>
          </a:lstStyle>
          <a:p>
            <a:pPr fontAlgn="ctr"/>
            <a:r>
              <a:rPr lang="en-US" sz="1200" dirty="0">
                <a:latin typeface="Huawei Sans" panose="020C0503030203020204" pitchFamily="34" charset="0"/>
              </a:rPr>
              <a:t>Management network</a:t>
            </a:r>
          </a:p>
          <a:p>
            <a:pPr fontAlgn="ctr"/>
            <a:r>
              <a:rPr lang="en-US" sz="1200" dirty="0">
                <a:latin typeface="Huawei Sans" panose="020C0503030203020204" pitchFamily="34" charset="0"/>
              </a:rPr>
              <a:t>192.168.200.0/24</a:t>
            </a:r>
          </a:p>
        </p:txBody>
      </p:sp>
      <p:pic>
        <p:nvPicPr>
          <p:cNvPr id="52" name="图片 43" descr="PC.png"/>
          <p:cNvPicPr>
            <a:picLocks noChangeAspect="1"/>
          </p:cNvPicPr>
          <p:nvPr/>
        </p:nvPicPr>
        <p:blipFill>
          <a:blip r:embed="rId4" cstate="print"/>
          <a:stretch>
            <a:fillRect/>
          </a:stretch>
        </p:blipFill>
        <p:spPr bwMode="gray">
          <a:xfrm>
            <a:off x="1653763" y="4933879"/>
            <a:ext cx="592969" cy="455400"/>
          </a:xfrm>
          <a:prstGeom prst="rect">
            <a:avLst/>
          </a:prstGeom>
        </p:spPr>
      </p:pic>
      <p:sp>
        <p:nvSpPr>
          <p:cNvPr id="53" name="TextBox 105"/>
          <p:cNvSpPr txBox="1"/>
          <p:nvPr/>
        </p:nvSpPr>
        <p:spPr bwMode="gray">
          <a:xfrm>
            <a:off x="808725" y="5417372"/>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PC1 </a:t>
            </a:r>
            <a:r>
              <a:rPr lang="en-US" sz="1400" dirty="0">
                <a:latin typeface="Huawei Sans" panose="020C0503030203020204" pitchFamily="34" charset="0"/>
              </a:rPr>
              <a:t>192.168.1.1</a:t>
            </a:r>
          </a:p>
          <a:p>
            <a:pPr algn="ctr" fontAlgn="ctr"/>
            <a:r>
              <a:rPr lang="en-US" sz="1400" dirty="0">
                <a:latin typeface="Huawei Sans" panose="020C0503030203020204" pitchFamily="34" charset="0"/>
              </a:rPr>
              <a:t>Gateway 192.168.1.254</a:t>
            </a:r>
          </a:p>
          <a:p>
            <a:pPr algn="ctr" fontAlgn="ctr"/>
            <a:r>
              <a:rPr lang="en-US" sz="1400" dirty="0">
                <a:latin typeface="Huawei Sans" panose="020C0503030203020204" pitchFamily="34" charset="0"/>
              </a:rPr>
              <a:t>VLAN 10</a:t>
            </a:r>
          </a:p>
        </p:txBody>
      </p:sp>
      <p:pic>
        <p:nvPicPr>
          <p:cNvPr id="54" name="图片 43" descr="PC.png"/>
          <p:cNvPicPr>
            <a:picLocks noChangeAspect="1"/>
          </p:cNvPicPr>
          <p:nvPr/>
        </p:nvPicPr>
        <p:blipFill>
          <a:blip r:embed="rId4" cstate="print"/>
          <a:stretch>
            <a:fillRect/>
          </a:stretch>
        </p:blipFill>
        <p:spPr bwMode="gray">
          <a:xfrm>
            <a:off x="3608452" y="4937476"/>
            <a:ext cx="592969" cy="455400"/>
          </a:xfrm>
          <a:prstGeom prst="rect">
            <a:avLst/>
          </a:prstGeom>
        </p:spPr>
      </p:pic>
      <p:sp>
        <p:nvSpPr>
          <p:cNvPr id="55" name="TextBox 105"/>
          <p:cNvSpPr txBox="1"/>
          <p:nvPr/>
        </p:nvSpPr>
        <p:spPr bwMode="gray">
          <a:xfrm>
            <a:off x="2931600" y="5403648"/>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PC2 </a:t>
            </a:r>
            <a:r>
              <a:rPr lang="en-US" sz="1400" dirty="0">
                <a:latin typeface="Huawei Sans" panose="020C0503030203020204" pitchFamily="34" charset="0"/>
              </a:rPr>
              <a:t>192.168.2.1</a:t>
            </a:r>
          </a:p>
          <a:p>
            <a:pPr algn="ctr" fontAlgn="ctr"/>
            <a:r>
              <a:rPr lang="en-US" sz="1400" dirty="0">
                <a:latin typeface="Huawei Sans" panose="020C0503030203020204" pitchFamily="34" charset="0"/>
              </a:rPr>
              <a:t>Gateway 192.168.2.254</a:t>
            </a:r>
          </a:p>
          <a:p>
            <a:pPr algn="ctr" fontAlgn="ctr"/>
            <a:r>
              <a:rPr lang="en-US" sz="1400" dirty="0">
                <a:latin typeface="Huawei Sans" panose="020C0503030203020204" pitchFamily="34" charset="0"/>
              </a:rPr>
              <a:t>VLAN 20</a:t>
            </a:r>
          </a:p>
        </p:txBody>
      </p:sp>
      <p:sp>
        <p:nvSpPr>
          <p:cNvPr id="57" name="文本框 56"/>
          <p:cNvSpPr txBox="1"/>
          <p:nvPr/>
        </p:nvSpPr>
        <p:spPr bwMode="gray">
          <a:xfrm>
            <a:off x="2804830" y="3855172"/>
            <a:ext cx="851515" cy="307777"/>
          </a:xfrm>
          <a:prstGeom prst="rect">
            <a:avLst/>
          </a:prstGeom>
          <a:noFill/>
        </p:spPr>
        <p:txBody>
          <a:bodyPr wrap="square" rtlCol="0">
            <a:noAutofit/>
          </a:bodyPr>
          <a:lstStyle/>
          <a:p>
            <a:pPr fontAlgn="ctr"/>
            <a:r>
              <a:rPr lang="en-US" sz="1400">
                <a:latin typeface="Huawei Sans" panose="020C0503030203020204" pitchFamily="34" charset="0"/>
              </a:rPr>
              <a:t>GE0/0/0</a:t>
            </a:r>
          </a:p>
        </p:txBody>
      </p:sp>
      <p:sp>
        <p:nvSpPr>
          <p:cNvPr id="58" name="文本框 57"/>
          <p:cNvSpPr txBox="1"/>
          <p:nvPr/>
        </p:nvSpPr>
        <p:spPr bwMode="gray">
          <a:xfrm>
            <a:off x="2082567" y="3491898"/>
            <a:ext cx="851515" cy="307777"/>
          </a:xfrm>
          <a:prstGeom prst="rect">
            <a:avLst/>
          </a:prstGeom>
          <a:noFill/>
        </p:spPr>
        <p:txBody>
          <a:bodyPr wrap="square" rtlCol="0">
            <a:noAutofit/>
          </a:bodyPr>
          <a:lstStyle/>
          <a:p>
            <a:pPr fontAlgn="ctr"/>
            <a:r>
              <a:rPr lang="en-US" sz="1400">
                <a:latin typeface="Huawei Sans" panose="020C0503030203020204" pitchFamily="34" charset="0"/>
              </a:rPr>
              <a:t>GE0/0/0</a:t>
            </a:r>
          </a:p>
        </p:txBody>
      </p:sp>
      <p:sp>
        <p:nvSpPr>
          <p:cNvPr id="59" name="文本框 58"/>
          <p:cNvSpPr txBox="1"/>
          <p:nvPr/>
        </p:nvSpPr>
        <p:spPr bwMode="gray">
          <a:xfrm>
            <a:off x="655492" y="2669118"/>
            <a:ext cx="1942945" cy="523220"/>
          </a:xfrm>
          <a:prstGeom prst="rect">
            <a:avLst/>
          </a:prstGeom>
          <a:noFill/>
        </p:spPr>
        <p:txBody>
          <a:bodyPr wrap="square" rtlCol="0">
            <a:noAutofit/>
          </a:bodyPr>
          <a:lstStyle/>
          <a:p>
            <a:pPr algn="r" fontAlgn="ctr"/>
            <a:r>
              <a:rPr lang="en-US" sz="1400">
                <a:latin typeface="Huawei Sans" panose="020C0503030203020204" pitchFamily="34" charset="0"/>
              </a:rPr>
              <a:t>GE0/0/1</a:t>
            </a:r>
          </a:p>
          <a:p>
            <a:pPr algn="r" fontAlgn="ctr"/>
            <a:r>
              <a:rPr lang="en-US" sz="1400">
                <a:latin typeface="Huawei Sans" panose="020C0503030203020204" pitchFamily="34" charset="0"/>
              </a:rPr>
              <a:t>IP: 192.168.101.1/24</a:t>
            </a:r>
          </a:p>
        </p:txBody>
      </p:sp>
      <p:sp>
        <p:nvSpPr>
          <p:cNvPr id="60" name="文本框 59"/>
          <p:cNvSpPr txBox="1"/>
          <p:nvPr/>
        </p:nvSpPr>
        <p:spPr bwMode="gray">
          <a:xfrm>
            <a:off x="3230587" y="2650337"/>
            <a:ext cx="1942945" cy="523220"/>
          </a:xfrm>
          <a:prstGeom prst="rect">
            <a:avLst/>
          </a:prstGeom>
          <a:noFill/>
        </p:spPr>
        <p:txBody>
          <a:bodyPr wrap="square" rtlCol="0">
            <a:noAutofit/>
          </a:bodyPr>
          <a:lstStyle/>
          <a:p>
            <a:pPr fontAlgn="ctr"/>
            <a:r>
              <a:rPr lang="en-US" sz="1400" dirty="0">
                <a:latin typeface="Huawei Sans" panose="020C0503030203020204" pitchFamily="34" charset="0"/>
              </a:rPr>
              <a:t>GE0/0/2</a:t>
            </a:r>
          </a:p>
          <a:p>
            <a:pPr fontAlgn="ctr"/>
            <a:r>
              <a:rPr lang="en-US" sz="1400" dirty="0">
                <a:latin typeface="Huawei Sans" panose="020C0503030203020204" pitchFamily="34" charset="0"/>
              </a:rPr>
              <a:t>IP: 192.168.102.1/24</a:t>
            </a:r>
          </a:p>
        </p:txBody>
      </p:sp>
      <p:sp>
        <p:nvSpPr>
          <p:cNvPr id="61" name="文本框 60"/>
          <p:cNvSpPr txBox="1"/>
          <p:nvPr/>
        </p:nvSpPr>
        <p:spPr bwMode="gray">
          <a:xfrm>
            <a:off x="3064249" y="3154451"/>
            <a:ext cx="436338" cy="338554"/>
          </a:xfrm>
          <a:prstGeom prst="rect">
            <a:avLst/>
          </a:prstGeom>
          <a:noFill/>
        </p:spPr>
        <p:txBody>
          <a:bodyPr wrap="square" rtlCol="0">
            <a:noAutofit/>
          </a:bodyPr>
          <a:lstStyle/>
          <a:p>
            <a:pPr fontAlgn="ctr"/>
            <a:r>
              <a:rPr lang="en-US" sz="1600" b="1">
                <a:latin typeface="Huawei Sans" panose="020C0503030203020204" pitchFamily="34" charset="0"/>
              </a:rPr>
              <a:t>R1</a:t>
            </a:r>
          </a:p>
        </p:txBody>
      </p:sp>
      <p:sp>
        <p:nvSpPr>
          <p:cNvPr id="62" name="文本框 61"/>
          <p:cNvSpPr txBox="1"/>
          <p:nvPr/>
        </p:nvSpPr>
        <p:spPr bwMode="gray">
          <a:xfrm>
            <a:off x="3073867" y="4199928"/>
            <a:ext cx="417102" cy="338554"/>
          </a:xfrm>
          <a:prstGeom prst="rect">
            <a:avLst/>
          </a:prstGeom>
          <a:noFill/>
        </p:spPr>
        <p:txBody>
          <a:bodyPr wrap="square" rtlCol="0">
            <a:noAutofit/>
          </a:bodyPr>
          <a:lstStyle/>
          <a:p>
            <a:pPr fontAlgn="ctr"/>
            <a:r>
              <a:rPr lang="en-US" sz="1600" b="1" dirty="0">
                <a:latin typeface="Huawei Sans" panose="020C0503030203020204" pitchFamily="34" charset="0"/>
              </a:rPr>
              <a:t>S1</a:t>
            </a:r>
          </a:p>
        </p:txBody>
      </p:sp>
      <p:sp>
        <p:nvSpPr>
          <p:cNvPr id="63" name="文本占位符 3"/>
          <p:cNvSpPr txBox="1">
            <a:spLocks/>
          </p:cNvSpPr>
          <p:nvPr/>
        </p:nvSpPr>
        <p:spPr bwMode="gray">
          <a:xfrm>
            <a:off x="6123523" y="1252538"/>
            <a:ext cx="5622390" cy="29972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noAutofit/>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ctr">
              <a:lnSpc>
                <a:spcPct val="100000"/>
              </a:lnSpc>
            </a:pPr>
            <a:r>
              <a:rPr lang="en-US" sz="1600" b="1" dirty="0">
                <a:latin typeface="Huawei Sans" panose="020C0503030203020204" pitchFamily="34" charset="0"/>
              </a:rPr>
              <a:t>Background</a:t>
            </a:r>
            <a:r>
              <a:rPr lang="en-US" sz="1600" dirty="0">
                <a:latin typeface="Huawei Sans" panose="020C0503030203020204" pitchFamily="34" charset="0"/>
              </a:rPr>
              <a:t>: An enterprise has a production network and a management network, shown on the left figure.</a:t>
            </a:r>
          </a:p>
          <a:p>
            <a:pPr marL="654050" lvl="1" indent="-339725" fontAlgn="ctr">
              <a:lnSpc>
                <a:spcPct val="100000"/>
              </a:lnSpc>
            </a:pPr>
            <a:r>
              <a:rPr lang="en-US" sz="1400" dirty="0">
                <a:latin typeface="Huawei Sans" panose="020C0503030203020204" pitchFamily="34" charset="0"/>
              </a:rPr>
              <a:t>PC1 belongs to the production network, PC2 belongs to the management network, and S1 is the access switch for the two PCs. PC1 is added to VLAN 10, and PC2 is added to VLAN 20.</a:t>
            </a:r>
          </a:p>
          <a:p>
            <a:pPr marL="654050" lvl="1" indent="-339725" fontAlgn="ctr">
              <a:lnSpc>
                <a:spcPct val="100000"/>
              </a:lnSpc>
            </a:pPr>
            <a:r>
              <a:rPr lang="en-US" sz="1400" dirty="0">
                <a:latin typeface="Huawei Sans" panose="020C0503030203020204" pitchFamily="34" charset="0"/>
              </a:rPr>
              <a:t>Sub-interfaces are configured on R1 functioning as a gateway for PC1 and PC2.</a:t>
            </a:r>
          </a:p>
          <a:p>
            <a:pPr fontAlgn="ctr">
              <a:lnSpc>
                <a:spcPct val="100000"/>
              </a:lnSpc>
            </a:pPr>
            <a:r>
              <a:rPr lang="en-US" sz="1600" b="1" dirty="0">
                <a:latin typeface="Huawei Sans" panose="020C0503030203020204" pitchFamily="34" charset="0"/>
              </a:rPr>
              <a:t>Requirements</a:t>
            </a:r>
            <a:r>
              <a:rPr lang="en-US" sz="1600" dirty="0">
                <a:latin typeface="Huawei Sans" panose="020C0503030203020204" pitchFamily="34" charset="0"/>
              </a:rPr>
              <a:t>: Isolate the production network from the management network and use static routes for communication within each network.</a:t>
            </a:r>
          </a:p>
          <a:p>
            <a:pPr lvl="1" fontAlgn="ctr">
              <a:lnSpc>
                <a:spcPct val="100000"/>
              </a:lnSpc>
            </a:pPr>
            <a:endParaRPr lang="en-US" altLang="zh-CN" sz="1400" dirty="0">
              <a:latin typeface="Huawei Sans" panose="020C0503030203020204" pitchFamily="34" charset="0"/>
            </a:endParaRPr>
          </a:p>
          <a:p>
            <a:pPr lvl="1" fontAlgn="ctr">
              <a:lnSpc>
                <a:spcPct val="100000"/>
              </a:lnSpc>
            </a:pPr>
            <a:endParaRPr lang="en-US" altLang="zh-CN" sz="1200" dirty="0">
              <a:latin typeface="Huawei Sans" panose="020C0503030203020204" pitchFamily="34" charset="0"/>
            </a:endParaRPr>
          </a:p>
        </p:txBody>
      </p:sp>
      <p:graphicFrame>
        <p:nvGraphicFramePr>
          <p:cNvPr id="65" name="表格 46"/>
          <p:cNvGraphicFramePr>
            <a:graphicFrameLocks noGrp="1"/>
          </p:cNvGraphicFramePr>
          <p:nvPr>
            <p:extLst>
              <p:ext uri="{D42A27DB-BD31-4B8C-83A1-F6EECF244321}">
                <p14:modId xmlns:p14="http://schemas.microsoft.com/office/powerpoint/2010/main" val="1726374021"/>
              </p:ext>
            </p:extLst>
          </p:nvPr>
        </p:nvGraphicFramePr>
        <p:xfrm>
          <a:off x="6508057" y="4198266"/>
          <a:ext cx="4949205" cy="1461367"/>
        </p:xfrm>
        <a:graphic>
          <a:graphicData uri="http://schemas.openxmlformats.org/drawingml/2006/table">
            <a:tbl>
              <a:tblPr firstRow="1" bandRow="1">
                <a:tableStyleId>{5202B0CA-FC54-4496-8BCA-5EF66A818D29}</a:tableStyleId>
              </a:tblPr>
              <a:tblGrid>
                <a:gridCol w="1706623">
                  <a:extLst>
                    <a:ext uri="{9D8B030D-6E8A-4147-A177-3AD203B41FA5}">
                      <a16:colId xmlns:a16="http://schemas.microsoft.com/office/drawing/2014/main" val="20000"/>
                    </a:ext>
                  </a:extLst>
                </a:gridCol>
                <a:gridCol w="91027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1398862">
                  <a:extLst>
                    <a:ext uri="{9D8B030D-6E8A-4147-A177-3AD203B41FA5}">
                      <a16:colId xmlns:a16="http://schemas.microsoft.com/office/drawing/2014/main" val="20003"/>
                    </a:ext>
                  </a:extLst>
                </a:gridCol>
              </a:tblGrid>
              <a:tr h="364087">
                <a:tc>
                  <a:txBody>
                    <a:body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Destination/Mask</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pPr>
                      <a:r>
                        <a:rPr lang="en-US" sz="1200" b="1">
                          <a:solidFill>
                            <a:schemeClr val="bg1"/>
                          </a:solidFill>
                          <a:latin typeface="Huawei Sans" panose="020C0503030203020204" pitchFamily="34" charset="0"/>
                          <a:ea typeface="方正兰亭黑简体" panose="02000000000000000000" pitchFamily="2" charset="-122"/>
                          <a:cs typeface="+mn-cs"/>
                        </a:rPr>
                        <a:t>Protocol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pPr>
                      <a:r>
                        <a:rPr lang="en-US" sz="1200" b="1" dirty="0">
                          <a:solidFill>
                            <a:schemeClr val="bg1"/>
                          </a:solidFill>
                          <a:latin typeface="Huawei Sans" panose="020C0503030203020204" pitchFamily="34" charset="0"/>
                          <a:ea typeface="方正兰亭黑简体" panose="02000000000000000000" pitchFamily="2" charset="-122"/>
                          <a:cs typeface="+mn-cs"/>
                        </a:rPr>
                        <a:t>Interface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rgbClr val="00B0F0"/>
                    </a:solidFill>
                  </a:tcPr>
                </a:tc>
                <a:tc>
                  <a:txBody>
                    <a:bodyPr/>
                    <a:lstStyle/>
                    <a:p>
                      <a:pPr marL="0" algn="ctr" defTabSz="914034" rtl="0" eaLnBrk="1" fontAlgn="ctr" latinLnBrk="0" hangingPunct="1">
                        <a:lnSpc>
                          <a:spcPct val="100000"/>
                        </a:lnSpc>
                      </a:pPr>
                      <a:r>
                        <a:rPr lang="en-US" sz="1200" b="1" dirty="0" err="1">
                          <a:solidFill>
                            <a:schemeClr val="bg1"/>
                          </a:solidFill>
                          <a:latin typeface="Huawei Sans" panose="020C0503030203020204" pitchFamily="34" charset="0"/>
                          <a:ea typeface="方正兰亭黑简体" panose="02000000000000000000" pitchFamily="2" charset="-122"/>
                          <a:cs typeface="+mn-cs"/>
                        </a:rPr>
                        <a:t>NextHop</a:t>
                      </a:r>
                      <a:endParaRPr lang="en-US" sz="1200" b="1" dirty="0">
                        <a:solidFill>
                          <a:schemeClr val="bg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18452">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192.168.100.0/24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Static</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GE0/0/1</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192.168.101.254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18452">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192.168.200.0/24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Static</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GE0/0/2</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192.168.102.254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18452">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192.168.1.0/24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GE0/0/0.1</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192.168.1.254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18452">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192.168.2.0/24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Direct</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a:solidFill>
                            <a:schemeClr val="tx1"/>
                          </a:solidFill>
                          <a:latin typeface="Huawei Sans" panose="020C0503030203020204" pitchFamily="34" charset="0"/>
                          <a:ea typeface="方正兰亭黑简体" panose="02000000000000000000" pitchFamily="2" charset="-122"/>
                          <a:cs typeface="+mn-cs"/>
                        </a:rPr>
                        <a:t>GE0/0/0.1</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tc>
                  <a:txBody>
                    <a:bodyPr/>
                    <a:lstStyle/>
                    <a:p>
                      <a:pPr marL="0" marR="0" indent="0" algn="ctr" defTabSz="914034" rtl="0" eaLnBrk="1" fontAlgn="ctr" latinLnBrk="0" hangingPunct="1">
                        <a:lnSpc>
                          <a:spcPct val="100000"/>
                        </a:lnSpc>
                        <a:spcBef>
                          <a:spcPts val="0"/>
                        </a:spcBef>
                        <a:spcAft>
                          <a:spcPts val="0"/>
                        </a:spcAft>
                        <a:buClrTx/>
                        <a:buSzTx/>
                        <a:buFontTx/>
                        <a:buNone/>
                        <a:tabLst/>
                        <a:defRPr/>
                      </a:pPr>
                      <a:r>
                        <a:rPr lang="en-US" sz="1200" dirty="0">
                          <a:solidFill>
                            <a:schemeClr val="tx1"/>
                          </a:solidFill>
                          <a:latin typeface="Huawei Sans" panose="020C0503030203020204" pitchFamily="34" charset="0"/>
                          <a:ea typeface="方正兰亭黑简体" panose="02000000000000000000" pitchFamily="2" charset="-122"/>
                          <a:cs typeface="+mn-cs"/>
                        </a:rPr>
                        <a:t>192.168.2.254</a:t>
                      </a:r>
                    </a:p>
                  </a:txBody>
                  <a:tcPr anchor="ctr">
                    <a:lnL w="12700" cap="flat" cmpd="sng" algn="ctr">
                      <a:solidFill>
                        <a:schemeClr val="tx2">
                          <a:lumMod val="90000"/>
                        </a:schemeClr>
                      </a:solidFill>
                      <a:prstDash val="solid"/>
                      <a:round/>
                      <a:headEnd type="none" w="med" len="med"/>
                      <a:tailEnd type="none" w="med" len="med"/>
                    </a:lnL>
                    <a:lnR w="12700" cap="flat" cmpd="sng" algn="ctr">
                      <a:solidFill>
                        <a:schemeClr val="tx2">
                          <a:lumMod val="90000"/>
                        </a:schemeClr>
                      </a:solidFill>
                      <a:prstDash val="solid"/>
                      <a:round/>
                      <a:headEnd type="none" w="med" len="med"/>
                      <a:tailEnd type="none" w="med" len="med"/>
                    </a:lnR>
                    <a:lnT w="12700" cap="flat" cmpd="sng" algn="ctr">
                      <a:solidFill>
                        <a:schemeClr val="tx2">
                          <a:lumMod val="90000"/>
                        </a:schemeClr>
                      </a:solidFill>
                      <a:prstDash val="solid"/>
                      <a:round/>
                      <a:headEnd type="none" w="med" len="med"/>
                      <a:tailEnd type="none" w="med" len="med"/>
                    </a:lnT>
                    <a:lnB w="12700" cap="flat" cmpd="sng" algn="ctr">
                      <a:solidFill>
                        <a:schemeClr val="tx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66" name="文本框 65"/>
          <p:cNvSpPr txBox="1"/>
          <p:nvPr/>
        </p:nvSpPr>
        <p:spPr bwMode="gray">
          <a:xfrm>
            <a:off x="6859725" y="5823684"/>
            <a:ext cx="4245868" cy="307777"/>
          </a:xfrm>
          <a:prstGeom prst="rect">
            <a:avLst/>
          </a:prstGeom>
          <a:noFill/>
        </p:spPr>
        <p:txBody>
          <a:bodyPr wrap="square" rtlCol="0">
            <a:noAutofit/>
          </a:bodyPr>
          <a:lstStyle/>
          <a:p>
            <a:pPr algn="ctr" fontAlgn="ctr"/>
            <a:r>
              <a:rPr lang="en-US" sz="1400" b="1" dirty="0">
                <a:latin typeface="Huawei Sans" panose="020C0503030203020204" pitchFamily="34" charset="0"/>
              </a:rPr>
              <a:t>Routing table before VRF is deployed on R1</a:t>
            </a:r>
          </a:p>
        </p:txBody>
      </p:sp>
      <p:pic>
        <p:nvPicPr>
          <p:cNvPr id="27" name="图片 26" descr="通用交换机.png"/>
          <p:cNvPicPr>
            <a:picLocks noChangeAspect="1"/>
          </p:cNvPicPr>
          <p:nvPr/>
        </p:nvPicPr>
        <p:blipFill>
          <a:blip r:embed="rId5" cstate="print"/>
          <a:stretch>
            <a:fillRect/>
          </a:stretch>
        </p:blipFill>
        <p:spPr bwMode="gray">
          <a:xfrm>
            <a:off x="2591685" y="4166235"/>
            <a:ext cx="540000" cy="441818"/>
          </a:xfrm>
          <a:prstGeom prst="rect">
            <a:avLst/>
          </a:prstGeom>
        </p:spPr>
      </p:pic>
    </p:spTree>
    <p:extLst>
      <p:ext uri="{BB962C8B-B14F-4D97-AF65-F5344CB8AC3E}">
        <p14:creationId xmlns:p14="http://schemas.microsoft.com/office/powerpoint/2010/main" val="768331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Configuration Example </a:t>
            </a:r>
            <a:r>
              <a:rPr lang="en-US" sz="3600" dirty="0">
                <a:latin typeface="Huawei Sans" panose="020C0503030203020204" pitchFamily="34" charset="0"/>
              </a:rPr>
              <a:t>—</a:t>
            </a:r>
            <a:r>
              <a:rPr lang="en-US" dirty="0">
                <a:latin typeface="Huawei Sans" panose="020C0503030203020204" pitchFamily="34" charset="0"/>
              </a:rPr>
              <a:t> Procedure (1)</a:t>
            </a:r>
          </a:p>
        </p:txBody>
      </p:sp>
      <p:sp>
        <p:nvSpPr>
          <p:cNvPr id="27" name="文本框 26"/>
          <p:cNvSpPr txBox="1"/>
          <p:nvPr/>
        </p:nvSpPr>
        <p:spPr bwMode="gray">
          <a:xfrm>
            <a:off x="5672046" y="1388274"/>
            <a:ext cx="5649912"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fontAlgn="ctr"/>
            <a:r>
              <a:rPr lang="en-US" sz="1600" dirty="0">
                <a:solidFill>
                  <a:srgbClr val="000000"/>
                </a:solidFill>
                <a:latin typeface="Huawei Sans" panose="020C0503030203020204" pitchFamily="34" charset="0"/>
              </a:rPr>
              <a:t>1. Configure VLANs on the switch. The configuration details are not provided.</a:t>
            </a:r>
          </a:p>
        </p:txBody>
      </p:sp>
      <p:sp>
        <p:nvSpPr>
          <p:cNvPr id="28" name="Rectangle 3"/>
          <p:cNvSpPr/>
          <p:nvPr/>
        </p:nvSpPr>
        <p:spPr bwMode="gray">
          <a:xfrm>
            <a:off x="5780389" y="2861555"/>
            <a:ext cx="5965524" cy="2554545"/>
          </a:xfrm>
          <a:prstGeom prst="rect">
            <a:avLst/>
          </a:prstGeom>
          <a:solidFill>
            <a:srgbClr val="F4FBFE"/>
          </a:solidFill>
          <a:ln>
            <a:solidFill>
              <a:srgbClr val="99DFF9"/>
            </a:solidFill>
          </a:ln>
        </p:spPr>
        <p:txBody>
          <a:bodyPr wrap="square" anchor="ctr" anchorCtr="0">
            <a:noAutofit/>
          </a:bodyPr>
          <a:lstStyle/>
          <a:p>
            <a:pPr fontAlgn="ctr">
              <a:lnSpc>
                <a:spcPts val="2400"/>
              </a:lnSpc>
            </a:pPr>
            <a:r>
              <a:rPr lang="en-US" sz="1400" dirty="0">
                <a:latin typeface="Huawei Sans" panose="020C0503030203020204" pitchFamily="34" charset="0"/>
                <a:cs typeface="Courier New" panose="02070309020205020404" pitchFamily="49" charset="0"/>
              </a:rPr>
              <a:t>[R1]</a:t>
            </a:r>
            <a:r>
              <a:rPr lang="en-US" sz="1400" dirty="0" err="1">
                <a:latin typeface="Huawei Sans" panose="020C0503030203020204" pitchFamily="34" charset="0"/>
                <a:cs typeface="Courier New" panose="02070309020205020404" pitchFamily="49" charset="0"/>
              </a:rPr>
              <a:t>ip</a:t>
            </a:r>
            <a:r>
              <a:rPr lang="en-US" sz="1400" dirty="0">
                <a:latin typeface="Huawei Sans" panose="020C0503030203020204" pitchFamily="34" charset="0"/>
                <a:cs typeface="Courier New" panose="02070309020205020404" pitchFamily="49" charset="0"/>
              </a:rPr>
              <a:t> </a:t>
            </a:r>
            <a:r>
              <a:rPr lang="en-US" sz="1400" dirty="0" err="1">
                <a:latin typeface="Huawei Sans" panose="020C0503030203020204" pitchFamily="34" charset="0"/>
                <a:cs typeface="Courier New" panose="02070309020205020404" pitchFamily="49" charset="0"/>
              </a:rPr>
              <a:t>vpn</a:t>
            </a:r>
            <a:r>
              <a:rPr lang="en-US" sz="1400" dirty="0">
                <a:latin typeface="Huawei Sans" panose="020C0503030203020204" pitchFamily="34" charset="0"/>
                <a:cs typeface="Courier New" panose="02070309020205020404" pitchFamily="49" charset="0"/>
              </a:rPr>
              <a:t>-instance production</a:t>
            </a:r>
          </a:p>
          <a:p>
            <a:pPr fontAlgn="ctr">
              <a:lnSpc>
                <a:spcPts val="2400"/>
              </a:lnSpc>
            </a:pPr>
            <a:r>
              <a:rPr lang="en-US" sz="1400" dirty="0">
                <a:latin typeface="Huawei Sans" panose="020C0503030203020204" pitchFamily="34" charset="0"/>
                <a:cs typeface="Courier New" panose="02070309020205020404" pitchFamily="49" charset="0"/>
              </a:rPr>
              <a:t>[R1-vpn-instance-production]ipv4-family</a:t>
            </a:r>
          </a:p>
          <a:p>
            <a:pPr fontAlgn="ctr">
              <a:lnSpc>
                <a:spcPts val="2400"/>
              </a:lnSpc>
            </a:pPr>
            <a:r>
              <a:rPr lang="en-US" sz="1400" dirty="0">
                <a:latin typeface="Huawei Sans" panose="020C0503030203020204" pitchFamily="34" charset="0"/>
                <a:cs typeface="Courier New" panose="02070309020205020404" pitchFamily="49" charset="0"/>
              </a:rPr>
              <a:t>[R1-vpn-instance-production-af-ipv4]quit</a:t>
            </a:r>
          </a:p>
          <a:p>
            <a:pPr fontAlgn="ctr">
              <a:lnSpc>
                <a:spcPts val="2400"/>
              </a:lnSpc>
            </a:pPr>
            <a:r>
              <a:rPr lang="en-US" sz="1400" dirty="0">
                <a:latin typeface="Huawei Sans" panose="020C0503030203020204" pitchFamily="34" charset="0"/>
                <a:cs typeface="Courier New" panose="02070309020205020404" pitchFamily="49" charset="0"/>
              </a:rPr>
              <a:t>[R1-vpn-instance-production]quit</a:t>
            </a:r>
          </a:p>
          <a:p>
            <a:pPr fontAlgn="ctr">
              <a:lnSpc>
                <a:spcPts val="2400"/>
              </a:lnSpc>
            </a:pPr>
            <a:r>
              <a:rPr lang="en-US" sz="1400" dirty="0">
                <a:latin typeface="Huawei Sans" panose="020C0503030203020204" pitchFamily="34" charset="0"/>
                <a:cs typeface="Courier New" panose="02070309020205020404" pitchFamily="49" charset="0"/>
              </a:rPr>
              <a:t>[R1]</a:t>
            </a:r>
            <a:r>
              <a:rPr lang="en-US" sz="1400" dirty="0" err="1">
                <a:latin typeface="Huawei Sans" panose="020C0503030203020204" pitchFamily="34" charset="0"/>
                <a:cs typeface="Courier New" panose="02070309020205020404" pitchFamily="49" charset="0"/>
              </a:rPr>
              <a:t>ip</a:t>
            </a:r>
            <a:r>
              <a:rPr lang="en-US" sz="1400" dirty="0">
                <a:latin typeface="Huawei Sans" panose="020C0503030203020204" pitchFamily="34" charset="0"/>
                <a:cs typeface="Courier New" panose="02070309020205020404" pitchFamily="49" charset="0"/>
              </a:rPr>
              <a:t> </a:t>
            </a:r>
            <a:r>
              <a:rPr lang="en-US" sz="1400" dirty="0" err="1">
                <a:latin typeface="Huawei Sans" panose="020C0503030203020204" pitchFamily="34" charset="0"/>
                <a:cs typeface="Courier New" panose="02070309020205020404" pitchFamily="49" charset="0"/>
              </a:rPr>
              <a:t>vpn</a:t>
            </a:r>
            <a:r>
              <a:rPr lang="en-US" sz="1400" dirty="0">
                <a:latin typeface="Huawei Sans" panose="020C0503030203020204" pitchFamily="34" charset="0"/>
                <a:cs typeface="Courier New" panose="02070309020205020404" pitchFamily="49" charset="0"/>
              </a:rPr>
              <a:t>-instance management</a:t>
            </a:r>
          </a:p>
          <a:p>
            <a:pPr fontAlgn="ctr">
              <a:lnSpc>
                <a:spcPts val="2400"/>
              </a:lnSpc>
            </a:pPr>
            <a:r>
              <a:rPr lang="en-US" sz="1400" dirty="0">
                <a:latin typeface="Huawei Sans" panose="020C0503030203020204" pitchFamily="34" charset="0"/>
                <a:cs typeface="Courier New" panose="02070309020205020404" pitchFamily="49" charset="0"/>
              </a:rPr>
              <a:t>[R1-vpn-instance-management]ipv4-family</a:t>
            </a:r>
          </a:p>
          <a:p>
            <a:pPr fontAlgn="ctr">
              <a:lnSpc>
                <a:spcPts val="2400"/>
              </a:lnSpc>
            </a:pPr>
            <a:r>
              <a:rPr lang="en-US" sz="1400" dirty="0">
                <a:latin typeface="Huawei Sans" panose="020C0503030203020204" pitchFamily="34" charset="0"/>
                <a:cs typeface="Courier New" panose="02070309020205020404" pitchFamily="49" charset="0"/>
              </a:rPr>
              <a:t>[R1-vpn-instance-management-af-ipv4]quit</a:t>
            </a:r>
          </a:p>
          <a:p>
            <a:pPr fontAlgn="ctr">
              <a:lnSpc>
                <a:spcPts val="2400"/>
              </a:lnSpc>
            </a:pPr>
            <a:r>
              <a:rPr lang="en-US" sz="1400" dirty="0">
                <a:latin typeface="Huawei Sans" panose="020C0503030203020204" pitchFamily="34" charset="0"/>
                <a:cs typeface="Courier New" panose="02070309020205020404" pitchFamily="49" charset="0"/>
              </a:rPr>
              <a:t>[R1-vpn-instance-management]quit</a:t>
            </a:r>
          </a:p>
        </p:txBody>
      </p:sp>
      <p:sp>
        <p:nvSpPr>
          <p:cNvPr id="29" name="文本框 28"/>
          <p:cNvSpPr txBox="1"/>
          <p:nvPr/>
        </p:nvSpPr>
        <p:spPr bwMode="gray">
          <a:xfrm>
            <a:off x="5672045" y="2169844"/>
            <a:ext cx="5649913"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fontAlgn="ctr"/>
            <a:r>
              <a:rPr lang="en-US" sz="1600" dirty="0">
                <a:solidFill>
                  <a:srgbClr val="000000"/>
                </a:solidFill>
                <a:latin typeface="Huawei Sans" panose="020C0503030203020204" pitchFamily="34" charset="0"/>
              </a:rPr>
              <a:t>2. Create VPN instances for the production and management networks and configure the IPv4 address family for each VPN instance.</a:t>
            </a:r>
          </a:p>
        </p:txBody>
      </p:sp>
      <p:cxnSp>
        <p:nvCxnSpPr>
          <p:cNvPr id="40" name="直接连接符 39"/>
          <p:cNvCxnSpPr>
            <a:cxnSpLocks/>
          </p:cNvCxnSpPr>
          <p:nvPr/>
        </p:nvCxnSpPr>
        <p:spPr bwMode="gray">
          <a:xfrm flipH="1">
            <a:off x="1891622" y="4342974"/>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cxnSpLocks/>
          </p:cNvCxnSpPr>
          <p:nvPr/>
        </p:nvCxnSpPr>
        <p:spPr bwMode="gray">
          <a:xfrm>
            <a:off x="2844098" y="4337642"/>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
          <a:xfrm>
            <a:off x="2844098" y="3323728"/>
            <a:ext cx="0" cy="101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49" idx="0"/>
            <a:endCxn id="64" idx="0"/>
          </p:cNvCxnSpPr>
          <p:nvPr/>
        </p:nvCxnSpPr>
        <p:spPr bwMode="gray">
          <a:xfrm flipV="1">
            <a:off x="2856514" y="1752885"/>
            <a:ext cx="1227623" cy="13499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49" idx="0"/>
          </p:cNvCxnSpPr>
          <p:nvPr/>
        </p:nvCxnSpPr>
        <p:spPr bwMode="gray">
          <a:xfrm>
            <a:off x="1869327" y="2010252"/>
            <a:ext cx="987187" cy="10925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Picture 12" descr="E:\2016.01\1.12 扁平化图标\蓝色\AR-蓝色最新-40.png"/>
          <p:cNvPicPr>
            <a:picLocks noChangeAspect="1" noChangeArrowheads="1"/>
          </p:cNvPicPr>
          <p:nvPr/>
        </p:nvPicPr>
        <p:blipFill>
          <a:blip r:embed="rId3" cstate="print"/>
          <a:srcRect/>
          <a:stretch>
            <a:fillRect/>
          </a:stretch>
        </p:blipFill>
        <p:spPr bwMode="gray">
          <a:xfrm>
            <a:off x="2586514" y="3102819"/>
            <a:ext cx="540000" cy="441818"/>
          </a:xfrm>
          <a:prstGeom prst="rect">
            <a:avLst/>
          </a:prstGeom>
          <a:noFill/>
        </p:spPr>
      </p:pic>
      <p:sp>
        <p:nvSpPr>
          <p:cNvPr id="50" name="Freeform 159"/>
          <p:cNvSpPr>
            <a:spLocks/>
          </p:cNvSpPr>
          <p:nvPr/>
        </p:nvSpPr>
        <p:spPr bwMode="gray">
          <a:xfrm flipH="1">
            <a:off x="114021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59"/>
          <p:cNvSpPr>
            <a:spLocks/>
          </p:cNvSpPr>
          <p:nvPr/>
        </p:nvSpPr>
        <p:spPr bwMode="gray">
          <a:xfrm flipH="1">
            <a:off x="335502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1135307" y="1740849"/>
            <a:ext cx="1445909"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a:t>
            </a:r>
          </a:p>
          <a:p>
            <a:pPr algn="ctr" fontAlgn="ctr"/>
            <a:r>
              <a:rPr lang="en-US" sz="1200" dirty="0">
                <a:latin typeface="Huawei Sans" panose="020C0503030203020204" pitchFamily="34" charset="0"/>
              </a:rPr>
              <a:t>192.168.100.0/24</a:t>
            </a:r>
          </a:p>
        </p:txBody>
      </p:sp>
      <p:sp>
        <p:nvSpPr>
          <p:cNvPr id="64" name="文本框 63"/>
          <p:cNvSpPr txBox="1"/>
          <p:nvPr/>
        </p:nvSpPr>
        <p:spPr bwMode="gray">
          <a:xfrm>
            <a:off x="3288887" y="1752885"/>
            <a:ext cx="1590500" cy="523220"/>
          </a:xfrm>
          <a:prstGeom prst="rect">
            <a:avLst/>
          </a:prstGeom>
          <a:noFill/>
        </p:spPr>
        <p:txBody>
          <a:bodyPr wrap="square" rtlCol="0">
            <a:noAutofit/>
          </a:bodyPr>
          <a:lstStyle>
            <a:defPPr>
              <a:defRPr lang="en-US"/>
            </a:defPPr>
            <a:lvl1pPr algn="ctr">
              <a:defRPr sz="1400"/>
            </a:lvl1pPr>
          </a:lstStyle>
          <a:p>
            <a:pPr fontAlgn="ctr"/>
            <a:r>
              <a:rPr lang="en-US" sz="1200">
                <a:latin typeface="Huawei Sans" panose="020C0503030203020204" pitchFamily="34" charset="0"/>
              </a:rPr>
              <a:t>Management network</a:t>
            </a:r>
          </a:p>
          <a:p>
            <a:pPr fontAlgn="ctr"/>
            <a:r>
              <a:rPr lang="en-US" sz="1200">
                <a:latin typeface="Huawei Sans" panose="020C0503030203020204" pitchFamily="34" charset="0"/>
              </a:rPr>
              <a:t>192.168.200.0/24</a:t>
            </a:r>
          </a:p>
        </p:txBody>
      </p:sp>
      <p:pic>
        <p:nvPicPr>
          <p:cNvPr id="67" name="图片 43" descr="PC.png"/>
          <p:cNvPicPr>
            <a:picLocks noChangeAspect="1"/>
          </p:cNvPicPr>
          <p:nvPr/>
        </p:nvPicPr>
        <p:blipFill>
          <a:blip r:embed="rId4" cstate="print"/>
          <a:stretch>
            <a:fillRect/>
          </a:stretch>
        </p:blipFill>
        <p:spPr bwMode="gray">
          <a:xfrm>
            <a:off x="1653763" y="4933879"/>
            <a:ext cx="592969" cy="455400"/>
          </a:xfrm>
          <a:prstGeom prst="rect">
            <a:avLst/>
          </a:prstGeom>
        </p:spPr>
      </p:pic>
      <p:sp>
        <p:nvSpPr>
          <p:cNvPr id="68" name="TextBox 105"/>
          <p:cNvSpPr txBox="1"/>
          <p:nvPr/>
        </p:nvSpPr>
        <p:spPr bwMode="gray">
          <a:xfrm>
            <a:off x="827775" y="5403648"/>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PC1 </a:t>
            </a:r>
            <a:r>
              <a:rPr lang="en-US" sz="1400" dirty="0">
                <a:latin typeface="Huawei Sans" panose="020C0503030203020204" pitchFamily="34" charset="0"/>
              </a:rPr>
              <a:t>192.168.1.1</a:t>
            </a:r>
          </a:p>
          <a:p>
            <a:pPr algn="ctr" fontAlgn="ctr"/>
            <a:r>
              <a:rPr lang="en-US" sz="1400" dirty="0">
                <a:latin typeface="Huawei Sans" panose="020C0503030203020204" pitchFamily="34" charset="0"/>
              </a:rPr>
              <a:t>Gateway 192.168.1.254</a:t>
            </a:r>
          </a:p>
          <a:p>
            <a:pPr algn="ctr" fontAlgn="ctr"/>
            <a:r>
              <a:rPr lang="en-US" sz="1400" dirty="0">
                <a:latin typeface="Huawei Sans" panose="020C0503030203020204" pitchFamily="34" charset="0"/>
              </a:rPr>
              <a:t>VLAN 10</a:t>
            </a:r>
          </a:p>
        </p:txBody>
      </p:sp>
      <p:pic>
        <p:nvPicPr>
          <p:cNvPr id="69" name="图片 43" descr="PC.png"/>
          <p:cNvPicPr>
            <a:picLocks noChangeAspect="1"/>
          </p:cNvPicPr>
          <p:nvPr/>
        </p:nvPicPr>
        <p:blipFill>
          <a:blip r:embed="rId4" cstate="print"/>
          <a:stretch>
            <a:fillRect/>
          </a:stretch>
        </p:blipFill>
        <p:spPr bwMode="gray">
          <a:xfrm>
            <a:off x="3608452" y="4937476"/>
            <a:ext cx="592969" cy="455400"/>
          </a:xfrm>
          <a:prstGeom prst="rect">
            <a:avLst/>
          </a:prstGeom>
        </p:spPr>
      </p:pic>
      <p:sp>
        <p:nvSpPr>
          <p:cNvPr id="70" name="TextBox 105"/>
          <p:cNvSpPr txBox="1"/>
          <p:nvPr/>
        </p:nvSpPr>
        <p:spPr bwMode="gray">
          <a:xfrm>
            <a:off x="2969700" y="5403648"/>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PC2 </a:t>
            </a:r>
            <a:r>
              <a:rPr lang="en-US" sz="1400" dirty="0">
                <a:latin typeface="Huawei Sans" panose="020C0503030203020204" pitchFamily="34" charset="0"/>
              </a:rPr>
              <a:t>192.168.2.1</a:t>
            </a:r>
          </a:p>
          <a:p>
            <a:pPr algn="ctr" fontAlgn="ctr"/>
            <a:r>
              <a:rPr lang="en-US" sz="1400" dirty="0">
                <a:latin typeface="Huawei Sans" panose="020C0503030203020204" pitchFamily="34" charset="0"/>
              </a:rPr>
              <a:t>Gateway 192.168.2.254</a:t>
            </a:r>
          </a:p>
          <a:p>
            <a:pPr algn="ctr" fontAlgn="ctr"/>
            <a:r>
              <a:rPr lang="en-US" sz="1400" dirty="0">
                <a:latin typeface="Huawei Sans" panose="020C0503030203020204" pitchFamily="34" charset="0"/>
              </a:rPr>
              <a:t>VLAN 20</a:t>
            </a:r>
          </a:p>
        </p:txBody>
      </p:sp>
      <p:sp>
        <p:nvSpPr>
          <p:cNvPr id="71" name="文本框 70"/>
          <p:cNvSpPr txBox="1"/>
          <p:nvPr/>
        </p:nvSpPr>
        <p:spPr bwMode="gray">
          <a:xfrm>
            <a:off x="2804830" y="3855172"/>
            <a:ext cx="851515" cy="307777"/>
          </a:xfrm>
          <a:prstGeom prst="rect">
            <a:avLst/>
          </a:prstGeom>
          <a:noFill/>
        </p:spPr>
        <p:txBody>
          <a:bodyPr wrap="square" rtlCol="0">
            <a:noAutofit/>
          </a:bodyPr>
          <a:lstStyle/>
          <a:p>
            <a:pPr fontAlgn="ctr"/>
            <a:r>
              <a:rPr lang="en-US" sz="1400">
                <a:latin typeface="Huawei Sans" panose="020C0503030203020204" pitchFamily="34" charset="0"/>
              </a:rPr>
              <a:t>GE0/0/0</a:t>
            </a:r>
          </a:p>
        </p:txBody>
      </p:sp>
      <p:sp>
        <p:nvSpPr>
          <p:cNvPr id="72" name="文本框 71"/>
          <p:cNvSpPr txBox="1"/>
          <p:nvPr/>
        </p:nvSpPr>
        <p:spPr bwMode="gray">
          <a:xfrm>
            <a:off x="2073042" y="3501423"/>
            <a:ext cx="851515" cy="307777"/>
          </a:xfrm>
          <a:prstGeom prst="rect">
            <a:avLst/>
          </a:prstGeom>
          <a:noFill/>
        </p:spPr>
        <p:txBody>
          <a:bodyPr wrap="square" rtlCol="0">
            <a:noAutofit/>
          </a:bodyPr>
          <a:lstStyle/>
          <a:p>
            <a:pPr fontAlgn="ctr"/>
            <a:r>
              <a:rPr lang="en-US" sz="1400" dirty="0">
                <a:latin typeface="Huawei Sans" panose="020C0503030203020204" pitchFamily="34" charset="0"/>
              </a:rPr>
              <a:t>GE0/0/0</a:t>
            </a:r>
          </a:p>
        </p:txBody>
      </p:sp>
      <p:sp>
        <p:nvSpPr>
          <p:cNvPr id="73" name="文本框 72"/>
          <p:cNvSpPr txBox="1"/>
          <p:nvPr/>
        </p:nvSpPr>
        <p:spPr bwMode="gray">
          <a:xfrm>
            <a:off x="655492" y="2669118"/>
            <a:ext cx="1942945" cy="523220"/>
          </a:xfrm>
          <a:prstGeom prst="rect">
            <a:avLst/>
          </a:prstGeom>
          <a:noFill/>
        </p:spPr>
        <p:txBody>
          <a:bodyPr wrap="square" rtlCol="0">
            <a:noAutofit/>
          </a:bodyPr>
          <a:lstStyle/>
          <a:p>
            <a:pPr algn="r" fontAlgn="ctr"/>
            <a:r>
              <a:rPr lang="en-US" sz="1400">
                <a:latin typeface="Huawei Sans" panose="020C0503030203020204" pitchFamily="34" charset="0"/>
              </a:rPr>
              <a:t>GE0/0/1</a:t>
            </a:r>
          </a:p>
          <a:p>
            <a:pPr algn="r" fontAlgn="ctr"/>
            <a:r>
              <a:rPr lang="en-US" sz="1400">
                <a:latin typeface="Huawei Sans" panose="020C0503030203020204" pitchFamily="34" charset="0"/>
              </a:rPr>
              <a:t>IP: 192.168.101.1/24</a:t>
            </a:r>
          </a:p>
        </p:txBody>
      </p:sp>
      <p:sp>
        <p:nvSpPr>
          <p:cNvPr id="74" name="文本框 73"/>
          <p:cNvSpPr txBox="1"/>
          <p:nvPr/>
        </p:nvSpPr>
        <p:spPr bwMode="gray">
          <a:xfrm>
            <a:off x="3230587" y="2650337"/>
            <a:ext cx="1942945" cy="523220"/>
          </a:xfrm>
          <a:prstGeom prst="rect">
            <a:avLst/>
          </a:prstGeom>
          <a:noFill/>
        </p:spPr>
        <p:txBody>
          <a:bodyPr wrap="square" rtlCol="0">
            <a:noAutofit/>
          </a:bodyPr>
          <a:lstStyle/>
          <a:p>
            <a:pPr fontAlgn="ctr"/>
            <a:r>
              <a:rPr lang="en-US" sz="1400">
                <a:latin typeface="Huawei Sans" panose="020C0503030203020204" pitchFamily="34" charset="0"/>
              </a:rPr>
              <a:t>GE0/0/2</a:t>
            </a:r>
          </a:p>
          <a:p>
            <a:pPr fontAlgn="ctr"/>
            <a:r>
              <a:rPr lang="en-US" sz="1400">
                <a:latin typeface="Huawei Sans" panose="020C0503030203020204" pitchFamily="34" charset="0"/>
              </a:rPr>
              <a:t>IP: 192.168.102.1/24</a:t>
            </a:r>
          </a:p>
        </p:txBody>
      </p:sp>
      <p:sp>
        <p:nvSpPr>
          <p:cNvPr id="75" name="文本框 74"/>
          <p:cNvSpPr txBox="1"/>
          <p:nvPr/>
        </p:nvSpPr>
        <p:spPr bwMode="gray">
          <a:xfrm>
            <a:off x="3064249" y="3154451"/>
            <a:ext cx="436338" cy="338554"/>
          </a:xfrm>
          <a:prstGeom prst="rect">
            <a:avLst/>
          </a:prstGeom>
          <a:noFill/>
        </p:spPr>
        <p:txBody>
          <a:bodyPr wrap="square" rtlCol="0">
            <a:noAutofit/>
          </a:bodyPr>
          <a:lstStyle/>
          <a:p>
            <a:pPr fontAlgn="ctr"/>
            <a:r>
              <a:rPr lang="en-US" sz="1600" b="1">
                <a:latin typeface="Huawei Sans" panose="020C0503030203020204" pitchFamily="34" charset="0"/>
              </a:rPr>
              <a:t>R1</a:t>
            </a:r>
          </a:p>
        </p:txBody>
      </p:sp>
      <p:sp>
        <p:nvSpPr>
          <p:cNvPr id="76" name="文本框 75"/>
          <p:cNvSpPr txBox="1"/>
          <p:nvPr/>
        </p:nvSpPr>
        <p:spPr bwMode="gray">
          <a:xfrm>
            <a:off x="3073867" y="4199928"/>
            <a:ext cx="417102" cy="338554"/>
          </a:xfrm>
          <a:prstGeom prst="rect">
            <a:avLst/>
          </a:prstGeom>
          <a:noFill/>
        </p:spPr>
        <p:txBody>
          <a:bodyPr wrap="square" rtlCol="0">
            <a:noAutofit/>
          </a:bodyPr>
          <a:lstStyle/>
          <a:p>
            <a:pPr fontAlgn="ctr"/>
            <a:r>
              <a:rPr lang="en-US" sz="1600" b="1">
                <a:latin typeface="Huawei Sans" panose="020C0503030203020204" pitchFamily="34" charset="0"/>
              </a:rPr>
              <a:t>S1</a:t>
            </a:r>
          </a:p>
        </p:txBody>
      </p:sp>
      <p:pic>
        <p:nvPicPr>
          <p:cNvPr id="31" name="图片 30" descr="通用交换机.png"/>
          <p:cNvPicPr>
            <a:picLocks noChangeAspect="1"/>
          </p:cNvPicPr>
          <p:nvPr/>
        </p:nvPicPr>
        <p:blipFill>
          <a:blip r:embed="rId5" cstate="print"/>
          <a:stretch>
            <a:fillRect/>
          </a:stretch>
        </p:blipFill>
        <p:spPr bwMode="gray">
          <a:xfrm>
            <a:off x="2591685" y="4166235"/>
            <a:ext cx="540000" cy="441818"/>
          </a:xfrm>
          <a:prstGeom prst="rect">
            <a:avLst/>
          </a:prstGeom>
        </p:spPr>
      </p:pic>
    </p:spTree>
    <p:extLst>
      <p:ext uri="{BB962C8B-B14F-4D97-AF65-F5344CB8AC3E}">
        <p14:creationId xmlns:p14="http://schemas.microsoft.com/office/powerpoint/2010/main" val="11241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Configuration Example </a:t>
            </a:r>
            <a:r>
              <a:rPr lang="en-US" sz="3600" dirty="0">
                <a:latin typeface="Huawei Sans" panose="020C0503030203020204" pitchFamily="34" charset="0"/>
              </a:rPr>
              <a:t>—</a:t>
            </a:r>
            <a:r>
              <a:rPr lang="en-US" dirty="0">
                <a:latin typeface="Huawei Sans" panose="020C0503030203020204" pitchFamily="34" charset="0"/>
              </a:rPr>
              <a:t> Procedure (2)</a:t>
            </a:r>
          </a:p>
        </p:txBody>
      </p:sp>
      <p:sp>
        <p:nvSpPr>
          <p:cNvPr id="27" name="文本框 26"/>
          <p:cNvSpPr txBox="1"/>
          <p:nvPr/>
        </p:nvSpPr>
        <p:spPr bwMode="gray">
          <a:xfrm>
            <a:off x="5672045" y="1355669"/>
            <a:ext cx="5649912"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fontAlgn="ctr">
              <a:lnSpc>
                <a:spcPct val="125000"/>
              </a:lnSpc>
            </a:pPr>
            <a:r>
              <a:rPr lang="en-US" sz="1600">
                <a:solidFill>
                  <a:srgbClr val="000000"/>
                </a:solidFill>
                <a:latin typeface="Huawei Sans" panose="020C0503030203020204" pitchFamily="34" charset="0"/>
              </a:rPr>
              <a:t>3. Bind involved interfaces to the VPN instances.</a:t>
            </a:r>
          </a:p>
        </p:txBody>
      </p:sp>
      <p:sp>
        <p:nvSpPr>
          <p:cNvPr id="28" name="Rectangle 3"/>
          <p:cNvSpPr/>
          <p:nvPr/>
        </p:nvSpPr>
        <p:spPr bwMode="gray">
          <a:xfrm>
            <a:off x="5772149" y="1830311"/>
            <a:ext cx="5973763" cy="3770389"/>
          </a:xfrm>
          <a:prstGeom prst="rect">
            <a:avLst/>
          </a:prstGeom>
          <a:solidFill>
            <a:srgbClr val="F4FBFE"/>
          </a:solidFill>
          <a:ln>
            <a:solidFill>
              <a:srgbClr val="99DFF9"/>
            </a:solidFill>
          </a:ln>
        </p:spPr>
        <p:txBody>
          <a:bodyPr wrap="square" anchor="ctr" anchorCtr="0">
            <a:noAutofit/>
          </a:bodyPr>
          <a:lstStyle/>
          <a:p>
            <a:pPr fontAlgn="ctr">
              <a:lnSpc>
                <a:spcPts val="2400"/>
              </a:lnSpc>
            </a:pPr>
            <a:r>
              <a:rPr lang="en-US" sz="1400" dirty="0">
                <a:latin typeface="Huawei Sans" panose="020C0503030203020204" pitchFamily="34" charset="0"/>
                <a:cs typeface="Courier New" panose="02070309020205020404" pitchFamily="49" charset="0"/>
              </a:rPr>
              <a:t>[Huawei]interface </a:t>
            </a:r>
            <a:r>
              <a:rPr lang="en-US" sz="1400" dirty="0" err="1">
                <a:latin typeface="Huawei Sans" panose="020C0503030203020204" pitchFamily="34" charset="0"/>
                <a:cs typeface="Courier New" panose="02070309020205020404" pitchFamily="49" charset="0"/>
              </a:rPr>
              <a:t>GigabitEthernet</a:t>
            </a:r>
            <a:r>
              <a:rPr lang="en-US" sz="1400" dirty="0">
                <a:latin typeface="Huawei Sans" panose="020C0503030203020204" pitchFamily="34" charset="0"/>
                <a:cs typeface="Courier New" panose="02070309020205020404" pitchFamily="49" charset="0"/>
              </a:rPr>
              <a:t> 0/0/0.1</a:t>
            </a:r>
          </a:p>
          <a:p>
            <a:pPr fontAlgn="ctr">
              <a:lnSpc>
                <a:spcPts val="2400"/>
              </a:lnSpc>
            </a:pPr>
            <a:r>
              <a:rPr lang="en-US" sz="1400" dirty="0">
                <a:latin typeface="Huawei Sans" panose="020C0503030203020204" pitchFamily="34" charset="0"/>
                <a:cs typeface="Courier New" panose="02070309020205020404" pitchFamily="49" charset="0"/>
              </a:rPr>
              <a:t>[Huawei-GigabitEthernet0/0/0.1]</a:t>
            </a:r>
            <a:r>
              <a:rPr lang="en-US" sz="1400" dirty="0" err="1">
                <a:latin typeface="Huawei Sans" panose="020C0503030203020204" pitchFamily="34" charset="0"/>
                <a:cs typeface="Courier New" panose="02070309020205020404" pitchFamily="49" charset="0"/>
              </a:rPr>
              <a:t>ip</a:t>
            </a:r>
            <a:r>
              <a:rPr lang="en-US" sz="1400" dirty="0">
                <a:latin typeface="Huawei Sans" panose="020C0503030203020204" pitchFamily="34" charset="0"/>
                <a:cs typeface="Courier New" panose="02070309020205020404" pitchFamily="49" charset="0"/>
              </a:rPr>
              <a:t> binding </a:t>
            </a:r>
            <a:r>
              <a:rPr lang="en-US" sz="1400" dirty="0" err="1">
                <a:latin typeface="Huawei Sans" panose="020C0503030203020204" pitchFamily="34" charset="0"/>
                <a:cs typeface="Courier New" panose="02070309020205020404" pitchFamily="49" charset="0"/>
              </a:rPr>
              <a:t>vpn</a:t>
            </a:r>
            <a:r>
              <a:rPr lang="en-US" sz="1400" dirty="0">
                <a:latin typeface="Huawei Sans" panose="020C0503030203020204" pitchFamily="34" charset="0"/>
                <a:cs typeface="Courier New" panose="02070309020205020404" pitchFamily="49" charset="0"/>
              </a:rPr>
              <a:t>-instance production</a:t>
            </a:r>
          </a:p>
          <a:p>
            <a:pPr fontAlgn="ctr">
              <a:lnSpc>
                <a:spcPts val="2400"/>
              </a:lnSpc>
            </a:pPr>
            <a:r>
              <a:rPr lang="en-US" sz="1400" dirty="0">
                <a:latin typeface="Huawei Sans" panose="020C0503030203020204" pitchFamily="34" charset="0"/>
                <a:cs typeface="Courier New" panose="02070309020205020404" pitchFamily="49" charset="0"/>
              </a:rPr>
              <a:t>Info: All IPv4 related configurations on this interface are removed!</a:t>
            </a:r>
          </a:p>
          <a:p>
            <a:pPr fontAlgn="ctr">
              <a:lnSpc>
                <a:spcPts val="2400"/>
              </a:lnSpc>
            </a:pPr>
            <a:r>
              <a:rPr lang="en-US" sz="1400" dirty="0">
                <a:solidFill>
                  <a:srgbClr val="EC7061"/>
                </a:solidFill>
                <a:latin typeface="Huawei Sans" panose="020C0503030203020204" pitchFamily="34" charset="0"/>
                <a:cs typeface="Courier New" panose="02070309020205020404" pitchFamily="49" charset="0"/>
              </a:rPr>
              <a:t>//After an interface is bound to an instance, the IP address of the interface is deleted and has to be reconfigured.</a:t>
            </a:r>
          </a:p>
          <a:p>
            <a:pPr fontAlgn="ctr">
              <a:lnSpc>
                <a:spcPts val="2400"/>
              </a:lnSpc>
            </a:pPr>
            <a:r>
              <a:rPr lang="en-US" sz="1400" dirty="0">
                <a:latin typeface="Huawei Sans" panose="020C0503030203020204" pitchFamily="34" charset="0"/>
                <a:cs typeface="Courier New" panose="02070309020205020404" pitchFamily="49" charset="0"/>
              </a:rPr>
              <a:t>[Huawei-GigabitEthernet0/0/0.1]</a:t>
            </a:r>
            <a:r>
              <a:rPr lang="en-US" sz="1400" dirty="0" err="1">
                <a:latin typeface="Huawei Sans" panose="020C0503030203020204" pitchFamily="34" charset="0"/>
                <a:cs typeface="Courier New" panose="02070309020205020404" pitchFamily="49" charset="0"/>
              </a:rPr>
              <a:t>ip</a:t>
            </a:r>
            <a:r>
              <a:rPr lang="en-US" sz="1400" dirty="0">
                <a:latin typeface="Huawei Sans" panose="020C0503030203020204" pitchFamily="34" charset="0"/>
                <a:cs typeface="Courier New" panose="02070309020205020404" pitchFamily="49" charset="0"/>
              </a:rPr>
              <a:t> address 192.168.1.254 24</a:t>
            </a:r>
          </a:p>
          <a:p>
            <a:pPr fontAlgn="ctr">
              <a:lnSpc>
                <a:spcPts val="2400"/>
              </a:lnSpc>
            </a:pPr>
            <a:r>
              <a:rPr lang="en-US" sz="1400" dirty="0">
                <a:latin typeface="Huawei Sans" panose="020C0503030203020204" pitchFamily="34" charset="0"/>
                <a:cs typeface="Courier New" panose="02070309020205020404" pitchFamily="49" charset="0"/>
              </a:rPr>
              <a:t>[Huawei-GigabitEthernet0/0/0.1]quit</a:t>
            </a:r>
          </a:p>
          <a:p>
            <a:pPr fontAlgn="ctr">
              <a:lnSpc>
                <a:spcPts val="2400"/>
              </a:lnSpc>
            </a:pPr>
            <a:r>
              <a:rPr lang="en-US" sz="1400" dirty="0">
                <a:latin typeface="Huawei Sans" panose="020C0503030203020204" pitchFamily="34" charset="0"/>
                <a:cs typeface="Courier New" panose="02070309020205020404" pitchFamily="49" charset="0"/>
              </a:rPr>
              <a:t>[Huawei]interface </a:t>
            </a:r>
            <a:r>
              <a:rPr lang="en-US" sz="1400" dirty="0" err="1">
                <a:latin typeface="Huawei Sans" panose="020C0503030203020204" pitchFamily="34" charset="0"/>
                <a:cs typeface="Courier New" panose="02070309020205020404" pitchFamily="49" charset="0"/>
              </a:rPr>
              <a:t>GigabitEthernet</a:t>
            </a:r>
            <a:r>
              <a:rPr lang="en-US" sz="1400" dirty="0">
                <a:latin typeface="Huawei Sans" panose="020C0503030203020204" pitchFamily="34" charset="0"/>
                <a:cs typeface="Courier New" panose="02070309020205020404" pitchFamily="49" charset="0"/>
              </a:rPr>
              <a:t> 0/0/0.2</a:t>
            </a:r>
          </a:p>
          <a:p>
            <a:pPr fontAlgn="ctr">
              <a:lnSpc>
                <a:spcPts val="2400"/>
              </a:lnSpc>
            </a:pPr>
            <a:r>
              <a:rPr lang="en-US" sz="1400" dirty="0">
                <a:latin typeface="Huawei Sans" panose="020C0503030203020204" pitchFamily="34" charset="0"/>
                <a:cs typeface="Courier New" panose="02070309020205020404" pitchFamily="49" charset="0"/>
              </a:rPr>
              <a:t>[Huawei-GigabitEthernet0/0/0.2]</a:t>
            </a:r>
            <a:r>
              <a:rPr lang="en-US" sz="1400" dirty="0" err="1">
                <a:latin typeface="Huawei Sans" panose="020C0503030203020204" pitchFamily="34" charset="0"/>
                <a:cs typeface="Courier New" panose="02070309020205020404" pitchFamily="49" charset="0"/>
              </a:rPr>
              <a:t>ip</a:t>
            </a:r>
            <a:r>
              <a:rPr lang="en-US" sz="1400" dirty="0">
                <a:latin typeface="Huawei Sans" panose="020C0503030203020204" pitchFamily="34" charset="0"/>
                <a:cs typeface="Courier New" panose="02070309020205020404" pitchFamily="49" charset="0"/>
              </a:rPr>
              <a:t> binding </a:t>
            </a:r>
            <a:r>
              <a:rPr lang="en-US" sz="1400" dirty="0" err="1">
                <a:latin typeface="Huawei Sans" panose="020C0503030203020204" pitchFamily="34" charset="0"/>
                <a:cs typeface="Courier New" panose="02070309020205020404" pitchFamily="49" charset="0"/>
              </a:rPr>
              <a:t>vpn</a:t>
            </a:r>
            <a:r>
              <a:rPr lang="en-US" sz="1400" dirty="0">
                <a:latin typeface="Huawei Sans" panose="020C0503030203020204" pitchFamily="34" charset="0"/>
                <a:cs typeface="Courier New" panose="02070309020205020404" pitchFamily="49" charset="0"/>
              </a:rPr>
              <a:t>-instance management</a:t>
            </a:r>
          </a:p>
          <a:p>
            <a:pPr fontAlgn="ctr">
              <a:lnSpc>
                <a:spcPts val="2400"/>
              </a:lnSpc>
            </a:pPr>
            <a:r>
              <a:rPr lang="en-US" sz="1400" dirty="0">
                <a:latin typeface="Huawei Sans" panose="020C0503030203020204" pitchFamily="34" charset="0"/>
                <a:cs typeface="Courier New" panose="02070309020205020404" pitchFamily="49" charset="0"/>
              </a:rPr>
              <a:t>Info: All IPv4 related configurations on this interface are removed!</a:t>
            </a:r>
          </a:p>
          <a:p>
            <a:pPr fontAlgn="ctr">
              <a:lnSpc>
                <a:spcPts val="2400"/>
              </a:lnSpc>
            </a:pPr>
            <a:r>
              <a:rPr lang="en-US" sz="1400" dirty="0">
                <a:latin typeface="Huawei Sans" panose="020C0503030203020204" pitchFamily="34" charset="0"/>
                <a:cs typeface="Courier New" panose="02070309020205020404" pitchFamily="49" charset="0"/>
              </a:rPr>
              <a:t>[Huawei-GigabitEthernet0/0/0.2]</a:t>
            </a:r>
            <a:r>
              <a:rPr lang="en-US" sz="1400" dirty="0" err="1">
                <a:latin typeface="Huawei Sans" panose="020C0503030203020204" pitchFamily="34" charset="0"/>
                <a:cs typeface="Courier New" panose="02070309020205020404" pitchFamily="49" charset="0"/>
              </a:rPr>
              <a:t>ip</a:t>
            </a:r>
            <a:r>
              <a:rPr lang="en-US" sz="1400" dirty="0">
                <a:latin typeface="Huawei Sans" panose="020C0503030203020204" pitchFamily="34" charset="0"/>
                <a:cs typeface="Courier New" panose="02070309020205020404" pitchFamily="49" charset="0"/>
              </a:rPr>
              <a:t> address 192.168.2.254 24</a:t>
            </a:r>
          </a:p>
          <a:p>
            <a:pPr fontAlgn="ctr">
              <a:lnSpc>
                <a:spcPts val="2400"/>
              </a:lnSpc>
            </a:pPr>
            <a:r>
              <a:rPr lang="en-US" sz="1400" dirty="0">
                <a:latin typeface="Huawei Sans" panose="020C0503030203020204" pitchFamily="34" charset="0"/>
                <a:cs typeface="Courier New" panose="02070309020205020404" pitchFamily="49" charset="0"/>
              </a:rPr>
              <a:t>[Huawei-GigabitEthernet0/0/0.2]quit</a:t>
            </a:r>
          </a:p>
        </p:txBody>
      </p:sp>
      <p:cxnSp>
        <p:nvCxnSpPr>
          <p:cNvPr id="40" name="直接连接符 39"/>
          <p:cNvCxnSpPr>
            <a:cxnSpLocks/>
          </p:cNvCxnSpPr>
          <p:nvPr/>
        </p:nvCxnSpPr>
        <p:spPr bwMode="gray">
          <a:xfrm flipH="1">
            <a:off x="1891622" y="4342974"/>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cxnSpLocks/>
          </p:cNvCxnSpPr>
          <p:nvPr/>
        </p:nvCxnSpPr>
        <p:spPr bwMode="gray">
          <a:xfrm>
            <a:off x="2844098" y="4337642"/>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
          <a:xfrm>
            <a:off x="2844098" y="3323728"/>
            <a:ext cx="0" cy="101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49" idx="0"/>
            <a:endCxn id="64" idx="0"/>
          </p:cNvCxnSpPr>
          <p:nvPr/>
        </p:nvCxnSpPr>
        <p:spPr bwMode="gray">
          <a:xfrm flipV="1">
            <a:off x="2856514" y="1743360"/>
            <a:ext cx="1227623" cy="13594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49" idx="0"/>
          </p:cNvCxnSpPr>
          <p:nvPr/>
        </p:nvCxnSpPr>
        <p:spPr bwMode="gray">
          <a:xfrm>
            <a:off x="1869327" y="2010252"/>
            <a:ext cx="987187" cy="10925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Picture 12" descr="E:\2016.01\1.12 扁平化图标\蓝色\AR-蓝色最新-40.png"/>
          <p:cNvPicPr>
            <a:picLocks noChangeAspect="1" noChangeArrowheads="1"/>
          </p:cNvPicPr>
          <p:nvPr/>
        </p:nvPicPr>
        <p:blipFill>
          <a:blip r:embed="rId3" cstate="print"/>
          <a:srcRect/>
          <a:stretch>
            <a:fillRect/>
          </a:stretch>
        </p:blipFill>
        <p:spPr bwMode="gray">
          <a:xfrm>
            <a:off x="2586514" y="3102819"/>
            <a:ext cx="540000" cy="441818"/>
          </a:xfrm>
          <a:prstGeom prst="rect">
            <a:avLst/>
          </a:prstGeom>
          <a:noFill/>
        </p:spPr>
      </p:pic>
      <p:sp>
        <p:nvSpPr>
          <p:cNvPr id="50" name="Freeform 159"/>
          <p:cNvSpPr>
            <a:spLocks/>
          </p:cNvSpPr>
          <p:nvPr/>
        </p:nvSpPr>
        <p:spPr bwMode="gray">
          <a:xfrm flipH="1">
            <a:off x="114021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59"/>
          <p:cNvSpPr>
            <a:spLocks/>
          </p:cNvSpPr>
          <p:nvPr/>
        </p:nvSpPr>
        <p:spPr bwMode="gray">
          <a:xfrm flipH="1">
            <a:off x="335502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1144832" y="1740849"/>
            <a:ext cx="1445909"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a:t>
            </a:r>
          </a:p>
          <a:p>
            <a:pPr algn="ctr" fontAlgn="ctr"/>
            <a:r>
              <a:rPr lang="en-US" sz="1200" dirty="0">
                <a:latin typeface="Huawei Sans" panose="020C0503030203020204" pitchFamily="34" charset="0"/>
              </a:rPr>
              <a:t>192.168.100.0/24</a:t>
            </a:r>
          </a:p>
        </p:txBody>
      </p:sp>
      <p:sp>
        <p:nvSpPr>
          <p:cNvPr id="64" name="文本框 63"/>
          <p:cNvSpPr txBox="1"/>
          <p:nvPr/>
        </p:nvSpPr>
        <p:spPr bwMode="gray">
          <a:xfrm>
            <a:off x="3288887" y="1743360"/>
            <a:ext cx="1590500" cy="523220"/>
          </a:xfrm>
          <a:prstGeom prst="rect">
            <a:avLst/>
          </a:prstGeom>
          <a:noFill/>
        </p:spPr>
        <p:txBody>
          <a:bodyPr wrap="square" rtlCol="0">
            <a:noAutofit/>
          </a:bodyPr>
          <a:lstStyle>
            <a:defPPr>
              <a:defRPr lang="en-US"/>
            </a:defPPr>
            <a:lvl1pPr algn="ctr">
              <a:defRPr sz="1400"/>
            </a:lvl1pPr>
          </a:lstStyle>
          <a:p>
            <a:pPr fontAlgn="ctr"/>
            <a:r>
              <a:rPr lang="en-US" sz="1200" dirty="0">
                <a:latin typeface="Huawei Sans" panose="020C0503030203020204" pitchFamily="34" charset="0"/>
              </a:rPr>
              <a:t>Management network</a:t>
            </a:r>
          </a:p>
          <a:p>
            <a:pPr fontAlgn="ctr"/>
            <a:r>
              <a:rPr lang="en-US" sz="1200" dirty="0">
                <a:latin typeface="Huawei Sans" panose="020C0503030203020204" pitchFamily="34" charset="0"/>
              </a:rPr>
              <a:t>192.168.200.0/24</a:t>
            </a:r>
          </a:p>
        </p:txBody>
      </p:sp>
      <p:pic>
        <p:nvPicPr>
          <p:cNvPr id="67" name="图片 43" descr="PC.png"/>
          <p:cNvPicPr>
            <a:picLocks noChangeAspect="1"/>
          </p:cNvPicPr>
          <p:nvPr/>
        </p:nvPicPr>
        <p:blipFill>
          <a:blip r:embed="rId4" cstate="print"/>
          <a:stretch>
            <a:fillRect/>
          </a:stretch>
        </p:blipFill>
        <p:spPr bwMode="gray">
          <a:xfrm>
            <a:off x="1653763" y="4933879"/>
            <a:ext cx="592969" cy="455400"/>
          </a:xfrm>
          <a:prstGeom prst="rect">
            <a:avLst/>
          </a:prstGeom>
        </p:spPr>
      </p:pic>
      <p:sp>
        <p:nvSpPr>
          <p:cNvPr id="68" name="TextBox 105"/>
          <p:cNvSpPr txBox="1"/>
          <p:nvPr/>
        </p:nvSpPr>
        <p:spPr bwMode="gray">
          <a:xfrm>
            <a:off x="818250" y="5403648"/>
            <a:ext cx="2099071" cy="738664"/>
          </a:xfrm>
          <a:prstGeom prst="rect">
            <a:avLst/>
          </a:prstGeom>
          <a:noFill/>
        </p:spPr>
        <p:txBody>
          <a:bodyPr wrap="square" rtlCol="0">
            <a:noAutofit/>
          </a:bodyPr>
          <a:lstStyle/>
          <a:p>
            <a:pPr algn="ctr" fontAlgn="ctr"/>
            <a:r>
              <a:rPr lang="en-US" sz="1400" b="1">
                <a:latin typeface="Huawei Sans" panose="020C0503030203020204" pitchFamily="34" charset="0"/>
              </a:rPr>
              <a:t>PC1 </a:t>
            </a:r>
            <a:r>
              <a:rPr lang="en-US" sz="1400">
                <a:latin typeface="Huawei Sans" panose="020C0503030203020204" pitchFamily="34" charset="0"/>
              </a:rPr>
              <a:t>192.168.1.1</a:t>
            </a:r>
          </a:p>
          <a:p>
            <a:pPr algn="ctr" fontAlgn="ctr"/>
            <a:r>
              <a:rPr lang="en-US" sz="1400">
                <a:latin typeface="Huawei Sans" panose="020C0503030203020204" pitchFamily="34" charset="0"/>
              </a:rPr>
              <a:t>Gateway 192.168.1.254</a:t>
            </a:r>
          </a:p>
          <a:p>
            <a:pPr algn="ctr" fontAlgn="ctr"/>
            <a:r>
              <a:rPr lang="en-US" sz="1400">
                <a:latin typeface="Huawei Sans" panose="020C0503030203020204" pitchFamily="34" charset="0"/>
              </a:rPr>
              <a:t>VLAN 10</a:t>
            </a:r>
          </a:p>
        </p:txBody>
      </p:sp>
      <p:pic>
        <p:nvPicPr>
          <p:cNvPr id="69" name="图片 43" descr="PC.png"/>
          <p:cNvPicPr>
            <a:picLocks noChangeAspect="1"/>
          </p:cNvPicPr>
          <p:nvPr/>
        </p:nvPicPr>
        <p:blipFill>
          <a:blip r:embed="rId4" cstate="print"/>
          <a:stretch>
            <a:fillRect/>
          </a:stretch>
        </p:blipFill>
        <p:spPr bwMode="gray">
          <a:xfrm>
            <a:off x="3608452" y="4937476"/>
            <a:ext cx="592969" cy="455400"/>
          </a:xfrm>
          <a:prstGeom prst="rect">
            <a:avLst/>
          </a:prstGeom>
        </p:spPr>
      </p:pic>
      <p:sp>
        <p:nvSpPr>
          <p:cNvPr id="70" name="TextBox 105"/>
          <p:cNvSpPr txBox="1"/>
          <p:nvPr/>
        </p:nvSpPr>
        <p:spPr bwMode="gray">
          <a:xfrm>
            <a:off x="2960175" y="5403648"/>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PC2 </a:t>
            </a:r>
            <a:r>
              <a:rPr lang="en-US" sz="1400" dirty="0">
                <a:latin typeface="Huawei Sans" panose="020C0503030203020204" pitchFamily="34" charset="0"/>
              </a:rPr>
              <a:t>192.168.2.1</a:t>
            </a:r>
          </a:p>
          <a:p>
            <a:pPr algn="ctr" fontAlgn="ctr"/>
            <a:r>
              <a:rPr lang="en-US" sz="1400" dirty="0">
                <a:latin typeface="Huawei Sans" panose="020C0503030203020204" pitchFamily="34" charset="0"/>
              </a:rPr>
              <a:t>Gateway 192.168.2.254</a:t>
            </a:r>
          </a:p>
          <a:p>
            <a:pPr algn="ctr" fontAlgn="ctr"/>
            <a:r>
              <a:rPr lang="en-US" sz="1400" dirty="0">
                <a:latin typeface="Huawei Sans" panose="020C0503030203020204" pitchFamily="34" charset="0"/>
              </a:rPr>
              <a:t>VLAN 20</a:t>
            </a:r>
          </a:p>
        </p:txBody>
      </p:sp>
      <p:sp>
        <p:nvSpPr>
          <p:cNvPr id="71" name="文本框 70"/>
          <p:cNvSpPr txBox="1"/>
          <p:nvPr/>
        </p:nvSpPr>
        <p:spPr bwMode="gray">
          <a:xfrm>
            <a:off x="2804830" y="3855172"/>
            <a:ext cx="851515" cy="307777"/>
          </a:xfrm>
          <a:prstGeom prst="rect">
            <a:avLst/>
          </a:prstGeom>
          <a:noFill/>
        </p:spPr>
        <p:txBody>
          <a:bodyPr wrap="square" rtlCol="0">
            <a:noAutofit/>
          </a:bodyPr>
          <a:lstStyle/>
          <a:p>
            <a:pPr fontAlgn="ctr"/>
            <a:r>
              <a:rPr lang="en-US" sz="1400">
                <a:latin typeface="Huawei Sans" panose="020C0503030203020204" pitchFamily="34" charset="0"/>
              </a:rPr>
              <a:t>GE0/0/0</a:t>
            </a:r>
          </a:p>
        </p:txBody>
      </p:sp>
      <p:sp>
        <p:nvSpPr>
          <p:cNvPr id="72" name="文本框 71"/>
          <p:cNvSpPr txBox="1"/>
          <p:nvPr/>
        </p:nvSpPr>
        <p:spPr bwMode="gray">
          <a:xfrm>
            <a:off x="2063517" y="3501423"/>
            <a:ext cx="851515" cy="307777"/>
          </a:xfrm>
          <a:prstGeom prst="rect">
            <a:avLst/>
          </a:prstGeom>
          <a:noFill/>
        </p:spPr>
        <p:txBody>
          <a:bodyPr wrap="square" rtlCol="0">
            <a:noAutofit/>
          </a:bodyPr>
          <a:lstStyle/>
          <a:p>
            <a:pPr fontAlgn="ctr"/>
            <a:r>
              <a:rPr lang="en-US" sz="1400" dirty="0">
                <a:latin typeface="Huawei Sans" panose="020C0503030203020204" pitchFamily="34" charset="0"/>
              </a:rPr>
              <a:t>GE0/0/0</a:t>
            </a:r>
          </a:p>
        </p:txBody>
      </p:sp>
      <p:sp>
        <p:nvSpPr>
          <p:cNvPr id="73" name="文本框 72"/>
          <p:cNvSpPr txBox="1"/>
          <p:nvPr/>
        </p:nvSpPr>
        <p:spPr bwMode="gray">
          <a:xfrm>
            <a:off x="655492" y="2669118"/>
            <a:ext cx="1942945" cy="523220"/>
          </a:xfrm>
          <a:prstGeom prst="rect">
            <a:avLst/>
          </a:prstGeom>
          <a:noFill/>
        </p:spPr>
        <p:txBody>
          <a:bodyPr wrap="square" rtlCol="0">
            <a:noAutofit/>
          </a:bodyPr>
          <a:lstStyle/>
          <a:p>
            <a:pPr algn="r" fontAlgn="ctr"/>
            <a:r>
              <a:rPr lang="en-US" sz="1400">
                <a:latin typeface="Huawei Sans" panose="020C0503030203020204" pitchFamily="34" charset="0"/>
              </a:rPr>
              <a:t>GE0/0/1</a:t>
            </a:r>
          </a:p>
          <a:p>
            <a:pPr algn="r" fontAlgn="ctr"/>
            <a:r>
              <a:rPr lang="en-US" sz="1400">
                <a:latin typeface="Huawei Sans" panose="020C0503030203020204" pitchFamily="34" charset="0"/>
              </a:rPr>
              <a:t>IP: 192.168.101.1/24</a:t>
            </a:r>
          </a:p>
        </p:txBody>
      </p:sp>
      <p:sp>
        <p:nvSpPr>
          <p:cNvPr id="74" name="文本框 73"/>
          <p:cNvSpPr txBox="1"/>
          <p:nvPr/>
        </p:nvSpPr>
        <p:spPr bwMode="gray">
          <a:xfrm>
            <a:off x="3230587" y="2650337"/>
            <a:ext cx="1942945" cy="523220"/>
          </a:xfrm>
          <a:prstGeom prst="rect">
            <a:avLst/>
          </a:prstGeom>
          <a:noFill/>
        </p:spPr>
        <p:txBody>
          <a:bodyPr wrap="square" rtlCol="0">
            <a:noAutofit/>
          </a:bodyPr>
          <a:lstStyle/>
          <a:p>
            <a:pPr fontAlgn="ctr"/>
            <a:r>
              <a:rPr lang="en-US" sz="1400">
                <a:latin typeface="Huawei Sans" panose="020C0503030203020204" pitchFamily="34" charset="0"/>
              </a:rPr>
              <a:t>GE0/0/2</a:t>
            </a:r>
          </a:p>
          <a:p>
            <a:pPr fontAlgn="ctr"/>
            <a:r>
              <a:rPr lang="en-US" sz="1400">
                <a:latin typeface="Huawei Sans" panose="020C0503030203020204" pitchFamily="34" charset="0"/>
              </a:rPr>
              <a:t>IP: 192.168.102.1/24</a:t>
            </a:r>
          </a:p>
        </p:txBody>
      </p:sp>
      <p:sp>
        <p:nvSpPr>
          <p:cNvPr id="75" name="文本框 74"/>
          <p:cNvSpPr txBox="1"/>
          <p:nvPr/>
        </p:nvSpPr>
        <p:spPr bwMode="gray">
          <a:xfrm>
            <a:off x="3064249" y="3154451"/>
            <a:ext cx="436338" cy="338554"/>
          </a:xfrm>
          <a:prstGeom prst="rect">
            <a:avLst/>
          </a:prstGeom>
          <a:noFill/>
        </p:spPr>
        <p:txBody>
          <a:bodyPr wrap="square" rtlCol="0">
            <a:noAutofit/>
          </a:bodyPr>
          <a:lstStyle/>
          <a:p>
            <a:pPr fontAlgn="ctr"/>
            <a:r>
              <a:rPr lang="en-US" sz="1600" b="1">
                <a:latin typeface="Huawei Sans" panose="020C0503030203020204" pitchFamily="34" charset="0"/>
              </a:rPr>
              <a:t>R1</a:t>
            </a:r>
          </a:p>
        </p:txBody>
      </p:sp>
      <p:sp>
        <p:nvSpPr>
          <p:cNvPr id="76" name="文本框 75"/>
          <p:cNvSpPr txBox="1"/>
          <p:nvPr/>
        </p:nvSpPr>
        <p:spPr bwMode="gray">
          <a:xfrm>
            <a:off x="3073867" y="4199928"/>
            <a:ext cx="417102" cy="338554"/>
          </a:xfrm>
          <a:prstGeom prst="rect">
            <a:avLst/>
          </a:prstGeom>
          <a:noFill/>
        </p:spPr>
        <p:txBody>
          <a:bodyPr wrap="square" rtlCol="0">
            <a:noAutofit/>
          </a:bodyPr>
          <a:lstStyle/>
          <a:p>
            <a:pPr fontAlgn="ctr"/>
            <a:r>
              <a:rPr lang="en-US" sz="1600" b="1">
                <a:latin typeface="Huawei Sans" panose="020C0503030203020204" pitchFamily="34" charset="0"/>
              </a:rPr>
              <a:t>S1</a:t>
            </a:r>
          </a:p>
        </p:txBody>
      </p:sp>
      <p:pic>
        <p:nvPicPr>
          <p:cNvPr id="26" name="图片 25" descr="通用交换机.png"/>
          <p:cNvPicPr>
            <a:picLocks noChangeAspect="1"/>
          </p:cNvPicPr>
          <p:nvPr/>
        </p:nvPicPr>
        <p:blipFill>
          <a:blip r:embed="rId5" cstate="print"/>
          <a:stretch>
            <a:fillRect/>
          </a:stretch>
        </p:blipFill>
        <p:spPr bwMode="gray">
          <a:xfrm>
            <a:off x="2591685" y="4166235"/>
            <a:ext cx="540000" cy="441818"/>
          </a:xfrm>
          <a:prstGeom prst="rect">
            <a:avLst/>
          </a:prstGeom>
        </p:spPr>
      </p:pic>
    </p:spTree>
    <p:extLst>
      <p:ext uri="{BB962C8B-B14F-4D97-AF65-F5344CB8AC3E}">
        <p14:creationId xmlns:p14="http://schemas.microsoft.com/office/powerpoint/2010/main" val="193361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wrap="square">
            <a:noAutofit/>
          </a:bodyPr>
          <a:lstStyle/>
          <a:p>
            <a:r>
              <a:rPr lang="en-US" dirty="0">
                <a:latin typeface="Huawei Sans" panose="020C0503030203020204" pitchFamily="34" charset="0"/>
              </a:rPr>
              <a:t>Configuration Example </a:t>
            </a:r>
            <a:r>
              <a:rPr lang="en-US" sz="3600" dirty="0">
                <a:latin typeface="Huawei Sans" panose="020C0503030203020204" pitchFamily="34" charset="0"/>
              </a:rPr>
              <a:t>—</a:t>
            </a:r>
            <a:r>
              <a:rPr lang="en-US" dirty="0">
                <a:latin typeface="Huawei Sans" panose="020C0503030203020204" pitchFamily="34" charset="0"/>
              </a:rPr>
              <a:t> Procedure (3)</a:t>
            </a:r>
          </a:p>
        </p:txBody>
      </p:sp>
      <p:sp>
        <p:nvSpPr>
          <p:cNvPr id="27" name="文本框 26"/>
          <p:cNvSpPr txBox="1"/>
          <p:nvPr/>
        </p:nvSpPr>
        <p:spPr bwMode="gray">
          <a:xfrm>
            <a:off x="5672045" y="1355669"/>
            <a:ext cx="5649912"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fontAlgn="ctr">
              <a:lnSpc>
                <a:spcPct val="125000"/>
              </a:lnSpc>
            </a:pPr>
            <a:r>
              <a:rPr lang="en-US" sz="1600" dirty="0">
                <a:solidFill>
                  <a:srgbClr val="000000"/>
                </a:solidFill>
                <a:latin typeface="Huawei Sans" panose="020C0503030203020204" pitchFamily="34" charset="0"/>
              </a:rPr>
              <a:t>4. Configure static routes and bind them to the instance.</a:t>
            </a:r>
          </a:p>
        </p:txBody>
      </p:sp>
      <p:sp>
        <p:nvSpPr>
          <p:cNvPr id="28" name="Rectangle 3"/>
          <p:cNvSpPr/>
          <p:nvPr/>
        </p:nvSpPr>
        <p:spPr bwMode="gray">
          <a:xfrm>
            <a:off x="5772150" y="1779380"/>
            <a:ext cx="5973763" cy="1323439"/>
          </a:xfrm>
          <a:prstGeom prst="rect">
            <a:avLst/>
          </a:prstGeom>
          <a:solidFill>
            <a:srgbClr val="F4FBFE"/>
          </a:solidFill>
          <a:ln>
            <a:solidFill>
              <a:srgbClr val="99DFF9"/>
            </a:solidFill>
          </a:ln>
        </p:spPr>
        <p:txBody>
          <a:bodyPr wrap="square" anchor="ctr" anchorCtr="0">
            <a:noAutofit/>
          </a:bodyPr>
          <a:lstStyle/>
          <a:p>
            <a:pPr fontAlgn="ctr">
              <a:lnSpc>
                <a:spcPts val="2400"/>
              </a:lnSpc>
            </a:pPr>
            <a:r>
              <a:rPr lang="en-US" sz="1400" dirty="0">
                <a:latin typeface="Huawei Sans" panose="020C0503030203020204" pitchFamily="34" charset="0"/>
                <a:cs typeface="Courier New" panose="02070309020205020404" pitchFamily="49" charset="0"/>
              </a:rPr>
              <a:t>[R1]</a:t>
            </a:r>
            <a:r>
              <a:rPr lang="en-US" sz="1400" dirty="0" err="1">
                <a:latin typeface="Huawei Sans" panose="020C0503030203020204" pitchFamily="34" charset="0"/>
              </a:rPr>
              <a:t>ip</a:t>
            </a:r>
            <a:r>
              <a:rPr lang="en-US" sz="1400" dirty="0">
                <a:latin typeface="Huawei Sans" panose="020C0503030203020204" pitchFamily="34" charset="0"/>
              </a:rPr>
              <a:t> route-static </a:t>
            </a:r>
            <a:r>
              <a:rPr lang="en-US" sz="1400" dirty="0" err="1">
                <a:latin typeface="Huawei Sans" panose="020C0503030203020204" pitchFamily="34" charset="0"/>
              </a:rPr>
              <a:t>vpn</a:t>
            </a:r>
            <a:r>
              <a:rPr lang="en-US" sz="1400" dirty="0">
                <a:latin typeface="Huawei Sans" panose="020C0503030203020204" pitchFamily="34" charset="0"/>
              </a:rPr>
              <a:t>-instance production 192.168.100.0 24 192.168.101.254</a:t>
            </a:r>
          </a:p>
          <a:p>
            <a:pPr fontAlgn="ctr">
              <a:lnSpc>
                <a:spcPts val="2400"/>
              </a:lnSpc>
            </a:pPr>
            <a:r>
              <a:rPr lang="en-US" sz="1400" dirty="0">
                <a:latin typeface="Huawei Sans" panose="020C0503030203020204" pitchFamily="34" charset="0"/>
                <a:cs typeface="Courier New" panose="02070309020205020404" pitchFamily="49" charset="0"/>
              </a:rPr>
              <a:t>[R1]</a:t>
            </a:r>
            <a:r>
              <a:rPr lang="en-US" sz="1400" dirty="0" err="1">
                <a:latin typeface="Huawei Sans" panose="020C0503030203020204" pitchFamily="34" charset="0"/>
              </a:rPr>
              <a:t>ip</a:t>
            </a:r>
            <a:r>
              <a:rPr lang="en-US" sz="1400" dirty="0">
                <a:latin typeface="Huawei Sans" panose="020C0503030203020204" pitchFamily="34" charset="0"/>
              </a:rPr>
              <a:t> route-static </a:t>
            </a:r>
            <a:r>
              <a:rPr lang="en-US" sz="1400" dirty="0" err="1">
                <a:latin typeface="Huawei Sans" panose="020C0503030203020204" pitchFamily="34" charset="0"/>
              </a:rPr>
              <a:t>vpn</a:t>
            </a:r>
            <a:r>
              <a:rPr lang="en-US" sz="1400" dirty="0">
                <a:latin typeface="Huawei Sans" panose="020C0503030203020204" pitchFamily="34" charset="0"/>
              </a:rPr>
              <a:t>-instance management 192.168.200.0 24 192.168.102.254</a:t>
            </a:r>
          </a:p>
        </p:txBody>
      </p:sp>
      <p:cxnSp>
        <p:nvCxnSpPr>
          <p:cNvPr id="40" name="直接连接符 39"/>
          <p:cNvCxnSpPr>
            <a:cxnSpLocks/>
          </p:cNvCxnSpPr>
          <p:nvPr/>
        </p:nvCxnSpPr>
        <p:spPr bwMode="gray">
          <a:xfrm flipH="1">
            <a:off x="1891622" y="4342974"/>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cxnSpLocks/>
          </p:cNvCxnSpPr>
          <p:nvPr/>
        </p:nvCxnSpPr>
        <p:spPr bwMode="gray">
          <a:xfrm>
            <a:off x="2844098" y="4337642"/>
            <a:ext cx="977308" cy="9773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
          <a:xfrm>
            <a:off x="2844098" y="3323728"/>
            <a:ext cx="0" cy="1019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49" idx="0"/>
            <a:endCxn id="64" idx="0"/>
          </p:cNvCxnSpPr>
          <p:nvPr/>
        </p:nvCxnSpPr>
        <p:spPr bwMode="gray">
          <a:xfrm flipV="1">
            <a:off x="2856514" y="1752885"/>
            <a:ext cx="1237148" cy="13499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49" idx="0"/>
          </p:cNvCxnSpPr>
          <p:nvPr/>
        </p:nvCxnSpPr>
        <p:spPr bwMode="gray">
          <a:xfrm>
            <a:off x="1869327" y="2010252"/>
            <a:ext cx="987187" cy="10925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Picture 12" descr="E:\2016.01\1.12 扁平化图标\蓝色\AR-蓝色最新-40.png"/>
          <p:cNvPicPr>
            <a:picLocks noChangeAspect="1" noChangeArrowheads="1"/>
          </p:cNvPicPr>
          <p:nvPr/>
        </p:nvPicPr>
        <p:blipFill>
          <a:blip r:embed="rId3" cstate="print"/>
          <a:srcRect/>
          <a:stretch>
            <a:fillRect/>
          </a:stretch>
        </p:blipFill>
        <p:spPr bwMode="gray">
          <a:xfrm>
            <a:off x="2586514" y="3102819"/>
            <a:ext cx="540000" cy="441818"/>
          </a:xfrm>
          <a:prstGeom prst="rect">
            <a:avLst/>
          </a:prstGeom>
          <a:noFill/>
        </p:spPr>
      </p:pic>
      <p:sp>
        <p:nvSpPr>
          <p:cNvPr id="50" name="Freeform 159"/>
          <p:cNvSpPr>
            <a:spLocks/>
          </p:cNvSpPr>
          <p:nvPr/>
        </p:nvSpPr>
        <p:spPr bwMode="gray">
          <a:xfrm flipH="1">
            <a:off x="114021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59"/>
          <p:cNvSpPr>
            <a:spLocks/>
          </p:cNvSpPr>
          <p:nvPr/>
        </p:nvSpPr>
        <p:spPr bwMode="gray">
          <a:xfrm flipH="1">
            <a:off x="3355027" y="1503793"/>
            <a:ext cx="1458220" cy="8836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1144832" y="1731324"/>
            <a:ext cx="1445909" cy="523220"/>
          </a:xfrm>
          <a:prstGeom prst="rect">
            <a:avLst/>
          </a:prstGeom>
          <a:noFill/>
        </p:spPr>
        <p:txBody>
          <a:bodyPr wrap="square" rtlCol="0">
            <a:noAutofit/>
          </a:bodyPr>
          <a:lstStyle/>
          <a:p>
            <a:pPr algn="ctr" fontAlgn="ctr"/>
            <a:r>
              <a:rPr lang="en-US" sz="1200" dirty="0">
                <a:latin typeface="Huawei Sans" panose="020C0503030203020204" pitchFamily="34" charset="0"/>
              </a:rPr>
              <a:t>Production network</a:t>
            </a:r>
          </a:p>
          <a:p>
            <a:pPr algn="ctr" fontAlgn="ctr"/>
            <a:r>
              <a:rPr lang="en-US" sz="1200" dirty="0">
                <a:latin typeface="Huawei Sans" panose="020C0503030203020204" pitchFamily="34" charset="0"/>
              </a:rPr>
              <a:t>192.168.100.0/24</a:t>
            </a:r>
          </a:p>
        </p:txBody>
      </p:sp>
      <p:sp>
        <p:nvSpPr>
          <p:cNvPr id="64" name="文本框 63"/>
          <p:cNvSpPr txBox="1"/>
          <p:nvPr/>
        </p:nvSpPr>
        <p:spPr bwMode="gray">
          <a:xfrm>
            <a:off x="3298412" y="1752885"/>
            <a:ext cx="1590500" cy="523220"/>
          </a:xfrm>
          <a:prstGeom prst="rect">
            <a:avLst/>
          </a:prstGeom>
          <a:noFill/>
        </p:spPr>
        <p:txBody>
          <a:bodyPr wrap="square" rtlCol="0">
            <a:noAutofit/>
          </a:bodyPr>
          <a:lstStyle>
            <a:defPPr>
              <a:defRPr lang="en-US"/>
            </a:defPPr>
            <a:lvl1pPr algn="ctr">
              <a:defRPr sz="1400"/>
            </a:lvl1pPr>
          </a:lstStyle>
          <a:p>
            <a:pPr fontAlgn="ctr"/>
            <a:r>
              <a:rPr lang="en-US" sz="1200" dirty="0">
                <a:latin typeface="Huawei Sans" panose="020C0503030203020204" pitchFamily="34" charset="0"/>
              </a:rPr>
              <a:t>Management network</a:t>
            </a:r>
          </a:p>
          <a:p>
            <a:pPr fontAlgn="ctr"/>
            <a:r>
              <a:rPr lang="en-US" sz="1200" dirty="0">
                <a:latin typeface="Huawei Sans" panose="020C0503030203020204" pitchFamily="34" charset="0"/>
              </a:rPr>
              <a:t>192.168.200.0/24</a:t>
            </a:r>
          </a:p>
        </p:txBody>
      </p:sp>
      <p:pic>
        <p:nvPicPr>
          <p:cNvPr id="67" name="图片 43" descr="PC.png"/>
          <p:cNvPicPr>
            <a:picLocks noChangeAspect="1"/>
          </p:cNvPicPr>
          <p:nvPr/>
        </p:nvPicPr>
        <p:blipFill>
          <a:blip r:embed="rId4" cstate="print"/>
          <a:stretch>
            <a:fillRect/>
          </a:stretch>
        </p:blipFill>
        <p:spPr bwMode="gray">
          <a:xfrm>
            <a:off x="1653763" y="4933879"/>
            <a:ext cx="592969" cy="455400"/>
          </a:xfrm>
          <a:prstGeom prst="rect">
            <a:avLst/>
          </a:prstGeom>
        </p:spPr>
      </p:pic>
      <p:sp>
        <p:nvSpPr>
          <p:cNvPr id="68" name="TextBox 105"/>
          <p:cNvSpPr txBox="1"/>
          <p:nvPr/>
        </p:nvSpPr>
        <p:spPr bwMode="gray">
          <a:xfrm>
            <a:off x="818250" y="5403648"/>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PC1 </a:t>
            </a:r>
            <a:r>
              <a:rPr lang="en-US" sz="1400" dirty="0">
                <a:latin typeface="Huawei Sans" panose="020C0503030203020204" pitchFamily="34" charset="0"/>
              </a:rPr>
              <a:t>192.168.1.1</a:t>
            </a:r>
          </a:p>
          <a:p>
            <a:pPr algn="ctr" fontAlgn="ctr"/>
            <a:r>
              <a:rPr lang="en-US" sz="1400" dirty="0">
                <a:latin typeface="Huawei Sans" panose="020C0503030203020204" pitchFamily="34" charset="0"/>
              </a:rPr>
              <a:t>Gateway 192.168.1.254</a:t>
            </a:r>
          </a:p>
          <a:p>
            <a:pPr algn="ctr" fontAlgn="ctr"/>
            <a:r>
              <a:rPr lang="en-US" sz="1400" dirty="0">
                <a:latin typeface="Huawei Sans" panose="020C0503030203020204" pitchFamily="34" charset="0"/>
              </a:rPr>
              <a:t>VLAN 10</a:t>
            </a:r>
          </a:p>
        </p:txBody>
      </p:sp>
      <p:pic>
        <p:nvPicPr>
          <p:cNvPr id="69" name="图片 43" descr="PC.png"/>
          <p:cNvPicPr>
            <a:picLocks noChangeAspect="1"/>
          </p:cNvPicPr>
          <p:nvPr/>
        </p:nvPicPr>
        <p:blipFill>
          <a:blip r:embed="rId4" cstate="print"/>
          <a:stretch>
            <a:fillRect/>
          </a:stretch>
        </p:blipFill>
        <p:spPr bwMode="gray">
          <a:xfrm>
            <a:off x="3608452" y="4937476"/>
            <a:ext cx="592969" cy="455400"/>
          </a:xfrm>
          <a:prstGeom prst="rect">
            <a:avLst/>
          </a:prstGeom>
        </p:spPr>
      </p:pic>
      <p:sp>
        <p:nvSpPr>
          <p:cNvPr id="70" name="TextBox 105"/>
          <p:cNvSpPr txBox="1"/>
          <p:nvPr/>
        </p:nvSpPr>
        <p:spPr bwMode="gray">
          <a:xfrm>
            <a:off x="2950650" y="5403648"/>
            <a:ext cx="2099071" cy="738664"/>
          </a:xfrm>
          <a:prstGeom prst="rect">
            <a:avLst/>
          </a:prstGeom>
          <a:noFill/>
        </p:spPr>
        <p:txBody>
          <a:bodyPr wrap="square" rtlCol="0">
            <a:noAutofit/>
          </a:bodyPr>
          <a:lstStyle/>
          <a:p>
            <a:pPr algn="ctr" fontAlgn="ctr"/>
            <a:r>
              <a:rPr lang="en-US" sz="1400" b="1" dirty="0">
                <a:latin typeface="Huawei Sans" panose="020C0503030203020204" pitchFamily="34" charset="0"/>
              </a:rPr>
              <a:t>PC2 </a:t>
            </a:r>
            <a:r>
              <a:rPr lang="en-US" sz="1400" dirty="0">
                <a:latin typeface="Huawei Sans" panose="020C0503030203020204" pitchFamily="34" charset="0"/>
              </a:rPr>
              <a:t>192.168.2.1</a:t>
            </a:r>
          </a:p>
          <a:p>
            <a:pPr algn="ctr" fontAlgn="ctr"/>
            <a:r>
              <a:rPr lang="en-US" sz="1400" dirty="0">
                <a:latin typeface="Huawei Sans" panose="020C0503030203020204" pitchFamily="34" charset="0"/>
              </a:rPr>
              <a:t>Gateway 192.168.2.254</a:t>
            </a:r>
          </a:p>
          <a:p>
            <a:pPr algn="ctr" fontAlgn="ctr"/>
            <a:r>
              <a:rPr lang="en-US" sz="1400" dirty="0">
                <a:latin typeface="Huawei Sans" panose="020C0503030203020204" pitchFamily="34" charset="0"/>
              </a:rPr>
              <a:t>VLAN 20</a:t>
            </a:r>
          </a:p>
        </p:txBody>
      </p:sp>
      <p:sp>
        <p:nvSpPr>
          <p:cNvPr id="71" name="文本框 70"/>
          <p:cNvSpPr txBox="1"/>
          <p:nvPr/>
        </p:nvSpPr>
        <p:spPr bwMode="gray">
          <a:xfrm>
            <a:off x="2804830" y="3855172"/>
            <a:ext cx="851515" cy="307777"/>
          </a:xfrm>
          <a:prstGeom prst="rect">
            <a:avLst/>
          </a:prstGeom>
          <a:noFill/>
        </p:spPr>
        <p:txBody>
          <a:bodyPr wrap="square" rtlCol="0">
            <a:noAutofit/>
          </a:bodyPr>
          <a:lstStyle/>
          <a:p>
            <a:pPr fontAlgn="ctr"/>
            <a:r>
              <a:rPr lang="en-US" sz="1400">
                <a:latin typeface="Huawei Sans" panose="020C0503030203020204" pitchFamily="34" charset="0"/>
              </a:rPr>
              <a:t>GE0/0/0</a:t>
            </a:r>
          </a:p>
        </p:txBody>
      </p:sp>
      <p:sp>
        <p:nvSpPr>
          <p:cNvPr id="72" name="文本框 71"/>
          <p:cNvSpPr txBox="1"/>
          <p:nvPr/>
        </p:nvSpPr>
        <p:spPr bwMode="gray">
          <a:xfrm>
            <a:off x="2063517" y="3501423"/>
            <a:ext cx="851515" cy="307777"/>
          </a:xfrm>
          <a:prstGeom prst="rect">
            <a:avLst/>
          </a:prstGeom>
          <a:noFill/>
        </p:spPr>
        <p:txBody>
          <a:bodyPr wrap="square" rtlCol="0">
            <a:noAutofit/>
          </a:bodyPr>
          <a:lstStyle/>
          <a:p>
            <a:pPr fontAlgn="ctr"/>
            <a:r>
              <a:rPr lang="en-US" sz="1400" dirty="0">
                <a:latin typeface="Huawei Sans" panose="020C0503030203020204" pitchFamily="34" charset="0"/>
              </a:rPr>
              <a:t>GE0/0/0</a:t>
            </a:r>
          </a:p>
        </p:txBody>
      </p:sp>
      <p:sp>
        <p:nvSpPr>
          <p:cNvPr id="73" name="文本框 72"/>
          <p:cNvSpPr txBox="1"/>
          <p:nvPr/>
        </p:nvSpPr>
        <p:spPr bwMode="gray">
          <a:xfrm>
            <a:off x="655492" y="2669118"/>
            <a:ext cx="1942945" cy="523220"/>
          </a:xfrm>
          <a:prstGeom prst="rect">
            <a:avLst/>
          </a:prstGeom>
          <a:noFill/>
        </p:spPr>
        <p:txBody>
          <a:bodyPr wrap="square" rtlCol="0">
            <a:noAutofit/>
          </a:bodyPr>
          <a:lstStyle/>
          <a:p>
            <a:pPr algn="r" fontAlgn="ctr"/>
            <a:r>
              <a:rPr lang="en-US" sz="1400">
                <a:latin typeface="Huawei Sans" panose="020C0503030203020204" pitchFamily="34" charset="0"/>
              </a:rPr>
              <a:t>GE0/0/1</a:t>
            </a:r>
          </a:p>
          <a:p>
            <a:pPr algn="r" fontAlgn="ctr"/>
            <a:r>
              <a:rPr lang="en-US" sz="1400">
                <a:latin typeface="Huawei Sans" panose="020C0503030203020204" pitchFamily="34" charset="0"/>
              </a:rPr>
              <a:t>IP: 192.168.101.1/24</a:t>
            </a:r>
          </a:p>
        </p:txBody>
      </p:sp>
      <p:sp>
        <p:nvSpPr>
          <p:cNvPr id="74" name="文本框 73"/>
          <p:cNvSpPr txBox="1"/>
          <p:nvPr/>
        </p:nvSpPr>
        <p:spPr bwMode="gray">
          <a:xfrm>
            <a:off x="3230587" y="2650337"/>
            <a:ext cx="1942945" cy="523220"/>
          </a:xfrm>
          <a:prstGeom prst="rect">
            <a:avLst/>
          </a:prstGeom>
          <a:noFill/>
        </p:spPr>
        <p:txBody>
          <a:bodyPr wrap="square" rtlCol="0">
            <a:noAutofit/>
          </a:bodyPr>
          <a:lstStyle/>
          <a:p>
            <a:pPr fontAlgn="ctr"/>
            <a:r>
              <a:rPr lang="en-US" sz="1400">
                <a:latin typeface="Huawei Sans" panose="020C0503030203020204" pitchFamily="34" charset="0"/>
              </a:rPr>
              <a:t>GE0/0/2</a:t>
            </a:r>
          </a:p>
          <a:p>
            <a:pPr fontAlgn="ctr"/>
            <a:r>
              <a:rPr lang="en-US" sz="1400">
                <a:latin typeface="Huawei Sans" panose="020C0503030203020204" pitchFamily="34" charset="0"/>
              </a:rPr>
              <a:t>IP: 192.168.102.1/24</a:t>
            </a:r>
          </a:p>
        </p:txBody>
      </p:sp>
      <p:sp>
        <p:nvSpPr>
          <p:cNvPr id="75" name="文本框 74"/>
          <p:cNvSpPr txBox="1"/>
          <p:nvPr/>
        </p:nvSpPr>
        <p:spPr bwMode="gray">
          <a:xfrm>
            <a:off x="3064249" y="3154451"/>
            <a:ext cx="436338" cy="338554"/>
          </a:xfrm>
          <a:prstGeom prst="rect">
            <a:avLst/>
          </a:prstGeom>
          <a:noFill/>
        </p:spPr>
        <p:txBody>
          <a:bodyPr wrap="square" rtlCol="0">
            <a:noAutofit/>
          </a:bodyPr>
          <a:lstStyle/>
          <a:p>
            <a:pPr fontAlgn="ctr"/>
            <a:r>
              <a:rPr lang="en-US" sz="1600" b="1">
                <a:latin typeface="Huawei Sans" panose="020C0503030203020204" pitchFamily="34" charset="0"/>
              </a:rPr>
              <a:t>R1</a:t>
            </a:r>
          </a:p>
        </p:txBody>
      </p:sp>
      <p:sp>
        <p:nvSpPr>
          <p:cNvPr id="76" name="文本框 75"/>
          <p:cNvSpPr txBox="1"/>
          <p:nvPr/>
        </p:nvSpPr>
        <p:spPr bwMode="gray">
          <a:xfrm>
            <a:off x="3073867" y="4199928"/>
            <a:ext cx="417102" cy="338554"/>
          </a:xfrm>
          <a:prstGeom prst="rect">
            <a:avLst/>
          </a:prstGeom>
          <a:noFill/>
        </p:spPr>
        <p:txBody>
          <a:bodyPr wrap="square" rtlCol="0">
            <a:noAutofit/>
          </a:bodyPr>
          <a:lstStyle/>
          <a:p>
            <a:pPr fontAlgn="ctr"/>
            <a:r>
              <a:rPr lang="en-US" sz="1600" b="1">
                <a:latin typeface="Huawei Sans" panose="020C0503030203020204" pitchFamily="34" charset="0"/>
              </a:rPr>
              <a:t>S1</a:t>
            </a:r>
          </a:p>
        </p:txBody>
      </p:sp>
      <p:sp>
        <p:nvSpPr>
          <p:cNvPr id="26" name="文本框 25"/>
          <p:cNvSpPr txBox="1"/>
          <p:nvPr/>
        </p:nvSpPr>
        <p:spPr bwMode="gray">
          <a:xfrm>
            <a:off x="5672045" y="3292627"/>
            <a:ext cx="5649912"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fontAlgn="ctr">
              <a:lnSpc>
                <a:spcPct val="125000"/>
              </a:lnSpc>
            </a:pPr>
            <a:r>
              <a:rPr lang="en-US" sz="1600">
                <a:solidFill>
                  <a:srgbClr val="000000"/>
                </a:solidFill>
                <a:latin typeface="Huawei Sans" panose="020C0503030203020204" pitchFamily="34" charset="0"/>
              </a:rPr>
              <a:t>5. Verify the configuration.</a:t>
            </a:r>
          </a:p>
        </p:txBody>
      </p:sp>
      <p:sp>
        <p:nvSpPr>
          <p:cNvPr id="29" name="Rectangle 3"/>
          <p:cNvSpPr/>
          <p:nvPr/>
        </p:nvSpPr>
        <p:spPr bwMode="gray">
          <a:xfrm>
            <a:off x="5772150" y="3778859"/>
            <a:ext cx="5973763" cy="2246769"/>
          </a:xfrm>
          <a:prstGeom prst="rect">
            <a:avLst/>
          </a:prstGeom>
          <a:solidFill>
            <a:srgbClr val="F4FBFE"/>
          </a:solidFill>
          <a:ln>
            <a:solidFill>
              <a:srgbClr val="99DFF9"/>
            </a:solidFill>
          </a:ln>
        </p:spPr>
        <p:txBody>
          <a:bodyPr wrap="square" anchor="ctr" anchorCtr="0">
            <a:noAutofit/>
          </a:bodyPr>
          <a:lstStyle/>
          <a:p>
            <a:pPr fontAlgn="ctr">
              <a:lnSpc>
                <a:spcPts val="2400"/>
              </a:lnSpc>
            </a:pPr>
            <a:r>
              <a:rPr lang="en-US" sz="1400" dirty="0">
                <a:latin typeface="Huawei Sans" panose="020C0503030203020204" pitchFamily="34" charset="0"/>
                <a:cs typeface="Courier New" panose="02070309020205020404" pitchFamily="49" charset="0"/>
              </a:rPr>
              <a:t>[R1]</a:t>
            </a:r>
            <a:r>
              <a:rPr lang="en-US" sz="1400" dirty="0">
                <a:latin typeface="Huawei Sans" panose="020C0503030203020204" pitchFamily="34" charset="0"/>
              </a:rPr>
              <a:t> display </a:t>
            </a:r>
            <a:r>
              <a:rPr lang="en-US" sz="1400" dirty="0" err="1">
                <a:latin typeface="Huawei Sans" panose="020C0503030203020204" pitchFamily="34" charset="0"/>
              </a:rPr>
              <a:t>ip</a:t>
            </a:r>
            <a:r>
              <a:rPr lang="en-US" sz="1400" dirty="0">
                <a:latin typeface="Huawei Sans" panose="020C0503030203020204" pitchFamily="34" charset="0"/>
              </a:rPr>
              <a:t> routing-table </a:t>
            </a:r>
            <a:r>
              <a:rPr lang="en-US" sz="1400" dirty="0" err="1">
                <a:latin typeface="Huawei Sans" panose="020C0503030203020204" pitchFamily="34" charset="0"/>
              </a:rPr>
              <a:t>vpn</a:t>
            </a:r>
            <a:r>
              <a:rPr lang="en-US" sz="1400" dirty="0">
                <a:latin typeface="Huawei Sans" panose="020C0503030203020204" pitchFamily="34" charset="0"/>
              </a:rPr>
              <a:t>-instance production</a:t>
            </a:r>
          </a:p>
          <a:p>
            <a:pPr fontAlgn="ctr">
              <a:lnSpc>
                <a:spcPts val="2400"/>
              </a:lnSpc>
            </a:pPr>
            <a:r>
              <a:rPr lang="en-US" sz="1200" dirty="0">
                <a:latin typeface="Huawei Sans" panose="020C0503030203020204" pitchFamily="34" charset="0"/>
              </a:rPr>
              <a:t>Route Flags: R - relay, D - download to fib</a:t>
            </a:r>
          </a:p>
          <a:p>
            <a:pPr fontAlgn="ctr">
              <a:lnSpc>
                <a:spcPts val="2400"/>
              </a:lnSpc>
            </a:pPr>
            <a:r>
              <a:rPr lang="en-US" sz="1200" dirty="0">
                <a:latin typeface="Huawei Sans" panose="020C0503030203020204" pitchFamily="34" charset="0"/>
              </a:rPr>
              <a:t>------------------------------------------------------------------------------</a:t>
            </a:r>
          </a:p>
          <a:p>
            <a:pPr fontAlgn="ctr">
              <a:lnSpc>
                <a:spcPts val="2400"/>
              </a:lnSpc>
            </a:pPr>
            <a:r>
              <a:rPr lang="en-US" sz="1200" dirty="0">
                <a:latin typeface="Huawei Sans" panose="020C0503030203020204" pitchFamily="34" charset="0"/>
              </a:rPr>
              <a:t>Routing Tables: production</a:t>
            </a:r>
          </a:p>
          <a:p>
            <a:pPr fontAlgn="ctr">
              <a:lnSpc>
                <a:spcPts val="2400"/>
              </a:lnSpc>
            </a:pPr>
            <a:r>
              <a:rPr lang="en-US" sz="1200" dirty="0">
                <a:latin typeface="Huawei Sans" panose="020C0503030203020204" pitchFamily="34" charset="0"/>
              </a:rPr>
              <a:t>         Destinations : 5        Routes : 5        </a:t>
            </a:r>
          </a:p>
          <a:p>
            <a:pPr fontAlgn="ctr">
              <a:lnSpc>
                <a:spcPts val="2400"/>
              </a:lnSpc>
            </a:pPr>
            <a:r>
              <a:rPr lang="en-US" sz="1200" dirty="0">
                <a:latin typeface="Huawei Sans" panose="020C0503030203020204" pitchFamily="34" charset="0"/>
              </a:rPr>
              <a:t>Destination/Mask  Proto  Pre Cost  Flags </a:t>
            </a:r>
            <a:r>
              <a:rPr lang="en-US" sz="1200" dirty="0" err="1">
                <a:latin typeface="Huawei Sans" panose="020C0503030203020204" pitchFamily="34" charset="0"/>
              </a:rPr>
              <a:t>NextHop</a:t>
            </a:r>
            <a:r>
              <a:rPr lang="en-US" sz="1200" dirty="0">
                <a:latin typeface="Huawei Sans" panose="020C0503030203020204" pitchFamily="34" charset="0"/>
              </a:rPr>
              <a:t>              Interface</a:t>
            </a:r>
          </a:p>
          <a:p>
            <a:pPr fontAlgn="ctr">
              <a:lnSpc>
                <a:spcPts val="2400"/>
              </a:lnSpc>
            </a:pPr>
            <a:r>
              <a:rPr lang="en-US" sz="1200" dirty="0">
                <a:latin typeface="Huawei Sans" panose="020C0503030203020204" pitchFamily="34" charset="0"/>
              </a:rPr>
              <a:t>192.168.100.0/24   Static  60   0     RD     192.168.101.254   GigabitEthernet0/0/1</a:t>
            </a:r>
          </a:p>
        </p:txBody>
      </p:sp>
      <p:pic>
        <p:nvPicPr>
          <p:cNvPr id="30" name="图片 29" descr="通用交换机.png"/>
          <p:cNvPicPr>
            <a:picLocks noChangeAspect="1"/>
          </p:cNvPicPr>
          <p:nvPr/>
        </p:nvPicPr>
        <p:blipFill>
          <a:blip r:embed="rId5" cstate="print"/>
          <a:stretch>
            <a:fillRect/>
          </a:stretch>
        </p:blipFill>
        <p:spPr bwMode="gray">
          <a:xfrm>
            <a:off x="2591685" y="4166235"/>
            <a:ext cx="540000" cy="441818"/>
          </a:xfrm>
          <a:prstGeom prst="rect">
            <a:avLst/>
          </a:prstGeom>
        </p:spPr>
      </p:pic>
    </p:spTree>
    <p:extLst>
      <p:ext uri="{BB962C8B-B14F-4D97-AF65-F5344CB8AC3E}">
        <p14:creationId xmlns:p14="http://schemas.microsoft.com/office/powerpoint/2010/main" val="639946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wrap="square">
            <a:noAutofit/>
          </a:bodyPr>
          <a:lstStyle/>
          <a:p>
            <a:pPr marL="400050" indent="-400050"/>
            <a:r>
              <a:rPr lang="en-US" dirty="0">
                <a:latin typeface="Huawei Sans" panose="020C0503030203020204" pitchFamily="34" charset="0"/>
              </a:rPr>
              <a:t>(Single) At which of the following layers can VRF technology be used to implement isolation?</a:t>
            </a:r>
          </a:p>
          <a:p>
            <a:pPr marL="744376" lvl="1" indent="-342900">
              <a:buFont typeface="+mj-lt"/>
              <a:buAutoNum type="alphaUcPeriod"/>
            </a:pPr>
            <a:r>
              <a:rPr lang="en-US" dirty="0">
                <a:latin typeface="Huawei Sans" panose="020C0503030203020204" pitchFamily="34" charset="0"/>
              </a:rPr>
              <a:t>Physical layer</a:t>
            </a:r>
          </a:p>
          <a:p>
            <a:pPr marL="744376" lvl="1" indent="-342900">
              <a:buFont typeface="+mj-lt"/>
              <a:buAutoNum type="alphaUcPeriod"/>
            </a:pPr>
            <a:r>
              <a:rPr lang="en-US" dirty="0">
                <a:latin typeface="Huawei Sans" panose="020C0503030203020204" pitchFamily="34" charset="0"/>
              </a:rPr>
              <a:t>Network layer</a:t>
            </a:r>
          </a:p>
          <a:p>
            <a:pPr marL="744376" lvl="1" indent="-342900">
              <a:buFont typeface="+mj-lt"/>
              <a:buAutoNum type="alphaUcPeriod"/>
            </a:pPr>
            <a:r>
              <a:rPr lang="en-US" dirty="0">
                <a:latin typeface="Huawei Sans" panose="020C0503030203020204" pitchFamily="34" charset="0"/>
              </a:rPr>
              <a:t>Data link layer</a:t>
            </a:r>
          </a:p>
          <a:p>
            <a:pPr marL="744376" lvl="1" indent="-342900">
              <a:buFont typeface="+mj-lt"/>
              <a:buAutoNum type="alphaUcPeriod"/>
            </a:pPr>
            <a:r>
              <a:rPr lang="en-US" dirty="0">
                <a:latin typeface="Huawei Sans" panose="020C0503030203020204" pitchFamily="34" charset="0"/>
              </a:rPr>
              <a:t>Application layer</a:t>
            </a:r>
          </a:p>
          <a:p>
            <a:pPr marL="400050" indent="-400050"/>
            <a:r>
              <a:rPr lang="en-US" dirty="0">
                <a:latin typeface="Huawei Sans" panose="020C0503030203020204" pitchFamily="34" charset="0"/>
              </a:rPr>
              <a:t>(</a:t>
            </a:r>
            <a:r>
              <a:rPr lang="en-US" dirty="0" err="1">
                <a:latin typeface="Huawei Sans" panose="020C0503030203020204" pitchFamily="34" charset="0"/>
              </a:rPr>
              <a:t>TorF</a:t>
            </a:r>
            <a:r>
              <a:rPr lang="en-US" dirty="0">
                <a:latin typeface="Huawei Sans" panose="020C0503030203020204" pitchFamily="34" charset="0"/>
              </a:rPr>
              <a:t>) By default, all Layer 3 interfaces on Huawei </a:t>
            </a:r>
            <a:r>
              <a:rPr lang="en-US" dirty="0"/>
              <a:t>data communication </a:t>
            </a:r>
            <a:r>
              <a:rPr lang="en-US" dirty="0">
                <a:latin typeface="Huawei Sans" panose="020C0503030203020204" pitchFamily="34" charset="0"/>
              </a:rPr>
              <a:t>products belong to the root instance.</a:t>
            </a:r>
          </a:p>
          <a:p>
            <a:pPr marL="744376" lvl="1" indent="-342900">
              <a:buFont typeface="+mj-lt"/>
              <a:buAutoNum type="alphaUcPeriod"/>
            </a:pPr>
            <a:r>
              <a:rPr lang="en-US" dirty="0">
                <a:latin typeface="Huawei Sans" panose="020C0503030203020204" pitchFamily="34" charset="0"/>
              </a:rPr>
              <a:t>True</a:t>
            </a:r>
          </a:p>
          <a:p>
            <a:pPr marL="744376" lvl="1" indent="-342900">
              <a:buFont typeface="+mj-lt"/>
              <a:buAutoNum type="alphaUcPeriod"/>
            </a:pPr>
            <a:r>
              <a:rPr lang="en-US" dirty="0">
                <a:latin typeface="Huawei Sans" panose="020C0503030203020204" pitchFamily="34" charset="0"/>
              </a:rPr>
              <a:t>False</a:t>
            </a:r>
          </a:p>
        </p:txBody>
      </p:sp>
    </p:spTree>
    <p:extLst>
      <p:ext uri="{BB962C8B-B14F-4D97-AF65-F5344CB8AC3E}">
        <p14:creationId xmlns:p14="http://schemas.microsoft.com/office/powerpoint/2010/main" val="3351147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1"/>
          </p:nvPr>
        </p:nvSpPr>
        <p:spPr bwMode="gray"/>
        <p:txBody>
          <a:bodyPr wrap="square">
            <a:noAutofit/>
          </a:bodyPr>
          <a:lstStyle/>
          <a:p>
            <a:pPr algn="l"/>
            <a:r>
              <a:rPr lang="en-US" dirty="0">
                <a:latin typeface="Huawei Sans" panose="020C0503030203020204" pitchFamily="34" charset="0"/>
              </a:rPr>
              <a:t>VRF technology implements logical isolation between different networks on the same physical device. When multiple VRF instances are deployed on the physical device, each VRF instance is equivalent to a virtual network device. The interfaces and routes between VRF instances are isolated. When a physical device is connected to the same network segment that belongs to different VPN instances, you have no worries about IP address conflicts.</a:t>
            </a:r>
          </a:p>
          <a:p>
            <a:pPr algn="l"/>
            <a:r>
              <a:rPr lang="en-US" dirty="0">
                <a:latin typeface="Huawei Sans" panose="020C0503030203020204" pitchFamily="34" charset="0"/>
              </a:rPr>
              <a:t>The VRF technology is widely used in firewall virtual systems and BGP/MPLS IP VPN scenarios.</a:t>
            </a:r>
          </a:p>
        </p:txBody>
      </p:sp>
    </p:spTree>
    <p:extLst>
      <p:ext uri="{BB962C8B-B14F-4D97-AF65-F5344CB8AC3E}">
        <p14:creationId xmlns:p14="http://schemas.microsoft.com/office/powerpoint/2010/main" val="278319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69292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132264;"/>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6900</TotalTime>
  <Words>2303</Words>
  <Application>Microsoft Office PowerPoint</Application>
  <PresentationFormat>Widescreen</PresentationFormat>
  <Paragraphs>497</Paragraphs>
  <Slides>24</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微软雅黑</vt:lpstr>
      <vt:lpstr>方正兰亭黑简体</vt:lpstr>
      <vt:lpstr>Arial</vt:lpstr>
      <vt:lpstr>Huawei Sans</vt:lpstr>
      <vt:lpstr>Wingdings</vt:lpstr>
      <vt:lpstr>1_自定义设计方案</vt:lpstr>
      <vt:lpstr>3_自定义设计方案</vt:lpstr>
      <vt:lpstr>PowerPoint Presentation</vt:lpstr>
      <vt:lpstr>Introduction to VRF</vt:lpstr>
      <vt:lpstr>PowerPoint Presentation</vt:lpstr>
      <vt:lpstr>PowerPoint Presentation</vt:lpstr>
      <vt:lpstr>PowerPoint Presentation</vt:lpstr>
      <vt:lpstr>Network Requirements</vt:lpstr>
      <vt:lpstr>Implementation by Deploying ACLs</vt:lpstr>
      <vt:lpstr>Adding a Core Switch</vt:lpstr>
      <vt:lpstr>Using VRF Technology</vt:lpstr>
      <vt:lpstr>VRF Implementation</vt:lpstr>
      <vt:lpstr>Example: Before VRF Deployment</vt:lpstr>
      <vt:lpstr>Example: Creating VPN Instances</vt:lpstr>
      <vt:lpstr>Example: Configuring a Dynamic Routing Protocol</vt:lpstr>
      <vt:lpstr>Common Usage Scenarios</vt:lpstr>
      <vt:lpstr>PowerPoint Presentation</vt:lpstr>
      <vt:lpstr>Basic VRF Configuration Commands (1)</vt:lpstr>
      <vt:lpstr>Basic VRF Configuration Commands (2)</vt:lpstr>
      <vt:lpstr>Configuration Case — Background and Requirement Analysis</vt:lpstr>
      <vt:lpstr>Configuration Example — Procedure (1)</vt:lpstr>
      <vt:lpstr>Configuration Example — Procedure (2)</vt:lpstr>
      <vt:lpstr>Configuration Example — Procedure (3)</vt:lpstr>
      <vt:lpstr>PowerPoint Presentation</vt:lpstr>
      <vt:lpstr>PowerPoint Presentation</vt:lpstr>
      <vt:lpstr>PowerPoint Presentation</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Wu Monk</cp:lastModifiedBy>
  <cp:revision>348</cp:revision>
  <dcterms:created xsi:type="dcterms:W3CDTF">2018-11-29T10:16:29Z</dcterms:created>
  <dcterms:modified xsi:type="dcterms:W3CDTF">2020-08-12T05:55:12Z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(3)BQn3G38606uSiNJoQONVUpIrNx1GA2TcRbHpnDWxKiyUAFWMCAOMMqemYPvAY7dwVgYeqm15
l5UlOXZGUmWKLLcnhPbbfnbzEkxSLTU3KOLbAdANkZefTd3M9d4E9Az79Y9nvNc8hzCAxtyg
is9Fzstfx0oymZXLWLJplS1kP5RQbzKdj0HhaeCzNnW5SAog2cfx7LtUgc++0QQyQ6o+h2LW
HU9Q+rPFkHI6Sfy59m</vt:lpwstr>
  </property>
  <property fmtid="{D5CDD505-2E9C-101B-9397-08002B2CF9AE}" pid="3" name="_2015_ms_pID_7253431">
    <vt:lpwstr>Pe5pBIYSplzebImghzbVLiZstTTEbX8jyozC0OP451D5sM0FTF2nZE
jRBZ8L6LLALN7/s40hQIi7h21cTQ7Z2hyJonpEhWwPQ6TPysmlmsgD7y+iYm8yFFqsp3CR9h
G1rqksH/JTh9f27ZzZp+3olkdFudKcLylGJfYmZRMW9nB+k2hAFIow1QoFhKOR1OXYpadXur
19rcTi/0ELvg1mVmzs43SS+bRQTU0gCOtASr</vt:lpwstr>
  </property>
  <property fmtid="{D5CDD505-2E9C-101B-9397-08002B2CF9AE}" pid="4" name="_2015_ms_pID_7253432">
    <vt:lpwstr>9A==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1593996622</vt:lpwstr>
  </property>
</Properties>
</file>