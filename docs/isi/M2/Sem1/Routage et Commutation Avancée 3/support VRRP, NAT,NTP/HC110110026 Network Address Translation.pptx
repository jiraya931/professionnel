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Lst>
  <p:notesMasterIdLst>
    <p:notesMasterId r:id="rId25"/>
  </p:notesMasterIdLst>
  <p:handoutMasterIdLst>
    <p:handoutMasterId r:id="rId26"/>
  </p:handoutMasterIdLst>
  <p:sldIdLst>
    <p:sldId id="256" r:id="rId5"/>
    <p:sldId id="257" r:id="rId6"/>
    <p:sldId id="276"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C00000"/>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90244" autoAdjust="0"/>
  </p:normalViewPr>
  <p:slideViewPr>
    <p:cSldViewPr showGuides="1">
      <p:cViewPr varScale="1">
        <p:scale>
          <a:sx n="78" d="100"/>
          <a:sy n="78" d="100"/>
        </p:scale>
        <p:origin x="114" y="534"/>
      </p:cViewPr>
      <p:guideLst/>
    </p:cSldViewPr>
  </p:slideViewPr>
  <p:notesTextViewPr>
    <p:cViewPr>
      <p:scale>
        <a:sx n="3" d="2"/>
        <a:sy n="3" d="2"/>
      </p:scale>
      <p:origin x="0" y="0"/>
    </p:cViewPr>
  </p:notesTextViewPr>
  <p:sorterViewPr>
    <p:cViewPr>
      <p:scale>
        <a:sx n="66" d="100"/>
        <a:sy n="66" d="100"/>
      </p:scale>
      <p:origin x="0" y="3576"/>
    </p:cViewPr>
  </p:sorterViewPr>
  <p:notesViewPr>
    <p:cSldViewPr showGuides="1">
      <p:cViewPr varScale="1">
        <p:scale>
          <a:sx n="74" d="100"/>
          <a:sy n="74" d="100"/>
        </p:scale>
        <p:origin x="2136" y="72"/>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t>请将此处改为本章标题</a:t>
            </a:r>
            <a:endParaRPr lang="en-US" altLang="zh-CN"/>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smtClean="0"/>
              <a:t>Click here to add content</a:t>
            </a:r>
            <a:endParaRPr lang="en-US" altLang="zh-CN" noProof="0" dirty="0"/>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29831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33172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xfrm>
            <a:off x="584200" y="765175"/>
            <a:ext cx="5930900" cy="3336925"/>
          </a:xfrm>
          <a:ln/>
        </p:spPr>
      </p:sp>
      <p:sp>
        <p:nvSpPr>
          <p:cNvPr id="74755" name="备注占位符 2"/>
          <p:cNvSpPr>
            <a:spLocks noGrp="1"/>
          </p:cNvSpPr>
          <p:nvPr>
            <p:ph type="body" idx="1"/>
          </p:nvPr>
        </p:nvSpPr>
        <p:spPr>
          <a:noFill/>
          <a:ln/>
        </p:spPr>
        <p:txBody>
          <a:bodyPr/>
          <a:lstStyle/>
          <a:p>
            <a:pPr hangingPunct="1"/>
            <a:endParaRPr lang="zh-CN" altLang="en-US" dirty="0" smtClean="0">
              <a:latin typeface="FrutigerNext LT Regular"/>
            </a:endParaRPr>
          </a:p>
        </p:txBody>
      </p:sp>
    </p:spTree>
    <p:extLst>
      <p:ext uri="{BB962C8B-B14F-4D97-AF65-F5344CB8AC3E}">
        <p14:creationId xmlns:p14="http://schemas.microsoft.com/office/powerpoint/2010/main" val="2520396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备注占位符 2"/>
          <p:cNvSpPr>
            <a:spLocks noGrp="1"/>
          </p:cNvSpPr>
          <p:nvPr>
            <p:ph type="body" idx="1"/>
          </p:nvPr>
        </p:nvSpPr>
        <p:spPr/>
        <p:txBody>
          <a:bodyPr/>
          <a:lstStyle/>
          <a:p>
            <a:r>
              <a:rPr lang="en-US" altLang="zh-CN" smtClean="0"/>
              <a:t>One of the main issues that has faced the expanding network has been the progressive depletion of IP addresses as a result of growing demand. The existing IPv4 addressing scheme has struggled to keep up with the constant growth in the number of devices that continue to make up the public IP network which is commonly recognized as the Internet. IPv4 addressing has already faced depletion from IANA, the industry body that is responsible for the allocation of addressing globally.</a:t>
            </a:r>
          </a:p>
          <a:p>
            <a:r>
              <a:rPr lang="en-US" altLang="zh-CN" smtClean="0"/>
              <a:t>One makeshift solution was to allocate a range of private addresses based on the existing IP address classes that could be reused. This solution has allowed network domains to implement these addressing schemes based on the private address range, and in relation to the scale of the network domain. This allows for traffic that originates and is destined for locations in the same domain to communicate without consumption of valued public addresses.</a:t>
            </a:r>
          </a:p>
          <a:p>
            <a:r>
              <a:rPr lang="en-US" altLang="zh-CN" smtClean="0"/>
              <a:t>A problem arises however on facilitating communication beyond the private network domain where destinations for traffic exist within the public domain or in another private domain beyond that public domain. Network Address Translation has become the standard solution to this issue allowing end stations to forward traffic via the public network domain from a private network.</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850221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备注占位符 2"/>
          <p:cNvSpPr>
            <a:spLocks noGrp="1"/>
          </p:cNvSpPr>
          <p:nvPr>
            <p:ph type="body" idx="1"/>
          </p:nvPr>
        </p:nvSpPr>
        <p:spPr/>
        <p:txBody>
          <a:bodyPr/>
          <a:lstStyle/>
          <a:p>
            <a:r>
              <a:rPr lang="en-US" altLang="zh-CN" smtClean="0"/>
              <a:t>Network Address Translation (NAT) uses the generally established boundary of the gateway router to identify network domains for translation. Domains are considered to be either internal private networks or external public networks between which NAT is performed. The main principle lies in the reception of traffic with a source address that is in the private network and a destination address which represents a location beyond the private network domain.</a:t>
            </a:r>
          </a:p>
          <a:p>
            <a:r>
              <a:rPr lang="en-US" altLang="zh-CN" smtClean="0"/>
              <a:t>The router is expected to implement NAT to translate the private address to a public address to allow the public destination address to receive a valid return public address via which packets received can be replied. NAT must also create a mapping table within the gateway to allow the gateway to determine as to which private network destination address a packet received from the public network should be sent, again requiring address translation to be performed along the return path.</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2784897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备注占位符 2"/>
          <p:cNvSpPr>
            <a:spLocks noGrp="1"/>
          </p:cNvSpPr>
          <p:nvPr>
            <p:ph type="body" idx="1"/>
          </p:nvPr>
        </p:nvSpPr>
        <p:spPr/>
        <p:txBody>
          <a:bodyPr/>
          <a:lstStyle/>
          <a:p>
            <a:r>
              <a:rPr lang="en-US" altLang="zh-CN" smtClean="0"/>
              <a:t>A number of implementations of NAT are possible and are capable of being applied to a variety of different situations. Static NAT represents a direct one-to-one mapping that allows the IP address of a specific end system to be translated to a specific public address. On a large scale the one-to-one mapping of static NAT does not do anything to alleviate the address shortage, however is applicable in cases such as where a host may wish to have certain privileges associated with an address to which the host is statically associated. This same principle may also apply to servers that may wish to be reached from the external network by a specific public address.</a:t>
            </a:r>
          </a:p>
          <a:p>
            <a:r>
              <a:rPr lang="en-US" altLang="zh-CN" smtClean="0"/>
              <a:t>In the example given packets originating from source 192.168.1.1 are destined for the public network address of 1.1.1.1. The network gateway RTA, builds a mapping between the private address of 192.168.1.1 and a public address of 200.10.10.5 that is assigned as the source address of the packet before being forwarded by the gateway to the intended destination. Any return packet will be sent as a reply with the destination address of 200.10.10.5 to which the gateway will receive and perform the static translation, before forwarding the packet to the associated host of 192.168.1.1. The static mapping of addresses requires no real management of address allocation for users, since addressing is manually assigned.</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3247575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备注占位符 2"/>
          <p:cNvSpPr>
            <a:spLocks noGrp="1"/>
          </p:cNvSpPr>
          <p:nvPr>
            <p:ph type="body" idx="1"/>
          </p:nvPr>
        </p:nvSpPr>
        <p:spPr/>
        <p:txBody>
          <a:bodyPr/>
          <a:lstStyle/>
          <a:p>
            <a:r>
              <a:rPr lang="en-US" altLang="zh-CN" smtClean="0"/>
              <a:t>Dynamic NAT works on the principle of address pools by which internal end systems wishing to forward traffic across the public network are capable of associating with a public address from an address pool. End systems requiring to communicate with destinations in the public network domain must associate with a unique public address that is attainable from the public address range of the pool. </a:t>
            </a:r>
          </a:p>
          <a:p>
            <a:r>
              <a:rPr lang="en-US" altLang="zh-CN" smtClean="0"/>
              <a:t>An address is assigned from the NAT server address pool as each end system attempts to forward traffic to a public network destination. The number of IP addresses owned by the NAT server is far less than the number of internal hosts because not all the internal hosts access external networks at the same time. This is usually determined according to the number of internal hosts that access external networks at peak hours.</a:t>
            </a:r>
          </a:p>
          <a:p>
            <a:r>
              <a:rPr lang="en-US" altLang="zh-CN" smtClean="0"/>
              <a:t>The example demonstrates a case where two internal hosts generate packets intended for the destination 1.1.1.1/24, in which each internal host is allocated a unique address from the address pool, to allow each host to be distinguished in the public network from the other. Once communication is no longer required over the public network, the address mapping will be removed to allow the public address to be returned to the address pool.</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1275520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备注占位符 2"/>
          <p:cNvSpPr>
            <a:spLocks noGrp="1"/>
          </p:cNvSpPr>
          <p:nvPr>
            <p:ph type="body" idx="1"/>
          </p:nvPr>
        </p:nvSpPr>
        <p:spPr/>
        <p:txBody>
          <a:bodyPr/>
          <a:lstStyle/>
          <a:p>
            <a:r>
              <a:rPr lang="en-US" altLang="zh-CN" smtClean="0"/>
              <a:t>In addition to the many-to-many address translation found within Dynamic NAT, Network Address Port Translation (NAPT) can be used to implement concurrent address translation. NAPT allows multiple internal addresses to be mapped to the same public address. It is also called many-to-one address translation or address multiplexing. NAPT maps IP addresses and interfaces. The datagrams from different internal addresses are mapped to interfaces with the same public address and different port numbers, that is, the datagrams share the same public address. </a:t>
            </a:r>
          </a:p>
          <a:p>
            <a:r>
              <a:rPr lang="en-US" altLang="zh-CN" smtClean="0"/>
              <a:t>The router receives a request packet sent from the host on the private network for accessing the server on the public network. The packet's source IP address is 192.168.1.1, and its port number is 1025. The router selects an idle public IP address and an idle port number from the IP address pool, and sets up forward and reverse NAPT entries that specify the mapping between the source IP address and port number of the packet and the public IP address and port number. The router translates the packet's source IP address and port number to the public IP address and port number based on the forward NAPT entry, and sends the packet to the server on the public network. After the translation, the packet's source IP address is 200.10.10.11, and its port number is 2843.</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2496062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备注占位符 2"/>
          <p:cNvSpPr>
            <a:spLocks noGrp="1"/>
          </p:cNvSpPr>
          <p:nvPr>
            <p:ph type="body" idx="1"/>
          </p:nvPr>
        </p:nvSpPr>
        <p:spPr>
          <a:xfrm>
            <a:off x="583903" y="4572000"/>
            <a:ext cx="5931494" cy="5109368"/>
          </a:xfrm>
        </p:spPr>
        <p:txBody>
          <a:bodyPr/>
          <a:lstStyle/>
          <a:p>
            <a:r>
              <a:rPr lang="en-US" altLang="zh-CN" sz="1050" dirty="0" smtClean="0"/>
              <a:t>Easy IP is applied where hosts on small-scale local area networks require access to the public network or Internet. Small-scale LANs are usually deployed where only a few internal hosts are used and the outbound interface obtains a temporary public IP address through dial-up. The temporary public IP address is used by the internal hosts to access the Internet. Easy IP allows the hosts to access the Internet using this temporary public address.</a:t>
            </a:r>
          </a:p>
          <a:p>
            <a:r>
              <a:rPr lang="en-US" altLang="zh-CN" sz="1050" dirty="0" smtClean="0"/>
              <a:t>The example demonstrates the Easy IP process. The router receives a request packet sent from the host on the private network for accessing a server in the public network. The packet's source IP address in this case is 192.168.1.1, and its port number is 1025. The router sets up forward and reverse Easy IP entries that specify the mapping between the source IP address and port number of the packet and the public IP address and port number of the interface connected to the public network. The router translates the source IP address and port number of the packet to the public IP address and port number, and sends the packet to the server on the public network. After the translation, the packet's source IP address is 200.10.10.1, and its port number is 2843. </a:t>
            </a:r>
          </a:p>
          <a:p>
            <a:r>
              <a:rPr lang="en-US" altLang="zh-CN" sz="1050" dirty="0" smtClean="0"/>
              <a:t>After receiving a response from the server, the router queries the reverse Easy IP entry based on the packet's destination IP address and port number. The router translates the packet's destination IP address and port number to the private IP address and port number of the host on the private network, and sends the packet to the host. After the translation, the packet's destination IP address is 192.168.1.1, and its port number is 1025.</a:t>
            </a:r>
            <a:endParaRPr lang="zh-CN" altLang="en-US" sz="1050"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3043674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备注占位符 2"/>
          <p:cNvSpPr>
            <a:spLocks noGrp="1"/>
          </p:cNvSpPr>
          <p:nvPr>
            <p:ph type="body" idx="1"/>
          </p:nvPr>
        </p:nvSpPr>
        <p:spPr/>
        <p:txBody>
          <a:bodyPr/>
          <a:lstStyle/>
          <a:p>
            <a:r>
              <a:rPr lang="en-US" altLang="zh-CN" smtClean="0"/>
              <a:t>NAT can shield hosts on private networks from public network users. When a private network needs to provide services such as web and FTP services for public network users, servers on the private network must be accessible to public network users at any time.</a:t>
            </a:r>
          </a:p>
          <a:p>
            <a:r>
              <a:rPr lang="en-US" altLang="zh-CN" smtClean="0"/>
              <a:t>The NAT server can address the preceding problem by translating the public IP address and port number to the private IP address and port number based on the preconfigured mapping.</a:t>
            </a:r>
          </a:p>
          <a:p>
            <a:r>
              <a:rPr lang="en-US" altLang="zh-CN" smtClean="0"/>
              <a:t>Address translation entries of the NAT server are configured on the router, after which the router receives an access request sent from a host on the public network. The router queries the address translation entry based on the packet's destination IP address and port number. The router translates the packet's destination IP address and port number to the private IP address and port number based on the address translation entry, and sends the packet to the server on the private network. The destination IP address of the packet sent by the host on the public network is 200.10.10.5, and the destination port number of 80. After translation is performed by the router, the destination IP address of the packet is 192.168.1.1, and its port number is 8080. After receiving a response packet sent from the server on the private network, the router queries the address translation entry based on the packet's source IP address and port number. The router translates the packet's source IP address and port number to the public IP address and port number based on the address translation entry, and sends the packet to the host on the public network. The source of the response packet sent from the host on the private network is 192.168.1.1, and its port number is 8080. After translation by the router, the source IP address of the packet is 200.10.10.5, and the port number is again port 80.</a:t>
            </a:r>
            <a:endParaRPr lang="en-US" altLang="zh-CN" dirty="0" smtClean="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288073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备注占位符 2"/>
          <p:cNvSpPr>
            <a:spLocks noGrp="1"/>
          </p:cNvSpPr>
          <p:nvPr>
            <p:ph type="body" idx="1"/>
          </p:nvPr>
        </p:nvSpPr>
        <p:spPr/>
        <p:txBody>
          <a:bodyPr/>
          <a:lstStyle/>
          <a:p>
            <a:r>
              <a:rPr lang="en-US" altLang="zh-CN" smtClean="0"/>
              <a:t>Static NAT indicates that a private address is statically bound to a public address when NAT is performed. The public IP address in static NAT is only used for translation of the unique and fixed private IP address of a host. The nat static [protocol {&lt;tcp&gt;|&lt;udp&gt;}global { &lt;global-address &gt;| current-interface &lt;global-port&gt;} inside {&lt;host-address&gt; &lt;host-port &gt;} vpn-instance &lt;vpn-instance-name&gt; netmask &lt;mask&gt; acl &lt;acl-number&gt; description &lt;description &gt;] command is used to create the static NAT and define the parameters for the translation.</a:t>
            </a:r>
          </a:p>
          <a:p>
            <a:r>
              <a:rPr lang="en-US" altLang="zh-CN" smtClean="0"/>
              <a:t>The key parameters applied as in the example are the global parameter to configure the external NAT information, specifically the external address, and the inside parameter that allows for the internal NAT information to be configured. In both cases the address and port number can be defined for translation. The global port specifies the port number of the service provided for external access. If this parameter is not specified, the value of global-port is 0. That is, any type of service can be provided. The host port specifies the service port number provided by the internal server. If this parameter is not specified, the value of host-port is the same as the value of global-port. </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2961601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备注占位符 2"/>
          <p:cNvSpPr>
            <a:spLocks noGrp="1"/>
          </p:cNvSpPr>
          <p:nvPr>
            <p:ph type="body" idx="1"/>
          </p:nvPr>
        </p:nvSpPr>
        <p:spPr/>
        <p:txBody>
          <a:bodyPr/>
          <a:lstStyle/>
          <a:p>
            <a:r>
              <a:rPr lang="en-US" altLang="zh-CN" smtClean="0"/>
              <a:t>The configuration of static NAT can be viewed through the display nat static command. The command displays the network address translation information with regards to the interface through which the address translation is performed, the global and inside addresses which are translated along with the used ports. Where the ports are not defined, a null result will be displayed. The configuration for translation may be protocol specific to either TCP or UDP protocol traffic, in which case the Protocol entry will be defined.</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3996767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备注占位符 2"/>
          <p:cNvSpPr>
            <a:spLocks noGrp="1"/>
          </p:cNvSpPr>
          <p:nvPr>
            <p:ph type="body" idx="1"/>
          </p:nvPr>
        </p:nvSpPr>
        <p:spPr/>
        <p:txBody>
          <a:bodyPr/>
          <a:lstStyle/>
          <a:p>
            <a:r>
              <a:rPr lang="en-US" altLang="zh-CN" smtClean="0"/>
              <a:t>The configuration of dynamic network address translations involves implementation of the nat outbound command. It relies on the prior configuration of a network access control list that is used to specify a rule to identify specific traffic to which an event or operation will be applied. The details regarding access control lists are covered in a later unit. An association is made between these access control list rules and the NAT address pool. In this manner, the addresses specified in the access control list can be translated by using the NAT address pool.</a:t>
            </a:r>
          </a:p>
          <a:p>
            <a:r>
              <a:rPr lang="en-US" altLang="zh-CN" smtClean="0"/>
              <a:t>The example demonstrates how the nat outbound command has been associated with an access control list with an identifier of 2000 to allow traffic from the 192.168.1.0/24 network range to be translated as part of an address group referred to as address-group 1. This defines a pool range from 200.10.10.11 through to 200.10.10.16 which internal addresses will employ for address translation. The no-pat parameter in the command means that no port address translation will occur for the addresses in the pool, therefore each host must translate to a unique global address.</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3336368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备注占位符 2"/>
          <p:cNvSpPr>
            <a:spLocks noGrp="1"/>
          </p:cNvSpPr>
          <p:nvPr>
            <p:ph type="body" idx="1"/>
          </p:nvPr>
        </p:nvSpPr>
        <p:spPr/>
        <p:txBody>
          <a:bodyPr/>
          <a:lstStyle/>
          <a:p>
            <a:r>
              <a:rPr lang="en-US" altLang="zh-CN" smtClean="0"/>
              <a:t>Two specific display commands will enable the detailed information regarding the dynamic address translation to be verified. The display nat address-group&lt;group-index&gt; command allows the general network address translation pool range to be determined. In addition the display nat outbound command will provide specific details for any dynamic network address translation configuration applied to a given interface. In the example it can be understood that the interface Serial1/0/0 is associated with an access control list rule together with the address group 1 for address translation on the given interface. The no-pat output confirms that port address translation is not in effect in this network address translation.</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2652672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备注占位符 2"/>
          <p:cNvSpPr>
            <a:spLocks noGrp="1"/>
          </p:cNvSpPr>
          <p:nvPr>
            <p:ph type="body" idx="1"/>
          </p:nvPr>
        </p:nvSpPr>
        <p:spPr/>
        <p:txBody>
          <a:bodyPr/>
          <a:lstStyle/>
          <a:p>
            <a:r>
              <a:rPr lang="en-US" altLang="zh-CN" smtClean="0"/>
              <a:t>The Easy IP configuration is very similar in configuration to that of dynamic network address translation, relying on the creation of an access control list rule for defining the address range to which translation is to be performed and application of the nat outbound command. The main difference is in the absence of the address group command since no address pool is used in the configuration of Easy IP. Instead the outbound interface address is used to represent the external address, in this case that being external address 200.10.10.1 of interface serial1/0/0. Additionally it is necessary that port address translation be performed, and as such the no-pat parameter cannot be implemented where an address group does not exist. The nat outbound 2000 represents a binding between the NAT operation and the access control list rule detailing the address range to which the translation will apply.</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197153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备注占位符 2"/>
          <p:cNvSpPr>
            <a:spLocks noGrp="1"/>
          </p:cNvSpPr>
          <p:nvPr>
            <p:ph type="body" idx="1"/>
          </p:nvPr>
        </p:nvSpPr>
        <p:spPr/>
        <p:txBody>
          <a:bodyPr/>
          <a:lstStyle/>
          <a:p>
            <a:r>
              <a:rPr lang="en-US" altLang="zh-CN" smtClean="0"/>
              <a:t>The same display nat outbound command can be used to observe the results of the nat outbound configuration and verify its correct implementation. The interface and access control list (ACL) binding can be determined as well as the interface (in this case) for the outbound translation. The type listing of easyip makes it clearly understood when Easy IP has been successfully configured.</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2316252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备注占位符 2"/>
          <p:cNvSpPr>
            <a:spLocks noGrp="1"/>
          </p:cNvSpPr>
          <p:nvPr>
            <p:ph type="body" idx="1"/>
          </p:nvPr>
        </p:nvSpPr>
        <p:spPr/>
        <p:txBody>
          <a:bodyPr/>
          <a:lstStyle/>
          <a:p>
            <a:r>
              <a:rPr lang="en-US" altLang="zh-CN" smtClean="0"/>
              <a:t>Where it is necessary to provide internal access to external users such as in the case of a public server which is part of an internal network, the NAT server configuration can be performed to enable traffic destined for an external destination address and port number to be translated to an internal destination address and port number.</a:t>
            </a:r>
          </a:p>
          <a:p>
            <a:r>
              <a:rPr lang="en-US" altLang="zh-CN" smtClean="0"/>
              <a:t>The nat server [protocol {&lt;tcp &gt;|&lt;udp&gt;}global {&lt;global-address&gt; | current-interface &lt;global port&gt;} inside {&lt;host-address &gt;&lt;host-port&gt; vpn-instance &lt;vpn-instance-name&gt; acl &lt;acl-number&gt; description &lt;description &gt;] command enables the external internal translation to be performed, where protocol identifies a specific protocol (either TCP or UDP depending on the service) to be permitted for translation along with the global address, indicating the external address for translation and the inside address relating to the internal server address. </a:t>
            </a:r>
          </a:p>
          <a:p>
            <a:r>
              <a:rPr lang="en-US" altLang="zh-CN" smtClean="0"/>
              <a:t>The port number for the external address should be defined, and commonly relates to a specific service such as http (www) on port 80. As a means of further improving the overall shielding of internal port numbers from external threats, an alternative port number can be applied to the inside network and translated through the same means as is used for address translation.</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4190920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备注占位符 2"/>
          <p:cNvSpPr>
            <a:spLocks noGrp="1"/>
          </p:cNvSpPr>
          <p:nvPr>
            <p:ph type="body" idx="1"/>
          </p:nvPr>
        </p:nvSpPr>
        <p:spPr/>
        <p:txBody>
          <a:bodyPr/>
          <a:lstStyle/>
          <a:p>
            <a:r>
              <a:rPr lang="en-US" altLang="zh-CN" smtClean="0"/>
              <a:t>The display nat server command details the configuration results to verify the correct implementation of the NAT server. The interface defines the point at which the translation will occur. The global and inside IP addresses and associated port numbers can be verified. In this case the global address of 202.10.10.5 with a port number of 80 (www) will be translated to an inside server address of 192.168.1.1 with a port number of 8080 as additional security against potential port based attacks. Only TCP traffic that is destined for this address and port will be translated.</a:t>
            </a:r>
            <a:endParaRPr lang="zh-CN" altLang="en-US"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35105987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p:txBody>
          <a:bodyPr/>
          <a:lstStyle/>
          <a:p>
            <a:r>
              <a:rPr lang="en-US" altLang="zh-CN" smtClean="0"/>
              <a:t>The NAT internal server configuration will allow a unique public address to be associated with a private network server destination, allowing inbound traffic flow from the external network after translation. Internal users are able to reach the server location based on the private address of the server.</a:t>
            </a:r>
          </a:p>
          <a:p>
            <a:r>
              <a:rPr lang="en-US" altLang="zh-CN" smtClean="0"/>
              <a:t>The PAT feature will perform translation based on the port number as well as the IP addresses. It is used as a form of address conservation where the number of public addresses available for translation are limited, or insufficient to support the number of private addresses that require possible translation.</a:t>
            </a:r>
            <a:endParaRPr lang="en-US" altLang="zh-CN" dirty="0" smtClean="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2982643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xfrm>
            <a:off x="584200" y="765175"/>
            <a:ext cx="5930900" cy="3336925"/>
          </a:xfrm>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zh-CN" smtClean="0"/>
          </a:p>
        </p:txBody>
      </p:sp>
    </p:spTree>
    <p:extLst>
      <p:ext uri="{BB962C8B-B14F-4D97-AF65-F5344CB8AC3E}">
        <p14:creationId xmlns:p14="http://schemas.microsoft.com/office/powerpoint/2010/main" val="2558032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sp>
        <p:nvSpPr>
          <p:cNvPr id="63"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smtClean="0">
                <a:solidFill>
                  <a:schemeClr val="tx1">
                    <a:lumMod val="75000"/>
                    <a:lumOff val="25000"/>
                  </a:schemeClr>
                </a:solidFill>
                <a:latin typeface="+mn-ea"/>
                <a:ea typeface="+mn-ea"/>
              </a:rPr>
              <a:t>Revision Record</a:t>
            </a:r>
            <a:endParaRPr lang="zh-CN" altLang="en-US" sz="3500" b="1" dirty="0" smtClean="0">
              <a:solidFill>
                <a:schemeClr val="tx1">
                  <a:lumMod val="75000"/>
                  <a:lumOff val="25000"/>
                </a:schemeClr>
              </a:solidFill>
              <a:latin typeface="+mn-ea"/>
              <a:ea typeface="+mn-ea"/>
            </a:endParaRPr>
          </a:p>
        </p:txBody>
      </p:sp>
      <p:sp>
        <p:nvSpPr>
          <p:cNvPr id="64"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smtClean="0">
                <a:solidFill>
                  <a:srgbClr val="4D4D4D"/>
                </a:solidFill>
                <a:latin typeface="+mn-ea"/>
                <a:ea typeface="+mn-ea"/>
                <a:cs typeface="+mn-cs"/>
              </a:rPr>
              <a:t>Do Not Print this Page</a:t>
            </a:r>
            <a:endParaRPr lang="zh-CN" altLang="en-US" sz="2800" kern="1200" dirty="0">
              <a:solidFill>
                <a:srgbClr val="4D4D4D"/>
              </a:solidFill>
              <a:latin typeface="+mn-ea"/>
              <a:ea typeface="+mn-ea"/>
              <a:cs typeface="+mn-cs"/>
            </a:endParaRPr>
          </a:p>
        </p:txBody>
      </p:sp>
      <p:graphicFrame>
        <p:nvGraphicFramePr>
          <p:cNvPr id="30" name="Group 3"/>
          <p:cNvGraphicFramePr>
            <a:graphicFrameLocks noGrp="1"/>
          </p:cNvGraphicFramePr>
          <p:nvPr userDrawn="1">
            <p:extLst>
              <p:ext uri="{D42A27DB-BD31-4B8C-83A1-F6EECF244321}">
                <p14:modId xmlns:p14="http://schemas.microsoft.com/office/powerpoint/2010/main" val="3494048295"/>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xmlns="" val="20000"/>
                    </a:ext>
                  </a:extLst>
                </a:gridCol>
                <a:gridCol w="2155444">
                  <a:extLst>
                    <a:ext uri="{9D8B030D-6E8A-4147-A177-3AD203B41FA5}">
                      <a16:colId xmlns:a16="http://schemas.microsoft.com/office/drawing/2014/main" xmlns="" val="20001"/>
                    </a:ext>
                  </a:extLst>
                </a:gridCol>
                <a:gridCol w="2873927">
                  <a:extLst>
                    <a:ext uri="{9D8B030D-6E8A-4147-A177-3AD203B41FA5}">
                      <a16:colId xmlns:a16="http://schemas.microsoft.com/office/drawing/2014/main" xmlns="" val="20002"/>
                    </a:ext>
                  </a:extLst>
                </a:gridCol>
                <a:gridCol w="2376427">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Course Code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Product Version</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ea"/>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31" name="Group 21"/>
          <p:cNvGraphicFramePr>
            <a:graphicFrameLocks noGrp="1"/>
          </p:cNvGraphicFramePr>
          <p:nvPr userDrawn="1">
            <p:extLst>
              <p:ext uri="{D42A27DB-BD31-4B8C-83A1-F6EECF244321}">
                <p14:modId xmlns:p14="http://schemas.microsoft.com/office/powerpoint/2010/main" val="3173793265"/>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xmlns="" val="20000"/>
                    </a:ext>
                  </a:extLst>
                </a:gridCol>
                <a:gridCol w="2155920">
                  <a:extLst>
                    <a:ext uri="{9D8B030D-6E8A-4147-A177-3AD203B41FA5}">
                      <a16:colId xmlns:a16="http://schemas.microsoft.com/office/drawing/2014/main" xmlns="" val="20001"/>
                    </a:ext>
                  </a:extLst>
                </a:gridCol>
                <a:gridCol w="2912127">
                  <a:extLst>
                    <a:ext uri="{9D8B030D-6E8A-4147-A177-3AD203B41FA5}">
                      <a16:colId xmlns:a16="http://schemas.microsoft.com/office/drawing/2014/main" xmlns="" val="20002"/>
                    </a:ext>
                  </a:extLst>
                </a:gridCol>
                <a:gridCol w="231094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Author/ID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Reviewer/ID</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ea"/>
                          <a:ea typeface="+mn-ea"/>
                        </a:rPr>
                        <a:t>New</a:t>
                      </a:r>
                      <a:r>
                        <a:rPr kumimoji="1" lang="zh-CN" altLang="zh-CN" sz="1600" b="1" i="0" u="none" strike="noStrike" cap="none" normalizeH="0" baseline="0" dirty="0">
                          <a:ln>
                            <a:noFill/>
                          </a:ln>
                          <a:solidFill>
                            <a:schemeClr val="tx1"/>
                          </a:solidFill>
                          <a:effectLst/>
                          <a:latin typeface="+mn-ea"/>
                          <a:ea typeface="+mn-ea"/>
                        </a:rPr>
                        <a:t>/</a:t>
                      </a:r>
                      <a:r>
                        <a:rPr kumimoji="1" lang="en-US" altLang="zh-CN" sz="1600" b="1" i="0" u="none" strike="noStrike" cap="none" normalizeH="0" baseline="0" dirty="0">
                          <a:ln>
                            <a:noFill/>
                          </a:ln>
                          <a:solidFill>
                            <a:schemeClr val="tx1"/>
                          </a:solidFill>
                          <a:effectLst/>
                          <a:latin typeface="+mn-ea"/>
                          <a:ea typeface="+mn-ea"/>
                        </a:rPr>
                        <a:t> Update</a:t>
                      </a:r>
                      <a:endParaRPr kumimoji="1" lang="zh-CN" altLang="en-US" sz="16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470491851"/>
                  </a:ext>
                </a:extLst>
              </a:tr>
            </a:tbl>
          </a:graphicData>
        </a:graphic>
      </p:graphicFrame>
      <p:sp>
        <p:nvSpPr>
          <p:cNvPr id="32"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33"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34"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7"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X.X</a:t>
            </a:r>
          </a:p>
        </p:txBody>
      </p:sp>
      <p:sp>
        <p:nvSpPr>
          <p:cNvPr id="48"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49"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0"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1"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2" name="文本占位符 7">
            <a:extLst>
              <a:ext uri="{FF2B5EF4-FFF2-40B4-BE49-F238E27FC236}">
                <a16:creationId xmlns:a16="http://schemas.microsoft.com/office/drawing/2014/main" xmlns=""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3" name="文本占位符 7">
            <a:extLst>
              <a:ext uri="{FF2B5EF4-FFF2-40B4-BE49-F238E27FC236}">
                <a16:creationId xmlns:a16="http://schemas.microsoft.com/office/drawing/2014/main" xmlns=""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4" name="文本占位符 7">
            <a:extLst>
              <a:ext uri="{FF2B5EF4-FFF2-40B4-BE49-F238E27FC236}">
                <a16:creationId xmlns:a16="http://schemas.microsoft.com/office/drawing/2014/main" xmlns=""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5" name="文本占位符 7">
            <a:extLst>
              <a:ext uri="{FF2B5EF4-FFF2-40B4-BE49-F238E27FC236}">
                <a16:creationId xmlns:a16="http://schemas.microsoft.com/office/drawing/2014/main" xmlns=""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6" name="文本占位符 7">
            <a:extLst>
              <a:ext uri="{FF2B5EF4-FFF2-40B4-BE49-F238E27FC236}">
                <a16:creationId xmlns:a16="http://schemas.microsoft.com/office/drawing/2014/main" xmlns=""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7" name="文本占位符 7">
            <a:extLst>
              <a:ext uri="{FF2B5EF4-FFF2-40B4-BE49-F238E27FC236}">
                <a16:creationId xmlns:a16="http://schemas.microsoft.com/office/drawing/2014/main" xmlns=""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8" name="文本占位符 7">
            <a:extLst>
              <a:ext uri="{FF2B5EF4-FFF2-40B4-BE49-F238E27FC236}">
                <a16:creationId xmlns:a16="http://schemas.microsoft.com/office/drawing/2014/main" xmlns=""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9" name="文本占位符 7">
            <a:extLst>
              <a:ext uri="{FF2B5EF4-FFF2-40B4-BE49-F238E27FC236}">
                <a16:creationId xmlns:a16="http://schemas.microsoft.com/office/drawing/2014/main" xmlns=""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0" name="文本占位符 7">
            <a:extLst>
              <a:ext uri="{FF2B5EF4-FFF2-40B4-BE49-F238E27FC236}">
                <a16:creationId xmlns:a16="http://schemas.microsoft.com/office/drawing/2014/main" xmlns=""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61" name="文本占位符 7">
            <a:extLst>
              <a:ext uri="{FF2B5EF4-FFF2-40B4-BE49-F238E27FC236}">
                <a16:creationId xmlns:a16="http://schemas.microsoft.com/office/drawing/2014/main" xmlns=""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2" name="文本占位符 7">
            <a:extLst>
              <a:ext uri="{FF2B5EF4-FFF2-40B4-BE49-F238E27FC236}">
                <a16:creationId xmlns:a16="http://schemas.microsoft.com/office/drawing/2014/main" xmlns=""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7" name="文本占位符 7">
            <a:extLst>
              <a:ext uri="{FF2B5EF4-FFF2-40B4-BE49-F238E27FC236}">
                <a16:creationId xmlns:a16="http://schemas.microsoft.com/office/drawing/2014/main" xmlns=""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78" name="文本占位符 7">
            <a:extLst>
              <a:ext uri="{FF2B5EF4-FFF2-40B4-BE49-F238E27FC236}">
                <a16:creationId xmlns:a16="http://schemas.microsoft.com/office/drawing/2014/main" xmlns=""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9" name="文本占位符 7">
            <a:extLst>
              <a:ext uri="{FF2B5EF4-FFF2-40B4-BE49-F238E27FC236}">
                <a16:creationId xmlns:a16="http://schemas.microsoft.com/office/drawing/2014/main" xmlns=""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0" name="文本占位符 7">
            <a:extLst>
              <a:ext uri="{FF2B5EF4-FFF2-40B4-BE49-F238E27FC236}">
                <a16:creationId xmlns:a16="http://schemas.microsoft.com/office/drawing/2014/main" xmlns=""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1" name="文本占位符 7">
            <a:extLst>
              <a:ext uri="{FF2B5EF4-FFF2-40B4-BE49-F238E27FC236}">
                <a16:creationId xmlns:a16="http://schemas.microsoft.com/office/drawing/2014/main" xmlns=""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2" name="文本占位符 7">
            <a:extLst>
              <a:ext uri="{FF2B5EF4-FFF2-40B4-BE49-F238E27FC236}">
                <a16:creationId xmlns:a16="http://schemas.microsoft.com/office/drawing/2014/main" xmlns=""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3" name="文本占位符 7">
            <a:extLst>
              <a:ext uri="{FF2B5EF4-FFF2-40B4-BE49-F238E27FC236}">
                <a16:creationId xmlns:a16="http://schemas.microsoft.com/office/drawing/2014/main" xmlns=""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4" name="文本占位符 7">
            <a:extLst>
              <a:ext uri="{FF2B5EF4-FFF2-40B4-BE49-F238E27FC236}">
                <a16:creationId xmlns:a16="http://schemas.microsoft.com/office/drawing/2014/main" xmlns=""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5" name="文本占位符 7">
            <a:extLst>
              <a:ext uri="{FF2B5EF4-FFF2-40B4-BE49-F238E27FC236}">
                <a16:creationId xmlns:a16="http://schemas.microsoft.com/office/drawing/2014/main" xmlns=""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Title">
    <p:spTree>
      <p:nvGrpSpPr>
        <p:cNvPr id="1" name=""/>
        <p:cNvGrpSpPr/>
        <p:nvPr/>
      </p:nvGrpSpPr>
      <p:grpSpPr>
        <a:xfrm>
          <a:off x="0" y="0"/>
          <a:ext cx="0" cy="0"/>
          <a:chOff x="0" y="0"/>
          <a:chExt cx="0" cy="0"/>
        </a:xfrm>
      </p:grpSpPr>
      <p:pic>
        <p:nvPicPr>
          <p:cNvPr id="7"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hasCustomPrompt="1"/>
          </p:nvPr>
        </p:nvSpPr>
        <p:spPr>
          <a:xfrm>
            <a:off x="1031295" y="4957156"/>
            <a:ext cx="10441567" cy="831600"/>
          </a:xfrm>
          <a:prstGeom prst="rect">
            <a:avLst/>
          </a:prstGeo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en-US" altLang="zh-CN" dirty="0" smtClean="0"/>
              <a:t>Click to Edit Title</a:t>
            </a:r>
            <a:endParaRPr lang="zh-CN" altLang="en-US" dirty="0"/>
          </a:p>
        </p:txBody>
      </p:sp>
      <p:sp>
        <p:nvSpPr>
          <p:cNvPr id="30" name="文本占位符 29"/>
          <p:cNvSpPr>
            <a:spLocks noGrp="1"/>
          </p:cNvSpPr>
          <p:nvPr>
            <p:ph type="body" sz="quarter" idx="10" hasCustomPrompt="1"/>
          </p:nvPr>
        </p:nvSpPr>
        <p:spPr>
          <a:xfrm>
            <a:off x="1031295" y="5816120"/>
            <a:ext cx="6912000" cy="493200"/>
          </a:xfrm>
          <a:prstGeom prst="rect">
            <a:avLst/>
          </a:prstGeo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en-US" altLang="zh-CN" dirty="0" smtClean="0"/>
              <a:t>Click to Edit Title</a:t>
            </a:r>
            <a:endParaRPr lang="zh-CN" altLang="en-US" dirty="0" smtClean="0"/>
          </a:p>
        </p:txBody>
      </p:sp>
      <p:sp>
        <p:nvSpPr>
          <p:cNvPr id="9"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a:prstGeom prst="rect">
            <a:avLst/>
          </a:prstGeom>
        </p:spPr>
        <p:txBody>
          <a:bodyPr/>
          <a:lstStyle>
            <a:lvl1pPr algn="just" eaLnBrk="1" hangingPunct="1">
              <a:defRPr>
                <a:latin typeface="+mn-ea"/>
                <a:ea typeface="+mn-ea"/>
                <a:cs typeface="Arial" panose="020B0604020202020204" pitchFamily="34" charset="0"/>
              </a:defRPr>
            </a:lvl1pPr>
            <a:lvl5pPr>
              <a:buNone/>
              <a:defRPr/>
            </a:lvl5pPr>
          </a:lstStyle>
          <a:p>
            <a:pPr eaLnBrk="1" hangingPunct="1"/>
            <a:r>
              <a:rPr lang="en-US" altLang="zh-CN" dirty="0" smtClean="0"/>
              <a:t>The chapter describes ...</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Foreword</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7"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8"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a:prstGeom prst="rect">
            <a:avLst/>
          </a:prstGeo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kumimoji="0" lang="zh-CN" altLang="en-US" sz="2200" b="0" i="0" u="none" strike="noStrike" kern="0" cap="none" spc="0" normalizeH="0" baseline="0" noProof="0"/>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smtClean="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smtClean="0">
              <a:ln>
                <a:noFill/>
              </a:ln>
              <a:solidFill>
                <a:srgbClr val="000000"/>
              </a:solidFill>
              <a:effectLst/>
              <a:uLnTx/>
              <a:uFillTx/>
              <a:latin typeface="+mn-lt"/>
              <a:ea typeface="+mn-ea"/>
              <a:cs typeface="+mn-cs"/>
            </a:endParaRP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Objectives</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232248"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kern="1200" dirty="0" smtClean="0">
                <a:solidFill>
                  <a:schemeClr val="tx1">
                    <a:lumMod val="75000"/>
                    <a:lumOff val="25000"/>
                  </a:schemeClr>
                </a:solidFill>
                <a:latin typeface="+mn-ea"/>
                <a:ea typeface="+mn-ea"/>
                <a:cs typeface="Arial" pitchFamily="34" charset="0"/>
              </a:rPr>
              <a:t>Contents</a:t>
            </a:r>
            <a:endParaRPr lang="en-US" altLang="zh-CN" sz="3500" b="1" kern="1200" dirty="0">
              <a:solidFill>
                <a:schemeClr val="tx1">
                  <a:lumMod val="75000"/>
                  <a:lumOff val="25000"/>
                </a:schemeClr>
              </a:solidFill>
              <a:latin typeface="+mn-ea"/>
              <a:ea typeface="+mn-ea"/>
              <a:cs typeface="Arial" pitchFamily="34" charset="0"/>
            </a:endParaRP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8" name="文本占位符 6"/>
          <p:cNvSpPr>
            <a:spLocks noGrp="1"/>
          </p:cNvSpPr>
          <p:nvPr>
            <p:ph type="body" sz="quarter" idx="10" hasCustomPrompt="1"/>
          </p:nvPr>
        </p:nvSpPr>
        <p:spPr>
          <a:xfrm>
            <a:off x="912285" y="1233488"/>
            <a:ext cx="10560048" cy="468000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lang="zh-CN" altLang="en-US" sz="2200" baseline="0" dirty="0">
                <a:solidFill>
                  <a:schemeClr val="tx1"/>
                </a:solidFill>
                <a:latin typeface="+mn-lt"/>
                <a:ea typeface="+mn-ea"/>
                <a:cs typeface="+mn-cs"/>
              </a:defRPr>
            </a:lvl1pPr>
          </a:lstStyle>
          <a:p>
            <a:r>
              <a:rPr lang="en-US" altLang="zh-CN" dirty="0" smtClean="0"/>
              <a:t>Item 1</a:t>
            </a:r>
            <a:endParaRPr lang="zh-CN" altLang="en-US" dirty="0"/>
          </a:p>
        </p:txBody>
      </p:sp>
      <p:sp>
        <p:nvSpPr>
          <p:cNvPr id="29" name="Freeform 6"/>
          <p:cNvSpPr>
            <a:spLocks/>
          </p:cNvSpPr>
          <p:nvPr userDrawn="1"/>
        </p:nvSpPr>
        <p:spPr bwMode="auto">
          <a:xfrm>
            <a:off x="4619836" y="296368"/>
            <a:ext cx="7560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30" name="Freeform 11"/>
          <p:cNvSpPr>
            <a:spLocks/>
          </p:cNvSpPr>
          <p:nvPr userDrawn="1"/>
        </p:nvSpPr>
        <p:spPr bwMode="auto">
          <a:xfrm>
            <a:off x="4511824"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Overview and Objectives</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3"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912285" y="1233488"/>
            <a:ext cx="10560048" cy="4680000"/>
          </a:xfrm>
          <a:prstGeom prst="rect">
            <a:avLst/>
          </a:prstGeom>
        </p:spPr>
        <p:txBody>
          <a:bodyPr/>
          <a:lstStyle>
            <a:lvl1pPr algn="just">
              <a:defRPr>
                <a:latin typeface="+mn-ea"/>
                <a:ea typeface="+mn-ea"/>
                <a:cs typeface="Arial" panose="020B0604020202020204" pitchFamily="34" charset="0"/>
              </a:defRPr>
            </a:lvl1pPr>
          </a:lstStyle>
          <a:p>
            <a:r>
              <a:rPr lang="en-US" altLang="zh-CN" dirty="0" smtClean="0"/>
              <a:t>Click here to edit</a:t>
            </a:r>
            <a:endParaRPr lang="zh-CN" altLang="en-US" dirty="0"/>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7"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8" name="组合 7"/>
          <p:cNvGrpSpPr/>
          <p:nvPr userDrawn="1"/>
        </p:nvGrpSpPr>
        <p:grpSpPr>
          <a:xfrm>
            <a:off x="587388" y="505779"/>
            <a:ext cx="374708" cy="445558"/>
            <a:chOff x="-1647825" y="2492375"/>
            <a:chExt cx="1947863" cy="2316163"/>
          </a:xfrm>
          <a:solidFill>
            <a:schemeClr val="bg1"/>
          </a:solidFill>
        </p:grpSpPr>
        <p:sp>
          <p:nvSpPr>
            <p:cNvPr id="9"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0"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1"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文本占位符 29"/>
          <p:cNvSpPr>
            <a:spLocks noGrp="1"/>
          </p:cNvSpPr>
          <p:nvPr>
            <p:ph type="body" sz="quarter" idx="12" hasCustomPrompt="1"/>
          </p:nvPr>
        </p:nvSpPr>
        <p:spPr>
          <a:xfrm>
            <a:off x="1595500" y="410400"/>
            <a:ext cx="9831600" cy="639559"/>
          </a:xfrm>
          <a:noFill/>
          <a:ln w="9525">
            <a:noFill/>
            <a:miter lim="800000"/>
            <a:headEnd/>
            <a:tailEnd/>
          </a:ln>
        </p:spPr>
        <p:txBody>
          <a:bodyPr wrap="square" lIns="99980" tIns="49987" rIns="99980" bIns="49987" rtlCol="0" anchor="t">
            <a:spAutoFit/>
          </a:bodyPr>
          <a:lstStyle>
            <a:lvl1pPr marL="0" indent="0" algn="l">
              <a:lnSpc>
                <a:spcPct val="100000"/>
              </a:lnSpc>
              <a:buNone/>
              <a:defRPr lang="zh-CN" altLang="en-US" sz="3500" b="1" kern="1200" dirty="0">
                <a:solidFill>
                  <a:schemeClr val="tx1">
                    <a:lumMod val="75000"/>
                    <a:lumOff val="25000"/>
                  </a:schemeClr>
                </a:solidFill>
                <a:latin typeface="+mn-ea"/>
                <a:cs typeface="Arial" pitchFamily="34" charset="0"/>
              </a:defRPr>
            </a:lvl1pPr>
          </a:lstStyle>
          <a:p>
            <a:pPr lvl="0" defTabSz="1001624" eaLnBrk="0" fontAlgn="t" hangingPunct="0">
              <a:spcBef>
                <a:spcPct val="0"/>
              </a:spcBef>
            </a:pPr>
            <a:r>
              <a:rPr lang="en-US" altLang="zh-CN" sz="3500" b="1" kern="1200" dirty="0" smtClean="0">
                <a:solidFill>
                  <a:schemeClr val="tx1">
                    <a:lumMod val="75000"/>
                    <a:lumOff val="25000"/>
                  </a:schemeClr>
                </a:solidFill>
                <a:latin typeface="+mn-ea"/>
                <a:ea typeface="+mn-ea"/>
                <a:cs typeface="Arial" pitchFamily="34" charset="0"/>
              </a:rPr>
              <a:t>Title</a:t>
            </a:r>
            <a:endParaRPr lang="zh-CN" altLang="en-US" sz="3500" b="1" kern="1200" dirty="0">
              <a:solidFill>
                <a:schemeClr val="tx1">
                  <a:lumMod val="75000"/>
                  <a:lumOff val="25000"/>
                </a:schemeClr>
              </a:solidFill>
              <a:latin typeface="+mn-ea"/>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en-US" altLang="zh-CN" dirty="0" smtClean="0"/>
              <a:t>Question description.</a:t>
            </a:r>
            <a:endParaRPr lang="en-US" altLang="zh-CN"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Quiz</a:t>
            </a:r>
            <a:endParaRPr lang="en-US" altLang="zh-CN" dirty="0"/>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24" name="Freeform 6"/>
          <p:cNvSpPr>
            <a:spLocks/>
          </p:cNvSpPr>
          <p:nvPr userDrawn="1"/>
        </p:nvSpPr>
        <p:spPr bwMode="auto">
          <a:xfrm>
            <a:off x="3288528" y="296368"/>
            <a:ext cx="8892000"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25" name="Freeform 11"/>
          <p:cNvSpPr>
            <a:spLocks/>
          </p:cNvSpPr>
          <p:nvPr userDrawn="1"/>
        </p:nvSpPr>
        <p:spPr bwMode="auto">
          <a:xfrm>
            <a:off x="3180516"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Click here to edit summary</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4248472" cy="639559"/>
          </a:xfrm>
          <a:prstGeom prst="rect">
            <a:avLst/>
          </a:prstGeom>
          <a:noFill/>
          <a:ln w="9525">
            <a:noFill/>
            <a:miter lim="800000"/>
            <a:headEnd/>
            <a:tailEnd/>
          </a:ln>
        </p:spPr>
        <p:txBody>
          <a:bodyPr wrap="square" lIns="99980" tIns="49987" rIns="99980" bIns="49987" rtlCol="0">
            <a:spAutoFit/>
          </a:bodyPr>
          <a:lstStyle>
            <a:defPPr>
              <a:defRPr lang="zh-CN"/>
            </a:defPPr>
            <a:lvl1pPr defTabSz="1001624" eaLnBrk="0" hangingPunct="0">
              <a:defRPr sz="3500" b="1">
                <a:solidFill>
                  <a:schemeClr val="tx1">
                    <a:lumMod val="75000"/>
                    <a:lumOff val="25000"/>
                  </a:schemeClr>
                </a:solidFill>
                <a:latin typeface="+mn-ea"/>
                <a:ea typeface="+mn-ea"/>
                <a:cs typeface="Arial" pitchFamily="34" charset="0"/>
              </a:defRPr>
            </a:lvl1pPr>
          </a:lstStyle>
          <a:p>
            <a:pPr lvl="0"/>
            <a:r>
              <a:rPr lang="en-US" altLang="zh-CN" dirty="0" smtClean="0"/>
              <a:t>Section Summary</a:t>
            </a:r>
            <a:endParaRPr lang="en-US" altLang="zh-CN"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Summary</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
        <p:nvSpPr>
          <p:cNvPr id="14" name="文本占位符 6"/>
          <p:cNvSpPr>
            <a:spLocks noGrp="1"/>
          </p:cNvSpPr>
          <p:nvPr>
            <p:ph type="body" sz="quarter" idx="11" hasCustomPrompt="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en-US" altLang="zh-CN" dirty="0" smtClean="0"/>
              <a:t>Click to edit</a:t>
            </a:r>
            <a:endParaRPr lang="zh-CN" altLang="en-US"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guide id="2" pos="5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vl5pPr>
              <a:buNone/>
              <a:defRPr/>
            </a:lvl5pPr>
          </a:lstStyle>
          <a:p>
            <a:r>
              <a:rPr lang="en-US" altLang="zh-CN" dirty="0" smtClean="0"/>
              <a:t>More information for trainees</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More Information</a:t>
            </a:r>
            <a:endParaRPr lang="en-US" altLang="zh-CN" sz="3500" b="1" kern="1200" dirty="0">
              <a:solidFill>
                <a:schemeClr val="tx1">
                  <a:lumMod val="75000"/>
                  <a:lumOff val="25000"/>
                </a:schemeClr>
              </a:solidFill>
              <a:latin typeface="+mn-ea"/>
              <a:ea typeface="+mn-ea"/>
              <a:cs typeface="Arial" pitchFamily="34" charset="0"/>
            </a:endParaRP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a:prstGeom prst="rect">
            <a:avLst/>
          </a:prstGeo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algn="l" defTabSz="1001624" rtl="0" eaLnBrk="0" fontAlgn="t" hangingPunct="0">
              <a:spcBef>
                <a:spcPct val="0"/>
              </a:spcBef>
              <a:spcAft>
                <a:spcPct val="0"/>
              </a:spcAft>
            </a:pPr>
            <a:r>
              <a:rPr lang="en-US" altLang="zh-CN" sz="3500" b="1" kern="1200" dirty="0" smtClean="0">
                <a:solidFill>
                  <a:schemeClr val="tx1">
                    <a:lumMod val="75000"/>
                    <a:lumOff val="25000"/>
                  </a:schemeClr>
                </a:solidFill>
                <a:latin typeface="+mn-ea"/>
                <a:ea typeface="+mn-ea"/>
                <a:cs typeface="Arial" pitchFamily="34" charset="0"/>
              </a:rPr>
              <a:t>Recommendations</a:t>
            </a:r>
            <a:endParaRPr lang="en-US" altLang="zh-CN" sz="3500" b="1" kern="1200" dirty="0">
              <a:solidFill>
                <a:schemeClr val="tx1">
                  <a:lumMod val="75000"/>
                  <a:lumOff val="25000"/>
                </a:schemeClr>
              </a:solidFill>
              <a:latin typeface="+mn-ea"/>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mn-ea"/>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mn-ea"/>
                <a:ea typeface="+mn-ea"/>
              </a:endParaRPr>
            </a:p>
          </p:txBody>
        </p:sp>
      </p:gr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Thank You">
    <p:spTree>
      <p:nvGrpSpPr>
        <p:cNvPr id="1" name=""/>
        <p:cNvGrpSpPr/>
        <p:nvPr/>
      </p:nvGrpSpPr>
      <p:grpSpPr>
        <a:xfrm>
          <a:off x="0" y="0"/>
          <a:ext cx="0" cy="0"/>
          <a:chOff x="0" y="0"/>
          <a:chExt cx="0" cy="0"/>
        </a:xfrm>
      </p:grpSpPr>
      <p:pic>
        <p:nvPicPr>
          <p:cNvPr id="7"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userDrawn="1"/>
        </p:nvSpPr>
        <p:spPr bwMode="auto">
          <a:xfrm>
            <a:off x="-24680" y="-8620"/>
            <a:ext cx="12240000" cy="6876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mn-ea"/>
              <a:ea typeface="+mn-ea"/>
            </a:endParaRPr>
          </a:p>
        </p:txBody>
      </p:sp>
      <p:grpSp>
        <p:nvGrpSpPr>
          <p:cNvPr id="4" name="组合 3"/>
          <p:cNvGrpSpPr/>
          <p:nvPr userDrawn="1"/>
        </p:nvGrpSpPr>
        <p:grpSpPr>
          <a:xfrm>
            <a:off x="4106469" y="2676330"/>
            <a:ext cx="3971726" cy="1543241"/>
            <a:chOff x="4698555" y="2537610"/>
            <a:chExt cx="3971726" cy="1543241"/>
          </a:xfrm>
        </p:grpSpPr>
        <p:sp>
          <p:nvSpPr>
            <p:cNvPr id="5" name="Text Box 9">
              <a:extLst>
                <a:ext uri="{FF2B5EF4-FFF2-40B4-BE49-F238E27FC236}">
                  <a16:creationId xmlns:a16="http://schemas.microsoft.com/office/drawing/2014/main" xmlns="" id="{9D36E720-0E25-41AB-8346-B547D8B86001}"/>
                </a:ext>
              </a:extLst>
            </p:cNvPr>
            <p:cNvSpPr txBox="1">
              <a:spLocks noChangeArrowheads="1"/>
            </p:cNvSpPr>
            <p:nvPr/>
          </p:nvSpPr>
          <p:spPr bwMode="auto">
            <a:xfrm>
              <a:off x="4698555" y="3447730"/>
              <a:ext cx="3971726" cy="633121"/>
            </a:xfrm>
            <a:prstGeom prst="rect">
              <a:avLst/>
            </a:prstGeom>
            <a:noFill/>
            <a:ln w="9525">
              <a:noFill/>
              <a:miter lim="800000"/>
              <a:headEnd/>
              <a:tailEnd/>
            </a:ln>
          </p:spPr>
          <p:txBody>
            <a:bodyPr wrap="none" lIns="78358" tIns="39179" rIns="78358" bIns="39179">
              <a:spAutoFit/>
            </a:bodyPr>
            <a:lstStyle>
              <a:defPPr>
                <a:defRPr lang="zh-CN"/>
              </a:defPPr>
              <a:lvl1pPr defTabSz="784225" eaLnBrk="0" hangingPunct="0">
                <a:buSzPct val="100000"/>
                <a:defRPr sz="3600">
                  <a:solidFill>
                    <a:schemeClr val="bg1"/>
                  </a:solidFill>
                  <a:effectLst>
                    <a:outerShdw blurRad="38100" dist="38100" dir="2700000" algn="tl">
                      <a:srgbClr val="000000">
                        <a:alpha val="43137"/>
                      </a:srgbClr>
                    </a:outerShdw>
                  </a:effectLst>
                  <a:latin typeface="+mn-ea"/>
                  <a:ea typeface="+mn-ea"/>
                  <a:cs typeface="Arial" panose="020B0604020202020204" pitchFamily="34" charset="0"/>
                </a:defRPr>
              </a:lvl1pPr>
            </a:lstStyle>
            <a:p>
              <a:pPr lvl="0"/>
              <a:r>
                <a:rPr lang="zh-CN" altLang="zh-CN" dirty="0">
                  <a:sym typeface="FrutigerNext LT Regular" pitchFamily="34" charset="0"/>
                </a:rPr>
                <a:t>www.huawei.com</a:t>
              </a:r>
            </a:p>
          </p:txBody>
        </p:sp>
        <p:sp>
          <p:nvSpPr>
            <p:cNvPr id="6" name="Text Box 8">
              <a:extLst>
                <a:ext uri="{FF2B5EF4-FFF2-40B4-BE49-F238E27FC236}">
                  <a16:creationId xmlns:a16="http://schemas.microsoft.com/office/drawing/2014/main" xmlns="" id="{11ED55EC-FD16-4B98-B04D-4605D3C0D784}"/>
                </a:ext>
              </a:extLst>
            </p:cNvPr>
            <p:cNvSpPr txBox="1">
              <a:spLocks noChangeArrowheads="1"/>
            </p:cNvSpPr>
            <p:nvPr/>
          </p:nvSpPr>
          <p:spPr bwMode="auto">
            <a:xfrm>
              <a:off x="4891281" y="2537610"/>
              <a:ext cx="3593610" cy="910120"/>
            </a:xfrm>
            <a:prstGeom prst="rect">
              <a:avLst/>
            </a:prstGeom>
            <a:noFill/>
            <a:ln w="9525">
              <a:noFill/>
              <a:miter lim="800000"/>
              <a:headEnd/>
              <a:tailEnd/>
            </a:ln>
          </p:spPr>
          <p:txBody>
            <a:bodyPr wrap="none" lIns="78358" tIns="39179" rIns="78358" bIns="39179">
              <a:spAutoFit/>
            </a:bodyPr>
            <a:lstStyle>
              <a:defPPr>
                <a:defRPr lang="zh-CN"/>
              </a:defPPr>
              <a:lvl1pPr defTabSz="784225" eaLnBrk="0" fontAlgn="base" hangingPunct="0">
                <a:buSzPct val="100000"/>
                <a:defRPr sz="5400">
                  <a:solidFill>
                    <a:schemeClr val="bg1"/>
                  </a:solidFill>
                  <a:effectLst>
                    <a:outerShdw blurRad="38100" dist="38100" dir="2700000" algn="tl">
                      <a:srgbClr val="000000">
                        <a:alpha val="43137"/>
                      </a:srgbClr>
                    </a:outerShdw>
                  </a:effectLst>
                  <a:latin typeface="+mn-ea"/>
                  <a:ea typeface="+mn-ea"/>
                </a:defRPr>
              </a:lvl1pPr>
            </a:lstStyle>
            <a:p>
              <a:pPr lvl="0"/>
              <a:r>
                <a:rPr lang="en-US" altLang="zh-CN" dirty="0" smtClean="0">
                  <a:sym typeface="FrutigerNext LT Regular" pitchFamily="34" charset="0"/>
                </a:rPr>
                <a:t>Thank You</a:t>
              </a:r>
              <a:endParaRPr lang="zh-CN" altLang="zh-CN" dirty="0">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pic>
        <p:nvPicPr>
          <p:cNvPr id="3" name="图片 76" descr="新版面封面－红色"/>
          <p:cNvPicPr>
            <a:picLocks noChangeAspect="1" noChangeArrowheads="1"/>
          </p:cNvPicPr>
          <p:nvPr userDrawn="1"/>
        </p:nvPicPr>
        <p:blipFill>
          <a:blip r:embed="rId2" cstate="print"/>
          <a:srcRect/>
          <a:stretch>
            <a:fillRect/>
          </a:stretch>
        </p:blipFill>
        <p:spPr bwMode="auto">
          <a:xfrm>
            <a:off x="0" y="1268414"/>
            <a:ext cx="12192000" cy="3144837"/>
          </a:xfrm>
          <a:prstGeom prst="rect">
            <a:avLst/>
          </a:prstGeom>
          <a:noFill/>
          <a:ln w="9525">
            <a:noFill/>
            <a:miter lim="800000"/>
            <a:headEnd/>
            <a:tailEnd/>
          </a:ln>
        </p:spPr>
      </p:pic>
      <p:pic>
        <p:nvPicPr>
          <p:cNvPr id="4" name="图片 77" descr="Logo"/>
          <p:cNvPicPr>
            <a:picLocks noChangeAspect="1" noChangeArrowheads="1"/>
          </p:cNvPicPr>
          <p:nvPr userDrawn="1"/>
        </p:nvPicPr>
        <p:blipFill>
          <a:blip r:embed="rId3" cstate="print"/>
          <a:srcRect/>
          <a:stretch>
            <a:fillRect/>
          </a:stretch>
        </p:blipFill>
        <p:spPr bwMode="auto">
          <a:xfrm>
            <a:off x="10090151" y="5578476"/>
            <a:ext cx="1094316" cy="822325"/>
          </a:xfrm>
          <a:prstGeom prst="rect">
            <a:avLst/>
          </a:prstGeom>
          <a:noFill/>
          <a:ln w="9525">
            <a:noFill/>
            <a:miter lim="800000"/>
            <a:headEnd/>
            <a:tailEnd/>
          </a:ln>
        </p:spPr>
      </p:pic>
      <p:sp>
        <p:nvSpPr>
          <p:cNvPr id="5" name="文本框 4"/>
          <p:cNvSpPr txBox="1">
            <a:spLocks noChangeArrowheads="1"/>
          </p:cNvSpPr>
          <p:nvPr userDrawn="1"/>
        </p:nvSpPr>
        <p:spPr bwMode="auto">
          <a:xfrm>
            <a:off x="1007533" y="6205539"/>
            <a:ext cx="2609408" cy="263648"/>
          </a:xfrm>
          <a:prstGeom prst="rect">
            <a:avLst/>
          </a:prstGeom>
          <a:noFill/>
          <a:ln>
            <a:noFill/>
          </a:ln>
          <a:extLst/>
        </p:spPr>
        <p:txBody>
          <a:bodyPr wrap="none" lIns="78220" tIns="39109" rIns="78220" bIns="39109">
            <a:spAutoFit/>
          </a:bodyPr>
          <a:lstStyle>
            <a:lvl1pPr defTabSz="784225" eaLnBrk="0" hangingPunct="0">
              <a:defRPr>
                <a:solidFill>
                  <a:schemeClr val="tx1"/>
                </a:solidFill>
                <a:latin typeface="Arial" charset="0"/>
                <a:ea typeface="宋体" charset="-122"/>
              </a:defRPr>
            </a:lvl1pPr>
            <a:lvl2pPr marL="742950" indent="-285750" defTabSz="784225" eaLnBrk="0" hangingPunct="0">
              <a:defRPr>
                <a:solidFill>
                  <a:schemeClr val="tx1"/>
                </a:solidFill>
                <a:latin typeface="Arial" charset="0"/>
                <a:ea typeface="宋体" charset="-122"/>
              </a:defRPr>
            </a:lvl2pPr>
            <a:lvl3pPr marL="1143000" indent="-228600" defTabSz="784225" eaLnBrk="0" hangingPunct="0">
              <a:defRPr>
                <a:solidFill>
                  <a:schemeClr val="tx1"/>
                </a:solidFill>
                <a:latin typeface="Arial" charset="0"/>
                <a:ea typeface="宋体" charset="-122"/>
              </a:defRPr>
            </a:lvl3pPr>
            <a:lvl4pPr marL="1600200" indent="-228600" defTabSz="784225" eaLnBrk="0" hangingPunct="0">
              <a:defRPr>
                <a:solidFill>
                  <a:schemeClr val="tx1"/>
                </a:solidFill>
                <a:latin typeface="Arial" charset="0"/>
                <a:ea typeface="宋体" charset="-122"/>
              </a:defRPr>
            </a:lvl4pPr>
            <a:lvl5pPr marL="2057400" indent="-228600" defTabSz="784225" eaLnBrk="0" hangingPunct="0">
              <a:defRPr>
                <a:solidFill>
                  <a:schemeClr val="tx1"/>
                </a:solidFill>
                <a:latin typeface="Arial" charset="0"/>
                <a:ea typeface="宋体" charset="-122"/>
              </a:defRPr>
            </a:lvl5pPr>
            <a:lvl6pPr marL="2514600" indent="-228600" defTabSz="784225" eaLnBrk="0" fontAlgn="base" hangingPunct="0">
              <a:spcBef>
                <a:spcPct val="0"/>
              </a:spcBef>
              <a:spcAft>
                <a:spcPct val="0"/>
              </a:spcAft>
              <a:defRPr>
                <a:solidFill>
                  <a:schemeClr val="tx1"/>
                </a:solidFill>
                <a:latin typeface="Arial" charset="0"/>
                <a:ea typeface="宋体" charset="-122"/>
              </a:defRPr>
            </a:lvl6pPr>
            <a:lvl7pPr marL="2971800" indent="-228600" defTabSz="784225" eaLnBrk="0" fontAlgn="base" hangingPunct="0">
              <a:spcBef>
                <a:spcPct val="0"/>
              </a:spcBef>
              <a:spcAft>
                <a:spcPct val="0"/>
              </a:spcAft>
              <a:defRPr>
                <a:solidFill>
                  <a:schemeClr val="tx1"/>
                </a:solidFill>
                <a:latin typeface="Arial" charset="0"/>
                <a:ea typeface="宋体" charset="-122"/>
              </a:defRPr>
            </a:lvl7pPr>
            <a:lvl8pPr marL="3429000" indent="-228600" defTabSz="784225" eaLnBrk="0" fontAlgn="base" hangingPunct="0">
              <a:spcBef>
                <a:spcPct val="0"/>
              </a:spcBef>
              <a:spcAft>
                <a:spcPct val="0"/>
              </a:spcAft>
              <a:defRPr>
                <a:solidFill>
                  <a:schemeClr val="tx1"/>
                </a:solidFill>
                <a:latin typeface="Arial" charset="0"/>
                <a:ea typeface="宋体" charset="-122"/>
              </a:defRPr>
            </a:lvl8pPr>
            <a:lvl9pPr marL="3886200" indent="-228600" defTabSz="784225" eaLnBrk="0" fontAlgn="base" hangingPunct="0">
              <a:spcBef>
                <a:spcPct val="0"/>
              </a:spcBef>
              <a:spcAft>
                <a:spcPct val="0"/>
              </a:spcAft>
              <a:defRPr>
                <a:solidFill>
                  <a:schemeClr val="tx1"/>
                </a:solidFill>
                <a:latin typeface="Arial" charset="0"/>
                <a:ea typeface="宋体" charset="-122"/>
              </a:defRPr>
            </a:lvl9pPr>
          </a:lstStyle>
          <a:p>
            <a:pPr eaLnBrk="1" hangingPunct="1">
              <a:defRPr/>
            </a:pPr>
            <a:r>
              <a:rPr lang="en-US" altLang="zh-CN" sz="1200" dirty="0">
                <a:latin typeface="FrutigerNext LT Bold" charset="0"/>
                <a:ea typeface="MS PGothic" pitchFamily="34" charset="-128"/>
              </a:rPr>
              <a:t>HUAWEI TECHNOLOGIES CO., LTD.</a:t>
            </a:r>
            <a:endParaRPr lang="en-US" altLang="zh-CN" sz="1000" dirty="0">
              <a:ea typeface="MS PGothic" pitchFamily="34" charset="-128"/>
            </a:endParaRPr>
          </a:p>
        </p:txBody>
      </p:sp>
      <p:sp>
        <p:nvSpPr>
          <p:cNvPr id="6" name="Title 3"/>
          <p:cNvSpPr>
            <a:spLocks noGrp="1"/>
          </p:cNvSpPr>
          <p:nvPr>
            <p:ph type="title"/>
          </p:nvPr>
        </p:nvSpPr>
        <p:spPr>
          <a:xfrm>
            <a:off x="1007534" y="2263775"/>
            <a:ext cx="7584017" cy="579438"/>
          </a:xfrm>
        </p:spPr>
        <p:txBody>
          <a:bodyPr/>
          <a:lstStyle/>
          <a:p>
            <a:r>
              <a:rPr lang="en-US" dirty="0" smtClean="0"/>
              <a:t>Click to edit Master title style</a:t>
            </a:r>
            <a:endParaRPr lang="en-US" dirty="0"/>
          </a:p>
        </p:txBody>
      </p:sp>
      <p:sp>
        <p:nvSpPr>
          <p:cNvPr id="7" name="矩形 79"/>
          <p:cNvSpPr>
            <a:spLocks noGrp="1" noChangeArrowheads="1"/>
          </p:cNvSpPr>
          <p:nvPr>
            <p:ph type="dt" sz="quarter" idx="10"/>
          </p:nvPr>
        </p:nvSpPr>
        <p:spPr>
          <a:xfrm>
            <a:off x="865718" y="669925"/>
            <a:ext cx="3373967" cy="476250"/>
          </a:xfrm>
          <a:prstGeom prst="rect">
            <a:avLst/>
          </a:prstGeom>
        </p:spPr>
        <p:txBody>
          <a:bodyPr lIns="91440" tIns="45720" rIns="91440" bIns="45720"/>
          <a:lstStyle>
            <a:lvl1pPr defTabSz="914400" eaLnBrk="1" hangingPunct="1">
              <a:lnSpc>
                <a:spcPct val="100000"/>
              </a:lnSpc>
              <a:defRPr kumimoji="1" sz="1400">
                <a:solidFill>
                  <a:srgbClr val="808080"/>
                </a:solidFill>
                <a:latin typeface="FrutigerNext LT Bold" charset="0"/>
              </a:defRPr>
            </a:lvl1pPr>
          </a:lstStyle>
          <a:p>
            <a:pPr>
              <a:defRPr/>
            </a:pPr>
            <a:endParaRPr lang="en-US" altLang="zh-CN"/>
          </a:p>
        </p:txBody>
      </p:sp>
    </p:spTree>
    <p:extLst>
      <p:ext uri="{BB962C8B-B14F-4D97-AF65-F5344CB8AC3E}">
        <p14:creationId xmlns:p14="http://schemas.microsoft.com/office/powerpoint/2010/main" val="3034386388"/>
      </p:ext>
    </p:extLst>
  </p:cSld>
  <p:clrMapOvr>
    <a:masterClrMapping/>
  </p:clrMapOvr>
  <p:transition spd="slow" advClick="0">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10455"/>
      </p:ext>
    </p:extLst>
  </p:cSld>
  <p:clrMapOvr>
    <a:masterClrMapping/>
  </p:clrMapOvr>
  <p:transition advClick="0" advTm="8000">
    <p:fade thruBlk="1"/>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5" name="Rectangle 3"/>
          <p:cNvSpPr>
            <a:spLocks noGrp="1" noChangeArrowheads="1"/>
          </p:cNvSpPr>
          <p:nvPr>
            <p:ph type="body" idx="11"/>
          </p:nvPr>
        </p:nvSpPr>
        <p:spPr>
          <a:xfrm>
            <a:off x="516467" y="1393826"/>
            <a:ext cx="10572751" cy="4195763"/>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p:txBody>
      </p:sp>
      <p:sp>
        <p:nvSpPr>
          <p:cNvPr id="4" name="Rectangle 76"/>
          <p:cNvSpPr>
            <a:spLocks noGrp="1" noChangeArrowheads="1"/>
          </p:cNvSpPr>
          <p:nvPr>
            <p:ph type="sldNum" sz="quarter" idx="12"/>
          </p:nvPr>
        </p:nvSpPr>
        <p:spPr>
          <a:xfrm>
            <a:off x="8128000" y="6524626"/>
            <a:ext cx="2025651" cy="333375"/>
          </a:xfrm>
          <a:prstGeom prst="rect">
            <a:avLst/>
          </a:prstGeom>
          <a:ln/>
        </p:spPr>
        <p:txBody>
          <a:bodyPr/>
          <a:lstStyle>
            <a:lvl1pPr>
              <a:defRPr/>
            </a:lvl1pPr>
          </a:lstStyle>
          <a:p>
            <a:pPr>
              <a:defRPr/>
            </a:pPr>
            <a:r>
              <a:rPr lang="en-US" altLang="zh-CN"/>
              <a:t>Page </a:t>
            </a:r>
            <a:fld id="{61700763-A000-4A3E-9AAB-A44A51C6FF39}" type="slidenum">
              <a:rPr lang="en-US" altLang="zh-CN"/>
              <a:pPr>
                <a:defRPr/>
              </a:pPr>
              <a:t>‹#›</a:t>
            </a:fld>
            <a:endParaRPr lang="en-US" altLang="zh-CN"/>
          </a:p>
        </p:txBody>
      </p:sp>
    </p:spTree>
    <p:extLst>
      <p:ext uri="{BB962C8B-B14F-4D97-AF65-F5344CB8AC3E}">
        <p14:creationId xmlns:p14="http://schemas.microsoft.com/office/powerpoint/2010/main" val="3594786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27382" y="1393478"/>
            <a:ext cx="5183716" cy="41957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56868" y="1393478"/>
            <a:ext cx="5185833" cy="419576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6"/>
          <p:cNvSpPr>
            <a:spLocks noGrp="1" noChangeArrowheads="1"/>
          </p:cNvSpPr>
          <p:nvPr>
            <p:ph type="sldNum" sz="quarter" idx="10"/>
          </p:nvPr>
        </p:nvSpPr>
        <p:spPr>
          <a:xfrm>
            <a:off x="8128000" y="6524626"/>
            <a:ext cx="2025651" cy="333375"/>
          </a:xfrm>
          <a:prstGeom prst="rect">
            <a:avLst/>
          </a:prstGeom>
          <a:ln/>
        </p:spPr>
        <p:txBody>
          <a:bodyPr/>
          <a:lstStyle>
            <a:lvl1pPr>
              <a:defRPr/>
            </a:lvl1pPr>
          </a:lstStyle>
          <a:p>
            <a:pPr>
              <a:defRPr/>
            </a:pPr>
            <a:r>
              <a:rPr lang="en-US" altLang="zh-CN"/>
              <a:t>Page </a:t>
            </a:r>
            <a:fld id="{A412CD5F-2238-46F0-99DD-5B3895041741}" type="slidenum">
              <a:rPr lang="en-US" altLang="zh-CN"/>
              <a:pPr>
                <a:defRPr/>
              </a:pPr>
              <a:t>‹#›</a:t>
            </a:fld>
            <a:endParaRPr lang="en-US" altLang="zh-CN"/>
          </a:p>
        </p:txBody>
      </p:sp>
    </p:spTree>
    <p:extLst>
      <p:ext uri="{BB962C8B-B14F-4D97-AF65-F5344CB8AC3E}">
        <p14:creationId xmlns:p14="http://schemas.microsoft.com/office/powerpoint/2010/main" val="3791316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
        <p:nvSpPr>
          <p:cNvPr id="7" name="Rectangl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9"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9"/>
          <p:cNvSpPr>
            <a:spLocks noChangeArrowheads="1"/>
          </p:cNvSpPr>
          <p:nvPr userDrawn="1"/>
        </p:nvSpPr>
        <p:spPr bwMode="auto">
          <a:xfrm>
            <a:off x="119336" y="6500581"/>
            <a:ext cx="70467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n-ea"/>
                <a:cs typeface="Arial" pitchFamily="34" charset="0"/>
              </a:rPr>
              <a:t>Page</a:t>
            </a:r>
            <a:r>
              <a:rPr lang="en-US" altLang="zh-CN" sz="1200" baseline="0" dirty="0">
                <a:latin typeface="+mj-lt"/>
                <a:ea typeface="+mn-ea"/>
                <a:cs typeface="Arial" pitchFamily="34" charset="0"/>
              </a:rPr>
              <a:t> </a:t>
            </a:r>
            <a:fld id="{2F2CF7F5-F178-4429-B6CA-28062DF31937}" type="slidenum">
              <a:rPr lang="en-US" altLang="zh-CN" sz="1200" smtClean="0">
                <a:latin typeface="+mj-lt"/>
                <a:ea typeface="+mn-ea"/>
                <a:cs typeface="Arial" pitchFamily="34" charset="0"/>
              </a:rPr>
              <a:pPr defTabSz="801668" eaLnBrk="0" fontAlgn="base" hangingPunct="0">
                <a:defRPr/>
              </a:pPr>
              <a:t>‹#›</a:t>
            </a:fld>
            <a:endParaRPr lang="en-US" altLang="zh-CN" sz="1200" dirty="0">
              <a:latin typeface="+mj-lt"/>
              <a:ea typeface="+mn-ea"/>
              <a:cs typeface="Arial" pitchFamily="34" charset="0"/>
            </a:endParaRPr>
          </a:p>
        </p:txBody>
      </p:sp>
      <p:sp>
        <p:nvSpPr>
          <p:cNvPr id="11" name="Rectangle 54"/>
          <p:cNvSpPr>
            <a:spLocks noChangeArrowheads="1"/>
          </p:cNvSpPr>
          <p:nvPr userDrawn="1"/>
        </p:nvSpPr>
        <p:spPr bwMode="auto">
          <a:xfrm>
            <a:off x="947428" y="6500581"/>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a:t>
            </a:r>
            <a:r>
              <a:rPr lang="en-US" altLang="zh-CN" sz="1200" dirty="0" smtClean="0">
                <a:latin typeface="+mj-lt"/>
                <a:ea typeface="MS PGothic" pitchFamily="34" charset="-128"/>
                <a:cs typeface="Arial" pitchFamily="34" charset="0"/>
              </a:rPr>
              <a:t>2019 </a:t>
            </a:r>
            <a:r>
              <a:rPr lang="en-US" altLang="zh-CN" sz="1200" dirty="0">
                <a:latin typeface="+mj-lt"/>
                <a:ea typeface="MS PGothic" pitchFamily="34" charset="-128"/>
                <a:cs typeface="Arial" pitchFamily="34" charset="0"/>
              </a:rPr>
              <a:t>Huawei Technologies Co., Ltd. All rights reserved. </a:t>
            </a:r>
          </a:p>
        </p:txBody>
      </p:sp>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6" r:id="rId15"/>
    <p:sldLayoutId id="2147483867" r:id="rId16"/>
    <p:sldLayoutId id="2147483869" r:id="rId17"/>
    <p:sldLayoutId id="2147483870" r:id="rId18"/>
    <p:sldLayoutId id="2147483871" r:id="rId19"/>
  </p:sldLayoutIdLst>
  <p:timing>
    <p:tnLst>
      <p:par>
        <p:cTn id="1" dur="indefinite" restart="never" nodeType="tmRoot"/>
      </p:par>
    </p:tnLst>
  </p:timing>
  <p:hf hdr="0" ftr="0" dt="0"/>
  <p:txStyles>
    <p:titleStyle>
      <a:lvl1pPr algn="l" defTabSz="801688" rtl="0" eaLnBrk="0" fontAlgn="base" hangingPunct="0">
        <a:spcBef>
          <a:spcPct val="0"/>
        </a:spcBef>
        <a:spcAft>
          <a:spcPct val="0"/>
        </a:spcAft>
        <a:defRPr sz="3500" b="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sz="quarter"/>
          </p:nvPr>
        </p:nvSpPr>
        <p:spPr/>
        <p:txBody>
          <a:bodyPr/>
          <a:lstStyle/>
          <a:p>
            <a:r>
              <a:rPr lang="en-US" altLang="zh-CN" smtClean="0"/>
              <a:t>Network Address Translation</a:t>
            </a:r>
            <a:endParaRPr lang="zh-CN" altLang="en-US" smtClean="0"/>
          </a:p>
        </p:txBody>
      </p:sp>
      <p:sp>
        <p:nvSpPr>
          <p:cNvPr id="4" name="文本占位符 3"/>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85726206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type="body" sz="quarter" idx="10"/>
          </p:nvPr>
        </p:nvSpPr>
        <p:spPr/>
        <p:txBody>
          <a:bodyPr/>
          <a:lstStyle/>
          <a:p>
            <a:r>
              <a:rPr lang="en-US" altLang="zh-CN" sz="2000" dirty="0" smtClean="0"/>
              <a:t>The continued growth of IP networks in general has resulted in an ever increasing pressure on the IPv4 address space, and the need for a way to prolong the depletion until long term solutions are founded. Network Address Translation has become well established as the existing solution and widely implemented within enterprise networks. Many variations of NAT have been developed thus conserving the public address space whilst enabling continued public network communication. This section introduces the concept of NAT along with examples of common NAT methods applied, for maintaining internetworking between the enterprise network and the public network domain.</a:t>
            </a:r>
            <a:endParaRPr lang="zh-CN" altLang="en-US" sz="2000" dirty="0"/>
          </a:p>
        </p:txBody>
      </p:sp>
    </p:spTree>
    <p:extLst>
      <p:ext uri="{BB962C8B-B14F-4D97-AF65-F5344CB8AC3E}">
        <p14:creationId xmlns:p14="http://schemas.microsoft.com/office/powerpoint/2010/main" val="33925117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1"/>
          <p:cNvSpPr>
            <a:spLocks noGrp="1"/>
          </p:cNvSpPr>
          <p:nvPr>
            <p:ph idx="1"/>
          </p:nvPr>
        </p:nvSpPr>
        <p:spPr/>
        <p:txBody>
          <a:bodyPr/>
          <a:lstStyle/>
          <a:p>
            <a:r>
              <a:rPr lang="en-US" altLang="zh-CN" dirty="0" smtClean="0"/>
              <a:t>Upon completion of this section, </a:t>
            </a:r>
            <a:r>
              <a:rPr lang="en-US" altLang="zh-CN" dirty="0" smtClean="0">
                <a:sym typeface="FrutigerNext LT Regular" pitchFamily="34" charset="0"/>
              </a:rPr>
              <a:t>you will be able to:</a:t>
            </a:r>
            <a:endParaRPr lang="en-US" altLang="zh-CN" dirty="0">
              <a:sym typeface="FrutigerNext LT Regular" pitchFamily="34" charset="0"/>
            </a:endParaRPr>
          </a:p>
          <a:p>
            <a:pPr lvl="1"/>
            <a:r>
              <a:rPr lang="en-US" altLang="zh-CN" dirty="0">
                <a:sym typeface="FrutigerNext LT Regular" pitchFamily="34" charset="0"/>
              </a:rPr>
              <a:t>List some of the different forms of Network Address Translation.</a:t>
            </a:r>
          </a:p>
          <a:p>
            <a:pPr lvl="1"/>
            <a:r>
              <a:rPr lang="en-US" altLang="zh-CN" dirty="0">
                <a:sym typeface="FrutigerNext LT Regular" pitchFamily="34" charset="0"/>
              </a:rPr>
              <a:t>Explain the general behavior of NAT.</a:t>
            </a:r>
          </a:p>
          <a:p>
            <a:pPr lvl="1"/>
            <a:r>
              <a:rPr lang="en-US" altLang="zh-CN" dirty="0">
                <a:sym typeface="FrutigerNext LT Regular" pitchFamily="34" charset="0"/>
              </a:rPr>
              <a:t>Configure NAT to suit application requirements.</a:t>
            </a:r>
          </a:p>
          <a:p>
            <a:pPr lvl="1"/>
            <a:endParaRPr lang="en-US" altLang="zh-CN" dirty="0">
              <a:sym typeface="FrutigerNext LT Regular" pitchFamily="34" charset="0"/>
            </a:endParaRPr>
          </a:p>
        </p:txBody>
      </p:sp>
    </p:spTree>
    <p:extLst>
      <p:ext uri="{BB962C8B-B14F-4D97-AF65-F5344CB8AC3E}">
        <p14:creationId xmlns:p14="http://schemas.microsoft.com/office/powerpoint/2010/main" val="63471014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A measure taken against rapid depletion of IP addresses.</a:t>
            </a:r>
          </a:p>
          <a:p>
            <a:r>
              <a:rPr lang="en-US" altLang="zh-CN" dirty="0" smtClean="0"/>
              <a:t>Gateway operates as a private/public address boundary.</a:t>
            </a:r>
          </a:p>
          <a:p>
            <a:endParaRPr lang="zh-CN" altLang="en-US" dirty="0"/>
          </a:p>
        </p:txBody>
      </p:sp>
      <p:sp>
        <p:nvSpPr>
          <p:cNvPr id="3" name="文本占位符 2"/>
          <p:cNvSpPr>
            <a:spLocks noGrp="1"/>
          </p:cNvSpPr>
          <p:nvPr>
            <p:ph type="body" sz="quarter" idx="12"/>
          </p:nvPr>
        </p:nvSpPr>
        <p:spPr/>
        <p:txBody>
          <a:bodyPr/>
          <a:lstStyle/>
          <a:p>
            <a:r>
              <a:rPr lang="en-US" altLang="zh-CN" smtClean="0"/>
              <a:t>Private &amp; Public Networks</a:t>
            </a:r>
            <a:endParaRPr lang="zh-CN" altLang="en-US" dirty="0"/>
          </a:p>
        </p:txBody>
      </p:sp>
      <p:grpSp>
        <p:nvGrpSpPr>
          <p:cNvPr id="9220" name="Group 21"/>
          <p:cNvGrpSpPr>
            <a:grpSpLocks/>
          </p:cNvGrpSpPr>
          <p:nvPr/>
        </p:nvGrpSpPr>
        <p:grpSpPr bwMode="auto">
          <a:xfrm>
            <a:off x="3159126" y="1773239"/>
            <a:ext cx="5006975" cy="2808287"/>
            <a:chOff x="1635125" y="1773238"/>
            <a:chExt cx="5006975" cy="2808287"/>
          </a:xfrm>
        </p:grpSpPr>
        <p:sp>
          <p:nvSpPr>
            <p:cNvPr id="9222"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9223"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9224" name="TextBox 94"/>
            <p:cNvSpPr txBox="1">
              <a:spLocks noChangeArrowheads="1"/>
            </p:cNvSpPr>
            <p:nvPr/>
          </p:nvSpPr>
          <p:spPr bwMode="auto">
            <a:xfrm>
              <a:off x="3721100" y="1908175"/>
              <a:ext cx="771173" cy="307777"/>
            </a:xfrm>
            <a:prstGeom prst="rect">
              <a:avLst/>
            </a:prstGeom>
            <a:noFill/>
            <a:ln w="9525">
              <a:noFill/>
              <a:miter lim="800000"/>
              <a:headEnd/>
              <a:tailEnd/>
            </a:ln>
          </p:spPr>
          <p:txBody>
            <a:bodyPr wrap="none">
              <a:spAutoFit/>
            </a:bodyPr>
            <a:lstStyle/>
            <a:p>
              <a:r>
                <a:rPr lang="en-US" altLang="zh-CN" sz="1400">
                  <a:latin typeface="微软雅黑" panose="020B0503020204020204" pitchFamily="34" charset="-122"/>
                  <a:ea typeface="微软雅黑" panose="020B0503020204020204" pitchFamily="34" charset="-122"/>
                </a:rPr>
                <a:t>Private</a:t>
              </a:r>
              <a:endParaRPr lang="zh-CN" altLang="en-US" sz="1400">
                <a:latin typeface="微软雅黑" panose="020B0503020204020204" pitchFamily="34" charset="-122"/>
                <a:ea typeface="微软雅黑" panose="020B0503020204020204" pitchFamily="34" charset="-122"/>
              </a:endParaRPr>
            </a:p>
          </p:txBody>
        </p:sp>
        <p:sp>
          <p:nvSpPr>
            <p:cNvPr id="9225" name="TextBox 94"/>
            <p:cNvSpPr txBox="1">
              <a:spLocks noChangeArrowheads="1"/>
            </p:cNvSpPr>
            <p:nvPr/>
          </p:nvSpPr>
          <p:spPr bwMode="auto">
            <a:xfrm>
              <a:off x="5407025" y="1908175"/>
              <a:ext cx="707245" cy="307777"/>
            </a:xfrm>
            <a:prstGeom prst="rect">
              <a:avLst/>
            </a:prstGeom>
            <a:noFill/>
            <a:ln w="9525">
              <a:noFill/>
              <a:miter lim="800000"/>
              <a:headEnd/>
              <a:tailEnd/>
            </a:ln>
          </p:spPr>
          <p:txBody>
            <a:bodyPr wrap="none">
              <a:spAutoFit/>
            </a:bodyPr>
            <a:lstStyle/>
            <a:p>
              <a:r>
                <a:rPr lang="en-US" altLang="zh-CN" sz="1400">
                  <a:latin typeface="微软雅黑" panose="020B0503020204020204" pitchFamily="34" charset="-122"/>
                  <a:ea typeface="微软雅黑" panose="020B0503020204020204" pitchFamily="34" charset="-122"/>
                </a:rPr>
                <a:t>Public</a:t>
              </a:r>
              <a:endParaRPr lang="zh-CN" altLang="en-US" sz="1400">
                <a:latin typeface="微软雅黑" panose="020B0503020204020204" pitchFamily="34" charset="-122"/>
                <a:ea typeface="微软雅黑" panose="020B0503020204020204" pitchFamily="34" charset="-122"/>
              </a:endParaRPr>
            </a:p>
          </p:txBody>
        </p:sp>
        <p:sp>
          <p:nvSpPr>
            <p:cNvPr id="9226" name="TextBox 94"/>
            <p:cNvSpPr txBox="1">
              <a:spLocks noChangeArrowheads="1"/>
            </p:cNvSpPr>
            <p:nvPr/>
          </p:nvSpPr>
          <p:spPr bwMode="auto">
            <a:xfrm>
              <a:off x="5148263" y="2420938"/>
              <a:ext cx="1258678"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200.10.10.0/30</a:t>
              </a:r>
              <a:endParaRPr lang="zh-CN" altLang="en-US" sz="1200" dirty="0">
                <a:latin typeface="微软雅黑" panose="020B0503020204020204" pitchFamily="34" charset="-122"/>
                <a:ea typeface="微软雅黑" panose="020B0503020204020204" pitchFamily="34" charset="-122"/>
              </a:endParaRPr>
            </a:p>
          </p:txBody>
        </p:sp>
        <p:cxnSp>
          <p:nvCxnSpPr>
            <p:cNvPr id="9227" name="直接箭头连接符 29"/>
            <p:cNvCxnSpPr>
              <a:cxnSpLocks noChangeShapeType="1"/>
            </p:cNvCxnSpPr>
            <p:nvPr/>
          </p:nvCxnSpPr>
          <p:spPr bwMode="auto">
            <a:xfrm>
              <a:off x="4846638" y="1773238"/>
              <a:ext cx="0" cy="2808287"/>
            </a:xfrm>
            <a:prstGeom prst="straightConnector1">
              <a:avLst/>
            </a:prstGeom>
            <a:noFill/>
            <a:ln w="28575" algn="ctr">
              <a:solidFill>
                <a:srgbClr val="C00000"/>
              </a:solidFill>
              <a:prstDash val="lgDash"/>
              <a:round/>
              <a:headEnd/>
              <a:tailEnd/>
            </a:ln>
          </p:spPr>
        </p:cxnSp>
        <p:sp>
          <p:nvSpPr>
            <p:cNvPr id="9228"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pic>
          <p:nvPicPr>
            <p:cNvPr id="9229"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9231"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9234" name="TextBox 94"/>
            <p:cNvSpPr txBox="1">
              <a:spLocks noChangeArrowheads="1"/>
            </p:cNvSpPr>
            <p:nvPr/>
          </p:nvSpPr>
          <p:spPr bwMode="auto">
            <a:xfrm>
              <a:off x="3066988" y="2456891"/>
              <a:ext cx="532903"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SWA</a:t>
              </a:r>
              <a:endParaRPr lang="zh-CN" altLang="en-US" sz="1200" dirty="0">
                <a:latin typeface="微软雅黑" panose="020B0503020204020204" pitchFamily="34" charset="-122"/>
                <a:ea typeface="微软雅黑" panose="020B0503020204020204" pitchFamily="34" charset="-122"/>
              </a:endParaRPr>
            </a:p>
          </p:txBody>
        </p:sp>
        <p:sp>
          <p:nvSpPr>
            <p:cNvPr id="9235" name="TextBox 94"/>
            <p:cNvSpPr txBox="1">
              <a:spLocks noChangeArrowheads="1"/>
            </p:cNvSpPr>
            <p:nvPr/>
          </p:nvSpPr>
          <p:spPr bwMode="auto">
            <a:xfrm>
              <a:off x="2051050" y="2020888"/>
              <a:ext cx="1258678"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192.168.1.1/24</a:t>
              </a:r>
              <a:endParaRPr lang="zh-CN" altLang="en-US" sz="1200">
                <a:latin typeface="微软雅黑" panose="020B0503020204020204" pitchFamily="34" charset="-122"/>
                <a:ea typeface="微软雅黑" panose="020B0503020204020204" pitchFamily="34" charset="-122"/>
              </a:endParaRPr>
            </a:p>
          </p:txBody>
        </p:sp>
        <p:sp>
          <p:nvSpPr>
            <p:cNvPr id="9236" name="TextBox 94"/>
            <p:cNvSpPr txBox="1">
              <a:spLocks noChangeArrowheads="1"/>
            </p:cNvSpPr>
            <p:nvPr/>
          </p:nvSpPr>
          <p:spPr bwMode="auto">
            <a:xfrm>
              <a:off x="2051050" y="3611563"/>
              <a:ext cx="1258678"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192.168.1.2/24</a:t>
              </a:r>
              <a:endParaRPr lang="zh-CN" altLang="en-US" sz="1200">
                <a:latin typeface="微软雅黑" panose="020B0503020204020204" pitchFamily="34" charset="-122"/>
                <a:ea typeface="微软雅黑" panose="020B0503020204020204" pitchFamily="34" charset="-122"/>
              </a:endParaRPr>
            </a:p>
          </p:txBody>
        </p:sp>
      </p:grpSp>
      <p:pic>
        <p:nvPicPr>
          <p:cNvPr id="27" name="图片 26" descr="PC.png"/>
          <p:cNvPicPr>
            <a:picLocks noChangeAspect="1"/>
          </p:cNvPicPr>
          <p:nvPr/>
        </p:nvPicPr>
        <p:blipFill>
          <a:blip r:embed="rId4" cstate="print"/>
          <a:stretch>
            <a:fillRect/>
          </a:stretch>
        </p:blipFill>
        <p:spPr>
          <a:xfrm>
            <a:off x="2589210" y="1875337"/>
            <a:ext cx="854084" cy="655936"/>
          </a:xfrm>
          <a:prstGeom prst="rect">
            <a:avLst/>
          </a:prstGeom>
        </p:spPr>
      </p:pic>
      <p:pic>
        <p:nvPicPr>
          <p:cNvPr id="28" name="图片 27" descr="PC.png"/>
          <p:cNvPicPr>
            <a:picLocks noChangeAspect="1"/>
          </p:cNvPicPr>
          <p:nvPr/>
        </p:nvPicPr>
        <p:blipFill>
          <a:blip r:embed="rId4" cstate="print"/>
          <a:stretch>
            <a:fillRect/>
          </a:stretch>
        </p:blipFill>
        <p:spPr>
          <a:xfrm>
            <a:off x="2548729" y="3390990"/>
            <a:ext cx="854084" cy="655936"/>
          </a:xfrm>
          <a:prstGeom prst="rect">
            <a:avLst/>
          </a:prstGeom>
        </p:spPr>
      </p:pic>
      <p:pic>
        <p:nvPicPr>
          <p:cNvPr id="29" name="图片 28"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30" name="图片 29"/>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6023640" y="2765144"/>
            <a:ext cx="735511" cy="539766"/>
          </a:xfrm>
          <a:prstGeom prst="rect">
            <a:avLst/>
          </a:prstGeom>
        </p:spPr>
      </p:pic>
      <p:pic>
        <p:nvPicPr>
          <p:cNvPr id="31" name="图片 30" descr="internet-蓝.png"/>
          <p:cNvPicPr>
            <a:picLocks noChangeAspect="1"/>
          </p:cNvPicPr>
          <p:nvPr/>
        </p:nvPicPr>
        <p:blipFill>
          <a:blip r:embed="rId7" cstate="print"/>
          <a:stretch>
            <a:fillRect/>
          </a:stretch>
        </p:blipFill>
        <p:spPr>
          <a:xfrm>
            <a:off x="8050505" y="2681482"/>
            <a:ext cx="1569299" cy="796538"/>
          </a:xfrm>
          <a:prstGeom prst="rect">
            <a:avLst/>
          </a:prstGeom>
        </p:spPr>
      </p:pic>
    </p:spTree>
    <p:extLst>
      <p:ext uri="{BB962C8B-B14F-4D97-AF65-F5344CB8AC3E}">
        <p14:creationId xmlns:p14="http://schemas.microsoft.com/office/powerpoint/2010/main" val="10387351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NAT boundaries are represented as either inside or global.</a:t>
            </a:r>
          </a:p>
          <a:p>
            <a:r>
              <a:rPr lang="en-US" altLang="zh-CN" dirty="0" smtClean="0"/>
              <a:t>Translation of addresses is performed between boundaries.</a:t>
            </a:r>
          </a:p>
          <a:p>
            <a:endParaRPr lang="zh-CN" altLang="en-US" dirty="0"/>
          </a:p>
        </p:txBody>
      </p:sp>
      <p:sp>
        <p:nvSpPr>
          <p:cNvPr id="3" name="文本占位符 2"/>
          <p:cNvSpPr>
            <a:spLocks noGrp="1"/>
          </p:cNvSpPr>
          <p:nvPr>
            <p:ph type="body" sz="quarter" idx="12"/>
          </p:nvPr>
        </p:nvSpPr>
        <p:spPr/>
        <p:txBody>
          <a:bodyPr/>
          <a:lstStyle/>
          <a:p>
            <a:r>
              <a:rPr lang="en-US" altLang="zh-CN" smtClean="0"/>
              <a:t>NAT Behavior</a:t>
            </a:r>
            <a:endParaRPr lang="zh-CN" altLang="en-US" dirty="0"/>
          </a:p>
        </p:txBody>
      </p:sp>
      <p:grpSp>
        <p:nvGrpSpPr>
          <p:cNvPr id="10244" name="Group 20"/>
          <p:cNvGrpSpPr>
            <a:grpSpLocks/>
          </p:cNvGrpSpPr>
          <p:nvPr/>
        </p:nvGrpSpPr>
        <p:grpSpPr bwMode="auto">
          <a:xfrm>
            <a:off x="3159126" y="1773239"/>
            <a:ext cx="5006975" cy="2808287"/>
            <a:chOff x="1635125" y="1773238"/>
            <a:chExt cx="5006975" cy="2808287"/>
          </a:xfrm>
        </p:grpSpPr>
        <p:cxnSp>
          <p:nvCxnSpPr>
            <p:cNvPr id="10246" name="直接箭头连接符 29"/>
            <p:cNvCxnSpPr>
              <a:cxnSpLocks noChangeShapeType="1"/>
            </p:cNvCxnSpPr>
            <p:nvPr/>
          </p:nvCxnSpPr>
          <p:spPr bwMode="auto">
            <a:xfrm>
              <a:off x="4846638" y="1773238"/>
              <a:ext cx="0" cy="2808287"/>
            </a:xfrm>
            <a:prstGeom prst="straightConnector1">
              <a:avLst/>
            </a:prstGeom>
            <a:noFill/>
            <a:ln w="28575" algn="ctr">
              <a:solidFill>
                <a:srgbClr val="C00000"/>
              </a:solidFill>
              <a:prstDash val="lgDash"/>
              <a:round/>
              <a:headEnd/>
              <a:tailEnd/>
            </a:ln>
          </p:spPr>
        </p:cxnSp>
        <p:sp>
          <p:nvSpPr>
            <p:cNvPr id="10247" name="TextBox 94"/>
            <p:cNvSpPr txBox="1">
              <a:spLocks noChangeArrowheads="1"/>
            </p:cNvSpPr>
            <p:nvPr/>
          </p:nvSpPr>
          <p:spPr bwMode="auto">
            <a:xfrm>
              <a:off x="3765550" y="1897063"/>
              <a:ext cx="697627" cy="307777"/>
            </a:xfrm>
            <a:prstGeom prst="rect">
              <a:avLst/>
            </a:prstGeom>
            <a:noFill/>
            <a:ln w="9525">
              <a:noFill/>
              <a:miter lim="800000"/>
              <a:headEnd/>
              <a:tailEnd/>
            </a:ln>
          </p:spPr>
          <p:txBody>
            <a:bodyPr wrap="none">
              <a:spAutoFit/>
            </a:bodyPr>
            <a:lstStyle/>
            <a:p>
              <a:r>
                <a:rPr lang="en-US" altLang="zh-CN" sz="1400">
                  <a:latin typeface="微软雅黑" panose="020B0503020204020204" pitchFamily="34" charset="-122"/>
                  <a:ea typeface="微软雅黑" panose="020B0503020204020204" pitchFamily="34" charset="-122"/>
                </a:rPr>
                <a:t>Inside</a:t>
              </a:r>
              <a:endParaRPr lang="zh-CN" altLang="en-US" sz="1400">
                <a:latin typeface="微软雅黑" panose="020B0503020204020204" pitchFamily="34" charset="-122"/>
                <a:ea typeface="微软雅黑" panose="020B0503020204020204" pitchFamily="34" charset="-122"/>
              </a:endParaRPr>
            </a:p>
          </p:txBody>
        </p:sp>
        <p:sp>
          <p:nvSpPr>
            <p:cNvPr id="10248" name="TextBox 94"/>
            <p:cNvSpPr txBox="1">
              <a:spLocks noChangeArrowheads="1"/>
            </p:cNvSpPr>
            <p:nvPr/>
          </p:nvSpPr>
          <p:spPr bwMode="auto">
            <a:xfrm>
              <a:off x="5354638" y="1897063"/>
              <a:ext cx="739946" cy="307777"/>
            </a:xfrm>
            <a:prstGeom prst="rect">
              <a:avLst/>
            </a:prstGeom>
            <a:noFill/>
            <a:ln w="9525">
              <a:noFill/>
              <a:miter lim="800000"/>
              <a:headEnd/>
              <a:tailEnd/>
            </a:ln>
          </p:spPr>
          <p:txBody>
            <a:bodyPr wrap="none">
              <a:spAutoFit/>
            </a:bodyPr>
            <a:lstStyle/>
            <a:p>
              <a:r>
                <a:rPr lang="en-US" altLang="zh-CN" sz="1400" dirty="0">
                  <a:latin typeface="微软雅黑" panose="020B0503020204020204" pitchFamily="34" charset="-122"/>
                  <a:ea typeface="微软雅黑" panose="020B0503020204020204" pitchFamily="34" charset="-122"/>
                </a:rPr>
                <a:t>Global</a:t>
              </a:r>
              <a:endParaRPr lang="zh-CN" altLang="en-US" sz="1400" dirty="0">
                <a:latin typeface="微软雅黑" panose="020B0503020204020204" pitchFamily="34" charset="-122"/>
                <a:ea typeface="微软雅黑" panose="020B0503020204020204" pitchFamily="34" charset="-122"/>
              </a:endParaRPr>
            </a:p>
          </p:txBody>
        </p:sp>
        <p:sp>
          <p:nvSpPr>
            <p:cNvPr id="10249" name="TextBox 94"/>
            <p:cNvSpPr txBox="1">
              <a:spLocks noChangeArrowheads="1"/>
            </p:cNvSpPr>
            <p:nvPr/>
          </p:nvSpPr>
          <p:spPr bwMode="auto">
            <a:xfrm>
              <a:off x="2051050" y="2020888"/>
              <a:ext cx="1258678"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192.168.1.1/24</a:t>
              </a:r>
              <a:endParaRPr lang="zh-CN" altLang="en-US" sz="1200">
                <a:latin typeface="微软雅黑" panose="020B0503020204020204" pitchFamily="34" charset="-122"/>
                <a:ea typeface="微软雅黑" panose="020B0503020204020204" pitchFamily="34" charset="-122"/>
              </a:endParaRPr>
            </a:p>
          </p:txBody>
        </p:sp>
        <p:sp>
          <p:nvSpPr>
            <p:cNvPr id="10250" name="TextBox 94"/>
            <p:cNvSpPr txBox="1">
              <a:spLocks noChangeArrowheads="1"/>
            </p:cNvSpPr>
            <p:nvPr/>
          </p:nvSpPr>
          <p:spPr bwMode="auto">
            <a:xfrm>
              <a:off x="2051050" y="3611563"/>
              <a:ext cx="1258678"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192.168.1.2/24</a:t>
              </a:r>
              <a:endParaRPr lang="zh-CN" altLang="en-US" sz="1200">
                <a:latin typeface="微软雅黑" panose="020B0503020204020204" pitchFamily="34" charset="-122"/>
                <a:ea typeface="微软雅黑" panose="020B0503020204020204" pitchFamily="34" charset="-122"/>
              </a:endParaRPr>
            </a:p>
          </p:txBody>
        </p:sp>
        <p:sp>
          <p:nvSpPr>
            <p:cNvPr id="10251"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10252"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0253"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pic>
          <p:nvPicPr>
            <p:cNvPr id="10254"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0256"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10259" name="TextBox 94"/>
            <p:cNvSpPr txBox="1">
              <a:spLocks noChangeArrowheads="1"/>
            </p:cNvSpPr>
            <p:nvPr/>
          </p:nvSpPr>
          <p:spPr bwMode="auto">
            <a:xfrm>
              <a:off x="3066988" y="2456891"/>
              <a:ext cx="532903"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grpSp>
      <p:pic>
        <p:nvPicPr>
          <p:cNvPr id="26" name="图片 25" descr="PC.png"/>
          <p:cNvPicPr>
            <a:picLocks noChangeAspect="1"/>
          </p:cNvPicPr>
          <p:nvPr/>
        </p:nvPicPr>
        <p:blipFill>
          <a:blip r:embed="rId4" cstate="print"/>
          <a:stretch>
            <a:fillRect/>
          </a:stretch>
        </p:blipFill>
        <p:spPr>
          <a:xfrm>
            <a:off x="2589210" y="1875337"/>
            <a:ext cx="854084" cy="655936"/>
          </a:xfrm>
          <a:prstGeom prst="rect">
            <a:avLst/>
          </a:prstGeom>
        </p:spPr>
      </p:pic>
      <p:pic>
        <p:nvPicPr>
          <p:cNvPr id="27" name="图片 26" descr="PC.png"/>
          <p:cNvPicPr>
            <a:picLocks noChangeAspect="1"/>
          </p:cNvPicPr>
          <p:nvPr/>
        </p:nvPicPr>
        <p:blipFill>
          <a:blip r:embed="rId4" cstate="print"/>
          <a:stretch>
            <a:fillRect/>
          </a:stretch>
        </p:blipFill>
        <p:spPr>
          <a:xfrm>
            <a:off x="2548729" y="3390990"/>
            <a:ext cx="854084" cy="655936"/>
          </a:xfrm>
          <a:prstGeom prst="rect">
            <a:avLst/>
          </a:prstGeom>
        </p:spPr>
      </p:pic>
      <p:pic>
        <p:nvPicPr>
          <p:cNvPr id="28" name="图片 27"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29" name="图片 28"/>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6023640" y="2765144"/>
            <a:ext cx="735511" cy="539766"/>
          </a:xfrm>
          <a:prstGeom prst="rect">
            <a:avLst/>
          </a:prstGeom>
        </p:spPr>
      </p:pic>
      <p:pic>
        <p:nvPicPr>
          <p:cNvPr id="30" name="图片 29" descr="internet-蓝.png"/>
          <p:cNvPicPr>
            <a:picLocks noChangeAspect="1"/>
          </p:cNvPicPr>
          <p:nvPr/>
        </p:nvPicPr>
        <p:blipFill>
          <a:blip r:embed="rId7" cstate="print"/>
          <a:stretch>
            <a:fillRect/>
          </a:stretch>
        </p:blipFill>
        <p:spPr>
          <a:xfrm>
            <a:off x="8050505" y="2681482"/>
            <a:ext cx="1569299" cy="796538"/>
          </a:xfrm>
          <a:prstGeom prst="rect">
            <a:avLst/>
          </a:prstGeom>
        </p:spPr>
      </p:pic>
    </p:spTree>
    <p:extLst>
      <p:ext uri="{BB962C8B-B14F-4D97-AF65-F5344CB8AC3E}">
        <p14:creationId xmlns:p14="http://schemas.microsoft.com/office/powerpoint/2010/main" val="30389077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One-to-one mapping of private to public addresses.</a:t>
            </a:r>
          </a:p>
          <a:p>
            <a:r>
              <a:rPr lang="en-US" altLang="zh-CN" dirty="0" smtClean="0"/>
              <a:t>Limits the need for address management with session flows.</a:t>
            </a:r>
          </a:p>
          <a:p>
            <a:endParaRPr lang="zh-CN" altLang="en-US" dirty="0"/>
          </a:p>
        </p:txBody>
      </p:sp>
      <p:sp>
        <p:nvSpPr>
          <p:cNvPr id="3" name="文本占位符 2"/>
          <p:cNvSpPr>
            <a:spLocks noGrp="1"/>
          </p:cNvSpPr>
          <p:nvPr>
            <p:ph type="body" sz="quarter" idx="12"/>
          </p:nvPr>
        </p:nvSpPr>
        <p:spPr/>
        <p:txBody>
          <a:bodyPr/>
          <a:lstStyle/>
          <a:p>
            <a:r>
              <a:rPr lang="en-US" altLang="zh-CN" smtClean="0"/>
              <a:t>Static NAT</a:t>
            </a:r>
            <a:endParaRPr lang="zh-CN" altLang="en-US" dirty="0"/>
          </a:p>
        </p:txBody>
      </p:sp>
      <p:grpSp>
        <p:nvGrpSpPr>
          <p:cNvPr id="11269" name="Group 41"/>
          <p:cNvGrpSpPr>
            <a:grpSpLocks/>
          </p:cNvGrpSpPr>
          <p:nvPr/>
        </p:nvGrpSpPr>
        <p:grpSpPr bwMode="auto">
          <a:xfrm>
            <a:off x="2436814" y="1916113"/>
            <a:ext cx="7943662" cy="2366149"/>
            <a:chOff x="912813" y="1916113"/>
            <a:chExt cx="7943662" cy="2366149"/>
          </a:xfrm>
        </p:grpSpPr>
        <p:sp>
          <p:nvSpPr>
            <p:cNvPr id="11270" name="矩形 43"/>
            <p:cNvSpPr>
              <a:spLocks noChangeArrowheads="1"/>
            </p:cNvSpPr>
            <p:nvPr/>
          </p:nvSpPr>
          <p:spPr bwMode="auto">
            <a:xfrm>
              <a:off x="912813" y="2636838"/>
              <a:ext cx="1116011" cy="276999"/>
            </a:xfrm>
            <a:prstGeom prst="rect">
              <a:avLst/>
            </a:prstGeom>
            <a:noFill/>
            <a:ln w="9525">
              <a:noFill/>
              <a:miter lim="800000"/>
              <a:headEnd/>
              <a:tailEnd/>
            </a:ln>
          </p:spPr>
          <p:txBody>
            <a:bodyPr wrap="none">
              <a:spAutoFit/>
            </a:bodyPr>
            <a:lstStyle/>
            <a:p>
              <a:pPr algn="ctr" eaLnBrk="1" hangingPunct="1"/>
              <a:r>
                <a:rPr lang="en-US" altLang="zh-CN" sz="1200">
                  <a:latin typeface="微软雅黑" panose="020B0503020204020204" pitchFamily="34" charset="-122"/>
                  <a:ea typeface="微软雅黑" panose="020B0503020204020204" pitchFamily="34" charset="-122"/>
                  <a:cs typeface="Arial" charset="0"/>
                </a:rPr>
                <a:t>(200.10.10.5)</a:t>
              </a:r>
              <a:endParaRPr lang="zh-CN" altLang="en-US" sz="1200">
                <a:latin typeface="微软雅黑" panose="020B0503020204020204" pitchFamily="34" charset="-122"/>
                <a:ea typeface="微软雅黑" panose="020B0503020204020204" pitchFamily="34" charset="-122"/>
                <a:cs typeface="Arial" charset="0"/>
              </a:endParaRPr>
            </a:p>
          </p:txBody>
        </p:sp>
        <p:grpSp>
          <p:nvGrpSpPr>
            <p:cNvPr id="11271" name="组合 29"/>
            <p:cNvGrpSpPr>
              <a:grpSpLocks/>
            </p:cNvGrpSpPr>
            <p:nvPr/>
          </p:nvGrpSpPr>
          <p:grpSpPr bwMode="auto">
            <a:xfrm>
              <a:off x="5003800" y="1916113"/>
              <a:ext cx="2305050" cy="282575"/>
              <a:chOff x="4859338" y="2425700"/>
              <a:chExt cx="2305050" cy="282575"/>
            </a:xfrm>
          </p:grpSpPr>
          <p:sp>
            <p:nvSpPr>
              <p:cNvPr id="11303" name="Rectangle 14"/>
              <p:cNvSpPr>
                <a:spLocks noChangeArrowheads="1"/>
              </p:cNvSpPr>
              <p:nvPr/>
            </p:nvSpPr>
            <p:spPr bwMode="auto">
              <a:xfrm>
                <a:off x="4859338" y="2430463"/>
                <a:ext cx="1152525" cy="277812"/>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S:200.10.10.5</a:t>
                </a:r>
              </a:p>
            </p:txBody>
          </p:sp>
          <p:sp>
            <p:nvSpPr>
              <p:cNvPr id="11304" name="Rectangle 15"/>
              <p:cNvSpPr>
                <a:spLocks noChangeArrowheads="1"/>
              </p:cNvSpPr>
              <p:nvPr/>
            </p:nvSpPr>
            <p:spPr bwMode="auto">
              <a:xfrm>
                <a:off x="6011863" y="2425700"/>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endParaRPr kumimoji="1" lang="en-US" altLang="zh-CN" sz="1200" b="1">
                  <a:latin typeface="微软雅黑" panose="020B0503020204020204" pitchFamily="34" charset="-122"/>
                  <a:ea typeface="微软雅黑" panose="020B0503020204020204" pitchFamily="34" charset="-122"/>
                </a:endParaRPr>
              </a:p>
            </p:txBody>
          </p:sp>
        </p:grpSp>
        <p:cxnSp>
          <p:nvCxnSpPr>
            <p:cNvPr id="11272" name="直接箭头连接符 29"/>
            <p:cNvCxnSpPr>
              <a:cxnSpLocks noChangeShapeType="1"/>
            </p:cNvCxnSpPr>
            <p:nvPr/>
          </p:nvCxnSpPr>
          <p:spPr bwMode="auto">
            <a:xfrm>
              <a:off x="4356100" y="3573463"/>
              <a:ext cx="1008063" cy="0"/>
            </a:xfrm>
            <a:prstGeom prst="straightConnector1">
              <a:avLst/>
            </a:prstGeom>
            <a:noFill/>
            <a:ln w="28575" algn="ctr">
              <a:solidFill>
                <a:srgbClr val="C00000"/>
              </a:solidFill>
              <a:round/>
              <a:headEnd type="arrow" w="med" len="med"/>
              <a:tailEnd/>
            </a:ln>
          </p:spPr>
        </p:cxnSp>
        <p:grpSp>
          <p:nvGrpSpPr>
            <p:cNvPr id="11273" name="组合 27"/>
            <p:cNvGrpSpPr>
              <a:grpSpLocks/>
            </p:cNvGrpSpPr>
            <p:nvPr/>
          </p:nvGrpSpPr>
          <p:grpSpPr bwMode="auto">
            <a:xfrm>
              <a:off x="2364318" y="3729044"/>
              <a:ext cx="2352145" cy="280700"/>
              <a:chOff x="2435756" y="4016375"/>
              <a:chExt cx="2352144" cy="280338"/>
            </a:xfrm>
          </p:grpSpPr>
          <p:sp>
            <p:nvSpPr>
              <p:cNvPr id="11301" name="Rectangle 14"/>
              <p:cNvSpPr>
                <a:spLocks noChangeArrowheads="1"/>
              </p:cNvSpPr>
              <p:nvPr/>
            </p:nvSpPr>
            <p:spPr bwMode="auto">
              <a:xfrm>
                <a:off x="2435756" y="4017893"/>
                <a:ext cx="1199618" cy="278820"/>
              </a:xfrm>
              <a:prstGeom prst="rect">
                <a:avLst/>
              </a:prstGeom>
              <a:noFill/>
              <a:ln w="12700" algn="ctr">
                <a:solidFill>
                  <a:schemeClr val="tx2"/>
                </a:solidFill>
                <a:miter lim="800000"/>
                <a:headEnd/>
                <a:tailEnd/>
              </a:ln>
            </p:spPr>
            <p:txBody>
              <a:bodyPr wrap="square"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D:192.168.1.1</a:t>
                </a:r>
              </a:p>
            </p:txBody>
          </p:sp>
          <p:sp>
            <p:nvSpPr>
              <p:cNvPr id="11302" name="Rectangle 15"/>
              <p:cNvSpPr>
                <a:spLocks noChangeArrowheads="1"/>
              </p:cNvSpPr>
              <p:nvPr/>
            </p:nvSpPr>
            <p:spPr bwMode="auto">
              <a:xfrm>
                <a:off x="3635375" y="4016375"/>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S:1.1.1.1</a:t>
                </a:r>
                <a:endParaRPr kumimoji="1" lang="en-US" altLang="zh-CN" sz="1200" b="1">
                  <a:latin typeface="微软雅黑" panose="020B0503020204020204" pitchFamily="34" charset="-122"/>
                  <a:ea typeface="微软雅黑" panose="020B0503020204020204" pitchFamily="34" charset="-122"/>
                </a:endParaRPr>
              </a:p>
            </p:txBody>
          </p:sp>
        </p:grpSp>
        <p:grpSp>
          <p:nvGrpSpPr>
            <p:cNvPr id="11274" name="组合 28"/>
            <p:cNvGrpSpPr>
              <a:grpSpLocks/>
            </p:cNvGrpSpPr>
            <p:nvPr/>
          </p:nvGrpSpPr>
          <p:grpSpPr bwMode="auto">
            <a:xfrm>
              <a:off x="4926433" y="3730625"/>
              <a:ext cx="2453878" cy="279400"/>
              <a:chOff x="5070896" y="4017600"/>
              <a:chExt cx="2453878" cy="279400"/>
            </a:xfrm>
          </p:grpSpPr>
          <p:sp>
            <p:nvSpPr>
              <p:cNvPr id="11299" name="Rectangle 14"/>
              <p:cNvSpPr>
                <a:spLocks noChangeArrowheads="1"/>
              </p:cNvSpPr>
              <p:nvPr/>
            </p:nvSpPr>
            <p:spPr bwMode="auto">
              <a:xfrm>
                <a:off x="6372249" y="4017600"/>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S:1.1.1.1</a:t>
                </a:r>
              </a:p>
            </p:txBody>
          </p:sp>
          <p:sp>
            <p:nvSpPr>
              <p:cNvPr id="11300" name="Rectangle 15"/>
              <p:cNvSpPr>
                <a:spLocks noChangeArrowheads="1"/>
              </p:cNvSpPr>
              <p:nvPr/>
            </p:nvSpPr>
            <p:spPr bwMode="auto">
              <a:xfrm>
                <a:off x="5070896" y="4017710"/>
                <a:ext cx="1301750" cy="279180"/>
              </a:xfrm>
              <a:prstGeom prst="rect">
                <a:avLst/>
              </a:prstGeom>
              <a:noFill/>
              <a:ln w="12700" algn="ctr">
                <a:solidFill>
                  <a:schemeClr val="tx2"/>
                </a:solidFill>
                <a:miter lim="800000"/>
                <a:headEnd/>
                <a:tailEnd/>
              </a:ln>
            </p:spPr>
            <p:txBody>
              <a:bodyPr wrap="square"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D:200.10.10.5</a:t>
                </a:r>
                <a:endParaRPr kumimoji="1" lang="en-US" altLang="zh-CN" sz="1200" b="1" dirty="0">
                  <a:latin typeface="微软雅黑" panose="020B0503020204020204" pitchFamily="34" charset="-122"/>
                  <a:ea typeface="微软雅黑" panose="020B0503020204020204" pitchFamily="34" charset="-122"/>
                </a:endParaRPr>
              </a:p>
            </p:txBody>
          </p:sp>
        </p:grpSp>
        <p:sp>
          <p:nvSpPr>
            <p:cNvPr id="11275"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cxnSp>
          <p:nvCxnSpPr>
            <p:cNvPr id="11276" name="直接箭头连接符 29"/>
            <p:cNvCxnSpPr>
              <a:cxnSpLocks noChangeShapeType="1"/>
            </p:cNvCxnSpPr>
            <p:nvPr/>
          </p:nvCxnSpPr>
          <p:spPr bwMode="auto">
            <a:xfrm>
              <a:off x="4310063" y="2503488"/>
              <a:ext cx="1008062" cy="0"/>
            </a:xfrm>
            <a:prstGeom prst="straightConnector1">
              <a:avLst/>
            </a:prstGeom>
            <a:noFill/>
            <a:ln w="28575" algn="ctr">
              <a:solidFill>
                <a:srgbClr val="C00000"/>
              </a:solidFill>
              <a:round/>
              <a:headEnd/>
              <a:tailEnd type="arrow" w="med" len="med"/>
            </a:ln>
          </p:spPr>
        </p:cxnSp>
        <p:sp>
          <p:nvSpPr>
            <p:cNvPr id="11277"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1278"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pic>
          <p:nvPicPr>
            <p:cNvPr id="11279"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1281"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1284" name="TextBox 94"/>
            <p:cNvSpPr txBox="1">
              <a:spLocks noChangeArrowheads="1"/>
            </p:cNvSpPr>
            <p:nvPr/>
          </p:nvSpPr>
          <p:spPr bwMode="auto">
            <a:xfrm>
              <a:off x="3066988" y="2456892"/>
              <a:ext cx="532903"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SWA</a:t>
              </a:r>
              <a:endParaRPr lang="zh-CN" altLang="en-US" sz="1200" dirty="0">
                <a:latin typeface="微软雅黑" panose="020B0503020204020204" pitchFamily="34" charset="-122"/>
                <a:ea typeface="微软雅黑" panose="020B0503020204020204" pitchFamily="34" charset="-122"/>
              </a:endParaRPr>
            </a:p>
          </p:txBody>
        </p:sp>
        <p:sp>
          <p:nvSpPr>
            <p:cNvPr id="11285" name="TextBox 94"/>
            <p:cNvSpPr txBox="1">
              <a:spLocks noChangeArrowheads="1"/>
            </p:cNvSpPr>
            <p:nvPr/>
          </p:nvSpPr>
          <p:spPr bwMode="auto">
            <a:xfrm>
              <a:off x="4535995" y="2516188"/>
              <a:ext cx="466025"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RTA</a:t>
              </a:r>
              <a:endParaRPr lang="zh-CN" altLang="en-US" sz="1200" dirty="0">
                <a:latin typeface="微软雅黑" panose="020B0503020204020204" pitchFamily="34" charset="-122"/>
                <a:ea typeface="微软雅黑" panose="020B0503020204020204" pitchFamily="34" charset="-122"/>
              </a:endParaRPr>
            </a:p>
          </p:txBody>
        </p:sp>
        <p:sp>
          <p:nvSpPr>
            <p:cNvPr id="11288" name="矩形 43"/>
            <p:cNvSpPr>
              <a:spLocks noChangeArrowheads="1"/>
            </p:cNvSpPr>
            <p:nvPr/>
          </p:nvSpPr>
          <p:spPr bwMode="auto">
            <a:xfrm>
              <a:off x="1585129" y="2838450"/>
              <a:ext cx="1258678" cy="276999"/>
            </a:xfrm>
            <a:prstGeom prst="rect">
              <a:avLst/>
            </a:prstGeom>
            <a:noFill/>
            <a:ln w="9525">
              <a:noFill/>
              <a:miter lim="800000"/>
              <a:headEnd/>
              <a:tailEnd/>
            </a:ln>
          </p:spPr>
          <p:txBody>
            <a:bodyPr wrap="none">
              <a:spAutoFit/>
            </a:bodyPr>
            <a:lstStyle/>
            <a:p>
              <a:pPr algn="ctr" eaLnBrk="1" hangingPunct="1"/>
              <a:r>
                <a:rPr lang="en-US" altLang="zh-CN" sz="1200" dirty="0">
                  <a:latin typeface="微软雅黑" panose="020B0503020204020204" pitchFamily="34" charset="-122"/>
                  <a:ea typeface="微软雅黑" panose="020B0503020204020204" pitchFamily="34" charset="-122"/>
                  <a:cs typeface="Arial" charset="0"/>
                </a:rPr>
                <a:t>192.168.1.0/24</a:t>
              </a:r>
              <a:endParaRPr lang="zh-CN" altLang="en-US" sz="1200" dirty="0">
                <a:latin typeface="微软雅黑" panose="020B0503020204020204" pitchFamily="34" charset="-122"/>
                <a:ea typeface="微软雅黑" panose="020B0503020204020204" pitchFamily="34" charset="-122"/>
                <a:cs typeface="Arial" charset="0"/>
              </a:endParaRPr>
            </a:p>
          </p:txBody>
        </p:sp>
        <p:sp>
          <p:nvSpPr>
            <p:cNvPr id="11290" name="TextBox 94"/>
            <p:cNvSpPr txBox="1">
              <a:spLocks noChangeArrowheads="1"/>
            </p:cNvSpPr>
            <p:nvPr/>
          </p:nvSpPr>
          <p:spPr bwMode="auto">
            <a:xfrm>
              <a:off x="7956870" y="2419350"/>
              <a:ext cx="899605"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1.1.1.1/24</a:t>
              </a:r>
              <a:endParaRPr lang="zh-CN" altLang="en-US" sz="1200" dirty="0">
                <a:latin typeface="微软雅黑" panose="020B0503020204020204" pitchFamily="34" charset="-122"/>
                <a:ea typeface="微软雅黑" panose="020B0503020204020204" pitchFamily="34" charset="-122"/>
              </a:endParaRPr>
            </a:p>
          </p:txBody>
        </p:sp>
        <p:sp>
          <p:nvSpPr>
            <p:cNvPr id="11291"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11292"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sp>
          <p:nvSpPr>
            <p:cNvPr id="11293"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11294"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sp>
          <p:nvSpPr>
            <p:cNvPr id="11295" name="TextBox 94"/>
            <p:cNvSpPr txBox="1">
              <a:spLocks noChangeArrowheads="1"/>
            </p:cNvSpPr>
            <p:nvPr/>
          </p:nvSpPr>
          <p:spPr bwMode="auto">
            <a:xfrm>
              <a:off x="5100638" y="2744924"/>
              <a:ext cx="1258678"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200.10.10.1/24</a:t>
              </a:r>
              <a:endParaRPr lang="zh-CN" altLang="en-US" sz="1200" dirty="0">
                <a:latin typeface="微软雅黑" panose="020B0503020204020204" pitchFamily="34" charset="-122"/>
                <a:ea typeface="微软雅黑" panose="020B0503020204020204" pitchFamily="34" charset="-122"/>
              </a:endParaRPr>
            </a:p>
          </p:txBody>
        </p:sp>
        <p:grpSp>
          <p:nvGrpSpPr>
            <p:cNvPr id="11296" name="Group 43"/>
            <p:cNvGrpSpPr>
              <a:grpSpLocks/>
            </p:cNvGrpSpPr>
            <p:nvPr/>
          </p:nvGrpSpPr>
          <p:grpSpPr bwMode="auto">
            <a:xfrm>
              <a:off x="2411760" y="1925464"/>
              <a:ext cx="2304479" cy="284053"/>
              <a:chOff x="2411760" y="1925464"/>
              <a:chExt cx="2304479" cy="284053"/>
            </a:xfrm>
          </p:grpSpPr>
          <p:sp>
            <p:nvSpPr>
              <p:cNvPr id="11297" name="Rectangle 14"/>
              <p:cNvSpPr>
                <a:spLocks noChangeArrowheads="1"/>
              </p:cNvSpPr>
              <p:nvPr/>
            </p:nvSpPr>
            <p:spPr bwMode="auto">
              <a:xfrm>
                <a:off x="2411760" y="1930337"/>
                <a:ext cx="1150367" cy="27918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S:192.168.1.1</a:t>
                </a:r>
              </a:p>
            </p:txBody>
          </p:sp>
          <p:sp>
            <p:nvSpPr>
              <p:cNvPr id="11298" name="Rectangle 15"/>
              <p:cNvSpPr>
                <a:spLocks noChangeArrowheads="1"/>
              </p:cNvSpPr>
              <p:nvPr/>
            </p:nvSpPr>
            <p:spPr bwMode="auto">
              <a:xfrm>
                <a:off x="3563714" y="1925464"/>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endParaRPr kumimoji="1" lang="en-US" altLang="zh-CN" sz="1200" b="1">
                  <a:latin typeface="微软雅黑" panose="020B0503020204020204" pitchFamily="34" charset="-122"/>
                  <a:ea typeface="微软雅黑" panose="020B0503020204020204" pitchFamily="34" charset="-122"/>
                </a:endParaRPr>
              </a:p>
            </p:txBody>
          </p:sp>
        </p:grpSp>
      </p:grpSp>
      <p:pic>
        <p:nvPicPr>
          <p:cNvPr id="45" name="图片 44"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46" name="图片 45"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47" name="图片 46"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48" name="图片 47"/>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49" name="图片 48" descr="internet-蓝.png"/>
          <p:cNvPicPr>
            <a:picLocks noChangeAspect="1"/>
          </p:cNvPicPr>
          <p:nvPr/>
        </p:nvPicPr>
        <p:blipFill>
          <a:blip r:embed="rId7" cstate="print"/>
          <a:stretch>
            <a:fillRect/>
          </a:stretch>
        </p:blipFill>
        <p:spPr>
          <a:xfrm>
            <a:off x="8050505" y="2681482"/>
            <a:ext cx="1569299" cy="796538"/>
          </a:xfrm>
          <a:prstGeom prst="rect">
            <a:avLst/>
          </a:prstGeom>
        </p:spPr>
      </p:pic>
      <p:pic>
        <p:nvPicPr>
          <p:cNvPr id="50" name="图片 49" descr="PC.png"/>
          <p:cNvPicPr>
            <a:picLocks noChangeAspect="1"/>
          </p:cNvPicPr>
          <p:nvPr/>
        </p:nvPicPr>
        <p:blipFill>
          <a:blip r:embed="rId4" cstate="print"/>
          <a:stretch>
            <a:fillRect/>
          </a:stretch>
        </p:blipFill>
        <p:spPr>
          <a:xfrm>
            <a:off x="9529111" y="2747023"/>
            <a:ext cx="866476" cy="665453"/>
          </a:xfrm>
          <a:prstGeom prst="rect">
            <a:avLst/>
          </a:prstGeom>
        </p:spPr>
      </p:pic>
    </p:spTree>
    <p:extLst>
      <p:ext uri="{BB962C8B-B14F-4D97-AF65-F5344CB8AC3E}">
        <p14:creationId xmlns:p14="http://schemas.microsoft.com/office/powerpoint/2010/main" val="34870152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Private address mapping based on an address resource pool.</a:t>
            </a:r>
          </a:p>
          <a:p>
            <a:r>
              <a:rPr lang="en-US" altLang="zh-CN" dirty="0" smtClean="0"/>
              <a:t>Allows users to utilize public addresses based on need.</a:t>
            </a:r>
          </a:p>
          <a:p>
            <a:endParaRPr lang="zh-CN" altLang="en-US" dirty="0"/>
          </a:p>
        </p:txBody>
      </p:sp>
      <p:sp>
        <p:nvSpPr>
          <p:cNvPr id="3" name="文本占位符 2"/>
          <p:cNvSpPr>
            <a:spLocks noGrp="1"/>
          </p:cNvSpPr>
          <p:nvPr>
            <p:ph type="body" sz="quarter" idx="12"/>
          </p:nvPr>
        </p:nvSpPr>
        <p:spPr/>
        <p:txBody>
          <a:bodyPr/>
          <a:lstStyle/>
          <a:p>
            <a:r>
              <a:rPr lang="en-US" altLang="zh-CN" smtClean="0"/>
              <a:t>Dynamic NAT</a:t>
            </a:r>
            <a:endParaRPr lang="zh-CN" altLang="en-US" dirty="0"/>
          </a:p>
        </p:txBody>
      </p:sp>
      <p:graphicFrame>
        <p:nvGraphicFramePr>
          <p:cNvPr id="41" name="表格 8"/>
          <p:cNvGraphicFramePr>
            <a:graphicFrameLocks noGrp="1"/>
          </p:cNvGraphicFramePr>
          <p:nvPr>
            <p:extLst>
              <p:ext uri="{D42A27DB-BD31-4B8C-83A1-F6EECF244321}">
                <p14:modId xmlns:p14="http://schemas.microsoft.com/office/powerpoint/2010/main" val="4254711243"/>
              </p:ext>
            </p:extLst>
          </p:nvPr>
        </p:nvGraphicFramePr>
        <p:xfrm>
          <a:off x="6462713" y="4248316"/>
          <a:ext cx="2088232" cy="944880"/>
        </p:xfrm>
        <a:graphic>
          <a:graphicData uri="http://schemas.openxmlformats.org/drawingml/2006/table">
            <a:tbl>
              <a:tblPr firstRow="1" bandCol="1">
                <a:tableStyleId>{5C22544A-7EE6-4342-B048-85BDC9FD1C3A}</a:tableStyleId>
              </a:tblPr>
              <a:tblGrid>
                <a:gridCol w="2088232"/>
              </a:tblGrid>
              <a:tr h="25654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bg1"/>
                          </a:solidFill>
                          <a:latin typeface="微软雅黑" panose="020B0503020204020204" pitchFamily="34" charset="-122"/>
                          <a:ea typeface="微软雅黑" panose="020B0503020204020204" pitchFamily="34" charset="-122"/>
                          <a:cs typeface="Arial" charset="0"/>
                        </a:rPr>
                        <a:t>200.10.10.0/24</a:t>
                      </a:r>
                      <a:endParaRPr lang="zh-CN" altLang="en-US" sz="1600" b="0" kern="1200" dirty="0" smtClean="0">
                        <a:solidFill>
                          <a:schemeClr val="bg1"/>
                        </a:solidFill>
                        <a:latin typeface="微软雅黑" panose="020B0503020204020204" pitchFamily="34" charset="-122"/>
                        <a:ea typeface="微软雅黑" panose="020B0503020204020204" pitchFamily="34" charset="-122"/>
                        <a:cs typeface="Arial"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r>
              <a:tr h="256541">
                <a:tc>
                  <a:txBody>
                    <a:bodyPr/>
                    <a:lstStyle/>
                    <a:p>
                      <a:pPr marL="0" algn="ctr" defTabSz="914400" rtl="0" eaLnBrk="1" latinLnBrk="0" hangingPunct="1"/>
                      <a:r>
                        <a:rPr lang="en-US" altLang="zh-CN" sz="1400" b="0" dirty="0" smtClean="0">
                          <a:solidFill>
                            <a:schemeClr val="tx1"/>
                          </a:solidFill>
                          <a:latin typeface="微软雅黑" panose="020B0503020204020204" pitchFamily="34" charset="-122"/>
                          <a:ea typeface="微软雅黑" panose="020B0503020204020204" pitchFamily="34" charset="-122"/>
                          <a:cs typeface="Arial" charset="0"/>
                        </a:rPr>
                        <a:t>200.10.10.11</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dirty="0" smtClean="0">
                          <a:solidFill>
                            <a:schemeClr val="tx1"/>
                          </a:solidFill>
                          <a:latin typeface="微软雅黑" panose="020B0503020204020204" pitchFamily="34" charset="-122"/>
                          <a:ea typeface="微软雅黑" panose="020B0503020204020204" pitchFamily="34" charset="-122"/>
                          <a:cs typeface="Arial" charset="0"/>
                        </a:rPr>
                        <a:t>200.10.10.12</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aphicFrame>
        <p:nvGraphicFramePr>
          <p:cNvPr id="44" name="表格 8"/>
          <p:cNvGraphicFramePr>
            <a:graphicFrameLocks noGrp="1"/>
          </p:cNvGraphicFramePr>
          <p:nvPr>
            <p:extLst>
              <p:ext uri="{D42A27DB-BD31-4B8C-83A1-F6EECF244321}">
                <p14:modId xmlns:p14="http://schemas.microsoft.com/office/powerpoint/2010/main" val="1408594956"/>
              </p:ext>
            </p:extLst>
          </p:nvPr>
        </p:nvGraphicFramePr>
        <p:xfrm>
          <a:off x="4151313" y="4223556"/>
          <a:ext cx="1872208" cy="969640"/>
        </p:xfrm>
        <a:graphic>
          <a:graphicData uri="http://schemas.openxmlformats.org/drawingml/2006/table">
            <a:tbl>
              <a:tblPr firstRow="1" bandCol="1">
                <a:tableStyleId>{5C22544A-7EE6-4342-B048-85BDC9FD1C3A}</a:tableStyleId>
              </a:tblPr>
              <a:tblGrid>
                <a:gridCol w="1872208"/>
              </a:tblGrid>
              <a:tr h="3600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bg1"/>
                          </a:solidFill>
                          <a:latin typeface="微软雅黑" panose="020B0503020204020204" pitchFamily="34" charset="-122"/>
                          <a:ea typeface="微软雅黑" panose="020B0503020204020204" pitchFamily="34" charset="-122"/>
                          <a:cs typeface="Arial" charset="0"/>
                        </a:rPr>
                        <a:t>192.168.1.0/24</a:t>
                      </a:r>
                      <a:endParaRPr lang="zh-CN" altLang="en-US" sz="1600" b="0" kern="1200" dirty="0" smtClean="0">
                        <a:solidFill>
                          <a:schemeClr val="bg1"/>
                        </a:solidFill>
                        <a:latin typeface="微软雅黑" panose="020B0503020204020204" pitchFamily="34" charset="-122"/>
                        <a:ea typeface="微软雅黑" panose="020B0503020204020204" pitchFamily="34" charset="-122"/>
                        <a:cs typeface="Arial"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r>
              <a:tr h="256541">
                <a:tc>
                  <a:txBody>
                    <a:bodyPr/>
                    <a:lstStyle/>
                    <a:p>
                      <a:pPr marL="0" algn="ctr" defTabSz="914400" rtl="0" eaLnBrk="1" latinLnBrk="0" hangingPunct="1"/>
                      <a:r>
                        <a:rPr lang="en-US" altLang="zh-CN" sz="1400" b="0" dirty="0" smtClean="0">
                          <a:solidFill>
                            <a:schemeClr val="tx1"/>
                          </a:solidFill>
                          <a:latin typeface="微软雅黑" panose="020B0503020204020204" pitchFamily="34" charset="-122"/>
                          <a:ea typeface="微软雅黑" panose="020B0503020204020204" pitchFamily="34" charset="-122"/>
                          <a:cs typeface="Arial" charset="0"/>
                        </a:rPr>
                        <a:t>192.168.1.1</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微软雅黑" panose="020B0503020204020204" pitchFamily="34" charset="-122"/>
                          <a:ea typeface="微软雅黑" panose="020B0503020204020204" pitchFamily="34" charset="-122"/>
                          <a:cs typeface="Arial" charset="0"/>
                        </a:rPr>
                        <a:t>192.168.1.2</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pSp>
        <p:nvGrpSpPr>
          <p:cNvPr id="12313" name="Group 41"/>
          <p:cNvGrpSpPr>
            <a:grpSpLocks/>
          </p:cNvGrpSpPr>
          <p:nvPr/>
        </p:nvGrpSpPr>
        <p:grpSpPr bwMode="auto">
          <a:xfrm>
            <a:off x="2605088" y="1630364"/>
            <a:ext cx="7340092" cy="2651899"/>
            <a:chOff x="1081088" y="1630363"/>
            <a:chExt cx="7340092" cy="2651899"/>
          </a:xfrm>
        </p:grpSpPr>
        <p:grpSp>
          <p:nvGrpSpPr>
            <p:cNvPr id="12314" name="Group 46"/>
            <p:cNvGrpSpPr>
              <a:grpSpLocks/>
            </p:cNvGrpSpPr>
            <p:nvPr/>
          </p:nvGrpSpPr>
          <p:grpSpPr bwMode="auto">
            <a:xfrm>
              <a:off x="4932363" y="1630363"/>
              <a:ext cx="2389187" cy="280987"/>
              <a:chOff x="4932363" y="1630363"/>
              <a:chExt cx="2389187" cy="280987"/>
            </a:xfrm>
          </p:grpSpPr>
          <p:sp>
            <p:nvSpPr>
              <p:cNvPr id="12346" name="Rectangle 14"/>
              <p:cNvSpPr>
                <a:spLocks noChangeArrowheads="1"/>
              </p:cNvSpPr>
              <p:nvPr/>
            </p:nvSpPr>
            <p:spPr bwMode="auto">
              <a:xfrm>
                <a:off x="4932363" y="1630363"/>
                <a:ext cx="123507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S:200.10.10.11</a:t>
                </a:r>
              </a:p>
            </p:txBody>
          </p:sp>
          <p:sp>
            <p:nvSpPr>
              <p:cNvPr id="12347" name="Rectangle 15"/>
              <p:cNvSpPr>
                <a:spLocks noChangeArrowheads="1"/>
              </p:cNvSpPr>
              <p:nvPr/>
            </p:nvSpPr>
            <p:spPr bwMode="auto">
              <a:xfrm>
                <a:off x="6169025" y="1631950"/>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endParaRPr kumimoji="1" lang="en-US" altLang="zh-CN" sz="1200" b="1">
                  <a:latin typeface="微软雅黑" panose="020B0503020204020204" pitchFamily="34" charset="-122"/>
                  <a:ea typeface="微软雅黑" panose="020B0503020204020204" pitchFamily="34" charset="-122"/>
                </a:endParaRPr>
              </a:p>
            </p:txBody>
          </p:sp>
        </p:grpSp>
        <p:grpSp>
          <p:nvGrpSpPr>
            <p:cNvPr id="12315" name="Group 45"/>
            <p:cNvGrpSpPr>
              <a:grpSpLocks/>
            </p:cNvGrpSpPr>
            <p:nvPr/>
          </p:nvGrpSpPr>
          <p:grpSpPr bwMode="auto">
            <a:xfrm>
              <a:off x="2339975" y="2062163"/>
              <a:ext cx="2305050" cy="277812"/>
              <a:chOff x="2339975" y="2062163"/>
              <a:chExt cx="2305050" cy="277812"/>
            </a:xfrm>
          </p:grpSpPr>
          <p:sp>
            <p:nvSpPr>
              <p:cNvPr id="12344" name="Rectangle 14"/>
              <p:cNvSpPr>
                <a:spLocks noChangeArrowheads="1"/>
              </p:cNvSpPr>
              <p:nvPr/>
            </p:nvSpPr>
            <p:spPr bwMode="auto">
              <a:xfrm>
                <a:off x="2339975" y="2062163"/>
                <a:ext cx="1152525" cy="277812"/>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S:192.168.1.2</a:t>
                </a:r>
              </a:p>
            </p:txBody>
          </p:sp>
          <p:sp>
            <p:nvSpPr>
              <p:cNvPr id="12345" name="Rectangle 15"/>
              <p:cNvSpPr>
                <a:spLocks noChangeArrowheads="1"/>
              </p:cNvSpPr>
              <p:nvPr/>
            </p:nvSpPr>
            <p:spPr bwMode="auto">
              <a:xfrm>
                <a:off x="3492500" y="2062163"/>
                <a:ext cx="1152525" cy="277812"/>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endParaRPr kumimoji="1" lang="en-US" altLang="zh-CN" sz="1200" b="1">
                  <a:latin typeface="微软雅黑" panose="020B0503020204020204" pitchFamily="34" charset="-122"/>
                  <a:ea typeface="微软雅黑" panose="020B0503020204020204" pitchFamily="34" charset="-122"/>
                </a:endParaRPr>
              </a:p>
            </p:txBody>
          </p:sp>
        </p:grpSp>
        <p:grpSp>
          <p:nvGrpSpPr>
            <p:cNvPr id="12316" name="Group 47"/>
            <p:cNvGrpSpPr>
              <a:grpSpLocks/>
            </p:cNvGrpSpPr>
            <p:nvPr/>
          </p:nvGrpSpPr>
          <p:grpSpPr bwMode="auto">
            <a:xfrm>
              <a:off x="4932363" y="2070100"/>
              <a:ext cx="2390775" cy="279400"/>
              <a:chOff x="4932363" y="2070100"/>
              <a:chExt cx="2390775" cy="279400"/>
            </a:xfrm>
          </p:grpSpPr>
          <p:sp>
            <p:nvSpPr>
              <p:cNvPr id="12342" name="Rectangle 14"/>
              <p:cNvSpPr>
                <a:spLocks noChangeArrowheads="1"/>
              </p:cNvSpPr>
              <p:nvPr/>
            </p:nvSpPr>
            <p:spPr bwMode="auto">
              <a:xfrm>
                <a:off x="6172200" y="2070100"/>
                <a:ext cx="1150938" cy="277813"/>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p>
            </p:txBody>
          </p:sp>
          <p:sp>
            <p:nvSpPr>
              <p:cNvPr id="12343" name="Rectangle 15"/>
              <p:cNvSpPr>
                <a:spLocks noChangeArrowheads="1"/>
              </p:cNvSpPr>
              <p:nvPr/>
            </p:nvSpPr>
            <p:spPr bwMode="auto">
              <a:xfrm>
                <a:off x="4932363" y="2071688"/>
                <a:ext cx="1235075" cy="277812"/>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S:200.10.10.12</a:t>
                </a:r>
                <a:endParaRPr kumimoji="1" lang="en-US" altLang="zh-CN" sz="1200" b="1">
                  <a:latin typeface="微软雅黑" panose="020B0503020204020204" pitchFamily="34" charset="-122"/>
                  <a:ea typeface="微软雅黑" panose="020B0503020204020204" pitchFamily="34" charset="-122"/>
                </a:endParaRPr>
              </a:p>
            </p:txBody>
          </p:sp>
        </p:grpSp>
        <p:sp>
          <p:nvSpPr>
            <p:cNvPr id="12317"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cxnSp>
          <p:nvCxnSpPr>
            <p:cNvPr id="12318" name="直接箭头连接符 29"/>
            <p:cNvCxnSpPr>
              <a:cxnSpLocks noChangeShapeType="1"/>
            </p:cNvCxnSpPr>
            <p:nvPr/>
          </p:nvCxnSpPr>
          <p:spPr bwMode="auto">
            <a:xfrm>
              <a:off x="4310063" y="2503488"/>
              <a:ext cx="1008062" cy="0"/>
            </a:xfrm>
            <a:prstGeom prst="straightConnector1">
              <a:avLst/>
            </a:prstGeom>
            <a:noFill/>
            <a:ln w="28575" algn="ctr">
              <a:solidFill>
                <a:srgbClr val="C00000"/>
              </a:solidFill>
              <a:round/>
              <a:headEnd/>
              <a:tailEnd type="arrow" w="med" len="med"/>
            </a:ln>
          </p:spPr>
        </p:cxnSp>
        <p:sp>
          <p:nvSpPr>
            <p:cNvPr id="12319"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2320"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pic>
          <p:nvPicPr>
            <p:cNvPr id="12321"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2323"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2326" name="TextBox 94"/>
            <p:cNvSpPr txBox="1">
              <a:spLocks noChangeArrowheads="1"/>
            </p:cNvSpPr>
            <p:nvPr/>
          </p:nvSpPr>
          <p:spPr bwMode="auto">
            <a:xfrm>
              <a:off x="3066989" y="2456891"/>
              <a:ext cx="532903"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SWA</a:t>
              </a:r>
              <a:endParaRPr lang="zh-CN" altLang="en-US" sz="1200" dirty="0">
                <a:latin typeface="微软雅黑" panose="020B0503020204020204" pitchFamily="34" charset="-122"/>
                <a:ea typeface="微软雅黑" panose="020B0503020204020204" pitchFamily="34" charset="-122"/>
              </a:endParaRPr>
            </a:p>
          </p:txBody>
        </p:sp>
        <p:sp>
          <p:nvSpPr>
            <p:cNvPr id="12327"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12330" name="矩形 43"/>
            <p:cNvSpPr>
              <a:spLocks noChangeArrowheads="1"/>
            </p:cNvSpPr>
            <p:nvPr/>
          </p:nvSpPr>
          <p:spPr bwMode="auto">
            <a:xfrm>
              <a:off x="1490663" y="2838450"/>
              <a:ext cx="1258678" cy="276999"/>
            </a:xfrm>
            <a:prstGeom prst="rect">
              <a:avLst/>
            </a:prstGeom>
            <a:noFill/>
            <a:ln w="9525">
              <a:noFill/>
              <a:miter lim="800000"/>
              <a:headEnd/>
              <a:tailEnd/>
            </a:ln>
          </p:spPr>
          <p:txBody>
            <a:bodyPr wrap="none">
              <a:spAutoFit/>
            </a:bodyPr>
            <a:lstStyle/>
            <a:p>
              <a:pPr algn="ctr" eaLnBrk="1" hangingPunct="1"/>
              <a:r>
                <a:rPr lang="en-US" altLang="zh-CN" sz="1200" dirty="0">
                  <a:latin typeface="微软雅黑" panose="020B0503020204020204" pitchFamily="34" charset="-122"/>
                  <a:ea typeface="微软雅黑" panose="020B0503020204020204" pitchFamily="34" charset="-122"/>
                  <a:cs typeface="Arial" charset="0"/>
                </a:rPr>
                <a:t>192.168.1.0/24</a:t>
              </a:r>
              <a:endParaRPr lang="zh-CN" altLang="en-US" sz="1200" dirty="0">
                <a:latin typeface="微软雅黑" panose="020B0503020204020204" pitchFamily="34" charset="-122"/>
                <a:ea typeface="微软雅黑" panose="020B0503020204020204" pitchFamily="34" charset="-122"/>
                <a:cs typeface="Arial" charset="0"/>
              </a:endParaRPr>
            </a:p>
          </p:txBody>
        </p:sp>
        <p:sp>
          <p:nvSpPr>
            <p:cNvPr id="12332" name="TextBox 94"/>
            <p:cNvSpPr txBox="1">
              <a:spLocks noChangeArrowheads="1"/>
            </p:cNvSpPr>
            <p:nvPr/>
          </p:nvSpPr>
          <p:spPr bwMode="auto">
            <a:xfrm>
              <a:off x="7521575" y="2419350"/>
              <a:ext cx="89960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12333"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12334"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sp>
          <p:nvSpPr>
            <p:cNvPr id="12335"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12336"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sp>
          <p:nvSpPr>
            <p:cNvPr id="38" name="Rectangle 4"/>
            <p:cNvSpPr>
              <a:spLocks noChangeArrowheads="1"/>
            </p:cNvSpPr>
            <p:nvPr/>
          </p:nvSpPr>
          <p:spPr bwMode="auto">
            <a:xfrm>
              <a:off x="4067175" y="3424238"/>
              <a:ext cx="1584325" cy="646112"/>
            </a:xfrm>
            <a:prstGeom prst="rect">
              <a:avLst/>
            </a:prstGeom>
            <a:solidFill>
              <a:schemeClr val="bg1"/>
            </a:solidFill>
            <a:ln w="9525" algn="ctr">
              <a:solidFill>
                <a:srgbClr val="777777"/>
              </a:solidFill>
              <a:miter lim="800000"/>
              <a:headEnd/>
              <a:tailEnd/>
            </a:ln>
            <a:effectLst>
              <a:outerShdw dist="71842" dir="2700000" algn="ctr" rotWithShape="0">
                <a:srgbClr val="808080"/>
              </a:outerShdw>
            </a:effectLst>
          </p:spPr>
          <p:txBody>
            <a:bodyPr lIns="0" tIns="0" rIns="0" bIns="0">
              <a:spAutoFit/>
            </a:bodyPr>
            <a:lstStyle/>
            <a:p>
              <a:pPr algn="ctr" defTabSz="784225">
                <a:defRPr/>
              </a:pPr>
              <a:r>
                <a:rPr lang="en-US" altLang="zh-CN" sz="1400" dirty="0">
                  <a:latin typeface="微软雅黑" panose="020B0503020204020204" pitchFamily="34" charset="-122"/>
                  <a:ea typeface="微软雅黑" panose="020B0503020204020204" pitchFamily="34" charset="-122"/>
                </a:rPr>
                <a:t>Address Group</a:t>
              </a:r>
            </a:p>
            <a:p>
              <a:pPr algn="ctr" defTabSz="784225">
                <a:defRPr/>
              </a:pPr>
              <a:r>
                <a:rPr lang="en-US" altLang="zh-CN" sz="1400" dirty="0">
                  <a:latin typeface="微软雅黑" panose="020B0503020204020204" pitchFamily="34" charset="-122"/>
                  <a:ea typeface="微软雅黑" panose="020B0503020204020204" pitchFamily="34" charset="-122"/>
                </a:rPr>
                <a:t>200.10.10.11</a:t>
              </a:r>
            </a:p>
            <a:p>
              <a:pPr algn="ctr" defTabSz="784225">
                <a:defRPr/>
              </a:pPr>
              <a:r>
                <a:rPr lang="en-US" altLang="zh-CN" sz="1400" dirty="0">
                  <a:latin typeface="微软雅黑" panose="020B0503020204020204" pitchFamily="34" charset="-122"/>
                  <a:ea typeface="微软雅黑" panose="020B0503020204020204" pitchFamily="34" charset="-122"/>
                </a:rPr>
                <a:t>200.10.10.12</a:t>
              </a:r>
            </a:p>
          </p:txBody>
        </p:sp>
        <p:sp>
          <p:nvSpPr>
            <p:cNvPr id="12338" name="TextBox 94"/>
            <p:cNvSpPr txBox="1">
              <a:spLocks noChangeArrowheads="1"/>
            </p:cNvSpPr>
            <p:nvPr/>
          </p:nvSpPr>
          <p:spPr bwMode="auto">
            <a:xfrm>
              <a:off x="5100638" y="2760663"/>
              <a:ext cx="1258678"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200.10.10.1/24</a:t>
              </a:r>
              <a:endParaRPr lang="zh-CN" altLang="en-US" sz="1200">
                <a:latin typeface="微软雅黑" panose="020B0503020204020204" pitchFamily="34" charset="-122"/>
                <a:ea typeface="微软雅黑" panose="020B0503020204020204" pitchFamily="34" charset="-122"/>
              </a:endParaRPr>
            </a:p>
          </p:txBody>
        </p:sp>
        <p:grpSp>
          <p:nvGrpSpPr>
            <p:cNvPr id="12339" name="Group 44"/>
            <p:cNvGrpSpPr>
              <a:grpSpLocks/>
            </p:cNvGrpSpPr>
            <p:nvPr/>
          </p:nvGrpSpPr>
          <p:grpSpPr bwMode="auto">
            <a:xfrm>
              <a:off x="2348260" y="1637541"/>
              <a:ext cx="2304479" cy="279400"/>
              <a:chOff x="2348260" y="1637541"/>
              <a:chExt cx="2304479" cy="279400"/>
            </a:xfrm>
          </p:grpSpPr>
          <p:sp>
            <p:nvSpPr>
              <p:cNvPr id="12340" name="Rectangle 14"/>
              <p:cNvSpPr>
                <a:spLocks noChangeArrowheads="1"/>
              </p:cNvSpPr>
              <p:nvPr/>
            </p:nvSpPr>
            <p:spPr bwMode="auto">
              <a:xfrm>
                <a:off x="2348260" y="1637652"/>
                <a:ext cx="1150367" cy="27918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S:192.168.1.1</a:t>
                </a:r>
              </a:p>
            </p:txBody>
          </p:sp>
          <p:sp>
            <p:nvSpPr>
              <p:cNvPr id="12341" name="Rectangle 15"/>
              <p:cNvSpPr>
                <a:spLocks noChangeArrowheads="1"/>
              </p:cNvSpPr>
              <p:nvPr/>
            </p:nvSpPr>
            <p:spPr bwMode="auto">
              <a:xfrm>
                <a:off x="3500214" y="1637541"/>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D:1.1.1.1</a:t>
                </a:r>
                <a:endParaRPr kumimoji="1" lang="en-US" altLang="zh-CN" sz="1200" b="1" dirty="0">
                  <a:latin typeface="微软雅黑" panose="020B0503020204020204" pitchFamily="34" charset="-122"/>
                  <a:ea typeface="微软雅黑" panose="020B0503020204020204" pitchFamily="34" charset="-122"/>
                </a:endParaRPr>
              </a:p>
            </p:txBody>
          </p:sp>
        </p:grpSp>
      </p:grpSp>
      <p:pic>
        <p:nvPicPr>
          <p:cNvPr id="46" name="图片 45"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47" name="图片 46"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48" name="图片 47"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49" name="图片 48"/>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50" name="图片 49" descr="internet-蓝.png"/>
          <p:cNvPicPr>
            <a:picLocks noChangeAspect="1"/>
          </p:cNvPicPr>
          <p:nvPr/>
        </p:nvPicPr>
        <p:blipFill>
          <a:blip r:embed="rId7" cstate="print"/>
          <a:stretch>
            <a:fillRect/>
          </a:stretch>
        </p:blipFill>
        <p:spPr>
          <a:xfrm>
            <a:off x="8050505" y="2681482"/>
            <a:ext cx="1569299" cy="796538"/>
          </a:xfrm>
          <a:prstGeom prst="rect">
            <a:avLst/>
          </a:prstGeom>
        </p:spPr>
      </p:pic>
      <p:pic>
        <p:nvPicPr>
          <p:cNvPr id="51" name="图片 50" descr="PC.png"/>
          <p:cNvPicPr>
            <a:picLocks noChangeAspect="1"/>
          </p:cNvPicPr>
          <p:nvPr/>
        </p:nvPicPr>
        <p:blipFill>
          <a:blip r:embed="rId4" cstate="print"/>
          <a:stretch>
            <a:fillRect/>
          </a:stretch>
        </p:blipFill>
        <p:spPr>
          <a:xfrm>
            <a:off x="9529111" y="2747023"/>
            <a:ext cx="866476" cy="665453"/>
          </a:xfrm>
          <a:prstGeom prst="rect">
            <a:avLst/>
          </a:prstGeom>
        </p:spPr>
      </p:pic>
    </p:spTree>
    <p:extLst>
      <p:ext uri="{BB962C8B-B14F-4D97-AF65-F5344CB8AC3E}">
        <p14:creationId xmlns:p14="http://schemas.microsoft.com/office/powerpoint/2010/main" val="20274281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Port numbers distinguish mapping of the same public address. </a:t>
            </a:r>
          </a:p>
          <a:p>
            <a:endParaRPr lang="zh-CN" altLang="en-US" dirty="0"/>
          </a:p>
        </p:txBody>
      </p:sp>
      <p:sp>
        <p:nvSpPr>
          <p:cNvPr id="3" name="文本占位符 2"/>
          <p:cNvSpPr>
            <a:spLocks noGrp="1"/>
          </p:cNvSpPr>
          <p:nvPr>
            <p:ph type="body" sz="quarter" idx="12"/>
          </p:nvPr>
        </p:nvSpPr>
        <p:spPr/>
        <p:txBody>
          <a:bodyPr/>
          <a:lstStyle/>
          <a:p>
            <a:r>
              <a:rPr lang="en-US" altLang="zh-CN" smtClean="0"/>
              <a:t>Network Address Port Translation </a:t>
            </a:r>
            <a:endParaRPr lang="zh-CN" altLang="en-US" dirty="0"/>
          </a:p>
        </p:txBody>
      </p:sp>
      <p:graphicFrame>
        <p:nvGraphicFramePr>
          <p:cNvPr id="36" name="表格 8"/>
          <p:cNvGraphicFramePr>
            <a:graphicFrameLocks noGrp="1"/>
          </p:cNvGraphicFramePr>
          <p:nvPr>
            <p:extLst>
              <p:ext uri="{D42A27DB-BD31-4B8C-83A1-F6EECF244321}">
                <p14:modId xmlns:p14="http://schemas.microsoft.com/office/powerpoint/2010/main" val="3457122351"/>
              </p:ext>
            </p:extLst>
          </p:nvPr>
        </p:nvGraphicFramePr>
        <p:xfrm>
          <a:off x="4151313" y="4350804"/>
          <a:ext cx="1872208" cy="1274440"/>
        </p:xfrm>
        <a:graphic>
          <a:graphicData uri="http://schemas.openxmlformats.org/drawingml/2006/table">
            <a:tbl>
              <a:tblPr firstRow="1" bandCol="1">
                <a:tableStyleId>{5C22544A-7EE6-4342-B048-85BDC9FD1C3A}</a:tableStyleId>
              </a:tblPr>
              <a:tblGrid>
                <a:gridCol w="1872208"/>
              </a:tblGrid>
              <a:tr h="3600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bg1"/>
                          </a:solidFill>
                          <a:latin typeface="微软雅黑" panose="020B0503020204020204" pitchFamily="34" charset="-122"/>
                          <a:ea typeface="微软雅黑" panose="020B0503020204020204" pitchFamily="34" charset="-122"/>
                          <a:cs typeface="Arial" charset="0"/>
                        </a:rPr>
                        <a:t>192.168.1.0/24</a:t>
                      </a:r>
                      <a:endParaRPr lang="zh-CN" altLang="en-US" sz="1600" b="0" kern="1200" dirty="0" smtClean="0">
                        <a:solidFill>
                          <a:schemeClr val="bg1"/>
                        </a:solidFill>
                        <a:latin typeface="微软雅黑" panose="020B0503020204020204" pitchFamily="34" charset="-122"/>
                        <a:ea typeface="微软雅黑" panose="020B0503020204020204" pitchFamily="34" charset="-122"/>
                        <a:cs typeface="Arial"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r>
              <a:tr h="256541">
                <a:tc>
                  <a:txBody>
                    <a:bodyPr/>
                    <a:lstStyle/>
                    <a:p>
                      <a:pPr marL="0" algn="ctr" defTabSz="914400" rtl="0" eaLnBrk="1" latinLnBrk="0" hangingPunct="1"/>
                      <a:r>
                        <a:rPr lang="en-US" altLang="zh-CN" sz="1400" b="0" dirty="0" smtClean="0">
                          <a:solidFill>
                            <a:schemeClr val="tx1"/>
                          </a:solidFill>
                          <a:latin typeface="微软雅黑" panose="020B0503020204020204" pitchFamily="34" charset="-122"/>
                          <a:ea typeface="微软雅黑" panose="020B0503020204020204" pitchFamily="34" charset="-122"/>
                          <a:cs typeface="Arial" charset="0"/>
                        </a:rPr>
                        <a:t>192.168.1.1:1025</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微软雅黑" panose="020B0503020204020204" pitchFamily="34" charset="-122"/>
                          <a:ea typeface="微软雅黑" panose="020B0503020204020204" pitchFamily="34" charset="-122"/>
                          <a:cs typeface="Arial" charset="0"/>
                        </a:rPr>
                        <a:t>192.168.1.2:1028</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微软雅黑" panose="020B0503020204020204" pitchFamily="34" charset="-122"/>
                          <a:ea typeface="微软雅黑" panose="020B0503020204020204" pitchFamily="34" charset="-122"/>
                          <a:cs typeface="Arial" charset="0"/>
                        </a:rPr>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aphicFrame>
        <p:nvGraphicFramePr>
          <p:cNvPr id="37" name="表格 8"/>
          <p:cNvGraphicFramePr>
            <a:graphicFrameLocks noGrp="1"/>
          </p:cNvGraphicFramePr>
          <p:nvPr>
            <p:extLst>
              <p:ext uri="{D42A27DB-BD31-4B8C-83A1-F6EECF244321}">
                <p14:modId xmlns:p14="http://schemas.microsoft.com/office/powerpoint/2010/main" val="3379692071"/>
              </p:ext>
            </p:extLst>
          </p:nvPr>
        </p:nvGraphicFramePr>
        <p:xfrm>
          <a:off x="6462714" y="4375564"/>
          <a:ext cx="1865535" cy="1249680"/>
        </p:xfrm>
        <a:graphic>
          <a:graphicData uri="http://schemas.openxmlformats.org/drawingml/2006/table">
            <a:tbl>
              <a:tblPr firstRow="1" bandCol="1">
                <a:tableStyleId>{5C22544A-7EE6-4342-B048-85BDC9FD1C3A}</a:tableStyleId>
              </a:tblPr>
              <a:tblGrid>
                <a:gridCol w="1865535"/>
              </a:tblGrid>
              <a:tr h="25654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bg1"/>
                          </a:solidFill>
                          <a:latin typeface="Arial" charset="0"/>
                          <a:ea typeface="+mn-ea"/>
                          <a:cs typeface="Arial" charset="0"/>
                        </a:rPr>
                        <a:t>200.10.10.0/24</a:t>
                      </a:r>
                      <a:endParaRPr lang="zh-CN" altLang="en-US" sz="1600" b="0" kern="1200" dirty="0" smtClean="0">
                        <a:solidFill>
                          <a:schemeClr val="bg1"/>
                        </a:solidFill>
                        <a:latin typeface="Arial" charset="0"/>
                        <a:ea typeface="+mn-ea"/>
                        <a:cs typeface="Arial"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r>
              <a:tr h="256541">
                <a:tc>
                  <a:txBody>
                    <a:bodyPr/>
                    <a:lstStyle/>
                    <a:p>
                      <a:pPr marL="0" algn="ctr" defTabSz="914400" rtl="0" eaLnBrk="1" latinLnBrk="0" hangingPunct="1"/>
                      <a:r>
                        <a:rPr lang="en-US" altLang="zh-CN" sz="1400" b="0" dirty="0" smtClean="0">
                          <a:solidFill>
                            <a:schemeClr val="tx1"/>
                          </a:solidFill>
                          <a:latin typeface="Arial" charset="0"/>
                          <a:cs typeface="Arial" charset="0"/>
                        </a:rPr>
                        <a:t>200.10.10.11:2843</a:t>
                      </a:r>
                      <a:endParaRPr lang="en-US" altLang="zh-CN" sz="1400" b="0" kern="1200" dirty="0" smtClean="0">
                        <a:solidFill>
                          <a:schemeClr val="tx1"/>
                        </a:solidFill>
                        <a:latin typeface="Arial" pitchFamily="34" charset="0"/>
                        <a:ea typeface="+mn-ea"/>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dirty="0" smtClean="0">
                          <a:solidFill>
                            <a:schemeClr val="tx1"/>
                          </a:solidFill>
                          <a:latin typeface="Arial" charset="0"/>
                          <a:cs typeface="Arial" charset="0"/>
                        </a:rPr>
                        <a:t>200.10.10.11:2844</a:t>
                      </a:r>
                      <a:endParaRPr lang="en-US" altLang="zh-CN" sz="1400" b="0" kern="1200" dirty="0" smtClean="0">
                        <a:solidFill>
                          <a:schemeClr val="tx1"/>
                        </a:solidFill>
                        <a:latin typeface="Arial" pitchFamily="34" charset="0"/>
                        <a:ea typeface="+mn-ea"/>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Arial" charset="0"/>
                          <a:ea typeface="+mn-ea"/>
                          <a:cs typeface="Arial" charset="0"/>
                        </a:rPr>
                        <a:t>……</a:t>
                      </a:r>
                      <a:endParaRPr lang="en-US" altLang="zh-CN" sz="1400" b="0" kern="1200" dirty="0" smtClean="0">
                        <a:solidFill>
                          <a:schemeClr val="tx1"/>
                        </a:solidFill>
                        <a:latin typeface="Arial" pitchFamily="34" charset="0"/>
                        <a:ea typeface="+mn-ea"/>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pSp>
        <p:nvGrpSpPr>
          <p:cNvPr id="13341" name="Group 33"/>
          <p:cNvGrpSpPr>
            <a:grpSpLocks/>
          </p:cNvGrpSpPr>
          <p:nvPr/>
        </p:nvGrpSpPr>
        <p:grpSpPr bwMode="auto">
          <a:xfrm>
            <a:off x="2605088" y="1625600"/>
            <a:ext cx="7340092" cy="2656662"/>
            <a:chOff x="1081088" y="1625600"/>
            <a:chExt cx="7340092" cy="2656662"/>
          </a:xfrm>
        </p:grpSpPr>
        <p:sp>
          <p:nvSpPr>
            <p:cNvPr id="13342" name="Rectangle 14"/>
            <p:cNvSpPr>
              <a:spLocks noChangeArrowheads="1"/>
            </p:cNvSpPr>
            <p:nvPr/>
          </p:nvSpPr>
          <p:spPr bwMode="auto">
            <a:xfrm>
              <a:off x="2746375" y="1625600"/>
              <a:ext cx="1655763"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S:192.168.1.1:1025</a:t>
              </a:r>
            </a:p>
          </p:txBody>
        </p:sp>
        <p:sp>
          <p:nvSpPr>
            <p:cNvPr id="13343" name="Rectangle 14"/>
            <p:cNvSpPr>
              <a:spLocks noChangeArrowheads="1"/>
            </p:cNvSpPr>
            <p:nvPr/>
          </p:nvSpPr>
          <p:spPr bwMode="auto">
            <a:xfrm>
              <a:off x="5338763" y="1625600"/>
              <a:ext cx="1655762" cy="288925"/>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S:200.10.10.11:2843</a:t>
              </a:r>
            </a:p>
          </p:txBody>
        </p:sp>
        <p:sp>
          <p:nvSpPr>
            <p:cNvPr id="13344" name="Rectangle 14"/>
            <p:cNvSpPr>
              <a:spLocks noChangeArrowheads="1"/>
            </p:cNvSpPr>
            <p:nvPr/>
          </p:nvSpPr>
          <p:spPr bwMode="auto">
            <a:xfrm>
              <a:off x="2746375" y="2057400"/>
              <a:ext cx="1655763"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S:192.168.1.2:1028</a:t>
              </a:r>
            </a:p>
          </p:txBody>
        </p:sp>
        <p:sp>
          <p:nvSpPr>
            <p:cNvPr id="13345" name="Rectangle 14"/>
            <p:cNvSpPr>
              <a:spLocks noChangeArrowheads="1"/>
            </p:cNvSpPr>
            <p:nvPr/>
          </p:nvSpPr>
          <p:spPr bwMode="auto">
            <a:xfrm>
              <a:off x="5338763" y="2057400"/>
              <a:ext cx="1655762"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S:200.10.10.11:2844</a:t>
              </a:r>
            </a:p>
          </p:txBody>
        </p:sp>
        <p:sp>
          <p:nvSpPr>
            <p:cNvPr id="13346"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cxnSp>
          <p:nvCxnSpPr>
            <p:cNvPr id="13347" name="直接箭头连接符 29"/>
            <p:cNvCxnSpPr>
              <a:cxnSpLocks noChangeShapeType="1"/>
            </p:cNvCxnSpPr>
            <p:nvPr/>
          </p:nvCxnSpPr>
          <p:spPr bwMode="auto">
            <a:xfrm>
              <a:off x="4310063" y="2492375"/>
              <a:ext cx="1008062" cy="0"/>
            </a:xfrm>
            <a:prstGeom prst="straightConnector1">
              <a:avLst/>
            </a:prstGeom>
            <a:noFill/>
            <a:ln w="28575" algn="ctr">
              <a:solidFill>
                <a:srgbClr val="C00000"/>
              </a:solidFill>
              <a:round/>
              <a:headEnd/>
              <a:tailEnd type="arrow" w="med" len="med"/>
            </a:ln>
          </p:spPr>
        </p:cxnSp>
        <p:sp>
          <p:nvSpPr>
            <p:cNvPr id="13348"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3349"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pic>
          <p:nvPicPr>
            <p:cNvPr id="13350"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3352"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3355" name="TextBox 94"/>
            <p:cNvSpPr txBox="1">
              <a:spLocks noChangeArrowheads="1"/>
            </p:cNvSpPr>
            <p:nvPr/>
          </p:nvSpPr>
          <p:spPr bwMode="auto">
            <a:xfrm>
              <a:off x="3025775" y="250190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3356"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13357" name="TextBox 94"/>
            <p:cNvSpPr txBox="1">
              <a:spLocks noChangeArrowheads="1"/>
            </p:cNvSpPr>
            <p:nvPr/>
          </p:nvSpPr>
          <p:spPr bwMode="auto">
            <a:xfrm>
              <a:off x="3815916" y="3054350"/>
              <a:ext cx="699230"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G0/0/1</a:t>
              </a:r>
              <a:endParaRPr lang="zh-CN" altLang="en-US" sz="1200" dirty="0">
                <a:latin typeface="微软雅黑" panose="020B0503020204020204" pitchFamily="34" charset="-122"/>
                <a:ea typeface="微软雅黑" panose="020B0503020204020204" pitchFamily="34" charset="-122"/>
              </a:endParaRPr>
            </a:p>
          </p:txBody>
        </p:sp>
        <p:sp>
          <p:nvSpPr>
            <p:cNvPr id="13360" name="矩形 43"/>
            <p:cNvSpPr>
              <a:spLocks noChangeArrowheads="1"/>
            </p:cNvSpPr>
            <p:nvPr/>
          </p:nvSpPr>
          <p:spPr bwMode="auto">
            <a:xfrm>
              <a:off x="1490663" y="2838450"/>
              <a:ext cx="1258678" cy="276999"/>
            </a:xfrm>
            <a:prstGeom prst="rect">
              <a:avLst/>
            </a:prstGeom>
            <a:noFill/>
            <a:ln w="9525">
              <a:noFill/>
              <a:miter lim="800000"/>
              <a:headEnd/>
              <a:tailEnd/>
            </a:ln>
          </p:spPr>
          <p:txBody>
            <a:bodyPr wrap="none">
              <a:spAutoFit/>
            </a:bodyPr>
            <a:lstStyle/>
            <a:p>
              <a:pPr algn="ctr" eaLnBrk="1" hangingPunct="1"/>
              <a:r>
                <a:rPr lang="en-US" altLang="zh-CN" sz="1200">
                  <a:latin typeface="微软雅黑" panose="020B0503020204020204" pitchFamily="34" charset="-122"/>
                  <a:ea typeface="微软雅黑" panose="020B0503020204020204" pitchFamily="34" charset="-122"/>
                  <a:cs typeface="Arial" charset="0"/>
                </a:rPr>
                <a:t>192.168.1.0/24</a:t>
              </a:r>
              <a:endParaRPr lang="zh-CN" altLang="en-US" sz="1200">
                <a:latin typeface="微软雅黑" panose="020B0503020204020204" pitchFamily="34" charset="-122"/>
                <a:ea typeface="微软雅黑" panose="020B0503020204020204" pitchFamily="34" charset="-122"/>
                <a:cs typeface="Arial" charset="0"/>
              </a:endParaRPr>
            </a:p>
          </p:txBody>
        </p:sp>
        <p:sp>
          <p:nvSpPr>
            <p:cNvPr id="13362" name="TextBox 94"/>
            <p:cNvSpPr txBox="1">
              <a:spLocks noChangeArrowheads="1"/>
            </p:cNvSpPr>
            <p:nvPr/>
          </p:nvSpPr>
          <p:spPr bwMode="auto">
            <a:xfrm>
              <a:off x="7521575" y="2419350"/>
              <a:ext cx="89960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13363"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13364"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sp>
          <p:nvSpPr>
            <p:cNvPr id="30" name="Rectangle 4"/>
            <p:cNvSpPr>
              <a:spLocks noChangeArrowheads="1"/>
            </p:cNvSpPr>
            <p:nvPr/>
          </p:nvSpPr>
          <p:spPr bwMode="auto">
            <a:xfrm>
              <a:off x="4067175" y="3424238"/>
              <a:ext cx="1584325" cy="646112"/>
            </a:xfrm>
            <a:prstGeom prst="rect">
              <a:avLst/>
            </a:prstGeom>
            <a:solidFill>
              <a:schemeClr val="bg1"/>
            </a:solidFill>
            <a:ln w="9525" algn="ctr">
              <a:solidFill>
                <a:srgbClr val="777777"/>
              </a:solidFill>
              <a:miter lim="800000"/>
              <a:headEnd/>
              <a:tailEnd/>
            </a:ln>
            <a:effectLst>
              <a:outerShdw dist="71842" dir="2700000" algn="ctr" rotWithShape="0">
                <a:srgbClr val="808080"/>
              </a:outerShdw>
            </a:effectLst>
          </p:spPr>
          <p:txBody>
            <a:bodyPr lIns="0" tIns="0" rIns="0" bIns="0">
              <a:spAutoFit/>
            </a:bodyPr>
            <a:lstStyle/>
            <a:p>
              <a:pPr algn="ctr" defTabSz="784225">
                <a:defRPr/>
              </a:pPr>
              <a:r>
                <a:rPr lang="en-US" altLang="zh-CN" sz="1400" dirty="0">
                  <a:latin typeface="微软雅黑" panose="020B0503020204020204" pitchFamily="34" charset="-122"/>
                  <a:ea typeface="微软雅黑" panose="020B0503020204020204" pitchFamily="34" charset="-122"/>
                </a:rPr>
                <a:t>Address Group</a:t>
              </a:r>
            </a:p>
            <a:p>
              <a:pPr algn="ctr" defTabSz="784225">
                <a:defRPr/>
              </a:pPr>
              <a:r>
                <a:rPr lang="en-US" altLang="zh-CN" sz="1400" dirty="0">
                  <a:latin typeface="微软雅黑" panose="020B0503020204020204" pitchFamily="34" charset="-122"/>
                  <a:ea typeface="微软雅黑" panose="020B0503020204020204" pitchFamily="34" charset="-122"/>
                </a:rPr>
                <a:t>200.10.10.11</a:t>
              </a:r>
            </a:p>
            <a:p>
              <a:pPr algn="ctr" defTabSz="784225">
                <a:defRPr/>
              </a:pPr>
              <a:r>
                <a:rPr lang="en-US" altLang="zh-CN" sz="1400" dirty="0">
                  <a:latin typeface="微软雅黑" panose="020B0503020204020204" pitchFamily="34" charset="-122"/>
                  <a:ea typeface="微软雅黑" panose="020B0503020204020204" pitchFamily="34" charset="-122"/>
                </a:rPr>
                <a:t>200.10.10.12</a:t>
              </a:r>
            </a:p>
          </p:txBody>
        </p:sp>
        <p:sp>
          <p:nvSpPr>
            <p:cNvPr id="13366"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13367"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sp>
          <p:nvSpPr>
            <p:cNvPr id="13368" name="TextBox 94"/>
            <p:cNvSpPr txBox="1">
              <a:spLocks noChangeArrowheads="1"/>
            </p:cNvSpPr>
            <p:nvPr/>
          </p:nvSpPr>
          <p:spPr bwMode="auto">
            <a:xfrm>
              <a:off x="5100638" y="2760663"/>
              <a:ext cx="1258678"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200.10.10.1/24</a:t>
              </a:r>
              <a:endParaRPr lang="zh-CN" altLang="en-US" sz="1200">
                <a:latin typeface="微软雅黑" panose="020B0503020204020204" pitchFamily="34" charset="-122"/>
                <a:ea typeface="微软雅黑" panose="020B0503020204020204" pitchFamily="34" charset="-122"/>
              </a:endParaRPr>
            </a:p>
          </p:txBody>
        </p:sp>
      </p:grpSp>
      <p:pic>
        <p:nvPicPr>
          <p:cNvPr id="40" name="图片 39"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41" name="图片 40"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42" name="图片 41"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43" name="图片 42"/>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44" name="图片 43" descr="internet-蓝.png"/>
          <p:cNvPicPr>
            <a:picLocks noChangeAspect="1"/>
          </p:cNvPicPr>
          <p:nvPr/>
        </p:nvPicPr>
        <p:blipFill>
          <a:blip r:embed="rId7" cstate="print"/>
          <a:stretch>
            <a:fillRect/>
          </a:stretch>
        </p:blipFill>
        <p:spPr>
          <a:xfrm>
            <a:off x="8050505" y="2681482"/>
            <a:ext cx="1569299" cy="796538"/>
          </a:xfrm>
          <a:prstGeom prst="rect">
            <a:avLst/>
          </a:prstGeom>
        </p:spPr>
      </p:pic>
      <p:pic>
        <p:nvPicPr>
          <p:cNvPr id="46" name="图片 45" descr="PC.png"/>
          <p:cNvPicPr>
            <a:picLocks noChangeAspect="1"/>
          </p:cNvPicPr>
          <p:nvPr/>
        </p:nvPicPr>
        <p:blipFill>
          <a:blip r:embed="rId4" cstate="print"/>
          <a:stretch>
            <a:fillRect/>
          </a:stretch>
        </p:blipFill>
        <p:spPr>
          <a:xfrm>
            <a:off x="9529111" y="2747023"/>
            <a:ext cx="866476" cy="665453"/>
          </a:xfrm>
          <a:prstGeom prst="rect">
            <a:avLst/>
          </a:prstGeom>
        </p:spPr>
      </p:pic>
    </p:spTree>
    <p:extLst>
      <p:ext uri="{BB962C8B-B14F-4D97-AF65-F5344CB8AC3E}">
        <p14:creationId xmlns:p14="http://schemas.microsoft.com/office/powerpoint/2010/main" val="526748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The WAN interface address used as a single public address for all internal users, with port numbers used to distinguish sessions.</a:t>
            </a:r>
          </a:p>
          <a:p>
            <a:endParaRPr lang="en-US" altLang="zh-CN" dirty="0" smtClean="0"/>
          </a:p>
          <a:p>
            <a:endParaRPr lang="zh-CN" altLang="en-US" dirty="0"/>
          </a:p>
        </p:txBody>
      </p:sp>
      <p:sp>
        <p:nvSpPr>
          <p:cNvPr id="3" name="文本占位符 2"/>
          <p:cNvSpPr>
            <a:spLocks noGrp="1"/>
          </p:cNvSpPr>
          <p:nvPr>
            <p:ph type="body" sz="quarter" idx="12"/>
          </p:nvPr>
        </p:nvSpPr>
        <p:spPr/>
        <p:txBody>
          <a:bodyPr/>
          <a:lstStyle/>
          <a:p>
            <a:r>
              <a:rPr lang="en-US" altLang="zh-CN" smtClean="0"/>
              <a:t>Easy IP</a:t>
            </a:r>
            <a:endParaRPr lang="zh-CN" altLang="en-US" dirty="0"/>
          </a:p>
        </p:txBody>
      </p:sp>
      <p:grpSp>
        <p:nvGrpSpPr>
          <p:cNvPr id="14341" name="Group 33"/>
          <p:cNvGrpSpPr>
            <a:grpSpLocks/>
          </p:cNvGrpSpPr>
          <p:nvPr/>
        </p:nvGrpSpPr>
        <p:grpSpPr bwMode="auto">
          <a:xfrm>
            <a:off x="2605088" y="1625600"/>
            <a:ext cx="7340092" cy="2656662"/>
            <a:chOff x="1081088" y="1625600"/>
            <a:chExt cx="7340092" cy="2656662"/>
          </a:xfrm>
        </p:grpSpPr>
        <p:sp>
          <p:nvSpPr>
            <p:cNvPr id="14366" name="TextBox 94"/>
            <p:cNvSpPr txBox="1">
              <a:spLocks noChangeArrowheads="1"/>
            </p:cNvSpPr>
            <p:nvPr/>
          </p:nvSpPr>
          <p:spPr bwMode="auto">
            <a:xfrm>
              <a:off x="5100638" y="2760663"/>
              <a:ext cx="1258678"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200.10.10.1/30</a:t>
              </a:r>
              <a:endParaRPr lang="zh-CN" altLang="en-US" sz="1200">
                <a:latin typeface="微软雅黑" panose="020B0503020204020204" pitchFamily="34" charset="-122"/>
                <a:ea typeface="微软雅黑" panose="020B0503020204020204" pitchFamily="34" charset="-122"/>
              </a:endParaRPr>
            </a:p>
          </p:txBody>
        </p:sp>
        <p:sp>
          <p:nvSpPr>
            <p:cNvPr id="14367"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14368"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4369"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pic>
          <p:nvPicPr>
            <p:cNvPr id="14370"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4372"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sp>
          <p:nvSpPr>
            <p:cNvPr id="14375" name="TextBox 94"/>
            <p:cNvSpPr txBox="1">
              <a:spLocks noChangeArrowheads="1"/>
            </p:cNvSpPr>
            <p:nvPr/>
          </p:nvSpPr>
          <p:spPr bwMode="auto">
            <a:xfrm>
              <a:off x="3066989" y="2456892"/>
              <a:ext cx="532903"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SWA</a:t>
              </a:r>
              <a:endParaRPr lang="zh-CN" altLang="en-US" sz="1200" dirty="0">
                <a:latin typeface="微软雅黑" panose="020B0503020204020204" pitchFamily="34" charset="-122"/>
                <a:ea typeface="微软雅黑" panose="020B0503020204020204" pitchFamily="34" charset="-122"/>
              </a:endParaRPr>
            </a:p>
          </p:txBody>
        </p:sp>
        <p:sp>
          <p:nvSpPr>
            <p:cNvPr id="14376" name="TextBox 94"/>
            <p:cNvSpPr txBox="1">
              <a:spLocks noChangeArrowheads="1"/>
            </p:cNvSpPr>
            <p:nvPr/>
          </p:nvSpPr>
          <p:spPr bwMode="auto">
            <a:xfrm>
              <a:off x="4572000" y="2516188"/>
              <a:ext cx="466025"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RTA</a:t>
              </a:r>
              <a:endParaRPr lang="zh-CN" altLang="en-US" sz="1200" dirty="0">
                <a:latin typeface="微软雅黑" panose="020B0503020204020204" pitchFamily="34" charset="-122"/>
                <a:ea typeface="微软雅黑" panose="020B0503020204020204" pitchFamily="34" charset="-122"/>
              </a:endParaRPr>
            </a:p>
          </p:txBody>
        </p:sp>
        <p:sp>
          <p:nvSpPr>
            <p:cNvPr id="14377" name="TextBox 94"/>
            <p:cNvSpPr txBox="1">
              <a:spLocks noChangeArrowheads="1"/>
            </p:cNvSpPr>
            <p:nvPr/>
          </p:nvSpPr>
          <p:spPr bwMode="auto">
            <a:xfrm>
              <a:off x="3815916" y="3079993"/>
              <a:ext cx="699230"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G0/0/1</a:t>
              </a:r>
              <a:endParaRPr lang="zh-CN" altLang="en-US" sz="1200" dirty="0">
                <a:latin typeface="微软雅黑" panose="020B0503020204020204" pitchFamily="34" charset="-122"/>
                <a:ea typeface="微软雅黑" panose="020B0503020204020204" pitchFamily="34" charset="-122"/>
              </a:endParaRPr>
            </a:p>
          </p:txBody>
        </p:sp>
        <p:sp>
          <p:nvSpPr>
            <p:cNvPr id="14380" name="矩形 43"/>
            <p:cNvSpPr>
              <a:spLocks noChangeArrowheads="1"/>
            </p:cNvSpPr>
            <p:nvPr/>
          </p:nvSpPr>
          <p:spPr bwMode="auto">
            <a:xfrm>
              <a:off x="1490663" y="2838450"/>
              <a:ext cx="1258678" cy="276999"/>
            </a:xfrm>
            <a:prstGeom prst="rect">
              <a:avLst/>
            </a:prstGeom>
            <a:noFill/>
            <a:ln w="9525">
              <a:noFill/>
              <a:miter lim="800000"/>
              <a:headEnd/>
              <a:tailEnd/>
            </a:ln>
          </p:spPr>
          <p:txBody>
            <a:bodyPr wrap="none">
              <a:spAutoFit/>
            </a:bodyPr>
            <a:lstStyle/>
            <a:p>
              <a:pPr eaLnBrk="1" hangingPunct="1"/>
              <a:r>
                <a:rPr lang="en-US" altLang="zh-CN" sz="1200">
                  <a:latin typeface="微软雅黑" panose="020B0503020204020204" pitchFamily="34" charset="-122"/>
                  <a:ea typeface="微软雅黑" panose="020B0503020204020204" pitchFamily="34" charset="-122"/>
                  <a:cs typeface="Arial" charset="0"/>
                </a:rPr>
                <a:t>192.168.1.0/24</a:t>
              </a:r>
              <a:endParaRPr lang="zh-CN" altLang="en-US" sz="1200">
                <a:latin typeface="微软雅黑" panose="020B0503020204020204" pitchFamily="34" charset="-122"/>
                <a:ea typeface="微软雅黑" panose="020B0503020204020204" pitchFamily="34" charset="-122"/>
                <a:cs typeface="Arial" charset="0"/>
              </a:endParaRPr>
            </a:p>
          </p:txBody>
        </p:sp>
        <p:sp>
          <p:nvSpPr>
            <p:cNvPr id="14382" name="TextBox 94"/>
            <p:cNvSpPr txBox="1">
              <a:spLocks noChangeArrowheads="1"/>
            </p:cNvSpPr>
            <p:nvPr/>
          </p:nvSpPr>
          <p:spPr bwMode="auto">
            <a:xfrm>
              <a:off x="7521575" y="2419350"/>
              <a:ext cx="899605"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14383" name="Rectangle 14"/>
            <p:cNvSpPr>
              <a:spLocks noChangeArrowheads="1"/>
            </p:cNvSpPr>
            <p:nvPr/>
          </p:nvSpPr>
          <p:spPr bwMode="auto">
            <a:xfrm>
              <a:off x="2746375" y="1625600"/>
              <a:ext cx="1655763" cy="279400"/>
            </a:xfrm>
            <a:prstGeom prst="rect">
              <a:avLst/>
            </a:prstGeom>
            <a:noFill/>
            <a:ln w="12700" algn="ctr">
              <a:solidFill>
                <a:schemeClr val="tx2"/>
              </a:solidFill>
              <a:miter lim="800000"/>
              <a:headEnd/>
              <a:tailEnd/>
            </a:ln>
          </p:spPr>
          <p:txBody>
            <a:bodyPr lIns="90000" tIns="46800" rIns="90000" bIns="46800" anchor="ctr">
              <a:spAutoFit/>
            </a:bodyPr>
            <a:lstStyle/>
            <a:p>
              <a:pPr eaLnBrk="1" hangingPunct="1"/>
              <a:r>
                <a:rPr kumimoji="1" lang="en-US" altLang="zh-CN" sz="1200" dirty="0">
                  <a:latin typeface="微软雅黑" panose="020B0503020204020204" pitchFamily="34" charset="-122"/>
                  <a:ea typeface="微软雅黑" panose="020B0503020204020204" pitchFamily="34" charset="-122"/>
                </a:rPr>
                <a:t>S:192.168.1.1:1025</a:t>
              </a:r>
            </a:p>
          </p:txBody>
        </p:sp>
        <p:sp>
          <p:nvSpPr>
            <p:cNvPr id="14384" name="Rectangle 14"/>
            <p:cNvSpPr>
              <a:spLocks noChangeArrowheads="1"/>
            </p:cNvSpPr>
            <p:nvPr/>
          </p:nvSpPr>
          <p:spPr bwMode="auto">
            <a:xfrm>
              <a:off x="5338763" y="1625600"/>
              <a:ext cx="1655762" cy="288925"/>
            </a:xfrm>
            <a:prstGeom prst="rect">
              <a:avLst/>
            </a:prstGeom>
            <a:noFill/>
            <a:ln w="12700" algn="ctr">
              <a:solidFill>
                <a:schemeClr val="tx2"/>
              </a:solidFill>
              <a:miter lim="800000"/>
              <a:headEnd/>
              <a:tailEnd/>
            </a:ln>
          </p:spPr>
          <p:txBody>
            <a:bodyPr lIns="90000" tIns="46800" rIns="90000" bIns="46800" anchor="ctr">
              <a:spAutoFit/>
            </a:bodyPr>
            <a:lstStyle/>
            <a:p>
              <a:pPr eaLnBrk="1" hangingPunct="1"/>
              <a:r>
                <a:rPr kumimoji="1" lang="en-US" altLang="zh-CN" sz="1200">
                  <a:latin typeface="微软雅黑" panose="020B0503020204020204" pitchFamily="34" charset="-122"/>
                  <a:ea typeface="微软雅黑" panose="020B0503020204020204" pitchFamily="34" charset="-122"/>
                </a:rPr>
                <a:t>S:200.10.10.1:2843</a:t>
              </a:r>
            </a:p>
          </p:txBody>
        </p:sp>
        <p:sp>
          <p:nvSpPr>
            <p:cNvPr id="14385" name="Rectangle 14"/>
            <p:cNvSpPr>
              <a:spLocks noChangeArrowheads="1"/>
            </p:cNvSpPr>
            <p:nvPr/>
          </p:nvSpPr>
          <p:spPr bwMode="auto">
            <a:xfrm>
              <a:off x="2746375" y="2057400"/>
              <a:ext cx="1655763" cy="279400"/>
            </a:xfrm>
            <a:prstGeom prst="rect">
              <a:avLst/>
            </a:prstGeom>
            <a:noFill/>
            <a:ln w="12700" algn="ctr">
              <a:solidFill>
                <a:schemeClr val="tx2"/>
              </a:solidFill>
              <a:miter lim="800000"/>
              <a:headEnd/>
              <a:tailEnd/>
            </a:ln>
          </p:spPr>
          <p:txBody>
            <a:bodyPr lIns="90000" tIns="46800" rIns="90000" bIns="46800" anchor="ctr">
              <a:spAutoFit/>
            </a:bodyPr>
            <a:lstStyle/>
            <a:p>
              <a:pPr eaLnBrk="1" hangingPunct="1"/>
              <a:r>
                <a:rPr kumimoji="1" lang="en-US" altLang="zh-CN" sz="1200">
                  <a:latin typeface="微软雅黑" panose="020B0503020204020204" pitchFamily="34" charset="-122"/>
                  <a:ea typeface="微软雅黑" panose="020B0503020204020204" pitchFamily="34" charset="-122"/>
                </a:rPr>
                <a:t>S:192.168.1.2:1028</a:t>
              </a:r>
            </a:p>
          </p:txBody>
        </p:sp>
        <p:sp>
          <p:nvSpPr>
            <p:cNvPr id="14386" name="Rectangle 14"/>
            <p:cNvSpPr>
              <a:spLocks noChangeArrowheads="1"/>
            </p:cNvSpPr>
            <p:nvPr/>
          </p:nvSpPr>
          <p:spPr bwMode="auto">
            <a:xfrm>
              <a:off x="5338763" y="2057400"/>
              <a:ext cx="1655762" cy="279400"/>
            </a:xfrm>
            <a:prstGeom prst="rect">
              <a:avLst/>
            </a:prstGeom>
            <a:noFill/>
            <a:ln w="12700" algn="ctr">
              <a:solidFill>
                <a:schemeClr val="tx2"/>
              </a:solidFill>
              <a:miter lim="800000"/>
              <a:headEnd/>
              <a:tailEnd/>
            </a:ln>
          </p:spPr>
          <p:txBody>
            <a:bodyPr lIns="90000" tIns="46800" rIns="90000" bIns="46800" anchor="ctr">
              <a:spAutoFit/>
            </a:bodyPr>
            <a:lstStyle/>
            <a:p>
              <a:pPr eaLnBrk="1" hangingPunct="1"/>
              <a:r>
                <a:rPr kumimoji="1" lang="en-US" altLang="zh-CN" sz="1200">
                  <a:latin typeface="微软雅黑" panose="020B0503020204020204" pitchFamily="34" charset="-122"/>
                  <a:ea typeface="微软雅黑" panose="020B0503020204020204" pitchFamily="34" charset="-122"/>
                </a:rPr>
                <a:t>S:200.10.10.1:2844</a:t>
              </a:r>
            </a:p>
          </p:txBody>
        </p:sp>
        <p:cxnSp>
          <p:nvCxnSpPr>
            <p:cNvPr id="14387" name="直接箭头连接符 29"/>
            <p:cNvCxnSpPr>
              <a:cxnSpLocks noChangeShapeType="1"/>
            </p:cNvCxnSpPr>
            <p:nvPr/>
          </p:nvCxnSpPr>
          <p:spPr bwMode="auto">
            <a:xfrm>
              <a:off x="4310063" y="2492375"/>
              <a:ext cx="1008062" cy="0"/>
            </a:xfrm>
            <a:prstGeom prst="straightConnector1">
              <a:avLst/>
            </a:prstGeom>
            <a:noFill/>
            <a:ln w="28575" algn="ctr">
              <a:solidFill>
                <a:srgbClr val="C00000"/>
              </a:solidFill>
              <a:round/>
              <a:headEnd/>
              <a:tailEnd type="arrow" w="med" len="med"/>
            </a:ln>
          </p:spPr>
        </p:cxnSp>
        <p:sp>
          <p:nvSpPr>
            <p:cNvPr id="14388" name="TextBox 94"/>
            <p:cNvSpPr txBox="1">
              <a:spLocks noChangeArrowheads="1"/>
            </p:cNvSpPr>
            <p:nvPr/>
          </p:nvSpPr>
          <p:spPr bwMode="auto">
            <a:xfrm>
              <a:off x="5094288" y="3079993"/>
              <a:ext cx="673582"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S1/0/0</a:t>
              </a:r>
              <a:endParaRPr lang="zh-CN" altLang="en-US" sz="1200" dirty="0">
                <a:latin typeface="微软雅黑" panose="020B0503020204020204" pitchFamily="34" charset="-122"/>
                <a:ea typeface="微软雅黑" panose="020B0503020204020204" pitchFamily="34" charset="-122"/>
              </a:endParaRPr>
            </a:p>
          </p:txBody>
        </p:sp>
        <p:sp>
          <p:nvSpPr>
            <p:cNvPr id="14389"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14390"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sp>
          <p:nvSpPr>
            <p:cNvPr id="14391"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14392"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grpSp>
      <p:graphicFrame>
        <p:nvGraphicFramePr>
          <p:cNvPr id="36" name="表格 8"/>
          <p:cNvGraphicFramePr>
            <a:graphicFrameLocks noGrp="1"/>
          </p:cNvGraphicFramePr>
          <p:nvPr>
            <p:extLst>
              <p:ext uri="{D42A27DB-BD31-4B8C-83A1-F6EECF244321}">
                <p14:modId xmlns:p14="http://schemas.microsoft.com/office/powerpoint/2010/main" val="2778139971"/>
              </p:ext>
            </p:extLst>
          </p:nvPr>
        </p:nvGraphicFramePr>
        <p:xfrm>
          <a:off x="4151313" y="3810744"/>
          <a:ext cx="1872208" cy="1274440"/>
        </p:xfrm>
        <a:graphic>
          <a:graphicData uri="http://schemas.openxmlformats.org/drawingml/2006/table">
            <a:tbl>
              <a:tblPr firstRow="1" bandCol="1">
                <a:tableStyleId>{5C22544A-7EE6-4342-B048-85BDC9FD1C3A}</a:tableStyleId>
              </a:tblPr>
              <a:tblGrid>
                <a:gridCol w="1872208"/>
              </a:tblGrid>
              <a:tr h="3600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bg1"/>
                          </a:solidFill>
                          <a:latin typeface="微软雅黑" panose="020B0503020204020204" pitchFamily="34" charset="-122"/>
                          <a:ea typeface="微软雅黑" panose="020B0503020204020204" pitchFamily="34" charset="-122"/>
                          <a:cs typeface="Arial" charset="0"/>
                        </a:rPr>
                        <a:t>192.168.1.0/24</a:t>
                      </a:r>
                      <a:endParaRPr lang="zh-CN" altLang="en-US" sz="1600" b="0" kern="1200" dirty="0" smtClean="0">
                        <a:solidFill>
                          <a:schemeClr val="bg1"/>
                        </a:solidFill>
                        <a:latin typeface="微软雅黑" panose="020B0503020204020204" pitchFamily="34" charset="-122"/>
                        <a:ea typeface="微软雅黑" panose="020B0503020204020204" pitchFamily="34" charset="-122"/>
                        <a:cs typeface="Arial"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r>
              <a:tr h="256541">
                <a:tc>
                  <a:txBody>
                    <a:bodyPr/>
                    <a:lstStyle/>
                    <a:p>
                      <a:pPr marL="0" algn="ctr" defTabSz="914400" rtl="0" eaLnBrk="1" latinLnBrk="0" hangingPunct="1"/>
                      <a:r>
                        <a:rPr lang="en-US" altLang="zh-CN" sz="1400" b="0" dirty="0" smtClean="0">
                          <a:solidFill>
                            <a:schemeClr val="tx1"/>
                          </a:solidFill>
                          <a:latin typeface="微软雅黑" panose="020B0503020204020204" pitchFamily="34" charset="-122"/>
                          <a:ea typeface="微软雅黑" panose="020B0503020204020204" pitchFamily="34" charset="-122"/>
                          <a:cs typeface="Arial" charset="0"/>
                        </a:rPr>
                        <a:t>192.168.1.1:1025</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微软雅黑" panose="020B0503020204020204" pitchFamily="34" charset="-122"/>
                          <a:ea typeface="微软雅黑" panose="020B0503020204020204" pitchFamily="34" charset="-122"/>
                          <a:cs typeface="Arial" charset="0"/>
                        </a:rPr>
                        <a:t>192.168.1.2:1028</a:t>
                      </a:r>
                      <a:endParaRPr lang="en-US" altLang="zh-CN" sz="14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微软雅黑" panose="020B0503020204020204" pitchFamily="34" charset="-122"/>
                          <a:ea typeface="微软雅黑" panose="020B0503020204020204" pitchFamily="34" charset="-122"/>
                          <a:cs typeface="Arial" charset="0"/>
                        </a:rPr>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aphicFrame>
        <p:nvGraphicFramePr>
          <p:cNvPr id="37" name="表格 8"/>
          <p:cNvGraphicFramePr>
            <a:graphicFrameLocks noGrp="1"/>
          </p:cNvGraphicFramePr>
          <p:nvPr>
            <p:extLst>
              <p:ext uri="{D42A27DB-BD31-4B8C-83A1-F6EECF244321}">
                <p14:modId xmlns:p14="http://schemas.microsoft.com/office/powerpoint/2010/main" val="1242316345"/>
              </p:ext>
            </p:extLst>
          </p:nvPr>
        </p:nvGraphicFramePr>
        <p:xfrm>
          <a:off x="6462713" y="3799500"/>
          <a:ext cx="2088232" cy="1249680"/>
        </p:xfrm>
        <a:graphic>
          <a:graphicData uri="http://schemas.openxmlformats.org/drawingml/2006/table">
            <a:tbl>
              <a:tblPr firstRow="1" bandCol="1">
                <a:tableStyleId>{5C22544A-7EE6-4342-B048-85BDC9FD1C3A}</a:tableStyleId>
              </a:tblPr>
              <a:tblGrid>
                <a:gridCol w="2088232"/>
              </a:tblGrid>
              <a:tr h="25654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kern="1200" dirty="0" smtClean="0">
                          <a:solidFill>
                            <a:schemeClr val="bg1"/>
                          </a:solidFill>
                          <a:latin typeface="Arial" charset="0"/>
                          <a:ea typeface="+mn-ea"/>
                          <a:cs typeface="Arial" charset="0"/>
                        </a:rPr>
                        <a:t>200.10.10.1/30</a:t>
                      </a:r>
                      <a:endParaRPr lang="zh-CN" altLang="en-US" sz="1600" b="0" kern="1200" dirty="0" smtClean="0">
                        <a:solidFill>
                          <a:schemeClr val="bg1"/>
                        </a:solidFill>
                        <a:latin typeface="Arial" charset="0"/>
                        <a:ea typeface="+mn-ea"/>
                        <a:cs typeface="Arial"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CC"/>
                    </a:solidFill>
                  </a:tcPr>
                </a:tc>
              </a:tr>
              <a:tr h="256541">
                <a:tc>
                  <a:txBody>
                    <a:bodyPr/>
                    <a:lstStyle/>
                    <a:p>
                      <a:pPr marL="0" algn="ctr" defTabSz="914400" rtl="0" eaLnBrk="1" latinLnBrk="0" hangingPunct="1"/>
                      <a:r>
                        <a:rPr lang="en-US" altLang="zh-CN" sz="1400" b="0" dirty="0" smtClean="0">
                          <a:solidFill>
                            <a:schemeClr val="tx1"/>
                          </a:solidFill>
                          <a:latin typeface="Arial" charset="0"/>
                          <a:cs typeface="Arial" charset="0"/>
                        </a:rPr>
                        <a:t>200.10.10.1:2843</a:t>
                      </a:r>
                      <a:endParaRPr lang="en-US" altLang="zh-CN" sz="1400" b="0" kern="1200" dirty="0" smtClean="0">
                        <a:solidFill>
                          <a:schemeClr val="tx1"/>
                        </a:solidFill>
                        <a:latin typeface="Arial" pitchFamily="34" charset="0"/>
                        <a:ea typeface="+mn-ea"/>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Arial" charset="0"/>
                          <a:ea typeface="+mn-ea"/>
                          <a:cs typeface="Arial" charset="0"/>
                        </a:rPr>
                        <a:t>200.10.10.1:2844</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400" b="0" kern="1200" dirty="0" smtClean="0">
                          <a:solidFill>
                            <a:schemeClr val="tx1"/>
                          </a:solidFill>
                          <a:latin typeface="Arial" charset="0"/>
                          <a:ea typeface="+mn-ea"/>
                          <a:cs typeface="Arial" charset="0"/>
                        </a:rPr>
                        <a:t>……</a:t>
                      </a:r>
                      <a:endParaRPr lang="en-US" altLang="zh-CN" sz="1400" b="0" kern="1200" dirty="0" smtClean="0">
                        <a:solidFill>
                          <a:schemeClr val="tx1"/>
                        </a:solidFill>
                        <a:latin typeface="Arial" pitchFamily="34" charset="0"/>
                        <a:ea typeface="+mn-ea"/>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pic>
        <p:nvPicPr>
          <p:cNvPr id="39" name="图片 38"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40" name="图片 39"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41" name="图片 40"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42" name="图片 4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43" name="图片 42" descr="internet-蓝.png"/>
          <p:cNvPicPr>
            <a:picLocks noChangeAspect="1"/>
          </p:cNvPicPr>
          <p:nvPr/>
        </p:nvPicPr>
        <p:blipFill>
          <a:blip r:embed="rId7" cstate="print"/>
          <a:stretch>
            <a:fillRect/>
          </a:stretch>
        </p:blipFill>
        <p:spPr>
          <a:xfrm>
            <a:off x="8050505" y="2681482"/>
            <a:ext cx="1569299" cy="796538"/>
          </a:xfrm>
          <a:prstGeom prst="rect">
            <a:avLst/>
          </a:prstGeom>
        </p:spPr>
      </p:pic>
      <p:pic>
        <p:nvPicPr>
          <p:cNvPr id="44" name="图片 43" descr="PC.png"/>
          <p:cNvPicPr>
            <a:picLocks noChangeAspect="1"/>
          </p:cNvPicPr>
          <p:nvPr/>
        </p:nvPicPr>
        <p:blipFill>
          <a:blip r:embed="rId4" cstate="print"/>
          <a:stretch>
            <a:fillRect/>
          </a:stretch>
        </p:blipFill>
        <p:spPr>
          <a:xfrm>
            <a:off x="9529111" y="2747023"/>
            <a:ext cx="866476" cy="665453"/>
          </a:xfrm>
          <a:prstGeom prst="rect">
            <a:avLst/>
          </a:prstGeom>
        </p:spPr>
      </p:pic>
    </p:spTree>
    <p:extLst>
      <p:ext uri="{BB962C8B-B14F-4D97-AF65-F5344CB8AC3E}">
        <p14:creationId xmlns:p14="http://schemas.microsoft.com/office/powerpoint/2010/main" val="42604892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External sources can reach internal addresses.</a:t>
            </a:r>
          </a:p>
          <a:p>
            <a:r>
              <a:rPr lang="en-US" altLang="zh-CN" dirty="0" smtClean="0"/>
              <a:t>Mapping of both the IP address and port number is performed.</a:t>
            </a:r>
          </a:p>
          <a:p>
            <a:endParaRPr lang="zh-CN" altLang="en-US" dirty="0"/>
          </a:p>
        </p:txBody>
      </p:sp>
      <p:sp>
        <p:nvSpPr>
          <p:cNvPr id="3" name="文本占位符 2"/>
          <p:cNvSpPr>
            <a:spLocks noGrp="1"/>
          </p:cNvSpPr>
          <p:nvPr>
            <p:ph type="body" sz="quarter" idx="12"/>
          </p:nvPr>
        </p:nvSpPr>
        <p:spPr/>
        <p:txBody>
          <a:bodyPr/>
          <a:lstStyle/>
          <a:p>
            <a:r>
              <a:rPr lang="en-US" altLang="zh-CN" smtClean="0"/>
              <a:t>NAT Internal Server</a:t>
            </a:r>
            <a:endParaRPr lang="zh-CN" altLang="en-US" dirty="0"/>
          </a:p>
        </p:txBody>
      </p:sp>
      <p:grpSp>
        <p:nvGrpSpPr>
          <p:cNvPr id="15365" name="Group 20"/>
          <p:cNvGrpSpPr>
            <a:grpSpLocks/>
          </p:cNvGrpSpPr>
          <p:nvPr/>
        </p:nvGrpSpPr>
        <p:grpSpPr bwMode="auto">
          <a:xfrm>
            <a:off x="2889282" y="2421756"/>
            <a:ext cx="7095150" cy="1403288"/>
            <a:chOff x="1635876" y="1989138"/>
            <a:chExt cx="7095150" cy="1403288"/>
          </a:xfrm>
        </p:grpSpPr>
        <p:sp>
          <p:nvSpPr>
            <p:cNvPr id="15366" name="Line 6"/>
            <p:cNvSpPr>
              <a:spLocks noChangeShapeType="1"/>
            </p:cNvSpPr>
            <p:nvPr/>
          </p:nvSpPr>
          <p:spPr bwMode="auto">
            <a:xfrm flipH="1" flipV="1">
              <a:off x="2266950" y="3049588"/>
              <a:ext cx="2286000"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5367" name="TextBox 94"/>
            <p:cNvSpPr txBox="1">
              <a:spLocks noChangeArrowheads="1"/>
            </p:cNvSpPr>
            <p:nvPr/>
          </p:nvSpPr>
          <p:spPr bwMode="auto">
            <a:xfrm>
              <a:off x="1635876" y="2416175"/>
              <a:ext cx="650434"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Server</a:t>
              </a:r>
              <a:endParaRPr lang="zh-CN" altLang="en-US" sz="1200" dirty="0">
                <a:latin typeface="微软雅黑" panose="020B0503020204020204" pitchFamily="34" charset="-122"/>
                <a:ea typeface="微软雅黑" panose="020B0503020204020204" pitchFamily="34" charset="-122"/>
              </a:endParaRPr>
            </a:p>
          </p:txBody>
        </p:sp>
        <p:sp>
          <p:nvSpPr>
            <p:cNvPr id="15369" name="Rectangle 14"/>
            <p:cNvSpPr>
              <a:spLocks noChangeArrowheads="1"/>
            </p:cNvSpPr>
            <p:nvPr/>
          </p:nvSpPr>
          <p:spPr bwMode="auto">
            <a:xfrm>
              <a:off x="2914650" y="1997075"/>
              <a:ext cx="1655763"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D:192.168.1.1:8080</a:t>
              </a:r>
            </a:p>
          </p:txBody>
        </p:sp>
        <p:sp>
          <p:nvSpPr>
            <p:cNvPr id="15370" name="Rectangle 14"/>
            <p:cNvSpPr>
              <a:spLocks noChangeArrowheads="1"/>
            </p:cNvSpPr>
            <p:nvPr/>
          </p:nvSpPr>
          <p:spPr bwMode="auto">
            <a:xfrm>
              <a:off x="5002213" y="1989138"/>
              <a:ext cx="1657350" cy="287337"/>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D:200.10.10.5:80</a:t>
              </a:r>
            </a:p>
          </p:txBody>
        </p:sp>
        <p:cxnSp>
          <p:nvCxnSpPr>
            <p:cNvPr id="15371" name="直接箭头连接符 29"/>
            <p:cNvCxnSpPr>
              <a:cxnSpLocks noChangeShapeType="1"/>
            </p:cNvCxnSpPr>
            <p:nvPr/>
          </p:nvCxnSpPr>
          <p:spPr bwMode="auto">
            <a:xfrm>
              <a:off x="4284663" y="2492375"/>
              <a:ext cx="1008062" cy="0"/>
            </a:xfrm>
            <a:prstGeom prst="straightConnector1">
              <a:avLst/>
            </a:prstGeom>
            <a:noFill/>
            <a:ln w="28575" algn="ctr">
              <a:solidFill>
                <a:srgbClr val="C00000"/>
              </a:solidFill>
              <a:round/>
              <a:headEnd type="arrow" w="med" len="med"/>
              <a:tailEnd/>
            </a:ln>
          </p:spPr>
        </p:cxnSp>
        <p:sp>
          <p:nvSpPr>
            <p:cNvPr id="15372" name="TextBox 94"/>
            <p:cNvSpPr txBox="1">
              <a:spLocks noChangeArrowheads="1"/>
            </p:cNvSpPr>
            <p:nvPr/>
          </p:nvSpPr>
          <p:spPr bwMode="auto">
            <a:xfrm>
              <a:off x="2266950" y="2776538"/>
              <a:ext cx="1258678"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192.168.1.1/24</a:t>
              </a:r>
              <a:endParaRPr lang="zh-CN" altLang="en-US" sz="1200">
                <a:latin typeface="微软雅黑" panose="020B0503020204020204" pitchFamily="34" charset="-122"/>
                <a:ea typeface="微软雅黑" panose="020B0503020204020204" pitchFamily="34" charset="-122"/>
              </a:endParaRPr>
            </a:p>
          </p:txBody>
        </p:sp>
        <p:pic>
          <p:nvPicPr>
            <p:cNvPr id="15373"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5376"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15378" name="TextBox 94"/>
            <p:cNvSpPr txBox="1">
              <a:spLocks noChangeArrowheads="1"/>
            </p:cNvSpPr>
            <p:nvPr/>
          </p:nvSpPr>
          <p:spPr bwMode="auto">
            <a:xfrm>
              <a:off x="5094288" y="3115427"/>
              <a:ext cx="673582"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S1/0/0</a:t>
              </a:r>
              <a:endParaRPr lang="zh-CN" altLang="en-US" sz="1200" dirty="0">
                <a:latin typeface="微软雅黑" panose="020B0503020204020204" pitchFamily="34" charset="-122"/>
                <a:ea typeface="微软雅黑" panose="020B0503020204020204" pitchFamily="34" charset="-122"/>
              </a:endParaRPr>
            </a:p>
          </p:txBody>
        </p:sp>
        <p:sp>
          <p:nvSpPr>
            <p:cNvPr id="15379" name="TextBox 94"/>
            <p:cNvSpPr txBox="1">
              <a:spLocks noChangeArrowheads="1"/>
            </p:cNvSpPr>
            <p:nvPr/>
          </p:nvSpPr>
          <p:spPr bwMode="auto">
            <a:xfrm>
              <a:off x="7831421" y="2419350"/>
              <a:ext cx="89960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15380" name="TextBox 94"/>
            <p:cNvSpPr txBox="1">
              <a:spLocks noChangeArrowheads="1"/>
            </p:cNvSpPr>
            <p:nvPr/>
          </p:nvSpPr>
          <p:spPr bwMode="auto">
            <a:xfrm>
              <a:off x="5100638" y="2708350"/>
              <a:ext cx="1258678"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200.10.10.1/30</a:t>
              </a:r>
              <a:endParaRPr lang="zh-CN" altLang="en-US" sz="1200" dirty="0">
                <a:latin typeface="微软雅黑" panose="020B0503020204020204" pitchFamily="34" charset="-122"/>
                <a:ea typeface="微软雅黑" panose="020B0503020204020204" pitchFamily="34" charset="-122"/>
              </a:endParaRPr>
            </a:p>
          </p:txBody>
        </p:sp>
      </p:grpSp>
      <p:pic>
        <p:nvPicPr>
          <p:cNvPr id="25" name="图片 24" descr="通用服务器-蓝.png"/>
          <p:cNvPicPr>
            <a:picLocks noChangeAspect="1"/>
          </p:cNvPicPr>
          <p:nvPr/>
        </p:nvPicPr>
        <p:blipFill>
          <a:blip r:embed="rId4" cstate="print"/>
          <a:stretch>
            <a:fillRect/>
          </a:stretch>
        </p:blipFill>
        <p:spPr>
          <a:xfrm>
            <a:off x="2837917" y="3200711"/>
            <a:ext cx="761627" cy="623149"/>
          </a:xfrm>
          <a:prstGeom prst="rect">
            <a:avLst/>
          </a:prstGeom>
        </p:spPr>
      </p:pic>
      <p:pic>
        <p:nvPicPr>
          <p:cNvPr id="26" name="图片 25"/>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525176" y="3239427"/>
            <a:ext cx="735511" cy="539766"/>
          </a:xfrm>
          <a:prstGeom prst="rect">
            <a:avLst/>
          </a:prstGeom>
        </p:spPr>
      </p:pic>
      <p:pic>
        <p:nvPicPr>
          <p:cNvPr id="27" name="图片 26" descr="internet-蓝.png"/>
          <p:cNvPicPr>
            <a:picLocks noChangeAspect="1"/>
          </p:cNvPicPr>
          <p:nvPr/>
        </p:nvPicPr>
        <p:blipFill>
          <a:blip r:embed="rId6" cstate="print"/>
          <a:stretch>
            <a:fillRect/>
          </a:stretch>
        </p:blipFill>
        <p:spPr>
          <a:xfrm>
            <a:off x="7796649" y="3140893"/>
            <a:ext cx="1453085" cy="737551"/>
          </a:xfrm>
          <a:prstGeom prst="rect">
            <a:avLst/>
          </a:prstGeom>
        </p:spPr>
      </p:pic>
      <p:pic>
        <p:nvPicPr>
          <p:cNvPr id="28" name="图片 27" descr="PC.png"/>
          <p:cNvPicPr>
            <a:picLocks noChangeAspect="1"/>
          </p:cNvPicPr>
          <p:nvPr/>
        </p:nvPicPr>
        <p:blipFill>
          <a:blip r:embed="rId7" cstate="print"/>
          <a:stretch>
            <a:fillRect/>
          </a:stretch>
        </p:blipFill>
        <p:spPr>
          <a:xfrm>
            <a:off x="9187732" y="3193281"/>
            <a:ext cx="866476" cy="665453"/>
          </a:xfrm>
          <a:prstGeom prst="rect">
            <a:avLst/>
          </a:prstGeom>
        </p:spPr>
      </p:pic>
    </p:spTree>
    <p:extLst>
      <p:ext uri="{BB962C8B-B14F-4D97-AF65-F5344CB8AC3E}">
        <p14:creationId xmlns:p14="http://schemas.microsoft.com/office/powerpoint/2010/main" val="27979346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smtClean="0"/>
              <a:t>Static NAT Configuration</a:t>
            </a:r>
            <a:endParaRPr lang="zh-CN" altLang="en-US" dirty="0"/>
          </a:p>
        </p:txBody>
      </p:sp>
      <p:sp>
        <p:nvSpPr>
          <p:cNvPr id="16388" name="AutoShape 28"/>
          <p:cNvSpPr>
            <a:spLocks/>
          </p:cNvSpPr>
          <p:nvPr/>
        </p:nvSpPr>
        <p:spPr bwMode="auto">
          <a:xfrm>
            <a:off x="2279651" y="4421150"/>
            <a:ext cx="7345363" cy="1708150"/>
          </a:xfrm>
          <a:prstGeom prst="accentBorderCallout3">
            <a:avLst>
              <a:gd name="adj1" fmla="val 14088"/>
              <a:gd name="adj2" fmla="val 101218"/>
              <a:gd name="adj3" fmla="val 14088"/>
              <a:gd name="adj4" fmla="val 103042"/>
              <a:gd name="adj5" fmla="val -13440"/>
              <a:gd name="adj6" fmla="val 103106"/>
              <a:gd name="adj7" fmla="val -53292"/>
              <a:gd name="adj8" fmla="val 62986"/>
            </a:avLst>
          </a:prstGeom>
          <a:solidFill>
            <a:schemeClr val="bg1">
              <a:lumMod val="85000"/>
            </a:schemeClr>
          </a:solidFill>
          <a:ln w="19050" algn="ctr">
            <a:noFill/>
            <a:miter lim="800000"/>
            <a:headEnd/>
            <a:tailEnd type="arrow" w="med" len="med"/>
          </a:ln>
          <a:effectLst/>
        </p:spPr>
        <p:txBody>
          <a:bodyPr anchor="ctr">
            <a:spAutoFit/>
          </a:bodyPr>
          <a:lstStyle/>
          <a:p>
            <a:pPr defTabSz="784225">
              <a:lnSpc>
                <a:spcPct val="150000"/>
              </a:lnSpc>
            </a:pPr>
            <a:r>
              <a:rPr lang="en-US" altLang="zh-CN" sz="1400" dirty="0">
                <a:latin typeface="Courier New" pitchFamily="49" charset="0"/>
                <a:ea typeface="宋体" pitchFamily="2" charset="-122"/>
              </a:rPr>
              <a:t>[RTA]interface GigabitEthernet0/0/1</a:t>
            </a:r>
          </a:p>
          <a:p>
            <a:pPr defTabSz="784225">
              <a:lnSpc>
                <a:spcPct val="150000"/>
              </a:lnSpc>
            </a:pPr>
            <a:r>
              <a:rPr lang="en-US" altLang="zh-CN" sz="1400" dirty="0">
                <a:latin typeface="Courier New" pitchFamily="49" charset="0"/>
                <a:ea typeface="宋体" pitchFamily="2" charset="-122"/>
              </a:rPr>
              <a:t>[RTA-GigabitEthernet0/0/1]</a:t>
            </a:r>
            <a:r>
              <a:rPr lang="en-US" altLang="zh-CN" sz="1400" dirty="0" err="1">
                <a:latin typeface="Courier New" pitchFamily="49" charset="0"/>
                <a:ea typeface="宋体" pitchFamily="2" charset="-122"/>
              </a:rPr>
              <a:t>ip</a:t>
            </a:r>
            <a:r>
              <a:rPr lang="en-US" altLang="zh-CN" sz="1400" dirty="0">
                <a:latin typeface="Courier New" pitchFamily="49" charset="0"/>
                <a:ea typeface="宋体" pitchFamily="2" charset="-122"/>
              </a:rPr>
              <a:t> address 192.168.1.254 24</a:t>
            </a:r>
          </a:p>
          <a:p>
            <a:pPr defTabSz="784225">
              <a:lnSpc>
                <a:spcPct val="150000"/>
              </a:lnSpc>
            </a:pPr>
            <a:r>
              <a:rPr lang="en-US" altLang="zh-CN" sz="1400" dirty="0">
                <a:latin typeface="Courier New" pitchFamily="49" charset="0"/>
                <a:ea typeface="宋体" pitchFamily="2" charset="-122"/>
              </a:rPr>
              <a:t>[RTA]interface Serial1/0/0</a:t>
            </a:r>
          </a:p>
          <a:p>
            <a:pPr defTabSz="784225">
              <a:lnSpc>
                <a:spcPct val="150000"/>
              </a:lnSpc>
            </a:pPr>
            <a:r>
              <a:rPr lang="en-US" altLang="zh-CN" sz="1400" dirty="0">
                <a:latin typeface="Courier New" pitchFamily="49" charset="0"/>
                <a:ea typeface="宋体" pitchFamily="2" charset="-122"/>
              </a:rPr>
              <a:t>[RTA-Serial1/0/0]</a:t>
            </a:r>
            <a:r>
              <a:rPr lang="en-US" altLang="zh-CN" sz="1400" dirty="0" err="1">
                <a:latin typeface="Courier New" pitchFamily="49" charset="0"/>
                <a:ea typeface="宋体" pitchFamily="2" charset="-122"/>
              </a:rPr>
              <a:t>ip</a:t>
            </a:r>
            <a:r>
              <a:rPr lang="en-US" altLang="zh-CN" sz="1400" dirty="0">
                <a:latin typeface="Courier New" pitchFamily="49" charset="0"/>
                <a:ea typeface="宋体" pitchFamily="2" charset="-122"/>
              </a:rPr>
              <a:t> address 200.10.10.1 24</a:t>
            </a:r>
          </a:p>
          <a:p>
            <a:pPr defTabSz="784225">
              <a:lnSpc>
                <a:spcPct val="150000"/>
              </a:lnSpc>
            </a:pPr>
            <a:r>
              <a:rPr lang="en-US" altLang="zh-CN" sz="1400" dirty="0">
                <a:latin typeface="Courier New" pitchFamily="49" charset="0"/>
                <a:ea typeface="宋体" pitchFamily="2" charset="-122"/>
              </a:rPr>
              <a:t>[RTA]</a:t>
            </a:r>
            <a:r>
              <a:rPr lang="en-US" altLang="zh-CN" sz="1400" dirty="0" err="1">
                <a:solidFill>
                  <a:srgbClr val="C00000"/>
                </a:solidFill>
                <a:latin typeface="Courier New" pitchFamily="49" charset="0"/>
                <a:ea typeface="宋体" pitchFamily="2" charset="-122"/>
              </a:rPr>
              <a:t>nat</a:t>
            </a:r>
            <a:r>
              <a:rPr lang="en-US" altLang="zh-CN" sz="1400" dirty="0">
                <a:solidFill>
                  <a:srgbClr val="C00000"/>
                </a:solidFill>
                <a:latin typeface="Courier New" pitchFamily="49" charset="0"/>
                <a:ea typeface="宋体" pitchFamily="2" charset="-122"/>
              </a:rPr>
              <a:t> static global 200.10.10.5 inside 192.168.1.1</a:t>
            </a:r>
          </a:p>
        </p:txBody>
      </p:sp>
      <p:grpSp>
        <p:nvGrpSpPr>
          <p:cNvPr id="16389" name="Group 29"/>
          <p:cNvGrpSpPr>
            <a:grpSpLocks/>
          </p:cNvGrpSpPr>
          <p:nvPr/>
        </p:nvGrpSpPr>
        <p:grpSpPr bwMode="auto">
          <a:xfrm>
            <a:off x="2605088" y="1998663"/>
            <a:ext cx="7340092" cy="2283599"/>
            <a:chOff x="1081088" y="1998663"/>
            <a:chExt cx="7340092" cy="2283599"/>
          </a:xfrm>
        </p:grpSpPr>
        <p:sp>
          <p:nvSpPr>
            <p:cNvPr id="16390"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6391" name="Rectangle 14"/>
            <p:cNvSpPr>
              <a:spLocks noChangeArrowheads="1"/>
            </p:cNvSpPr>
            <p:nvPr/>
          </p:nvSpPr>
          <p:spPr bwMode="auto">
            <a:xfrm>
              <a:off x="2411413" y="1998663"/>
              <a:ext cx="1152525"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S:192.168.1.1</a:t>
              </a:r>
            </a:p>
          </p:txBody>
        </p:sp>
        <p:sp>
          <p:nvSpPr>
            <p:cNvPr id="16392" name="Rectangle 15"/>
            <p:cNvSpPr>
              <a:spLocks noChangeArrowheads="1"/>
            </p:cNvSpPr>
            <p:nvPr/>
          </p:nvSpPr>
          <p:spPr bwMode="auto">
            <a:xfrm>
              <a:off x="3563938" y="1998663"/>
              <a:ext cx="1152525" cy="277812"/>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endParaRPr kumimoji="1" lang="en-US" altLang="zh-CN" sz="1200" b="1">
                <a:latin typeface="微软雅黑" panose="020B0503020204020204" pitchFamily="34" charset="-122"/>
                <a:ea typeface="微软雅黑" panose="020B0503020204020204" pitchFamily="34" charset="-122"/>
              </a:endParaRPr>
            </a:p>
          </p:txBody>
        </p:sp>
        <p:sp>
          <p:nvSpPr>
            <p:cNvPr id="16393" name="Rectangle 14"/>
            <p:cNvSpPr>
              <a:spLocks noChangeArrowheads="1"/>
            </p:cNvSpPr>
            <p:nvPr/>
          </p:nvSpPr>
          <p:spPr bwMode="auto">
            <a:xfrm>
              <a:off x="4932363" y="1998663"/>
              <a:ext cx="1150937"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S:200.10.10.5</a:t>
              </a:r>
            </a:p>
          </p:txBody>
        </p:sp>
        <p:sp>
          <p:nvSpPr>
            <p:cNvPr id="16394" name="Rectangle 15"/>
            <p:cNvSpPr>
              <a:spLocks noChangeArrowheads="1"/>
            </p:cNvSpPr>
            <p:nvPr/>
          </p:nvSpPr>
          <p:spPr bwMode="auto">
            <a:xfrm>
              <a:off x="6084888" y="1998663"/>
              <a:ext cx="1150937"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D:1.1.1.1</a:t>
              </a:r>
              <a:endParaRPr kumimoji="1" lang="en-US" altLang="zh-CN" sz="1200" b="1">
                <a:latin typeface="微软雅黑" panose="020B0503020204020204" pitchFamily="34" charset="-122"/>
                <a:ea typeface="微软雅黑" panose="020B0503020204020204" pitchFamily="34" charset="-122"/>
              </a:endParaRPr>
            </a:p>
          </p:txBody>
        </p:sp>
        <p:cxnSp>
          <p:nvCxnSpPr>
            <p:cNvPr id="16395" name="直接箭头连接符 29"/>
            <p:cNvCxnSpPr>
              <a:cxnSpLocks noChangeShapeType="1"/>
            </p:cNvCxnSpPr>
            <p:nvPr/>
          </p:nvCxnSpPr>
          <p:spPr bwMode="auto">
            <a:xfrm>
              <a:off x="4284663" y="2492375"/>
              <a:ext cx="1008062" cy="0"/>
            </a:xfrm>
            <a:prstGeom prst="straightConnector1">
              <a:avLst/>
            </a:prstGeom>
            <a:noFill/>
            <a:ln w="28575" algn="ctr">
              <a:solidFill>
                <a:srgbClr val="C00000"/>
              </a:solidFill>
              <a:round/>
              <a:headEnd/>
              <a:tailEnd type="arrow" w="med" len="med"/>
            </a:ln>
          </p:spPr>
        </p:cxnSp>
        <p:sp>
          <p:nvSpPr>
            <p:cNvPr id="16396"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pic>
          <p:nvPicPr>
            <p:cNvPr id="16397"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6399"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6402" name="TextBox 94"/>
            <p:cNvSpPr txBox="1">
              <a:spLocks noChangeArrowheads="1"/>
            </p:cNvSpPr>
            <p:nvPr/>
          </p:nvSpPr>
          <p:spPr bwMode="auto">
            <a:xfrm>
              <a:off x="3025775" y="250190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6403"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16404"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16405" name="矩形 43"/>
            <p:cNvSpPr>
              <a:spLocks noChangeArrowheads="1"/>
            </p:cNvSpPr>
            <p:nvPr/>
          </p:nvSpPr>
          <p:spPr bwMode="auto">
            <a:xfrm>
              <a:off x="1490663" y="2838450"/>
              <a:ext cx="1258678" cy="276999"/>
            </a:xfrm>
            <a:prstGeom prst="rect">
              <a:avLst/>
            </a:prstGeom>
            <a:noFill/>
            <a:ln w="9525">
              <a:noFill/>
              <a:miter lim="800000"/>
              <a:headEnd/>
              <a:tailEnd/>
            </a:ln>
          </p:spPr>
          <p:txBody>
            <a:bodyPr wrap="none">
              <a:spAutoFit/>
            </a:bodyPr>
            <a:lstStyle/>
            <a:p>
              <a:pPr algn="ctr" eaLnBrk="1" hangingPunct="1"/>
              <a:r>
                <a:rPr lang="en-US" altLang="zh-CN" sz="1200">
                  <a:latin typeface="微软雅黑" panose="020B0503020204020204" pitchFamily="34" charset="-122"/>
                  <a:ea typeface="微软雅黑" panose="020B0503020204020204" pitchFamily="34" charset="-122"/>
                  <a:cs typeface="Arial" charset="0"/>
                </a:rPr>
                <a:t>192.168.1.0/24</a:t>
              </a:r>
              <a:endParaRPr lang="zh-CN" altLang="en-US" sz="1200">
                <a:latin typeface="微软雅黑" panose="020B0503020204020204" pitchFamily="34" charset="-122"/>
                <a:ea typeface="微软雅黑" panose="020B0503020204020204" pitchFamily="34" charset="-122"/>
                <a:cs typeface="Arial" charset="0"/>
              </a:endParaRPr>
            </a:p>
          </p:txBody>
        </p:sp>
        <p:sp>
          <p:nvSpPr>
            <p:cNvPr id="16407"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16408"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sp>
          <p:nvSpPr>
            <p:cNvPr id="16410" name="TextBox 94"/>
            <p:cNvSpPr txBox="1">
              <a:spLocks noChangeArrowheads="1"/>
            </p:cNvSpPr>
            <p:nvPr/>
          </p:nvSpPr>
          <p:spPr bwMode="auto">
            <a:xfrm>
              <a:off x="7521575" y="2419350"/>
              <a:ext cx="89960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16411" name="TextBox 94"/>
            <p:cNvSpPr txBox="1">
              <a:spLocks noChangeArrowheads="1"/>
            </p:cNvSpPr>
            <p:nvPr/>
          </p:nvSpPr>
          <p:spPr bwMode="auto">
            <a:xfrm>
              <a:off x="5094288" y="3152001"/>
              <a:ext cx="673582"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S1/0/0</a:t>
              </a:r>
              <a:endParaRPr lang="zh-CN" altLang="en-US" sz="1200" dirty="0">
                <a:latin typeface="微软雅黑" panose="020B0503020204020204" pitchFamily="34" charset="-122"/>
                <a:ea typeface="微软雅黑" panose="020B0503020204020204" pitchFamily="34" charset="-122"/>
              </a:endParaRPr>
            </a:p>
          </p:txBody>
        </p:sp>
        <p:sp>
          <p:nvSpPr>
            <p:cNvPr id="16413"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sp>
          <p:nvSpPr>
            <p:cNvPr id="16414" name="TextBox 94"/>
            <p:cNvSpPr txBox="1">
              <a:spLocks noChangeArrowheads="1"/>
            </p:cNvSpPr>
            <p:nvPr/>
          </p:nvSpPr>
          <p:spPr bwMode="auto">
            <a:xfrm>
              <a:off x="3815916" y="3115997"/>
              <a:ext cx="699230"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G0/0/1</a:t>
              </a:r>
              <a:endParaRPr lang="zh-CN" altLang="en-US" sz="1200" dirty="0">
                <a:latin typeface="微软雅黑" panose="020B0503020204020204" pitchFamily="34" charset="-122"/>
                <a:ea typeface="微软雅黑" panose="020B0503020204020204" pitchFamily="34" charset="-122"/>
              </a:endParaRPr>
            </a:p>
          </p:txBody>
        </p:sp>
      </p:grpSp>
      <p:pic>
        <p:nvPicPr>
          <p:cNvPr id="33" name="图片 32"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34" name="图片 33"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35" name="图片 34"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36" name="图片 35"/>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37" name="图片 36" descr="internet-蓝.png"/>
          <p:cNvPicPr>
            <a:picLocks noChangeAspect="1"/>
          </p:cNvPicPr>
          <p:nvPr/>
        </p:nvPicPr>
        <p:blipFill>
          <a:blip r:embed="rId7" cstate="print"/>
          <a:stretch>
            <a:fillRect/>
          </a:stretch>
        </p:blipFill>
        <p:spPr>
          <a:xfrm>
            <a:off x="7946613" y="2721192"/>
            <a:ext cx="1453085" cy="737551"/>
          </a:xfrm>
          <a:prstGeom prst="rect">
            <a:avLst/>
          </a:prstGeom>
        </p:spPr>
      </p:pic>
      <p:pic>
        <p:nvPicPr>
          <p:cNvPr id="38" name="图片 37" descr="PC.png"/>
          <p:cNvPicPr>
            <a:picLocks noChangeAspect="1"/>
          </p:cNvPicPr>
          <p:nvPr/>
        </p:nvPicPr>
        <p:blipFill>
          <a:blip r:embed="rId4" cstate="print"/>
          <a:stretch>
            <a:fillRect/>
          </a:stretch>
        </p:blipFill>
        <p:spPr>
          <a:xfrm>
            <a:off x="9272344" y="2763547"/>
            <a:ext cx="866476" cy="665453"/>
          </a:xfrm>
          <a:prstGeom prst="rect">
            <a:avLst/>
          </a:prstGeom>
        </p:spPr>
      </p:pic>
    </p:spTree>
    <p:extLst>
      <p:ext uri="{BB962C8B-B14F-4D97-AF65-F5344CB8AC3E}">
        <p14:creationId xmlns:p14="http://schemas.microsoft.com/office/powerpoint/2010/main" val="17849716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Static inside and global address translation can be verified.</a:t>
            </a:r>
          </a:p>
          <a:p>
            <a:endParaRPr lang="zh-CN" altLang="en-US" dirty="0"/>
          </a:p>
        </p:txBody>
      </p:sp>
      <p:sp>
        <p:nvSpPr>
          <p:cNvPr id="3" name="文本占位符 2"/>
          <p:cNvSpPr>
            <a:spLocks noGrp="1"/>
          </p:cNvSpPr>
          <p:nvPr>
            <p:ph type="body" sz="quarter" idx="12"/>
          </p:nvPr>
        </p:nvSpPr>
        <p:spPr/>
        <p:txBody>
          <a:bodyPr/>
          <a:lstStyle/>
          <a:p>
            <a:r>
              <a:rPr lang="en-US" altLang="zh-CN" smtClean="0"/>
              <a:t>Static NAT Configuration Validation</a:t>
            </a:r>
            <a:endParaRPr lang="zh-CN" altLang="en-US" dirty="0"/>
          </a:p>
        </p:txBody>
      </p:sp>
      <p:sp>
        <p:nvSpPr>
          <p:cNvPr id="22" name="Rectangle 4"/>
          <p:cNvSpPr>
            <a:spLocks noChangeArrowheads="1"/>
          </p:cNvSpPr>
          <p:nvPr/>
        </p:nvSpPr>
        <p:spPr bwMode="auto">
          <a:xfrm>
            <a:off x="2279650" y="1700213"/>
            <a:ext cx="7488238" cy="3878262"/>
          </a:xfrm>
          <a:prstGeom prst="rect">
            <a:avLst/>
          </a:prstGeom>
          <a:solidFill>
            <a:schemeClr val="bg1">
              <a:lumMod val="85000"/>
            </a:schemeClr>
          </a:solidFill>
          <a:ln w="9525" algn="ctr">
            <a:noFill/>
            <a:miter lim="800000"/>
            <a:headEnd/>
            <a:tailEnd/>
          </a:ln>
          <a:effectLst/>
        </p:spPr>
        <p:txBody>
          <a:bodyPr lIns="0" tIns="0" rIns="0" bIns="0">
            <a:spAutoFit/>
          </a:bodyPr>
          <a:lstStyle/>
          <a:p>
            <a:pPr defTabSz="784225">
              <a:lnSpc>
                <a:spcPct val="150000"/>
              </a:lnSpc>
              <a:defRPr/>
            </a:pPr>
            <a:r>
              <a:rPr lang="en-US" altLang="zh-CN" sz="1400" dirty="0">
                <a:latin typeface="Courier New" pitchFamily="49" charset="0"/>
                <a:ea typeface="宋体" pitchFamily="2" charset="-122"/>
              </a:rPr>
              <a:t>[RTA]display </a:t>
            </a:r>
            <a:r>
              <a:rPr lang="en-US" altLang="zh-CN" sz="1400" dirty="0" err="1">
                <a:latin typeface="Courier New" pitchFamily="49" charset="0"/>
                <a:ea typeface="宋体" pitchFamily="2" charset="-122"/>
              </a:rPr>
              <a:t>nat</a:t>
            </a:r>
            <a:r>
              <a:rPr lang="en-US" altLang="zh-CN" sz="1400" dirty="0">
                <a:latin typeface="Courier New" pitchFamily="49" charset="0"/>
                <a:ea typeface="宋体" pitchFamily="2" charset="-122"/>
              </a:rPr>
              <a:t> static </a:t>
            </a:r>
          </a:p>
          <a:p>
            <a:pPr defTabSz="784225">
              <a:lnSpc>
                <a:spcPct val="150000"/>
              </a:lnSpc>
              <a:defRPr/>
            </a:pPr>
            <a:r>
              <a:rPr lang="en-US" altLang="zh-CN" sz="1400" dirty="0">
                <a:latin typeface="Courier New" pitchFamily="49" charset="0"/>
                <a:ea typeface="宋体" pitchFamily="2" charset="-122"/>
              </a:rPr>
              <a:t>  Static Nat Information:</a:t>
            </a:r>
          </a:p>
          <a:p>
            <a:pPr defTabSz="784225">
              <a:lnSpc>
                <a:spcPct val="150000"/>
              </a:lnSpc>
              <a:defRPr/>
            </a:pPr>
            <a:r>
              <a:rPr lang="en-US" altLang="zh-CN" sz="1400" dirty="0">
                <a:latin typeface="Courier New" pitchFamily="49" charset="0"/>
                <a:ea typeface="宋体" pitchFamily="2" charset="-122"/>
              </a:rPr>
              <a:t>  Interface  : Serial1/0/0</a:t>
            </a:r>
          </a:p>
          <a:p>
            <a:pPr defTabSz="784225">
              <a:lnSpc>
                <a:spcPct val="150000"/>
              </a:lnSpc>
              <a:defRPr/>
            </a:pPr>
            <a:r>
              <a:rPr lang="en-US" altLang="zh-CN" sz="1400" dirty="0">
                <a:latin typeface="Courier New" pitchFamily="49" charset="0"/>
                <a:ea typeface="宋体" pitchFamily="2" charset="-122"/>
              </a:rPr>
              <a:t>    Global IP/Port     : </a:t>
            </a:r>
            <a:r>
              <a:rPr lang="en-US" altLang="zh-CN" sz="1400" dirty="0">
                <a:solidFill>
                  <a:srgbClr val="C00000"/>
                </a:solidFill>
                <a:latin typeface="Courier New" pitchFamily="49" charset="0"/>
                <a:ea typeface="宋体" pitchFamily="2" charset="-122"/>
              </a:rPr>
              <a:t>200.10.10.5</a:t>
            </a: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Inside IP/Port     : </a:t>
            </a:r>
            <a:r>
              <a:rPr lang="en-US" altLang="zh-CN" sz="1400" dirty="0">
                <a:solidFill>
                  <a:srgbClr val="C00000"/>
                </a:solidFill>
                <a:latin typeface="Courier New" pitchFamily="49" charset="0"/>
                <a:ea typeface="宋体" pitchFamily="2" charset="-122"/>
              </a:rPr>
              <a:t>192.168.1.1</a:t>
            </a:r>
            <a:r>
              <a:rPr lang="en-US" altLang="zh-CN" sz="1400" dirty="0">
                <a:latin typeface="Courier New" pitchFamily="49" charset="0"/>
                <a:ea typeface="宋体" pitchFamily="2" charset="-122"/>
              </a:rPr>
              <a:t>/----</a:t>
            </a:r>
          </a:p>
          <a:p>
            <a:pPr defTabSz="784225">
              <a:lnSpc>
                <a:spcPct val="150000"/>
              </a:lnSpc>
              <a:defRPr/>
            </a:pPr>
            <a:r>
              <a:rPr lang="en-US" altLang="zh-CN" sz="1400" dirty="0">
                <a:latin typeface="Courier New" pitchFamily="49" charset="0"/>
                <a:ea typeface="宋体" pitchFamily="2" charset="-122"/>
              </a:rPr>
              <a:t>    Protocol : ----     </a:t>
            </a:r>
          </a:p>
          <a:p>
            <a:pPr defTabSz="784225">
              <a:lnSpc>
                <a:spcPct val="150000"/>
              </a:lnSpc>
              <a:defRPr/>
            </a:pPr>
            <a:r>
              <a:rPr lang="en-US" altLang="zh-CN" sz="1400" dirty="0">
                <a:latin typeface="Courier New" pitchFamily="49" charset="0"/>
                <a:ea typeface="宋体" pitchFamily="2" charset="-122"/>
              </a:rPr>
              <a:t>    VPN instance-name  : ----                            </a:t>
            </a:r>
          </a:p>
          <a:p>
            <a:pPr defTabSz="784225">
              <a:lnSpc>
                <a:spcPct val="150000"/>
              </a:lnSpc>
              <a:defRPr/>
            </a:pPr>
            <a:r>
              <a:rPr lang="en-US" altLang="zh-CN" sz="1400" dirty="0">
                <a:latin typeface="Courier New" pitchFamily="49" charset="0"/>
                <a:ea typeface="宋体" pitchFamily="2" charset="-122"/>
              </a:rPr>
              <a:t>    </a:t>
            </a:r>
            <a:r>
              <a:rPr lang="en-US" altLang="zh-CN" sz="1400" dirty="0" err="1">
                <a:latin typeface="Courier New" pitchFamily="49" charset="0"/>
                <a:ea typeface="宋体" pitchFamily="2" charset="-122"/>
              </a:rPr>
              <a:t>Acl</a:t>
            </a:r>
            <a:r>
              <a:rPr lang="en-US" altLang="zh-CN" sz="1400" dirty="0">
                <a:latin typeface="Courier New" pitchFamily="49" charset="0"/>
                <a:ea typeface="宋体" pitchFamily="2" charset="-122"/>
              </a:rPr>
              <a:t> number         : ----</a:t>
            </a:r>
          </a:p>
          <a:p>
            <a:pPr defTabSz="784225">
              <a:lnSpc>
                <a:spcPct val="150000"/>
              </a:lnSpc>
              <a:defRPr/>
            </a:pPr>
            <a:r>
              <a:rPr lang="en-US" altLang="zh-CN" sz="1400" dirty="0">
                <a:latin typeface="Courier New" pitchFamily="49" charset="0"/>
                <a:ea typeface="宋体" pitchFamily="2" charset="-122"/>
              </a:rPr>
              <a:t>    </a:t>
            </a:r>
            <a:r>
              <a:rPr lang="en-US" altLang="zh-CN" sz="1400" dirty="0" err="1">
                <a:latin typeface="Courier New" pitchFamily="49" charset="0"/>
                <a:ea typeface="宋体" pitchFamily="2" charset="-122"/>
              </a:rPr>
              <a:t>Netmask</a:t>
            </a:r>
            <a:r>
              <a:rPr lang="en-US" altLang="zh-CN" sz="1400" dirty="0">
                <a:latin typeface="Courier New" pitchFamily="49" charset="0"/>
                <a:ea typeface="宋体" pitchFamily="2" charset="-122"/>
              </a:rPr>
              <a:t>  : 255.255.255.255 </a:t>
            </a:r>
          </a:p>
          <a:p>
            <a:pPr defTabSz="784225">
              <a:lnSpc>
                <a:spcPct val="150000"/>
              </a:lnSpc>
              <a:defRPr/>
            </a:pPr>
            <a:r>
              <a:rPr lang="en-US" altLang="zh-CN" sz="1400" dirty="0">
                <a:latin typeface="Courier New" pitchFamily="49" charset="0"/>
                <a:ea typeface="宋体" pitchFamily="2" charset="-122"/>
              </a:rPr>
              <a:t>    Description : ----</a:t>
            </a:r>
          </a:p>
          <a:p>
            <a:pPr defTabSz="784225">
              <a:lnSpc>
                <a:spcPct val="150000"/>
              </a:lnSpc>
              <a:defRPr/>
            </a:pPr>
            <a:endParaRPr lang="en-US" altLang="zh-CN" sz="1400" dirty="0">
              <a:latin typeface="Courier New" pitchFamily="49" charset="0"/>
              <a:ea typeface="宋体" pitchFamily="2" charset="-122"/>
            </a:endParaRPr>
          </a:p>
          <a:p>
            <a:pPr defTabSz="784225">
              <a:lnSpc>
                <a:spcPct val="150000"/>
              </a:lnSpc>
              <a:defRPr/>
            </a:pPr>
            <a:r>
              <a:rPr lang="en-US" altLang="zh-CN" sz="1400" dirty="0">
                <a:latin typeface="Courier New" pitchFamily="49" charset="0"/>
                <a:ea typeface="宋体" pitchFamily="2" charset="-122"/>
              </a:rPr>
              <a:t>  Total :    1</a:t>
            </a:r>
          </a:p>
        </p:txBody>
      </p:sp>
    </p:spTree>
    <p:extLst>
      <p:ext uri="{BB962C8B-B14F-4D97-AF65-F5344CB8AC3E}">
        <p14:creationId xmlns:p14="http://schemas.microsoft.com/office/powerpoint/2010/main" val="38416094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dirty="0" smtClean="0"/>
              <a:t>Dynamic NAT Configuration</a:t>
            </a:r>
            <a:endParaRPr lang="zh-CN" altLang="en-US" dirty="0"/>
          </a:p>
        </p:txBody>
      </p:sp>
      <p:graphicFrame>
        <p:nvGraphicFramePr>
          <p:cNvPr id="27" name="表格 8"/>
          <p:cNvGraphicFramePr>
            <a:graphicFrameLocks noGrp="1"/>
          </p:cNvGraphicFramePr>
          <p:nvPr>
            <p:extLst>
              <p:ext uri="{D42A27DB-BD31-4B8C-83A1-F6EECF244321}">
                <p14:modId xmlns:p14="http://schemas.microsoft.com/office/powerpoint/2010/main" val="1300535759"/>
              </p:ext>
            </p:extLst>
          </p:nvPr>
        </p:nvGraphicFramePr>
        <p:xfrm>
          <a:off x="4367213" y="1557338"/>
          <a:ext cx="1584176" cy="822960"/>
        </p:xfrm>
        <a:graphic>
          <a:graphicData uri="http://schemas.openxmlformats.org/drawingml/2006/table">
            <a:tbl>
              <a:tblPr firstRow="1" bandCol="1">
                <a:tableStyleId>{5C22544A-7EE6-4342-B048-85BDC9FD1C3A}</a:tableStyleId>
              </a:tblPr>
              <a:tblGrid>
                <a:gridCol w="1584176"/>
              </a:tblGrid>
              <a:tr h="256541">
                <a:tc>
                  <a:txBody>
                    <a:bodyPr/>
                    <a:lstStyle/>
                    <a:p>
                      <a:pPr marL="0" algn="ctr" defTabSz="914400" rtl="0" eaLnBrk="1" latinLnBrk="0" hangingPunct="1"/>
                      <a:r>
                        <a:rPr lang="en-US" altLang="zh-CN" sz="1200" b="0" dirty="0" smtClean="0">
                          <a:solidFill>
                            <a:schemeClr val="tx1"/>
                          </a:solidFill>
                          <a:latin typeface="微软雅黑" panose="020B0503020204020204" pitchFamily="34" charset="-122"/>
                          <a:ea typeface="微软雅黑" panose="020B0503020204020204" pitchFamily="34" charset="-122"/>
                          <a:cs typeface="Arial" charset="0"/>
                        </a:rPr>
                        <a:t>192.168.1.1</a:t>
                      </a:r>
                      <a:endParaRPr lang="en-US" altLang="zh-CN" sz="12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200" b="0" kern="1200" dirty="0" smtClean="0">
                          <a:solidFill>
                            <a:schemeClr val="tx1"/>
                          </a:solidFill>
                          <a:latin typeface="微软雅黑" panose="020B0503020204020204" pitchFamily="34" charset="-122"/>
                          <a:ea typeface="微软雅黑" panose="020B0503020204020204" pitchFamily="34" charset="-122"/>
                          <a:cs typeface="Arial" charset="0"/>
                        </a:rPr>
                        <a:t>192.168.1.2</a:t>
                      </a:r>
                      <a:endParaRPr lang="en-US" altLang="zh-CN" sz="12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200" b="0" kern="1200" dirty="0" smtClean="0">
                          <a:solidFill>
                            <a:schemeClr val="tx1"/>
                          </a:solidFill>
                          <a:latin typeface="微软雅黑" panose="020B0503020204020204" pitchFamily="34" charset="-122"/>
                          <a:ea typeface="微软雅黑" panose="020B0503020204020204" pitchFamily="34" charset="-122"/>
                          <a:cs typeface="Arial" charset="0"/>
                        </a:rPr>
                        <a: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graphicFrame>
        <p:nvGraphicFramePr>
          <p:cNvPr id="38" name="表格 8"/>
          <p:cNvGraphicFramePr>
            <a:graphicFrameLocks noGrp="1"/>
          </p:cNvGraphicFramePr>
          <p:nvPr>
            <p:extLst>
              <p:ext uri="{D42A27DB-BD31-4B8C-83A1-F6EECF244321}">
                <p14:modId xmlns:p14="http://schemas.microsoft.com/office/powerpoint/2010/main" val="253344564"/>
              </p:ext>
            </p:extLst>
          </p:nvPr>
        </p:nvGraphicFramePr>
        <p:xfrm>
          <a:off x="6743700" y="1557338"/>
          <a:ext cx="1728192" cy="822960"/>
        </p:xfrm>
        <a:graphic>
          <a:graphicData uri="http://schemas.openxmlformats.org/drawingml/2006/table">
            <a:tbl>
              <a:tblPr firstRow="1" bandCol="1">
                <a:tableStyleId>{5C22544A-7EE6-4342-B048-85BDC9FD1C3A}</a:tableStyleId>
              </a:tblPr>
              <a:tblGrid>
                <a:gridCol w="1728192"/>
              </a:tblGrid>
              <a:tr h="256541">
                <a:tc>
                  <a:txBody>
                    <a:bodyPr/>
                    <a:lstStyle/>
                    <a:p>
                      <a:pPr marL="0" algn="ctr" defTabSz="914400" rtl="0" eaLnBrk="1" latinLnBrk="0" hangingPunct="1"/>
                      <a:r>
                        <a:rPr lang="en-US" altLang="zh-CN" sz="1200" b="0" dirty="0" smtClean="0">
                          <a:solidFill>
                            <a:schemeClr val="tx1"/>
                          </a:solidFill>
                          <a:latin typeface="微软雅黑" panose="020B0503020204020204" pitchFamily="34" charset="-122"/>
                          <a:ea typeface="微软雅黑" panose="020B0503020204020204" pitchFamily="34" charset="-122"/>
                          <a:cs typeface="Arial" charset="0"/>
                        </a:rPr>
                        <a:t>200.10.10.11</a:t>
                      </a:r>
                      <a:endParaRPr lang="en-US" altLang="zh-CN" sz="12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200" b="0" dirty="0" smtClean="0">
                          <a:solidFill>
                            <a:schemeClr val="tx1"/>
                          </a:solidFill>
                          <a:latin typeface="微软雅黑" panose="020B0503020204020204" pitchFamily="34" charset="-122"/>
                          <a:ea typeface="微软雅黑" panose="020B0503020204020204" pitchFamily="34" charset="-122"/>
                          <a:cs typeface="Arial" charset="0"/>
                        </a:rPr>
                        <a:t>200.10.10.12</a:t>
                      </a:r>
                      <a:endParaRPr lang="en-US" altLang="zh-CN" sz="12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55574">
                <a:tc>
                  <a:txBody>
                    <a:bodyPr/>
                    <a:lstStyle/>
                    <a:p>
                      <a:pPr marL="0" algn="ctr" defTabSz="914400" rtl="0" eaLnBrk="1" latinLnBrk="0" hangingPunct="1"/>
                      <a:r>
                        <a:rPr lang="en-US" altLang="zh-CN" sz="1200" b="0" kern="1200" dirty="0" smtClean="0">
                          <a:solidFill>
                            <a:schemeClr val="tx1"/>
                          </a:solidFill>
                          <a:latin typeface="微软雅黑" panose="020B0503020204020204" pitchFamily="34" charset="-122"/>
                          <a:ea typeface="微软雅黑" panose="020B0503020204020204" pitchFamily="34" charset="-122"/>
                          <a:cs typeface="Arial" charset="0"/>
                        </a:rPr>
                        <a:t>……</a:t>
                      </a:r>
                      <a:endParaRPr lang="en-US" altLang="zh-CN" sz="1200" b="0" kern="1200" dirty="0" smtClean="0">
                        <a:solidFill>
                          <a:schemeClr val="tx1"/>
                        </a:solidFill>
                        <a:latin typeface="微软雅黑" panose="020B0503020204020204" pitchFamily="34" charset="-122"/>
                        <a:ea typeface="微软雅黑" panose="020B0503020204020204" pitchFamily="34" charset="-122"/>
                        <a:cs typeface="Arial"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
        <p:nvSpPr>
          <p:cNvPr id="18456" name="AutoShape 28"/>
          <p:cNvSpPr>
            <a:spLocks/>
          </p:cNvSpPr>
          <p:nvPr/>
        </p:nvSpPr>
        <p:spPr bwMode="auto">
          <a:xfrm>
            <a:off x="2279651" y="4335487"/>
            <a:ext cx="7345363" cy="1901825"/>
          </a:xfrm>
          <a:prstGeom prst="accentBorderCallout3">
            <a:avLst>
              <a:gd name="adj1" fmla="val 14088"/>
              <a:gd name="adj2" fmla="val 101218"/>
              <a:gd name="adj3" fmla="val 14088"/>
              <a:gd name="adj4" fmla="val 103042"/>
              <a:gd name="adj5" fmla="val -9889"/>
              <a:gd name="adj6" fmla="val 103051"/>
              <a:gd name="adj7" fmla="val -47491"/>
              <a:gd name="adj8" fmla="val 63185"/>
            </a:avLst>
          </a:prstGeom>
          <a:solidFill>
            <a:schemeClr val="bg1">
              <a:lumMod val="85000"/>
            </a:schemeClr>
          </a:solidFill>
          <a:ln w="19050" algn="ctr">
            <a:noFill/>
            <a:miter lim="800000"/>
            <a:headEnd/>
            <a:tailEnd type="arrow" w="med" len="med"/>
          </a:ln>
          <a:effectLst/>
        </p:spPr>
        <p:txBody>
          <a:bodyPr anchor="ctr">
            <a:spAutoFit/>
          </a:bodyPr>
          <a:lstStyle/>
          <a:p>
            <a:pPr defTabSz="784225">
              <a:lnSpc>
                <a:spcPct val="140000"/>
              </a:lnSpc>
            </a:pPr>
            <a:r>
              <a:rPr lang="en-US" altLang="zh-CN" sz="1400" dirty="0">
                <a:latin typeface="Courier New" pitchFamily="49" charset="0"/>
                <a:ea typeface="宋体" pitchFamily="2" charset="-122"/>
              </a:rPr>
              <a:t>[RTA]</a:t>
            </a:r>
            <a:r>
              <a:rPr lang="en-US" altLang="zh-CN" sz="1400" dirty="0" err="1">
                <a:latin typeface="Courier New" pitchFamily="49" charset="0"/>
                <a:ea typeface="宋体" pitchFamily="2" charset="-122"/>
              </a:rPr>
              <a:t>nat</a:t>
            </a:r>
            <a:r>
              <a:rPr lang="en-US" altLang="zh-CN" sz="1400" dirty="0">
                <a:latin typeface="Courier New" pitchFamily="49" charset="0"/>
                <a:ea typeface="宋体" pitchFamily="2" charset="-122"/>
              </a:rPr>
              <a:t> address-group 1 200.10.10.11 200.10.10.16 </a:t>
            </a:r>
          </a:p>
          <a:p>
            <a:pPr defTabSz="784225">
              <a:lnSpc>
                <a:spcPct val="140000"/>
              </a:lnSpc>
            </a:pPr>
            <a:r>
              <a:rPr lang="en-US" altLang="zh-CN" sz="1400" dirty="0">
                <a:latin typeface="Courier New" pitchFamily="49" charset="0"/>
                <a:ea typeface="宋体" pitchFamily="2" charset="-122"/>
              </a:rPr>
              <a:t>[RTA]</a:t>
            </a:r>
            <a:r>
              <a:rPr lang="en-US" altLang="zh-CN" sz="1400" dirty="0" err="1">
                <a:latin typeface="Courier New" pitchFamily="49" charset="0"/>
                <a:ea typeface="宋体" pitchFamily="2" charset="-122"/>
              </a:rPr>
              <a:t>acl</a:t>
            </a:r>
            <a:r>
              <a:rPr lang="en-US" altLang="zh-CN" sz="1400" dirty="0">
                <a:latin typeface="Courier New" pitchFamily="49" charset="0"/>
                <a:ea typeface="宋体" pitchFamily="2" charset="-122"/>
              </a:rPr>
              <a:t> 2000</a:t>
            </a:r>
          </a:p>
          <a:p>
            <a:pPr defTabSz="784225">
              <a:lnSpc>
                <a:spcPct val="140000"/>
              </a:lnSpc>
            </a:pPr>
            <a:r>
              <a:rPr lang="en-US" altLang="zh-CN" sz="1400" dirty="0">
                <a:latin typeface="Courier New" pitchFamily="49" charset="0"/>
                <a:ea typeface="宋体" pitchFamily="2" charset="-122"/>
              </a:rPr>
              <a:t>[RTA-acl-basic-2000]rule 5 permit source 192.168.1.0 0.0.0.255</a:t>
            </a:r>
          </a:p>
          <a:p>
            <a:pPr defTabSz="784225">
              <a:lnSpc>
                <a:spcPct val="140000"/>
              </a:lnSpc>
            </a:pPr>
            <a:r>
              <a:rPr lang="en-US" altLang="zh-CN" sz="1400" dirty="0">
                <a:latin typeface="Courier New" pitchFamily="49" charset="0"/>
                <a:ea typeface="宋体" pitchFamily="2" charset="-122"/>
              </a:rPr>
              <a:t>[RTA-acl-basic-2000]quit</a:t>
            </a:r>
          </a:p>
          <a:p>
            <a:pPr defTabSz="784225">
              <a:lnSpc>
                <a:spcPct val="140000"/>
              </a:lnSpc>
            </a:pPr>
            <a:r>
              <a:rPr lang="en-US" altLang="zh-CN" sz="1400" dirty="0">
                <a:latin typeface="Courier New" pitchFamily="49" charset="0"/>
                <a:ea typeface="宋体" pitchFamily="2" charset="-122"/>
              </a:rPr>
              <a:t>[RTA]interface serial1/0/0</a:t>
            </a:r>
          </a:p>
          <a:p>
            <a:pPr defTabSz="784225">
              <a:lnSpc>
                <a:spcPct val="140000"/>
              </a:lnSpc>
            </a:pPr>
            <a:r>
              <a:rPr lang="en-US" altLang="zh-CN" sz="1400" dirty="0">
                <a:latin typeface="Courier New" pitchFamily="49" charset="0"/>
                <a:ea typeface="宋体" pitchFamily="2" charset="-122"/>
              </a:rPr>
              <a:t>[RTA-Serial1/0/0]</a:t>
            </a:r>
            <a:r>
              <a:rPr lang="en-US" altLang="zh-CN" sz="1400" dirty="0" err="1">
                <a:solidFill>
                  <a:srgbClr val="C00000"/>
                </a:solidFill>
                <a:latin typeface="Courier New" pitchFamily="49" charset="0"/>
                <a:ea typeface="宋体" pitchFamily="2" charset="-122"/>
              </a:rPr>
              <a:t>nat</a:t>
            </a:r>
            <a:r>
              <a:rPr lang="en-US" altLang="zh-CN" sz="1400" dirty="0">
                <a:solidFill>
                  <a:srgbClr val="C00000"/>
                </a:solidFill>
                <a:latin typeface="Courier New" pitchFamily="49" charset="0"/>
                <a:ea typeface="宋体" pitchFamily="2" charset="-122"/>
              </a:rPr>
              <a:t> outbound 2000 address-group 1 no-pat</a:t>
            </a:r>
          </a:p>
        </p:txBody>
      </p:sp>
      <p:grpSp>
        <p:nvGrpSpPr>
          <p:cNvPr id="18457" name="Group 28"/>
          <p:cNvGrpSpPr>
            <a:grpSpLocks/>
          </p:cNvGrpSpPr>
          <p:nvPr/>
        </p:nvGrpSpPr>
        <p:grpSpPr bwMode="auto">
          <a:xfrm>
            <a:off x="2605088" y="2038350"/>
            <a:ext cx="7340092" cy="2243912"/>
            <a:chOff x="1081088" y="2038350"/>
            <a:chExt cx="7340092" cy="2243912"/>
          </a:xfrm>
        </p:grpSpPr>
        <p:sp>
          <p:nvSpPr>
            <p:cNvPr id="18458"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sp>
          <p:nvSpPr>
            <p:cNvPr id="18459"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cxnSp>
          <p:nvCxnSpPr>
            <p:cNvPr id="18460" name="直接箭头连接符 29"/>
            <p:cNvCxnSpPr>
              <a:cxnSpLocks noChangeShapeType="1"/>
            </p:cNvCxnSpPr>
            <p:nvPr/>
          </p:nvCxnSpPr>
          <p:spPr bwMode="auto">
            <a:xfrm>
              <a:off x="4538663" y="2420938"/>
              <a:ext cx="576262" cy="0"/>
            </a:xfrm>
            <a:prstGeom prst="straightConnector1">
              <a:avLst/>
            </a:prstGeom>
            <a:noFill/>
            <a:ln w="28575" algn="ctr">
              <a:solidFill>
                <a:srgbClr val="C00000"/>
              </a:solidFill>
              <a:round/>
              <a:headEnd/>
              <a:tailEnd type="arrow" w="med" len="med"/>
            </a:ln>
          </p:spPr>
        </p:cxnSp>
        <p:sp>
          <p:nvSpPr>
            <p:cNvPr id="18461"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pic>
          <p:nvPicPr>
            <p:cNvPr id="18462"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18464"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18467" name="TextBox 94"/>
            <p:cNvSpPr txBox="1">
              <a:spLocks noChangeArrowheads="1"/>
            </p:cNvSpPr>
            <p:nvPr/>
          </p:nvSpPr>
          <p:spPr bwMode="auto">
            <a:xfrm>
              <a:off x="3025775" y="250190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18468"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18471" name="TextBox 94"/>
            <p:cNvSpPr txBox="1">
              <a:spLocks noChangeArrowheads="1"/>
            </p:cNvSpPr>
            <p:nvPr/>
          </p:nvSpPr>
          <p:spPr bwMode="auto">
            <a:xfrm>
              <a:off x="7521575" y="2419350"/>
              <a:ext cx="89960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18472" name="TextBox 94"/>
            <p:cNvSpPr txBox="1">
              <a:spLocks noChangeArrowheads="1"/>
            </p:cNvSpPr>
            <p:nvPr/>
          </p:nvSpPr>
          <p:spPr bwMode="auto">
            <a:xfrm>
              <a:off x="5094288" y="3115997"/>
              <a:ext cx="673582"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S1/0/0</a:t>
              </a:r>
              <a:endParaRPr lang="zh-CN" altLang="en-US" sz="1200" dirty="0">
                <a:latin typeface="微软雅黑" panose="020B0503020204020204" pitchFamily="34" charset="-122"/>
                <a:ea typeface="微软雅黑" panose="020B0503020204020204" pitchFamily="34" charset="-122"/>
              </a:endParaRPr>
            </a:p>
          </p:txBody>
        </p:sp>
        <p:sp>
          <p:nvSpPr>
            <p:cNvPr id="18473"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18475" name="矩形 43"/>
            <p:cNvSpPr>
              <a:spLocks noChangeArrowheads="1"/>
            </p:cNvSpPr>
            <p:nvPr/>
          </p:nvSpPr>
          <p:spPr bwMode="auto">
            <a:xfrm>
              <a:off x="1490663" y="2838450"/>
              <a:ext cx="1258678" cy="276999"/>
            </a:xfrm>
            <a:prstGeom prst="rect">
              <a:avLst/>
            </a:prstGeom>
            <a:noFill/>
            <a:ln w="9525">
              <a:noFill/>
              <a:miter lim="800000"/>
              <a:headEnd/>
              <a:tailEnd/>
            </a:ln>
          </p:spPr>
          <p:txBody>
            <a:bodyPr wrap="none">
              <a:spAutoFit/>
            </a:bodyPr>
            <a:lstStyle/>
            <a:p>
              <a:pPr algn="ctr" eaLnBrk="1" hangingPunct="1"/>
              <a:r>
                <a:rPr lang="en-US" altLang="zh-CN" sz="1200">
                  <a:latin typeface="微软雅黑" panose="020B0503020204020204" pitchFamily="34" charset="-122"/>
                  <a:ea typeface="微软雅黑" panose="020B0503020204020204" pitchFamily="34" charset="-122"/>
                  <a:cs typeface="Arial" charset="0"/>
                </a:rPr>
                <a:t>192.168.1.0/24</a:t>
              </a:r>
              <a:endParaRPr lang="zh-CN" altLang="en-US" sz="1200">
                <a:latin typeface="微软雅黑" panose="020B0503020204020204" pitchFamily="34" charset="-122"/>
                <a:ea typeface="微软雅黑" panose="020B0503020204020204" pitchFamily="34" charset="-122"/>
                <a:cs typeface="Arial" charset="0"/>
              </a:endParaRPr>
            </a:p>
          </p:txBody>
        </p:sp>
        <p:sp>
          <p:nvSpPr>
            <p:cNvPr id="18476" name="TextBox 94"/>
            <p:cNvSpPr txBox="1">
              <a:spLocks noChangeArrowheads="1"/>
            </p:cNvSpPr>
            <p:nvPr/>
          </p:nvSpPr>
          <p:spPr bwMode="auto">
            <a:xfrm>
              <a:off x="3815916" y="3115997"/>
              <a:ext cx="699230"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G0/0/1</a:t>
              </a:r>
              <a:endParaRPr lang="zh-CN" altLang="en-US" sz="1200" dirty="0">
                <a:latin typeface="微软雅黑" panose="020B0503020204020204" pitchFamily="34" charset="-122"/>
                <a:ea typeface="微软雅黑" panose="020B0503020204020204" pitchFamily="34" charset="-122"/>
              </a:endParaRPr>
            </a:p>
          </p:txBody>
        </p:sp>
        <p:sp>
          <p:nvSpPr>
            <p:cNvPr id="18477"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18478"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grpSp>
      <p:pic>
        <p:nvPicPr>
          <p:cNvPr id="31" name="图片 30"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32" name="图片 31"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33" name="图片 32"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34" name="图片 3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35" name="图片 34" descr="internet-蓝.png"/>
          <p:cNvPicPr>
            <a:picLocks noChangeAspect="1"/>
          </p:cNvPicPr>
          <p:nvPr/>
        </p:nvPicPr>
        <p:blipFill>
          <a:blip r:embed="rId7" cstate="print"/>
          <a:stretch>
            <a:fillRect/>
          </a:stretch>
        </p:blipFill>
        <p:spPr>
          <a:xfrm>
            <a:off x="7946613" y="2721192"/>
            <a:ext cx="1453085" cy="737551"/>
          </a:xfrm>
          <a:prstGeom prst="rect">
            <a:avLst/>
          </a:prstGeom>
        </p:spPr>
      </p:pic>
      <p:pic>
        <p:nvPicPr>
          <p:cNvPr id="36" name="图片 35" descr="PC.png"/>
          <p:cNvPicPr>
            <a:picLocks noChangeAspect="1"/>
          </p:cNvPicPr>
          <p:nvPr/>
        </p:nvPicPr>
        <p:blipFill>
          <a:blip r:embed="rId4" cstate="print"/>
          <a:stretch>
            <a:fillRect/>
          </a:stretch>
        </p:blipFill>
        <p:spPr>
          <a:xfrm>
            <a:off x="9304962" y="2733830"/>
            <a:ext cx="866476" cy="665453"/>
          </a:xfrm>
          <a:prstGeom prst="rect">
            <a:avLst/>
          </a:prstGeom>
        </p:spPr>
      </p:pic>
    </p:spTree>
    <p:extLst>
      <p:ext uri="{BB962C8B-B14F-4D97-AF65-F5344CB8AC3E}">
        <p14:creationId xmlns:p14="http://schemas.microsoft.com/office/powerpoint/2010/main" val="18165766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Enables group binding parameter configuration to be verified.</a:t>
            </a:r>
          </a:p>
          <a:p>
            <a:endParaRPr lang="zh-CN" altLang="en-US" dirty="0"/>
          </a:p>
        </p:txBody>
      </p:sp>
      <p:sp>
        <p:nvSpPr>
          <p:cNvPr id="3" name="文本占位符 2"/>
          <p:cNvSpPr>
            <a:spLocks noGrp="1"/>
          </p:cNvSpPr>
          <p:nvPr>
            <p:ph type="body" sz="quarter" idx="12"/>
          </p:nvPr>
        </p:nvSpPr>
        <p:spPr/>
        <p:txBody>
          <a:bodyPr/>
          <a:lstStyle/>
          <a:p>
            <a:r>
              <a:rPr lang="en-US" altLang="zh-CN" dirty="0" smtClean="0"/>
              <a:t>Dynamic NAT Configuration Validation</a:t>
            </a:r>
            <a:endParaRPr lang="zh-CN" altLang="en-US" dirty="0"/>
          </a:p>
        </p:txBody>
      </p:sp>
      <p:sp>
        <p:nvSpPr>
          <p:cNvPr id="22" name="Rectangle 4"/>
          <p:cNvSpPr>
            <a:spLocks noChangeArrowheads="1"/>
          </p:cNvSpPr>
          <p:nvPr/>
        </p:nvSpPr>
        <p:spPr bwMode="auto">
          <a:xfrm>
            <a:off x="2279650" y="1484314"/>
            <a:ext cx="7272338" cy="4200525"/>
          </a:xfrm>
          <a:prstGeom prst="rect">
            <a:avLst/>
          </a:prstGeom>
          <a:solidFill>
            <a:schemeClr val="bg1">
              <a:lumMod val="85000"/>
            </a:schemeClr>
          </a:solidFill>
          <a:ln w="9525" algn="ctr">
            <a:noFill/>
            <a:miter lim="800000"/>
            <a:headEnd/>
            <a:tailEnd/>
          </a:ln>
          <a:effectLst/>
        </p:spPr>
        <p:txBody>
          <a:bodyPr lIns="0" tIns="0" rIns="0" bIns="0">
            <a:spAutoFit/>
          </a:bodyPr>
          <a:lstStyle/>
          <a:p>
            <a:pPr defTabSz="784225">
              <a:lnSpc>
                <a:spcPct val="150000"/>
              </a:lnSpc>
              <a:defRPr/>
            </a:pPr>
            <a:r>
              <a:rPr lang="en-US" altLang="zh-CN" sz="1400" dirty="0">
                <a:latin typeface="Courier New" pitchFamily="49" charset="0"/>
                <a:ea typeface="宋体" pitchFamily="2" charset="-122"/>
              </a:rPr>
              <a:t>[RTA]display </a:t>
            </a:r>
            <a:r>
              <a:rPr lang="en-US" altLang="zh-CN" sz="1400" dirty="0" err="1">
                <a:latin typeface="Courier New" pitchFamily="49" charset="0"/>
                <a:ea typeface="宋体" pitchFamily="2" charset="-122"/>
              </a:rPr>
              <a:t>nat</a:t>
            </a:r>
            <a:r>
              <a:rPr lang="en-US" altLang="zh-CN" sz="1400" dirty="0">
                <a:latin typeface="Courier New" pitchFamily="49" charset="0"/>
                <a:ea typeface="宋体" pitchFamily="2" charset="-122"/>
              </a:rPr>
              <a:t> address-group 1</a:t>
            </a:r>
          </a:p>
          <a:p>
            <a:pPr defTabSz="784225">
              <a:lnSpc>
                <a:spcPct val="150000"/>
              </a:lnSpc>
              <a:defRPr/>
            </a:pPr>
            <a:r>
              <a:rPr lang="en-US" altLang="zh-CN" sz="1400" dirty="0">
                <a:latin typeface="Courier New" pitchFamily="49" charset="0"/>
                <a:ea typeface="宋体" pitchFamily="2" charset="-122"/>
              </a:rPr>
              <a:t> NAT Address-Group Information:</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Index   Start-address      End-address</a:t>
            </a:r>
          </a:p>
          <a:p>
            <a:pPr defTabSz="784225">
              <a:lnSpc>
                <a:spcPct val="150000"/>
              </a:lnSpc>
              <a:defRPr/>
            </a:pPr>
            <a:r>
              <a:rPr lang="en-US" altLang="zh-CN" sz="1400" dirty="0">
                <a:latin typeface="Courier New" pitchFamily="49" charset="0"/>
                <a:ea typeface="宋体" pitchFamily="2" charset="-122"/>
              </a:rPr>
              <a:t> </a:t>
            </a:r>
            <a:r>
              <a:rPr lang="en-US" altLang="zh-CN" sz="1400" dirty="0">
                <a:solidFill>
                  <a:srgbClr val="C00000"/>
                </a:solidFill>
                <a:latin typeface="Courier New" pitchFamily="49" charset="0"/>
                <a:ea typeface="宋体" pitchFamily="2" charset="-122"/>
              </a:rPr>
              <a:t>1 </a:t>
            </a:r>
            <a:r>
              <a:rPr lang="en-US" altLang="zh-CN" sz="1400" dirty="0">
                <a:latin typeface="Courier New" pitchFamily="49" charset="0"/>
                <a:ea typeface="宋体" pitchFamily="2" charset="-122"/>
              </a:rPr>
              <a:t>      </a:t>
            </a:r>
            <a:r>
              <a:rPr lang="en-US" altLang="zh-CN" sz="1400" dirty="0">
                <a:solidFill>
                  <a:srgbClr val="C00000"/>
                </a:solidFill>
                <a:latin typeface="Courier New" pitchFamily="49" charset="0"/>
                <a:ea typeface="宋体" pitchFamily="2" charset="-122"/>
              </a:rPr>
              <a:t>200.10.10.11       200.10.10.16</a:t>
            </a:r>
          </a:p>
          <a:p>
            <a:pPr defTabSz="784225">
              <a:lnSpc>
                <a:spcPct val="150000"/>
              </a:lnSpc>
              <a:defRPr/>
            </a:pPr>
            <a:r>
              <a:rPr lang="en-US" altLang="zh-CN" sz="1400" dirty="0">
                <a:latin typeface="Courier New" pitchFamily="49" charset="0"/>
                <a:ea typeface="宋体" pitchFamily="2" charset="-122"/>
              </a:rPr>
              <a:t>[RTA]display </a:t>
            </a:r>
            <a:r>
              <a:rPr lang="en-US" altLang="zh-CN" sz="1400" dirty="0" err="1">
                <a:latin typeface="Courier New" pitchFamily="49" charset="0"/>
                <a:ea typeface="宋体" pitchFamily="2" charset="-122"/>
              </a:rPr>
              <a:t>nat</a:t>
            </a:r>
            <a:r>
              <a:rPr lang="en-US" altLang="zh-CN" sz="1400" dirty="0">
                <a:latin typeface="Courier New" pitchFamily="49" charset="0"/>
                <a:ea typeface="宋体" pitchFamily="2" charset="-122"/>
              </a:rPr>
              <a:t> outbound </a:t>
            </a:r>
          </a:p>
          <a:p>
            <a:pPr defTabSz="784225">
              <a:lnSpc>
                <a:spcPct val="150000"/>
              </a:lnSpc>
              <a:defRPr/>
            </a:pPr>
            <a:r>
              <a:rPr lang="en-US" altLang="zh-CN" sz="1400" dirty="0">
                <a:latin typeface="Courier New" pitchFamily="49" charset="0"/>
                <a:ea typeface="宋体" pitchFamily="2" charset="-122"/>
              </a:rPr>
              <a:t> NAT Outbound Information:</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Interface          </a:t>
            </a:r>
            <a:r>
              <a:rPr lang="en-US" altLang="zh-CN" sz="1400" dirty="0" err="1">
                <a:latin typeface="Courier New" pitchFamily="49" charset="0"/>
                <a:ea typeface="宋体" pitchFamily="2" charset="-122"/>
              </a:rPr>
              <a:t>Acl</a:t>
            </a:r>
            <a:r>
              <a:rPr lang="en-US" altLang="zh-CN" sz="1400" dirty="0">
                <a:latin typeface="Courier New" pitchFamily="49" charset="0"/>
                <a:ea typeface="宋体" pitchFamily="2" charset="-122"/>
              </a:rPr>
              <a:t>     Address-group/IP/Interface      Type</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solidFill>
                  <a:srgbClr val="C00000"/>
                </a:solidFill>
                <a:latin typeface="Courier New" pitchFamily="49" charset="0"/>
                <a:ea typeface="宋体" pitchFamily="2" charset="-122"/>
              </a:rPr>
              <a:t> Serial1/0/0       2000  </a:t>
            </a:r>
            <a:r>
              <a:rPr lang="en-US" altLang="zh-CN" sz="1400" dirty="0">
                <a:latin typeface="Courier New" pitchFamily="49" charset="0"/>
                <a:ea typeface="宋体" pitchFamily="2" charset="-122"/>
              </a:rPr>
              <a:t>                     </a:t>
            </a:r>
            <a:r>
              <a:rPr lang="en-US" altLang="zh-CN" sz="1400" dirty="0">
                <a:solidFill>
                  <a:srgbClr val="C00000"/>
                </a:solidFill>
                <a:latin typeface="Courier New" pitchFamily="49" charset="0"/>
                <a:ea typeface="宋体" pitchFamily="2" charset="-122"/>
              </a:rPr>
              <a:t> 1         no-pat</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Total : 1</a:t>
            </a:r>
          </a:p>
        </p:txBody>
      </p:sp>
    </p:spTree>
    <p:extLst>
      <p:ext uri="{BB962C8B-B14F-4D97-AF65-F5344CB8AC3E}">
        <p14:creationId xmlns:p14="http://schemas.microsoft.com/office/powerpoint/2010/main" val="32341725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dirty="0" smtClean="0"/>
              <a:t>Easy IP Configuration</a:t>
            </a:r>
            <a:endParaRPr lang="zh-CN" altLang="en-US" dirty="0"/>
          </a:p>
        </p:txBody>
      </p:sp>
      <p:sp>
        <p:nvSpPr>
          <p:cNvPr id="20484" name="AutoShape 28"/>
          <p:cNvSpPr>
            <a:spLocks/>
          </p:cNvSpPr>
          <p:nvPr/>
        </p:nvSpPr>
        <p:spPr bwMode="auto">
          <a:xfrm>
            <a:off x="2387041" y="4457092"/>
            <a:ext cx="7345363" cy="1600200"/>
          </a:xfrm>
          <a:prstGeom prst="accentBorderCallout3">
            <a:avLst>
              <a:gd name="adj1" fmla="val 14088"/>
              <a:gd name="adj2" fmla="val 101218"/>
              <a:gd name="adj3" fmla="val 14088"/>
              <a:gd name="adj4" fmla="val 103042"/>
              <a:gd name="adj5" fmla="val -13981"/>
              <a:gd name="adj6" fmla="val 103083"/>
              <a:gd name="adj7" fmla="val -55625"/>
              <a:gd name="adj8" fmla="val 62630"/>
            </a:avLst>
          </a:prstGeom>
          <a:solidFill>
            <a:schemeClr val="bg1">
              <a:lumMod val="85000"/>
            </a:schemeClr>
          </a:solidFill>
          <a:ln w="19050" algn="ctr">
            <a:noFill/>
            <a:miter lim="800000"/>
            <a:headEnd/>
            <a:tailEnd type="arrow" w="med" len="med"/>
          </a:ln>
        </p:spPr>
        <p:txBody>
          <a:bodyPr anchor="ctr">
            <a:spAutoFit/>
          </a:bodyPr>
          <a:lstStyle/>
          <a:p>
            <a:pPr defTabSz="784225">
              <a:lnSpc>
                <a:spcPct val="140000"/>
              </a:lnSpc>
            </a:pPr>
            <a:r>
              <a:rPr lang="en-US" altLang="zh-CN" sz="1400" dirty="0">
                <a:latin typeface="Courier New" pitchFamily="49" charset="0"/>
                <a:ea typeface="宋体" pitchFamily="2" charset="-122"/>
              </a:rPr>
              <a:t>[RTA]</a:t>
            </a:r>
            <a:r>
              <a:rPr lang="en-US" altLang="zh-CN" sz="1400" dirty="0" err="1">
                <a:latin typeface="Courier New" pitchFamily="49" charset="0"/>
                <a:ea typeface="宋体" pitchFamily="2" charset="-122"/>
              </a:rPr>
              <a:t>acl</a:t>
            </a:r>
            <a:r>
              <a:rPr lang="en-US" altLang="zh-CN" sz="1400" dirty="0">
                <a:latin typeface="Courier New" pitchFamily="49" charset="0"/>
                <a:ea typeface="宋体" pitchFamily="2" charset="-122"/>
              </a:rPr>
              <a:t> 2000</a:t>
            </a:r>
          </a:p>
          <a:p>
            <a:pPr defTabSz="784225">
              <a:lnSpc>
                <a:spcPct val="140000"/>
              </a:lnSpc>
            </a:pPr>
            <a:r>
              <a:rPr lang="en-US" altLang="zh-CN" sz="1400" dirty="0">
                <a:latin typeface="Courier New" pitchFamily="49" charset="0"/>
                <a:ea typeface="宋体" pitchFamily="2" charset="-122"/>
              </a:rPr>
              <a:t>[RTA-acl-basic-2000]rule 5 permit source 192.168.1.0 0.0.0.255</a:t>
            </a:r>
          </a:p>
          <a:p>
            <a:pPr defTabSz="784225">
              <a:lnSpc>
                <a:spcPct val="140000"/>
              </a:lnSpc>
            </a:pPr>
            <a:r>
              <a:rPr lang="en-US" altLang="zh-CN" sz="1400" dirty="0">
                <a:latin typeface="Courier New" pitchFamily="49" charset="0"/>
                <a:ea typeface="宋体" pitchFamily="2" charset="-122"/>
              </a:rPr>
              <a:t>[RTA-acl-basic-2000]quit</a:t>
            </a:r>
          </a:p>
          <a:p>
            <a:pPr defTabSz="784225">
              <a:lnSpc>
                <a:spcPct val="140000"/>
              </a:lnSpc>
            </a:pPr>
            <a:r>
              <a:rPr lang="en-US" altLang="zh-CN" sz="1400" dirty="0">
                <a:latin typeface="Courier New" pitchFamily="49" charset="0"/>
                <a:ea typeface="宋体" pitchFamily="2" charset="-122"/>
              </a:rPr>
              <a:t>[RTA]interface serial1/0/0</a:t>
            </a:r>
          </a:p>
          <a:p>
            <a:pPr defTabSz="784225">
              <a:lnSpc>
                <a:spcPct val="140000"/>
              </a:lnSpc>
            </a:pPr>
            <a:r>
              <a:rPr lang="en-US" altLang="zh-CN" sz="1400" dirty="0">
                <a:latin typeface="Courier New" pitchFamily="49" charset="0"/>
                <a:ea typeface="宋体" pitchFamily="2" charset="-122"/>
              </a:rPr>
              <a:t>[RTA-Serial1/0/0]</a:t>
            </a:r>
            <a:r>
              <a:rPr lang="en-US" altLang="zh-CN" sz="1400" dirty="0" err="1">
                <a:solidFill>
                  <a:srgbClr val="C00000"/>
                </a:solidFill>
                <a:latin typeface="Courier New" pitchFamily="49" charset="0"/>
                <a:ea typeface="宋体" pitchFamily="2" charset="-122"/>
              </a:rPr>
              <a:t>nat</a:t>
            </a:r>
            <a:r>
              <a:rPr lang="en-US" altLang="zh-CN" sz="1400" dirty="0">
                <a:solidFill>
                  <a:srgbClr val="C00000"/>
                </a:solidFill>
                <a:latin typeface="Courier New" pitchFamily="49" charset="0"/>
                <a:ea typeface="宋体" pitchFamily="2" charset="-122"/>
              </a:rPr>
              <a:t> outbound 2000</a:t>
            </a:r>
          </a:p>
        </p:txBody>
      </p:sp>
      <p:grpSp>
        <p:nvGrpSpPr>
          <p:cNvPr id="20485" name="Group 32"/>
          <p:cNvGrpSpPr>
            <a:grpSpLocks/>
          </p:cNvGrpSpPr>
          <p:nvPr/>
        </p:nvGrpSpPr>
        <p:grpSpPr bwMode="auto">
          <a:xfrm>
            <a:off x="2605088" y="1687514"/>
            <a:ext cx="7340092" cy="2594749"/>
            <a:chOff x="1081088" y="1687513"/>
            <a:chExt cx="7340092" cy="2594749"/>
          </a:xfrm>
        </p:grpSpPr>
        <p:sp>
          <p:nvSpPr>
            <p:cNvPr id="20486" name="Line 3"/>
            <p:cNvSpPr>
              <a:spLocks noChangeShapeType="1"/>
            </p:cNvSpPr>
            <p:nvPr/>
          </p:nvSpPr>
          <p:spPr bwMode="auto">
            <a:xfrm flipH="1" flipV="1">
              <a:off x="1635125" y="2184400"/>
              <a:ext cx="1584325"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20487" name="Rectangle 14"/>
            <p:cNvSpPr>
              <a:spLocks noChangeArrowheads="1"/>
            </p:cNvSpPr>
            <p:nvPr/>
          </p:nvSpPr>
          <p:spPr bwMode="auto">
            <a:xfrm>
              <a:off x="2751138" y="1687513"/>
              <a:ext cx="1655762"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S:192.168.1.1:1025</a:t>
              </a:r>
            </a:p>
          </p:txBody>
        </p:sp>
        <p:sp>
          <p:nvSpPr>
            <p:cNvPr id="20488" name="Rectangle 14"/>
            <p:cNvSpPr>
              <a:spLocks noChangeArrowheads="1"/>
            </p:cNvSpPr>
            <p:nvPr/>
          </p:nvSpPr>
          <p:spPr bwMode="auto">
            <a:xfrm>
              <a:off x="5343525" y="1687513"/>
              <a:ext cx="1655763" cy="288925"/>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a:latin typeface="微软雅黑" panose="020B0503020204020204" pitchFamily="34" charset="-122"/>
                  <a:ea typeface="微软雅黑" panose="020B0503020204020204" pitchFamily="34" charset="-122"/>
                </a:rPr>
                <a:t>S:200.10.10.1:2843</a:t>
              </a:r>
            </a:p>
          </p:txBody>
        </p:sp>
        <p:cxnSp>
          <p:nvCxnSpPr>
            <p:cNvPr id="20489" name="直接箭头连接符 29"/>
            <p:cNvCxnSpPr>
              <a:cxnSpLocks noChangeShapeType="1"/>
            </p:cNvCxnSpPr>
            <p:nvPr/>
          </p:nvCxnSpPr>
          <p:spPr bwMode="auto">
            <a:xfrm>
              <a:off x="4335463" y="2528888"/>
              <a:ext cx="1008062" cy="0"/>
            </a:xfrm>
            <a:prstGeom prst="straightConnector1">
              <a:avLst/>
            </a:prstGeom>
            <a:noFill/>
            <a:ln w="28575" algn="ctr">
              <a:solidFill>
                <a:srgbClr val="C00000"/>
              </a:solidFill>
              <a:round/>
              <a:headEnd/>
              <a:tailEnd type="arrow" w="med" len="med"/>
            </a:ln>
          </p:spPr>
        </p:cxnSp>
        <p:sp>
          <p:nvSpPr>
            <p:cNvPr id="20490" name="Rectangle 14"/>
            <p:cNvSpPr>
              <a:spLocks noChangeArrowheads="1"/>
            </p:cNvSpPr>
            <p:nvPr/>
          </p:nvSpPr>
          <p:spPr bwMode="auto">
            <a:xfrm>
              <a:off x="2751138" y="2120900"/>
              <a:ext cx="1655762" cy="277813"/>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S:192.168.1.2:1028</a:t>
              </a:r>
            </a:p>
          </p:txBody>
        </p:sp>
        <p:sp>
          <p:nvSpPr>
            <p:cNvPr id="20491" name="Rectangle 14"/>
            <p:cNvSpPr>
              <a:spLocks noChangeArrowheads="1"/>
            </p:cNvSpPr>
            <p:nvPr/>
          </p:nvSpPr>
          <p:spPr bwMode="auto">
            <a:xfrm>
              <a:off x="5343525" y="2120900"/>
              <a:ext cx="1655763" cy="277813"/>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S:200.10.10.1:2844</a:t>
              </a:r>
            </a:p>
          </p:txBody>
        </p:sp>
        <p:sp>
          <p:nvSpPr>
            <p:cNvPr id="20492" name="TextBox 94"/>
            <p:cNvSpPr txBox="1">
              <a:spLocks noChangeArrowheads="1"/>
            </p:cNvSpPr>
            <p:nvPr/>
          </p:nvSpPr>
          <p:spPr bwMode="auto">
            <a:xfrm>
              <a:off x="5122863" y="2765425"/>
              <a:ext cx="1013419"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200.10.10.1</a:t>
              </a:r>
              <a:endParaRPr lang="zh-CN" altLang="en-US" sz="1200">
                <a:latin typeface="微软雅黑" panose="020B0503020204020204" pitchFamily="34" charset="-122"/>
                <a:ea typeface="微软雅黑" panose="020B0503020204020204" pitchFamily="34" charset="-122"/>
              </a:endParaRPr>
            </a:p>
          </p:txBody>
        </p:sp>
        <p:sp>
          <p:nvSpPr>
            <p:cNvPr id="20493" name="TextBox 94"/>
            <p:cNvSpPr txBox="1">
              <a:spLocks noChangeArrowheads="1"/>
            </p:cNvSpPr>
            <p:nvPr/>
          </p:nvSpPr>
          <p:spPr bwMode="auto">
            <a:xfrm>
              <a:off x="3025775" y="2863850"/>
              <a:ext cx="532903"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SWA</a:t>
              </a:r>
              <a:endParaRPr lang="zh-CN" altLang="en-US" sz="1200">
                <a:latin typeface="微软雅黑" panose="020B0503020204020204" pitchFamily="34" charset="-122"/>
                <a:ea typeface="微软雅黑" panose="020B0503020204020204" pitchFamily="34" charset="-122"/>
              </a:endParaRPr>
            </a:p>
          </p:txBody>
        </p:sp>
        <p:sp>
          <p:nvSpPr>
            <p:cNvPr id="20494" name="TextBox 94"/>
            <p:cNvSpPr txBox="1">
              <a:spLocks noChangeArrowheads="1"/>
            </p:cNvSpPr>
            <p:nvPr/>
          </p:nvSpPr>
          <p:spPr bwMode="auto">
            <a:xfrm>
              <a:off x="4437063" y="2825750"/>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20495" name="Line 3"/>
            <p:cNvSpPr>
              <a:spLocks noChangeShapeType="1"/>
            </p:cNvSpPr>
            <p:nvPr/>
          </p:nvSpPr>
          <p:spPr bwMode="auto">
            <a:xfrm flipV="1">
              <a:off x="1692275" y="2997200"/>
              <a:ext cx="1582738" cy="720725"/>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pic>
          <p:nvPicPr>
            <p:cNvPr id="20496"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20498" name="Line 6"/>
            <p:cNvSpPr>
              <a:spLocks noChangeShapeType="1"/>
            </p:cNvSpPr>
            <p:nvPr/>
          </p:nvSpPr>
          <p:spPr bwMode="auto">
            <a:xfrm flipH="1">
              <a:off x="3348038" y="3052763"/>
              <a:ext cx="1368425" cy="0"/>
            </a:xfrm>
            <a:prstGeom prst="line">
              <a:avLst/>
            </a:prstGeom>
            <a:noFill/>
            <a:ln w="28575">
              <a:solidFill>
                <a:schemeClr val="tx1"/>
              </a:solidFill>
              <a:round/>
              <a:headEnd/>
              <a:tailEnd/>
            </a:ln>
          </p:spPr>
          <p:txBody>
            <a:bodyPr/>
            <a:lstStyle/>
            <a:p>
              <a:pPr algn="ctr"/>
              <a:endParaRPr lang="en-US">
                <a:latin typeface="微软雅黑" panose="020B0503020204020204" pitchFamily="34" charset="-122"/>
                <a:ea typeface="微软雅黑" panose="020B0503020204020204" pitchFamily="34" charset="-122"/>
              </a:endParaRPr>
            </a:p>
          </p:txBody>
        </p:sp>
        <p:sp>
          <p:nvSpPr>
            <p:cNvPr id="20501" name="TextBox 94"/>
            <p:cNvSpPr txBox="1">
              <a:spLocks noChangeArrowheads="1"/>
            </p:cNvSpPr>
            <p:nvPr/>
          </p:nvSpPr>
          <p:spPr bwMode="auto">
            <a:xfrm>
              <a:off x="3025775" y="2501900"/>
              <a:ext cx="532903"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SWA</a:t>
              </a:r>
              <a:endParaRPr lang="zh-CN" altLang="en-US" sz="1200" dirty="0">
                <a:latin typeface="微软雅黑" panose="020B0503020204020204" pitchFamily="34" charset="-122"/>
                <a:ea typeface="微软雅黑" panose="020B0503020204020204" pitchFamily="34" charset="-122"/>
              </a:endParaRPr>
            </a:p>
          </p:txBody>
        </p:sp>
        <p:sp>
          <p:nvSpPr>
            <p:cNvPr id="20502"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20503" name="TextBox 94"/>
            <p:cNvSpPr txBox="1">
              <a:spLocks noChangeArrowheads="1"/>
            </p:cNvSpPr>
            <p:nvPr/>
          </p:nvSpPr>
          <p:spPr bwMode="auto">
            <a:xfrm>
              <a:off x="3851920" y="3152000"/>
              <a:ext cx="699230"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G0/0/1</a:t>
              </a:r>
              <a:endParaRPr lang="zh-CN" altLang="en-US" sz="1200" dirty="0">
                <a:latin typeface="微软雅黑" panose="020B0503020204020204" pitchFamily="34" charset="-122"/>
                <a:ea typeface="微软雅黑" panose="020B0503020204020204" pitchFamily="34" charset="-122"/>
              </a:endParaRPr>
            </a:p>
          </p:txBody>
        </p:sp>
        <p:sp>
          <p:nvSpPr>
            <p:cNvPr id="20504" name="TextBox 94"/>
            <p:cNvSpPr txBox="1">
              <a:spLocks noChangeArrowheads="1"/>
            </p:cNvSpPr>
            <p:nvPr/>
          </p:nvSpPr>
          <p:spPr bwMode="auto">
            <a:xfrm>
              <a:off x="5122554" y="3152000"/>
              <a:ext cx="673582" cy="276999"/>
            </a:xfrm>
            <a:prstGeom prst="rect">
              <a:avLst/>
            </a:prstGeom>
            <a:noFill/>
            <a:ln w="9525">
              <a:noFill/>
              <a:miter lim="800000"/>
              <a:headEnd/>
              <a:tailEnd/>
            </a:ln>
          </p:spPr>
          <p:txBody>
            <a:bodyPr wrap="none">
              <a:spAutoFit/>
            </a:bodyPr>
            <a:lstStyle/>
            <a:p>
              <a:pPr algn="ctr"/>
              <a:r>
                <a:rPr lang="en-US" altLang="zh-CN" sz="1200" dirty="0">
                  <a:latin typeface="微软雅黑" panose="020B0503020204020204" pitchFamily="34" charset="-122"/>
                  <a:ea typeface="微软雅黑" panose="020B0503020204020204" pitchFamily="34" charset="-122"/>
                </a:rPr>
                <a:t>S1/0/0</a:t>
              </a:r>
              <a:endParaRPr lang="zh-CN" altLang="en-US" sz="1200" dirty="0">
                <a:latin typeface="微软雅黑" panose="020B0503020204020204" pitchFamily="34" charset="-122"/>
                <a:ea typeface="微软雅黑" panose="020B0503020204020204" pitchFamily="34" charset="-122"/>
              </a:endParaRPr>
            </a:p>
          </p:txBody>
        </p:sp>
        <p:sp>
          <p:nvSpPr>
            <p:cNvPr id="20506" name="TextBox 94"/>
            <p:cNvSpPr txBox="1">
              <a:spLocks noChangeArrowheads="1"/>
            </p:cNvSpPr>
            <p:nvPr/>
          </p:nvSpPr>
          <p:spPr bwMode="auto">
            <a:xfrm>
              <a:off x="1081088" y="4005263"/>
              <a:ext cx="670376"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B</a:t>
              </a:r>
              <a:endParaRPr lang="zh-CN" altLang="en-US" sz="1200">
                <a:latin typeface="微软雅黑" panose="020B0503020204020204" pitchFamily="34" charset="-122"/>
                <a:ea typeface="微软雅黑" panose="020B0503020204020204" pitchFamily="34" charset="-122"/>
              </a:endParaRPr>
            </a:p>
          </p:txBody>
        </p:sp>
        <p:sp>
          <p:nvSpPr>
            <p:cNvPr id="20508" name="矩形 43"/>
            <p:cNvSpPr>
              <a:spLocks noChangeArrowheads="1"/>
            </p:cNvSpPr>
            <p:nvPr/>
          </p:nvSpPr>
          <p:spPr bwMode="auto">
            <a:xfrm>
              <a:off x="1490663" y="2838450"/>
              <a:ext cx="1258678" cy="276999"/>
            </a:xfrm>
            <a:prstGeom prst="rect">
              <a:avLst/>
            </a:prstGeom>
            <a:noFill/>
            <a:ln w="9525">
              <a:noFill/>
              <a:miter lim="800000"/>
              <a:headEnd/>
              <a:tailEnd/>
            </a:ln>
          </p:spPr>
          <p:txBody>
            <a:bodyPr wrap="none">
              <a:spAutoFit/>
            </a:bodyPr>
            <a:lstStyle/>
            <a:p>
              <a:pPr algn="ctr" eaLnBrk="1" hangingPunct="1"/>
              <a:r>
                <a:rPr lang="en-US" altLang="zh-CN" sz="1200">
                  <a:latin typeface="微软雅黑" panose="020B0503020204020204" pitchFamily="34" charset="-122"/>
                  <a:ea typeface="微软雅黑" panose="020B0503020204020204" pitchFamily="34" charset="-122"/>
                  <a:cs typeface="Arial" charset="0"/>
                </a:rPr>
                <a:t>192.168.1.0/24</a:t>
              </a:r>
              <a:endParaRPr lang="zh-CN" altLang="en-US" sz="1200">
                <a:latin typeface="微软雅黑" panose="020B0503020204020204" pitchFamily="34" charset="-122"/>
                <a:ea typeface="微软雅黑" panose="020B0503020204020204" pitchFamily="34" charset="-122"/>
                <a:cs typeface="Arial" charset="0"/>
              </a:endParaRPr>
            </a:p>
          </p:txBody>
        </p:sp>
        <p:sp>
          <p:nvSpPr>
            <p:cNvPr id="20509" name="TextBox 94"/>
            <p:cNvSpPr txBox="1">
              <a:spLocks noChangeArrowheads="1"/>
            </p:cNvSpPr>
            <p:nvPr/>
          </p:nvSpPr>
          <p:spPr bwMode="auto">
            <a:xfrm>
              <a:off x="1125538" y="2492375"/>
              <a:ext cx="683200"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Host A</a:t>
              </a:r>
              <a:endParaRPr lang="zh-CN" altLang="en-US" sz="1200">
                <a:latin typeface="微软雅黑" panose="020B0503020204020204" pitchFamily="34" charset="-122"/>
                <a:ea typeface="微软雅黑" panose="020B0503020204020204" pitchFamily="34" charset="-122"/>
              </a:endParaRPr>
            </a:p>
          </p:txBody>
        </p:sp>
        <p:sp>
          <p:nvSpPr>
            <p:cNvPr id="20511" name="TextBox 94"/>
            <p:cNvSpPr txBox="1">
              <a:spLocks noChangeArrowheads="1"/>
            </p:cNvSpPr>
            <p:nvPr/>
          </p:nvSpPr>
          <p:spPr bwMode="auto">
            <a:xfrm>
              <a:off x="7521575" y="2419350"/>
              <a:ext cx="899605" cy="276999"/>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1.1.1.1/24</a:t>
              </a:r>
              <a:endParaRPr lang="zh-CN" altLang="en-US" sz="1200">
                <a:latin typeface="微软雅黑" panose="020B0503020204020204" pitchFamily="34" charset="-122"/>
                <a:ea typeface="微软雅黑" panose="020B0503020204020204" pitchFamily="34" charset="-122"/>
              </a:endParaRPr>
            </a:p>
          </p:txBody>
        </p:sp>
        <p:sp>
          <p:nvSpPr>
            <p:cNvPr id="20512" name="TextBox 94"/>
            <p:cNvSpPr txBox="1">
              <a:spLocks noChangeArrowheads="1"/>
            </p:cNvSpPr>
            <p:nvPr/>
          </p:nvSpPr>
          <p:spPr bwMode="auto">
            <a:xfrm>
              <a:off x="1763713" y="3325813"/>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.2</a:t>
              </a:r>
              <a:endParaRPr lang="zh-CN" altLang="en-US" sz="1200">
                <a:latin typeface="微软雅黑" panose="020B0503020204020204" pitchFamily="34" charset="-122"/>
                <a:ea typeface="微软雅黑" panose="020B0503020204020204" pitchFamily="34" charset="-122"/>
              </a:endParaRPr>
            </a:p>
          </p:txBody>
        </p:sp>
        <p:sp>
          <p:nvSpPr>
            <p:cNvPr id="20513" name="TextBox 94"/>
            <p:cNvSpPr txBox="1">
              <a:spLocks noChangeArrowheads="1"/>
            </p:cNvSpPr>
            <p:nvPr/>
          </p:nvSpPr>
          <p:spPr bwMode="auto">
            <a:xfrm>
              <a:off x="1776413" y="2038350"/>
              <a:ext cx="312737" cy="276225"/>
            </a:xfrm>
            <a:prstGeom prst="rect">
              <a:avLst/>
            </a:prstGeom>
            <a:noFill/>
            <a:ln w="9525">
              <a:noFill/>
              <a:miter lim="800000"/>
              <a:headEnd/>
              <a:tailEnd/>
            </a:ln>
          </p:spPr>
          <p:txBody>
            <a:bodyPr wrap="none">
              <a:spAutoFit/>
            </a:bodyPr>
            <a:lstStyle/>
            <a:p>
              <a:pPr algn="ctr"/>
              <a:r>
                <a:rPr lang="en-US" altLang="zh-CN" sz="1200">
                  <a:latin typeface="微软雅黑" panose="020B0503020204020204" pitchFamily="34" charset="-122"/>
                  <a:ea typeface="微软雅黑" panose="020B0503020204020204" pitchFamily="34" charset="-122"/>
                </a:rPr>
                <a:t>.1</a:t>
              </a:r>
              <a:endParaRPr lang="zh-CN" altLang="en-US" sz="1200">
                <a:latin typeface="微软雅黑" panose="020B0503020204020204" pitchFamily="34" charset="-122"/>
                <a:ea typeface="微软雅黑" panose="020B0503020204020204" pitchFamily="34" charset="-122"/>
              </a:endParaRPr>
            </a:p>
          </p:txBody>
        </p:sp>
      </p:grpSp>
      <p:pic>
        <p:nvPicPr>
          <p:cNvPr id="36" name="图片 35" descr="PC.png"/>
          <p:cNvPicPr>
            <a:picLocks noChangeAspect="1"/>
          </p:cNvPicPr>
          <p:nvPr/>
        </p:nvPicPr>
        <p:blipFill>
          <a:blip r:embed="rId4" cstate="print"/>
          <a:stretch>
            <a:fillRect/>
          </a:stretch>
        </p:blipFill>
        <p:spPr>
          <a:xfrm>
            <a:off x="2501639" y="1849527"/>
            <a:ext cx="854084" cy="655936"/>
          </a:xfrm>
          <a:prstGeom prst="rect">
            <a:avLst/>
          </a:prstGeom>
        </p:spPr>
      </p:pic>
      <p:pic>
        <p:nvPicPr>
          <p:cNvPr id="37" name="图片 36" descr="PC.png"/>
          <p:cNvPicPr>
            <a:picLocks noChangeAspect="1"/>
          </p:cNvPicPr>
          <p:nvPr/>
        </p:nvPicPr>
        <p:blipFill>
          <a:blip r:embed="rId4" cstate="print"/>
          <a:stretch>
            <a:fillRect/>
          </a:stretch>
        </p:blipFill>
        <p:spPr>
          <a:xfrm>
            <a:off x="2501639" y="3331220"/>
            <a:ext cx="854084" cy="655936"/>
          </a:xfrm>
          <a:prstGeom prst="rect">
            <a:avLst/>
          </a:prstGeom>
        </p:spPr>
      </p:pic>
      <p:pic>
        <p:nvPicPr>
          <p:cNvPr id="38" name="图片 37" descr="接入交换机.png"/>
          <p:cNvPicPr>
            <a:picLocks noChangeAspect="1"/>
          </p:cNvPicPr>
          <p:nvPr/>
        </p:nvPicPr>
        <p:blipFill>
          <a:blip r:embed="rId5" cstate="print"/>
          <a:stretch>
            <a:fillRect/>
          </a:stretch>
        </p:blipFill>
        <p:spPr>
          <a:xfrm>
            <a:off x="4531337" y="2729753"/>
            <a:ext cx="702326" cy="574630"/>
          </a:xfrm>
          <a:prstGeom prst="rect">
            <a:avLst/>
          </a:prstGeom>
        </p:spPr>
      </p:pic>
      <p:pic>
        <p:nvPicPr>
          <p:cNvPr id="39" name="图片 38"/>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5951984" y="2765144"/>
            <a:ext cx="735511" cy="539766"/>
          </a:xfrm>
          <a:prstGeom prst="rect">
            <a:avLst/>
          </a:prstGeom>
        </p:spPr>
      </p:pic>
      <p:pic>
        <p:nvPicPr>
          <p:cNvPr id="40" name="图片 39" descr="internet-蓝.png"/>
          <p:cNvPicPr>
            <a:picLocks noChangeAspect="1"/>
          </p:cNvPicPr>
          <p:nvPr/>
        </p:nvPicPr>
        <p:blipFill>
          <a:blip r:embed="rId7" cstate="print"/>
          <a:stretch>
            <a:fillRect/>
          </a:stretch>
        </p:blipFill>
        <p:spPr>
          <a:xfrm>
            <a:off x="7946613" y="2721192"/>
            <a:ext cx="1453085" cy="737551"/>
          </a:xfrm>
          <a:prstGeom prst="rect">
            <a:avLst/>
          </a:prstGeom>
        </p:spPr>
      </p:pic>
      <p:pic>
        <p:nvPicPr>
          <p:cNvPr id="41" name="图片 40" descr="PC.png"/>
          <p:cNvPicPr>
            <a:picLocks noChangeAspect="1"/>
          </p:cNvPicPr>
          <p:nvPr/>
        </p:nvPicPr>
        <p:blipFill>
          <a:blip r:embed="rId4" cstate="print"/>
          <a:stretch>
            <a:fillRect/>
          </a:stretch>
        </p:blipFill>
        <p:spPr>
          <a:xfrm>
            <a:off x="9304962" y="2733830"/>
            <a:ext cx="866476" cy="665453"/>
          </a:xfrm>
          <a:prstGeom prst="rect">
            <a:avLst/>
          </a:prstGeom>
        </p:spPr>
      </p:pic>
    </p:spTree>
    <p:extLst>
      <p:ext uri="{BB962C8B-B14F-4D97-AF65-F5344CB8AC3E}">
        <p14:creationId xmlns:p14="http://schemas.microsoft.com/office/powerpoint/2010/main" val="17764333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Associated outbound interface parameters are displayed.</a:t>
            </a:r>
          </a:p>
          <a:p>
            <a:r>
              <a:rPr lang="en-US" altLang="zh-CN" dirty="0" smtClean="0"/>
              <a:t>The type field verifies the successful configuration of Easy IP.</a:t>
            </a:r>
          </a:p>
          <a:p>
            <a:endParaRPr lang="zh-CN" altLang="en-US" dirty="0"/>
          </a:p>
        </p:txBody>
      </p:sp>
      <p:sp>
        <p:nvSpPr>
          <p:cNvPr id="3" name="文本占位符 2"/>
          <p:cNvSpPr>
            <a:spLocks noGrp="1"/>
          </p:cNvSpPr>
          <p:nvPr>
            <p:ph type="body" sz="quarter" idx="12"/>
          </p:nvPr>
        </p:nvSpPr>
        <p:spPr/>
        <p:txBody>
          <a:bodyPr/>
          <a:lstStyle/>
          <a:p>
            <a:r>
              <a:rPr lang="en-US" altLang="zh-CN" smtClean="0"/>
              <a:t>Easy IP Configuration Validation</a:t>
            </a:r>
            <a:endParaRPr lang="zh-CN" altLang="en-US" dirty="0"/>
          </a:p>
        </p:txBody>
      </p:sp>
      <p:sp>
        <p:nvSpPr>
          <p:cNvPr id="22" name="Rectangle 4"/>
          <p:cNvSpPr>
            <a:spLocks noChangeArrowheads="1"/>
          </p:cNvSpPr>
          <p:nvPr/>
        </p:nvSpPr>
        <p:spPr bwMode="auto">
          <a:xfrm>
            <a:off x="2279650" y="1773239"/>
            <a:ext cx="7488238" cy="2586037"/>
          </a:xfrm>
          <a:prstGeom prst="rect">
            <a:avLst/>
          </a:prstGeom>
          <a:solidFill>
            <a:schemeClr val="bg1">
              <a:lumMod val="85000"/>
            </a:schemeClr>
          </a:solidFill>
          <a:ln w="9525" algn="ctr">
            <a:noFill/>
            <a:miter lim="800000"/>
            <a:headEnd/>
            <a:tailEnd/>
          </a:ln>
          <a:effectLst/>
        </p:spPr>
        <p:txBody>
          <a:bodyPr lIns="0" tIns="0" rIns="0" bIns="0">
            <a:spAutoFit/>
          </a:bodyPr>
          <a:lstStyle/>
          <a:p>
            <a:pPr defTabSz="784225">
              <a:lnSpc>
                <a:spcPct val="150000"/>
              </a:lnSpc>
              <a:defRPr/>
            </a:pPr>
            <a:r>
              <a:rPr lang="en-US" altLang="zh-CN" sz="1400" dirty="0">
                <a:latin typeface="Courier New" pitchFamily="49" charset="0"/>
                <a:ea typeface="宋体" pitchFamily="2" charset="-122"/>
              </a:rPr>
              <a:t>[RTA] display </a:t>
            </a:r>
            <a:r>
              <a:rPr lang="en-US" altLang="zh-CN" sz="1400" dirty="0" err="1">
                <a:latin typeface="Courier New" pitchFamily="49" charset="0"/>
                <a:ea typeface="宋体" pitchFamily="2" charset="-122"/>
              </a:rPr>
              <a:t>nat</a:t>
            </a:r>
            <a:r>
              <a:rPr lang="en-US" altLang="zh-CN" sz="1400" dirty="0">
                <a:latin typeface="Courier New" pitchFamily="49" charset="0"/>
                <a:ea typeface="宋体" pitchFamily="2" charset="-122"/>
              </a:rPr>
              <a:t> outbound </a:t>
            </a:r>
          </a:p>
          <a:p>
            <a:pPr defTabSz="784225">
              <a:lnSpc>
                <a:spcPct val="150000"/>
              </a:lnSpc>
              <a:defRPr/>
            </a:pPr>
            <a:r>
              <a:rPr lang="en-US" altLang="zh-CN" sz="1400" dirty="0">
                <a:latin typeface="Courier New" pitchFamily="49" charset="0"/>
                <a:ea typeface="宋体" pitchFamily="2" charset="-122"/>
              </a:rPr>
              <a:t> NAT Outbound Information:</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Interface         </a:t>
            </a:r>
            <a:r>
              <a:rPr lang="en-US" altLang="zh-CN" sz="1400" dirty="0" err="1">
                <a:latin typeface="Courier New" pitchFamily="49" charset="0"/>
                <a:ea typeface="宋体" pitchFamily="2" charset="-122"/>
              </a:rPr>
              <a:t>Acl</a:t>
            </a:r>
            <a:r>
              <a:rPr lang="en-US" altLang="zh-CN" sz="1400" dirty="0">
                <a:latin typeface="Courier New" pitchFamily="49" charset="0"/>
                <a:ea typeface="宋体" pitchFamily="2" charset="-122"/>
              </a:rPr>
              <a:t>     Address-group/IP/Interface      Type</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a:t>
            </a:r>
            <a:r>
              <a:rPr lang="en-US" altLang="zh-CN" sz="1400" dirty="0">
                <a:solidFill>
                  <a:srgbClr val="C00000"/>
                </a:solidFill>
                <a:latin typeface="Courier New" pitchFamily="49" charset="0"/>
                <a:ea typeface="宋体" pitchFamily="2" charset="-122"/>
              </a:rPr>
              <a:t>Serial1/0/0       2000      200.10.10.1                  </a:t>
            </a:r>
            <a:r>
              <a:rPr lang="en-US" altLang="zh-CN" sz="1400" dirty="0" err="1">
                <a:solidFill>
                  <a:srgbClr val="C00000"/>
                </a:solidFill>
                <a:latin typeface="Courier New" pitchFamily="49" charset="0"/>
                <a:ea typeface="宋体" pitchFamily="2" charset="-122"/>
              </a:rPr>
              <a:t>easyip</a:t>
            </a:r>
            <a:r>
              <a:rPr lang="en-US" altLang="zh-CN" sz="1400" dirty="0">
                <a:solidFill>
                  <a:srgbClr val="C00000"/>
                </a:solidFill>
                <a:latin typeface="Courier New" pitchFamily="49" charset="0"/>
                <a:ea typeface="宋体" pitchFamily="2" charset="-122"/>
              </a:rPr>
              <a:t> </a:t>
            </a: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Total : 1</a:t>
            </a:r>
          </a:p>
        </p:txBody>
      </p:sp>
    </p:spTree>
    <p:extLst>
      <p:ext uri="{BB962C8B-B14F-4D97-AF65-F5344CB8AC3E}">
        <p14:creationId xmlns:p14="http://schemas.microsoft.com/office/powerpoint/2010/main" val="24030812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2"/>
          </p:nvPr>
        </p:nvSpPr>
        <p:spPr/>
        <p:txBody>
          <a:bodyPr/>
          <a:lstStyle/>
          <a:p>
            <a:r>
              <a:rPr lang="en-US" altLang="zh-CN" smtClean="0"/>
              <a:t>NAT Internal Server Configuration</a:t>
            </a:r>
            <a:endParaRPr lang="zh-CN" altLang="en-US" dirty="0"/>
          </a:p>
        </p:txBody>
      </p:sp>
      <p:sp>
        <p:nvSpPr>
          <p:cNvPr id="22532" name="AutoShape 28"/>
          <p:cNvSpPr>
            <a:spLocks/>
          </p:cNvSpPr>
          <p:nvPr/>
        </p:nvSpPr>
        <p:spPr bwMode="auto">
          <a:xfrm flipH="1">
            <a:off x="2566988" y="4203701"/>
            <a:ext cx="7345362" cy="2030413"/>
          </a:xfrm>
          <a:prstGeom prst="accentBorderCallout3">
            <a:avLst>
              <a:gd name="adj1" fmla="val 14088"/>
              <a:gd name="adj2" fmla="val 101218"/>
              <a:gd name="adj3" fmla="val 14088"/>
              <a:gd name="adj4" fmla="val 103042"/>
              <a:gd name="adj5" fmla="val -7306"/>
              <a:gd name="adj6" fmla="val 102847"/>
              <a:gd name="adj7" fmla="val -40176"/>
              <a:gd name="adj8" fmla="val 55250"/>
            </a:avLst>
          </a:prstGeom>
          <a:solidFill>
            <a:schemeClr val="bg1">
              <a:lumMod val="85000"/>
            </a:schemeClr>
          </a:solidFill>
          <a:ln w="19050" algn="ctr">
            <a:noFill/>
            <a:miter lim="800000"/>
            <a:headEnd/>
            <a:tailEnd type="arrow" w="med" len="med"/>
          </a:ln>
          <a:effectLst/>
        </p:spPr>
        <p:txBody>
          <a:bodyPr anchor="ctr">
            <a:spAutoFit/>
          </a:bodyPr>
          <a:lstStyle/>
          <a:p>
            <a:pPr defTabSz="784225">
              <a:lnSpc>
                <a:spcPct val="150000"/>
              </a:lnSpc>
            </a:pPr>
            <a:r>
              <a:rPr lang="en-US" altLang="zh-CN" sz="1400" dirty="0">
                <a:latin typeface="Courier New" pitchFamily="49" charset="0"/>
                <a:ea typeface="宋体" pitchFamily="2" charset="-122"/>
              </a:rPr>
              <a:t>[RTA]interface GigabitEthernet0/0/1</a:t>
            </a:r>
          </a:p>
          <a:p>
            <a:pPr defTabSz="784225">
              <a:lnSpc>
                <a:spcPct val="150000"/>
              </a:lnSpc>
            </a:pPr>
            <a:r>
              <a:rPr lang="en-US" altLang="zh-CN" sz="1400" dirty="0">
                <a:latin typeface="Courier New" pitchFamily="49" charset="0"/>
                <a:ea typeface="宋体" pitchFamily="2" charset="-122"/>
              </a:rPr>
              <a:t>[RTA-GigabitEthernet0/0/1]</a:t>
            </a:r>
            <a:r>
              <a:rPr lang="en-US" altLang="zh-CN" sz="1400" dirty="0" err="1">
                <a:latin typeface="Courier New" pitchFamily="49" charset="0"/>
                <a:ea typeface="宋体" pitchFamily="2" charset="-122"/>
              </a:rPr>
              <a:t>ip</a:t>
            </a:r>
            <a:r>
              <a:rPr lang="en-US" altLang="zh-CN" sz="1400" dirty="0">
                <a:latin typeface="Courier New" pitchFamily="49" charset="0"/>
                <a:ea typeface="宋体" pitchFamily="2" charset="-122"/>
              </a:rPr>
              <a:t> address 192.168.1.254 24</a:t>
            </a:r>
          </a:p>
          <a:p>
            <a:pPr defTabSz="784225">
              <a:lnSpc>
                <a:spcPct val="150000"/>
              </a:lnSpc>
            </a:pPr>
            <a:r>
              <a:rPr lang="en-US" altLang="zh-CN" sz="1400" dirty="0">
                <a:latin typeface="Courier New" pitchFamily="49" charset="0"/>
                <a:ea typeface="宋体" pitchFamily="2" charset="-122"/>
              </a:rPr>
              <a:t>[RTA]interface Serial1/0/0</a:t>
            </a:r>
          </a:p>
          <a:p>
            <a:pPr defTabSz="784225">
              <a:lnSpc>
                <a:spcPct val="150000"/>
              </a:lnSpc>
            </a:pPr>
            <a:r>
              <a:rPr lang="en-US" altLang="zh-CN" sz="1400" dirty="0">
                <a:latin typeface="Courier New" pitchFamily="49" charset="0"/>
                <a:ea typeface="宋体" pitchFamily="2" charset="-122"/>
              </a:rPr>
              <a:t>[RTA-Serial1/0/0]</a:t>
            </a:r>
            <a:r>
              <a:rPr lang="en-US" altLang="zh-CN" sz="1400" dirty="0" err="1">
                <a:latin typeface="Courier New" pitchFamily="49" charset="0"/>
                <a:ea typeface="宋体" pitchFamily="2" charset="-122"/>
              </a:rPr>
              <a:t>ip</a:t>
            </a:r>
            <a:r>
              <a:rPr lang="en-US" altLang="zh-CN" sz="1400" dirty="0">
                <a:latin typeface="Courier New" pitchFamily="49" charset="0"/>
                <a:ea typeface="宋体" pitchFamily="2" charset="-122"/>
              </a:rPr>
              <a:t> address 200.10.10.1 24</a:t>
            </a:r>
          </a:p>
          <a:p>
            <a:pPr defTabSz="784225">
              <a:lnSpc>
                <a:spcPct val="150000"/>
              </a:lnSpc>
            </a:pPr>
            <a:r>
              <a:rPr lang="en-US" altLang="zh-CN" sz="1400" dirty="0">
                <a:latin typeface="Courier New" pitchFamily="49" charset="0"/>
                <a:ea typeface="宋体" pitchFamily="2" charset="-122"/>
              </a:rPr>
              <a:t>[RTA]</a:t>
            </a:r>
            <a:r>
              <a:rPr lang="pt-BR" altLang="zh-CN" sz="1400" dirty="0">
                <a:solidFill>
                  <a:srgbClr val="C00000"/>
                </a:solidFill>
                <a:latin typeface="Courier New" pitchFamily="49" charset="0"/>
                <a:ea typeface="宋体" pitchFamily="2" charset="-122"/>
              </a:rPr>
              <a:t>nat server protocol tcp global 200.10.10.5 www inside 192.168.1.1 8080</a:t>
            </a:r>
            <a:endParaRPr lang="en-US" altLang="zh-CN" sz="1400" dirty="0">
              <a:solidFill>
                <a:srgbClr val="C00000"/>
              </a:solidFill>
              <a:latin typeface="Courier New" pitchFamily="49" charset="0"/>
              <a:ea typeface="宋体" pitchFamily="2" charset="-122"/>
            </a:endParaRPr>
          </a:p>
        </p:txBody>
      </p:sp>
      <p:grpSp>
        <p:nvGrpSpPr>
          <p:cNvPr id="22533" name="Group 19"/>
          <p:cNvGrpSpPr>
            <a:grpSpLocks/>
          </p:cNvGrpSpPr>
          <p:nvPr/>
        </p:nvGrpSpPr>
        <p:grpSpPr bwMode="auto">
          <a:xfrm>
            <a:off x="3143672" y="1987550"/>
            <a:ext cx="5041478" cy="1405446"/>
            <a:chOff x="1619672" y="1987550"/>
            <a:chExt cx="5041478" cy="1405446"/>
          </a:xfrm>
        </p:grpSpPr>
        <p:sp>
          <p:nvSpPr>
            <p:cNvPr id="22534" name="Line 6"/>
            <p:cNvSpPr>
              <a:spLocks noChangeShapeType="1"/>
            </p:cNvSpPr>
            <p:nvPr/>
          </p:nvSpPr>
          <p:spPr bwMode="auto">
            <a:xfrm flipH="1" flipV="1">
              <a:off x="2266950" y="3062288"/>
              <a:ext cx="2286000" cy="0"/>
            </a:xfrm>
            <a:prstGeom prst="line">
              <a:avLst/>
            </a:prstGeom>
            <a:noFill/>
            <a:ln w="28575">
              <a:solidFill>
                <a:schemeClr val="tx1"/>
              </a:solidFill>
              <a:round/>
              <a:headEnd/>
              <a:tailEnd/>
            </a:ln>
          </p:spPr>
          <p:txBody>
            <a:bodyPr/>
            <a:lstStyle/>
            <a:p>
              <a:endParaRPr lang="en-US">
                <a:latin typeface="微软雅黑" panose="020B0503020204020204" pitchFamily="34" charset="-122"/>
                <a:ea typeface="微软雅黑" panose="020B0503020204020204" pitchFamily="34" charset="-122"/>
              </a:endParaRPr>
            </a:p>
          </p:txBody>
        </p:sp>
        <p:pic>
          <p:nvPicPr>
            <p:cNvPr id="22535" name="Picture 3"/>
            <p:cNvPicPr>
              <a:picLocks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854575" y="2979738"/>
              <a:ext cx="1787525" cy="200025"/>
            </a:xfrm>
            <a:prstGeom prst="rect">
              <a:avLst/>
            </a:prstGeom>
            <a:noFill/>
            <a:ln w="9525">
              <a:noFill/>
              <a:miter lim="800000"/>
              <a:headEnd/>
              <a:tailEnd/>
            </a:ln>
          </p:spPr>
        </p:pic>
        <p:sp>
          <p:nvSpPr>
            <p:cNvPr id="22536" name="Rectangle 14"/>
            <p:cNvSpPr>
              <a:spLocks noChangeArrowheads="1"/>
            </p:cNvSpPr>
            <p:nvPr/>
          </p:nvSpPr>
          <p:spPr bwMode="auto">
            <a:xfrm>
              <a:off x="2916238" y="1997075"/>
              <a:ext cx="1655762" cy="279400"/>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D:192.168.1.1:8080</a:t>
              </a:r>
            </a:p>
          </p:txBody>
        </p:sp>
        <p:sp>
          <p:nvSpPr>
            <p:cNvPr id="22537" name="Rectangle 14"/>
            <p:cNvSpPr>
              <a:spLocks noChangeArrowheads="1"/>
            </p:cNvSpPr>
            <p:nvPr/>
          </p:nvSpPr>
          <p:spPr bwMode="auto">
            <a:xfrm>
              <a:off x="5003800" y="1987550"/>
              <a:ext cx="1657350" cy="288925"/>
            </a:xfrm>
            <a:prstGeom prst="rect">
              <a:avLst/>
            </a:prstGeom>
            <a:noFill/>
            <a:ln w="12700" algn="ctr">
              <a:solidFill>
                <a:schemeClr val="tx2"/>
              </a:solidFill>
              <a:miter lim="800000"/>
              <a:headEnd/>
              <a:tailEnd/>
            </a:ln>
          </p:spPr>
          <p:txBody>
            <a:bodyPr lIns="90000" tIns="46800" rIns="90000" bIns="46800" anchor="ctr">
              <a:spAutoFit/>
            </a:bodyPr>
            <a:lstStyle/>
            <a:p>
              <a:pPr algn="ctr" eaLnBrk="1" hangingPunct="1"/>
              <a:r>
                <a:rPr kumimoji="1" lang="en-US" altLang="zh-CN" sz="1200" dirty="0">
                  <a:latin typeface="微软雅黑" panose="020B0503020204020204" pitchFamily="34" charset="-122"/>
                  <a:ea typeface="微软雅黑" panose="020B0503020204020204" pitchFamily="34" charset="-122"/>
                </a:rPr>
                <a:t>D:200.10.10.5:80</a:t>
              </a:r>
            </a:p>
          </p:txBody>
        </p:sp>
        <p:sp>
          <p:nvSpPr>
            <p:cNvPr id="22538" name="TextBox 94"/>
            <p:cNvSpPr txBox="1">
              <a:spLocks noChangeArrowheads="1"/>
            </p:cNvSpPr>
            <p:nvPr/>
          </p:nvSpPr>
          <p:spPr bwMode="auto">
            <a:xfrm>
              <a:off x="2269206" y="3070225"/>
              <a:ext cx="1258678"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192.168.1.1/24</a:t>
              </a:r>
              <a:endParaRPr lang="zh-CN" altLang="en-US" sz="1200" dirty="0">
                <a:latin typeface="微软雅黑" panose="020B0503020204020204" pitchFamily="34" charset="-122"/>
                <a:ea typeface="微软雅黑" panose="020B0503020204020204" pitchFamily="34" charset="-122"/>
              </a:endParaRPr>
            </a:p>
          </p:txBody>
        </p:sp>
        <p:sp>
          <p:nvSpPr>
            <p:cNvPr id="22542" name="TextBox 94"/>
            <p:cNvSpPr txBox="1">
              <a:spLocks noChangeArrowheads="1"/>
            </p:cNvSpPr>
            <p:nvPr/>
          </p:nvSpPr>
          <p:spPr bwMode="auto">
            <a:xfrm>
              <a:off x="1619672" y="2428875"/>
              <a:ext cx="650434"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Server</a:t>
              </a:r>
              <a:endParaRPr lang="zh-CN" altLang="en-US" sz="1200" dirty="0">
                <a:latin typeface="微软雅黑" panose="020B0503020204020204" pitchFamily="34" charset="-122"/>
                <a:ea typeface="微软雅黑" panose="020B0503020204020204" pitchFamily="34" charset="-122"/>
              </a:endParaRPr>
            </a:p>
          </p:txBody>
        </p:sp>
        <p:sp>
          <p:nvSpPr>
            <p:cNvPr id="22544" name="TextBox 94"/>
            <p:cNvSpPr txBox="1">
              <a:spLocks noChangeArrowheads="1"/>
            </p:cNvSpPr>
            <p:nvPr/>
          </p:nvSpPr>
          <p:spPr bwMode="auto">
            <a:xfrm>
              <a:off x="3815916" y="3115997"/>
              <a:ext cx="699230" cy="276999"/>
            </a:xfrm>
            <a:prstGeom prst="rect">
              <a:avLst/>
            </a:prstGeom>
            <a:noFill/>
            <a:ln w="9525">
              <a:noFill/>
              <a:miter lim="800000"/>
              <a:headEnd/>
              <a:tailEnd/>
            </a:ln>
          </p:spPr>
          <p:txBody>
            <a:bodyPr wrap="none">
              <a:spAutoFit/>
            </a:bodyPr>
            <a:lstStyle/>
            <a:p>
              <a:r>
                <a:rPr lang="en-US" altLang="zh-CN" sz="1200" dirty="0">
                  <a:latin typeface="微软雅黑" panose="020B0503020204020204" pitchFamily="34" charset="-122"/>
                  <a:ea typeface="微软雅黑" panose="020B0503020204020204" pitchFamily="34" charset="-122"/>
                </a:rPr>
                <a:t>G0/0/1</a:t>
              </a:r>
              <a:endParaRPr lang="zh-CN" altLang="en-US" sz="1200" dirty="0">
                <a:latin typeface="微软雅黑" panose="020B0503020204020204" pitchFamily="34" charset="-122"/>
                <a:ea typeface="微软雅黑" panose="020B0503020204020204" pitchFamily="34" charset="-122"/>
              </a:endParaRPr>
            </a:p>
          </p:txBody>
        </p:sp>
        <p:sp>
          <p:nvSpPr>
            <p:cNvPr id="22545" name="TextBox 94"/>
            <p:cNvSpPr txBox="1">
              <a:spLocks noChangeArrowheads="1"/>
            </p:cNvSpPr>
            <p:nvPr/>
          </p:nvSpPr>
          <p:spPr bwMode="auto">
            <a:xfrm>
              <a:off x="5158558" y="3115997"/>
              <a:ext cx="673582" cy="276999"/>
            </a:xfrm>
            <a:prstGeom prst="rect">
              <a:avLst/>
            </a:prstGeom>
            <a:noFill/>
            <a:ln w="9525">
              <a:noFill/>
              <a:miter lim="800000"/>
              <a:headEnd/>
              <a:tailEnd/>
            </a:ln>
          </p:spPr>
          <p:txBody>
            <a:bodyPr wrap="none">
              <a:spAutoFit/>
            </a:bodyPr>
            <a:lstStyle/>
            <a:p>
              <a:r>
                <a:rPr lang="en-US" altLang="zh-CN" sz="1200" dirty="0" smtClean="0">
                  <a:latin typeface="微软雅黑" panose="020B0503020204020204" pitchFamily="34" charset="-122"/>
                  <a:ea typeface="微软雅黑" panose="020B0503020204020204" pitchFamily="34" charset="-122"/>
                </a:rPr>
                <a:t>S1/0/0</a:t>
              </a:r>
              <a:endParaRPr lang="zh-CN" altLang="en-US" sz="1200" dirty="0">
                <a:latin typeface="微软雅黑" panose="020B0503020204020204" pitchFamily="34" charset="-122"/>
                <a:ea typeface="微软雅黑" panose="020B0503020204020204" pitchFamily="34" charset="-122"/>
              </a:endParaRPr>
            </a:p>
          </p:txBody>
        </p:sp>
        <p:cxnSp>
          <p:nvCxnSpPr>
            <p:cNvPr id="22546" name="直接箭头连接符 29"/>
            <p:cNvCxnSpPr>
              <a:cxnSpLocks noChangeShapeType="1"/>
            </p:cNvCxnSpPr>
            <p:nvPr/>
          </p:nvCxnSpPr>
          <p:spPr bwMode="auto">
            <a:xfrm flipH="1">
              <a:off x="4335463" y="2528888"/>
              <a:ext cx="1008062" cy="0"/>
            </a:xfrm>
            <a:prstGeom prst="straightConnector1">
              <a:avLst/>
            </a:prstGeom>
            <a:noFill/>
            <a:ln w="28575" algn="ctr">
              <a:solidFill>
                <a:srgbClr val="C00000"/>
              </a:solidFill>
              <a:round/>
              <a:headEnd/>
              <a:tailEnd type="arrow" w="med" len="med"/>
            </a:ln>
          </p:spPr>
        </p:cxnSp>
        <p:sp>
          <p:nvSpPr>
            <p:cNvPr id="22547" name="TextBox 94"/>
            <p:cNvSpPr txBox="1">
              <a:spLocks noChangeArrowheads="1"/>
            </p:cNvSpPr>
            <p:nvPr/>
          </p:nvSpPr>
          <p:spPr bwMode="auto">
            <a:xfrm>
              <a:off x="4600575" y="2516188"/>
              <a:ext cx="466025"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RTA</a:t>
              </a:r>
              <a:endParaRPr lang="zh-CN" altLang="en-US" sz="1200">
                <a:latin typeface="微软雅黑" panose="020B0503020204020204" pitchFamily="34" charset="-122"/>
                <a:ea typeface="微软雅黑" panose="020B0503020204020204" pitchFamily="34" charset="-122"/>
              </a:endParaRPr>
            </a:p>
          </p:txBody>
        </p:sp>
        <p:sp>
          <p:nvSpPr>
            <p:cNvPr id="22548" name="TextBox 94"/>
            <p:cNvSpPr txBox="1">
              <a:spLocks noChangeArrowheads="1"/>
            </p:cNvSpPr>
            <p:nvPr/>
          </p:nvSpPr>
          <p:spPr bwMode="auto">
            <a:xfrm>
              <a:off x="5115165" y="2727324"/>
              <a:ext cx="1013419" cy="276999"/>
            </a:xfrm>
            <a:prstGeom prst="rect">
              <a:avLst/>
            </a:prstGeom>
            <a:noFill/>
            <a:ln w="9525">
              <a:noFill/>
              <a:miter lim="800000"/>
              <a:headEnd/>
              <a:tailEnd/>
            </a:ln>
          </p:spPr>
          <p:txBody>
            <a:bodyPr wrap="none">
              <a:spAutoFit/>
            </a:bodyPr>
            <a:lstStyle/>
            <a:p>
              <a:r>
                <a:rPr lang="en-US" altLang="zh-CN" sz="1200">
                  <a:latin typeface="微软雅黑" panose="020B0503020204020204" pitchFamily="34" charset="-122"/>
                  <a:ea typeface="微软雅黑" panose="020B0503020204020204" pitchFamily="34" charset="-122"/>
                </a:rPr>
                <a:t>200.10.10.1</a:t>
              </a:r>
              <a:endParaRPr lang="zh-CN" altLang="en-US" sz="1200">
                <a:latin typeface="微软雅黑" panose="020B0503020204020204" pitchFamily="34" charset="-122"/>
                <a:ea typeface="微软雅黑" panose="020B0503020204020204" pitchFamily="34" charset="-122"/>
              </a:endParaRPr>
            </a:p>
          </p:txBody>
        </p:sp>
      </p:grpSp>
      <p:pic>
        <p:nvPicPr>
          <p:cNvPr id="23" name="图片 22" descr="通用服务器-蓝.png"/>
          <p:cNvPicPr>
            <a:picLocks noChangeAspect="1"/>
          </p:cNvPicPr>
          <p:nvPr/>
        </p:nvPicPr>
        <p:blipFill>
          <a:blip r:embed="rId4" cstate="print"/>
          <a:stretch>
            <a:fillRect/>
          </a:stretch>
        </p:blipFill>
        <p:spPr>
          <a:xfrm>
            <a:off x="3108511" y="2779713"/>
            <a:ext cx="761627" cy="623149"/>
          </a:xfrm>
          <a:prstGeom prst="rect">
            <a:avLst/>
          </a:prstGeom>
        </p:spPr>
      </p:pic>
      <p:pic>
        <p:nvPicPr>
          <p:cNvPr id="24" name="图片 23"/>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5962985" y="2806479"/>
            <a:ext cx="735511" cy="539766"/>
          </a:xfrm>
          <a:prstGeom prst="rect">
            <a:avLst/>
          </a:prstGeom>
        </p:spPr>
      </p:pic>
      <p:pic>
        <p:nvPicPr>
          <p:cNvPr id="25" name="图片 24" descr="internet-蓝.png"/>
          <p:cNvPicPr>
            <a:picLocks noChangeAspect="1"/>
          </p:cNvPicPr>
          <p:nvPr/>
        </p:nvPicPr>
        <p:blipFill>
          <a:blip r:embed="rId6" cstate="print"/>
          <a:stretch>
            <a:fillRect/>
          </a:stretch>
        </p:blipFill>
        <p:spPr>
          <a:xfrm>
            <a:off x="8004014" y="2675497"/>
            <a:ext cx="1453085" cy="737551"/>
          </a:xfrm>
          <a:prstGeom prst="rect">
            <a:avLst/>
          </a:prstGeom>
        </p:spPr>
      </p:pic>
      <p:pic>
        <p:nvPicPr>
          <p:cNvPr id="26" name="图片 25" descr="PC.png"/>
          <p:cNvPicPr>
            <a:picLocks noChangeAspect="1"/>
          </p:cNvPicPr>
          <p:nvPr/>
        </p:nvPicPr>
        <p:blipFill>
          <a:blip r:embed="rId7" cstate="print"/>
          <a:stretch>
            <a:fillRect/>
          </a:stretch>
        </p:blipFill>
        <p:spPr>
          <a:xfrm>
            <a:off x="9344350" y="2737498"/>
            <a:ext cx="866476" cy="665453"/>
          </a:xfrm>
          <a:prstGeom prst="rect">
            <a:avLst/>
          </a:prstGeom>
        </p:spPr>
      </p:pic>
    </p:spTree>
    <p:extLst>
      <p:ext uri="{BB962C8B-B14F-4D97-AF65-F5344CB8AC3E}">
        <p14:creationId xmlns:p14="http://schemas.microsoft.com/office/powerpoint/2010/main" val="966339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Successful translation of the IP address and port is achieved.</a:t>
            </a:r>
          </a:p>
          <a:p>
            <a:endParaRPr lang="zh-CN" altLang="en-US" dirty="0"/>
          </a:p>
        </p:txBody>
      </p:sp>
      <p:sp>
        <p:nvSpPr>
          <p:cNvPr id="3" name="文本占位符 2"/>
          <p:cNvSpPr>
            <a:spLocks noGrp="1"/>
          </p:cNvSpPr>
          <p:nvPr>
            <p:ph type="body" sz="quarter" idx="12"/>
          </p:nvPr>
        </p:nvSpPr>
        <p:spPr>
          <a:xfrm>
            <a:off x="1595500" y="410400"/>
            <a:ext cx="10405156" cy="639559"/>
          </a:xfrm>
        </p:spPr>
        <p:txBody>
          <a:bodyPr/>
          <a:lstStyle/>
          <a:p>
            <a:r>
              <a:rPr lang="en-US" altLang="zh-CN" dirty="0" smtClean="0"/>
              <a:t>NAT Internal Server Configuration Validation</a:t>
            </a:r>
            <a:endParaRPr lang="zh-CN" altLang="en-US" dirty="0"/>
          </a:p>
        </p:txBody>
      </p:sp>
      <p:sp>
        <p:nvSpPr>
          <p:cNvPr id="22" name="Rectangle 4"/>
          <p:cNvSpPr>
            <a:spLocks noChangeArrowheads="1"/>
          </p:cNvSpPr>
          <p:nvPr/>
        </p:nvSpPr>
        <p:spPr bwMode="auto">
          <a:xfrm>
            <a:off x="2279650" y="1773238"/>
            <a:ext cx="7488238" cy="3554412"/>
          </a:xfrm>
          <a:prstGeom prst="rect">
            <a:avLst/>
          </a:prstGeom>
          <a:solidFill>
            <a:schemeClr val="bg1">
              <a:lumMod val="85000"/>
            </a:schemeClr>
          </a:solidFill>
          <a:ln w="9525" algn="ctr">
            <a:noFill/>
            <a:miter lim="800000"/>
            <a:headEnd/>
            <a:tailEnd/>
          </a:ln>
          <a:effectLst/>
        </p:spPr>
        <p:txBody>
          <a:bodyPr lIns="0" tIns="0" rIns="0" bIns="0">
            <a:spAutoFit/>
          </a:bodyPr>
          <a:lstStyle/>
          <a:p>
            <a:pPr defTabSz="784225">
              <a:lnSpc>
                <a:spcPct val="150000"/>
              </a:lnSpc>
              <a:defRPr/>
            </a:pPr>
            <a:r>
              <a:rPr lang="en-US" altLang="zh-CN" sz="1400" dirty="0">
                <a:latin typeface="Courier New" pitchFamily="49" charset="0"/>
                <a:ea typeface="宋体" pitchFamily="2" charset="-122"/>
              </a:rPr>
              <a:t>[RTA]display </a:t>
            </a:r>
            <a:r>
              <a:rPr lang="en-US" altLang="zh-CN" sz="1400" dirty="0" err="1">
                <a:latin typeface="Courier New" pitchFamily="49" charset="0"/>
                <a:ea typeface="宋体" pitchFamily="2" charset="-122"/>
              </a:rPr>
              <a:t>nat</a:t>
            </a:r>
            <a:r>
              <a:rPr lang="en-US" altLang="zh-CN" sz="1400" dirty="0">
                <a:latin typeface="Courier New" pitchFamily="49" charset="0"/>
                <a:ea typeface="宋体" pitchFamily="2" charset="-122"/>
              </a:rPr>
              <a:t> server </a:t>
            </a:r>
          </a:p>
          <a:p>
            <a:pPr defTabSz="784225">
              <a:lnSpc>
                <a:spcPct val="150000"/>
              </a:lnSpc>
              <a:defRPr/>
            </a:pPr>
            <a:r>
              <a:rPr lang="en-US" altLang="zh-CN" sz="1400" dirty="0">
                <a:latin typeface="Courier New" pitchFamily="49" charset="0"/>
                <a:ea typeface="宋体" pitchFamily="2" charset="-122"/>
              </a:rPr>
              <a:t>  Nat Server Information:</a:t>
            </a:r>
          </a:p>
          <a:p>
            <a:pPr defTabSz="784225">
              <a:lnSpc>
                <a:spcPct val="150000"/>
              </a:lnSpc>
              <a:defRPr/>
            </a:pPr>
            <a:r>
              <a:rPr lang="en-US" altLang="zh-CN" sz="1400" dirty="0">
                <a:latin typeface="Courier New" pitchFamily="49" charset="0"/>
                <a:ea typeface="宋体" pitchFamily="2" charset="-122"/>
              </a:rPr>
              <a:t>  Interface  : Serial1/0/0</a:t>
            </a:r>
          </a:p>
          <a:p>
            <a:pPr defTabSz="784225">
              <a:lnSpc>
                <a:spcPct val="150000"/>
              </a:lnSpc>
              <a:defRPr/>
            </a:pPr>
            <a:r>
              <a:rPr lang="en-US" altLang="zh-CN" sz="1400" dirty="0">
                <a:latin typeface="Courier New" pitchFamily="49" charset="0"/>
                <a:ea typeface="宋体" pitchFamily="2" charset="-122"/>
              </a:rPr>
              <a:t>    Global IP/Port     : </a:t>
            </a:r>
            <a:r>
              <a:rPr lang="en-US" altLang="zh-CN" sz="1400" dirty="0">
                <a:solidFill>
                  <a:srgbClr val="C00000"/>
                </a:solidFill>
                <a:latin typeface="Courier New" pitchFamily="49" charset="0"/>
                <a:ea typeface="宋体" pitchFamily="2" charset="-122"/>
              </a:rPr>
              <a:t>200.10.10.5/80(www) </a:t>
            </a:r>
          </a:p>
          <a:p>
            <a:pPr defTabSz="784225">
              <a:lnSpc>
                <a:spcPct val="150000"/>
              </a:lnSpc>
              <a:defRPr/>
            </a:pPr>
            <a:r>
              <a:rPr lang="en-US" altLang="zh-CN" sz="1400" dirty="0">
                <a:latin typeface="Courier New" pitchFamily="49" charset="0"/>
                <a:ea typeface="宋体" pitchFamily="2" charset="-122"/>
              </a:rPr>
              <a:t>    Inside IP/Port     : </a:t>
            </a:r>
            <a:r>
              <a:rPr lang="en-US" altLang="zh-CN" sz="1400" dirty="0">
                <a:solidFill>
                  <a:srgbClr val="C00000"/>
                </a:solidFill>
                <a:latin typeface="Courier New" pitchFamily="49" charset="0"/>
                <a:ea typeface="宋体" pitchFamily="2" charset="-122"/>
              </a:rPr>
              <a:t>192.168.1.1/8080</a:t>
            </a:r>
          </a:p>
          <a:p>
            <a:pPr defTabSz="784225">
              <a:lnSpc>
                <a:spcPct val="150000"/>
              </a:lnSpc>
              <a:defRPr/>
            </a:pPr>
            <a:r>
              <a:rPr lang="en-US" altLang="zh-CN" sz="1400" dirty="0">
                <a:latin typeface="Courier New" pitchFamily="49" charset="0"/>
                <a:ea typeface="宋体" pitchFamily="2" charset="-122"/>
              </a:rPr>
              <a:t>    Protocol : 6(</a:t>
            </a:r>
            <a:r>
              <a:rPr lang="en-US" altLang="zh-CN" sz="1400" dirty="0" err="1">
                <a:latin typeface="Courier New" pitchFamily="49" charset="0"/>
                <a:ea typeface="宋体" pitchFamily="2" charset="-122"/>
              </a:rPr>
              <a:t>tcp</a:t>
            </a:r>
            <a:r>
              <a:rPr lang="en-US" altLang="zh-CN" sz="1400" dirty="0">
                <a:latin typeface="Courier New" pitchFamily="49" charset="0"/>
                <a:ea typeface="宋体" pitchFamily="2" charset="-122"/>
              </a:rPr>
              <a:t>)   </a:t>
            </a:r>
          </a:p>
          <a:p>
            <a:pPr defTabSz="784225">
              <a:lnSpc>
                <a:spcPct val="150000"/>
              </a:lnSpc>
              <a:defRPr/>
            </a:pPr>
            <a:r>
              <a:rPr lang="en-US" altLang="zh-CN" sz="1400" dirty="0">
                <a:latin typeface="Courier New" pitchFamily="49" charset="0"/>
                <a:ea typeface="宋体" pitchFamily="2" charset="-122"/>
              </a:rPr>
              <a:t>    VPN instance-name  : ----                            </a:t>
            </a:r>
          </a:p>
          <a:p>
            <a:pPr defTabSz="784225">
              <a:lnSpc>
                <a:spcPct val="150000"/>
              </a:lnSpc>
              <a:defRPr/>
            </a:pPr>
            <a:r>
              <a:rPr lang="en-US" altLang="zh-CN" sz="1400" dirty="0">
                <a:latin typeface="Courier New" pitchFamily="49" charset="0"/>
                <a:ea typeface="宋体" pitchFamily="2" charset="-122"/>
              </a:rPr>
              <a:t>    </a:t>
            </a:r>
            <a:r>
              <a:rPr lang="en-US" altLang="zh-CN" sz="1400" dirty="0" err="1">
                <a:latin typeface="Courier New" pitchFamily="49" charset="0"/>
                <a:ea typeface="宋体" pitchFamily="2" charset="-122"/>
              </a:rPr>
              <a:t>Acl</a:t>
            </a:r>
            <a:r>
              <a:rPr lang="en-US" altLang="zh-CN" sz="1400" dirty="0">
                <a:latin typeface="Courier New" pitchFamily="49" charset="0"/>
                <a:ea typeface="宋体" pitchFamily="2" charset="-122"/>
              </a:rPr>
              <a:t> number         : ----</a:t>
            </a:r>
          </a:p>
          <a:p>
            <a:pPr defTabSz="784225">
              <a:lnSpc>
                <a:spcPct val="150000"/>
              </a:lnSpc>
              <a:defRPr/>
            </a:pPr>
            <a:r>
              <a:rPr lang="en-US" altLang="zh-CN" sz="1400" dirty="0">
                <a:latin typeface="Courier New" pitchFamily="49" charset="0"/>
                <a:ea typeface="宋体" pitchFamily="2" charset="-122"/>
              </a:rPr>
              <a:t>    Description : ----</a:t>
            </a:r>
          </a:p>
          <a:p>
            <a:pPr defTabSz="784225">
              <a:lnSpc>
                <a:spcPct val="150000"/>
              </a:lnSpc>
              <a:defRPr/>
            </a:pPr>
            <a:endParaRPr lang="en-US" altLang="zh-CN" sz="1400" dirty="0">
              <a:latin typeface="Courier New" pitchFamily="49" charset="0"/>
              <a:ea typeface="宋体" pitchFamily="2" charset="-122"/>
            </a:endParaRPr>
          </a:p>
          <a:p>
            <a:pPr defTabSz="784225">
              <a:lnSpc>
                <a:spcPct val="150000"/>
              </a:lnSpc>
              <a:defRPr/>
            </a:pPr>
            <a:r>
              <a:rPr lang="en-US" altLang="zh-CN" sz="1400" dirty="0">
                <a:latin typeface="Courier New" pitchFamily="49" charset="0"/>
                <a:ea typeface="宋体" pitchFamily="2" charset="-122"/>
              </a:rPr>
              <a:t>  Total :    1</a:t>
            </a:r>
          </a:p>
        </p:txBody>
      </p:sp>
    </p:spTree>
    <p:extLst>
      <p:ext uri="{BB962C8B-B14F-4D97-AF65-F5344CB8AC3E}">
        <p14:creationId xmlns:p14="http://schemas.microsoft.com/office/powerpoint/2010/main" val="16505246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type="body" sz="quarter" idx="11"/>
          </p:nvPr>
        </p:nvSpPr>
        <p:spPr/>
        <p:txBody>
          <a:bodyPr/>
          <a:lstStyle/>
          <a:p>
            <a:pPr lvl="1"/>
            <a:r>
              <a:rPr lang="en-US" altLang="zh-CN" smtClean="0"/>
              <a:t>Which form of translation will allow a server in a DMZ to be accessed from both an external and an internal network?</a:t>
            </a:r>
          </a:p>
          <a:p>
            <a:pPr lvl="1"/>
            <a:r>
              <a:rPr lang="en-US" altLang="zh-CN" smtClean="0"/>
              <a:t>What is the function of the PAT feature?</a:t>
            </a:r>
            <a:endParaRPr lang="en-US" altLang="zh-CN" dirty="0"/>
          </a:p>
        </p:txBody>
      </p:sp>
    </p:spTree>
    <p:extLst>
      <p:ext uri="{BB962C8B-B14F-4D97-AF65-F5344CB8AC3E}">
        <p14:creationId xmlns:p14="http://schemas.microsoft.com/office/powerpoint/2010/main" val="140606266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103212"/>
      </p:ext>
    </p:extLst>
  </p:cSld>
  <p:clrMapOvr>
    <a:masterClrMapping/>
  </p:clrMapOvr>
  <p:transition advClick="0" advTm="8000"/>
  <p:timing>
    <p:tnLst>
      <p:par>
        <p:cTn id="1" dur="indefinite" restart="never" nodeType="tmRoot"/>
      </p:par>
    </p:tnLst>
  </p:timing>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34E35A-FA06-4918-B577-BB1C21698854}"/>
</file>

<file path=customXml/itemProps2.xml><?xml version="1.0" encoding="utf-8"?>
<ds:datastoreItem xmlns:ds="http://schemas.openxmlformats.org/officeDocument/2006/customXml" ds:itemID="{EAE3093B-232B-4C15-AB25-7F1FBE134870}"/>
</file>

<file path=customXml/itemProps3.xml><?xml version="1.0" encoding="utf-8"?>
<ds:datastoreItem xmlns:ds="http://schemas.openxmlformats.org/officeDocument/2006/customXml" ds:itemID="{723E6701-3943-4A44-84F3-F772B5088830}"/>
</file>

<file path=docProps/app.xml><?xml version="1.0" encoding="utf-8"?>
<Properties xmlns="http://schemas.openxmlformats.org/officeDocument/2006/extended-properties" xmlns:vt="http://schemas.openxmlformats.org/officeDocument/2006/docPropsVTypes">
  <Template/>
  <TotalTime>69483</TotalTime>
  <Words>3855</Words>
  <Application>Microsoft Office PowerPoint</Application>
  <PresentationFormat>宽屏</PresentationFormat>
  <Paragraphs>390</Paragraphs>
  <Slides>20</Slides>
  <Notes>20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MS PGothic</vt:lpstr>
      <vt:lpstr>黑体</vt:lpstr>
      <vt:lpstr>宋体</vt:lpstr>
      <vt:lpstr>微软雅黑</vt:lpstr>
      <vt:lpstr>Arial</vt:lpstr>
      <vt:lpstr>Courier New</vt:lpstr>
      <vt:lpstr>FrutigerNext LT Bold</vt:lpstr>
      <vt:lpstr>FrutigerNext LT Light</vt:lpstr>
      <vt:lpstr>FrutigerNext LT Medium</vt:lpstr>
      <vt:lpstr>FrutigerNext LT Regular</vt:lpstr>
      <vt:lpstr>Wingdings</vt:lpstr>
      <vt:lpstr>培训与认证部-母版</vt:lpstr>
      <vt:lpstr>Network Address Translation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姜静</cp:lastModifiedBy>
  <cp:revision>2440</cp:revision>
  <dcterms:created xsi:type="dcterms:W3CDTF">2003-08-21T06:48:56Z</dcterms:created>
  <dcterms:modified xsi:type="dcterms:W3CDTF">2019-03-25T02:54:02Z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(3)KnYPZ1raf8F0bdVwhB0/EFBV7jiAOw/iJ710nCzVCEYI9igSxgCSiZ6XB+OqAipwsqyVwEuN
Bb7l7uMnsQcaN85FVk7udl+VC8CTQsxwbq88MSCx5uuE1CnOjacNcJkXx+D+I0Ntifgw4XDP
/oiQv6vEPkxH+WkYJIWiQACf2tSp7Qdxpe+5WUKdVwGJw/jV+VjPl70lZlGs/s0eD0ZekeR/
YUuMoZz7XckKYLuVV0</vt:lpwstr>
  </property>
  <property fmtid="{D5CDD505-2E9C-101B-9397-08002B2CF9AE}" pid="18" name="_2015_ms_pID_7253431">
    <vt:lpwstr>LEhPJJs5XLFJzc71OqPu9nuuK1BOY4vST35IBwVBqh01odDwPRSlEY
Ig4VcRtMZ2G4He97SOAlmNoMMO7Qp+4uNJKWBKlVBypk3faJiY6/w3I6yFayL/+/epXDRg0u
7CbHAq+Sih3eP0iyrkagGQ3DQI+Xvg9SDAlbNMkPogBGh+++Y3VgJHuE3EUEn4QH3K6ScX/9
1G9xGf2gqI0CH3I/hYJGqGuM6m4Dh3hWqa5Y</vt:lpwstr>
  </property>
  <property fmtid="{D5CDD505-2E9C-101B-9397-08002B2CF9AE}" pid="19" name="_2015_ms_pID_7253432">
    <vt:lpwstr>Uf/ZlULD4Xl3omDkHY8EwOwJxYXukN36K1Se
IucHs42fp/pwzjmF/5oe6K+im+ZnaD0RmATxWu81DHZvYs+/5Rs=</vt:lpwstr>
  </property>
  <property fmtid="{D5CDD505-2E9C-101B-9397-08002B2CF9AE}" pid="20" name="ContentTypeId">
    <vt:lpwstr>0x01010002C5B4B712841F4C8A7AAEE2CD191271</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1553473499</vt:lpwstr>
  </property>
</Properties>
</file>