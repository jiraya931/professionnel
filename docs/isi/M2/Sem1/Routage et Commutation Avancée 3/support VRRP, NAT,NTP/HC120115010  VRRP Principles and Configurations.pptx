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Lst>
  <p:notesMasterIdLst>
    <p:notesMasterId r:id="rId26"/>
  </p:notesMasterIdLst>
  <p:handoutMasterIdLst>
    <p:handoutMasterId r:id="rId27"/>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2" orient="horz" pos="482" userDrawn="1">
          <p15:clr>
            <a:srgbClr val="A4A3A4"/>
          </p15:clr>
        </p15:guide>
        <p15:guide id="3" orient="horz" pos="2908"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C00000"/>
    <a:srgbClr val="990000"/>
    <a:srgbClr val="FF0909"/>
    <a:srgbClr val="CF6B63"/>
    <a:srgbClr val="E7CCC7"/>
    <a:srgbClr val="FFC1C1"/>
    <a:srgbClr val="EE0000"/>
    <a:srgbClr val="5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46" autoAdjust="0"/>
    <p:restoredTop sz="94333" autoAdjust="0"/>
  </p:normalViewPr>
  <p:slideViewPr>
    <p:cSldViewPr showGuides="1">
      <p:cViewPr varScale="1">
        <p:scale>
          <a:sx n="74" d="100"/>
          <a:sy n="74" d="100"/>
        </p:scale>
        <p:origin x="444" y="72"/>
      </p:cViewPr>
      <p:guideLst/>
    </p:cSldViewPr>
  </p:slideViewPr>
  <p:notesTextViewPr>
    <p:cViewPr>
      <p:scale>
        <a:sx n="3" d="2"/>
        <a:sy n="3" d="2"/>
      </p:scale>
      <p:origin x="0" y="0"/>
    </p:cViewPr>
  </p:notesTextViewPr>
  <p:sorterViewPr>
    <p:cViewPr>
      <p:scale>
        <a:sx n="66" d="100"/>
        <a:sy n="66" d="100"/>
      </p:scale>
      <p:origin x="0" y="3576"/>
    </p:cViewPr>
  </p:sorterViewPr>
  <p:notesViewPr>
    <p:cSldViewPr showGuides="1">
      <p:cViewPr varScale="1">
        <p:scale>
          <a:sx n="51" d="100"/>
          <a:sy n="51" d="100"/>
        </p:scale>
        <p:origin x="2928" y="78"/>
      </p:cViewPr>
      <p:guideLst>
        <p:guide orient="horz" pos="482"/>
        <p:guide orient="horz" pos="2908"/>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t>请将此处改为本章标题</a:t>
            </a:r>
            <a:endParaRPr lang="en-US" altLang="zh-CN"/>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smtClean="0"/>
              <a:t>Click here to add content</a:t>
            </a:r>
            <a:endParaRPr lang="en-US" altLang="zh-CN" noProof="0" dirty="0"/>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42875" y="760413"/>
            <a:ext cx="6818313" cy="3836987"/>
          </a:xfrm>
          <a:ln/>
        </p:spPr>
      </p:sp>
      <p:sp>
        <p:nvSpPr>
          <p:cNvPr id="2" name="备注占位符 1"/>
          <p:cNvSpPr>
            <a:spLocks noGrp="1"/>
          </p:cNvSpPr>
          <p:nvPr>
            <p:ph type="body" idx="1"/>
          </p:nvPr>
        </p:nvSpPr>
        <p:spPr/>
        <p:txBody>
          <a:bodyPr/>
          <a:lstStyle/>
          <a:p>
            <a:endParaRPr lang="zh-CN" altLang="en-US" dirty="0">
              <a:latin typeface="FrutigerNext LT Regular"/>
            </a:endParaRPr>
          </a:p>
        </p:txBody>
      </p:sp>
    </p:spTree>
    <p:extLst>
      <p:ext uri="{BB962C8B-B14F-4D97-AF65-F5344CB8AC3E}">
        <p14:creationId xmlns:p14="http://schemas.microsoft.com/office/powerpoint/2010/main" val="849995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normAutofit/>
          </a:bodyPr>
          <a:lstStyle/>
          <a:p>
            <a:endParaRPr lang="zh-CN" altLang="en-US">
              <a:latin typeface="FrutigerNext LT Regular"/>
            </a:endParaRPr>
          </a:p>
        </p:txBody>
      </p:sp>
    </p:spTree>
    <p:extLst>
      <p:ext uri="{BB962C8B-B14F-4D97-AF65-F5344CB8AC3E}">
        <p14:creationId xmlns:p14="http://schemas.microsoft.com/office/powerpoint/2010/main" val="2014768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normAutofit/>
          </a:bodyPr>
          <a:lstStyle/>
          <a:p>
            <a:endParaRPr lang="zh-CN" altLang="en-US">
              <a:latin typeface="FrutigerNext LT Regular"/>
            </a:endParaRPr>
          </a:p>
        </p:txBody>
      </p:sp>
    </p:spTree>
    <p:extLst>
      <p:ext uri="{BB962C8B-B14F-4D97-AF65-F5344CB8AC3E}">
        <p14:creationId xmlns:p14="http://schemas.microsoft.com/office/powerpoint/2010/main" val="5410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dirty="0">
              <a:latin typeface="FrutigerNext LT Regular"/>
            </a:endParaRPr>
          </a:p>
        </p:txBody>
      </p:sp>
    </p:spTree>
    <p:extLst>
      <p:ext uri="{BB962C8B-B14F-4D97-AF65-F5344CB8AC3E}">
        <p14:creationId xmlns:p14="http://schemas.microsoft.com/office/powerpoint/2010/main" val="389990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FrutigerNext LT Regular"/>
            </a:endParaRPr>
          </a:p>
        </p:txBody>
      </p:sp>
    </p:spTree>
    <p:extLst>
      <p:ext uri="{BB962C8B-B14F-4D97-AF65-F5344CB8AC3E}">
        <p14:creationId xmlns:p14="http://schemas.microsoft.com/office/powerpoint/2010/main" val="962269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000" marR="0" lvl="1" indent="-180000" algn="l" defTabSz="914400" rtl="0" eaLnBrk="0" fontAlgn="base" latinLnBrk="0" hangingPunct="1">
              <a:lnSpc>
                <a:spcPct val="125000"/>
              </a:lnSpc>
              <a:spcBef>
                <a:spcPct val="0"/>
              </a:spcBef>
              <a:spcAft>
                <a:spcPts val="600"/>
              </a:spcAft>
              <a:buClrTx/>
              <a:buSzPct val="60000"/>
              <a:buFont typeface="Wingdings" pitchFamily="2" charset="2"/>
              <a:buChar char="l"/>
              <a:tabLst/>
              <a:defRPr/>
            </a:pPr>
            <a:endParaRPr lang="en-US" altLang="zh-CN" dirty="0" smtClean="0">
              <a:latin typeface="FrutigerNext LT Regular"/>
            </a:endParaRPr>
          </a:p>
        </p:txBody>
      </p:sp>
    </p:spTree>
    <p:extLst>
      <p:ext uri="{BB962C8B-B14F-4D97-AF65-F5344CB8AC3E}">
        <p14:creationId xmlns:p14="http://schemas.microsoft.com/office/powerpoint/2010/main" val="3204203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975" marR="0" lvl="1" indent="-180975" algn="l" defTabSz="914400" rtl="0" eaLnBrk="0" fontAlgn="base" latinLnBrk="0" hangingPunct="1">
              <a:lnSpc>
                <a:spcPct val="125000"/>
              </a:lnSpc>
              <a:spcBef>
                <a:spcPct val="0"/>
              </a:spcBef>
              <a:spcAft>
                <a:spcPts val="600"/>
              </a:spcAft>
              <a:buClrTx/>
              <a:buSzPct val="60000"/>
              <a:buFont typeface="Wingdings" pitchFamily="2" charset="2"/>
              <a:buChar char="l"/>
              <a:tabLst/>
              <a:defRPr/>
            </a:pPr>
            <a:endParaRPr lang="en-US" altLang="zh-CN" dirty="0" smtClean="0">
              <a:latin typeface="FrutigerNext LT Regular"/>
            </a:endParaRPr>
          </a:p>
        </p:txBody>
      </p:sp>
    </p:spTree>
    <p:extLst>
      <p:ext uri="{BB962C8B-B14F-4D97-AF65-F5344CB8AC3E}">
        <p14:creationId xmlns:p14="http://schemas.microsoft.com/office/powerpoint/2010/main" val="1855848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a:lnSpc>
                <a:spcPct val="100000"/>
              </a:lnSpc>
            </a:pPr>
            <a:r>
              <a:rPr lang="en-US" altLang="zh-CN" sz="1000" dirty="0" smtClean="0">
                <a:effectLst/>
                <a:latin typeface="+mn-ea"/>
                <a:ea typeface="+mn-ea"/>
              </a:rPr>
              <a:t>Basic concepts of VRRP:</a:t>
            </a:r>
          </a:p>
          <a:p>
            <a:pPr lvl="1">
              <a:lnSpc>
                <a:spcPct val="100000"/>
              </a:lnSpc>
            </a:pPr>
            <a:r>
              <a:rPr lang="en-US" altLang="zh-CN" sz="1000" dirty="0" smtClean="0">
                <a:effectLst/>
                <a:latin typeface="+mn-ea"/>
                <a:ea typeface="+mn-ea"/>
              </a:rPr>
              <a:t>VRRP router: device running VRRP. For example, </a:t>
            </a:r>
            <a:r>
              <a:rPr lang="en-US" altLang="zh-CN" sz="1000" dirty="0" err="1" smtClean="0">
                <a:effectLst/>
                <a:latin typeface="+mn-ea"/>
                <a:ea typeface="+mn-ea"/>
              </a:rPr>
              <a:t>RouterA</a:t>
            </a:r>
            <a:r>
              <a:rPr lang="en-US" altLang="zh-CN" sz="1000" dirty="0" smtClean="0">
                <a:effectLst/>
                <a:latin typeface="+mn-ea"/>
                <a:ea typeface="+mn-ea"/>
              </a:rPr>
              <a:t> and </a:t>
            </a:r>
            <a:r>
              <a:rPr lang="en-US" altLang="zh-CN" sz="1000" dirty="0" err="1" smtClean="0">
                <a:effectLst/>
                <a:latin typeface="+mn-ea"/>
                <a:ea typeface="+mn-ea"/>
              </a:rPr>
              <a:t>RouterB</a:t>
            </a:r>
            <a:r>
              <a:rPr lang="en-US" altLang="zh-CN" sz="1000" dirty="0" smtClean="0">
                <a:effectLst/>
                <a:latin typeface="+mn-ea"/>
                <a:ea typeface="+mn-ea"/>
              </a:rPr>
              <a:t> are VRRP routers.</a:t>
            </a:r>
            <a:endParaRPr lang="zh-CN" altLang="en-US" sz="1000" dirty="0" smtClean="0">
              <a:effectLst/>
              <a:latin typeface="+mn-ea"/>
              <a:ea typeface="+mn-ea"/>
            </a:endParaRPr>
          </a:p>
          <a:p>
            <a:pPr lvl="1">
              <a:lnSpc>
                <a:spcPct val="100000"/>
              </a:lnSpc>
            </a:pPr>
            <a:r>
              <a:rPr lang="en-US" altLang="zh-CN" sz="1000" dirty="0" smtClean="0">
                <a:effectLst/>
                <a:latin typeface="+mn-ea"/>
                <a:ea typeface="+mn-ea"/>
              </a:rPr>
              <a:t>Virtual router: VRRP group consisting of one master and multiple backups. The VRRP group's virtual IP address is used as the default gateway address on a LAN. For example, </a:t>
            </a:r>
            <a:r>
              <a:rPr lang="en-US" altLang="zh-CN" sz="1000" dirty="0" err="1" smtClean="0">
                <a:effectLst/>
                <a:latin typeface="+mn-ea"/>
                <a:ea typeface="+mn-ea"/>
              </a:rPr>
              <a:t>RouterA</a:t>
            </a:r>
            <a:r>
              <a:rPr lang="en-US" altLang="zh-CN" sz="1000" dirty="0" smtClean="0">
                <a:effectLst/>
                <a:latin typeface="+mn-ea"/>
                <a:ea typeface="+mn-ea"/>
              </a:rPr>
              <a:t> and </a:t>
            </a:r>
            <a:r>
              <a:rPr lang="en-US" altLang="zh-CN" sz="1000" dirty="0" err="1" smtClean="0">
                <a:effectLst/>
                <a:latin typeface="+mn-ea"/>
                <a:ea typeface="+mn-ea"/>
              </a:rPr>
              <a:t>RouterB</a:t>
            </a:r>
            <a:r>
              <a:rPr lang="en-US" altLang="zh-CN" sz="1000" dirty="0" smtClean="0">
                <a:effectLst/>
                <a:latin typeface="+mn-ea"/>
                <a:ea typeface="+mn-ea"/>
              </a:rPr>
              <a:t> form a virtual router.</a:t>
            </a:r>
            <a:endParaRPr lang="zh-CN" altLang="en-US" sz="1000" dirty="0" smtClean="0">
              <a:effectLst/>
              <a:latin typeface="+mn-ea"/>
              <a:ea typeface="+mn-ea"/>
            </a:endParaRPr>
          </a:p>
          <a:p>
            <a:pPr lvl="1">
              <a:lnSpc>
                <a:spcPct val="100000"/>
              </a:lnSpc>
            </a:pPr>
            <a:r>
              <a:rPr lang="en-US" altLang="zh-CN" sz="1000" dirty="0" smtClean="0">
                <a:effectLst/>
                <a:latin typeface="+mn-ea"/>
                <a:ea typeface="+mn-ea"/>
              </a:rPr>
              <a:t>Virtual router master: VRRP device that forwards packets. </a:t>
            </a:r>
            <a:r>
              <a:rPr lang="en-US" altLang="zh-CN" sz="1000" dirty="0" err="1" smtClean="0">
                <a:effectLst/>
                <a:latin typeface="+mn-ea"/>
                <a:ea typeface="+mn-ea"/>
              </a:rPr>
              <a:t>RouterA</a:t>
            </a:r>
            <a:r>
              <a:rPr lang="en-US" altLang="zh-CN" sz="1000" dirty="0" smtClean="0">
                <a:effectLst/>
                <a:latin typeface="+mn-ea"/>
                <a:ea typeface="+mn-ea"/>
              </a:rPr>
              <a:t> is the virtual router master.</a:t>
            </a:r>
          </a:p>
          <a:p>
            <a:pPr lvl="1">
              <a:lnSpc>
                <a:spcPct val="100000"/>
              </a:lnSpc>
            </a:pPr>
            <a:r>
              <a:rPr lang="en-US" altLang="zh-CN" sz="1000" dirty="0" smtClean="0">
                <a:effectLst/>
                <a:latin typeface="+mn-ea"/>
                <a:ea typeface="+mn-ea"/>
              </a:rPr>
              <a:t>Virtual router backup: a group of VRRP devices that do not forward packets. When the master is faulty, a backup with the highest priority becomes the master. </a:t>
            </a:r>
            <a:r>
              <a:rPr lang="en-US" altLang="zh-CN" sz="1000" dirty="0" err="1" smtClean="0">
                <a:effectLst/>
                <a:latin typeface="+mn-ea"/>
                <a:ea typeface="+mn-ea"/>
              </a:rPr>
              <a:t>RouterB</a:t>
            </a:r>
            <a:r>
              <a:rPr lang="en-US" altLang="zh-CN" sz="1000" dirty="0" smtClean="0">
                <a:effectLst/>
                <a:latin typeface="+mn-ea"/>
                <a:ea typeface="+mn-ea"/>
              </a:rPr>
              <a:t> is the virtual router backup.</a:t>
            </a:r>
          </a:p>
          <a:p>
            <a:pPr lvl="1">
              <a:lnSpc>
                <a:spcPct val="100000"/>
              </a:lnSpc>
            </a:pPr>
            <a:r>
              <a:rPr lang="en-US" altLang="zh-CN" sz="1000" dirty="0" smtClean="0">
                <a:effectLst/>
                <a:latin typeface="+mn-ea"/>
                <a:ea typeface="+mn-ea"/>
              </a:rPr>
              <a:t>Priority: priority of a device in a VRRP group. The value ranges from 0 to 255.The value 0 indicates that a device does not join a VRRP group and is used to enable the backup to immediately become the master without waiting for the timeout. The value 255 is reserved for the IP address owner and cannot be manually configured. The default value is 100.</a:t>
            </a:r>
            <a:endParaRPr lang="zh-CN" altLang="en-US" sz="1000" dirty="0" smtClean="0">
              <a:effectLst/>
              <a:latin typeface="+mn-ea"/>
              <a:ea typeface="+mn-ea"/>
            </a:endParaRPr>
          </a:p>
          <a:p>
            <a:pPr marL="541338" marR="0" lvl="1" indent="-180975" algn="l" defTabSz="914400" rtl="0" eaLnBrk="0" fontAlgn="base" latinLnBrk="0" hangingPunct="1">
              <a:lnSpc>
                <a:spcPct val="100000"/>
              </a:lnSpc>
              <a:spcBef>
                <a:spcPct val="0"/>
              </a:spcBef>
              <a:spcAft>
                <a:spcPts val="600"/>
              </a:spcAft>
              <a:buClrTx/>
              <a:buSzPct val="50000"/>
              <a:buFont typeface="Wingdings" pitchFamily="2" charset="2"/>
              <a:buChar char="p"/>
              <a:tabLst/>
              <a:defRPr/>
            </a:pPr>
            <a:r>
              <a:rPr lang="en-US" altLang="zh-CN" sz="1000" dirty="0" smtClean="0">
                <a:effectLst/>
                <a:latin typeface="+mn-ea"/>
                <a:ea typeface="+mn-ea"/>
              </a:rPr>
              <a:t>VRID: virtual router ID. The VRID of the virtual router composed of </a:t>
            </a:r>
            <a:r>
              <a:rPr lang="en-US" altLang="zh-CN" sz="1000" dirty="0" err="1" smtClean="0">
                <a:effectLst/>
                <a:latin typeface="+mn-ea"/>
                <a:ea typeface="+mn-ea"/>
              </a:rPr>
              <a:t>RouterA</a:t>
            </a:r>
            <a:r>
              <a:rPr lang="en-US" altLang="zh-CN" sz="1000" dirty="0" smtClean="0">
                <a:effectLst/>
                <a:latin typeface="+mn-ea"/>
                <a:ea typeface="+mn-ea"/>
              </a:rPr>
              <a:t> and </a:t>
            </a:r>
            <a:r>
              <a:rPr lang="en-US" altLang="zh-CN" sz="1000" dirty="0" err="1" smtClean="0">
                <a:effectLst/>
                <a:latin typeface="+mn-ea"/>
                <a:ea typeface="+mn-ea"/>
              </a:rPr>
              <a:t>RouterB</a:t>
            </a:r>
            <a:r>
              <a:rPr lang="en-US" altLang="zh-CN" sz="1000" dirty="0" smtClean="0">
                <a:effectLst/>
                <a:latin typeface="+mn-ea"/>
                <a:ea typeface="+mn-ea"/>
              </a:rPr>
              <a:t> is 1. The value is manually configured and ranges from 1 to 255.</a:t>
            </a:r>
          </a:p>
          <a:p>
            <a:pPr marL="541338" marR="0" lvl="1" indent="-180975" algn="l" defTabSz="914400" rtl="0" eaLnBrk="0" fontAlgn="base" latinLnBrk="0" hangingPunct="1">
              <a:lnSpc>
                <a:spcPct val="100000"/>
              </a:lnSpc>
              <a:spcBef>
                <a:spcPct val="0"/>
              </a:spcBef>
              <a:spcAft>
                <a:spcPts val="600"/>
              </a:spcAft>
              <a:buClrTx/>
              <a:buSzPct val="50000"/>
              <a:buFont typeface="Wingdings" pitchFamily="2" charset="2"/>
              <a:buChar char="p"/>
              <a:tabLst/>
              <a:defRPr/>
            </a:pPr>
            <a:r>
              <a:rPr lang="en-US" altLang="zh-CN" sz="1000" dirty="0" smtClean="0">
                <a:effectLst/>
                <a:latin typeface="+mn-ea"/>
                <a:ea typeface="+mn-ea"/>
              </a:rPr>
              <a:t>Virtual IP address: IP address of a virtual router. A virtual router can be assigned one or more virtual IP addresses. Virtual IP addresses are configurable. The virtual IP address of the virtual router composed of </a:t>
            </a:r>
            <a:r>
              <a:rPr lang="en-US" altLang="zh-CN" sz="1000" dirty="0" err="1" smtClean="0">
                <a:effectLst/>
                <a:latin typeface="+mn-ea"/>
                <a:ea typeface="+mn-ea"/>
              </a:rPr>
              <a:t>RouterA</a:t>
            </a:r>
            <a:r>
              <a:rPr lang="en-US" altLang="zh-CN" sz="1000" dirty="0" smtClean="0">
                <a:effectLst/>
                <a:latin typeface="+mn-ea"/>
                <a:ea typeface="+mn-ea"/>
              </a:rPr>
              <a:t> and </a:t>
            </a:r>
            <a:r>
              <a:rPr lang="en-US" altLang="zh-CN" sz="1000" dirty="0" err="1" smtClean="0">
                <a:effectLst/>
                <a:latin typeface="+mn-ea"/>
                <a:ea typeface="+mn-ea"/>
              </a:rPr>
              <a:t>RouterB</a:t>
            </a:r>
            <a:r>
              <a:rPr lang="en-US" altLang="zh-CN" sz="1000" dirty="0" smtClean="0">
                <a:effectLst/>
                <a:latin typeface="+mn-ea"/>
                <a:ea typeface="+mn-ea"/>
              </a:rPr>
              <a:t> is 10.1.1.254/24.</a:t>
            </a:r>
            <a:endParaRPr lang="zh-CN" altLang="en-US" sz="1000" dirty="0" smtClean="0">
              <a:effectLst/>
              <a:latin typeface="+mn-ea"/>
              <a:ea typeface="+mn-ea"/>
            </a:endParaRPr>
          </a:p>
          <a:p>
            <a:pPr lvl="1">
              <a:lnSpc>
                <a:spcPct val="100000"/>
              </a:lnSpc>
            </a:pPr>
            <a:r>
              <a:rPr lang="en-US" altLang="zh-CN" sz="1000" dirty="0" smtClean="0">
                <a:effectLst/>
                <a:latin typeface="+mn-ea"/>
                <a:ea typeface="+mn-ea"/>
              </a:rPr>
              <a:t>IP address owner: VRRP device that uses an IP address of a virtual router as the actual interface address. If an IP address owner is available, it always functions as the virtual router master.</a:t>
            </a:r>
          </a:p>
          <a:p>
            <a:pPr lvl="1">
              <a:lnSpc>
                <a:spcPct val="100000"/>
              </a:lnSpc>
            </a:pPr>
            <a:r>
              <a:rPr lang="en-US" altLang="zh-CN" sz="1000" dirty="0" smtClean="0">
                <a:effectLst/>
                <a:latin typeface="+mn-ea"/>
                <a:ea typeface="+mn-ea"/>
              </a:rPr>
              <a:t>Virtual MAC address: MAC address that is generated by the virtual router based on the VRID. A virtual router has one virtual MAC address and is in the format of 00-00-5E-00-01-{</a:t>
            </a:r>
            <a:r>
              <a:rPr lang="en-US" altLang="zh-CN" sz="1000" dirty="0" err="1" smtClean="0">
                <a:effectLst/>
                <a:latin typeface="+mn-ea"/>
                <a:ea typeface="+mn-ea"/>
              </a:rPr>
              <a:t>vrid</a:t>
            </a:r>
            <a:r>
              <a:rPr lang="en-US" altLang="zh-CN" sz="1000" dirty="0" smtClean="0">
                <a:effectLst/>
                <a:latin typeface="+mn-ea"/>
                <a:ea typeface="+mn-ea"/>
              </a:rPr>
              <a:t>}.The virtual router sends ARP Reply packets carrying the virtual MAC address but not the interface MAC address. The VRID of the virtual router composed of </a:t>
            </a:r>
            <a:r>
              <a:rPr lang="en-US" altLang="zh-CN" sz="1000" dirty="0" err="1" smtClean="0">
                <a:effectLst/>
                <a:latin typeface="+mn-ea"/>
                <a:ea typeface="+mn-ea"/>
              </a:rPr>
              <a:t>RouterA</a:t>
            </a:r>
            <a:r>
              <a:rPr lang="en-US" altLang="zh-CN" sz="1000" dirty="0" smtClean="0">
                <a:effectLst/>
                <a:latin typeface="+mn-ea"/>
                <a:ea typeface="+mn-ea"/>
              </a:rPr>
              <a:t> and </a:t>
            </a:r>
            <a:r>
              <a:rPr lang="en-US" altLang="zh-CN" sz="1000" dirty="0" err="1" smtClean="0">
                <a:effectLst/>
                <a:latin typeface="+mn-ea"/>
                <a:ea typeface="+mn-ea"/>
              </a:rPr>
              <a:t>RouterB</a:t>
            </a:r>
            <a:r>
              <a:rPr lang="en-US" altLang="zh-CN" sz="1000" dirty="0" smtClean="0">
                <a:effectLst/>
                <a:latin typeface="+mn-ea"/>
                <a:ea typeface="+mn-ea"/>
              </a:rPr>
              <a:t> is 1, so the MAC address of the VRRP group is 00-00-5E-00-01-01.</a:t>
            </a:r>
          </a:p>
        </p:txBody>
      </p:sp>
    </p:spTree>
    <p:extLst>
      <p:ext uri="{BB962C8B-B14F-4D97-AF65-F5344CB8AC3E}">
        <p14:creationId xmlns:p14="http://schemas.microsoft.com/office/powerpoint/2010/main" val="611867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en-US" altLang="zh-CN" dirty="0" smtClean="0">
                <a:latin typeface="+mn-ea"/>
                <a:ea typeface="+mn-ea"/>
              </a:rPr>
              <a:t>VRRP defines three statuses: Initialize, Master, and Backup.</a:t>
            </a:r>
          </a:p>
          <a:p>
            <a:r>
              <a:rPr lang="en-US" altLang="zh-CN" dirty="0" smtClean="0">
                <a:latin typeface="+mn-ea"/>
                <a:ea typeface="+mn-ea"/>
              </a:rPr>
              <a:t>The conditions for state transition are as follows:</a:t>
            </a:r>
          </a:p>
          <a:p>
            <a:pPr lvl="1"/>
            <a:r>
              <a:rPr lang="en-US" altLang="zh-CN" dirty="0" smtClean="0">
                <a:latin typeface="+mn-ea"/>
                <a:ea typeface="+mn-ea"/>
              </a:rPr>
              <a:t>Initialize-&gt;Master</a:t>
            </a:r>
            <a:r>
              <a:rPr lang="en-US" altLang="zh-CN" baseline="0" dirty="0" smtClean="0">
                <a:latin typeface="+mn-ea"/>
                <a:ea typeface="+mn-ea"/>
              </a:rPr>
              <a:t>: </a:t>
            </a:r>
            <a:r>
              <a:rPr lang="en-US" altLang="zh-CN" dirty="0" smtClean="0">
                <a:latin typeface="+mn-ea"/>
                <a:ea typeface="+mn-ea"/>
              </a:rPr>
              <a:t>Startup</a:t>
            </a:r>
            <a:r>
              <a:rPr lang="en-US" altLang="zh-CN" baseline="0" dirty="0" smtClean="0">
                <a:latin typeface="+mn-ea"/>
                <a:ea typeface="+mn-ea"/>
              </a:rPr>
              <a:t> priority=255</a:t>
            </a:r>
          </a:p>
          <a:p>
            <a:pPr lvl="1"/>
            <a:r>
              <a:rPr lang="en-US" altLang="zh-CN" baseline="0" dirty="0" smtClean="0">
                <a:latin typeface="+mn-ea"/>
                <a:ea typeface="+mn-ea"/>
              </a:rPr>
              <a:t>Initialize-&gt;Backup: </a:t>
            </a:r>
            <a:r>
              <a:rPr lang="en-US" altLang="zh-CN" dirty="0" smtClean="0">
                <a:latin typeface="+mn-ea"/>
                <a:ea typeface="+mn-ea"/>
              </a:rPr>
              <a:t>Startup</a:t>
            </a:r>
            <a:r>
              <a:rPr lang="en-US" altLang="zh-CN" baseline="0" dirty="0" smtClean="0">
                <a:latin typeface="+mn-ea"/>
                <a:ea typeface="+mn-ea"/>
              </a:rPr>
              <a:t> priority</a:t>
            </a:r>
            <a:r>
              <a:rPr lang="zh-CN" altLang="en-US" baseline="0" dirty="0" smtClean="0">
                <a:latin typeface="+mn-ea"/>
                <a:ea typeface="+mn-ea"/>
              </a:rPr>
              <a:t>！</a:t>
            </a:r>
            <a:r>
              <a:rPr lang="en-US" altLang="zh-CN" baseline="0" dirty="0" smtClean="0">
                <a:latin typeface="+mn-ea"/>
                <a:ea typeface="+mn-ea"/>
              </a:rPr>
              <a:t>=255</a:t>
            </a:r>
          </a:p>
          <a:p>
            <a:pPr lvl="1"/>
            <a:r>
              <a:rPr lang="en-US" altLang="zh-CN" baseline="0" dirty="0" smtClean="0">
                <a:latin typeface="+mn-ea"/>
                <a:ea typeface="+mn-ea"/>
              </a:rPr>
              <a:t>Master-&gt;Initialize: The device is powered off.</a:t>
            </a:r>
          </a:p>
          <a:p>
            <a:pPr lvl="1"/>
            <a:r>
              <a:rPr lang="en-US" altLang="zh-CN" baseline="0" dirty="0" smtClean="0">
                <a:latin typeface="+mn-ea"/>
                <a:ea typeface="+mn-ea"/>
              </a:rPr>
              <a:t>Master-&gt;Backup: The device receives packets with a higher priority than its priority.</a:t>
            </a:r>
          </a:p>
          <a:p>
            <a:pPr lvl="1"/>
            <a:r>
              <a:rPr lang="en-US" altLang="zh-CN" baseline="0" dirty="0" smtClean="0">
                <a:latin typeface="+mn-ea"/>
                <a:ea typeface="+mn-ea"/>
              </a:rPr>
              <a:t>Backup-&gt;Initialize: The device is powered off.</a:t>
            </a:r>
          </a:p>
          <a:p>
            <a:pPr lvl="1"/>
            <a:r>
              <a:rPr lang="en-US" altLang="zh-CN" baseline="0" dirty="0" smtClean="0">
                <a:latin typeface="+mn-ea"/>
                <a:ea typeface="+mn-ea"/>
              </a:rPr>
              <a:t>Backup-&gt;Master: The device does not receive VRRP Advertisement packets within the timeout interval; the priority of the master in the received Advertisement packet is 0; the priority of the master in the received Advertisement packet is lower than its own priority.</a:t>
            </a:r>
          </a:p>
        </p:txBody>
      </p:sp>
    </p:spTree>
    <p:extLst>
      <p:ext uri="{BB962C8B-B14F-4D97-AF65-F5344CB8AC3E}">
        <p14:creationId xmlns:p14="http://schemas.microsoft.com/office/powerpoint/2010/main" val="2053243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dirty="0">
              <a:latin typeface="FrutigerNext LT Regular"/>
            </a:endParaRPr>
          </a:p>
        </p:txBody>
      </p:sp>
    </p:spTree>
    <p:extLst>
      <p:ext uri="{BB962C8B-B14F-4D97-AF65-F5344CB8AC3E}">
        <p14:creationId xmlns:p14="http://schemas.microsoft.com/office/powerpoint/2010/main" val="3439050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a:lnSpc>
                <a:spcPct val="100000"/>
              </a:lnSpc>
            </a:pPr>
            <a:r>
              <a:rPr lang="en-US" altLang="zh-CN" sz="1000" dirty="0" smtClean="0">
                <a:effectLst/>
                <a:latin typeface="+mn-ea"/>
                <a:ea typeface="+mn-ea"/>
              </a:rPr>
              <a:t>The VRRP working process is as follows:</a:t>
            </a:r>
            <a:endParaRPr lang="zh-CN" altLang="en-US" sz="1000" dirty="0" smtClean="0">
              <a:effectLst/>
              <a:latin typeface="+mn-ea"/>
              <a:ea typeface="+mn-ea"/>
            </a:endParaRPr>
          </a:p>
          <a:p>
            <a:pPr lvl="1">
              <a:lnSpc>
                <a:spcPct val="100000"/>
              </a:lnSpc>
            </a:pPr>
            <a:r>
              <a:rPr lang="en-US" altLang="zh-CN" sz="1000" dirty="0" smtClean="0">
                <a:effectLst/>
                <a:latin typeface="+mn-ea"/>
                <a:ea typeface="+mn-ea"/>
              </a:rPr>
              <a:t>Selecting the master</a:t>
            </a:r>
          </a:p>
          <a:p>
            <a:pPr lvl="2">
              <a:lnSpc>
                <a:spcPct val="100000"/>
              </a:lnSpc>
            </a:pPr>
            <a:r>
              <a:rPr lang="en-US" altLang="zh-CN" sz="1000" dirty="0" smtClean="0">
                <a:effectLst/>
                <a:latin typeface="+mn-ea"/>
                <a:ea typeface="+mn-ea"/>
              </a:rPr>
              <a:t>VRRP determines the master based on device priorities. The master sends gratuitous ARP packets to notify the connected network devices or hosts of the virtual MAC address of the VRRP group, and forwards</a:t>
            </a:r>
            <a:r>
              <a:rPr lang="en-US" altLang="zh-CN" sz="1000" baseline="0" dirty="0" smtClean="0">
                <a:effectLst/>
                <a:latin typeface="+mn-ea"/>
                <a:ea typeface="+mn-ea"/>
              </a:rPr>
              <a:t> packets.</a:t>
            </a:r>
            <a:endParaRPr lang="en-US" altLang="zh-CN" sz="1000" dirty="0" smtClean="0">
              <a:effectLst/>
              <a:latin typeface="+mn-ea"/>
              <a:ea typeface="+mn-ea"/>
            </a:endParaRPr>
          </a:p>
          <a:p>
            <a:pPr lvl="2">
              <a:lnSpc>
                <a:spcPct val="100000"/>
              </a:lnSpc>
            </a:pPr>
            <a:r>
              <a:rPr lang="en-US" altLang="zh-CN" sz="1000" dirty="0" smtClean="0">
                <a:effectLst/>
                <a:latin typeface="+mn-ea"/>
                <a:ea typeface="+mn-ea"/>
              </a:rPr>
              <a:t>Election rule: The device with the highest priority becomes the master. When two devices have the same priority and the master already exists, the master retains its status. If there is no master, the IP addresses are compared. The device with a larger interface IP address becomes the master.</a:t>
            </a:r>
            <a:endParaRPr lang="zh-CN" altLang="en-US" sz="1000" dirty="0" smtClean="0">
              <a:effectLst/>
              <a:latin typeface="+mn-ea"/>
              <a:ea typeface="+mn-ea"/>
            </a:endParaRPr>
          </a:p>
          <a:p>
            <a:pPr marL="541338" marR="0" lvl="1" indent="-180975" algn="l" defTabSz="914400" rtl="0" eaLnBrk="0" fontAlgn="base" latinLnBrk="0" hangingPunct="1">
              <a:lnSpc>
                <a:spcPct val="100000"/>
              </a:lnSpc>
              <a:spcBef>
                <a:spcPct val="0"/>
              </a:spcBef>
              <a:spcAft>
                <a:spcPts val="600"/>
              </a:spcAft>
              <a:buClrTx/>
              <a:buSzPct val="50000"/>
              <a:buFont typeface="Wingdings" pitchFamily="2" charset="2"/>
              <a:buChar char="p"/>
              <a:tabLst/>
              <a:defRPr/>
            </a:pPr>
            <a:r>
              <a:rPr lang="en-US" altLang="zh-CN" sz="1000" b="0" dirty="0" smtClean="0">
                <a:effectLst/>
                <a:latin typeface="+mn-ea"/>
                <a:ea typeface="+mn-ea"/>
              </a:rPr>
              <a:t>Advertising the master status (maintaining the VRRP group status)</a:t>
            </a:r>
          </a:p>
          <a:p>
            <a:pPr lvl="2">
              <a:lnSpc>
                <a:spcPct val="100000"/>
              </a:lnSpc>
            </a:pPr>
            <a:r>
              <a:rPr lang="en-US" altLang="zh-CN" sz="1000" dirty="0" smtClean="0">
                <a:effectLst/>
                <a:latin typeface="+mn-ea"/>
                <a:ea typeface="+mn-ea"/>
              </a:rPr>
              <a:t>The master periodically sends VRRP Advertisement packets to advertise its configuration (for example, priority) and running status. The backup determines whether the master works properly based on the received VRRP packets.</a:t>
            </a:r>
            <a:r>
              <a:rPr lang="zh-CN" altLang="en-US" sz="1000" dirty="0" smtClean="0">
                <a:effectLst/>
                <a:latin typeface="+mn-ea"/>
                <a:ea typeface="+mn-ea"/>
              </a:rPr>
              <a:t> </a:t>
            </a:r>
            <a:r>
              <a:rPr lang="en-US" altLang="zh-CN" sz="1000" dirty="0" smtClean="0">
                <a:effectLst/>
                <a:latin typeface="+mn-ea"/>
                <a:ea typeface="+mn-ea"/>
              </a:rPr>
              <a:t>When the master abandons its role (for example, the master is deleted from the VRRP group), it sends Advertisement packets with the priority of 0. In this case, the backup can rapidly switch to be the master, without waiting for </a:t>
            </a:r>
            <a:r>
              <a:rPr lang="en-US" altLang="zh-CN" sz="1000" dirty="0" err="1" smtClean="0">
                <a:effectLst/>
                <a:latin typeface="+mn-ea"/>
                <a:ea typeface="+mn-ea"/>
              </a:rPr>
              <a:t>Master_Down_Interval</a:t>
            </a:r>
            <a:r>
              <a:rPr lang="en-US" altLang="zh-CN" sz="1000" dirty="0" smtClean="0">
                <a:effectLst/>
                <a:latin typeface="+mn-ea"/>
                <a:ea typeface="+mn-ea"/>
              </a:rPr>
              <a:t> timer. This switching time is called </a:t>
            </a:r>
            <a:r>
              <a:rPr lang="en-US" altLang="zh-CN" sz="1000" dirty="0" err="1" smtClean="0">
                <a:effectLst/>
                <a:latin typeface="+mn-ea"/>
                <a:ea typeface="+mn-ea"/>
              </a:rPr>
              <a:t>Skew_Time</a:t>
            </a:r>
            <a:r>
              <a:rPr lang="en-US" altLang="zh-CN" sz="1000" dirty="0" smtClean="0">
                <a:effectLst/>
                <a:latin typeface="+mn-ea"/>
                <a:ea typeface="+mn-ea"/>
              </a:rPr>
              <a:t> and is calculated as follows:</a:t>
            </a:r>
          </a:p>
          <a:p>
            <a:pPr lvl="2">
              <a:lnSpc>
                <a:spcPct val="100000"/>
              </a:lnSpc>
              <a:buNone/>
            </a:pPr>
            <a:r>
              <a:rPr lang="en-US" altLang="zh-CN" sz="1000" baseline="0" dirty="0" smtClean="0">
                <a:effectLst/>
                <a:latin typeface="+mn-ea"/>
                <a:ea typeface="+mn-ea"/>
              </a:rPr>
              <a:t>  </a:t>
            </a:r>
            <a:r>
              <a:rPr lang="en-US" altLang="zh-CN" sz="1000" dirty="0" err="1" smtClean="0">
                <a:effectLst/>
                <a:latin typeface="+mn-ea"/>
                <a:ea typeface="+mn-ea"/>
              </a:rPr>
              <a:t>Skew_Time</a:t>
            </a:r>
            <a:r>
              <a:rPr lang="en-US" altLang="zh-CN" sz="1000" dirty="0" smtClean="0">
                <a:effectLst/>
                <a:latin typeface="+mn-ea"/>
                <a:ea typeface="+mn-ea"/>
              </a:rPr>
              <a:t> = (256 – Priority of the backup)/256</a:t>
            </a:r>
          </a:p>
          <a:p>
            <a:pPr lvl="2">
              <a:lnSpc>
                <a:spcPct val="100000"/>
              </a:lnSpc>
              <a:buNone/>
            </a:pPr>
            <a:r>
              <a:rPr lang="en-US" altLang="zh-CN" sz="1000" dirty="0" smtClean="0">
                <a:effectLst/>
                <a:latin typeface="+mn-ea"/>
                <a:ea typeface="+mn-ea"/>
              </a:rPr>
              <a:t>  The unit is second.</a:t>
            </a:r>
            <a:r>
              <a:rPr lang="zh-CN" altLang="en-US" sz="1000" dirty="0" smtClean="0">
                <a:effectLst/>
                <a:latin typeface="+mn-ea"/>
                <a:ea typeface="+mn-ea"/>
              </a:rPr>
              <a:t> </a:t>
            </a:r>
          </a:p>
          <a:p>
            <a:pPr lvl="2">
              <a:lnSpc>
                <a:spcPct val="100000"/>
              </a:lnSpc>
            </a:pPr>
            <a:r>
              <a:rPr lang="en-US" altLang="zh-CN" sz="1000" dirty="0" smtClean="0">
                <a:effectLst/>
                <a:latin typeface="+mn-ea"/>
                <a:ea typeface="+mn-ea"/>
              </a:rPr>
              <a:t>When the master fails and cannot send VRRP Advertisement packets, the backup cannot immediately lean the working status of the master. After </a:t>
            </a:r>
            <a:r>
              <a:rPr lang="en-US" altLang="zh-CN" sz="1000" dirty="0" err="1" smtClean="0">
                <a:effectLst/>
                <a:latin typeface="+mn-ea"/>
                <a:ea typeface="+mn-ea"/>
              </a:rPr>
              <a:t>Master_Down_Interval</a:t>
            </a:r>
            <a:r>
              <a:rPr lang="en-US" altLang="zh-CN" sz="1000" baseline="0" dirty="0" smtClean="0">
                <a:effectLst/>
                <a:latin typeface="+mn-ea"/>
                <a:ea typeface="+mn-ea"/>
              </a:rPr>
              <a:t> </a:t>
            </a:r>
            <a:r>
              <a:rPr lang="en-US" altLang="zh-CN" sz="1000" dirty="0" smtClean="0">
                <a:effectLst/>
                <a:latin typeface="+mn-ea"/>
                <a:ea typeface="+mn-ea"/>
              </a:rPr>
              <a:t>expires, the backup considers that the master fails and switches to be the master.</a:t>
            </a:r>
          </a:p>
          <a:p>
            <a:pPr lvl="2">
              <a:lnSpc>
                <a:spcPct val="100000"/>
              </a:lnSpc>
              <a:buNone/>
            </a:pPr>
            <a:r>
              <a:rPr lang="en-US" altLang="zh-CN" sz="1000" dirty="0" smtClean="0">
                <a:effectLst/>
                <a:latin typeface="+mn-ea"/>
                <a:ea typeface="+mn-ea"/>
              </a:rPr>
              <a:t>  </a:t>
            </a:r>
            <a:r>
              <a:rPr lang="en-US" altLang="zh-CN" sz="1000" dirty="0" err="1" smtClean="0">
                <a:effectLst/>
                <a:latin typeface="+mn-ea"/>
                <a:ea typeface="+mn-ea"/>
              </a:rPr>
              <a:t>Master_Down_Interval</a:t>
            </a:r>
            <a:r>
              <a:rPr lang="en-US" altLang="zh-CN" sz="1000" dirty="0" smtClean="0">
                <a:effectLst/>
                <a:latin typeface="+mn-ea"/>
                <a:ea typeface="+mn-ea"/>
              </a:rPr>
              <a:t> = 3 x </a:t>
            </a:r>
            <a:r>
              <a:rPr lang="en-US" altLang="zh-CN" sz="1000" dirty="0" err="1" smtClean="0">
                <a:effectLst/>
                <a:latin typeface="+mn-ea"/>
                <a:ea typeface="+mn-ea"/>
              </a:rPr>
              <a:t>Advertisement_Interval</a:t>
            </a:r>
            <a:r>
              <a:rPr lang="en-US" altLang="zh-CN" sz="1000" dirty="0" smtClean="0">
                <a:effectLst/>
                <a:latin typeface="+mn-ea"/>
                <a:ea typeface="+mn-ea"/>
              </a:rPr>
              <a:t> + </a:t>
            </a:r>
            <a:r>
              <a:rPr lang="en-US" altLang="zh-CN" sz="1000" dirty="0" err="1" smtClean="0">
                <a:effectLst/>
                <a:latin typeface="+mn-ea"/>
                <a:ea typeface="+mn-ea"/>
              </a:rPr>
              <a:t>Skew_time</a:t>
            </a:r>
            <a:endParaRPr lang="en-US" altLang="zh-CN" sz="1000" dirty="0" smtClean="0">
              <a:effectLst/>
              <a:latin typeface="+mn-ea"/>
              <a:ea typeface="+mn-ea"/>
            </a:endParaRPr>
          </a:p>
          <a:p>
            <a:pPr lvl="2">
              <a:lnSpc>
                <a:spcPct val="100000"/>
              </a:lnSpc>
              <a:buNone/>
            </a:pPr>
            <a:r>
              <a:rPr lang="en-US" altLang="zh-CN" sz="1000" dirty="0" smtClean="0">
                <a:effectLst/>
                <a:latin typeface="+mn-ea"/>
                <a:ea typeface="+mn-ea"/>
              </a:rPr>
              <a:t>  The unit is second.</a:t>
            </a:r>
            <a:endParaRPr lang="zh-CN" altLang="en-US" sz="1000" dirty="0" smtClean="0">
              <a:effectLst/>
              <a:latin typeface="+mn-ea"/>
              <a:ea typeface="+mn-ea"/>
            </a:endParaRPr>
          </a:p>
          <a:p>
            <a:pPr lvl="2">
              <a:lnSpc>
                <a:spcPct val="100000"/>
              </a:lnSpc>
            </a:pPr>
            <a:endParaRPr lang="zh-CN" altLang="en-US" sz="1000" dirty="0" smtClean="0">
              <a:effectLst/>
              <a:latin typeface="+mn-ea"/>
              <a:ea typeface="+mn-ea"/>
            </a:endParaRPr>
          </a:p>
        </p:txBody>
      </p:sp>
    </p:spTree>
    <p:extLst>
      <p:ext uri="{BB962C8B-B14F-4D97-AF65-F5344CB8AC3E}">
        <p14:creationId xmlns:p14="http://schemas.microsoft.com/office/powerpoint/2010/main" val="425842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en-US" altLang="zh-CN" dirty="0" smtClean="0">
                <a:effectLst/>
                <a:latin typeface="+mn-ea"/>
                <a:ea typeface="+mn-ea"/>
              </a:rPr>
              <a:t>The process is as follows when the master fails:</a:t>
            </a: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Char char="p"/>
              <a:tabLst/>
              <a:defRPr/>
            </a:pPr>
            <a:r>
              <a:rPr lang="en-US" altLang="zh-CN" dirty="0" smtClean="0">
                <a:effectLst/>
                <a:latin typeface="+mn-ea"/>
                <a:ea typeface="+mn-ea"/>
              </a:rPr>
              <a:t>If the backup does not receive Advertisement packets after the timer (</a:t>
            </a:r>
            <a:r>
              <a:rPr lang="en-US" altLang="zh-CN" dirty="0" err="1" smtClean="0">
                <a:effectLst/>
                <a:latin typeface="+mn-ea"/>
                <a:ea typeface="+mn-ea"/>
              </a:rPr>
              <a:t>Master_Down_Interval</a:t>
            </a:r>
            <a:r>
              <a:rPr lang="en-US" altLang="zh-CN" dirty="0" smtClean="0">
                <a:effectLst/>
                <a:latin typeface="+mn-ea"/>
                <a:ea typeface="+mn-ea"/>
              </a:rPr>
              <a:t>) expires, the backup becomes the master. The calculation formula is as follows:</a:t>
            </a: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None/>
              <a:tabLst/>
              <a:defRPr/>
            </a:pPr>
            <a:r>
              <a:rPr lang="en-US" altLang="zh-CN" baseline="0" dirty="0" smtClean="0">
                <a:effectLst/>
                <a:latin typeface="+mn-ea"/>
                <a:ea typeface="+mn-ea"/>
              </a:rPr>
              <a:t>   </a:t>
            </a:r>
            <a:r>
              <a:rPr lang="en-US" altLang="zh-CN" dirty="0" err="1" smtClean="0">
                <a:effectLst/>
                <a:latin typeface="+mn-ea"/>
                <a:ea typeface="+mn-ea"/>
              </a:rPr>
              <a:t>Master_Down_Interval</a:t>
            </a:r>
            <a:r>
              <a:rPr lang="en-US" altLang="zh-CN" dirty="0" smtClean="0">
                <a:effectLst/>
                <a:latin typeface="+mn-ea"/>
                <a:ea typeface="+mn-ea"/>
              </a:rPr>
              <a:t> = 3 x </a:t>
            </a:r>
            <a:r>
              <a:rPr lang="en-US" altLang="zh-CN" dirty="0" err="1" smtClean="0">
                <a:effectLst/>
                <a:latin typeface="+mn-ea"/>
                <a:ea typeface="+mn-ea"/>
              </a:rPr>
              <a:t>Advertisement_Interval</a:t>
            </a:r>
            <a:r>
              <a:rPr lang="en-US" altLang="zh-CN" dirty="0" smtClean="0">
                <a:effectLst/>
                <a:latin typeface="+mn-ea"/>
                <a:ea typeface="+mn-ea"/>
              </a:rPr>
              <a:t> + </a:t>
            </a:r>
            <a:r>
              <a:rPr lang="en-US" altLang="zh-CN" dirty="0" err="1" smtClean="0">
                <a:effectLst/>
                <a:latin typeface="+mn-ea"/>
                <a:ea typeface="+mn-ea"/>
              </a:rPr>
              <a:t>Skew_time</a:t>
            </a:r>
            <a:endParaRPr lang="en-US" altLang="zh-CN" dirty="0" smtClean="0">
              <a:effectLst/>
              <a:latin typeface="+mn-ea"/>
              <a:ea typeface="+mn-ea"/>
            </a:endParaRP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Char char="p"/>
              <a:tabLst/>
              <a:defRPr/>
            </a:pPr>
            <a:r>
              <a:rPr lang="en-US" altLang="zh-CN" dirty="0" smtClean="0">
                <a:effectLst/>
                <a:latin typeface="+mn-ea"/>
                <a:ea typeface="+mn-ea"/>
              </a:rPr>
              <a:t>When there are multiple backups in a VRRP group, multiple master devices may occur in a short period of time. In this case, the device compares the priority in the received VRRP packets with the local priority and the device with the highest priority becomes the master.</a:t>
            </a: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Char char="p"/>
              <a:tabLst/>
              <a:defRPr/>
            </a:pPr>
            <a:r>
              <a:rPr lang="en-US" altLang="zh-CN" dirty="0" smtClean="0">
                <a:effectLst/>
                <a:latin typeface="+mn-ea"/>
                <a:ea typeface="+mn-ea"/>
              </a:rPr>
              <a:t>After the device becomes the master, it immediately sends gratuitous ARP packets to update MAC address entries so that user traffic is diverted to itself. The process is transparent for users.</a:t>
            </a:r>
            <a:endParaRPr lang="zh-CN" altLang="en-US" dirty="0" smtClean="0">
              <a:effectLst/>
              <a:latin typeface="+mn-ea"/>
              <a:ea typeface="+mn-ea"/>
            </a:endParaRPr>
          </a:p>
        </p:txBody>
      </p:sp>
    </p:spTree>
    <p:extLst>
      <p:ext uri="{BB962C8B-B14F-4D97-AF65-F5344CB8AC3E}">
        <p14:creationId xmlns:p14="http://schemas.microsoft.com/office/powerpoint/2010/main" val="482004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rtl="0" eaLnBrk="1" fontAlgn="base" hangingPunct="1"/>
            <a:r>
              <a:rPr lang="en-US" altLang="zh-CN" sz="1100" b="0" kern="1200" dirty="0" smtClean="0">
                <a:solidFill>
                  <a:schemeClr val="tx1"/>
                </a:solidFill>
                <a:effectLst/>
                <a:latin typeface="+mn-ea"/>
                <a:ea typeface="+mn-ea"/>
              </a:rPr>
              <a:t>Preemption mode:</a:t>
            </a:r>
          </a:p>
          <a:p>
            <a:pPr lvl="1" rtl="0" eaLnBrk="1" fontAlgn="base" hangingPunct="1"/>
            <a:r>
              <a:rPr lang="en-US" altLang="zh-CN" b="0" kern="1200" dirty="0" smtClean="0">
                <a:solidFill>
                  <a:schemeClr val="tx1"/>
                </a:solidFill>
                <a:effectLst/>
                <a:latin typeface="+mn-ea"/>
                <a:ea typeface="+mn-ea"/>
              </a:rPr>
              <a:t>If the priority of a virtual router backup is higher than the priority of the current virtual router master, the virtual router backup automatically becomes the virtual router master. By default, a device works in preemption mode.</a:t>
            </a:r>
          </a:p>
          <a:p>
            <a:pPr lvl="1" rtl="0" eaLnBrk="1" fontAlgn="base" hangingPunct="1"/>
            <a:r>
              <a:rPr lang="en-US" altLang="zh-CN" b="0" kern="1200" dirty="0" smtClean="0">
                <a:solidFill>
                  <a:schemeClr val="tx1"/>
                </a:solidFill>
                <a:effectLst/>
                <a:latin typeface="+mn-ea"/>
                <a:ea typeface="+mn-ea"/>
              </a:rPr>
              <a:t>If the IP address owner is available, it always works in preemption mode and becomes the master.</a:t>
            </a:r>
            <a:endParaRPr lang="zh-CN" altLang="zh-CN" b="0" dirty="0" smtClean="0">
              <a:effectLst/>
              <a:latin typeface="+mn-ea"/>
              <a:ea typeface="+mn-ea"/>
            </a:endParaRPr>
          </a:p>
          <a:p>
            <a:pPr rtl="0" eaLnBrk="1" fontAlgn="base" hangingPunct="1"/>
            <a:r>
              <a:rPr lang="en-US" altLang="zh-CN" sz="1100" b="0" kern="1200" dirty="0" smtClean="0">
                <a:solidFill>
                  <a:schemeClr val="tx1"/>
                </a:solidFill>
                <a:effectLst/>
                <a:latin typeface="+mn-ea"/>
                <a:ea typeface="+mn-ea"/>
              </a:rPr>
              <a:t>Preemption delay:</a:t>
            </a:r>
            <a:endParaRPr lang="zh-CN" altLang="zh-CN" b="0" dirty="0" smtClean="0">
              <a:effectLst/>
              <a:latin typeface="+mn-ea"/>
              <a:ea typeface="+mn-ea"/>
            </a:endParaRPr>
          </a:p>
          <a:p>
            <a:pPr marL="541338" marR="0" lvl="1" indent="-180975" algn="l" defTabSz="914400" rtl="0" eaLnBrk="1" fontAlgn="base" latinLnBrk="0" hangingPunct="1">
              <a:lnSpc>
                <a:spcPct val="125000"/>
              </a:lnSpc>
              <a:spcBef>
                <a:spcPct val="0"/>
              </a:spcBef>
              <a:spcAft>
                <a:spcPts val="600"/>
              </a:spcAft>
              <a:buClrTx/>
              <a:buSzPct val="50000"/>
              <a:buFont typeface="Wingdings" pitchFamily="2" charset="2"/>
              <a:buChar char="p"/>
              <a:tabLst/>
              <a:defRPr/>
            </a:pPr>
            <a:r>
              <a:rPr lang="en-US" altLang="zh-CN" sz="1100" kern="1200" dirty="0" smtClean="0">
                <a:solidFill>
                  <a:schemeClr val="tx1"/>
                </a:solidFill>
                <a:effectLst/>
                <a:latin typeface="+mn-ea"/>
                <a:ea typeface="+mn-ea"/>
              </a:rPr>
              <a:t>By default, the preemption delay is 0 seconds, indicating immediate preemption.</a:t>
            </a:r>
          </a:p>
          <a:p>
            <a:pPr marL="541338" marR="0" lvl="1" indent="-180975" algn="l" defTabSz="914400" rtl="0" eaLnBrk="1" fontAlgn="base" latinLnBrk="0" hangingPunct="1">
              <a:lnSpc>
                <a:spcPct val="125000"/>
              </a:lnSpc>
              <a:spcBef>
                <a:spcPct val="0"/>
              </a:spcBef>
              <a:spcAft>
                <a:spcPts val="600"/>
              </a:spcAft>
              <a:buClrTx/>
              <a:buSzPct val="50000"/>
              <a:buFont typeface="Wingdings" pitchFamily="2" charset="2"/>
              <a:buChar char="p"/>
              <a:tabLst/>
              <a:defRPr/>
            </a:pPr>
            <a:r>
              <a:rPr lang="en-US" altLang="zh-CN" sz="1100" kern="1200" dirty="0" smtClean="0">
                <a:solidFill>
                  <a:schemeClr val="tx1"/>
                </a:solidFill>
                <a:effectLst/>
                <a:latin typeface="+mn-ea"/>
                <a:ea typeface="+mn-ea"/>
              </a:rPr>
              <a:t>If </a:t>
            </a:r>
            <a:r>
              <a:rPr lang="en-US" altLang="zh-CN" sz="1100" kern="1200" dirty="0" err="1" smtClean="0">
                <a:solidFill>
                  <a:schemeClr val="tx1"/>
                </a:solidFill>
                <a:effectLst/>
                <a:latin typeface="+mn-ea"/>
                <a:ea typeface="+mn-ea"/>
              </a:rPr>
              <a:t>RouterA</a:t>
            </a:r>
            <a:r>
              <a:rPr lang="en-US" altLang="zh-CN" sz="1100" kern="1200" dirty="0" smtClean="0">
                <a:solidFill>
                  <a:schemeClr val="tx1"/>
                </a:solidFill>
                <a:effectLst/>
                <a:latin typeface="+mn-ea"/>
                <a:ea typeface="+mn-ea"/>
              </a:rPr>
              <a:t> immediately preempts to be the master after recovery, traffic may be interrupted. This is because convergence of a routing protocol on the uplink of </a:t>
            </a:r>
            <a:r>
              <a:rPr lang="en-US" altLang="zh-CN" sz="1100" kern="1200" dirty="0" err="1" smtClean="0">
                <a:solidFill>
                  <a:schemeClr val="tx1"/>
                </a:solidFill>
                <a:effectLst/>
                <a:latin typeface="+mn-ea"/>
                <a:ea typeface="+mn-ea"/>
              </a:rPr>
              <a:t>RouterA</a:t>
            </a:r>
            <a:r>
              <a:rPr lang="en-US" altLang="zh-CN" sz="1100" kern="1200" dirty="0" smtClean="0">
                <a:solidFill>
                  <a:schemeClr val="tx1"/>
                </a:solidFill>
                <a:effectLst/>
                <a:latin typeface="+mn-ea"/>
                <a:ea typeface="+mn-ea"/>
              </a:rPr>
              <a:t> is not completed. In this case, the preemption delay needs to be configured.</a:t>
            </a:r>
            <a:endParaRPr lang="en-US" altLang="zh-CN" sz="1100" kern="1200" baseline="0" dirty="0" smtClean="0">
              <a:solidFill>
                <a:schemeClr val="tx1"/>
              </a:solidFill>
              <a:effectLst/>
              <a:latin typeface="+mn-ea"/>
              <a:ea typeface="+mn-ea"/>
            </a:endParaRPr>
          </a:p>
          <a:p>
            <a:pPr marL="541338" marR="0" lvl="1" indent="-180975" algn="l" defTabSz="914400" rtl="0" eaLnBrk="1" fontAlgn="base" latinLnBrk="0" hangingPunct="1">
              <a:lnSpc>
                <a:spcPct val="125000"/>
              </a:lnSpc>
              <a:spcBef>
                <a:spcPct val="0"/>
              </a:spcBef>
              <a:spcAft>
                <a:spcPts val="600"/>
              </a:spcAft>
              <a:buClrTx/>
              <a:buSzPct val="50000"/>
              <a:buFont typeface="Wingdings" pitchFamily="2" charset="2"/>
              <a:buChar char="p"/>
              <a:tabLst/>
              <a:defRPr/>
            </a:pPr>
            <a:r>
              <a:rPr lang="en-US" altLang="zh-CN" dirty="0" smtClean="0">
                <a:effectLst/>
                <a:latin typeface="+mn-ea"/>
                <a:ea typeface="+mn-ea"/>
              </a:rPr>
              <a:t>on an unstable network, the backup may not receive packets from the master within </a:t>
            </a:r>
            <a:r>
              <a:rPr lang="en-US" altLang="zh-CN" dirty="0" err="1" smtClean="0">
                <a:effectLst/>
                <a:latin typeface="+mn-ea"/>
                <a:ea typeface="+mn-ea"/>
              </a:rPr>
              <a:t>Master_Down_Interval</a:t>
            </a:r>
            <a:r>
              <a:rPr lang="en-US" altLang="zh-CN" dirty="0" smtClean="0">
                <a:effectLst/>
                <a:latin typeface="+mn-ea"/>
                <a:ea typeface="+mn-ea"/>
              </a:rPr>
              <a:t> due to congestion. The backup switches to be the master. When packets from the original master reach the new master, the new master switches to be the backup. Consequently, members of the VRRP group frequently switch their statuses. To resolve this issue, you can configure the preemption delay so that the backup waits for </a:t>
            </a:r>
            <a:r>
              <a:rPr lang="en-US" altLang="zh-CN" dirty="0" err="1" smtClean="0">
                <a:effectLst/>
                <a:latin typeface="+mn-ea"/>
                <a:ea typeface="+mn-ea"/>
              </a:rPr>
              <a:t>Master_Down_Interval</a:t>
            </a:r>
            <a:r>
              <a:rPr lang="en-US" altLang="zh-CN" dirty="0" smtClean="0">
                <a:effectLst/>
                <a:latin typeface="+mn-ea"/>
                <a:ea typeface="+mn-ea"/>
              </a:rPr>
              <a:t> and preemption delay. If the backup does not receive VRRP Advertisement packets during this period, the backup switches to be the master.</a:t>
            </a:r>
          </a:p>
        </p:txBody>
      </p:sp>
    </p:spTree>
    <p:extLst>
      <p:ext uri="{BB962C8B-B14F-4D97-AF65-F5344CB8AC3E}">
        <p14:creationId xmlns:p14="http://schemas.microsoft.com/office/powerpoint/2010/main" val="1022418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71450" lvl="2" indent="-171450">
              <a:buFont typeface="Wingdings" panose="05000000000000000000" pitchFamily="2" charset="2"/>
              <a:buChar char="l"/>
            </a:pPr>
            <a:r>
              <a:rPr lang="en-US" altLang="zh-CN" dirty="0" smtClean="0">
                <a:solidFill>
                  <a:schemeClr val="tx1"/>
                </a:solidFill>
                <a:effectLst/>
                <a:latin typeface="+mn-ea"/>
                <a:ea typeface="+mn-ea"/>
              </a:rPr>
              <a:t>The uplink fault on </a:t>
            </a:r>
            <a:r>
              <a:rPr lang="en-US" altLang="zh-CN" dirty="0" err="1" smtClean="0">
                <a:solidFill>
                  <a:schemeClr val="tx1"/>
                </a:solidFill>
                <a:effectLst/>
                <a:latin typeface="+mn-ea"/>
                <a:ea typeface="+mn-ea"/>
              </a:rPr>
              <a:t>RouterA</a:t>
            </a:r>
            <a:r>
              <a:rPr lang="en-US" altLang="zh-CN" dirty="0" smtClean="0">
                <a:solidFill>
                  <a:schemeClr val="tx1"/>
                </a:solidFill>
                <a:effectLst/>
                <a:latin typeface="+mn-ea"/>
                <a:ea typeface="+mn-ea"/>
              </a:rPr>
              <a:t> does not trigger a VRRP active/standby switchover. As a result, </a:t>
            </a:r>
            <a:r>
              <a:rPr lang="en-US" altLang="zh-CN" dirty="0" err="1" smtClean="0">
                <a:solidFill>
                  <a:schemeClr val="tx1"/>
                </a:solidFill>
                <a:effectLst/>
                <a:latin typeface="+mn-ea"/>
                <a:ea typeface="+mn-ea"/>
              </a:rPr>
              <a:t>HostA's</a:t>
            </a:r>
            <a:r>
              <a:rPr lang="en-US" altLang="zh-CN" dirty="0" smtClean="0">
                <a:solidFill>
                  <a:schemeClr val="tx1"/>
                </a:solidFill>
                <a:effectLst/>
                <a:latin typeface="+mn-ea"/>
                <a:ea typeface="+mn-ea"/>
              </a:rPr>
              <a:t> Internet access traffic is discarded at the </a:t>
            </a:r>
            <a:r>
              <a:rPr lang="en-US" altLang="zh-CN" dirty="0" err="1" smtClean="0">
                <a:solidFill>
                  <a:schemeClr val="tx1"/>
                </a:solidFill>
                <a:effectLst/>
                <a:latin typeface="+mn-ea"/>
                <a:ea typeface="+mn-ea"/>
              </a:rPr>
              <a:t>RouterA</a:t>
            </a:r>
            <a:r>
              <a:rPr lang="en-US" altLang="zh-CN" dirty="0" smtClean="0">
                <a:solidFill>
                  <a:schemeClr val="tx1"/>
                </a:solidFill>
                <a:effectLst/>
                <a:latin typeface="+mn-ea"/>
                <a:ea typeface="+mn-ea"/>
              </a:rPr>
              <a:t>. VRRP needs to detect the uplink fault and a VRRP active/standby switchover can be performed in a timely manner.</a:t>
            </a:r>
          </a:p>
          <a:p>
            <a:pPr marL="171450" lvl="2" indent="-171450">
              <a:buFont typeface="Wingdings" panose="05000000000000000000" pitchFamily="2" charset="2"/>
              <a:buChar char="l"/>
            </a:pPr>
            <a:r>
              <a:rPr lang="en-US" altLang="zh-CN" dirty="0" smtClean="0">
                <a:solidFill>
                  <a:schemeClr val="tx1"/>
                </a:solidFill>
                <a:effectLst/>
                <a:latin typeface="+mn-ea"/>
                <a:ea typeface="+mn-ea"/>
              </a:rPr>
              <a:t>When </a:t>
            </a:r>
            <a:r>
              <a:rPr lang="en-US" altLang="zh-CN" dirty="0" err="1" smtClean="0">
                <a:solidFill>
                  <a:schemeClr val="tx1"/>
                </a:solidFill>
                <a:effectLst/>
                <a:latin typeface="+mn-ea"/>
                <a:ea typeface="+mn-ea"/>
              </a:rPr>
              <a:t>RouterA</a:t>
            </a:r>
            <a:r>
              <a:rPr lang="en-US" altLang="zh-CN" dirty="0" smtClean="0">
                <a:solidFill>
                  <a:schemeClr val="tx1"/>
                </a:solidFill>
                <a:effectLst/>
                <a:latin typeface="+mn-ea"/>
                <a:ea typeface="+mn-ea"/>
              </a:rPr>
              <a:t> or the interface of </a:t>
            </a:r>
            <a:r>
              <a:rPr lang="en-US" altLang="zh-CN" dirty="0" err="1" smtClean="0">
                <a:solidFill>
                  <a:schemeClr val="tx1"/>
                </a:solidFill>
                <a:effectLst/>
                <a:latin typeface="+mn-ea"/>
                <a:ea typeface="+mn-ea"/>
              </a:rPr>
              <a:t>RouterA</a:t>
            </a:r>
            <a:r>
              <a:rPr lang="en-US" altLang="zh-CN" dirty="0" smtClean="0">
                <a:solidFill>
                  <a:schemeClr val="tx1"/>
                </a:solidFill>
                <a:effectLst/>
                <a:latin typeface="+mn-ea"/>
                <a:ea typeface="+mn-ea"/>
              </a:rPr>
              <a:t> connected to </a:t>
            </a:r>
            <a:r>
              <a:rPr lang="en-US" altLang="zh-CN" dirty="0" err="1" smtClean="0">
                <a:solidFill>
                  <a:schemeClr val="tx1"/>
                </a:solidFill>
                <a:effectLst/>
                <a:latin typeface="+mn-ea"/>
                <a:ea typeface="+mn-ea"/>
              </a:rPr>
              <a:t>RouterB</a:t>
            </a:r>
            <a:r>
              <a:rPr lang="en-US" altLang="zh-CN" dirty="0" smtClean="0">
                <a:solidFill>
                  <a:schemeClr val="tx1"/>
                </a:solidFill>
                <a:effectLst/>
                <a:latin typeface="+mn-ea"/>
                <a:ea typeface="+mn-ea"/>
              </a:rPr>
              <a:t> fails, a VRRP active/standby switchover is triggered. This is because the backup cannot receive protocol packets sent by the master within </a:t>
            </a:r>
            <a:r>
              <a:rPr lang="en-US" altLang="zh-CN" dirty="0" err="1" smtClean="0">
                <a:solidFill>
                  <a:schemeClr val="tx1"/>
                </a:solidFill>
                <a:effectLst/>
                <a:latin typeface="+mn-ea"/>
                <a:ea typeface="+mn-ea"/>
              </a:rPr>
              <a:t>Master_Down_Interval</a:t>
            </a:r>
            <a:r>
              <a:rPr lang="en-US" altLang="zh-CN" dirty="0" smtClean="0">
                <a:solidFill>
                  <a:schemeClr val="tx1"/>
                </a:solidFill>
                <a:effectLst/>
                <a:latin typeface="+mn-ea"/>
                <a:ea typeface="+mn-ea"/>
              </a:rPr>
              <a:t>.</a:t>
            </a:r>
            <a:endParaRPr lang="zh-CN" altLang="en-US" dirty="0" smtClean="0">
              <a:solidFill>
                <a:schemeClr val="tx1"/>
              </a:solidFill>
              <a:effectLst/>
              <a:latin typeface="+mn-ea"/>
              <a:ea typeface="+mn-ea"/>
            </a:endParaRPr>
          </a:p>
        </p:txBody>
      </p:sp>
    </p:spTree>
    <p:extLst>
      <p:ext uri="{BB962C8B-B14F-4D97-AF65-F5344CB8AC3E}">
        <p14:creationId xmlns:p14="http://schemas.microsoft.com/office/powerpoint/2010/main" val="2703135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975" marR="0" indent="-180975" algn="l" defTabSz="914400" rtl="0" eaLnBrk="0" fontAlgn="base" latinLnBrk="0" hangingPunct="1">
              <a:lnSpc>
                <a:spcPct val="125000"/>
              </a:lnSpc>
              <a:spcBef>
                <a:spcPct val="0"/>
              </a:spcBef>
              <a:spcAft>
                <a:spcPts val="600"/>
              </a:spcAft>
              <a:buClrTx/>
              <a:buSzPct val="60000"/>
              <a:buFont typeface="Wingdings" pitchFamily="2" charset="2"/>
              <a:buChar char="l"/>
              <a:tabLst/>
              <a:defRPr/>
            </a:pPr>
            <a:r>
              <a:rPr lang="en-US" altLang="zh-CN" b="0" dirty="0" smtClean="0">
                <a:effectLst/>
                <a:latin typeface="+mn-ea"/>
                <a:ea typeface="+mn-ea"/>
              </a:rPr>
              <a:t>Problem: VRRP cannot detect the status change of the interface that is not enabled with VRRP. When the uplink fails, VRRP cannot detect the fault and an active/standby switchover is not performed, causing service interruption.</a:t>
            </a:r>
          </a:p>
          <a:p>
            <a:pPr marL="180975" marR="0" indent="-180975" algn="l" defTabSz="914400" rtl="0" eaLnBrk="0" fontAlgn="base" latinLnBrk="0" hangingPunct="1">
              <a:lnSpc>
                <a:spcPct val="125000"/>
              </a:lnSpc>
              <a:spcBef>
                <a:spcPct val="0"/>
              </a:spcBef>
              <a:spcAft>
                <a:spcPts val="600"/>
              </a:spcAft>
              <a:buClrTx/>
              <a:buSzPct val="60000"/>
              <a:buFont typeface="Wingdings" pitchFamily="2" charset="2"/>
              <a:buChar char="l"/>
              <a:tabLst/>
              <a:defRPr/>
            </a:pPr>
            <a:r>
              <a:rPr lang="en-US" altLang="zh-CN" b="0" dirty="0" smtClean="0">
                <a:effectLst/>
                <a:latin typeface="+mn-ea"/>
                <a:ea typeface="+mn-ea"/>
              </a:rPr>
              <a:t>Solution: VRRP association can be configured to monitor the uplink interface or link fault and perform an active/standby switchover.</a:t>
            </a:r>
            <a:endParaRPr lang="zh-CN" altLang="en-US" b="0" dirty="0" smtClean="0">
              <a:effectLst/>
              <a:latin typeface="+mn-ea"/>
              <a:ea typeface="+mn-ea"/>
            </a:endParaRPr>
          </a:p>
        </p:txBody>
      </p:sp>
    </p:spTree>
    <p:extLst>
      <p:ext uri="{BB962C8B-B14F-4D97-AF65-F5344CB8AC3E}">
        <p14:creationId xmlns:p14="http://schemas.microsoft.com/office/powerpoint/2010/main" val="385061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dirty="0">
              <a:latin typeface="FrutigerNext LT Regular"/>
            </a:endParaRPr>
          </a:p>
        </p:txBody>
      </p:sp>
    </p:spTree>
    <p:extLst>
      <p:ext uri="{BB962C8B-B14F-4D97-AF65-F5344CB8AC3E}">
        <p14:creationId xmlns:p14="http://schemas.microsoft.com/office/powerpoint/2010/main" val="1759099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975" marR="0" indent="-180975" algn="l" defTabSz="914400" rtl="0" eaLnBrk="0" fontAlgn="base" latinLnBrk="0" hangingPunct="1">
              <a:lnSpc>
                <a:spcPct val="125000"/>
              </a:lnSpc>
              <a:spcBef>
                <a:spcPct val="0"/>
              </a:spcBef>
              <a:spcAft>
                <a:spcPts val="600"/>
              </a:spcAft>
              <a:buClrTx/>
              <a:buSzPct val="60000"/>
              <a:buFont typeface="Wingdings" pitchFamily="2" charset="2"/>
              <a:buChar char="l"/>
              <a:tabLst/>
              <a:defRPr/>
            </a:pPr>
            <a:r>
              <a:rPr lang="en-US" altLang="zh-CN" dirty="0" smtClean="0">
                <a:effectLst/>
                <a:latin typeface="+mn-ea"/>
                <a:ea typeface="+mn-ea"/>
              </a:rPr>
              <a:t>In load balancing mode, multiple VRRP groups forward service traffic. The principles and negotiation process of the VRRP load balancing mode and VRRP active/standby mode are the same. Each VRRP group consists of one master and multiple backups.</a:t>
            </a:r>
          </a:p>
          <a:p>
            <a:pPr marL="180975" marR="0" indent="-180975" algn="l" defTabSz="914400" rtl="0" eaLnBrk="0" fontAlgn="base" latinLnBrk="0" hangingPunct="1">
              <a:lnSpc>
                <a:spcPct val="125000"/>
              </a:lnSpc>
              <a:spcBef>
                <a:spcPct val="0"/>
              </a:spcBef>
              <a:spcAft>
                <a:spcPts val="600"/>
              </a:spcAft>
              <a:buClrTx/>
              <a:buSzPct val="60000"/>
              <a:buFont typeface="Wingdings" pitchFamily="2" charset="2"/>
              <a:buChar char="l"/>
              <a:tabLst/>
              <a:defRPr/>
            </a:pPr>
            <a:r>
              <a:rPr lang="en-US" altLang="zh-CN" dirty="0" smtClean="0">
                <a:effectLst/>
                <a:latin typeface="+mn-ea"/>
                <a:ea typeface="+mn-ea"/>
              </a:rPr>
              <a:t>Unlike the active/standby mode, the load balancing mode requires establishment of multiple VRRP groups. Different devices are used as masters for the VRRP group. A device can play different roles in multiple VRRP groups.</a:t>
            </a:r>
            <a:endParaRPr lang="zh-CN" altLang="en-US" dirty="0" smtClean="0">
              <a:effectLst/>
              <a:latin typeface="+mn-ea"/>
              <a:ea typeface="+mn-ea"/>
            </a:endParaRPr>
          </a:p>
        </p:txBody>
      </p:sp>
    </p:spTree>
    <p:extLst>
      <p:ext uri="{BB962C8B-B14F-4D97-AF65-F5344CB8AC3E}">
        <p14:creationId xmlns:p14="http://schemas.microsoft.com/office/powerpoint/2010/main" val="1589110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dirty="0">
              <a:latin typeface="FrutigerNext LT Regular"/>
            </a:endParaRPr>
          </a:p>
        </p:txBody>
      </p:sp>
    </p:spTree>
    <p:extLst>
      <p:ext uri="{BB962C8B-B14F-4D97-AF65-F5344CB8AC3E}">
        <p14:creationId xmlns:p14="http://schemas.microsoft.com/office/powerpoint/2010/main" val="3025653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975" marR="0" indent="-180975" algn="l" defTabSz="914400" rtl="0" eaLnBrk="0" fontAlgn="base" latinLnBrk="0" hangingPunct="1">
              <a:lnSpc>
                <a:spcPct val="125000"/>
              </a:lnSpc>
              <a:spcBef>
                <a:spcPct val="0"/>
              </a:spcBef>
              <a:spcAft>
                <a:spcPts val="600"/>
              </a:spcAft>
              <a:buClrTx/>
              <a:buSzPct val="60000"/>
              <a:buFont typeface="Wingdings" pitchFamily="2" charset="2"/>
              <a:buChar char="l"/>
              <a:tabLst/>
              <a:defRPr/>
            </a:pPr>
            <a:r>
              <a:rPr lang="en-US" altLang="zh-CN" b="0" dirty="0" smtClean="0">
                <a:latin typeface="+mn-ea"/>
                <a:ea typeface="+mn-ea"/>
                <a:cs typeface="Courier New" panose="02070309020205020404" pitchFamily="49" charset="0"/>
              </a:rPr>
              <a:t>The configuration roadmap in load balancing mode is similar to that in active/standby mode. A VRRP group is used as an example. The configuration of the master is as follows:</a:t>
            </a: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Char char="p"/>
              <a:tabLst/>
              <a:defRPr/>
            </a:pPr>
            <a:r>
              <a:rPr lang="en-US" altLang="zh-CN" b="0" dirty="0" smtClean="0">
                <a:latin typeface="+mn-ea"/>
                <a:ea typeface="+mn-ea"/>
                <a:cs typeface="Courier New" panose="02070309020205020404" pitchFamily="49" charset="0"/>
              </a:rPr>
              <a:t>vrrp </a:t>
            </a:r>
            <a:r>
              <a:rPr lang="en-US" altLang="zh-CN" b="0" dirty="0" err="1" smtClean="0">
                <a:latin typeface="+mn-ea"/>
                <a:ea typeface="+mn-ea"/>
                <a:cs typeface="Courier New" panose="02070309020205020404" pitchFamily="49" charset="0"/>
              </a:rPr>
              <a:t>vrid</a:t>
            </a:r>
            <a:r>
              <a:rPr lang="en-US" altLang="zh-CN" b="0" dirty="0" smtClean="0">
                <a:latin typeface="+mn-ea"/>
                <a:ea typeface="+mn-ea"/>
                <a:cs typeface="Courier New" panose="02070309020205020404" pitchFamily="49" charset="0"/>
              </a:rPr>
              <a:t> 1 virtual-ip 10.0.0.10 //Configure the virtual IP address of VRRP group 1.</a:t>
            </a:r>
            <a:endParaRPr lang="en-US" altLang="zh-CN" b="0" baseline="0" dirty="0" smtClean="0">
              <a:latin typeface="+mn-ea"/>
              <a:ea typeface="+mn-ea"/>
            </a:endParaRP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Char char="p"/>
              <a:tabLst/>
              <a:defRPr/>
            </a:pPr>
            <a:r>
              <a:rPr lang="en-US" altLang="zh-CN" b="0" dirty="0" smtClean="0">
                <a:latin typeface="+mn-ea"/>
                <a:ea typeface="+mn-ea"/>
                <a:cs typeface="Courier New" panose="02070309020205020404" pitchFamily="49" charset="0"/>
              </a:rPr>
              <a:t>vrrp </a:t>
            </a:r>
            <a:r>
              <a:rPr lang="en-US" altLang="zh-CN" b="0" dirty="0" err="1" smtClean="0">
                <a:latin typeface="+mn-ea"/>
                <a:ea typeface="+mn-ea"/>
                <a:cs typeface="Courier New" panose="02070309020205020404" pitchFamily="49" charset="0"/>
              </a:rPr>
              <a:t>vrid</a:t>
            </a:r>
            <a:r>
              <a:rPr lang="en-US" altLang="zh-CN" b="0" dirty="0" smtClean="0">
                <a:latin typeface="+mn-ea"/>
                <a:ea typeface="+mn-ea"/>
                <a:cs typeface="Courier New" panose="02070309020205020404" pitchFamily="49" charset="0"/>
              </a:rPr>
              <a:t> 1 priority 120 //Set the device priority in VRRP group 1 to 120. The priorities of other devices are not specified manually, so the default value of 100 is used. The local device is the master.</a:t>
            </a:r>
            <a:endParaRPr lang="en-US" altLang="zh-CN" b="0" baseline="0" dirty="0" smtClean="0">
              <a:latin typeface="+mn-ea"/>
              <a:ea typeface="+mn-ea"/>
            </a:endParaRP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Char char="p"/>
              <a:tabLst/>
              <a:defRPr/>
            </a:pPr>
            <a:r>
              <a:rPr lang="en-US" altLang="zh-CN" b="0" dirty="0" smtClean="0">
                <a:latin typeface="+mn-ea"/>
                <a:ea typeface="+mn-ea"/>
                <a:cs typeface="Courier New" panose="02070309020205020404" pitchFamily="49" charset="0"/>
              </a:rPr>
              <a:t>vrrp </a:t>
            </a:r>
            <a:r>
              <a:rPr lang="en-US" altLang="zh-CN" b="0" dirty="0" err="1" smtClean="0">
                <a:latin typeface="+mn-ea"/>
                <a:ea typeface="+mn-ea"/>
                <a:cs typeface="Courier New" panose="02070309020205020404" pitchFamily="49" charset="0"/>
              </a:rPr>
              <a:t>vrid</a:t>
            </a:r>
            <a:r>
              <a:rPr lang="en-US" altLang="zh-CN" b="0" dirty="0" smtClean="0">
                <a:latin typeface="+mn-ea"/>
                <a:ea typeface="+mn-ea"/>
                <a:cs typeface="Courier New" panose="02070309020205020404" pitchFamily="49" charset="0"/>
              </a:rPr>
              <a:t> 1 preempt-mode timer delay 20 //Set the preemption delay of the master to 20s.</a:t>
            </a:r>
          </a:p>
          <a:p>
            <a:pPr marL="541338" marR="0" lvl="1" indent="-180975" algn="l" defTabSz="914400" rtl="0" eaLnBrk="0" fontAlgn="base" latinLnBrk="0" hangingPunct="1">
              <a:lnSpc>
                <a:spcPct val="125000"/>
              </a:lnSpc>
              <a:spcBef>
                <a:spcPct val="0"/>
              </a:spcBef>
              <a:spcAft>
                <a:spcPts val="600"/>
              </a:spcAft>
              <a:buClrTx/>
              <a:buSzPct val="60000"/>
              <a:buFont typeface="Wingdings" pitchFamily="2" charset="2"/>
              <a:buChar char="p"/>
              <a:tabLst/>
              <a:defRPr/>
            </a:pPr>
            <a:r>
              <a:rPr lang="en-US" altLang="zh-CN" sz="1100" b="0" dirty="0" smtClean="0">
                <a:latin typeface="+mn-ea"/>
                <a:ea typeface="+mn-ea"/>
                <a:cs typeface="Courier New" panose="02070309020205020404" pitchFamily="49" charset="0"/>
              </a:rPr>
              <a:t>vrrp </a:t>
            </a:r>
            <a:r>
              <a:rPr lang="en-US" altLang="zh-CN" sz="1100" b="0" dirty="0" err="1" smtClean="0">
                <a:latin typeface="+mn-ea"/>
                <a:ea typeface="+mn-ea"/>
                <a:cs typeface="Courier New" panose="02070309020205020404" pitchFamily="49" charset="0"/>
              </a:rPr>
              <a:t>vrid</a:t>
            </a:r>
            <a:r>
              <a:rPr lang="en-US" altLang="zh-CN" sz="1100" b="0" dirty="0" smtClean="0">
                <a:latin typeface="+mn-ea"/>
                <a:ea typeface="+mn-ea"/>
                <a:cs typeface="Courier New" panose="02070309020205020404" pitchFamily="49" charset="0"/>
              </a:rPr>
              <a:t> 1 track interface GigabitEthernet0/0/0 reduce 30 //Associate VRRP with the uplink interface G0/0/0. When G0/0/0 fails, the VRRP priority of the master is reduced by 30.</a:t>
            </a:r>
            <a:endParaRPr lang="en-US" altLang="zh-CN" b="0" baseline="0" dirty="0" smtClean="0">
              <a:latin typeface="+mn-ea"/>
              <a:ea typeface="+mn-ea"/>
              <a:cs typeface="Courier New" panose="02070309020205020404" pitchFamily="49" charset="0"/>
            </a:endParaRPr>
          </a:p>
          <a:p>
            <a:pPr marL="180975" marR="0" indent="-180975" algn="l" defTabSz="784225" rtl="0" eaLnBrk="0" fontAlgn="base" latinLnBrk="0" hangingPunct="0">
              <a:lnSpc>
                <a:spcPct val="125000"/>
              </a:lnSpc>
              <a:spcBef>
                <a:spcPct val="0"/>
              </a:spcBef>
              <a:spcAft>
                <a:spcPts val="600"/>
              </a:spcAft>
              <a:buClrTx/>
              <a:buSzPct val="60000"/>
              <a:buFont typeface="Wingdings" pitchFamily="2" charset="2"/>
              <a:buChar char="l"/>
              <a:tabLst/>
              <a:defRPr/>
            </a:pPr>
            <a:r>
              <a:rPr lang="en-US" altLang="zh-CN" b="0" baseline="0" dirty="0" smtClean="0">
                <a:latin typeface="+mn-ea"/>
                <a:ea typeface="+mn-ea"/>
                <a:cs typeface="Courier New" panose="02070309020205020404" pitchFamily="49" charset="0"/>
              </a:rPr>
              <a:t>Configuration of the backup:</a:t>
            </a:r>
          </a:p>
          <a:p>
            <a:pPr marL="541338" marR="0" lvl="1" indent="-180975" algn="l" defTabSz="784225" rtl="0" eaLnBrk="0" fontAlgn="base" latinLnBrk="0" hangingPunct="0">
              <a:lnSpc>
                <a:spcPct val="125000"/>
              </a:lnSpc>
              <a:spcBef>
                <a:spcPct val="0"/>
              </a:spcBef>
              <a:spcAft>
                <a:spcPts val="600"/>
              </a:spcAft>
              <a:buClrTx/>
              <a:buSzPct val="60000"/>
              <a:buFont typeface="Wingdings" pitchFamily="2" charset="2"/>
              <a:buChar char="p"/>
              <a:tabLst/>
              <a:defRPr/>
            </a:pPr>
            <a:r>
              <a:rPr lang="en-US" altLang="zh-CN" b="0" dirty="0" smtClean="0">
                <a:latin typeface="+mn-ea"/>
                <a:ea typeface="+mn-ea"/>
                <a:cs typeface="Courier New" panose="02070309020205020404" pitchFamily="49" charset="0"/>
              </a:rPr>
              <a:t>vrrp </a:t>
            </a:r>
            <a:r>
              <a:rPr lang="en-US" altLang="zh-CN" b="0" dirty="0" err="1" smtClean="0">
                <a:latin typeface="+mn-ea"/>
                <a:ea typeface="+mn-ea"/>
                <a:cs typeface="Courier New" panose="02070309020205020404" pitchFamily="49" charset="0"/>
              </a:rPr>
              <a:t>vrid</a:t>
            </a:r>
            <a:r>
              <a:rPr lang="en-US" altLang="zh-CN" b="0" dirty="0" smtClean="0">
                <a:latin typeface="+mn-ea"/>
                <a:ea typeface="+mn-ea"/>
                <a:cs typeface="Courier New" panose="02070309020205020404" pitchFamily="49" charset="0"/>
              </a:rPr>
              <a:t> 1 virtual-ip 10.0.0.10 //Configure the virtual IP address of VRRP group 1.</a:t>
            </a:r>
            <a:endParaRPr lang="en-US" altLang="zh-CN" b="0" dirty="0" smtClean="0">
              <a:latin typeface="+mn-ea"/>
              <a:ea typeface="+mn-ea"/>
            </a:endParaRPr>
          </a:p>
        </p:txBody>
      </p:sp>
    </p:spTree>
    <p:extLst>
      <p:ext uri="{BB962C8B-B14F-4D97-AF65-F5344CB8AC3E}">
        <p14:creationId xmlns:p14="http://schemas.microsoft.com/office/powerpoint/2010/main" val="2667448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74822" indent="-174822"/>
            <a:r>
              <a:rPr lang="en-US" altLang="zh-CN" dirty="0" smtClean="0">
                <a:latin typeface="+mn-ea"/>
                <a:ea typeface="+mn-ea"/>
              </a:rPr>
              <a:t>Answer: D.</a:t>
            </a:r>
          </a:p>
        </p:txBody>
      </p:sp>
    </p:spTree>
    <p:extLst>
      <p:ext uri="{BB962C8B-B14F-4D97-AF65-F5344CB8AC3E}">
        <p14:creationId xmlns:p14="http://schemas.microsoft.com/office/powerpoint/2010/main" val="1883120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139700" y="768350"/>
            <a:ext cx="6823075" cy="3838575"/>
          </a:xfrm>
          <a:prstGeom prst="rect">
            <a:avLst/>
          </a:prstGeom>
          <a:ln/>
        </p:spPr>
      </p:sp>
      <p:sp>
        <p:nvSpPr>
          <p:cNvPr id="134147" name="Rectangle 3"/>
          <p:cNvSpPr>
            <a:spLocks noGrp="1" noChangeArrowheads="1"/>
          </p:cNvSpPr>
          <p:nvPr>
            <p:ph type="body" idx="1"/>
          </p:nvPr>
        </p:nvSpPr>
        <p:spPr>
          <a:noFill/>
          <a:ln w="9525">
            <a:noFill/>
            <a:miter lim="800000"/>
            <a:headEnd/>
            <a:tailEnd/>
          </a:ln>
          <a:effectLst/>
        </p:spPr>
        <p:txBody>
          <a:bodyPr vert="horz" wrap="square" lIns="96791" tIns="48396" rIns="96791" bIns="48396" numCol="1" anchor="t" anchorCtr="0" compatLnSpc="1">
            <a:prstTxWarp prst="textNoShape">
              <a:avLst/>
            </a:prstTxWarp>
            <a:noAutofit/>
          </a:bodyPr>
          <a:lstStyle/>
          <a:p>
            <a:pPr>
              <a:defRPr/>
            </a:pPr>
            <a:endParaRPr lang="zh-CN" altLang="zh-CN" dirty="0" smtClean="0">
              <a:latin typeface="FrutigerNext LT Regular"/>
            </a:endParaRPr>
          </a:p>
        </p:txBody>
      </p:sp>
    </p:spTree>
    <p:extLst>
      <p:ext uri="{BB962C8B-B14F-4D97-AF65-F5344CB8AC3E}">
        <p14:creationId xmlns:p14="http://schemas.microsoft.com/office/powerpoint/2010/main" val="355415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Revision Record">
    <p:spTree>
      <p:nvGrpSpPr>
        <p:cNvPr id="1" name=""/>
        <p:cNvGrpSpPr/>
        <p:nvPr/>
      </p:nvGrpSpPr>
      <p:grpSpPr>
        <a:xfrm>
          <a:off x="0" y="0"/>
          <a:ext cx="0" cy="0"/>
          <a:chOff x="0" y="0"/>
          <a:chExt cx="0" cy="0"/>
        </a:xfrm>
      </p:grpSpPr>
      <p:sp>
        <p:nvSpPr>
          <p:cNvPr id="63"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t" latinLnBrk="0" hangingPunct="0">
              <a:lnSpc>
                <a:spcPct val="100000"/>
              </a:lnSpc>
              <a:spcBef>
                <a:spcPct val="0"/>
              </a:spcBef>
              <a:spcAft>
                <a:spcPct val="0"/>
              </a:spcAft>
              <a:buClrTx/>
              <a:buSzTx/>
              <a:buFontTx/>
              <a:buNone/>
              <a:tabLst/>
              <a:defRPr/>
            </a:pPr>
            <a:r>
              <a:rPr lang="en-US" altLang="zh-CN" sz="3500" b="1" dirty="0" smtClean="0">
                <a:solidFill>
                  <a:schemeClr val="tx1">
                    <a:lumMod val="75000"/>
                    <a:lumOff val="25000"/>
                  </a:schemeClr>
                </a:solidFill>
                <a:latin typeface="+mn-ea"/>
                <a:ea typeface="+mn-ea"/>
              </a:rPr>
              <a:t>Revision Record</a:t>
            </a:r>
            <a:endParaRPr lang="zh-CN" altLang="en-US" sz="3500" b="1" dirty="0" smtClean="0">
              <a:solidFill>
                <a:schemeClr val="tx1">
                  <a:lumMod val="75000"/>
                  <a:lumOff val="25000"/>
                </a:schemeClr>
              </a:solidFill>
              <a:latin typeface="+mn-ea"/>
              <a:ea typeface="+mn-ea"/>
            </a:endParaRPr>
          </a:p>
        </p:txBody>
      </p:sp>
      <p:sp>
        <p:nvSpPr>
          <p:cNvPr id="64"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a:spcBef>
                <a:spcPct val="50000"/>
              </a:spcBef>
            </a:pPr>
            <a:r>
              <a:rPr lang="en-US" altLang="zh-CN" sz="2800" kern="1200" dirty="0" smtClean="0">
                <a:solidFill>
                  <a:srgbClr val="4D4D4D"/>
                </a:solidFill>
                <a:latin typeface="+mn-ea"/>
                <a:ea typeface="+mn-ea"/>
                <a:cs typeface="+mn-cs"/>
              </a:rPr>
              <a:t>Do Not Print this Page</a:t>
            </a:r>
            <a:endParaRPr lang="zh-CN" altLang="en-US" sz="2800" kern="1200" dirty="0">
              <a:solidFill>
                <a:srgbClr val="4D4D4D"/>
              </a:solidFill>
              <a:latin typeface="+mn-ea"/>
              <a:ea typeface="+mn-ea"/>
              <a:cs typeface="+mn-cs"/>
            </a:endParaRPr>
          </a:p>
        </p:txBody>
      </p:sp>
      <p:graphicFrame>
        <p:nvGraphicFramePr>
          <p:cNvPr id="30" name="Group 3"/>
          <p:cNvGraphicFramePr>
            <a:graphicFrameLocks noGrp="1"/>
          </p:cNvGraphicFramePr>
          <p:nvPr userDrawn="1">
            <p:extLst>
              <p:ext uri="{D42A27DB-BD31-4B8C-83A1-F6EECF244321}">
                <p14:modId xmlns:p14="http://schemas.microsoft.com/office/powerpoint/2010/main" val="3494048295"/>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xmlns="" val="20000"/>
                    </a:ext>
                  </a:extLst>
                </a:gridCol>
                <a:gridCol w="2155444">
                  <a:extLst>
                    <a:ext uri="{9D8B030D-6E8A-4147-A177-3AD203B41FA5}">
                      <a16:colId xmlns:a16="http://schemas.microsoft.com/office/drawing/2014/main" xmlns="" val="20001"/>
                    </a:ext>
                  </a:extLst>
                </a:gridCol>
                <a:gridCol w="2873927">
                  <a:extLst>
                    <a:ext uri="{9D8B030D-6E8A-4147-A177-3AD203B41FA5}">
                      <a16:colId xmlns:a16="http://schemas.microsoft.com/office/drawing/2014/main" xmlns="" val="20002"/>
                    </a:ext>
                  </a:extLst>
                </a:gridCol>
                <a:gridCol w="2376427">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Course Code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 Version</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mn-ea"/>
                          <a:ea typeface="+mn-ea"/>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31" name="Group 21"/>
          <p:cNvGraphicFramePr>
            <a:graphicFrameLocks noGrp="1"/>
          </p:cNvGraphicFramePr>
          <p:nvPr userDrawn="1">
            <p:extLst>
              <p:ext uri="{D42A27DB-BD31-4B8C-83A1-F6EECF244321}">
                <p14:modId xmlns:p14="http://schemas.microsoft.com/office/powerpoint/2010/main" val="3173793265"/>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xmlns="" val="20000"/>
                    </a:ext>
                  </a:extLst>
                </a:gridCol>
                <a:gridCol w="2155920">
                  <a:extLst>
                    <a:ext uri="{9D8B030D-6E8A-4147-A177-3AD203B41FA5}">
                      <a16:colId xmlns:a16="http://schemas.microsoft.com/office/drawing/2014/main" xmlns="" val="20001"/>
                    </a:ext>
                  </a:extLst>
                </a:gridCol>
                <a:gridCol w="2912127">
                  <a:extLst>
                    <a:ext uri="{9D8B030D-6E8A-4147-A177-3AD203B41FA5}">
                      <a16:colId xmlns:a16="http://schemas.microsoft.com/office/drawing/2014/main" xmlns="" val="20002"/>
                    </a:ext>
                  </a:extLst>
                </a:gridCol>
                <a:gridCol w="2310944">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Author/ID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Reviewer/ID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New</a:t>
                      </a:r>
                      <a:r>
                        <a:rPr kumimoji="1" lang="zh-CN" altLang="zh-CN" sz="1600" b="1" i="0" u="none" strike="noStrike" cap="none" normalizeH="0" baseline="0" dirty="0">
                          <a:ln>
                            <a:noFill/>
                          </a:ln>
                          <a:solidFill>
                            <a:schemeClr val="tx1"/>
                          </a:solidFill>
                          <a:effectLst/>
                          <a:latin typeface="+mn-ea"/>
                          <a:ea typeface="+mn-ea"/>
                        </a:rPr>
                        <a:t>/</a:t>
                      </a:r>
                      <a:r>
                        <a:rPr kumimoji="1" lang="en-US" altLang="zh-CN" sz="1600" b="1" i="0" u="none" strike="noStrike" cap="none" normalizeH="0" baseline="0" dirty="0">
                          <a:ln>
                            <a:noFill/>
                          </a:ln>
                          <a:solidFill>
                            <a:schemeClr val="tx1"/>
                          </a:solidFill>
                          <a:effectLst/>
                          <a:latin typeface="+mn-ea"/>
                          <a:ea typeface="+mn-ea"/>
                        </a:rPr>
                        <a:t> Update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70491851"/>
                  </a:ext>
                </a:extLst>
              </a:tr>
            </a:tbl>
          </a:graphicData>
        </a:graphic>
      </p:graphicFrame>
      <p:sp>
        <p:nvSpPr>
          <p:cNvPr id="32"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Course Code</a:t>
            </a:r>
          </a:p>
        </p:txBody>
      </p:sp>
      <p:sp>
        <p:nvSpPr>
          <p:cNvPr id="33"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Product</a:t>
            </a:r>
          </a:p>
        </p:txBody>
      </p:sp>
      <p:sp>
        <p:nvSpPr>
          <p:cNvPr id="34"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7"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8"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49"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0"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1"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2" name="文本占位符 7">
            <a:extLst>
              <a:ext uri="{FF2B5EF4-FFF2-40B4-BE49-F238E27FC236}">
                <a16:creationId xmlns:a16="http://schemas.microsoft.com/office/drawing/2014/main" xmlns=""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3" name="文本占位符 7">
            <a:extLst>
              <a:ext uri="{FF2B5EF4-FFF2-40B4-BE49-F238E27FC236}">
                <a16:creationId xmlns:a16="http://schemas.microsoft.com/office/drawing/2014/main" xmlns=""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4" name="文本占位符 7">
            <a:extLst>
              <a:ext uri="{FF2B5EF4-FFF2-40B4-BE49-F238E27FC236}">
                <a16:creationId xmlns:a16="http://schemas.microsoft.com/office/drawing/2014/main" xmlns=""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5" name="文本占位符 7">
            <a:extLst>
              <a:ext uri="{FF2B5EF4-FFF2-40B4-BE49-F238E27FC236}">
                <a16:creationId xmlns:a16="http://schemas.microsoft.com/office/drawing/2014/main" xmlns=""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6" name="文本占位符 7">
            <a:extLst>
              <a:ext uri="{FF2B5EF4-FFF2-40B4-BE49-F238E27FC236}">
                <a16:creationId xmlns:a16="http://schemas.microsoft.com/office/drawing/2014/main" xmlns=""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7" name="文本占位符 7">
            <a:extLst>
              <a:ext uri="{FF2B5EF4-FFF2-40B4-BE49-F238E27FC236}">
                <a16:creationId xmlns:a16="http://schemas.microsoft.com/office/drawing/2014/main" xmlns=""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8" name="文本占位符 7">
            <a:extLst>
              <a:ext uri="{FF2B5EF4-FFF2-40B4-BE49-F238E27FC236}">
                <a16:creationId xmlns:a16="http://schemas.microsoft.com/office/drawing/2014/main" xmlns=""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9" name="文本占位符 7">
            <a:extLst>
              <a:ext uri="{FF2B5EF4-FFF2-40B4-BE49-F238E27FC236}">
                <a16:creationId xmlns:a16="http://schemas.microsoft.com/office/drawing/2014/main" xmlns=""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60" name="文本占位符 7">
            <a:extLst>
              <a:ext uri="{FF2B5EF4-FFF2-40B4-BE49-F238E27FC236}">
                <a16:creationId xmlns:a16="http://schemas.microsoft.com/office/drawing/2014/main" xmlns=""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61" name="文本占位符 7">
            <a:extLst>
              <a:ext uri="{FF2B5EF4-FFF2-40B4-BE49-F238E27FC236}">
                <a16:creationId xmlns:a16="http://schemas.microsoft.com/office/drawing/2014/main" xmlns=""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62" name="文本占位符 7">
            <a:extLst>
              <a:ext uri="{FF2B5EF4-FFF2-40B4-BE49-F238E27FC236}">
                <a16:creationId xmlns:a16="http://schemas.microsoft.com/office/drawing/2014/main" xmlns=""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77" name="文本占位符 7">
            <a:extLst>
              <a:ext uri="{FF2B5EF4-FFF2-40B4-BE49-F238E27FC236}">
                <a16:creationId xmlns:a16="http://schemas.microsoft.com/office/drawing/2014/main" xmlns=""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78" name="文本占位符 7">
            <a:extLst>
              <a:ext uri="{FF2B5EF4-FFF2-40B4-BE49-F238E27FC236}">
                <a16:creationId xmlns:a16="http://schemas.microsoft.com/office/drawing/2014/main" xmlns=""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79" name="文本占位符 7">
            <a:extLst>
              <a:ext uri="{FF2B5EF4-FFF2-40B4-BE49-F238E27FC236}">
                <a16:creationId xmlns:a16="http://schemas.microsoft.com/office/drawing/2014/main" xmlns=""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0" name="文本占位符 7">
            <a:extLst>
              <a:ext uri="{FF2B5EF4-FFF2-40B4-BE49-F238E27FC236}">
                <a16:creationId xmlns:a16="http://schemas.microsoft.com/office/drawing/2014/main" xmlns=""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1" name="文本占位符 7">
            <a:extLst>
              <a:ext uri="{FF2B5EF4-FFF2-40B4-BE49-F238E27FC236}">
                <a16:creationId xmlns:a16="http://schemas.microsoft.com/office/drawing/2014/main" xmlns=""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2" name="文本占位符 7">
            <a:extLst>
              <a:ext uri="{FF2B5EF4-FFF2-40B4-BE49-F238E27FC236}">
                <a16:creationId xmlns:a16="http://schemas.microsoft.com/office/drawing/2014/main" xmlns=""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3" name="文本占位符 7">
            <a:extLst>
              <a:ext uri="{FF2B5EF4-FFF2-40B4-BE49-F238E27FC236}">
                <a16:creationId xmlns:a16="http://schemas.microsoft.com/office/drawing/2014/main" xmlns=""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4" name="文本占位符 7">
            <a:extLst>
              <a:ext uri="{FF2B5EF4-FFF2-40B4-BE49-F238E27FC236}">
                <a16:creationId xmlns:a16="http://schemas.microsoft.com/office/drawing/2014/main" xmlns=""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5" name="文本占位符 7">
            <a:extLst>
              <a:ext uri="{FF2B5EF4-FFF2-40B4-BE49-F238E27FC236}">
                <a16:creationId xmlns:a16="http://schemas.microsoft.com/office/drawing/2014/main" xmlns=""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Title">
    <p:spTree>
      <p:nvGrpSpPr>
        <p:cNvPr id="1" name=""/>
        <p:cNvGrpSpPr/>
        <p:nvPr/>
      </p:nvGrpSpPr>
      <p:grpSpPr>
        <a:xfrm>
          <a:off x="0" y="0"/>
          <a:ext cx="0" cy="0"/>
          <a:chOff x="0" y="0"/>
          <a:chExt cx="0" cy="0"/>
        </a:xfrm>
      </p:grpSpPr>
      <p:pic>
        <p:nvPicPr>
          <p:cNvPr id="7"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en-US" altLang="zh-CN" dirty="0" smtClean="0"/>
              <a:t>Click to Edit Title</a:t>
            </a:r>
            <a:endParaRPr lang="zh-CN" altLang="en-US" dirty="0"/>
          </a:p>
        </p:txBody>
      </p:sp>
      <p:sp>
        <p:nvSpPr>
          <p:cNvPr id="30"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en-US" altLang="zh-CN" dirty="0" smtClean="0"/>
              <a:t>Click to Edit Title</a:t>
            </a:r>
            <a:endParaRPr lang="zh-CN" altLang="en-US" dirty="0" smtClean="0"/>
          </a:p>
        </p:txBody>
      </p:sp>
      <p:sp>
        <p:nvSpPr>
          <p:cNvPr id="9"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Foreword">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a:prstGeom prst="rect">
            <a:avLst/>
          </a:prstGeom>
        </p:spPr>
        <p:txBody>
          <a:bodyPr/>
          <a:lstStyle>
            <a:lvl1pPr algn="just" eaLnBrk="1" hangingPunct="1">
              <a:defRPr>
                <a:latin typeface="+mn-ea"/>
                <a:ea typeface="+mn-ea"/>
                <a:cs typeface="Arial" panose="020B0604020202020204" pitchFamily="34" charset="0"/>
              </a:defRPr>
            </a:lvl1pPr>
            <a:lvl5pPr>
              <a:buNone/>
              <a:defRPr/>
            </a:lvl5pPr>
          </a:lstStyle>
          <a:p>
            <a:pPr eaLnBrk="1" hangingPunct="1"/>
            <a:r>
              <a:rPr lang="en-US" altLang="zh-CN" dirty="0" smtClean="0"/>
              <a:t>The chapter describes ...</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Foreword</a:t>
            </a:r>
            <a:endParaRPr lang="zh-CN" altLang="en-US"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Objectives">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a:prstGeom prst="rect">
            <a:avLst/>
          </a:prstGeo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kumimoji="0" lang="zh-CN" altLang="en-US" sz="2200" b="0" i="0" u="none" strike="noStrike" kern="0" cap="none" spc="0" normalizeH="0" baseline="0" noProof="0"/>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smtClean="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smtClean="0">
              <a:ln>
                <a:noFill/>
              </a:ln>
              <a:solidFill>
                <a:srgbClr val="000000"/>
              </a:solidFill>
              <a:effectLst/>
              <a:uLnTx/>
              <a:uFillTx/>
              <a:latin typeface="+mn-lt"/>
              <a:ea typeface="+mn-ea"/>
              <a:cs typeface="+mn-cs"/>
            </a:endParaRP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Objectives</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Contents">
    <p:spTree>
      <p:nvGrpSpPr>
        <p:cNvPr id="1" name=""/>
        <p:cNvGrpSpPr/>
        <p:nvPr/>
      </p:nvGrpSpPr>
      <p:grpSpPr>
        <a:xfrm>
          <a:off x="0" y="0"/>
          <a:ext cx="0" cy="0"/>
          <a:chOff x="0" y="0"/>
          <a:chExt cx="0" cy="0"/>
        </a:xfrm>
      </p:grpSpPr>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b="1" kern="1200" dirty="0" smtClean="0">
                <a:solidFill>
                  <a:schemeClr val="tx1">
                    <a:lumMod val="75000"/>
                    <a:lumOff val="25000"/>
                  </a:schemeClr>
                </a:solidFill>
                <a:latin typeface="+mn-ea"/>
                <a:ea typeface="+mn-ea"/>
                <a:cs typeface="Arial" pitchFamily="34" charset="0"/>
              </a:rPr>
              <a:t>Contents</a:t>
            </a:r>
            <a:endParaRPr lang="en-US" altLang="zh-CN" sz="3500" b="1" kern="1200" dirty="0">
              <a:solidFill>
                <a:schemeClr val="tx1">
                  <a:lumMod val="75000"/>
                  <a:lumOff val="25000"/>
                </a:schemeClr>
              </a:solidFill>
              <a:latin typeface="+mn-ea"/>
              <a:ea typeface="+mn-ea"/>
              <a:cs typeface="Arial" pitchFamily="34" charset="0"/>
            </a:endParaRP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8" name="文本占位符 6"/>
          <p:cNvSpPr>
            <a:spLocks noGrp="1"/>
          </p:cNvSpPr>
          <p:nvPr>
            <p:ph type="body" sz="quarter" idx="10" hasCustomPrompt="1"/>
          </p:nvPr>
        </p:nvSpPr>
        <p:spPr>
          <a:xfrm>
            <a:off x="912285" y="1233488"/>
            <a:ext cx="10560048"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lang="zh-CN" altLang="en-US" sz="2200" baseline="0" dirty="0">
                <a:solidFill>
                  <a:schemeClr val="tx1"/>
                </a:solidFill>
                <a:latin typeface="+mn-lt"/>
                <a:ea typeface="+mn-ea"/>
                <a:cs typeface="+mn-cs"/>
              </a:defRPr>
            </a:lvl1pPr>
          </a:lstStyle>
          <a:p>
            <a:r>
              <a:rPr lang="en-US" altLang="zh-CN" dirty="0" smtClean="0"/>
              <a:t>Item 1</a:t>
            </a:r>
            <a:endParaRPr lang="zh-CN" altLang="en-US" dirty="0"/>
          </a:p>
        </p:txBody>
      </p:sp>
      <p:sp>
        <p:nvSpPr>
          <p:cNvPr id="2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3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Overview and Objectives(Optional)">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Overview and Objectives</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3"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Title and Content">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912285" y="1233488"/>
            <a:ext cx="10560048" cy="4680000"/>
          </a:xfrm>
          <a:prstGeom prst="rect">
            <a:avLst/>
          </a:prstGeom>
        </p:spPr>
        <p:txBody>
          <a:bodyPr/>
          <a:lstStyle>
            <a:lvl1pPr algn="just">
              <a:defRPr>
                <a:latin typeface="+mn-ea"/>
                <a:ea typeface="+mn-ea"/>
                <a:cs typeface="Arial" panose="020B0604020202020204" pitchFamily="34" charset="0"/>
              </a:defRPr>
            </a:lvl1pPr>
          </a:lstStyle>
          <a:p>
            <a:r>
              <a:rPr lang="en-US" altLang="zh-CN" dirty="0" smtClean="0"/>
              <a:t>Click here to edit</a:t>
            </a:r>
            <a:endParaRPr lang="zh-CN" altLang="en-US" dirty="0"/>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8" name="组合 7"/>
          <p:cNvGrpSpPr/>
          <p:nvPr userDrawn="1"/>
        </p:nvGrpSpPr>
        <p:grpSpPr>
          <a:xfrm>
            <a:off x="587388" y="505779"/>
            <a:ext cx="374708" cy="445558"/>
            <a:chOff x="-1647825" y="2492375"/>
            <a:chExt cx="1947863" cy="2316163"/>
          </a:xfrm>
          <a:solidFill>
            <a:schemeClr val="bg1"/>
          </a:solidFill>
        </p:grpSpPr>
        <p:sp>
          <p:nvSpPr>
            <p:cNvPr id="9"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0"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1"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Title Only">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White Backgroun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Quiz">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en-US" altLang="zh-CN" dirty="0" smtClean="0"/>
              <a:t>Question description.</a:t>
            </a:r>
            <a:endParaRPr lang="en-US" altLang="zh-CN"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Quiz</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4"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5"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Section Summary(Optional)">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Click here to edit summary</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Section Summary</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Summary">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Summary</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4" name="文本占位符 6"/>
          <p:cNvSpPr>
            <a:spLocks noGrp="1"/>
          </p:cNvSpPr>
          <p:nvPr>
            <p:ph type="body" sz="quarter" idx="11" hasCustomPrompt="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en-US" altLang="zh-CN" dirty="0" smtClean="0"/>
              <a:t>Click to edit</a:t>
            </a:r>
            <a:endParaRPr lang="zh-CN" altLang="en-US"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guide id="2" pos="57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More Information(Optional)">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More information for trainees</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More Information</a:t>
            </a:r>
            <a:endParaRPr lang="en-US" altLang="zh-CN" sz="3500" b="1" kern="1200" dirty="0">
              <a:solidFill>
                <a:schemeClr val="tx1">
                  <a:lumMod val="75000"/>
                  <a:lumOff val="25000"/>
                </a:schemeClr>
              </a:solidFill>
              <a:latin typeface="+mn-ea"/>
              <a:ea typeface="+mn-ea"/>
              <a:cs typeface="Arial" pitchFamily="34" charset="0"/>
            </a:endParaRP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Recommendations(Optional)">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Recommendations</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Thank You">
    <p:spTree>
      <p:nvGrpSpPr>
        <p:cNvPr id="1" name=""/>
        <p:cNvGrpSpPr/>
        <p:nvPr/>
      </p:nvGrpSpPr>
      <p:grpSpPr>
        <a:xfrm>
          <a:off x="0" y="0"/>
          <a:ext cx="0" cy="0"/>
          <a:chOff x="0" y="0"/>
          <a:chExt cx="0" cy="0"/>
        </a:xfrm>
      </p:grpSpPr>
      <p:pic>
        <p:nvPicPr>
          <p:cNvPr id="7"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bwMode="auto">
          <a:xfrm>
            <a:off x="-24680" y="-8620"/>
            <a:ext cx="12240000" cy="6876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mn-ea"/>
              <a:ea typeface="+mn-ea"/>
            </a:endParaRPr>
          </a:p>
        </p:txBody>
      </p:sp>
      <p:grpSp>
        <p:nvGrpSpPr>
          <p:cNvPr id="4" name="组合 3"/>
          <p:cNvGrpSpPr/>
          <p:nvPr userDrawn="1"/>
        </p:nvGrpSpPr>
        <p:grpSpPr>
          <a:xfrm>
            <a:off x="4106469" y="2676330"/>
            <a:ext cx="3971726" cy="1543241"/>
            <a:chOff x="4698555" y="2537610"/>
            <a:chExt cx="3971726" cy="1543241"/>
          </a:xfrm>
        </p:grpSpPr>
        <p:sp>
          <p:nvSpPr>
            <p:cNvPr id="5" name="Text Box 9">
              <a:extLst>
                <a:ext uri="{FF2B5EF4-FFF2-40B4-BE49-F238E27FC236}">
                  <a16:creationId xmlns:a16="http://schemas.microsoft.com/office/drawing/2014/main" xmlns="" id="{9D36E720-0E25-41AB-8346-B547D8B86001}"/>
                </a:ext>
              </a:extLst>
            </p:cNvPr>
            <p:cNvSpPr txBox="1">
              <a:spLocks noChangeArrowheads="1"/>
            </p:cNvSpPr>
            <p:nvPr/>
          </p:nvSpPr>
          <p:spPr bwMode="auto">
            <a:xfrm>
              <a:off x="4698555" y="3447730"/>
              <a:ext cx="3971726" cy="633121"/>
            </a:xfrm>
            <a:prstGeom prst="rect">
              <a:avLst/>
            </a:prstGeom>
            <a:noFill/>
            <a:ln w="9525">
              <a:noFill/>
              <a:miter lim="800000"/>
              <a:headEnd/>
              <a:tailEnd/>
            </a:ln>
          </p:spPr>
          <p:txBody>
            <a:bodyPr wrap="none" lIns="78358" tIns="39179" rIns="78358" bIns="39179">
              <a:spAutoFit/>
            </a:bodyPr>
            <a:lstStyle>
              <a:defPPr>
                <a:defRPr lang="zh-CN"/>
              </a:defPPr>
              <a:lvl1pPr defTabSz="784225" eaLnBrk="0" hangingPunct="0">
                <a:buSzPct val="100000"/>
                <a:defRPr sz="3600">
                  <a:solidFill>
                    <a:schemeClr val="bg1"/>
                  </a:solidFill>
                  <a:effectLst>
                    <a:outerShdw blurRad="38100" dist="38100" dir="2700000" algn="tl">
                      <a:srgbClr val="000000">
                        <a:alpha val="43137"/>
                      </a:srgbClr>
                    </a:outerShdw>
                  </a:effectLst>
                  <a:latin typeface="+mn-ea"/>
                  <a:ea typeface="+mn-ea"/>
                  <a:cs typeface="Arial" panose="020B0604020202020204" pitchFamily="34" charset="0"/>
                </a:defRPr>
              </a:lvl1pPr>
            </a:lstStyle>
            <a:p>
              <a:pPr lvl="0"/>
              <a:r>
                <a:rPr lang="zh-CN" altLang="zh-CN" dirty="0">
                  <a:sym typeface="FrutigerNext LT Regular" pitchFamily="34" charset="0"/>
                </a:rPr>
                <a:t>www.huawei.com</a:t>
              </a:r>
            </a:p>
          </p:txBody>
        </p:sp>
        <p:sp>
          <p:nvSpPr>
            <p:cNvPr id="6" name="Text Box 8">
              <a:extLst>
                <a:ext uri="{FF2B5EF4-FFF2-40B4-BE49-F238E27FC236}">
                  <a16:creationId xmlns:a16="http://schemas.microsoft.com/office/drawing/2014/main" xmlns="" id="{11ED55EC-FD16-4B98-B04D-4605D3C0D784}"/>
                </a:ext>
              </a:extLst>
            </p:cNvPr>
            <p:cNvSpPr txBox="1">
              <a:spLocks noChangeArrowheads="1"/>
            </p:cNvSpPr>
            <p:nvPr/>
          </p:nvSpPr>
          <p:spPr bwMode="auto">
            <a:xfrm>
              <a:off x="4891281" y="2537610"/>
              <a:ext cx="3593610" cy="910120"/>
            </a:xfrm>
            <a:prstGeom prst="rect">
              <a:avLst/>
            </a:prstGeom>
            <a:noFill/>
            <a:ln w="9525">
              <a:noFill/>
              <a:miter lim="800000"/>
              <a:headEnd/>
              <a:tailEnd/>
            </a:ln>
          </p:spPr>
          <p:txBody>
            <a:bodyPr wrap="none" lIns="78358" tIns="39179" rIns="78358" bIns="39179">
              <a:spAutoFit/>
            </a:bodyPr>
            <a:lstStyle>
              <a:defPPr>
                <a:defRPr lang="zh-CN"/>
              </a:defPPr>
              <a:lvl1pPr defTabSz="784225" eaLnBrk="0" fontAlgn="base" hangingPunct="0">
                <a:buSzPct val="100000"/>
                <a:defRPr sz="5400">
                  <a:solidFill>
                    <a:schemeClr val="bg1"/>
                  </a:solidFill>
                  <a:effectLst>
                    <a:outerShdw blurRad="38100" dist="38100" dir="2700000" algn="tl">
                      <a:srgbClr val="000000">
                        <a:alpha val="43137"/>
                      </a:srgbClr>
                    </a:outerShdw>
                  </a:effectLst>
                  <a:latin typeface="+mn-ea"/>
                  <a:ea typeface="+mn-ea"/>
                </a:defRPr>
              </a:lvl1pPr>
            </a:lstStyle>
            <a:p>
              <a:pPr lvl="0"/>
              <a:r>
                <a:rPr lang="en-US" altLang="zh-CN" dirty="0" smtClean="0">
                  <a:sym typeface="FrutigerNext LT Regular" pitchFamily="34" charset="0"/>
                </a:rPr>
                <a:t>Thank You</a:t>
              </a:r>
              <a:endParaRPr lang="zh-CN" altLang="zh-CN" dirty="0">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1_2#Title">
    <p:spTree>
      <p:nvGrpSpPr>
        <p:cNvPr id="1" name=""/>
        <p:cNvGrpSpPr/>
        <p:nvPr/>
      </p:nvGrpSpPr>
      <p:grpSpPr>
        <a:xfrm>
          <a:off x="0" y="0"/>
          <a:ext cx="0" cy="0"/>
          <a:chOff x="0" y="0"/>
          <a:chExt cx="0" cy="0"/>
        </a:xfrm>
      </p:grpSpPr>
      <p:pic>
        <p:nvPicPr>
          <p:cNvPr id="3" name="Picture 46" descr="Logo"/>
          <p:cNvPicPr>
            <a:picLocks noChangeAspect="1" noChangeArrowheads="1"/>
          </p:cNvPicPr>
          <p:nvPr/>
        </p:nvPicPr>
        <p:blipFill>
          <a:blip r:embed="rId2" cstate="print"/>
          <a:srcRect/>
          <a:stretch>
            <a:fillRect/>
          </a:stretch>
        </p:blipFill>
        <p:spPr bwMode="auto">
          <a:xfrm>
            <a:off x="10011834" y="5578475"/>
            <a:ext cx="1094317" cy="820738"/>
          </a:xfrm>
          <a:prstGeom prst="rect">
            <a:avLst/>
          </a:prstGeom>
          <a:noFill/>
          <a:ln w="9525">
            <a:noFill/>
            <a:miter lim="800000"/>
            <a:headEnd/>
            <a:tailEnd/>
          </a:ln>
        </p:spPr>
      </p:pic>
      <p:pic>
        <p:nvPicPr>
          <p:cNvPr id="4" name="Picture 47" descr="2"/>
          <p:cNvPicPr>
            <a:picLocks noChangeAspect="1" noChangeArrowheads="1"/>
          </p:cNvPicPr>
          <p:nvPr/>
        </p:nvPicPr>
        <p:blipFill>
          <a:blip r:embed="rId3" cstate="print"/>
          <a:srcRect/>
          <a:stretch>
            <a:fillRect/>
          </a:stretch>
        </p:blipFill>
        <p:spPr bwMode="auto">
          <a:xfrm>
            <a:off x="0" y="782638"/>
            <a:ext cx="12192000" cy="3810000"/>
          </a:xfrm>
          <a:prstGeom prst="rect">
            <a:avLst/>
          </a:prstGeom>
          <a:noFill/>
          <a:ln w="9525">
            <a:noFill/>
            <a:miter lim="800000"/>
            <a:headEnd/>
            <a:tailEnd/>
          </a:ln>
        </p:spPr>
      </p:pic>
      <p:sp>
        <p:nvSpPr>
          <p:cNvPr id="5" name="Text Box 48"/>
          <p:cNvSpPr txBox="1">
            <a:spLocks noChangeArrowheads="1"/>
          </p:cNvSpPr>
          <p:nvPr/>
        </p:nvSpPr>
        <p:spPr bwMode="auto">
          <a:xfrm>
            <a:off x="9632951" y="4094163"/>
            <a:ext cx="1338782" cy="265564"/>
          </a:xfrm>
          <a:prstGeom prst="rect">
            <a:avLst/>
          </a:prstGeom>
          <a:noFill/>
          <a:ln w="9525">
            <a:noFill/>
            <a:miter lim="800000"/>
            <a:headEnd/>
            <a:tailEnd/>
          </a:ln>
        </p:spPr>
        <p:txBody>
          <a:bodyPr wrap="none" lIns="80114" tIns="40058" rIns="80114" bIns="40058">
            <a:spAutoFit/>
          </a:bodyPr>
          <a:lstStyle/>
          <a:p>
            <a:pPr defTabSz="801688" eaLnBrk="0" fontAlgn="base" hangingPunct="0">
              <a:defRPr/>
            </a:pPr>
            <a:r>
              <a:rPr lang="en-US" altLang="zh-CN" sz="1200" dirty="0">
                <a:solidFill>
                  <a:schemeClr val="bg1"/>
                </a:solidFill>
                <a:ea typeface="MS PGothic" pitchFamily="34" charset="-128"/>
              </a:rPr>
              <a:t>www.huawei.com</a:t>
            </a:r>
          </a:p>
        </p:txBody>
      </p:sp>
      <p:sp>
        <p:nvSpPr>
          <p:cNvPr id="1414185" name="Rectangle 41"/>
          <p:cNvSpPr>
            <a:spLocks noGrp="1" noChangeArrowheads="1"/>
          </p:cNvSpPr>
          <p:nvPr>
            <p:ph type="ctrTitle" sz="quarter" hasCustomPrompt="1"/>
          </p:nvPr>
        </p:nvSpPr>
        <p:spPr>
          <a:xfrm>
            <a:off x="1007533" y="1419226"/>
            <a:ext cx="8016792" cy="1470025"/>
          </a:xfrm>
          <a:ln algn="ctr"/>
        </p:spPr>
        <p:txBody>
          <a:bodyPr lIns="87802" tIns="43901" rIns="87802" bIns="43901"/>
          <a:lstStyle>
            <a:lvl1pPr defTabSz="784225" eaLnBrk="0" hangingPunct="0">
              <a:defRPr sz="4300">
                <a:solidFill>
                  <a:schemeClr val="bg1"/>
                </a:solidFill>
              </a:defRPr>
            </a:lvl1pPr>
          </a:lstStyle>
          <a:p>
            <a:r>
              <a:rPr lang="en-US" altLang="zh-CN" dirty="0" smtClean="0"/>
              <a:t>Click to Edit Title</a:t>
            </a:r>
            <a:endParaRPr lang="zh-CN" altLang="en-US" dirty="0"/>
          </a:p>
        </p:txBody>
      </p:sp>
      <p:sp>
        <p:nvSpPr>
          <p:cNvPr id="7" name="Rectangle 14"/>
          <p:cNvSpPr>
            <a:spLocks noChangeArrowheads="1"/>
          </p:cNvSpPr>
          <p:nvPr/>
        </p:nvSpPr>
        <p:spPr bwMode="auto">
          <a:xfrm>
            <a:off x="874184" y="6207125"/>
            <a:ext cx="5017968" cy="265552"/>
          </a:xfrm>
          <a:prstGeom prst="rect">
            <a:avLst/>
          </a:prstGeom>
          <a:noFill/>
          <a:ln w="9525" algn="ctr">
            <a:noFill/>
            <a:miter lim="800000"/>
            <a:headEnd/>
            <a:tailEnd/>
          </a:ln>
          <a:effectLst/>
        </p:spPr>
        <p:txBody>
          <a:bodyPr wrap="none" lIns="80101" tIns="40052" rIns="80101" bIns="40052">
            <a:spAutoFit/>
          </a:bodyPr>
          <a:lstStyle/>
          <a:p>
            <a:pPr defTabSz="801688" eaLnBrk="0" fontAlgn="base" hangingPunct="0">
              <a:defRPr/>
            </a:pPr>
            <a:r>
              <a:rPr lang="en-US" altLang="zh-CN" sz="1200" dirty="0" smtClean="0">
                <a:latin typeface="FrutigerNext LT Bold" pitchFamily="20" charset="0"/>
                <a:ea typeface="MS PGothic" pitchFamily="34" charset="-128"/>
              </a:rPr>
              <a:t>Copyright © 2017 Huawei Technologies Co., Ltd. All rights reserved. </a:t>
            </a:r>
            <a:endParaRPr lang="en-US" altLang="zh-CN" sz="1200" dirty="0">
              <a:latin typeface="FrutigerNext LT Bold" pitchFamily="20" charset="0"/>
              <a:ea typeface="MS PGothic" pitchFamily="34" charset="-128"/>
            </a:endParaRPr>
          </a:p>
        </p:txBody>
      </p:sp>
    </p:spTree>
    <p:extLst>
      <p:ext uri="{BB962C8B-B14F-4D97-AF65-F5344CB8AC3E}">
        <p14:creationId xmlns:p14="http://schemas.microsoft.com/office/powerpoint/2010/main" val="347418985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7#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
        <p:nvSpPr>
          <p:cNvPr id="3" name="文本占位符 6"/>
          <p:cNvSpPr>
            <a:spLocks noGrp="1"/>
          </p:cNvSpPr>
          <p:nvPr>
            <p:ph type="body" sz="quarter" idx="10" hasCustomPrompt="1"/>
          </p:nvPr>
        </p:nvSpPr>
        <p:spPr>
          <a:xfrm>
            <a:off x="912285" y="1376363"/>
            <a:ext cx="10560049" cy="3924300"/>
          </a:xfrm>
        </p:spPr>
        <p:txBody>
          <a:bodyPr/>
          <a:lstStyle>
            <a:lvl1pPr>
              <a:defRPr/>
            </a:lvl1pPr>
          </a:lstStyle>
          <a:p>
            <a:r>
              <a:rPr lang="en-US" altLang="zh-CN" dirty="0" smtClean="0"/>
              <a:t>Click here to edit</a:t>
            </a:r>
            <a:endParaRPr lang="zh-CN" altLang="en-US" dirty="0"/>
          </a:p>
        </p:txBody>
      </p:sp>
    </p:spTree>
    <p:extLst>
      <p:ext uri="{BB962C8B-B14F-4D97-AF65-F5344CB8AC3E}">
        <p14:creationId xmlns:p14="http://schemas.microsoft.com/office/powerpoint/2010/main" val="215074034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1839761411"/>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2_7#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
        <p:nvSpPr>
          <p:cNvPr id="3" name="文本占位符 6"/>
          <p:cNvSpPr>
            <a:spLocks noGrp="1"/>
          </p:cNvSpPr>
          <p:nvPr>
            <p:ph type="body" sz="quarter" idx="10" hasCustomPrompt="1"/>
          </p:nvPr>
        </p:nvSpPr>
        <p:spPr>
          <a:xfrm>
            <a:off x="912285" y="1376363"/>
            <a:ext cx="10560049" cy="3924300"/>
          </a:xfrm>
        </p:spPr>
        <p:txBody>
          <a:bodyPr/>
          <a:lstStyle>
            <a:lvl1pPr>
              <a:defRPr/>
            </a:lvl1pPr>
          </a:lstStyle>
          <a:p>
            <a:r>
              <a:rPr lang="en-US" altLang="zh-CN" dirty="0" smtClean="0"/>
              <a:t>Click here to edit</a:t>
            </a:r>
            <a:endParaRPr lang="zh-CN" altLang="en-US" dirty="0"/>
          </a:p>
        </p:txBody>
      </p:sp>
    </p:spTree>
    <p:extLst>
      <p:ext uri="{BB962C8B-B14F-4D97-AF65-F5344CB8AC3E}">
        <p14:creationId xmlns:p14="http://schemas.microsoft.com/office/powerpoint/2010/main" val="123714868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2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2722023483"/>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3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1098067052"/>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4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1533272788"/>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3_7#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
        <p:nvSpPr>
          <p:cNvPr id="3" name="文本占位符 6"/>
          <p:cNvSpPr>
            <a:spLocks noGrp="1"/>
          </p:cNvSpPr>
          <p:nvPr>
            <p:ph type="body" sz="quarter" idx="10" hasCustomPrompt="1"/>
          </p:nvPr>
        </p:nvSpPr>
        <p:spPr>
          <a:xfrm>
            <a:off x="912285" y="1376363"/>
            <a:ext cx="10560049" cy="3924300"/>
          </a:xfrm>
        </p:spPr>
        <p:txBody>
          <a:bodyPr/>
          <a:lstStyle>
            <a:lvl1pPr>
              <a:defRPr/>
            </a:lvl1pPr>
          </a:lstStyle>
          <a:p>
            <a:r>
              <a:rPr lang="en-US" altLang="zh-CN" dirty="0" smtClean="0"/>
              <a:t>Click here to edit</a:t>
            </a:r>
            <a:endParaRPr lang="zh-CN" altLang="en-US" dirty="0"/>
          </a:p>
        </p:txBody>
      </p:sp>
    </p:spTree>
    <p:extLst>
      <p:ext uri="{BB962C8B-B14F-4D97-AF65-F5344CB8AC3E}">
        <p14:creationId xmlns:p14="http://schemas.microsoft.com/office/powerpoint/2010/main" val="4084577923"/>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4_7#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
        <p:nvSpPr>
          <p:cNvPr id="3" name="文本占位符 6"/>
          <p:cNvSpPr>
            <a:spLocks noGrp="1"/>
          </p:cNvSpPr>
          <p:nvPr>
            <p:ph type="body" sz="quarter" idx="10" hasCustomPrompt="1"/>
          </p:nvPr>
        </p:nvSpPr>
        <p:spPr>
          <a:xfrm>
            <a:off x="912285" y="1376363"/>
            <a:ext cx="10560049" cy="3924300"/>
          </a:xfrm>
        </p:spPr>
        <p:txBody>
          <a:bodyPr/>
          <a:lstStyle>
            <a:lvl1pPr>
              <a:defRPr/>
            </a:lvl1pPr>
          </a:lstStyle>
          <a:p>
            <a:r>
              <a:rPr lang="en-US" altLang="zh-CN" dirty="0" smtClean="0"/>
              <a:t>Click here to edit</a:t>
            </a:r>
            <a:endParaRPr lang="zh-CN" altLang="en-US" dirty="0"/>
          </a:p>
        </p:txBody>
      </p:sp>
    </p:spTree>
    <p:extLst>
      <p:ext uri="{BB962C8B-B14F-4D97-AF65-F5344CB8AC3E}">
        <p14:creationId xmlns:p14="http://schemas.microsoft.com/office/powerpoint/2010/main" val="116470354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5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437606479"/>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5_7#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
        <p:nvSpPr>
          <p:cNvPr id="3" name="文本占位符 6"/>
          <p:cNvSpPr>
            <a:spLocks noGrp="1"/>
          </p:cNvSpPr>
          <p:nvPr>
            <p:ph type="body" sz="quarter" idx="10" hasCustomPrompt="1"/>
          </p:nvPr>
        </p:nvSpPr>
        <p:spPr>
          <a:xfrm>
            <a:off x="912285" y="1376363"/>
            <a:ext cx="10560049" cy="3924300"/>
          </a:xfrm>
        </p:spPr>
        <p:txBody>
          <a:bodyPr/>
          <a:lstStyle>
            <a:lvl1pPr>
              <a:defRPr/>
            </a:lvl1pPr>
          </a:lstStyle>
          <a:p>
            <a:r>
              <a:rPr lang="en-US" altLang="zh-CN" dirty="0" smtClean="0"/>
              <a:t>Click here to edit</a:t>
            </a:r>
            <a:endParaRPr lang="zh-CN" altLang="en-US" dirty="0"/>
          </a:p>
        </p:txBody>
      </p:sp>
    </p:spTree>
    <p:extLst>
      <p:ext uri="{BB962C8B-B14F-4D97-AF65-F5344CB8AC3E}">
        <p14:creationId xmlns:p14="http://schemas.microsoft.com/office/powerpoint/2010/main" val="423758638"/>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6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3307187320"/>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7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smtClean="0"/>
              <a:t>Title</a:t>
            </a:r>
            <a:endParaRPr lang="zh-CN" altLang="en-US" dirty="0"/>
          </a:p>
        </p:txBody>
      </p:sp>
    </p:spTree>
    <p:extLst>
      <p:ext uri="{BB962C8B-B14F-4D97-AF65-F5344CB8AC3E}">
        <p14:creationId xmlns:p14="http://schemas.microsoft.com/office/powerpoint/2010/main" val="121316383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7" name="Rectangle 6"/>
          <p:cNvSpPr>
            <a:spLocks noGrp="1" noChangeArrowheads="1"/>
          </p:cNvSpPr>
          <p:nvPr>
            <p:ph type="title"/>
          </p:nvPr>
        </p:nvSpPr>
        <p:spPr bwMode="auto">
          <a:xfrm>
            <a:off x="911424" y="262036"/>
            <a:ext cx="106023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9" name="Rectangle 57"/>
          <p:cNvSpPr>
            <a:spLocks noGrp="1" noChangeArrowheads="1"/>
          </p:cNvSpPr>
          <p:nvPr>
            <p:ph type="body" idx="1"/>
          </p:nvPr>
        </p:nvSpPr>
        <p:spPr bwMode="auto">
          <a:xfrm>
            <a:off x="911425" y="1249461"/>
            <a:ext cx="10572749" cy="504867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69"/>
          <p:cNvSpPr>
            <a:spLocks noChangeArrowheads="1"/>
          </p:cNvSpPr>
          <p:nvPr userDrawn="1"/>
        </p:nvSpPr>
        <p:spPr bwMode="auto">
          <a:xfrm>
            <a:off x="119336" y="6500581"/>
            <a:ext cx="70467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n-ea"/>
                <a:cs typeface="Arial" pitchFamily="34" charset="0"/>
              </a:rPr>
              <a:t>Page</a:t>
            </a:r>
            <a:r>
              <a:rPr lang="en-US" altLang="zh-CN" sz="1200" baseline="0" dirty="0">
                <a:latin typeface="+mj-lt"/>
                <a:ea typeface="+mn-ea"/>
                <a:cs typeface="Arial" pitchFamily="34" charset="0"/>
              </a:rPr>
              <a:t> </a:t>
            </a:r>
            <a:fld id="{2F2CF7F5-F178-4429-B6CA-28062DF31937}" type="slidenum">
              <a:rPr lang="en-US" altLang="zh-CN" sz="1200" smtClean="0">
                <a:latin typeface="+mj-lt"/>
                <a:ea typeface="+mn-ea"/>
                <a:cs typeface="Arial" pitchFamily="34" charset="0"/>
              </a:rPr>
              <a:pPr defTabSz="801668" eaLnBrk="0" fontAlgn="base" hangingPunct="0">
                <a:defRPr/>
              </a:pPr>
              <a:t>‹#›</a:t>
            </a:fld>
            <a:endParaRPr lang="en-US" altLang="zh-CN" sz="1200" dirty="0">
              <a:latin typeface="+mj-lt"/>
              <a:ea typeface="+mn-ea"/>
              <a:cs typeface="Arial" pitchFamily="34" charset="0"/>
            </a:endParaRPr>
          </a:p>
        </p:txBody>
      </p:sp>
      <p:sp>
        <p:nvSpPr>
          <p:cNvPr id="11"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58" r:id="rId7"/>
    <p:sldLayoutId id="2147483828" r:id="rId8"/>
    <p:sldLayoutId id="2147483863" r:id="rId9"/>
    <p:sldLayoutId id="2147483862" r:id="rId10"/>
    <p:sldLayoutId id="2147483851" r:id="rId11"/>
    <p:sldLayoutId id="2147483852" r:id="rId12"/>
    <p:sldLayoutId id="2147483850" r:id="rId13"/>
    <p:sldLayoutId id="2147483861"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5" r:id="rId24"/>
    <p:sldLayoutId id="2147483876" r:id="rId25"/>
    <p:sldLayoutId id="2147483877" r:id="rId26"/>
    <p:sldLayoutId id="2147483878" r:id="rId27"/>
    <p:sldLayoutId id="2147483879" r:id="rId28"/>
  </p:sldLayoutIdLst>
  <p:timing>
    <p:tnLst>
      <p:par>
        <p:cTn id="1" dur="indefinite" restart="never" nodeType="tmRoot"/>
      </p:par>
    </p:tnLst>
  </p:timing>
  <p:hf hdr="0" ftr="0" dt="0"/>
  <p:txStyles>
    <p:titleStyle>
      <a:lvl1pPr algn="l" defTabSz="801688" rtl="0" eaLnBrk="0" fontAlgn="base" hangingPunct="0">
        <a:spcBef>
          <a:spcPct val="0"/>
        </a:spcBef>
        <a:spcAft>
          <a:spcPct val="0"/>
        </a:spcAft>
        <a:defRPr sz="3500" b="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1.wdp"/><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882435592"/>
          <p:cNvSpPr>
            <a:spLocks noGrp="1"/>
          </p:cNvSpPr>
          <p:nvPr>
            <p:ph type="ctrTitle" sz="quarter"/>
          </p:nvPr>
        </p:nvSpPr>
        <p:spPr/>
        <p:txBody>
          <a:bodyPr/>
          <a:lstStyle/>
          <a:p>
            <a:r>
              <a:rPr lang="en-US" altLang="zh-CN" smtClean="0"/>
              <a:t>VRRP Principles and Configurations</a:t>
            </a:r>
            <a:endParaRPr lang="en-US" altLang="zh-CN" dirty="0"/>
          </a:p>
        </p:txBody>
      </p:sp>
      <p:sp>
        <p:nvSpPr>
          <p:cNvPr id="6" name="文本占位符 5"/>
          <p:cNvSpPr>
            <a:spLocks noGrp="1"/>
          </p:cNvSpPr>
          <p:nvPr>
            <p:ph type="body" sz="quarter" idx="10"/>
          </p:nvPr>
        </p:nvSpPr>
        <p:spPr/>
        <p:txBody>
          <a:bodyPr/>
          <a:lstStyle/>
          <a:p>
            <a:endParaRPr lang="zh-CN" altLang="en-US"/>
          </a:p>
        </p:txBody>
      </p:sp>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pPr fontAlgn="ctr"/>
            <a:endParaRPr lang="en-US" altLang="zh-CN">
              <a:latin typeface="FrutigerNext LT Regular"/>
            </a:endParaRPr>
          </a:p>
        </p:txBody>
      </p:sp>
    </p:spTree>
    <p:extLst>
      <p:ext uri="{BB962C8B-B14F-4D97-AF65-F5344CB8AC3E}">
        <p14:creationId xmlns:p14="http://schemas.microsoft.com/office/powerpoint/2010/main" val="29480582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701078828"/>
          <p:cNvSpPr>
            <a:spLocks noGrp="1"/>
          </p:cNvSpPr>
          <p:nvPr>
            <p:ph type="body" sz="quarter" idx="10"/>
          </p:nvPr>
        </p:nvSpPr>
        <p:spPr/>
        <p:txBody>
          <a:bodyPr/>
          <a:lstStyle/>
          <a:p>
            <a:r>
              <a:rPr lang="en-US" altLang="zh-CN" dirty="0" smtClean="0"/>
              <a:t>User terminals on a LAN often access the external network through the configured default gateway. If the default gateway fails, network access of all the user terminals is terminated. Consequently, there will be huge loss. You can deploy multiple gateways to solve single-point failures. How do these gateways work collaboratively without conflicts?</a:t>
            </a:r>
          </a:p>
          <a:p>
            <a:r>
              <a:rPr lang="en-US" altLang="zh-CN" dirty="0" smtClean="0"/>
              <a:t>VRRP is used to solve the preceding problem. It can implement gateway backup and prevent conflicts of multiple gateways. How is VRRP implemented? How is VRRP configured?</a:t>
            </a:r>
            <a:endParaRPr lang="en-US" altLang="zh-CN" dirty="0"/>
          </a:p>
        </p:txBody>
      </p:sp>
    </p:spTree>
    <p:extLst>
      <p:ext uri="{BB962C8B-B14F-4D97-AF65-F5344CB8AC3E}">
        <p14:creationId xmlns:p14="http://schemas.microsoft.com/office/powerpoint/2010/main" val="23037105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83052670"/>
          <p:cNvSpPr>
            <a:spLocks noGrp="1"/>
          </p:cNvSpPr>
          <p:nvPr>
            <p:ph idx="1"/>
          </p:nvPr>
        </p:nvSpPr>
        <p:spPr/>
        <p:txBody>
          <a:bodyPr/>
          <a:lstStyle/>
          <a:p>
            <a:r>
              <a:rPr lang="en-US" altLang="zh-CN" dirty="0" smtClean="0"/>
              <a:t>Upon completion of this section, you will be able to:</a:t>
            </a:r>
          </a:p>
          <a:p>
            <a:pPr lvl="1"/>
            <a:r>
              <a:rPr lang="en-US" altLang="zh-CN" dirty="0" smtClean="0"/>
              <a:t>Master VRRP principles</a:t>
            </a:r>
          </a:p>
          <a:p>
            <a:pPr lvl="1"/>
            <a:r>
              <a:rPr lang="en-US" altLang="zh-CN" dirty="0" smtClean="0"/>
              <a:t>Understand the VRRP active/standby switchover</a:t>
            </a:r>
          </a:p>
          <a:p>
            <a:pPr lvl="1"/>
            <a:r>
              <a:rPr lang="en-US" altLang="zh-CN" dirty="0" smtClean="0"/>
              <a:t>Master VRRP configurations</a:t>
            </a:r>
            <a:endParaRPr lang="en-US" altLang="zh-CN" dirty="0"/>
          </a:p>
        </p:txBody>
      </p:sp>
    </p:spTree>
    <p:extLst>
      <p:ext uri="{BB962C8B-B14F-4D97-AF65-F5344CB8AC3E}">
        <p14:creationId xmlns:p14="http://schemas.microsoft.com/office/powerpoint/2010/main" val="141732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606331036"/>
          <p:cNvSpPr>
            <a:spLocks noGrp="1"/>
          </p:cNvSpPr>
          <p:nvPr>
            <p:ph type="body" sz="quarter" idx="10"/>
          </p:nvPr>
        </p:nvSpPr>
        <p:spPr/>
        <p:txBody>
          <a:bodyPr/>
          <a:lstStyle/>
          <a:p>
            <a:r>
              <a:rPr lang="en-US" altLang="zh-CN" b="1" dirty="0" smtClean="0"/>
              <a:t>VRRP Background and Overview</a:t>
            </a:r>
          </a:p>
          <a:p>
            <a:r>
              <a:rPr lang="en-US" altLang="zh-CN" dirty="0" smtClean="0">
                <a:solidFill>
                  <a:schemeClr val="bg1">
                    <a:lumMod val="50000"/>
                  </a:schemeClr>
                </a:solidFill>
              </a:rPr>
              <a:t>VRRP Active/Standby Switchover</a:t>
            </a:r>
          </a:p>
          <a:p>
            <a:r>
              <a:rPr lang="en-US" altLang="zh-CN" dirty="0" smtClean="0">
                <a:solidFill>
                  <a:schemeClr val="bg1">
                    <a:lumMod val="50000"/>
                  </a:schemeClr>
                </a:solidFill>
              </a:rPr>
              <a:t>VRRP Load Balancing</a:t>
            </a:r>
          </a:p>
          <a:p>
            <a:r>
              <a:rPr lang="en-US" altLang="zh-CN" dirty="0" smtClean="0">
                <a:solidFill>
                  <a:schemeClr val="bg1">
                    <a:lumMod val="50000"/>
                  </a:schemeClr>
                </a:solidFill>
              </a:rPr>
              <a:t>Basic VRRP Configuration</a:t>
            </a:r>
            <a:endParaRPr lang="en-US" altLang="zh-CN" dirty="0">
              <a:solidFill>
                <a:schemeClr val="bg1">
                  <a:lumMod val="50000"/>
                </a:schemeClr>
              </a:solidFill>
            </a:endParaRPr>
          </a:p>
        </p:txBody>
      </p:sp>
    </p:spTree>
    <p:extLst>
      <p:ext uri="{BB962C8B-B14F-4D97-AF65-F5344CB8AC3E}">
        <p14:creationId xmlns:p14="http://schemas.microsoft.com/office/powerpoint/2010/main" val="34766664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图片 8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6502" y="2672976"/>
            <a:ext cx="737648" cy="576000"/>
          </a:xfrm>
          <a:prstGeom prst="rect">
            <a:avLst/>
          </a:prstGeom>
        </p:spPr>
      </p:pic>
      <p:sp>
        <p:nvSpPr>
          <p:cNvPr id="4" name="604163083"/>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When </a:t>
            </a:r>
            <a:r>
              <a:rPr lang="en-US" altLang="zh-CN" dirty="0" err="1" smtClean="0"/>
              <a:t>RouterA</a:t>
            </a:r>
            <a:r>
              <a:rPr lang="en-US" altLang="zh-CN" dirty="0" smtClean="0"/>
              <a:t> fails, the devices that use </a:t>
            </a:r>
            <a:r>
              <a:rPr lang="en-US" altLang="zh-CN" dirty="0" err="1" smtClean="0"/>
              <a:t>RouterA</a:t>
            </a:r>
            <a:r>
              <a:rPr lang="en-US" altLang="zh-CN" dirty="0" smtClean="0"/>
              <a:t> as the gateway cannot communicate with the Internet.</a:t>
            </a:r>
            <a:endParaRPr lang="en-US" altLang="zh-CN" dirty="0"/>
          </a:p>
        </p:txBody>
      </p:sp>
      <p:sp>
        <p:nvSpPr>
          <p:cNvPr id="3" name="1195965183"/>
          <p:cNvSpPr>
            <a:spLocks noGrp="1"/>
          </p:cNvSpPr>
          <p:nvPr>
            <p:ph type="title" idx="4294967295"/>
          </p:nvPr>
        </p:nvSpPr>
        <p:spPr>
          <a:xfrm>
            <a:off x="1631950" y="296652"/>
            <a:ext cx="10560050" cy="868363"/>
          </a:xfrm>
        </p:spPr>
        <p:txBody>
          <a:bodyPr/>
          <a:lstStyle/>
          <a:p>
            <a:r>
              <a:rPr lang="en-US" altLang="zh-CN" dirty="0" smtClean="0"/>
              <a:t>Limitations of a Single Gateway</a:t>
            </a:r>
            <a:endParaRPr lang="en-US" altLang="zh-CN" dirty="0"/>
          </a:p>
        </p:txBody>
      </p:sp>
      <p:grpSp>
        <p:nvGrpSpPr>
          <p:cNvPr id="39" name="组合 8"/>
          <p:cNvGrpSpPr/>
          <p:nvPr/>
        </p:nvGrpSpPr>
        <p:grpSpPr>
          <a:xfrm>
            <a:off x="4367809" y="2186343"/>
            <a:ext cx="4022735" cy="2162031"/>
            <a:chOff x="2072170" y="2626789"/>
            <a:chExt cx="3346516" cy="1877705"/>
          </a:xfrm>
        </p:grpSpPr>
        <p:sp>
          <p:nvSpPr>
            <p:cNvPr id="44" name="Line 10"/>
            <p:cNvSpPr>
              <a:spLocks noChangeShapeType="1"/>
            </p:cNvSpPr>
            <p:nvPr/>
          </p:nvSpPr>
          <p:spPr bwMode="auto">
            <a:xfrm>
              <a:off x="2072170" y="4017507"/>
              <a:ext cx="3346516" cy="36004"/>
            </a:xfrm>
            <a:prstGeom prst="line">
              <a:avLst/>
            </a:prstGeom>
            <a:noFill/>
            <a:ln w="28575">
              <a:solidFill>
                <a:schemeClr val="tx1"/>
              </a:solidFill>
              <a:round/>
              <a:headEnd type="none" w="sm" len="sm"/>
              <a:tailEnd type="none" w="sm" len="sm"/>
            </a:ln>
          </p:spPr>
          <p:txBody>
            <a:bodyPr wrap="none" anchor="ctr"/>
            <a:lstStyle/>
            <a:p>
              <a:endParaRPr lang="zh-CN" altLang="en-US"/>
            </a:p>
          </p:txBody>
        </p:sp>
        <p:cxnSp>
          <p:nvCxnSpPr>
            <p:cNvPr id="46" name="直接连接符 45"/>
            <p:cNvCxnSpPr>
              <a:cxnSpLocks noChangeShapeType="1"/>
            </p:cNvCxnSpPr>
            <p:nvPr/>
          </p:nvCxnSpPr>
          <p:spPr bwMode="auto">
            <a:xfrm flipH="1">
              <a:off x="3584907" y="2626789"/>
              <a:ext cx="11258" cy="4075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8" name="直接连接符 8"/>
            <p:cNvCxnSpPr>
              <a:cxnSpLocks noChangeShapeType="1"/>
            </p:cNvCxnSpPr>
            <p:nvPr/>
          </p:nvCxnSpPr>
          <p:spPr bwMode="auto">
            <a:xfrm flipH="1">
              <a:off x="3584906" y="3642661"/>
              <a:ext cx="4216" cy="39843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 name="直接连接符 8"/>
            <p:cNvCxnSpPr>
              <a:cxnSpLocks noChangeShapeType="1"/>
            </p:cNvCxnSpPr>
            <p:nvPr/>
          </p:nvCxnSpPr>
          <p:spPr bwMode="auto">
            <a:xfrm flipH="1">
              <a:off x="2526827" y="4010810"/>
              <a:ext cx="4216" cy="46898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1" name="直接连接符 8"/>
            <p:cNvCxnSpPr>
              <a:cxnSpLocks noChangeShapeType="1"/>
            </p:cNvCxnSpPr>
            <p:nvPr/>
          </p:nvCxnSpPr>
          <p:spPr bwMode="auto">
            <a:xfrm flipH="1">
              <a:off x="3745428" y="4035509"/>
              <a:ext cx="4218" cy="46898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3" name="直接连接符 8"/>
            <p:cNvCxnSpPr>
              <a:cxnSpLocks noChangeShapeType="1"/>
            </p:cNvCxnSpPr>
            <p:nvPr/>
          </p:nvCxnSpPr>
          <p:spPr bwMode="auto">
            <a:xfrm flipH="1">
              <a:off x="4948783" y="4060211"/>
              <a:ext cx="1" cy="34392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57" name="文本框 19"/>
            <p:cNvSpPr txBox="1"/>
            <p:nvPr/>
          </p:nvSpPr>
          <p:spPr bwMode="auto">
            <a:xfrm>
              <a:off x="2365494" y="3170078"/>
              <a:ext cx="902814" cy="301514"/>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600" b="1" dirty="0" err="1">
                  <a:solidFill>
                    <a:srgbClr val="000000"/>
                  </a:solidFill>
                  <a:latin typeface="+mn-lt"/>
                  <a:ea typeface="+mn-ea"/>
                  <a:cs typeface="Arial" pitchFamily="34" charset="0"/>
                </a:rPr>
                <a:t>RouterA</a:t>
              </a:r>
              <a:endParaRPr lang="zh-CN" altLang="en-US" sz="1600" b="1" dirty="0">
                <a:solidFill>
                  <a:srgbClr val="000000"/>
                </a:solidFill>
                <a:latin typeface="+mn-lt"/>
                <a:ea typeface="+mn-ea"/>
                <a:cs typeface="Arial" pitchFamily="34" charset="0"/>
              </a:endParaRPr>
            </a:p>
          </p:txBody>
        </p:sp>
      </p:grpSp>
      <p:grpSp>
        <p:nvGrpSpPr>
          <p:cNvPr id="58" name="组合 57"/>
          <p:cNvGrpSpPr/>
          <p:nvPr/>
        </p:nvGrpSpPr>
        <p:grpSpPr>
          <a:xfrm>
            <a:off x="4896900" y="2210656"/>
            <a:ext cx="1154393" cy="2043691"/>
            <a:chOff x="5026493" y="4278005"/>
            <a:chExt cx="1154393" cy="2043691"/>
          </a:xfrm>
        </p:grpSpPr>
        <p:cxnSp>
          <p:nvCxnSpPr>
            <p:cNvPr id="59" name="肘形连接符 58"/>
            <p:cNvCxnSpPr/>
            <p:nvPr/>
          </p:nvCxnSpPr>
          <p:spPr bwMode="auto">
            <a:xfrm rot="16200000" flipH="1">
              <a:off x="4807643" y="6101147"/>
              <a:ext cx="439399" cy="1700"/>
            </a:xfrm>
            <a:prstGeom prst="bentConnector3">
              <a:avLst>
                <a:gd name="adj1" fmla="val 50000"/>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0" name="直接连接符 59"/>
            <p:cNvCxnSpPr/>
            <p:nvPr/>
          </p:nvCxnSpPr>
          <p:spPr bwMode="auto">
            <a:xfrm flipH="1" flipV="1">
              <a:off x="5043930" y="5875724"/>
              <a:ext cx="1134678" cy="19769"/>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1" name="直接箭头连接符 60"/>
            <p:cNvCxnSpPr/>
            <p:nvPr/>
          </p:nvCxnSpPr>
          <p:spPr bwMode="auto">
            <a:xfrm flipH="1" flipV="1">
              <a:off x="6178608" y="4278005"/>
              <a:ext cx="2278" cy="1580442"/>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grpSp>
        <p:nvGrpSpPr>
          <p:cNvPr id="62" name="组合 61"/>
          <p:cNvGrpSpPr/>
          <p:nvPr/>
        </p:nvGrpSpPr>
        <p:grpSpPr>
          <a:xfrm flipH="1">
            <a:off x="6257463" y="2218017"/>
            <a:ext cx="1600087" cy="2096220"/>
            <a:chOff x="2333863" y="2682809"/>
            <a:chExt cx="1253782" cy="2118642"/>
          </a:xfrm>
        </p:grpSpPr>
        <p:cxnSp>
          <p:nvCxnSpPr>
            <p:cNvPr id="63" name="肘形连接符 62"/>
            <p:cNvCxnSpPr/>
            <p:nvPr/>
          </p:nvCxnSpPr>
          <p:spPr bwMode="auto">
            <a:xfrm rot="16200000" flipH="1">
              <a:off x="2078619" y="4546205"/>
              <a:ext cx="510490" cy="2"/>
            </a:xfrm>
            <a:prstGeom prst="bentConnector3">
              <a:avLst>
                <a:gd name="adj1" fmla="val 50000"/>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4" name="直接连接符 63"/>
            <p:cNvCxnSpPr/>
            <p:nvPr/>
          </p:nvCxnSpPr>
          <p:spPr bwMode="auto">
            <a:xfrm flipH="1">
              <a:off x="2369689" y="4263381"/>
              <a:ext cx="1197056" cy="27387"/>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5" name="直接箭头连接符 64"/>
            <p:cNvCxnSpPr/>
            <p:nvPr/>
          </p:nvCxnSpPr>
          <p:spPr bwMode="auto">
            <a:xfrm flipH="1" flipV="1">
              <a:off x="3585362" y="2682809"/>
              <a:ext cx="2283" cy="1580572"/>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grpSp>
        <p:nvGrpSpPr>
          <p:cNvPr id="66" name="组合 65"/>
          <p:cNvGrpSpPr/>
          <p:nvPr/>
        </p:nvGrpSpPr>
        <p:grpSpPr>
          <a:xfrm flipH="1">
            <a:off x="6144371" y="2211382"/>
            <a:ext cx="229553" cy="2102857"/>
            <a:chOff x="2148178" y="2653929"/>
            <a:chExt cx="1535951" cy="1874524"/>
          </a:xfrm>
        </p:grpSpPr>
        <p:cxnSp>
          <p:nvCxnSpPr>
            <p:cNvPr id="67" name="肘形连接符 66"/>
            <p:cNvCxnSpPr/>
            <p:nvPr/>
          </p:nvCxnSpPr>
          <p:spPr bwMode="auto">
            <a:xfrm rot="5400000">
              <a:off x="1969923" y="4333100"/>
              <a:ext cx="373602" cy="17102"/>
            </a:xfrm>
            <a:prstGeom prst="bentConnector3">
              <a:avLst>
                <a:gd name="adj1" fmla="val 50000"/>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8" name="直接连接符 67"/>
            <p:cNvCxnSpPr/>
            <p:nvPr/>
          </p:nvCxnSpPr>
          <p:spPr bwMode="auto">
            <a:xfrm flipH="1">
              <a:off x="2270807" y="4129962"/>
              <a:ext cx="1168457" cy="5688"/>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9" name="直接箭头连接符 68"/>
            <p:cNvCxnSpPr/>
            <p:nvPr/>
          </p:nvCxnSpPr>
          <p:spPr bwMode="auto">
            <a:xfrm flipH="1" flipV="1">
              <a:off x="3584901" y="2653929"/>
              <a:ext cx="99228" cy="1457605"/>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grpSp>
        <p:nvGrpSpPr>
          <p:cNvPr id="70" name="组合 69"/>
          <p:cNvGrpSpPr/>
          <p:nvPr/>
        </p:nvGrpSpPr>
        <p:grpSpPr>
          <a:xfrm>
            <a:off x="5918035" y="2926146"/>
            <a:ext cx="541433" cy="48636"/>
            <a:chOff x="2925847" y="3735779"/>
            <a:chExt cx="580667" cy="52160"/>
          </a:xfrm>
        </p:grpSpPr>
        <p:sp>
          <p:nvSpPr>
            <p:cNvPr id="71" name="矩形 70"/>
            <p:cNvSpPr>
              <a:spLocks noChangeAspect="1"/>
            </p:cNvSpPr>
            <p:nvPr/>
          </p:nvSpPr>
          <p:spPr bwMode="auto">
            <a:xfrm rot="2340000">
              <a:off x="2925847" y="3743244"/>
              <a:ext cx="580667" cy="44695"/>
            </a:xfrm>
            <a:prstGeom prst="rect">
              <a:avLst/>
            </a:prstGeom>
            <a:solidFill>
              <a:srgbClr val="FF0000"/>
            </a:solid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ea typeface="宋体" pitchFamily="2" charset="-122"/>
              </a:endParaRPr>
            </a:p>
          </p:txBody>
        </p:sp>
        <p:sp>
          <p:nvSpPr>
            <p:cNvPr id="72" name="矩形 71"/>
            <p:cNvSpPr>
              <a:spLocks noChangeAspect="1"/>
            </p:cNvSpPr>
            <p:nvPr/>
          </p:nvSpPr>
          <p:spPr bwMode="auto">
            <a:xfrm rot="19020000">
              <a:off x="2926306" y="3735779"/>
              <a:ext cx="571051" cy="44535"/>
            </a:xfrm>
            <a:prstGeom prst="rect">
              <a:avLst/>
            </a:prstGeom>
            <a:solidFill>
              <a:srgbClr val="FF0000"/>
            </a:solid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ea typeface="宋体" pitchFamily="2" charset="-122"/>
              </a:endParaRPr>
            </a:p>
          </p:txBody>
        </p:sp>
      </p:grpSp>
      <p:grpSp>
        <p:nvGrpSpPr>
          <p:cNvPr id="73" name="组合 72"/>
          <p:cNvGrpSpPr/>
          <p:nvPr/>
        </p:nvGrpSpPr>
        <p:grpSpPr>
          <a:xfrm>
            <a:off x="4969972" y="3082529"/>
            <a:ext cx="1188132" cy="1224136"/>
            <a:chOff x="3131840" y="3212976"/>
            <a:chExt cx="1188132" cy="1224136"/>
          </a:xfrm>
        </p:grpSpPr>
        <p:cxnSp>
          <p:nvCxnSpPr>
            <p:cNvPr id="74" name="直接连接符 73"/>
            <p:cNvCxnSpPr/>
            <p:nvPr/>
          </p:nvCxnSpPr>
          <p:spPr bwMode="auto">
            <a:xfrm>
              <a:off x="3131840" y="4005064"/>
              <a:ext cx="0" cy="432048"/>
            </a:xfrm>
            <a:prstGeom prst="line">
              <a:avLst/>
            </a:prstGeom>
            <a:solidFill>
              <a:schemeClr val="accent1"/>
            </a:solidFill>
            <a:ln w="28575" cap="flat" cmpd="sng" algn="ctr">
              <a:solidFill>
                <a:srgbClr val="FFC000"/>
              </a:solidFill>
              <a:prstDash val="lgDash"/>
              <a:round/>
              <a:headEnd type="none" w="med" len="med"/>
              <a:tailEnd type="none" w="med" len="med"/>
            </a:ln>
            <a:effectLst/>
          </p:spPr>
        </p:cxnSp>
        <p:cxnSp>
          <p:nvCxnSpPr>
            <p:cNvPr id="75" name="直接连接符 74"/>
            <p:cNvCxnSpPr/>
            <p:nvPr/>
          </p:nvCxnSpPr>
          <p:spPr bwMode="auto">
            <a:xfrm>
              <a:off x="3167844" y="4005064"/>
              <a:ext cx="1152128" cy="0"/>
            </a:xfrm>
            <a:prstGeom prst="line">
              <a:avLst/>
            </a:prstGeom>
            <a:solidFill>
              <a:schemeClr val="accent1"/>
            </a:solidFill>
            <a:ln w="28575" cap="flat" cmpd="sng" algn="ctr">
              <a:solidFill>
                <a:srgbClr val="FFC000"/>
              </a:solidFill>
              <a:prstDash val="lgDash"/>
              <a:round/>
              <a:headEnd type="none" w="med" len="med"/>
              <a:tailEnd type="none" w="med" len="med"/>
            </a:ln>
            <a:effectLst/>
          </p:spPr>
        </p:cxnSp>
        <p:cxnSp>
          <p:nvCxnSpPr>
            <p:cNvPr id="76" name="直接箭头连接符 75"/>
            <p:cNvCxnSpPr/>
            <p:nvPr/>
          </p:nvCxnSpPr>
          <p:spPr bwMode="auto">
            <a:xfrm flipV="1">
              <a:off x="4319972" y="3212976"/>
              <a:ext cx="0" cy="792088"/>
            </a:xfrm>
            <a:prstGeom prst="straightConnector1">
              <a:avLst/>
            </a:prstGeom>
            <a:solidFill>
              <a:schemeClr val="accent1"/>
            </a:solidFill>
            <a:ln w="28575" cap="flat" cmpd="sng" algn="ctr">
              <a:solidFill>
                <a:srgbClr val="FFC000"/>
              </a:solidFill>
              <a:prstDash val="lgDash"/>
              <a:round/>
              <a:headEnd type="none" w="med" len="med"/>
              <a:tailEnd type="triangle"/>
            </a:ln>
            <a:effectLst/>
          </p:spPr>
        </p:cxnSp>
      </p:grpSp>
      <p:grpSp>
        <p:nvGrpSpPr>
          <p:cNvPr id="77" name="组合 76"/>
          <p:cNvGrpSpPr/>
          <p:nvPr/>
        </p:nvGrpSpPr>
        <p:grpSpPr>
          <a:xfrm>
            <a:off x="6194108" y="3082529"/>
            <a:ext cx="180020" cy="1188132"/>
            <a:chOff x="4319972" y="3212976"/>
            <a:chExt cx="180020" cy="1188132"/>
          </a:xfrm>
        </p:grpSpPr>
        <p:cxnSp>
          <p:nvCxnSpPr>
            <p:cNvPr id="78" name="直接连接符 77"/>
            <p:cNvCxnSpPr/>
            <p:nvPr/>
          </p:nvCxnSpPr>
          <p:spPr bwMode="auto">
            <a:xfrm flipV="1">
              <a:off x="4499992" y="4005064"/>
              <a:ext cx="0" cy="396044"/>
            </a:xfrm>
            <a:prstGeom prst="line">
              <a:avLst/>
            </a:prstGeom>
            <a:solidFill>
              <a:schemeClr val="accent1"/>
            </a:solidFill>
            <a:ln w="28575" cap="flat" cmpd="sng" algn="ctr">
              <a:solidFill>
                <a:srgbClr val="FFC000"/>
              </a:solidFill>
              <a:prstDash val="lgDash"/>
              <a:round/>
              <a:headEnd type="none" w="med" len="med"/>
              <a:tailEnd type="none" w="med" len="med"/>
            </a:ln>
            <a:effectLst/>
          </p:spPr>
        </p:cxnSp>
        <p:cxnSp>
          <p:nvCxnSpPr>
            <p:cNvPr id="79" name="直接连接符 78"/>
            <p:cNvCxnSpPr/>
            <p:nvPr/>
          </p:nvCxnSpPr>
          <p:spPr bwMode="auto">
            <a:xfrm flipH="1">
              <a:off x="4319972" y="4005064"/>
              <a:ext cx="180020" cy="0"/>
            </a:xfrm>
            <a:prstGeom prst="line">
              <a:avLst/>
            </a:prstGeom>
            <a:solidFill>
              <a:schemeClr val="accent1"/>
            </a:solidFill>
            <a:ln w="28575" cap="flat" cmpd="sng" algn="ctr">
              <a:solidFill>
                <a:srgbClr val="FFC000"/>
              </a:solidFill>
              <a:prstDash val="lgDash"/>
              <a:round/>
              <a:headEnd type="none" w="med" len="med"/>
              <a:tailEnd type="none" w="med" len="med"/>
            </a:ln>
            <a:effectLst/>
          </p:spPr>
        </p:cxnSp>
        <p:cxnSp>
          <p:nvCxnSpPr>
            <p:cNvPr id="80" name="直接箭头连接符 79"/>
            <p:cNvCxnSpPr/>
            <p:nvPr/>
          </p:nvCxnSpPr>
          <p:spPr bwMode="auto">
            <a:xfrm flipV="1">
              <a:off x="4355976" y="3212976"/>
              <a:ext cx="0" cy="792088"/>
            </a:xfrm>
            <a:prstGeom prst="straightConnector1">
              <a:avLst/>
            </a:prstGeom>
            <a:solidFill>
              <a:schemeClr val="accent1"/>
            </a:solidFill>
            <a:ln w="28575" cap="flat" cmpd="sng" algn="ctr">
              <a:solidFill>
                <a:srgbClr val="FFC000"/>
              </a:solidFill>
              <a:prstDash val="lgDash"/>
              <a:round/>
              <a:headEnd type="none" w="med" len="med"/>
              <a:tailEnd type="triangle"/>
            </a:ln>
            <a:effectLst/>
          </p:spPr>
        </p:cxnSp>
      </p:grpSp>
      <p:grpSp>
        <p:nvGrpSpPr>
          <p:cNvPr id="81" name="组合 80"/>
          <p:cNvGrpSpPr/>
          <p:nvPr/>
        </p:nvGrpSpPr>
        <p:grpSpPr>
          <a:xfrm>
            <a:off x="6302120" y="3118533"/>
            <a:ext cx="1448732" cy="1188132"/>
            <a:chOff x="4463988" y="3284984"/>
            <a:chExt cx="1448732" cy="1188132"/>
          </a:xfrm>
        </p:grpSpPr>
        <p:cxnSp>
          <p:nvCxnSpPr>
            <p:cNvPr id="82" name="直接连接符 81"/>
            <p:cNvCxnSpPr/>
            <p:nvPr/>
          </p:nvCxnSpPr>
          <p:spPr bwMode="auto">
            <a:xfrm flipH="1" flipV="1">
              <a:off x="5904148" y="4011534"/>
              <a:ext cx="8572" cy="461582"/>
            </a:xfrm>
            <a:prstGeom prst="line">
              <a:avLst/>
            </a:prstGeom>
            <a:solidFill>
              <a:schemeClr val="accent1"/>
            </a:solidFill>
            <a:ln w="28575" cap="flat" cmpd="sng" algn="ctr">
              <a:solidFill>
                <a:srgbClr val="FFC000"/>
              </a:solidFill>
              <a:prstDash val="lgDash"/>
              <a:round/>
              <a:headEnd type="none" w="med" len="med"/>
              <a:tailEnd type="none" w="med" len="med"/>
            </a:ln>
            <a:effectLst/>
          </p:spPr>
        </p:cxnSp>
        <p:cxnSp>
          <p:nvCxnSpPr>
            <p:cNvPr id="83" name="直接连接符 82"/>
            <p:cNvCxnSpPr/>
            <p:nvPr/>
          </p:nvCxnSpPr>
          <p:spPr bwMode="auto">
            <a:xfrm flipH="1">
              <a:off x="4463988" y="4005064"/>
              <a:ext cx="1440160" cy="0"/>
            </a:xfrm>
            <a:prstGeom prst="line">
              <a:avLst/>
            </a:prstGeom>
            <a:solidFill>
              <a:schemeClr val="accent1"/>
            </a:solidFill>
            <a:ln w="28575" cap="flat" cmpd="sng" algn="ctr">
              <a:solidFill>
                <a:srgbClr val="FFC000"/>
              </a:solidFill>
              <a:prstDash val="lgDash"/>
              <a:round/>
              <a:headEnd type="none" w="med" len="med"/>
              <a:tailEnd type="none" w="med" len="med"/>
            </a:ln>
            <a:effectLst/>
          </p:spPr>
        </p:cxnSp>
        <p:cxnSp>
          <p:nvCxnSpPr>
            <p:cNvPr id="84" name="直接箭头连接符 83"/>
            <p:cNvCxnSpPr/>
            <p:nvPr/>
          </p:nvCxnSpPr>
          <p:spPr bwMode="auto">
            <a:xfrm flipV="1">
              <a:off x="4463988" y="3284984"/>
              <a:ext cx="0" cy="720080"/>
            </a:xfrm>
            <a:prstGeom prst="straightConnector1">
              <a:avLst/>
            </a:prstGeom>
            <a:solidFill>
              <a:schemeClr val="accent1"/>
            </a:solidFill>
            <a:ln w="28575" cap="flat" cmpd="sng" algn="ctr">
              <a:solidFill>
                <a:srgbClr val="FFC000"/>
              </a:solidFill>
              <a:prstDash val="lgDash"/>
              <a:round/>
              <a:headEnd type="none" w="med" len="med"/>
              <a:tailEnd type="triangle"/>
            </a:ln>
            <a:effectLst/>
          </p:spPr>
        </p:cxnSp>
      </p:grpSp>
      <p:pic>
        <p:nvPicPr>
          <p:cNvPr id="47" name="图片 46" descr="internet-蓝.png"/>
          <p:cNvPicPr>
            <a:picLocks noChangeAspect="1"/>
          </p:cNvPicPr>
          <p:nvPr/>
        </p:nvPicPr>
        <p:blipFill>
          <a:blip r:embed="rId4" cstate="print"/>
          <a:stretch>
            <a:fillRect/>
          </a:stretch>
        </p:blipFill>
        <p:spPr>
          <a:xfrm>
            <a:off x="5447928" y="1376860"/>
            <a:ext cx="1560355" cy="792000"/>
          </a:xfrm>
          <a:prstGeom prst="rect">
            <a:avLst/>
          </a:prstGeom>
        </p:spPr>
      </p:pic>
      <p:pic>
        <p:nvPicPr>
          <p:cNvPr id="54" name="图片 53" descr="PC.png"/>
          <p:cNvPicPr>
            <a:picLocks noChangeAspect="1"/>
          </p:cNvPicPr>
          <p:nvPr/>
        </p:nvPicPr>
        <p:blipFill>
          <a:blip r:embed="rId5" cstate="print"/>
          <a:stretch>
            <a:fillRect/>
          </a:stretch>
        </p:blipFill>
        <p:spPr>
          <a:xfrm>
            <a:off x="4517907" y="4329100"/>
            <a:ext cx="750001" cy="576000"/>
          </a:xfrm>
          <a:prstGeom prst="rect">
            <a:avLst/>
          </a:prstGeom>
        </p:spPr>
      </p:pic>
      <p:pic>
        <p:nvPicPr>
          <p:cNvPr id="85" name="图片 84" descr="PC.png"/>
          <p:cNvPicPr>
            <a:picLocks noChangeAspect="1"/>
          </p:cNvPicPr>
          <p:nvPr/>
        </p:nvPicPr>
        <p:blipFill>
          <a:blip r:embed="rId5" cstate="print"/>
          <a:stretch>
            <a:fillRect/>
          </a:stretch>
        </p:blipFill>
        <p:spPr>
          <a:xfrm>
            <a:off x="6030075" y="4329100"/>
            <a:ext cx="750001" cy="576000"/>
          </a:xfrm>
          <a:prstGeom prst="rect">
            <a:avLst/>
          </a:prstGeom>
        </p:spPr>
      </p:pic>
      <p:pic>
        <p:nvPicPr>
          <p:cNvPr id="86" name="图片 85" descr="PC.png"/>
          <p:cNvPicPr>
            <a:picLocks noChangeAspect="1"/>
          </p:cNvPicPr>
          <p:nvPr/>
        </p:nvPicPr>
        <p:blipFill>
          <a:blip r:embed="rId5" cstate="print"/>
          <a:stretch>
            <a:fillRect/>
          </a:stretch>
        </p:blipFill>
        <p:spPr>
          <a:xfrm>
            <a:off x="7464152" y="4329100"/>
            <a:ext cx="750001" cy="576000"/>
          </a:xfrm>
          <a:prstGeom prst="rect">
            <a:avLst/>
          </a:prstGeom>
        </p:spPr>
      </p:pic>
    </p:spTree>
    <p:extLst>
      <p:ext uri="{BB962C8B-B14F-4D97-AF65-F5344CB8AC3E}">
        <p14:creationId xmlns:p14="http://schemas.microsoft.com/office/powerpoint/2010/main" val="304915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repeatCount="10000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1000"/>
                                        <p:tgtEl>
                                          <p:spTgt spid="58"/>
                                        </p:tgtEl>
                                      </p:cBhvr>
                                    </p:animEffect>
                                  </p:childTnLst>
                                </p:cTn>
                              </p:par>
                              <p:par>
                                <p:cTn id="8" presetID="22" presetClass="entr" presetSubtype="4" repeatCount="100000" fill="hold" nodeType="withEffect">
                                  <p:stCondLst>
                                    <p:cond delay="0"/>
                                  </p:stCondLst>
                                  <p:childTnLst>
                                    <p:set>
                                      <p:cBhvr>
                                        <p:cTn id="9" dur="1" fill="hold">
                                          <p:stCondLst>
                                            <p:cond delay="0"/>
                                          </p:stCondLst>
                                        </p:cTn>
                                        <p:tgtEl>
                                          <p:spTgt spid="66"/>
                                        </p:tgtEl>
                                        <p:attrNameLst>
                                          <p:attrName>style.visibility</p:attrName>
                                        </p:attrNameLst>
                                      </p:cBhvr>
                                      <p:to>
                                        <p:strVal val="visible"/>
                                      </p:to>
                                    </p:set>
                                    <p:animEffect transition="in" filter="wipe(down)">
                                      <p:cBhvr>
                                        <p:cTn id="10" dur="1000"/>
                                        <p:tgtEl>
                                          <p:spTgt spid="66"/>
                                        </p:tgtEl>
                                      </p:cBhvr>
                                    </p:animEffect>
                                  </p:childTnLst>
                                </p:cTn>
                              </p:par>
                              <p:par>
                                <p:cTn id="11" presetID="22" presetClass="entr" presetSubtype="4" repeatCount="10000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wipe(down)">
                                      <p:cBhvr>
                                        <p:cTn id="13" dur="1000"/>
                                        <p:tgtEl>
                                          <p:spTgt spid="6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0"/>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58"/>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66"/>
                                        </p:tgtEl>
                                        <p:attrNameLst>
                                          <p:attrName>style.visibility</p:attrName>
                                        </p:attrNameLst>
                                      </p:cBhvr>
                                      <p:to>
                                        <p:strVal val="hidden"/>
                                      </p:to>
                                    </p:set>
                                  </p:childTnLst>
                                </p:cTn>
                              </p:par>
                              <p:par>
                                <p:cTn id="22" presetID="1" presetClass="exit" presetSubtype="0" fill="hold" nodeType="withEffect">
                                  <p:stCondLst>
                                    <p:cond delay="0"/>
                                  </p:stCondLst>
                                  <p:childTnLst>
                                    <p:set>
                                      <p:cBhvr>
                                        <p:cTn id="23" dur="1" fill="hold">
                                          <p:stCondLst>
                                            <p:cond delay="0"/>
                                          </p:stCondLst>
                                        </p:cTn>
                                        <p:tgtEl>
                                          <p:spTgt spid="62"/>
                                        </p:tgtEl>
                                        <p:attrNameLst>
                                          <p:attrName>style.visibility</p:attrName>
                                        </p:attrNameLst>
                                      </p:cBhvr>
                                      <p:to>
                                        <p:strVal val="hidden"/>
                                      </p:to>
                                    </p:set>
                                  </p:childTnLst>
                                </p:cTn>
                              </p:par>
                              <p:par>
                                <p:cTn id="24" presetID="22" presetClass="entr" presetSubtype="4" repeatCount="100000" fill="hold" nodeType="with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wipe(down)">
                                      <p:cBhvr>
                                        <p:cTn id="26" dur="1000"/>
                                        <p:tgtEl>
                                          <p:spTgt spid="73"/>
                                        </p:tgtEl>
                                      </p:cBhvr>
                                    </p:animEffect>
                                  </p:childTnLst>
                                </p:cTn>
                              </p:par>
                              <p:par>
                                <p:cTn id="27" presetID="22" presetClass="entr" presetSubtype="4" repeatCount="100000" fill="hold"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wipe(down)">
                                      <p:cBhvr>
                                        <p:cTn id="29" dur="1000"/>
                                        <p:tgtEl>
                                          <p:spTgt spid="77"/>
                                        </p:tgtEl>
                                      </p:cBhvr>
                                    </p:animEffect>
                                  </p:childTnLst>
                                </p:cTn>
                              </p:par>
                              <p:par>
                                <p:cTn id="30" presetID="22" presetClass="entr" presetSubtype="4" repeatCount="100000" fill="hold" nodeType="with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wipe(down)">
                                      <p:cBhvr>
                                        <p:cTn id="32" dur="10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937458389"/>
          <p:cNvSpPr>
            <a:spLocks noGrp="1"/>
          </p:cNvSpPr>
          <p:nvPr>
            <p:ph type="body" sz="quarter" idx="10"/>
          </p:nvPr>
        </p:nvSpPr>
        <p:spPr/>
        <p:txBody>
          <a:bodyPr/>
          <a:lstStyle/>
          <a:p>
            <a:pPr marL="355600" lvl="1" indent="-355600" fontAlgn="ctr">
              <a:spcBef>
                <a:spcPts val="0"/>
              </a:spcBef>
              <a:buClr>
                <a:srgbClr val="808080"/>
              </a:buClr>
              <a:buSzPct val="60000"/>
              <a:buFont typeface="Wingdings" pitchFamily="2" charset="2"/>
              <a:buChar char="l"/>
            </a:pPr>
            <a:endParaRPr lang="en-US" altLang="zh-CN" sz="1800" dirty="0" smtClean="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smtClean="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smtClean="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smtClean="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a:latin typeface="+mn-ea"/>
              <a:cs typeface="+mn-cs"/>
            </a:endParaRPr>
          </a:p>
          <a:p>
            <a:pPr marL="355600" lvl="1" indent="-355600" fontAlgn="ctr">
              <a:spcBef>
                <a:spcPts val="0"/>
              </a:spcBef>
              <a:buClr>
                <a:srgbClr val="808080"/>
              </a:buClr>
              <a:buSzPct val="60000"/>
              <a:buFont typeface="Wingdings" pitchFamily="2" charset="2"/>
              <a:buChar char="l"/>
            </a:pPr>
            <a:endParaRPr lang="en-US" altLang="zh-CN" sz="1800" dirty="0" smtClean="0">
              <a:latin typeface="+mn-ea"/>
              <a:cs typeface="+mn-cs"/>
            </a:endParaRPr>
          </a:p>
          <a:p>
            <a:pPr marL="355600" lvl="1" indent="-355600" fontAlgn="ctr">
              <a:spcBef>
                <a:spcPts val="0"/>
              </a:spcBef>
              <a:buClr>
                <a:srgbClr val="808080"/>
              </a:buClr>
              <a:buSzPct val="60000"/>
              <a:buFont typeface="Wingdings" pitchFamily="2" charset="2"/>
              <a:buChar char="l"/>
            </a:pPr>
            <a:r>
              <a:rPr lang="en-US" altLang="zh-CN" sz="1800" dirty="0" smtClean="0">
                <a:latin typeface="+mn-ea"/>
                <a:cs typeface="+mn-cs"/>
              </a:rPr>
              <a:t>Multiple </a:t>
            </a:r>
            <a:r>
              <a:rPr lang="en-US" altLang="zh-CN" sz="1800" dirty="0">
                <a:latin typeface="+mn-ea"/>
                <a:cs typeface="+mn-cs"/>
              </a:rPr>
              <a:t>gateways can be deployed to implement gateway backup.</a:t>
            </a:r>
          </a:p>
          <a:p>
            <a:pPr marL="355600" lvl="1" indent="-355600" fontAlgn="ctr">
              <a:spcBef>
                <a:spcPts val="0"/>
              </a:spcBef>
              <a:buClr>
                <a:srgbClr val="808080"/>
              </a:buClr>
              <a:buSzPct val="60000"/>
              <a:buFont typeface="Wingdings" pitchFamily="2" charset="2"/>
              <a:buChar char="l"/>
            </a:pPr>
            <a:r>
              <a:rPr lang="en-US" altLang="zh-CN" sz="1800" dirty="0">
                <a:latin typeface="+mn-ea"/>
                <a:cs typeface="+mn-cs"/>
              </a:rPr>
              <a:t>However, many problems may occur. IP addresses of gateways conflict, and hosts frequently use different egresses.</a:t>
            </a:r>
          </a:p>
        </p:txBody>
      </p:sp>
      <p:sp>
        <p:nvSpPr>
          <p:cNvPr id="3" name="1196131895"/>
          <p:cNvSpPr>
            <a:spLocks noGrp="1"/>
          </p:cNvSpPr>
          <p:nvPr>
            <p:ph type="title" idx="4294967295"/>
          </p:nvPr>
        </p:nvSpPr>
        <p:spPr>
          <a:xfrm>
            <a:off x="1631950" y="296652"/>
            <a:ext cx="10560050" cy="868363"/>
          </a:xfrm>
        </p:spPr>
        <p:txBody>
          <a:bodyPr/>
          <a:lstStyle/>
          <a:p>
            <a:r>
              <a:rPr lang="en-US" altLang="zh-CN" dirty="0" smtClean="0">
                <a:latin typeface="+mn-ea"/>
                <a:ea typeface="+mn-ea"/>
              </a:rPr>
              <a:t>Problems of Multiple Gateways</a:t>
            </a:r>
            <a:endParaRPr lang="en-US" altLang="zh-CN" dirty="0">
              <a:latin typeface="+mn-ea"/>
              <a:ea typeface="+mn-ea"/>
            </a:endParaRPr>
          </a:p>
        </p:txBody>
      </p:sp>
      <p:grpSp>
        <p:nvGrpSpPr>
          <p:cNvPr id="27" name="组合 26"/>
          <p:cNvGrpSpPr/>
          <p:nvPr/>
        </p:nvGrpSpPr>
        <p:grpSpPr>
          <a:xfrm>
            <a:off x="6312025" y="1916833"/>
            <a:ext cx="1922812" cy="1787655"/>
            <a:chOff x="4788025" y="1770208"/>
            <a:chExt cx="1922812" cy="1787655"/>
          </a:xfrm>
        </p:grpSpPr>
        <p:grpSp>
          <p:nvGrpSpPr>
            <p:cNvPr id="28" name="组合 53"/>
            <p:cNvGrpSpPr/>
            <p:nvPr/>
          </p:nvGrpSpPr>
          <p:grpSpPr>
            <a:xfrm>
              <a:off x="4788025" y="1770208"/>
              <a:ext cx="612067" cy="1787655"/>
              <a:chOff x="4139953" y="1772816"/>
              <a:chExt cx="612067" cy="1787655"/>
            </a:xfrm>
          </p:grpSpPr>
          <p:cxnSp>
            <p:nvCxnSpPr>
              <p:cNvPr id="30" name="直接连接符 29"/>
              <p:cNvCxnSpPr>
                <a:cxnSpLocks noChangeShapeType="1"/>
              </p:cNvCxnSpPr>
              <p:nvPr/>
            </p:nvCxnSpPr>
            <p:spPr bwMode="auto">
              <a:xfrm>
                <a:off x="4139953" y="1772816"/>
                <a:ext cx="576063" cy="86409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 name="直接连接符 30"/>
              <p:cNvCxnSpPr>
                <a:cxnSpLocks noChangeShapeType="1"/>
              </p:cNvCxnSpPr>
              <p:nvPr/>
            </p:nvCxnSpPr>
            <p:spPr bwMode="auto">
              <a:xfrm>
                <a:off x="4752020" y="2840391"/>
                <a:ext cx="0" cy="7200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29" name="文本框 20"/>
            <p:cNvSpPr txBox="1"/>
            <p:nvPr/>
          </p:nvSpPr>
          <p:spPr bwMode="auto">
            <a:xfrm>
              <a:off x="5321099" y="3083640"/>
              <a:ext cx="1389738"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sz="1400" dirty="0">
                  <a:solidFill>
                    <a:srgbClr val="C00000"/>
                  </a:solidFill>
                  <a:latin typeface="+mn-ea"/>
                  <a:ea typeface="+mn-ea"/>
                  <a:cs typeface="Arial" pitchFamily="34" charset="0"/>
                </a:rPr>
                <a:t>192.168.1.254</a:t>
              </a:r>
            </a:p>
          </p:txBody>
        </p:sp>
      </p:grpSp>
      <p:sp>
        <p:nvSpPr>
          <p:cNvPr id="33" name="Line 10"/>
          <p:cNvSpPr>
            <a:spLocks noChangeShapeType="1"/>
          </p:cNvSpPr>
          <p:nvPr/>
        </p:nvSpPr>
        <p:spPr bwMode="auto">
          <a:xfrm flipV="1">
            <a:off x="4259796" y="3714446"/>
            <a:ext cx="4032448" cy="2586"/>
          </a:xfrm>
          <a:prstGeom prst="line">
            <a:avLst/>
          </a:prstGeom>
          <a:noFill/>
          <a:ln w="28575">
            <a:solidFill>
              <a:schemeClr val="tx1"/>
            </a:solidFill>
            <a:round/>
            <a:headEnd type="none" w="sm" len="sm"/>
            <a:tailEnd type="none" w="sm" len="sm"/>
          </a:ln>
        </p:spPr>
        <p:txBody>
          <a:bodyPr wrap="none" anchor="ctr"/>
          <a:lstStyle/>
          <a:p>
            <a:endParaRPr lang="zh-CN" altLang="en-US">
              <a:latin typeface="+mn-ea"/>
              <a:ea typeface="+mn-ea"/>
            </a:endParaRPr>
          </a:p>
        </p:txBody>
      </p:sp>
      <p:cxnSp>
        <p:nvCxnSpPr>
          <p:cNvPr id="34" name="直接连接符 33"/>
          <p:cNvCxnSpPr>
            <a:cxnSpLocks noChangeShapeType="1"/>
          </p:cNvCxnSpPr>
          <p:nvPr/>
        </p:nvCxnSpPr>
        <p:spPr bwMode="auto">
          <a:xfrm flipH="1">
            <a:off x="5519937" y="1916832"/>
            <a:ext cx="468053" cy="86409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5" name="直接连接符 8"/>
          <p:cNvCxnSpPr>
            <a:cxnSpLocks noChangeShapeType="1"/>
          </p:cNvCxnSpPr>
          <p:nvPr/>
        </p:nvCxnSpPr>
        <p:spPr bwMode="auto">
          <a:xfrm flipH="1">
            <a:off x="4806324" y="3704487"/>
            <a:ext cx="0" cy="540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6" name="直接连接符 8"/>
          <p:cNvCxnSpPr>
            <a:cxnSpLocks noChangeShapeType="1"/>
          </p:cNvCxnSpPr>
          <p:nvPr/>
        </p:nvCxnSpPr>
        <p:spPr bwMode="auto">
          <a:xfrm flipH="1">
            <a:off x="6204012" y="3704487"/>
            <a:ext cx="0" cy="540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7" name="直接连接符 8"/>
          <p:cNvCxnSpPr>
            <a:cxnSpLocks noChangeShapeType="1"/>
          </p:cNvCxnSpPr>
          <p:nvPr/>
        </p:nvCxnSpPr>
        <p:spPr bwMode="auto">
          <a:xfrm flipH="1">
            <a:off x="7644173" y="3704487"/>
            <a:ext cx="1" cy="648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0" name="直接连接符 39"/>
          <p:cNvCxnSpPr>
            <a:cxnSpLocks noChangeShapeType="1"/>
          </p:cNvCxnSpPr>
          <p:nvPr/>
        </p:nvCxnSpPr>
        <p:spPr bwMode="auto">
          <a:xfrm>
            <a:off x="5447928" y="2984407"/>
            <a:ext cx="0" cy="7200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45" name="文本框 1"/>
          <p:cNvSpPr txBox="1"/>
          <p:nvPr/>
        </p:nvSpPr>
        <p:spPr bwMode="auto">
          <a:xfrm>
            <a:off x="4109030" y="3251790"/>
            <a:ext cx="1389738"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sz="1400" dirty="0">
                <a:solidFill>
                  <a:srgbClr val="000000"/>
                </a:solidFill>
                <a:latin typeface="+mn-ea"/>
                <a:ea typeface="+mn-ea"/>
                <a:cs typeface="Arial" pitchFamily="34" charset="0"/>
              </a:rPr>
              <a:t>192.168.1.254</a:t>
            </a:r>
          </a:p>
        </p:txBody>
      </p:sp>
      <p:pic>
        <p:nvPicPr>
          <p:cNvPr id="24" name="图片 23" descr="internet-蓝.png"/>
          <p:cNvPicPr>
            <a:picLocks noChangeAspect="1"/>
          </p:cNvPicPr>
          <p:nvPr/>
        </p:nvPicPr>
        <p:blipFill>
          <a:blip r:embed="rId3" cstate="print"/>
          <a:stretch>
            <a:fillRect/>
          </a:stretch>
        </p:blipFill>
        <p:spPr>
          <a:xfrm>
            <a:off x="5363737" y="1376860"/>
            <a:ext cx="1560355" cy="792000"/>
          </a:xfrm>
          <a:prstGeom prst="rect">
            <a:avLst/>
          </a:prstGeom>
        </p:spPr>
      </p:pic>
      <p:pic>
        <p:nvPicPr>
          <p:cNvPr id="25" name="图片 24" descr="PC.png"/>
          <p:cNvPicPr>
            <a:picLocks noChangeAspect="1"/>
          </p:cNvPicPr>
          <p:nvPr/>
        </p:nvPicPr>
        <p:blipFill>
          <a:blip r:embed="rId4" cstate="print"/>
          <a:stretch>
            <a:fillRect/>
          </a:stretch>
        </p:blipFill>
        <p:spPr>
          <a:xfrm>
            <a:off x="4367808" y="4185084"/>
            <a:ext cx="750001" cy="576000"/>
          </a:xfrm>
          <a:prstGeom prst="rect">
            <a:avLst/>
          </a:prstGeom>
        </p:spPr>
      </p:pic>
      <p:pic>
        <p:nvPicPr>
          <p:cNvPr id="26" name="图片 25" descr="PC.png"/>
          <p:cNvPicPr>
            <a:picLocks noChangeAspect="1"/>
          </p:cNvPicPr>
          <p:nvPr/>
        </p:nvPicPr>
        <p:blipFill>
          <a:blip r:embed="rId4" cstate="print"/>
          <a:stretch>
            <a:fillRect/>
          </a:stretch>
        </p:blipFill>
        <p:spPr>
          <a:xfrm>
            <a:off x="5879976" y="4185084"/>
            <a:ext cx="750001" cy="576000"/>
          </a:xfrm>
          <a:prstGeom prst="rect">
            <a:avLst/>
          </a:prstGeom>
        </p:spPr>
      </p:pic>
      <p:pic>
        <p:nvPicPr>
          <p:cNvPr id="44" name="图片 43" descr="PC.png"/>
          <p:cNvPicPr>
            <a:picLocks noChangeAspect="1"/>
          </p:cNvPicPr>
          <p:nvPr/>
        </p:nvPicPr>
        <p:blipFill>
          <a:blip r:embed="rId4" cstate="print"/>
          <a:stretch>
            <a:fillRect/>
          </a:stretch>
        </p:blipFill>
        <p:spPr>
          <a:xfrm>
            <a:off x="7314053" y="4185084"/>
            <a:ext cx="750001" cy="576000"/>
          </a:xfrm>
          <a:prstGeom prst="rect">
            <a:avLst/>
          </a:prstGeom>
        </p:spPr>
      </p:pic>
      <p:pic>
        <p:nvPicPr>
          <p:cNvPr id="46" name="图片 45"/>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5037514" y="2491178"/>
            <a:ext cx="823343" cy="642916"/>
          </a:xfrm>
          <a:prstGeom prst="rect">
            <a:avLst/>
          </a:prstGeom>
        </p:spPr>
      </p:pic>
      <p:pic>
        <p:nvPicPr>
          <p:cNvPr id="47" name="图片 46"/>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6512420" y="2466246"/>
            <a:ext cx="823343" cy="642916"/>
          </a:xfrm>
          <a:prstGeom prst="rect">
            <a:avLst/>
          </a:prstGeom>
        </p:spPr>
      </p:pic>
    </p:spTree>
    <p:extLst>
      <p:ext uri="{BB962C8B-B14F-4D97-AF65-F5344CB8AC3E}">
        <p14:creationId xmlns:p14="http://schemas.microsoft.com/office/powerpoint/2010/main" val="317299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1527316117"/>
          <p:cNvSpPr>
            <a:spLocks noGrp="1"/>
          </p:cNvSpPr>
          <p:nvPr>
            <p:ph type="body" sz="quarter" idx="10"/>
          </p:nvPr>
        </p:nvSpPr>
        <p:spPr/>
        <p:txBody>
          <a:bodyPr/>
          <a:lstStyle/>
          <a:p>
            <a:pPr lvl="1"/>
            <a:r>
              <a:rPr lang="en-US" altLang="zh-CN" dirty="0" smtClean="0"/>
              <a:t>VRRP virtualizes multiple routers into a virtual router without changing the networking and uses the IP address of the virtual router as the default gateway IP address, implementing gateway backup.</a:t>
            </a:r>
          </a:p>
          <a:p>
            <a:pPr lvl="1"/>
            <a:r>
              <a:rPr lang="en-US" altLang="zh-CN" dirty="0" smtClean="0"/>
              <a:t>Protocol versions: VRRPv2 (commonly used) and VRRPv3</a:t>
            </a:r>
          </a:p>
          <a:p>
            <a:pPr lvl="1"/>
            <a:r>
              <a:rPr lang="en-US" altLang="zh-CN" dirty="0" smtClean="0"/>
              <a:t>VRRPv2 applies only to IPv4 networks, whereas VRRPv3 applies to both IPv4 and IPv6 networks.</a:t>
            </a:r>
          </a:p>
          <a:p>
            <a:pPr lvl="1"/>
            <a:r>
              <a:rPr lang="en-US" altLang="zh-CN" dirty="0" smtClean="0"/>
              <a:t>VRRP packets</a:t>
            </a:r>
          </a:p>
          <a:p>
            <a:pPr lvl="1"/>
            <a:r>
              <a:rPr lang="en-US" altLang="zh-CN" dirty="0" smtClean="0"/>
              <a:t>Advertisement packets: The destination IP address is 224.0.0.18, the destination MAC address is 01-00-5e-00-00-12, and the protocol number is 112.</a:t>
            </a:r>
            <a:endParaRPr lang="en-US" altLang="zh-CN" dirty="0"/>
          </a:p>
        </p:txBody>
      </p:sp>
      <p:sp>
        <p:nvSpPr>
          <p:cNvPr id="3" name="1659712378"/>
          <p:cNvSpPr>
            <a:spLocks noGrp="1"/>
          </p:cNvSpPr>
          <p:nvPr>
            <p:ph type="title" idx="4294967295"/>
          </p:nvPr>
        </p:nvSpPr>
        <p:spPr>
          <a:xfrm>
            <a:off x="1631950" y="296652"/>
            <a:ext cx="10560050" cy="868363"/>
          </a:xfrm>
        </p:spPr>
        <p:txBody>
          <a:bodyPr/>
          <a:lstStyle/>
          <a:p>
            <a:r>
              <a:rPr lang="en-US" altLang="zh-CN" dirty="0" smtClean="0"/>
              <a:t>VRRP Overview</a:t>
            </a:r>
            <a:endParaRPr lang="en-US" altLang="zh-CN" dirty="0"/>
          </a:p>
        </p:txBody>
      </p:sp>
    </p:spTree>
    <p:extLst>
      <p:ext uri="{BB962C8B-B14F-4D97-AF65-F5344CB8AC3E}">
        <p14:creationId xmlns:p14="http://schemas.microsoft.com/office/powerpoint/2010/main" val="21585300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192299037"/>
          <p:cNvSpPr>
            <a:spLocks noGrp="1"/>
          </p:cNvSpPr>
          <p:nvPr>
            <p:ph type="title" idx="4294967295"/>
          </p:nvPr>
        </p:nvSpPr>
        <p:spPr>
          <a:xfrm>
            <a:off x="1631950" y="296863"/>
            <a:ext cx="10560050" cy="868362"/>
          </a:xfrm>
        </p:spPr>
        <p:txBody>
          <a:bodyPr/>
          <a:lstStyle/>
          <a:p>
            <a:r>
              <a:rPr lang="en-US" altLang="zh-CN" dirty="0" smtClean="0">
                <a:latin typeface="+mn-ea"/>
                <a:ea typeface="+mn-ea"/>
              </a:rPr>
              <a:t>Basic VRRP Architecture</a:t>
            </a:r>
            <a:endParaRPr lang="en-US" altLang="zh-CN" dirty="0">
              <a:latin typeface="+mn-ea"/>
              <a:ea typeface="+mn-ea"/>
            </a:endParaRPr>
          </a:p>
        </p:txBody>
      </p:sp>
      <p:sp>
        <p:nvSpPr>
          <p:cNvPr id="5" name="Line 10"/>
          <p:cNvSpPr>
            <a:spLocks noChangeShapeType="1"/>
          </p:cNvSpPr>
          <p:nvPr/>
        </p:nvSpPr>
        <p:spPr bwMode="auto">
          <a:xfrm flipV="1">
            <a:off x="3325751" y="4485524"/>
            <a:ext cx="2444559" cy="0"/>
          </a:xfrm>
          <a:prstGeom prst="line">
            <a:avLst/>
          </a:prstGeom>
          <a:noFill/>
          <a:ln w="28575">
            <a:solidFill>
              <a:schemeClr val="tx1"/>
            </a:solidFill>
            <a:round/>
            <a:headEnd type="none" w="sm" len="sm"/>
            <a:tailEnd type="none" w="sm" len="sm"/>
          </a:ln>
        </p:spPr>
        <p:txBody>
          <a:bodyPr wrap="none" anchor="ctr"/>
          <a:lstStyle/>
          <a:p>
            <a:pPr algn="ctr" fontAlgn="ctr"/>
            <a:endParaRPr lang="en-US" altLang="zh-CN">
              <a:latin typeface="+mn-ea"/>
              <a:ea typeface="+mn-ea"/>
            </a:endParaRPr>
          </a:p>
        </p:txBody>
      </p:sp>
      <p:cxnSp>
        <p:nvCxnSpPr>
          <p:cNvPr id="6" name="422928222"/>
          <p:cNvCxnSpPr>
            <a:cxnSpLocks noChangeShapeType="1"/>
          </p:cNvCxnSpPr>
          <p:nvPr/>
        </p:nvCxnSpPr>
        <p:spPr bwMode="auto">
          <a:xfrm>
            <a:off x="4564947" y="4485526"/>
            <a:ext cx="0" cy="85722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 name="715807292"/>
          <p:cNvCxnSpPr>
            <a:cxnSpLocks noChangeShapeType="1"/>
          </p:cNvCxnSpPr>
          <p:nvPr/>
        </p:nvCxnSpPr>
        <p:spPr bwMode="auto">
          <a:xfrm flipH="1">
            <a:off x="3541409" y="3900071"/>
            <a:ext cx="4215" cy="58584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 name="437182653"/>
          <p:cNvCxnSpPr>
            <a:cxnSpLocks noChangeShapeType="1"/>
          </p:cNvCxnSpPr>
          <p:nvPr/>
        </p:nvCxnSpPr>
        <p:spPr bwMode="auto">
          <a:xfrm flipH="1">
            <a:off x="5544053" y="3908200"/>
            <a:ext cx="4215" cy="58584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 name="1957473732"/>
          <p:cNvCxnSpPr>
            <a:cxnSpLocks noChangeShapeType="1"/>
          </p:cNvCxnSpPr>
          <p:nvPr/>
        </p:nvCxnSpPr>
        <p:spPr bwMode="auto">
          <a:xfrm flipH="1">
            <a:off x="3627604" y="2673756"/>
            <a:ext cx="767240" cy="86409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0" name="2104410726"/>
          <p:cNvCxnSpPr>
            <a:cxnSpLocks noChangeShapeType="1"/>
          </p:cNvCxnSpPr>
          <p:nvPr/>
        </p:nvCxnSpPr>
        <p:spPr bwMode="auto">
          <a:xfrm>
            <a:off x="4779732" y="2781768"/>
            <a:ext cx="720080" cy="7920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1" name="116450523"/>
          <p:cNvSpPr txBox="1"/>
          <p:nvPr/>
        </p:nvSpPr>
        <p:spPr bwMode="auto">
          <a:xfrm>
            <a:off x="1927588" y="5208695"/>
            <a:ext cx="2591780" cy="962723"/>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b="1" dirty="0" err="1">
                <a:solidFill>
                  <a:srgbClr val="000000"/>
                </a:solidFill>
                <a:latin typeface="+mn-ea"/>
                <a:ea typeface="+mn-ea"/>
                <a:cs typeface="Arial" pitchFamily="34" charset="0"/>
              </a:rPr>
              <a:t>HostA</a:t>
            </a:r>
            <a:endParaRPr lang="en-US" altLang="zh-CN" sz="1400" b="1" dirty="0">
              <a:solidFill>
                <a:srgbClr val="000000"/>
              </a:solidFill>
              <a:latin typeface="+mn-ea"/>
              <a:ea typeface="+mn-ea"/>
              <a:cs typeface="Arial" pitchFamily="34" charset="0"/>
            </a:endParaRPr>
          </a:p>
          <a:p>
            <a:pPr algn="ctr" defTabSz="1001649" eaLnBrk="0" fontAlgn="ctr" hangingPunct="0"/>
            <a:r>
              <a:rPr lang="en-US" altLang="zh-CN" sz="1400" dirty="0">
                <a:solidFill>
                  <a:srgbClr val="000000"/>
                </a:solidFill>
                <a:latin typeface="+mn-ea"/>
                <a:ea typeface="+mn-ea"/>
                <a:cs typeface="Arial" pitchFamily="34" charset="0"/>
              </a:rPr>
              <a:t>Gateway address: 10.1.1.254</a:t>
            </a:r>
          </a:p>
          <a:p>
            <a:pPr algn="ctr" defTabSz="1001649" eaLnBrk="0" fontAlgn="ctr" hangingPunct="0"/>
            <a:r>
              <a:rPr lang="en-US" altLang="zh-CN" sz="1400" dirty="0">
                <a:solidFill>
                  <a:srgbClr val="000000"/>
                </a:solidFill>
                <a:latin typeface="+mn-ea"/>
                <a:ea typeface="+mn-ea"/>
                <a:cs typeface="Arial" pitchFamily="34" charset="0"/>
              </a:rPr>
              <a:t>IP address: 10.1.1.3/24</a:t>
            </a:r>
          </a:p>
        </p:txBody>
      </p:sp>
      <p:sp>
        <p:nvSpPr>
          <p:cNvPr id="12" name="1673480131"/>
          <p:cNvSpPr txBox="1"/>
          <p:nvPr/>
        </p:nvSpPr>
        <p:spPr bwMode="auto">
          <a:xfrm>
            <a:off x="2216995" y="3992595"/>
            <a:ext cx="1398690" cy="470280"/>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200" dirty="0">
                <a:solidFill>
                  <a:srgbClr val="000000"/>
                </a:solidFill>
                <a:latin typeface="+mn-ea"/>
                <a:ea typeface="+mn-ea"/>
                <a:cs typeface="Arial" pitchFamily="34" charset="0"/>
              </a:rPr>
              <a:t>Eth0/0/0: 10.1.1.1</a:t>
            </a:r>
          </a:p>
        </p:txBody>
      </p:sp>
      <p:sp>
        <p:nvSpPr>
          <p:cNvPr id="14" name="1694450504"/>
          <p:cNvSpPr txBox="1"/>
          <p:nvPr/>
        </p:nvSpPr>
        <p:spPr bwMode="auto">
          <a:xfrm>
            <a:off x="2773801" y="2637753"/>
            <a:ext cx="1192570" cy="747279"/>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1400" b="1" dirty="0" err="1">
                <a:solidFill>
                  <a:srgbClr val="000000"/>
                </a:solidFill>
                <a:latin typeface="+mn-ea"/>
                <a:ea typeface="+mn-ea"/>
                <a:cs typeface="Arial" pitchFamily="34" charset="0"/>
              </a:rPr>
              <a:t>RouterA</a:t>
            </a:r>
            <a:endParaRPr lang="en-US" altLang="zh-CN" sz="1400" b="1" dirty="0">
              <a:solidFill>
                <a:srgbClr val="000000"/>
              </a:solidFill>
              <a:latin typeface="+mn-ea"/>
              <a:ea typeface="+mn-ea"/>
              <a:cs typeface="Arial" pitchFamily="34" charset="0"/>
            </a:endParaRPr>
          </a:p>
          <a:p>
            <a:pPr algn="ctr" defTabSz="1001649" eaLnBrk="0" fontAlgn="ctr" hangingPunct="0"/>
            <a:r>
              <a:rPr lang="en-US" altLang="zh-CN" sz="1400" dirty="0">
                <a:solidFill>
                  <a:srgbClr val="C00000"/>
                </a:solidFill>
                <a:latin typeface="+mn-ea"/>
                <a:ea typeface="+mn-ea"/>
                <a:cs typeface="Arial" pitchFamily="34" charset="0"/>
              </a:rPr>
              <a:t>Master</a:t>
            </a:r>
          </a:p>
          <a:p>
            <a:pPr algn="ctr" defTabSz="1001649" eaLnBrk="0" fontAlgn="ctr" hangingPunct="0"/>
            <a:r>
              <a:rPr lang="en-US" altLang="zh-CN" sz="1400" dirty="0">
                <a:solidFill>
                  <a:srgbClr val="000000"/>
                </a:solidFill>
                <a:latin typeface="+mn-ea"/>
                <a:ea typeface="+mn-ea"/>
                <a:cs typeface="Arial" pitchFamily="34" charset="0"/>
              </a:rPr>
              <a:t>Priority 150</a:t>
            </a:r>
          </a:p>
        </p:txBody>
      </p:sp>
      <p:sp>
        <p:nvSpPr>
          <p:cNvPr id="15" name="1494216143"/>
          <p:cNvSpPr txBox="1"/>
          <p:nvPr/>
        </p:nvSpPr>
        <p:spPr bwMode="auto">
          <a:xfrm>
            <a:off x="5145166" y="2637753"/>
            <a:ext cx="1192570" cy="747279"/>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1400" b="1" dirty="0" err="1">
                <a:solidFill>
                  <a:srgbClr val="000000"/>
                </a:solidFill>
                <a:latin typeface="+mn-ea"/>
                <a:ea typeface="+mn-ea"/>
                <a:cs typeface="Arial" pitchFamily="34" charset="0"/>
              </a:rPr>
              <a:t>RouterB</a:t>
            </a:r>
            <a:endParaRPr lang="en-US" altLang="zh-CN" sz="1400" b="1" dirty="0">
              <a:solidFill>
                <a:srgbClr val="000000"/>
              </a:solidFill>
              <a:latin typeface="+mn-ea"/>
              <a:ea typeface="+mn-ea"/>
              <a:cs typeface="Arial" pitchFamily="34" charset="0"/>
            </a:endParaRPr>
          </a:p>
          <a:p>
            <a:pPr algn="ctr" defTabSz="1001649" eaLnBrk="0" fontAlgn="ctr" hangingPunct="0"/>
            <a:r>
              <a:rPr lang="en-US" altLang="zh-CN" sz="1400" dirty="0">
                <a:solidFill>
                  <a:srgbClr val="C00000"/>
                </a:solidFill>
                <a:latin typeface="+mn-ea"/>
                <a:ea typeface="+mn-ea"/>
                <a:cs typeface="Arial" pitchFamily="34" charset="0"/>
              </a:rPr>
              <a:t>Backup</a:t>
            </a:r>
          </a:p>
          <a:p>
            <a:pPr algn="ctr" defTabSz="1001649" eaLnBrk="0" fontAlgn="ctr" hangingPunct="0"/>
            <a:r>
              <a:rPr lang="en-US" altLang="zh-CN" sz="1400" dirty="0">
                <a:solidFill>
                  <a:srgbClr val="000000"/>
                </a:solidFill>
                <a:latin typeface="+mn-ea"/>
                <a:ea typeface="+mn-ea"/>
                <a:cs typeface="Arial" pitchFamily="34" charset="0"/>
              </a:rPr>
              <a:t>Priority 100</a:t>
            </a:r>
          </a:p>
        </p:txBody>
      </p:sp>
      <p:cxnSp>
        <p:nvCxnSpPr>
          <p:cNvPr id="16" name="850507679"/>
          <p:cNvCxnSpPr>
            <a:cxnSpLocks noChangeShapeType="1"/>
          </p:cNvCxnSpPr>
          <p:nvPr/>
        </p:nvCxnSpPr>
        <p:spPr bwMode="auto">
          <a:xfrm>
            <a:off x="7536161" y="2605481"/>
            <a:ext cx="7149" cy="84005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 name="3379419"/>
          <p:cNvCxnSpPr>
            <a:cxnSpLocks noChangeShapeType="1"/>
          </p:cNvCxnSpPr>
          <p:nvPr/>
        </p:nvCxnSpPr>
        <p:spPr bwMode="auto">
          <a:xfrm>
            <a:off x="7500156" y="4059555"/>
            <a:ext cx="4886" cy="134646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8" name="1962287598"/>
          <p:cNvSpPr txBox="1"/>
          <p:nvPr/>
        </p:nvSpPr>
        <p:spPr bwMode="auto">
          <a:xfrm>
            <a:off x="7608169" y="5282518"/>
            <a:ext cx="2808673" cy="747279"/>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b="1" dirty="0" err="1">
                <a:solidFill>
                  <a:srgbClr val="000000"/>
                </a:solidFill>
                <a:latin typeface="+mn-ea"/>
                <a:ea typeface="+mn-ea"/>
                <a:cs typeface="Arial" pitchFamily="34" charset="0"/>
              </a:rPr>
              <a:t>HostA</a:t>
            </a:r>
            <a:endParaRPr lang="en-US" altLang="zh-CN" sz="1400" b="1" dirty="0">
              <a:solidFill>
                <a:srgbClr val="000000"/>
              </a:solidFill>
              <a:latin typeface="+mn-ea"/>
              <a:ea typeface="+mn-ea"/>
              <a:cs typeface="Arial" pitchFamily="34" charset="0"/>
            </a:endParaRPr>
          </a:p>
          <a:p>
            <a:pPr algn="ctr" defTabSz="1001649" eaLnBrk="0" fontAlgn="ctr" hangingPunct="0"/>
            <a:r>
              <a:rPr lang="en-US" altLang="zh-CN" sz="1400" dirty="0">
                <a:solidFill>
                  <a:srgbClr val="000000"/>
                </a:solidFill>
                <a:latin typeface="+mn-ea"/>
                <a:ea typeface="+mn-ea"/>
                <a:cs typeface="Arial" pitchFamily="34" charset="0"/>
              </a:rPr>
              <a:t>Gateway address: 10.1.1.254</a:t>
            </a:r>
          </a:p>
          <a:p>
            <a:pPr algn="ctr" defTabSz="1001649" eaLnBrk="0" fontAlgn="ctr" hangingPunct="0"/>
            <a:r>
              <a:rPr lang="en-US" altLang="zh-CN" sz="1400" dirty="0">
                <a:solidFill>
                  <a:srgbClr val="000000"/>
                </a:solidFill>
                <a:latin typeface="+mn-ea"/>
                <a:ea typeface="+mn-ea"/>
                <a:cs typeface="Arial" pitchFamily="34" charset="0"/>
              </a:rPr>
              <a:t>IP address: 10.1.1.3/24</a:t>
            </a:r>
          </a:p>
        </p:txBody>
      </p:sp>
      <p:sp>
        <p:nvSpPr>
          <p:cNvPr id="19" name="930757625"/>
          <p:cNvSpPr txBox="1"/>
          <p:nvPr/>
        </p:nvSpPr>
        <p:spPr bwMode="auto">
          <a:xfrm>
            <a:off x="7482008" y="3465004"/>
            <a:ext cx="3474532" cy="962723"/>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b="1" dirty="0">
                <a:solidFill>
                  <a:srgbClr val="000000"/>
                </a:solidFill>
                <a:latin typeface="+mn-ea"/>
                <a:ea typeface="+mn-ea"/>
                <a:cs typeface="Arial" pitchFamily="34" charset="0"/>
              </a:rPr>
              <a:t>Virtual router</a:t>
            </a:r>
          </a:p>
          <a:p>
            <a:pPr algn="ctr" defTabSz="1001649" eaLnBrk="0" fontAlgn="ctr" hangingPunct="0"/>
            <a:r>
              <a:rPr lang="en-US" altLang="zh-CN" sz="1400" dirty="0" err="1">
                <a:solidFill>
                  <a:srgbClr val="000000"/>
                </a:solidFill>
                <a:latin typeface="+mn-ea"/>
                <a:ea typeface="+mn-ea"/>
                <a:cs typeface="Arial" pitchFamily="34" charset="0"/>
              </a:rPr>
              <a:t>vrrp</a:t>
            </a:r>
            <a:r>
              <a:rPr lang="en-US" altLang="zh-CN" sz="1400" dirty="0">
                <a:solidFill>
                  <a:srgbClr val="000000"/>
                </a:solidFill>
                <a:latin typeface="+mn-ea"/>
                <a:ea typeface="+mn-ea"/>
                <a:cs typeface="Arial" pitchFamily="34" charset="0"/>
              </a:rPr>
              <a:t> vrid1</a:t>
            </a:r>
          </a:p>
          <a:p>
            <a:pPr algn="ctr" defTabSz="1001649" eaLnBrk="0" fontAlgn="ctr" hangingPunct="0"/>
            <a:r>
              <a:rPr lang="en-US" altLang="zh-CN" sz="1400" dirty="0">
                <a:solidFill>
                  <a:srgbClr val="000000"/>
                </a:solidFill>
                <a:latin typeface="+mn-ea"/>
                <a:ea typeface="+mn-ea"/>
                <a:cs typeface="Arial" pitchFamily="34" charset="0"/>
              </a:rPr>
              <a:t>Virtual IP address: 10.1.1.254/24</a:t>
            </a:r>
          </a:p>
          <a:p>
            <a:pPr algn="ctr" defTabSz="1001649" eaLnBrk="0" fontAlgn="ctr" hangingPunct="0"/>
            <a:r>
              <a:rPr lang="en-US" altLang="zh-CN" sz="1400" dirty="0">
                <a:solidFill>
                  <a:srgbClr val="000000"/>
                </a:solidFill>
                <a:latin typeface="+mn-ea"/>
                <a:ea typeface="+mn-ea"/>
                <a:cs typeface="Arial" pitchFamily="34" charset="0"/>
              </a:rPr>
              <a:t>Virtual MAC address: 0000-5e00-0101</a:t>
            </a:r>
          </a:p>
        </p:txBody>
      </p:sp>
      <p:cxnSp>
        <p:nvCxnSpPr>
          <p:cNvPr id="26" name="1879088380"/>
          <p:cNvCxnSpPr>
            <a:cxnSpLocks noChangeShapeType="1"/>
          </p:cNvCxnSpPr>
          <p:nvPr/>
        </p:nvCxnSpPr>
        <p:spPr bwMode="auto">
          <a:xfrm>
            <a:off x="7464152" y="1885400"/>
            <a:ext cx="0" cy="64807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0" name="右箭头 29"/>
          <p:cNvSpPr/>
          <p:nvPr/>
        </p:nvSpPr>
        <p:spPr bwMode="auto">
          <a:xfrm>
            <a:off x="6276021" y="3537852"/>
            <a:ext cx="766405" cy="312724"/>
          </a:xfrm>
          <a:prstGeom prst="rightArrow">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ctr"/>
            <a:endParaRPr lang="en-US" altLang="zh-CN">
              <a:solidFill>
                <a:schemeClr val="accent2"/>
              </a:solidFill>
              <a:latin typeface="+mn-ea"/>
              <a:ea typeface="+mn-ea"/>
            </a:endParaRPr>
          </a:p>
        </p:txBody>
      </p:sp>
      <p:cxnSp>
        <p:nvCxnSpPr>
          <p:cNvPr id="39" name="1213256467"/>
          <p:cNvCxnSpPr>
            <a:cxnSpLocks noChangeShapeType="1"/>
          </p:cNvCxnSpPr>
          <p:nvPr/>
        </p:nvCxnSpPr>
        <p:spPr bwMode="auto">
          <a:xfrm>
            <a:off x="4563708" y="1773656"/>
            <a:ext cx="0" cy="64807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42" name="椭圆 41"/>
          <p:cNvSpPr/>
          <p:nvPr/>
        </p:nvSpPr>
        <p:spPr bwMode="auto">
          <a:xfrm>
            <a:off x="2674381" y="3249820"/>
            <a:ext cx="3420380" cy="864096"/>
          </a:xfrm>
          <a:prstGeom prst="ellipse">
            <a:avLst/>
          </a:prstGeom>
          <a:noFill/>
          <a:ln w="952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ctr"/>
            <a:endParaRPr lang="en-US" altLang="zh-CN">
              <a:latin typeface="+mn-ea"/>
              <a:ea typeface="+mn-ea"/>
            </a:endParaRPr>
          </a:p>
        </p:txBody>
      </p:sp>
      <p:sp>
        <p:nvSpPr>
          <p:cNvPr id="43" name="1692296851"/>
          <p:cNvSpPr txBox="1"/>
          <p:nvPr/>
        </p:nvSpPr>
        <p:spPr bwMode="auto">
          <a:xfrm>
            <a:off x="5341582" y="3985744"/>
            <a:ext cx="1726527" cy="285614"/>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200" dirty="0">
                <a:solidFill>
                  <a:srgbClr val="000000"/>
                </a:solidFill>
                <a:latin typeface="+mn-ea"/>
                <a:ea typeface="+mn-ea"/>
                <a:cs typeface="Arial" pitchFamily="34" charset="0"/>
              </a:rPr>
              <a:t>Eth0/0/0: 10.1.1.2</a:t>
            </a:r>
          </a:p>
        </p:txBody>
      </p:sp>
      <p:pic>
        <p:nvPicPr>
          <p:cNvPr id="32" name="图片 31" descr="internet-蓝.png"/>
          <p:cNvPicPr>
            <a:picLocks noChangeAspect="1"/>
          </p:cNvPicPr>
          <p:nvPr/>
        </p:nvPicPr>
        <p:blipFill>
          <a:blip r:embed="rId3" cstate="print"/>
          <a:stretch>
            <a:fillRect/>
          </a:stretch>
        </p:blipFill>
        <p:spPr>
          <a:xfrm>
            <a:off x="3919245" y="1304764"/>
            <a:ext cx="1276655" cy="648000"/>
          </a:xfrm>
          <a:prstGeom prst="rect">
            <a:avLst/>
          </a:prstGeom>
        </p:spPr>
      </p:pic>
      <p:pic>
        <p:nvPicPr>
          <p:cNvPr id="33" name="图片 32" descr="PC.png"/>
          <p:cNvPicPr>
            <a:picLocks noChangeAspect="1"/>
          </p:cNvPicPr>
          <p:nvPr/>
        </p:nvPicPr>
        <p:blipFill>
          <a:blip r:embed="rId4" cstate="print"/>
          <a:stretch>
            <a:fillRect/>
          </a:stretch>
        </p:blipFill>
        <p:spPr>
          <a:xfrm>
            <a:off x="4189946" y="5342755"/>
            <a:ext cx="750001" cy="576000"/>
          </a:xfrm>
          <a:prstGeom prst="rect">
            <a:avLst/>
          </a:prstGeom>
        </p:spPr>
      </p:pic>
      <p:pic>
        <p:nvPicPr>
          <p:cNvPr id="34" name="图片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3792" y="2348880"/>
            <a:ext cx="691545" cy="540000"/>
          </a:xfrm>
          <a:prstGeom prst="rect">
            <a:avLst/>
          </a:prstGeom>
        </p:spPr>
      </p:pic>
      <p:pic>
        <p:nvPicPr>
          <p:cNvPr id="35" name="图片 34" descr="internet-蓝.png"/>
          <p:cNvPicPr>
            <a:picLocks noChangeAspect="1"/>
          </p:cNvPicPr>
          <p:nvPr/>
        </p:nvPicPr>
        <p:blipFill>
          <a:blip r:embed="rId3" cstate="print"/>
          <a:stretch>
            <a:fillRect/>
          </a:stretch>
        </p:blipFill>
        <p:spPr>
          <a:xfrm>
            <a:off x="6825824" y="1304836"/>
            <a:ext cx="1276655" cy="648000"/>
          </a:xfrm>
          <a:prstGeom prst="rect">
            <a:avLst/>
          </a:prstGeom>
        </p:spPr>
      </p:pic>
      <p:pic>
        <p:nvPicPr>
          <p:cNvPr id="36" name="图片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18378" y="2348940"/>
            <a:ext cx="691545" cy="540000"/>
          </a:xfrm>
          <a:prstGeom prst="rect">
            <a:avLst/>
          </a:prstGeom>
        </p:spPr>
      </p:pic>
      <p:pic>
        <p:nvPicPr>
          <p:cNvPr id="37" name="图片 36"/>
          <p:cNvPicPr>
            <a:picLocks noChangeAspect="1"/>
          </p:cNvPicPr>
          <p:nvPr/>
        </p:nvPicPr>
        <p:blipFill>
          <a:blip r:embed="rId6" cstate="print">
            <a:extLst>
              <a:ext uri="{BEBA8EAE-BF5A-486C-A8C5-ECC9F3942E4B}">
                <a14:imgProps xmlns:a14="http://schemas.microsoft.com/office/drawing/2010/main">
                  <a14:imgLayer r:embed="rId7">
                    <a14:imgEffect>
                      <a14:artisticCrisscrossEtching trans="40000"/>
                    </a14:imgEffect>
                  </a14:imgLayer>
                </a14:imgProps>
              </a:ext>
              <a:ext uri="{28A0092B-C50C-407E-A947-70E740481C1C}">
                <a14:useLocalDpi xmlns:a14="http://schemas.microsoft.com/office/drawing/2010/main" val="0"/>
              </a:ext>
            </a:extLst>
          </a:blip>
          <a:stretch>
            <a:fillRect/>
          </a:stretch>
        </p:blipFill>
        <p:spPr>
          <a:xfrm>
            <a:off x="7130863" y="3465064"/>
            <a:ext cx="691545" cy="540000"/>
          </a:xfrm>
          <a:prstGeom prst="rect">
            <a:avLst/>
          </a:prstGeom>
          <a:noFill/>
        </p:spPr>
      </p:pic>
      <p:pic>
        <p:nvPicPr>
          <p:cNvPr id="38" name="图片 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88431" y="3393056"/>
            <a:ext cx="691545" cy="540000"/>
          </a:xfrm>
          <a:prstGeom prst="rect">
            <a:avLst/>
          </a:prstGeom>
        </p:spPr>
      </p:pic>
      <p:pic>
        <p:nvPicPr>
          <p:cNvPr id="40" name="图片 3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08211" y="3393056"/>
            <a:ext cx="691545" cy="540000"/>
          </a:xfrm>
          <a:prstGeom prst="rect">
            <a:avLst/>
          </a:prstGeom>
        </p:spPr>
      </p:pic>
      <p:pic>
        <p:nvPicPr>
          <p:cNvPr id="41" name="图片 40" descr="PC.png"/>
          <p:cNvPicPr>
            <a:picLocks noChangeAspect="1"/>
          </p:cNvPicPr>
          <p:nvPr/>
        </p:nvPicPr>
        <p:blipFill>
          <a:blip r:embed="rId4" cstate="print"/>
          <a:stretch>
            <a:fillRect/>
          </a:stretch>
        </p:blipFill>
        <p:spPr>
          <a:xfrm>
            <a:off x="7069436" y="5342731"/>
            <a:ext cx="750001" cy="576000"/>
          </a:xfrm>
          <a:prstGeom prst="rect">
            <a:avLst/>
          </a:prstGeom>
        </p:spPr>
      </p:pic>
    </p:spTree>
    <p:extLst>
      <p:ext uri="{BB962C8B-B14F-4D97-AF65-F5344CB8AC3E}">
        <p14:creationId xmlns:p14="http://schemas.microsoft.com/office/powerpoint/2010/main" val="904409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2" presetClass="entr" presetSubtype="8"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par>
                                <p:cTn id="20" presetID="22" presetClass="entr" presetSubtype="8"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61715770"/>
          <p:cNvSpPr>
            <a:spLocks noGrp="1"/>
          </p:cNvSpPr>
          <p:nvPr>
            <p:ph type="title" idx="4294967295"/>
          </p:nvPr>
        </p:nvSpPr>
        <p:spPr>
          <a:xfrm>
            <a:off x="1631950" y="296652"/>
            <a:ext cx="10560050" cy="868363"/>
          </a:xfrm>
        </p:spPr>
        <p:txBody>
          <a:bodyPr/>
          <a:lstStyle/>
          <a:p>
            <a:r>
              <a:rPr lang="en-US" altLang="zh-CN" dirty="0" smtClean="0">
                <a:latin typeface="+mn-ea"/>
                <a:ea typeface="+mn-ea"/>
              </a:rPr>
              <a:t>State Machine</a:t>
            </a:r>
            <a:endParaRPr lang="en-US" altLang="zh-CN" dirty="0">
              <a:latin typeface="+mn-ea"/>
              <a:ea typeface="+mn-ea"/>
            </a:endParaRPr>
          </a:p>
        </p:txBody>
      </p:sp>
      <p:sp>
        <p:nvSpPr>
          <p:cNvPr id="6" name="191016118"/>
          <p:cNvSpPr/>
          <p:nvPr/>
        </p:nvSpPr>
        <p:spPr bwMode="auto">
          <a:xfrm>
            <a:off x="5472356" y="1333220"/>
            <a:ext cx="990110" cy="37477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ctr"/>
            <a:r>
              <a:rPr lang="en-US" altLang="zh-CN" sz="1800" dirty="0">
                <a:solidFill>
                  <a:schemeClr val="bg1"/>
                </a:solidFill>
                <a:latin typeface="+mn-ea"/>
                <a:ea typeface="+mn-ea"/>
              </a:rPr>
              <a:t>Initialize</a:t>
            </a:r>
          </a:p>
        </p:txBody>
      </p:sp>
      <p:sp>
        <p:nvSpPr>
          <p:cNvPr id="7" name="1950587229"/>
          <p:cNvSpPr/>
          <p:nvPr/>
        </p:nvSpPr>
        <p:spPr bwMode="auto">
          <a:xfrm>
            <a:off x="2999656" y="4113076"/>
            <a:ext cx="895052" cy="39849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ctr"/>
            <a:r>
              <a:rPr lang="en-US" altLang="zh-CN" sz="1800" dirty="0">
                <a:solidFill>
                  <a:schemeClr val="bg1"/>
                </a:solidFill>
                <a:latin typeface="+mn-ea"/>
                <a:ea typeface="+mn-ea"/>
              </a:rPr>
              <a:t>Master</a:t>
            </a:r>
          </a:p>
        </p:txBody>
      </p:sp>
      <p:sp>
        <p:nvSpPr>
          <p:cNvPr id="8" name="1429967187"/>
          <p:cNvSpPr/>
          <p:nvPr/>
        </p:nvSpPr>
        <p:spPr bwMode="auto">
          <a:xfrm>
            <a:off x="8040216" y="4113076"/>
            <a:ext cx="895052" cy="39849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ctr"/>
            <a:r>
              <a:rPr lang="en-US" altLang="zh-CN" sz="1800" dirty="0">
                <a:solidFill>
                  <a:schemeClr val="bg1"/>
                </a:solidFill>
                <a:latin typeface="+mn-ea"/>
                <a:ea typeface="+mn-ea"/>
              </a:rPr>
              <a:t>Backup</a:t>
            </a:r>
          </a:p>
        </p:txBody>
      </p:sp>
      <p:cxnSp>
        <p:nvCxnSpPr>
          <p:cNvPr id="10" name="82630679"/>
          <p:cNvCxnSpPr/>
          <p:nvPr/>
        </p:nvCxnSpPr>
        <p:spPr bwMode="auto">
          <a:xfrm flipH="1">
            <a:off x="3251684" y="1550732"/>
            <a:ext cx="2160240" cy="2424388"/>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1" name="1664776027"/>
          <p:cNvCxnSpPr/>
          <p:nvPr/>
        </p:nvCxnSpPr>
        <p:spPr bwMode="auto">
          <a:xfrm flipV="1">
            <a:off x="3485710" y="1688688"/>
            <a:ext cx="1980220" cy="228643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5" name="1926914988"/>
          <p:cNvCxnSpPr/>
          <p:nvPr/>
        </p:nvCxnSpPr>
        <p:spPr bwMode="auto">
          <a:xfrm flipH="1" flipV="1">
            <a:off x="6492044" y="1702405"/>
            <a:ext cx="2072754" cy="228643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20" name="540315524"/>
          <p:cNvCxnSpPr/>
          <p:nvPr/>
        </p:nvCxnSpPr>
        <p:spPr bwMode="auto">
          <a:xfrm>
            <a:off x="6564052" y="1550732"/>
            <a:ext cx="2232248" cy="2424388"/>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25" name="725505813"/>
          <p:cNvCxnSpPr/>
          <p:nvPr/>
        </p:nvCxnSpPr>
        <p:spPr bwMode="auto">
          <a:xfrm>
            <a:off x="4131258" y="4329100"/>
            <a:ext cx="3728938"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28" name="2076003362"/>
          <p:cNvCxnSpPr/>
          <p:nvPr/>
        </p:nvCxnSpPr>
        <p:spPr bwMode="auto">
          <a:xfrm flipH="1">
            <a:off x="4062549" y="4150462"/>
            <a:ext cx="3776770" cy="858"/>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32" name="448360074"/>
          <p:cNvSpPr txBox="1"/>
          <p:nvPr/>
        </p:nvSpPr>
        <p:spPr bwMode="auto">
          <a:xfrm rot="18704146">
            <a:off x="3108443" y="2445182"/>
            <a:ext cx="1908212" cy="531835"/>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dirty="0">
                <a:solidFill>
                  <a:srgbClr val="000000"/>
                </a:solidFill>
                <a:latin typeface="+mn-ea"/>
                <a:ea typeface="+mn-ea"/>
                <a:cs typeface="Arial" pitchFamily="34" charset="0"/>
              </a:rPr>
              <a:t>Startup &amp; priority=255</a:t>
            </a:r>
          </a:p>
        </p:txBody>
      </p:sp>
      <p:sp>
        <p:nvSpPr>
          <p:cNvPr id="34" name="2093823204"/>
          <p:cNvSpPr txBox="1"/>
          <p:nvPr/>
        </p:nvSpPr>
        <p:spPr bwMode="auto">
          <a:xfrm rot="2889900">
            <a:off x="6844975" y="2372066"/>
            <a:ext cx="1977121" cy="531835"/>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dirty="0">
                <a:solidFill>
                  <a:srgbClr val="000000"/>
                </a:solidFill>
                <a:latin typeface="+mn-ea"/>
                <a:ea typeface="+mn-ea"/>
                <a:cs typeface="Arial" pitchFamily="34" charset="0"/>
              </a:rPr>
              <a:t>Startup &amp; priority!=255</a:t>
            </a:r>
          </a:p>
        </p:txBody>
      </p:sp>
      <p:sp>
        <p:nvSpPr>
          <p:cNvPr id="35" name="2052313336"/>
          <p:cNvSpPr txBox="1"/>
          <p:nvPr/>
        </p:nvSpPr>
        <p:spPr bwMode="auto">
          <a:xfrm rot="18704146">
            <a:off x="3653104" y="2884225"/>
            <a:ext cx="1908212" cy="316392"/>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dirty="0">
                <a:solidFill>
                  <a:srgbClr val="000000"/>
                </a:solidFill>
                <a:latin typeface="+mn-ea"/>
                <a:ea typeface="+mn-ea"/>
                <a:cs typeface="Arial" pitchFamily="34" charset="0"/>
              </a:rPr>
              <a:t>Shutdown</a:t>
            </a:r>
          </a:p>
        </p:txBody>
      </p:sp>
      <p:sp>
        <p:nvSpPr>
          <p:cNvPr id="36" name="1452361456"/>
          <p:cNvSpPr txBox="1"/>
          <p:nvPr/>
        </p:nvSpPr>
        <p:spPr bwMode="auto">
          <a:xfrm rot="2889900">
            <a:off x="6376142" y="2774807"/>
            <a:ext cx="1977121" cy="316392"/>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a:solidFill>
                  <a:srgbClr val="000000"/>
                </a:solidFill>
                <a:latin typeface="+mn-ea"/>
                <a:ea typeface="+mn-ea"/>
                <a:cs typeface="Arial" pitchFamily="34" charset="0"/>
              </a:rPr>
              <a:t>Shutdown</a:t>
            </a:r>
            <a:endParaRPr lang="en-US" altLang="zh-CN" sz="1400" dirty="0">
              <a:solidFill>
                <a:srgbClr val="000000"/>
              </a:solidFill>
              <a:latin typeface="+mn-ea"/>
              <a:ea typeface="+mn-ea"/>
              <a:cs typeface="Arial" pitchFamily="34" charset="0"/>
            </a:endParaRPr>
          </a:p>
        </p:txBody>
      </p:sp>
      <p:sp>
        <p:nvSpPr>
          <p:cNvPr id="37" name="1079681372"/>
          <p:cNvSpPr txBox="1"/>
          <p:nvPr/>
        </p:nvSpPr>
        <p:spPr bwMode="auto">
          <a:xfrm>
            <a:off x="3676168" y="3618628"/>
            <a:ext cx="4688084" cy="531835"/>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dirty="0" err="1">
                <a:solidFill>
                  <a:srgbClr val="000000"/>
                </a:solidFill>
                <a:latin typeface="+mn-ea"/>
                <a:ea typeface="+mn-ea"/>
                <a:cs typeface="Arial" pitchFamily="34" charset="0"/>
              </a:rPr>
              <a:t>Master_Down_</a:t>
            </a:r>
            <a:r>
              <a:rPr lang="en-US" altLang="zh-CN" sz="1400" dirty="0" err="1">
                <a:latin typeface="+mn-ea"/>
                <a:ea typeface="+mn-ea"/>
              </a:rPr>
              <a:t>Interval</a:t>
            </a:r>
            <a:r>
              <a:rPr lang="en-US" altLang="zh-CN" sz="1400" dirty="0">
                <a:solidFill>
                  <a:srgbClr val="000000"/>
                </a:solidFill>
                <a:latin typeface="+mn-ea"/>
                <a:ea typeface="+mn-ea"/>
                <a:cs typeface="Arial" pitchFamily="34" charset="0"/>
              </a:rPr>
              <a:t> expire | Priority=0 in received packet | Priority in received packet &lt;Own Priority</a:t>
            </a:r>
          </a:p>
        </p:txBody>
      </p:sp>
      <p:sp>
        <p:nvSpPr>
          <p:cNvPr id="38" name="1411461905"/>
          <p:cNvSpPr txBox="1"/>
          <p:nvPr/>
        </p:nvSpPr>
        <p:spPr bwMode="auto">
          <a:xfrm>
            <a:off x="3912208" y="4388988"/>
            <a:ext cx="4077453" cy="316392"/>
          </a:xfrm>
          <a:prstGeom prst="rect">
            <a:avLst/>
          </a:prstGeom>
          <a:noFill/>
          <a:ln w="9525">
            <a:noFill/>
            <a:miter lim="800000"/>
            <a:headEnd/>
            <a:tailEnd/>
          </a:ln>
        </p:spPr>
        <p:txBody>
          <a:bodyPr wrap="square" lIns="99980" tIns="49986" rIns="99980" bIns="49986" rtlCol="0">
            <a:spAutoFit/>
          </a:bodyPr>
          <a:lstStyle/>
          <a:p>
            <a:pPr algn="ctr" defTabSz="1001649" eaLnBrk="0" fontAlgn="ctr" hangingPunct="0"/>
            <a:r>
              <a:rPr lang="en-US" altLang="zh-CN" sz="1400" dirty="0">
                <a:solidFill>
                  <a:srgbClr val="000000"/>
                </a:solidFill>
                <a:latin typeface="+mn-ea"/>
                <a:ea typeface="+mn-ea"/>
                <a:cs typeface="Arial" pitchFamily="34" charset="0"/>
              </a:rPr>
              <a:t> Priority in received packet &gt;Own Priority</a:t>
            </a:r>
          </a:p>
        </p:txBody>
      </p:sp>
    </p:spTree>
    <p:extLst>
      <p:ext uri="{BB962C8B-B14F-4D97-AF65-F5344CB8AC3E}">
        <p14:creationId xmlns:p14="http://schemas.microsoft.com/office/powerpoint/2010/main" val="3447207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23851716"/>
          <p:cNvSpPr>
            <a:spLocks noGrp="1"/>
          </p:cNvSpPr>
          <p:nvPr>
            <p:ph type="body" sz="quarter" idx="10"/>
          </p:nvPr>
        </p:nvSpPr>
        <p:spPr/>
        <p:txBody>
          <a:bodyPr/>
          <a:lstStyle/>
          <a:p>
            <a:r>
              <a:rPr lang="en-US" altLang="zh-CN" dirty="0" smtClean="0">
                <a:solidFill>
                  <a:schemeClr val="bg1">
                    <a:lumMod val="50000"/>
                  </a:schemeClr>
                </a:solidFill>
              </a:rPr>
              <a:t>VRRP Background and Overview</a:t>
            </a:r>
          </a:p>
          <a:p>
            <a:r>
              <a:rPr lang="en-US" altLang="zh-CN" b="1" dirty="0" smtClean="0"/>
              <a:t>VRRP Active/Standby Switchover</a:t>
            </a:r>
          </a:p>
          <a:p>
            <a:r>
              <a:rPr lang="en-US" altLang="zh-CN" dirty="0" smtClean="0">
                <a:solidFill>
                  <a:schemeClr val="bg1">
                    <a:lumMod val="50000"/>
                  </a:schemeClr>
                </a:solidFill>
              </a:rPr>
              <a:t>VRRP Load Balancing</a:t>
            </a:r>
          </a:p>
          <a:p>
            <a:r>
              <a:rPr lang="en-US" altLang="zh-CN" dirty="0" smtClean="0">
                <a:solidFill>
                  <a:schemeClr val="bg1">
                    <a:lumMod val="50000"/>
                  </a:schemeClr>
                </a:solidFill>
              </a:rPr>
              <a:t>Basic VRRP Configuration</a:t>
            </a:r>
            <a:endParaRPr lang="en-US" altLang="zh-CN" dirty="0">
              <a:solidFill>
                <a:schemeClr val="bg1">
                  <a:lumMod val="50000"/>
                </a:schemeClr>
              </a:solidFill>
            </a:endParaRPr>
          </a:p>
        </p:txBody>
      </p:sp>
    </p:spTree>
    <p:extLst>
      <p:ext uri="{BB962C8B-B14F-4D97-AF65-F5344CB8AC3E}">
        <p14:creationId xmlns:p14="http://schemas.microsoft.com/office/powerpoint/2010/main" val="15133969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2072918052"/>
          <p:cNvSpPr>
            <a:spLocks noGrp="1"/>
          </p:cNvSpPr>
          <p:nvPr>
            <p:ph type="title" idx="4294967295"/>
          </p:nvPr>
        </p:nvSpPr>
        <p:spPr>
          <a:xfrm>
            <a:off x="1631950" y="296863"/>
            <a:ext cx="10560050" cy="868362"/>
          </a:xfrm>
        </p:spPr>
        <p:txBody>
          <a:bodyPr/>
          <a:lstStyle/>
          <a:p>
            <a:r>
              <a:rPr lang="en-US" altLang="zh-CN" dirty="0" smtClean="0">
                <a:latin typeface="+mn-ea"/>
                <a:ea typeface="+mn-ea"/>
              </a:rPr>
              <a:t>Working Process of VRRP Active/Standby Switchover</a:t>
            </a:r>
            <a:endParaRPr lang="en-US" altLang="zh-CN" dirty="0">
              <a:latin typeface="+mn-ea"/>
              <a:ea typeface="+mn-ea"/>
            </a:endParaRPr>
          </a:p>
        </p:txBody>
      </p:sp>
      <p:sp>
        <p:nvSpPr>
          <p:cNvPr id="27" name="Line 10"/>
          <p:cNvSpPr>
            <a:spLocks noChangeShapeType="1"/>
          </p:cNvSpPr>
          <p:nvPr/>
        </p:nvSpPr>
        <p:spPr bwMode="auto">
          <a:xfrm flipV="1">
            <a:off x="5123321" y="4602793"/>
            <a:ext cx="2368412" cy="0"/>
          </a:xfrm>
          <a:prstGeom prst="line">
            <a:avLst/>
          </a:prstGeom>
          <a:noFill/>
          <a:ln w="25400">
            <a:solidFill>
              <a:schemeClr val="tx1"/>
            </a:solidFill>
            <a:round/>
            <a:headEnd type="none" w="sm" len="sm"/>
            <a:tailEnd type="none" w="sm" len="sm"/>
          </a:ln>
        </p:spPr>
        <p:txBody>
          <a:bodyPr wrap="none" anchor="ctr"/>
          <a:lstStyle/>
          <a:p>
            <a:endParaRPr lang="zh-CN" altLang="en-US">
              <a:latin typeface="+mn-ea"/>
              <a:ea typeface="+mn-ea"/>
            </a:endParaRPr>
          </a:p>
        </p:txBody>
      </p:sp>
      <p:cxnSp>
        <p:nvCxnSpPr>
          <p:cNvPr id="28" name="直接连接符 8"/>
          <p:cNvCxnSpPr>
            <a:cxnSpLocks noChangeShapeType="1"/>
          </p:cNvCxnSpPr>
          <p:nvPr/>
        </p:nvCxnSpPr>
        <p:spPr bwMode="auto">
          <a:xfrm>
            <a:off x="6322717" y="4609556"/>
            <a:ext cx="0" cy="844057"/>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31" name="直接连接符 8"/>
          <p:cNvCxnSpPr>
            <a:cxnSpLocks noChangeShapeType="1"/>
          </p:cNvCxnSpPr>
          <p:nvPr/>
        </p:nvCxnSpPr>
        <p:spPr bwMode="auto">
          <a:xfrm flipH="1">
            <a:off x="5332261" y="4025949"/>
            <a:ext cx="4084" cy="576845"/>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32" name="直接连接符 8"/>
          <p:cNvCxnSpPr>
            <a:cxnSpLocks noChangeShapeType="1"/>
          </p:cNvCxnSpPr>
          <p:nvPr/>
        </p:nvCxnSpPr>
        <p:spPr bwMode="auto">
          <a:xfrm flipH="1">
            <a:off x="7272524" y="4025949"/>
            <a:ext cx="4084" cy="576845"/>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33" name="直接连接符 32"/>
          <p:cNvCxnSpPr>
            <a:cxnSpLocks noChangeShapeType="1"/>
          </p:cNvCxnSpPr>
          <p:nvPr/>
        </p:nvCxnSpPr>
        <p:spPr bwMode="auto">
          <a:xfrm flipH="1">
            <a:off x="5415773" y="2759354"/>
            <a:ext cx="743341" cy="850819"/>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34" name="直接连接符 8"/>
          <p:cNvCxnSpPr>
            <a:cxnSpLocks noChangeShapeType="1"/>
          </p:cNvCxnSpPr>
          <p:nvPr/>
        </p:nvCxnSpPr>
        <p:spPr bwMode="auto">
          <a:xfrm>
            <a:off x="6532012" y="2865706"/>
            <a:ext cx="697650" cy="779917"/>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35" name="文本框 78"/>
          <p:cNvSpPr txBox="1"/>
          <p:nvPr/>
        </p:nvSpPr>
        <p:spPr bwMode="auto">
          <a:xfrm>
            <a:off x="3323692" y="5264888"/>
            <a:ext cx="2920325"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err="1">
                <a:solidFill>
                  <a:srgbClr val="000000"/>
                </a:solidFill>
                <a:latin typeface="+mn-ea"/>
                <a:ea typeface="+mn-ea"/>
                <a:cs typeface="Arial" pitchFamily="34" charset="0"/>
              </a:rPr>
              <a:t>HostA</a:t>
            </a:r>
            <a:endParaRPr lang="en-US" altLang="zh-CN" sz="1400" dirty="0">
              <a:solidFill>
                <a:srgbClr val="000000"/>
              </a:solidFill>
              <a:latin typeface="+mn-ea"/>
              <a:ea typeface="+mn-ea"/>
              <a:cs typeface="Arial" pitchFamily="34" charset="0"/>
            </a:endParaRPr>
          </a:p>
          <a:p>
            <a:pPr algn="ctr" defTabSz="1001649" eaLnBrk="0" hangingPunct="0"/>
            <a:r>
              <a:rPr lang="en-US" altLang="zh-CN" sz="1400" dirty="0">
                <a:solidFill>
                  <a:srgbClr val="000000"/>
                </a:solidFill>
                <a:latin typeface="+mn-ea"/>
                <a:ea typeface="+mn-ea"/>
                <a:cs typeface="Arial" pitchFamily="34" charset="0"/>
              </a:rPr>
              <a:t>Gateway address: 10.1.1.254</a:t>
            </a:r>
          </a:p>
          <a:p>
            <a:pPr algn="ctr" defTabSz="1001649" eaLnBrk="0" hangingPunct="0"/>
            <a:r>
              <a:rPr lang="en-US" altLang="zh-CN" sz="1400" dirty="0">
                <a:solidFill>
                  <a:srgbClr val="000000"/>
                </a:solidFill>
                <a:latin typeface="+mn-ea"/>
                <a:ea typeface="+mn-ea"/>
                <a:cs typeface="Arial" pitchFamily="34" charset="0"/>
              </a:rPr>
              <a:t>IP address: 10.1.1.3/24</a:t>
            </a:r>
            <a:endParaRPr lang="zh-CN" altLang="en-US" sz="1400" dirty="0">
              <a:solidFill>
                <a:srgbClr val="000000"/>
              </a:solidFill>
              <a:latin typeface="+mn-ea"/>
              <a:ea typeface="+mn-ea"/>
              <a:cs typeface="Arial" pitchFamily="34" charset="0"/>
            </a:endParaRPr>
          </a:p>
        </p:txBody>
      </p:sp>
      <p:sp>
        <p:nvSpPr>
          <p:cNvPr id="36" name="文本框 79"/>
          <p:cNvSpPr txBox="1"/>
          <p:nvPr/>
        </p:nvSpPr>
        <p:spPr bwMode="auto">
          <a:xfrm>
            <a:off x="4633313" y="3138749"/>
            <a:ext cx="1051376"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err="1">
                <a:solidFill>
                  <a:srgbClr val="000000"/>
                </a:solidFill>
                <a:latin typeface="+mn-ea"/>
                <a:ea typeface="+mn-ea"/>
                <a:cs typeface="Arial" pitchFamily="34" charset="0"/>
              </a:rPr>
              <a:t>RouterA</a:t>
            </a:r>
            <a:endParaRPr lang="en-US" altLang="zh-CN" sz="1600" b="1" dirty="0">
              <a:solidFill>
                <a:srgbClr val="000000"/>
              </a:solidFill>
              <a:latin typeface="+mn-ea"/>
              <a:ea typeface="+mn-ea"/>
              <a:cs typeface="Arial" pitchFamily="34" charset="0"/>
            </a:endParaRPr>
          </a:p>
        </p:txBody>
      </p:sp>
      <p:sp>
        <p:nvSpPr>
          <p:cNvPr id="37" name="文本框 80"/>
          <p:cNvSpPr txBox="1"/>
          <p:nvPr/>
        </p:nvSpPr>
        <p:spPr bwMode="auto">
          <a:xfrm>
            <a:off x="6887306" y="3139685"/>
            <a:ext cx="1038553"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err="1">
                <a:solidFill>
                  <a:srgbClr val="000000"/>
                </a:solidFill>
                <a:latin typeface="+mn-ea"/>
                <a:ea typeface="+mn-ea"/>
                <a:cs typeface="Arial" pitchFamily="34" charset="0"/>
              </a:rPr>
              <a:t>RouterB</a:t>
            </a:r>
            <a:endParaRPr lang="en-US" altLang="zh-CN" sz="1600" b="1" dirty="0">
              <a:solidFill>
                <a:srgbClr val="000000"/>
              </a:solidFill>
              <a:latin typeface="+mn-ea"/>
              <a:ea typeface="+mn-ea"/>
              <a:cs typeface="Arial" pitchFamily="34" charset="0"/>
            </a:endParaRPr>
          </a:p>
        </p:txBody>
      </p:sp>
      <p:cxnSp>
        <p:nvCxnSpPr>
          <p:cNvPr id="40" name="直接连接符 8"/>
          <p:cNvCxnSpPr>
            <a:cxnSpLocks noChangeShapeType="1"/>
          </p:cNvCxnSpPr>
          <p:nvPr/>
        </p:nvCxnSpPr>
        <p:spPr bwMode="auto">
          <a:xfrm>
            <a:off x="6322717" y="1873083"/>
            <a:ext cx="0" cy="63811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43" name="矩形 42"/>
          <p:cNvSpPr/>
          <p:nvPr/>
        </p:nvSpPr>
        <p:spPr bwMode="auto">
          <a:xfrm>
            <a:off x="6710541" y="4041067"/>
            <a:ext cx="1293671" cy="540982"/>
          </a:xfrm>
          <a:prstGeom prst="rect">
            <a:avLst/>
          </a:prstGeom>
          <a:solidFill>
            <a:schemeClr val="accent3">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800" dirty="0">
                <a:latin typeface="+mn-ea"/>
                <a:ea typeface="+mn-ea"/>
              </a:rPr>
              <a:t>VRRP</a:t>
            </a:r>
          </a:p>
          <a:p>
            <a:r>
              <a:rPr lang="en-US" altLang="zh-CN" sz="800" dirty="0">
                <a:latin typeface="+mn-ea"/>
                <a:ea typeface="+mn-ea"/>
              </a:rPr>
              <a:t>priority 100</a:t>
            </a:r>
          </a:p>
          <a:p>
            <a:r>
              <a:rPr lang="en-US" altLang="zh-CN" sz="800" dirty="0" err="1">
                <a:latin typeface="+mn-ea"/>
                <a:ea typeface="+mn-ea"/>
              </a:rPr>
              <a:t>ip</a:t>
            </a:r>
            <a:r>
              <a:rPr lang="en-US" altLang="zh-CN" sz="800" dirty="0">
                <a:latin typeface="+mn-ea"/>
                <a:ea typeface="+mn-ea"/>
              </a:rPr>
              <a:t> address 10.1.1.2</a:t>
            </a:r>
            <a:br>
              <a:rPr lang="en-US" altLang="zh-CN" sz="800" dirty="0">
                <a:latin typeface="+mn-ea"/>
                <a:ea typeface="+mn-ea"/>
              </a:rPr>
            </a:br>
            <a:r>
              <a:rPr lang="en-US" altLang="zh-CN" sz="800" dirty="0">
                <a:latin typeface="+mn-ea"/>
                <a:ea typeface="+mn-ea"/>
              </a:rPr>
              <a:t>virtual </a:t>
            </a:r>
            <a:r>
              <a:rPr lang="en-US" altLang="zh-CN" sz="800" dirty="0" err="1">
                <a:latin typeface="+mn-ea"/>
                <a:ea typeface="+mn-ea"/>
              </a:rPr>
              <a:t>ip</a:t>
            </a:r>
            <a:r>
              <a:rPr lang="en-US" altLang="zh-CN" sz="800" dirty="0">
                <a:latin typeface="+mn-ea"/>
                <a:ea typeface="+mn-ea"/>
              </a:rPr>
              <a:t> 10.1.1.254</a:t>
            </a:r>
          </a:p>
        </p:txBody>
      </p:sp>
      <p:sp>
        <p:nvSpPr>
          <p:cNvPr id="44" name="文本框 89"/>
          <p:cNvSpPr txBox="1"/>
          <p:nvPr/>
        </p:nvSpPr>
        <p:spPr bwMode="auto">
          <a:xfrm>
            <a:off x="4136729" y="3501008"/>
            <a:ext cx="923072" cy="362558"/>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700" dirty="0">
                <a:solidFill>
                  <a:srgbClr val="C00000"/>
                </a:solidFill>
                <a:latin typeface="+mn-ea"/>
                <a:ea typeface="+mn-ea"/>
                <a:cs typeface="Arial" pitchFamily="34" charset="0"/>
              </a:rPr>
              <a:t>Master</a:t>
            </a:r>
          </a:p>
        </p:txBody>
      </p:sp>
      <p:sp>
        <p:nvSpPr>
          <p:cNvPr id="45" name="文本框 90"/>
          <p:cNvSpPr txBox="1"/>
          <p:nvPr/>
        </p:nvSpPr>
        <p:spPr bwMode="auto">
          <a:xfrm>
            <a:off x="7524093" y="3501008"/>
            <a:ext cx="960134" cy="362558"/>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700" dirty="0">
                <a:solidFill>
                  <a:srgbClr val="C00000"/>
                </a:solidFill>
                <a:latin typeface="+mn-ea"/>
                <a:ea typeface="+mn-ea"/>
                <a:cs typeface="Arial" pitchFamily="34" charset="0"/>
              </a:rPr>
              <a:t>Backup</a:t>
            </a:r>
          </a:p>
        </p:txBody>
      </p:sp>
      <p:grpSp>
        <p:nvGrpSpPr>
          <p:cNvPr id="46" name="组合 45"/>
          <p:cNvGrpSpPr/>
          <p:nvPr/>
        </p:nvGrpSpPr>
        <p:grpSpPr>
          <a:xfrm>
            <a:off x="5303911" y="1728424"/>
            <a:ext cx="971330" cy="3788808"/>
            <a:chOff x="3239852" y="1772816"/>
            <a:chExt cx="936104" cy="3672408"/>
          </a:xfrm>
        </p:grpSpPr>
        <p:cxnSp>
          <p:nvCxnSpPr>
            <p:cNvPr id="47" name="肘形连接符 46"/>
            <p:cNvCxnSpPr/>
            <p:nvPr/>
          </p:nvCxnSpPr>
          <p:spPr bwMode="auto">
            <a:xfrm rot="16200000" flipV="1">
              <a:off x="2879812" y="4149080"/>
              <a:ext cx="1656184" cy="936104"/>
            </a:xfrm>
            <a:prstGeom prst="bentConnector3">
              <a:avLst>
                <a:gd name="adj1" fmla="val 50000"/>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48" name="直接连接符 47"/>
            <p:cNvCxnSpPr/>
            <p:nvPr/>
          </p:nvCxnSpPr>
          <p:spPr bwMode="auto">
            <a:xfrm flipV="1">
              <a:off x="3239852" y="2744924"/>
              <a:ext cx="936104" cy="1044116"/>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49" name="直接箭头连接符 48"/>
            <p:cNvCxnSpPr/>
            <p:nvPr/>
          </p:nvCxnSpPr>
          <p:spPr bwMode="auto">
            <a:xfrm flipV="1">
              <a:off x="4175956" y="1772816"/>
              <a:ext cx="0" cy="972108"/>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sp>
        <p:nvSpPr>
          <p:cNvPr id="51" name="矩形 50"/>
          <p:cNvSpPr/>
          <p:nvPr/>
        </p:nvSpPr>
        <p:spPr bwMode="auto">
          <a:xfrm>
            <a:off x="4744960" y="4053187"/>
            <a:ext cx="1351040" cy="549606"/>
          </a:xfrm>
          <a:prstGeom prst="rect">
            <a:avLst/>
          </a:prstGeom>
          <a:solidFill>
            <a:schemeClr val="accent3">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800" dirty="0">
                <a:latin typeface="+mn-ea"/>
                <a:ea typeface="+mn-ea"/>
              </a:rPr>
              <a:t>VRRP</a:t>
            </a:r>
          </a:p>
          <a:p>
            <a:r>
              <a:rPr lang="en-US" altLang="zh-CN" sz="800" dirty="0">
                <a:latin typeface="+mn-ea"/>
                <a:ea typeface="+mn-ea"/>
              </a:rPr>
              <a:t>priority 150</a:t>
            </a:r>
          </a:p>
          <a:p>
            <a:r>
              <a:rPr lang="en-US" altLang="zh-CN" sz="800" dirty="0" err="1">
                <a:latin typeface="+mn-ea"/>
                <a:ea typeface="+mn-ea"/>
              </a:rPr>
              <a:t>ip</a:t>
            </a:r>
            <a:r>
              <a:rPr lang="en-US" altLang="zh-CN" sz="800" dirty="0">
                <a:latin typeface="+mn-ea"/>
                <a:ea typeface="+mn-ea"/>
              </a:rPr>
              <a:t> address 10.1.1.1</a:t>
            </a:r>
            <a:br>
              <a:rPr lang="en-US" altLang="zh-CN" sz="800" dirty="0">
                <a:latin typeface="+mn-ea"/>
                <a:ea typeface="+mn-ea"/>
              </a:rPr>
            </a:br>
            <a:r>
              <a:rPr lang="en-US" altLang="zh-CN" sz="800" dirty="0">
                <a:latin typeface="+mn-ea"/>
                <a:ea typeface="+mn-ea"/>
              </a:rPr>
              <a:t>virtual </a:t>
            </a:r>
            <a:r>
              <a:rPr lang="en-US" altLang="zh-CN" sz="800" dirty="0" err="1">
                <a:latin typeface="+mn-ea"/>
                <a:ea typeface="+mn-ea"/>
              </a:rPr>
              <a:t>ip</a:t>
            </a:r>
            <a:r>
              <a:rPr lang="en-US" altLang="zh-CN" sz="800" dirty="0">
                <a:latin typeface="+mn-ea"/>
                <a:ea typeface="+mn-ea"/>
              </a:rPr>
              <a:t> 10.1.1.254</a:t>
            </a:r>
          </a:p>
        </p:txBody>
      </p:sp>
      <p:sp>
        <p:nvSpPr>
          <p:cNvPr id="52" name="AutoShape 21"/>
          <p:cNvSpPr>
            <a:spLocks noChangeArrowheads="1"/>
          </p:cNvSpPr>
          <p:nvPr/>
        </p:nvSpPr>
        <p:spPr bwMode="auto">
          <a:xfrm>
            <a:off x="2855641" y="3205436"/>
            <a:ext cx="1716483" cy="279614"/>
          </a:xfrm>
          <a:prstGeom prst="wedgeRectCallout">
            <a:avLst>
              <a:gd name="adj1" fmla="val 97334"/>
              <a:gd name="adj2" fmla="val 81902"/>
            </a:avLst>
          </a:prstGeom>
          <a:solidFill>
            <a:schemeClr val="bg1"/>
          </a:solidFill>
          <a:ln w="3175" algn="ctr">
            <a:solidFill>
              <a:srgbClr val="999999"/>
            </a:solidFill>
            <a:miter lim="800000"/>
            <a:headEnd/>
            <a:tailEnd/>
          </a:ln>
        </p:spPr>
        <p:txBody>
          <a:bodyPr lIns="0" tIns="0" rIns="0" bIns="0" anchor="ctr" anchorCtr="1"/>
          <a:lstStyle/>
          <a:p>
            <a:pPr fontAlgn="ctr">
              <a:spcBef>
                <a:spcPct val="20000"/>
              </a:spcBef>
              <a:buClr>
                <a:srgbClr val="A50021"/>
              </a:buClr>
              <a:buSzPct val="80000"/>
            </a:pPr>
            <a:r>
              <a:rPr lang="en-US" altLang="zh-CN" sz="1400" dirty="0">
                <a:latin typeface="+mn-ea"/>
                <a:ea typeface="+mn-ea"/>
              </a:rPr>
              <a:t>1. Select the master.</a:t>
            </a:r>
            <a:endParaRPr lang="en-US" altLang="zh-CN" sz="1400" dirty="0">
              <a:solidFill>
                <a:schemeClr val="tx1">
                  <a:lumMod val="95000"/>
                  <a:lumOff val="5000"/>
                </a:schemeClr>
              </a:solidFill>
              <a:latin typeface="+mn-ea"/>
              <a:ea typeface="+mn-ea"/>
            </a:endParaRPr>
          </a:p>
        </p:txBody>
      </p:sp>
      <p:sp>
        <p:nvSpPr>
          <p:cNvPr id="53" name="AutoShape 21"/>
          <p:cNvSpPr>
            <a:spLocks noChangeArrowheads="1"/>
          </p:cNvSpPr>
          <p:nvPr/>
        </p:nvSpPr>
        <p:spPr bwMode="auto">
          <a:xfrm>
            <a:off x="1775520" y="3863566"/>
            <a:ext cx="2658621" cy="1401322"/>
          </a:xfrm>
          <a:prstGeom prst="wedgeRectCallout">
            <a:avLst>
              <a:gd name="adj1" fmla="val 78764"/>
              <a:gd name="adj2" fmla="val -42705"/>
            </a:avLst>
          </a:prstGeom>
          <a:solidFill>
            <a:schemeClr val="bg1"/>
          </a:solidFill>
          <a:ln w="3175" algn="ctr">
            <a:solidFill>
              <a:srgbClr val="999999"/>
            </a:solidFill>
            <a:miter lim="800000"/>
            <a:headEnd/>
            <a:tailEnd/>
          </a:ln>
        </p:spPr>
        <p:txBody>
          <a:bodyPr lIns="0" tIns="0" rIns="0" bIns="0" anchor="ctr" anchorCtr="1"/>
          <a:lstStyle/>
          <a:p>
            <a:pPr marL="0" lvl="1" fontAlgn="ctr"/>
            <a:r>
              <a:rPr lang="en-US" altLang="zh-CN" sz="1400" dirty="0">
                <a:latin typeface="+mn-ea"/>
                <a:ea typeface="+mn-ea"/>
              </a:rPr>
              <a:t>2. Maintain the status.</a:t>
            </a:r>
          </a:p>
          <a:p>
            <a:pPr marL="0" lvl="1" fontAlgn="ctr"/>
            <a:r>
              <a:rPr lang="en-US" altLang="zh-CN" sz="1400" dirty="0">
                <a:latin typeface="+mn-ea"/>
                <a:ea typeface="+mn-ea"/>
              </a:rPr>
              <a:t>The master periodically sends VRRP Advertisement packets to other devices in the group to notify that it works properly.</a:t>
            </a:r>
          </a:p>
        </p:txBody>
      </p:sp>
      <p:pic>
        <p:nvPicPr>
          <p:cNvPr id="30" name="图片 29" descr="internet-蓝.png"/>
          <p:cNvPicPr>
            <a:picLocks noChangeAspect="1"/>
          </p:cNvPicPr>
          <p:nvPr/>
        </p:nvPicPr>
        <p:blipFill>
          <a:blip r:embed="rId3" cstate="print"/>
          <a:stretch>
            <a:fillRect/>
          </a:stretch>
        </p:blipFill>
        <p:spPr>
          <a:xfrm>
            <a:off x="5731091" y="1448780"/>
            <a:ext cx="1205730" cy="612000"/>
          </a:xfrm>
          <a:prstGeom prst="rect">
            <a:avLst/>
          </a:prstGeom>
        </p:spPr>
      </p:pic>
      <p:pic>
        <p:nvPicPr>
          <p:cNvPr id="54" name="图片 53" descr="PC.png"/>
          <p:cNvPicPr>
            <a:picLocks noChangeAspect="1"/>
          </p:cNvPicPr>
          <p:nvPr/>
        </p:nvPicPr>
        <p:blipFill>
          <a:blip r:embed="rId4" cstate="print"/>
          <a:stretch>
            <a:fillRect/>
          </a:stretch>
        </p:blipFill>
        <p:spPr>
          <a:xfrm>
            <a:off x="6011696" y="5299413"/>
            <a:ext cx="750001" cy="576000"/>
          </a:xfrm>
          <a:prstGeom prst="rect">
            <a:avLst/>
          </a:prstGeom>
        </p:spPr>
      </p:pic>
      <p:pic>
        <p:nvPicPr>
          <p:cNvPr id="55" name="图片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03348" y="2451345"/>
            <a:ext cx="599339" cy="468000"/>
          </a:xfrm>
          <a:prstGeom prst="rect">
            <a:avLst/>
          </a:prstGeom>
        </p:spPr>
      </p:pic>
      <p:pic>
        <p:nvPicPr>
          <p:cNvPr id="56" name="图片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00817" y="3536996"/>
            <a:ext cx="599339" cy="468000"/>
          </a:xfrm>
          <a:prstGeom prst="rect">
            <a:avLst/>
          </a:prstGeom>
        </p:spPr>
      </p:pic>
      <p:pic>
        <p:nvPicPr>
          <p:cNvPr id="57" name="图片 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3445" y="3572996"/>
            <a:ext cx="553236" cy="432000"/>
          </a:xfrm>
          <a:prstGeom prst="rect">
            <a:avLst/>
          </a:prstGeom>
        </p:spPr>
      </p:pic>
    </p:spTree>
    <p:extLst>
      <p:ext uri="{BB962C8B-B14F-4D97-AF65-F5344CB8AC3E}">
        <p14:creationId xmlns:p14="http://schemas.microsoft.com/office/powerpoint/2010/main" val="287582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1.25E-6 1.48148E-6 L -1.25E-6 0.0581 L 0.21445 0.05602 L 0.21602 -0.06366 " pathEditMode="relative" rAng="0" ptsTypes="AAAA">
                                      <p:cBhvr>
                                        <p:cTn id="6" dur="2000" fill="hold"/>
                                        <p:tgtEl>
                                          <p:spTgt spid="51"/>
                                        </p:tgtEl>
                                        <p:attrNameLst>
                                          <p:attrName>ppt_x</p:attrName>
                                          <p:attrName>ppt_y</p:attrName>
                                        </p:attrNameLst>
                                      </p:cBhvr>
                                      <p:rCtr x="10794" y="-278"/>
                                    </p:animMotion>
                                  </p:childTnLst>
                                </p:cTn>
                              </p:par>
                              <p:par>
                                <p:cTn id="7" presetID="0" presetClass="path" presetSubtype="0" accel="50000" decel="50000" fill="hold" grpId="0" nodeType="withEffect">
                                  <p:stCondLst>
                                    <p:cond delay="0"/>
                                  </p:stCondLst>
                                  <p:childTnLst>
                                    <p:animMotion origin="layout" path="M 4.58333E-6 -3.7037E-6 L 0.00156 0.05996 L -0.21146 0.05996 L -0.21003 -0.06574 " pathEditMode="relative" rAng="0" ptsTypes="AAAA">
                                      <p:cBhvr>
                                        <p:cTn id="8" dur="2000" fill="hold"/>
                                        <p:tgtEl>
                                          <p:spTgt spid="43"/>
                                        </p:tgtEl>
                                        <p:attrNameLst>
                                          <p:attrName>ppt_x</p:attrName>
                                          <p:attrName>ppt_y</p:attrName>
                                        </p:attrNameLst>
                                      </p:cBhvr>
                                      <p:rCtr x="-10495" y="-301"/>
                                    </p:animMotion>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wipe(down)">
                                      <p:cBhvr>
                                        <p:cTn id="13" dur="500"/>
                                        <p:tgtEl>
                                          <p:spTgt spid="4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wipe(down)">
                                      <p:cBhvr>
                                        <p:cTn id="16" dur="500"/>
                                        <p:tgtEl>
                                          <p:spTgt spid="4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wipe(left)">
                                      <p:cBhvr>
                                        <p:cTn id="19" dur="500"/>
                                        <p:tgtEl>
                                          <p:spTgt spid="52"/>
                                        </p:tgtEl>
                                      </p:cBhvr>
                                    </p:animEffect>
                                  </p:childTnLst>
                                </p:cTn>
                              </p:par>
                              <p:par>
                                <p:cTn id="20" presetID="1" presetClass="exit" presetSubtype="0" fill="hold" grpId="1" nodeType="withEffect">
                                  <p:stCondLst>
                                    <p:cond delay="0"/>
                                  </p:stCondLst>
                                  <p:childTnLst>
                                    <p:set>
                                      <p:cBhvr>
                                        <p:cTn id="21" dur="1" fill="hold">
                                          <p:stCondLst>
                                            <p:cond delay="0"/>
                                          </p:stCondLst>
                                        </p:cTn>
                                        <p:tgtEl>
                                          <p:spTgt spid="51"/>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43"/>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4" repeatCount="100000" fill="hold"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down)">
                                      <p:cBhvr>
                                        <p:cTn id="28" dur="1000"/>
                                        <p:tgtEl>
                                          <p:spTgt spid="46"/>
                                        </p:tgtEl>
                                      </p:cBhvr>
                                    </p:animEffect>
                                  </p:childTnLst>
                                </p:cTn>
                              </p:par>
                              <p:par>
                                <p:cTn id="29" presetID="1" presetClass="exit" presetSubtype="0" fill="hold" grpId="1" nodeType="withEffect">
                                  <p:stCondLst>
                                    <p:cond delay="0"/>
                                  </p:stCondLst>
                                  <p:childTnLst>
                                    <p:set>
                                      <p:cBhvr>
                                        <p:cTn id="30" dur="1" fill="hold">
                                          <p:stCondLst>
                                            <p:cond delay="0"/>
                                          </p:stCondLst>
                                        </p:cTn>
                                        <p:tgtEl>
                                          <p:spTgt spid="5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wipe(left)">
                                      <p:cBhvr>
                                        <p:cTn id="35" dur="500"/>
                                        <p:tgtEl>
                                          <p:spTgt spid="53"/>
                                        </p:tgtEl>
                                      </p:cBhvr>
                                    </p:animEffect>
                                  </p:childTnLst>
                                </p:cTn>
                              </p:par>
                              <p:par>
                                <p:cTn id="36" presetID="1" presetClass="entr" presetSubtype="0" fill="hold" grpId="3" nodeType="withEffect">
                                  <p:stCondLst>
                                    <p:cond delay="0"/>
                                  </p:stCondLst>
                                  <p:childTnLst>
                                    <p:set>
                                      <p:cBhvr>
                                        <p:cTn id="37" dur="1" fill="hold">
                                          <p:stCondLst>
                                            <p:cond delay="0"/>
                                          </p:stCondLst>
                                        </p:cTn>
                                        <p:tgtEl>
                                          <p:spTgt spid="51"/>
                                        </p:tgtEl>
                                        <p:attrNameLst>
                                          <p:attrName>style.visibility</p:attrName>
                                        </p:attrNameLst>
                                      </p:cBhvr>
                                      <p:to>
                                        <p:strVal val="visible"/>
                                      </p:to>
                                    </p:set>
                                  </p:childTnLst>
                                </p:cTn>
                              </p:par>
                              <p:par>
                                <p:cTn id="38" presetID="0" presetClass="path" presetSubtype="0" repeatCount="100000" accel="50000" decel="50000" fill="hold" grpId="2" nodeType="withEffect">
                                  <p:stCondLst>
                                    <p:cond delay="0"/>
                                  </p:stCondLst>
                                  <p:childTnLst>
                                    <p:animMotion origin="layout" path="M -1.25E-6 1.48148E-6 L -1.25E-6 0.05301 L 0.21719 0.05532 L 0.21719 -0.07107 " pathEditMode="relative" rAng="0" ptsTypes="AAAA">
                                      <p:cBhvr>
                                        <p:cTn id="39" dur="2000" fill="hold"/>
                                        <p:tgtEl>
                                          <p:spTgt spid="51"/>
                                        </p:tgtEl>
                                        <p:attrNameLst>
                                          <p:attrName>ppt_x</p:attrName>
                                          <p:attrName>ppt_y</p:attrName>
                                        </p:attrNameLst>
                                      </p:cBhvr>
                                      <p:rCtr x="10859" y="-787"/>
                                    </p:animMotion>
                                  </p:childTnLst>
                                </p:cTn>
                              </p:par>
                              <p:par>
                                <p:cTn id="40" presetID="22" presetClass="entr" presetSubtype="4" repeatCount="indefinite" fill="hold" nodeType="withEffect">
                                  <p:stCondLst>
                                    <p:cond delay="0"/>
                                  </p:stCondLst>
                                  <p:endCondLst>
                                    <p:cond evt="onNext" delay="0">
                                      <p:tgtEl>
                                        <p:sldTgt/>
                                      </p:tgtEl>
                                    </p:cond>
                                  </p:endCondLst>
                                  <p:childTnLst>
                                    <p:set>
                                      <p:cBhvr>
                                        <p:cTn id="41" dur="1" fill="hold">
                                          <p:stCondLst>
                                            <p:cond delay="0"/>
                                          </p:stCondLst>
                                        </p:cTn>
                                        <p:tgtEl>
                                          <p:spTgt spid="46"/>
                                        </p:tgtEl>
                                        <p:attrNameLst>
                                          <p:attrName>style.visibility</p:attrName>
                                        </p:attrNameLst>
                                      </p:cBhvr>
                                      <p:to>
                                        <p:strVal val="visible"/>
                                      </p:to>
                                    </p:set>
                                    <p:animEffect transition="in" filter="wipe(down)">
                                      <p:cBhvr>
                                        <p:cTn id="42"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P spid="44" grpId="0"/>
      <p:bldP spid="45" grpId="0"/>
      <p:bldP spid="51" grpId="0" animBg="1"/>
      <p:bldP spid="51" grpId="1" animBg="1"/>
      <p:bldP spid="51" grpId="2" animBg="1"/>
      <p:bldP spid="51" grpId="3" animBg="1"/>
      <p:bldP spid="52" grpId="0" animBg="1"/>
      <p:bldP spid="52" grpId="1" animBg="1"/>
      <p:bldP spid="5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421972074"/>
          <p:cNvSpPr>
            <a:spLocks noGrp="1"/>
          </p:cNvSpPr>
          <p:nvPr>
            <p:ph type="body" sz="quarter" idx="10"/>
          </p:nvPr>
        </p:nvSpPr>
        <p:spPr/>
        <p:txBody>
          <a:bodyPr/>
          <a:lstStyle/>
          <a:p>
            <a:r>
              <a:rPr lang="en-US" altLang="zh-CN" dirty="0" smtClean="0"/>
              <a:t>If </a:t>
            </a:r>
            <a:r>
              <a:rPr lang="en-US" altLang="zh-CN" dirty="0" smtClean="0"/>
              <a:t>the master fails, the active/standby switchover is as follows.</a:t>
            </a:r>
            <a:endParaRPr lang="en-US" altLang="zh-CN" dirty="0"/>
          </a:p>
        </p:txBody>
      </p:sp>
      <p:sp>
        <p:nvSpPr>
          <p:cNvPr id="3" name="223948078"/>
          <p:cNvSpPr>
            <a:spLocks noGrp="1"/>
          </p:cNvSpPr>
          <p:nvPr>
            <p:ph type="title" idx="4294967295"/>
          </p:nvPr>
        </p:nvSpPr>
        <p:spPr>
          <a:xfrm>
            <a:off x="1631950" y="296652"/>
            <a:ext cx="10560050" cy="868363"/>
          </a:xfrm>
        </p:spPr>
        <p:txBody>
          <a:bodyPr/>
          <a:lstStyle/>
          <a:p>
            <a:r>
              <a:rPr lang="en-US" altLang="zh-CN" dirty="0" smtClean="0"/>
              <a:t>VRRP Active/Standby Switchover (1/2)</a:t>
            </a:r>
            <a:endParaRPr lang="en-US" altLang="zh-CN" dirty="0"/>
          </a:p>
        </p:txBody>
      </p:sp>
      <p:sp>
        <p:nvSpPr>
          <p:cNvPr id="32" name="Line 10"/>
          <p:cNvSpPr>
            <a:spLocks noChangeShapeType="1"/>
          </p:cNvSpPr>
          <p:nvPr/>
        </p:nvSpPr>
        <p:spPr bwMode="auto">
          <a:xfrm flipV="1">
            <a:off x="4348580" y="4922574"/>
            <a:ext cx="2279386" cy="0"/>
          </a:xfrm>
          <a:prstGeom prst="line">
            <a:avLst/>
          </a:prstGeom>
          <a:noFill/>
          <a:ln w="28575">
            <a:solidFill>
              <a:schemeClr val="tx1"/>
            </a:solidFill>
            <a:round/>
            <a:headEnd type="none" w="sm" len="sm"/>
            <a:tailEnd type="none" w="sm" len="sm"/>
          </a:ln>
        </p:spPr>
        <p:txBody>
          <a:bodyPr wrap="none" anchor="ctr"/>
          <a:lstStyle/>
          <a:p>
            <a:endParaRPr lang="zh-CN" altLang="en-US">
              <a:latin typeface="+mn-ea"/>
              <a:ea typeface="+mn-ea"/>
            </a:endParaRPr>
          </a:p>
        </p:txBody>
      </p:sp>
      <p:cxnSp>
        <p:nvCxnSpPr>
          <p:cNvPr id="33" name="直接连接符 8"/>
          <p:cNvCxnSpPr>
            <a:cxnSpLocks noChangeShapeType="1"/>
          </p:cNvCxnSpPr>
          <p:nvPr/>
        </p:nvCxnSpPr>
        <p:spPr bwMode="auto">
          <a:xfrm>
            <a:off x="5502893" y="4928977"/>
            <a:ext cx="0" cy="79930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4" name="直接连接符 8"/>
          <p:cNvCxnSpPr>
            <a:cxnSpLocks noChangeShapeType="1"/>
          </p:cNvCxnSpPr>
          <p:nvPr/>
        </p:nvCxnSpPr>
        <p:spPr bwMode="auto">
          <a:xfrm flipH="1">
            <a:off x="4549667" y="4376312"/>
            <a:ext cx="3930" cy="5462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6" name="直接连接符 8"/>
          <p:cNvCxnSpPr>
            <a:cxnSpLocks noChangeShapeType="1"/>
          </p:cNvCxnSpPr>
          <p:nvPr/>
        </p:nvCxnSpPr>
        <p:spPr bwMode="auto">
          <a:xfrm flipH="1">
            <a:off x="6416997" y="4376312"/>
            <a:ext cx="3930" cy="5462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7" name="直接连接符 36"/>
          <p:cNvCxnSpPr>
            <a:cxnSpLocks noChangeShapeType="1"/>
          </p:cNvCxnSpPr>
          <p:nvPr/>
        </p:nvCxnSpPr>
        <p:spPr bwMode="auto">
          <a:xfrm flipH="1">
            <a:off x="4720352" y="3176867"/>
            <a:ext cx="715399" cy="80571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8" name="直接连接符 8"/>
          <p:cNvCxnSpPr>
            <a:cxnSpLocks noChangeShapeType="1"/>
          </p:cNvCxnSpPr>
          <p:nvPr/>
        </p:nvCxnSpPr>
        <p:spPr bwMode="auto">
          <a:xfrm>
            <a:off x="5637178" y="3277581"/>
            <a:ext cx="671426" cy="73856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9" name="文本框 12"/>
          <p:cNvSpPr txBox="1"/>
          <p:nvPr/>
        </p:nvSpPr>
        <p:spPr bwMode="auto">
          <a:xfrm>
            <a:off x="3891839" y="3411865"/>
            <a:ext cx="1051376"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err="1">
                <a:solidFill>
                  <a:srgbClr val="000000"/>
                </a:solidFill>
                <a:latin typeface="+mn-ea"/>
                <a:ea typeface="+mn-ea"/>
                <a:cs typeface="Arial" pitchFamily="34" charset="0"/>
              </a:rPr>
              <a:t>RouterA</a:t>
            </a:r>
            <a:endParaRPr lang="en-US" altLang="zh-CN" sz="1600" b="1" dirty="0">
              <a:solidFill>
                <a:srgbClr val="000000"/>
              </a:solidFill>
              <a:latin typeface="+mn-ea"/>
              <a:ea typeface="+mn-ea"/>
              <a:cs typeface="Arial" pitchFamily="34" charset="0"/>
            </a:endParaRPr>
          </a:p>
        </p:txBody>
      </p:sp>
      <p:sp>
        <p:nvSpPr>
          <p:cNvPr id="40" name="文本框 13"/>
          <p:cNvSpPr txBox="1"/>
          <p:nvPr/>
        </p:nvSpPr>
        <p:spPr bwMode="auto">
          <a:xfrm>
            <a:off x="5932457" y="3378294"/>
            <a:ext cx="1038553"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err="1">
                <a:solidFill>
                  <a:srgbClr val="000000"/>
                </a:solidFill>
                <a:latin typeface="+mn-ea"/>
                <a:ea typeface="+mn-ea"/>
                <a:cs typeface="Arial" pitchFamily="34" charset="0"/>
              </a:rPr>
              <a:t>RouterB</a:t>
            </a:r>
            <a:endParaRPr lang="en-US" altLang="zh-CN" sz="1600" b="1" dirty="0">
              <a:solidFill>
                <a:srgbClr val="000000"/>
              </a:solidFill>
              <a:latin typeface="+mn-ea"/>
              <a:ea typeface="+mn-ea"/>
              <a:cs typeface="Arial" pitchFamily="34" charset="0"/>
            </a:endParaRPr>
          </a:p>
        </p:txBody>
      </p:sp>
      <p:cxnSp>
        <p:nvCxnSpPr>
          <p:cNvPr id="43" name="直接连接符 8"/>
          <p:cNvCxnSpPr>
            <a:cxnSpLocks noChangeShapeType="1"/>
          </p:cNvCxnSpPr>
          <p:nvPr/>
        </p:nvCxnSpPr>
        <p:spPr bwMode="auto">
          <a:xfrm>
            <a:off x="5502893" y="2337584"/>
            <a:ext cx="0" cy="60428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nvGrpSpPr>
          <p:cNvPr id="46" name="组合 45"/>
          <p:cNvGrpSpPr/>
          <p:nvPr/>
        </p:nvGrpSpPr>
        <p:grpSpPr>
          <a:xfrm>
            <a:off x="4596468" y="2304013"/>
            <a:ext cx="872854" cy="3424273"/>
            <a:chOff x="3239852" y="1772816"/>
            <a:chExt cx="936104" cy="3672408"/>
          </a:xfrm>
        </p:grpSpPr>
        <p:cxnSp>
          <p:nvCxnSpPr>
            <p:cNvPr id="48" name="肘形连接符 47"/>
            <p:cNvCxnSpPr/>
            <p:nvPr/>
          </p:nvCxnSpPr>
          <p:spPr bwMode="auto">
            <a:xfrm rot="16200000" flipV="1">
              <a:off x="2879812" y="4149080"/>
              <a:ext cx="1656184" cy="936104"/>
            </a:xfrm>
            <a:prstGeom prst="bentConnector3">
              <a:avLst>
                <a:gd name="adj1" fmla="val 50000"/>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49" name="直接连接符 48"/>
            <p:cNvCxnSpPr/>
            <p:nvPr/>
          </p:nvCxnSpPr>
          <p:spPr bwMode="auto">
            <a:xfrm flipV="1">
              <a:off x="3239852" y="2744924"/>
              <a:ext cx="936104" cy="1044116"/>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50" name="直接箭头连接符 49"/>
            <p:cNvCxnSpPr/>
            <p:nvPr/>
          </p:nvCxnSpPr>
          <p:spPr bwMode="auto">
            <a:xfrm flipV="1">
              <a:off x="4175956" y="1772816"/>
              <a:ext cx="0" cy="972108"/>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sp>
        <p:nvSpPr>
          <p:cNvPr id="54" name="文本框 68"/>
          <p:cNvSpPr txBox="1"/>
          <p:nvPr/>
        </p:nvSpPr>
        <p:spPr bwMode="auto">
          <a:xfrm>
            <a:off x="6038189" y="3613293"/>
            <a:ext cx="827084"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Backup</a:t>
            </a:r>
          </a:p>
        </p:txBody>
      </p:sp>
      <p:sp>
        <p:nvSpPr>
          <p:cNvPr id="55" name="文本框 69"/>
          <p:cNvSpPr txBox="1"/>
          <p:nvPr/>
        </p:nvSpPr>
        <p:spPr bwMode="auto">
          <a:xfrm>
            <a:off x="4024876" y="3646864"/>
            <a:ext cx="796756"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Master</a:t>
            </a:r>
          </a:p>
        </p:txBody>
      </p:sp>
      <p:sp>
        <p:nvSpPr>
          <p:cNvPr id="56" name="文本框 86"/>
          <p:cNvSpPr txBox="1"/>
          <p:nvPr/>
        </p:nvSpPr>
        <p:spPr bwMode="auto">
          <a:xfrm>
            <a:off x="6706864" y="3600839"/>
            <a:ext cx="831124"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a:solidFill>
                  <a:srgbClr val="C00000"/>
                </a:solidFill>
                <a:latin typeface="+mn-ea"/>
                <a:ea typeface="+mn-ea"/>
                <a:cs typeface="Arial" pitchFamily="34" charset="0"/>
              </a:rPr>
              <a:t>Master</a:t>
            </a:r>
          </a:p>
        </p:txBody>
      </p:sp>
      <p:grpSp>
        <p:nvGrpSpPr>
          <p:cNvPr id="58" name="组合 57"/>
          <p:cNvGrpSpPr/>
          <p:nvPr/>
        </p:nvGrpSpPr>
        <p:grpSpPr>
          <a:xfrm>
            <a:off x="5505387" y="2270441"/>
            <a:ext cx="872854" cy="3491416"/>
            <a:chOff x="4247964" y="1772816"/>
            <a:chExt cx="936104" cy="3744416"/>
          </a:xfrm>
        </p:grpSpPr>
        <p:cxnSp>
          <p:nvCxnSpPr>
            <p:cNvPr id="60" name="肘形连接符 59"/>
            <p:cNvCxnSpPr/>
            <p:nvPr/>
          </p:nvCxnSpPr>
          <p:spPr bwMode="auto">
            <a:xfrm rot="5400000" flipH="1" flipV="1">
              <a:off x="3875774" y="4208938"/>
              <a:ext cx="1728192" cy="888396"/>
            </a:xfrm>
            <a:prstGeom prst="bentConnector3">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1" name="直接连接符 60"/>
            <p:cNvCxnSpPr/>
            <p:nvPr/>
          </p:nvCxnSpPr>
          <p:spPr bwMode="auto">
            <a:xfrm>
              <a:off x="4247964" y="2744924"/>
              <a:ext cx="920936" cy="1014276"/>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62" name="直接箭头连接符 61"/>
            <p:cNvCxnSpPr/>
            <p:nvPr/>
          </p:nvCxnSpPr>
          <p:spPr bwMode="auto">
            <a:xfrm flipV="1">
              <a:off x="4248073" y="1772816"/>
              <a:ext cx="0" cy="972108"/>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sp>
        <p:nvSpPr>
          <p:cNvPr id="66" name="矩形 65"/>
          <p:cNvSpPr/>
          <p:nvPr/>
        </p:nvSpPr>
        <p:spPr bwMode="auto">
          <a:xfrm>
            <a:off x="3863752" y="4452575"/>
            <a:ext cx="1434926" cy="327533"/>
          </a:xfrm>
          <a:prstGeom prst="rect">
            <a:avLst/>
          </a:prstGeom>
          <a:solidFill>
            <a:schemeClr val="accent3">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800" dirty="0">
                <a:latin typeface="+mn-ea"/>
                <a:ea typeface="+mn-ea"/>
              </a:rPr>
              <a:t>VRRP</a:t>
            </a:r>
          </a:p>
          <a:p>
            <a:r>
              <a:rPr lang="en-US" altLang="zh-CN" sz="800" dirty="0">
                <a:latin typeface="+mn-ea"/>
                <a:ea typeface="+mn-ea"/>
              </a:rPr>
              <a:t>priority 150, </a:t>
            </a:r>
            <a:r>
              <a:rPr lang="en-US" altLang="zh-CN" sz="800" dirty="0" err="1">
                <a:latin typeface="+mn-ea"/>
                <a:ea typeface="+mn-ea"/>
              </a:rPr>
              <a:t>ip</a:t>
            </a:r>
            <a:r>
              <a:rPr lang="en-US" altLang="zh-CN" sz="800" dirty="0">
                <a:latin typeface="+mn-ea"/>
                <a:ea typeface="+mn-ea"/>
              </a:rPr>
              <a:t> add1.1.1.1</a:t>
            </a:r>
          </a:p>
        </p:txBody>
      </p:sp>
      <p:sp>
        <p:nvSpPr>
          <p:cNvPr id="67" name="矩形 66"/>
          <p:cNvSpPr/>
          <p:nvPr/>
        </p:nvSpPr>
        <p:spPr bwMode="auto">
          <a:xfrm>
            <a:off x="5627948" y="4452575"/>
            <a:ext cx="1583430" cy="363539"/>
          </a:xfrm>
          <a:prstGeom prst="rect">
            <a:avLst/>
          </a:prstGeom>
          <a:solidFill>
            <a:schemeClr val="accent3">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800" dirty="0">
                <a:latin typeface="+mn-ea"/>
                <a:ea typeface="+mn-ea"/>
              </a:rPr>
              <a:t>VRRP</a:t>
            </a:r>
          </a:p>
          <a:p>
            <a:r>
              <a:rPr lang="en-US" altLang="zh-CN" sz="800" dirty="0">
                <a:latin typeface="+mn-ea"/>
                <a:ea typeface="+mn-ea"/>
              </a:rPr>
              <a:t>priority 100, </a:t>
            </a:r>
            <a:r>
              <a:rPr lang="en-US" altLang="zh-CN" sz="800" dirty="0" err="1">
                <a:latin typeface="+mn-ea"/>
                <a:ea typeface="+mn-ea"/>
              </a:rPr>
              <a:t>ip</a:t>
            </a:r>
            <a:r>
              <a:rPr lang="en-US" altLang="zh-CN" sz="800" dirty="0">
                <a:latin typeface="+mn-ea"/>
                <a:ea typeface="+mn-ea"/>
              </a:rPr>
              <a:t> add1.1.1.2</a:t>
            </a:r>
          </a:p>
        </p:txBody>
      </p:sp>
      <p:sp>
        <p:nvSpPr>
          <p:cNvPr id="68" name="AutoShape 21"/>
          <p:cNvSpPr>
            <a:spLocks noChangeArrowheads="1"/>
          </p:cNvSpPr>
          <p:nvPr/>
        </p:nvSpPr>
        <p:spPr bwMode="auto">
          <a:xfrm>
            <a:off x="7422036" y="3473423"/>
            <a:ext cx="3066452" cy="810994"/>
          </a:xfrm>
          <a:prstGeom prst="wedgeRectCallout">
            <a:avLst>
              <a:gd name="adj1" fmla="val -81820"/>
              <a:gd name="adj2" fmla="val 43580"/>
            </a:avLst>
          </a:prstGeom>
          <a:solidFill>
            <a:schemeClr val="bg1"/>
          </a:solidFill>
          <a:ln w="3175" algn="ctr">
            <a:solidFill>
              <a:srgbClr val="999999"/>
            </a:solidFill>
            <a:miter lim="800000"/>
            <a:headEnd/>
            <a:tailEnd/>
          </a:ln>
        </p:spPr>
        <p:txBody>
          <a:bodyPr lIns="0" tIns="0" rIns="0" bIns="0" anchor="ctr" anchorCtr="1"/>
          <a:lstStyle/>
          <a:p>
            <a:pPr fontAlgn="ctr"/>
            <a:r>
              <a:rPr lang="en-US" altLang="zh-CN" sz="1200" dirty="0">
                <a:latin typeface="+mn-ea"/>
                <a:ea typeface="+mn-ea"/>
              </a:rPr>
              <a:t>When the backup does not receive Advertisement packets from the master within </a:t>
            </a:r>
            <a:r>
              <a:rPr lang="en-US" altLang="zh-CN" sz="1200" dirty="0" err="1">
                <a:solidFill>
                  <a:srgbClr val="C00000"/>
                </a:solidFill>
                <a:latin typeface="+mn-ea"/>
                <a:ea typeface="+mn-ea"/>
              </a:rPr>
              <a:t>Master_Down_Interval</a:t>
            </a:r>
            <a:r>
              <a:rPr lang="en-US" altLang="zh-CN" sz="1200" dirty="0">
                <a:latin typeface="+mn-ea"/>
                <a:ea typeface="+mn-ea"/>
              </a:rPr>
              <a:t>, it immediately becomes the master.</a:t>
            </a:r>
          </a:p>
        </p:txBody>
      </p:sp>
      <p:pic>
        <p:nvPicPr>
          <p:cNvPr id="35" name="图片 34" descr="internet-蓝.png"/>
          <p:cNvPicPr>
            <a:picLocks noChangeAspect="1"/>
          </p:cNvPicPr>
          <p:nvPr/>
        </p:nvPicPr>
        <p:blipFill>
          <a:blip r:embed="rId3" cstate="print"/>
          <a:stretch>
            <a:fillRect/>
          </a:stretch>
        </p:blipFill>
        <p:spPr>
          <a:xfrm>
            <a:off x="4890270" y="1808888"/>
            <a:ext cx="1205730" cy="612000"/>
          </a:xfrm>
          <a:prstGeom prst="rect">
            <a:avLst/>
          </a:prstGeom>
        </p:spPr>
      </p:pic>
      <p:pic>
        <p:nvPicPr>
          <p:cNvPr id="47" name="图片 46" descr="PC.png"/>
          <p:cNvPicPr>
            <a:picLocks noChangeAspect="1"/>
          </p:cNvPicPr>
          <p:nvPr/>
        </p:nvPicPr>
        <p:blipFill>
          <a:blip r:embed="rId4" cstate="print"/>
          <a:stretch>
            <a:fillRect/>
          </a:stretch>
        </p:blipFill>
        <p:spPr>
          <a:xfrm>
            <a:off x="5170875" y="5659521"/>
            <a:ext cx="750001" cy="576000"/>
          </a:xfrm>
          <a:prstGeom prst="rect">
            <a:avLst/>
          </a:prstGeom>
        </p:spPr>
      </p:pic>
      <p:pic>
        <p:nvPicPr>
          <p:cNvPr id="57" name="图片 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62527" y="2811453"/>
            <a:ext cx="599339" cy="468000"/>
          </a:xfrm>
          <a:prstGeom prst="rect">
            <a:avLst/>
          </a:prstGeom>
        </p:spPr>
      </p:pic>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59996" y="3897104"/>
            <a:ext cx="599339" cy="468000"/>
          </a:xfrm>
          <a:prstGeom prst="rect">
            <a:avLst/>
          </a:prstGeom>
        </p:spPr>
      </p:pic>
      <p:pic>
        <p:nvPicPr>
          <p:cNvPr id="63" name="图片 6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82624" y="3933104"/>
            <a:ext cx="553236" cy="432000"/>
          </a:xfrm>
          <a:prstGeom prst="rect">
            <a:avLst/>
          </a:prstGeom>
        </p:spPr>
      </p:pic>
      <p:grpSp>
        <p:nvGrpSpPr>
          <p:cNvPr id="51" name="组合 50"/>
          <p:cNvGrpSpPr/>
          <p:nvPr/>
        </p:nvGrpSpPr>
        <p:grpSpPr>
          <a:xfrm>
            <a:off x="4395574" y="4124410"/>
            <a:ext cx="368278" cy="49387"/>
            <a:chOff x="2925847" y="3735779"/>
            <a:chExt cx="580667" cy="52160"/>
          </a:xfrm>
        </p:grpSpPr>
        <p:sp>
          <p:nvSpPr>
            <p:cNvPr id="52" name="矩形 51"/>
            <p:cNvSpPr>
              <a:spLocks noChangeAspect="1"/>
            </p:cNvSpPr>
            <p:nvPr/>
          </p:nvSpPr>
          <p:spPr bwMode="auto">
            <a:xfrm rot="2340000">
              <a:off x="2925847" y="3743244"/>
              <a:ext cx="580667" cy="44695"/>
            </a:xfrm>
            <a:prstGeom prst="rect">
              <a:avLst/>
            </a:prstGeom>
            <a:solidFill>
              <a:srgbClr val="FF0000"/>
            </a:solid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rgbClr val="C00000"/>
                </a:solidFill>
                <a:latin typeface="+mn-ea"/>
                <a:ea typeface="+mn-ea"/>
              </a:endParaRPr>
            </a:p>
          </p:txBody>
        </p:sp>
        <p:sp>
          <p:nvSpPr>
            <p:cNvPr id="53" name="矩形 52"/>
            <p:cNvSpPr>
              <a:spLocks noChangeAspect="1"/>
            </p:cNvSpPr>
            <p:nvPr/>
          </p:nvSpPr>
          <p:spPr bwMode="auto">
            <a:xfrm rot="19020000">
              <a:off x="2926306" y="3735779"/>
              <a:ext cx="571051" cy="44535"/>
            </a:xfrm>
            <a:prstGeom prst="rect">
              <a:avLst/>
            </a:prstGeom>
            <a:solidFill>
              <a:srgbClr val="FF0000"/>
            </a:solid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rgbClr val="C00000"/>
                </a:solidFill>
                <a:latin typeface="+mn-ea"/>
                <a:ea typeface="+mn-ea"/>
              </a:endParaRPr>
            </a:p>
          </p:txBody>
        </p:sp>
      </p:grpSp>
    </p:spTree>
    <p:extLst>
      <p:ext uri="{BB962C8B-B14F-4D97-AF65-F5344CB8AC3E}">
        <p14:creationId xmlns:p14="http://schemas.microsoft.com/office/powerpoint/2010/main" val="264539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repeatCount="10000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1000"/>
                                        <p:tgtEl>
                                          <p:spTgt spid="46"/>
                                        </p:tgtEl>
                                      </p:cBhvr>
                                    </p:animEffect>
                                  </p:childTnLst>
                                </p:cTn>
                              </p:par>
                              <p:par>
                                <p:cTn id="8" presetID="1" presetClass="entr" presetSubtype="0" fill="hold" grpId="1" nodeType="withEffect">
                                  <p:stCondLst>
                                    <p:cond delay="0"/>
                                  </p:stCondLst>
                                  <p:childTnLst>
                                    <p:set>
                                      <p:cBhvr>
                                        <p:cTn id="9" dur="1" fill="hold">
                                          <p:stCondLst>
                                            <p:cond delay="0"/>
                                          </p:stCondLst>
                                        </p:cTn>
                                        <p:tgtEl>
                                          <p:spTgt spid="66"/>
                                        </p:tgtEl>
                                        <p:attrNameLst>
                                          <p:attrName>style.visibility</p:attrName>
                                        </p:attrNameLst>
                                      </p:cBhvr>
                                      <p:to>
                                        <p:strVal val="visible"/>
                                      </p:to>
                                    </p:set>
                                  </p:childTnLst>
                                </p:cTn>
                              </p:par>
                              <p:par>
                                <p:cTn id="10" presetID="0" presetClass="path" presetSubtype="0" repeatCount="100000" accel="50000" decel="50000" fill="hold" grpId="0" nodeType="withEffect">
                                  <p:stCondLst>
                                    <p:cond delay="0"/>
                                  </p:stCondLst>
                                  <p:childTnLst>
                                    <p:animMotion origin="layout" path="M -1.25E-6 1.85185E-6 L -1.25E-6 0.05185 L 0.19857 0.0537 L 0.2 -0.06111 " pathEditMode="relative" rAng="0" ptsTypes="AAAA">
                                      <p:cBhvr>
                                        <p:cTn id="11" dur="2000" fill="hold"/>
                                        <p:tgtEl>
                                          <p:spTgt spid="66"/>
                                        </p:tgtEl>
                                        <p:attrNameLst>
                                          <p:attrName>ppt_x</p:attrName>
                                          <p:attrName>ppt_y</p:attrName>
                                        </p:attrNameLst>
                                      </p:cBhvr>
                                      <p:rCtr x="10000" y="-370"/>
                                    </p:animMotion>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1"/>
                                        </p:tgtEl>
                                        <p:attrNameLst>
                                          <p:attrName>style.visibility</p:attrName>
                                        </p:attrNameLst>
                                      </p:cBhvr>
                                      <p:to>
                                        <p:strVal val="visible"/>
                                      </p:to>
                                    </p:set>
                                  </p:childTnLst>
                                </p:cTn>
                              </p:par>
                              <p:par>
                                <p:cTn id="16" presetID="1" presetClass="exit" presetSubtype="0" fill="hold" grpId="2" nodeType="withEffect">
                                  <p:stCondLst>
                                    <p:cond delay="0"/>
                                  </p:stCondLst>
                                  <p:childTnLst>
                                    <p:set>
                                      <p:cBhvr>
                                        <p:cTn id="17" dur="1" fill="hold">
                                          <p:stCondLst>
                                            <p:cond delay="0"/>
                                          </p:stCondLst>
                                        </p:cTn>
                                        <p:tgtEl>
                                          <p:spTgt spid="66"/>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46"/>
                                        </p:tgtEl>
                                        <p:attrNameLst>
                                          <p:attrName>style.visibility</p:attrName>
                                        </p:attrNameLst>
                                      </p:cBhvr>
                                      <p:to>
                                        <p:strVal val="hidden"/>
                                      </p:to>
                                    </p:set>
                                  </p:childTnLst>
                                </p:cTn>
                              </p:par>
                              <p:par>
                                <p:cTn id="20" presetID="22" presetClass="entr" presetSubtype="8"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left)">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22" presetClass="entr" presetSubtype="4" repeatCount="100000" fill="hold" nodeType="with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wipe(down)">
                                      <p:cBhvr>
                                        <p:cTn id="33" dur="1000"/>
                                        <p:tgtEl>
                                          <p:spTgt spid="58"/>
                                        </p:tgtEl>
                                      </p:cBhvr>
                                    </p:animEffect>
                                  </p:childTnLst>
                                </p:cTn>
                              </p:par>
                              <p:par>
                                <p:cTn id="34" presetID="22" presetClass="exit" presetSubtype="4" repeatCount="100000" fill="hold" nodeType="withEffect">
                                  <p:stCondLst>
                                    <p:cond delay="0"/>
                                  </p:stCondLst>
                                  <p:childTnLst>
                                    <p:animEffect transition="out" filter="wipe(down)">
                                      <p:cBhvr>
                                        <p:cTn id="35" dur="2000"/>
                                        <p:tgtEl>
                                          <p:spTgt spid="58"/>
                                        </p:tgtEl>
                                      </p:cBhvr>
                                    </p:animEffect>
                                    <p:set>
                                      <p:cBhvr>
                                        <p:cTn id="36" dur="1" fill="hold">
                                          <p:stCondLst>
                                            <p:cond delay="1999"/>
                                          </p:stCondLst>
                                        </p:cTn>
                                        <p:tgtEl>
                                          <p:spTgt spid="58"/>
                                        </p:tgtEl>
                                        <p:attrNameLst>
                                          <p:attrName>style.visibility</p:attrName>
                                        </p:attrNameLst>
                                      </p:cBhvr>
                                      <p:to>
                                        <p:strVal val="hidden"/>
                                      </p:to>
                                    </p:set>
                                  </p:childTnLst>
                                </p:cTn>
                              </p:par>
                              <p:par>
                                <p:cTn id="37" presetID="1" presetClass="entr" presetSubtype="0" fill="hold" grpId="1"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0" presetClass="path" presetSubtype="0" repeatCount="100000" accel="50000" decel="50000" fill="hold" grpId="0" nodeType="withEffect">
                                  <p:stCondLst>
                                    <p:cond delay="0"/>
                                  </p:stCondLst>
                                  <p:childTnLst>
                                    <p:animMotion origin="layout" path="M -2.5E-6 -4.44444E-6 L 0.00143 0.04815 L -0.20143 0.04815 L -0.20976 0.04815 L -0.20976 -0.06296 " pathEditMode="relative" rAng="0" ptsTypes="AAAAA">
                                      <p:cBhvr>
                                        <p:cTn id="40" dur="2000" fill="hold"/>
                                        <p:tgtEl>
                                          <p:spTgt spid="67"/>
                                        </p:tgtEl>
                                        <p:attrNameLst>
                                          <p:attrName>ppt_x</p:attrName>
                                          <p:attrName>ppt_y</p:attrName>
                                        </p:attrNameLst>
                                      </p:cBhvr>
                                      <p:rCtr x="-10417" y="-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66" grpId="0" animBg="1"/>
      <p:bldP spid="66" grpId="1" animBg="1"/>
      <p:bldP spid="66" grpId="2" animBg="1"/>
      <p:bldP spid="67" grpId="0" animBg="1"/>
      <p:bldP spid="67" grpId="1" animBg="1"/>
      <p:bldP spid="6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341278108"/>
          <p:cNvSpPr>
            <a:spLocks noGrp="1"/>
          </p:cNvSpPr>
          <p:nvPr>
            <p:ph type="body" sz="quarter" idx="10"/>
          </p:nvPr>
        </p:nvSpPr>
        <p:spPr/>
        <p:txBody>
          <a:bodyPr/>
          <a:lstStyle/>
          <a:p>
            <a:r>
              <a:rPr lang="en-US" altLang="zh-CN" dirty="0" smtClean="0">
                <a:latin typeface="+mn-ea"/>
              </a:rPr>
              <a:t>When the original master fails, the </a:t>
            </a:r>
            <a:r>
              <a:rPr lang="en-US" altLang="zh-CN" dirty="0" err="1" smtClean="0">
                <a:latin typeface="+mn-ea"/>
              </a:rPr>
              <a:t>revertive</a:t>
            </a:r>
            <a:r>
              <a:rPr lang="en-US" altLang="zh-CN" dirty="0" smtClean="0">
                <a:latin typeface="+mn-ea"/>
              </a:rPr>
              <a:t> switching is as follows:</a:t>
            </a:r>
            <a:endParaRPr lang="en-US" altLang="zh-CN" dirty="0">
              <a:latin typeface="+mn-ea"/>
            </a:endParaRPr>
          </a:p>
        </p:txBody>
      </p:sp>
      <p:sp>
        <p:nvSpPr>
          <p:cNvPr id="3" name="53100618"/>
          <p:cNvSpPr>
            <a:spLocks noGrp="1"/>
          </p:cNvSpPr>
          <p:nvPr>
            <p:ph type="title" idx="4294967295"/>
          </p:nvPr>
        </p:nvSpPr>
        <p:spPr>
          <a:xfrm>
            <a:off x="1631950" y="296652"/>
            <a:ext cx="10560050" cy="868363"/>
          </a:xfrm>
        </p:spPr>
        <p:txBody>
          <a:bodyPr/>
          <a:lstStyle/>
          <a:p>
            <a:r>
              <a:rPr lang="en-US" altLang="zh-CN" dirty="0" smtClean="0">
                <a:latin typeface="+mn-ea"/>
                <a:ea typeface="+mn-ea"/>
              </a:rPr>
              <a:t>VRRP Active/Standby Switchover (2/2)</a:t>
            </a:r>
            <a:endParaRPr lang="en-US" altLang="zh-CN" dirty="0">
              <a:latin typeface="+mn-ea"/>
              <a:ea typeface="+mn-ea"/>
            </a:endParaRPr>
          </a:p>
        </p:txBody>
      </p:sp>
      <p:sp>
        <p:nvSpPr>
          <p:cNvPr id="33" name="Line 10"/>
          <p:cNvSpPr>
            <a:spLocks noChangeShapeType="1"/>
          </p:cNvSpPr>
          <p:nvPr/>
        </p:nvSpPr>
        <p:spPr bwMode="auto">
          <a:xfrm flipV="1">
            <a:off x="5464878" y="5009099"/>
            <a:ext cx="2279386" cy="0"/>
          </a:xfrm>
          <a:prstGeom prst="line">
            <a:avLst/>
          </a:prstGeom>
          <a:noFill/>
          <a:ln w="28575">
            <a:solidFill>
              <a:schemeClr val="tx1"/>
            </a:solidFill>
            <a:round/>
            <a:headEnd type="none" w="sm" len="sm"/>
            <a:tailEnd type="none" w="sm" len="sm"/>
          </a:ln>
        </p:spPr>
        <p:txBody>
          <a:bodyPr wrap="none" anchor="ctr"/>
          <a:lstStyle/>
          <a:p>
            <a:endParaRPr lang="zh-CN" altLang="en-US">
              <a:latin typeface="+mn-ea"/>
              <a:ea typeface="+mn-ea"/>
            </a:endParaRPr>
          </a:p>
        </p:txBody>
      </p:sp>
      <p:cxnSp>
        <p:nvCxnSpPr>
          <p:cNvPr id="34" name="直接连接符 8"/>
          <p:cNvCxnSpPr>
            <a:cxnSpLocks noChangeShapeType="1"/>
          </p:cNvCxnSpPr>
          <p:nvPr/>
        </p:nvCxnSpPr>
        <p:spPr bwMode="auto">
          <a:xfrm>
            <a:off x="6619191" y="5015502"/>
            <a:ext cx="0" cy="79930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5" name="直接连接符 8"/>
          <p:cNvCxnSpPr>
            <a:cxnSpLocks noChangeShapeType="1"/>
          </p:cNvCxnSpPr>
          <p:nvPr/>
        </p:nvCxnSpPr>
        <p:spPr bwMode="auto">
          <a:xfrm flipH="1">
            <a:off x="5665965" y="4462837"/>
            <a:ext cx="3930" cy="5462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7" name="直接连接符 8"/>
          <p:cNvCxnSpPr>
            <a:cxnSpLocks noChangeShapeType="1"/>
          </p:cNvCxnSpPr>
          <p:nvPr/>
        </p:nvCxnSpPr>
        <p:spPr bwMode="auto">
          <a:xfrm flipH="1">
            <a:off x="7533295" y="4462837"/>
            <a:ext cx="3930" cy="5462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 name="直接连接符 49"/>
          <p:cNvCxnSpPr>
            <a:cxnSpLocks noChangeShapeType="1"/>
          </p:cNvCxnSpPr>
          <p:nvPr/>
        </p:nvCxnSpPr>
        <p:spPr bwMode="auto">
          <a:xfrm flipH="1">
            <a:off x="5836650" y="3263392"/>
            <a:ext cx="715399" cy="80571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4" name="直接连接符 8"/>
          <p:cNvCxnSpPr>
            <a:cxnSpLocks noChangeShapeType="1"/>
          </p:cNvCxnSpPr>
          <p:nvPr/>
        </p:nvCxnSpPr>
        <p:spPr bwMode="auto">
          <a:xfrm>
            <a:off x="6753476" y="3364106"/>
            <a:ext cx="671426" cy="73856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57" name="文本框 41"/>
          <p:cNvSpPr txBox="1"/>
          <p:nvPr/>
        </p:nvSpPr>
        <p:spPr bwMode="auto">
          <a:xfrm>
            <a:off x="5083742" y="3564110"/>
            <a:ext cx="1051376"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err="1">
                <a:solidFill>
                  <a:srgbClr val="000000"/>
                </a:solidFill>
                <a:latin typeface="+mn-ea"/>
                <a:ea typeface="+mn-ea"/>
                <a:cs typeface="Arial" pitchFamily="34" charset="0"/>
              </a:rPr>
              <a:t>RouterA</a:t>
            </a:r>
            <a:endParaRPr lang="en-US" altLang="zh-CN" sz="1600" b="1" dirty="0">
              <a:solidFill>
                <a:srgbClr val="000000"/>
              </a:solidFill>
              <a:latin typeface="+mn-ea"/>
              <a:ea typeface="+mn-ea"/>
              <a:cs typeface="Arial" pitchFamily="34" charset="0"/>
            </a:endParaRPr>
          </a:p>
        </p:txBody>
      </p:sp>
      <p:sp>
        <p:nvSpPr>
          <p:cNvPr id="59" name="文本框 42"/>
          <p:cNvSpPr txBox="1"/>
          <p:nvPr/>
        </p:nvSpPr>
        <p:spPr bwMode="auto">
          <a:xfrm>
            <a:off x="7092912" y="3573375"/>
            <a:ext cx="1038553"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err="1">
                <a:solidFill>
                  <a:srgbClr val="000000"/>
                </a:solidFill>
                <a:latin typeface="+mn-ea"/>
                <a:ea typeface="+mn-ea"/>
                <a:cs typeface="Arial" pitchFamily="34" charset="0"/>
              </a:rPr>
              <a:t>RouterB</a:t>
            </a:r>
            <a:endParaRPr lang="en-US" altLang="zh-CN" sz="1600" b="1" dirty="0">
              <a:solidFill>
                <a:srgbClr val="000000"/>
              </a:solidFill>
              <a:latin typeface="+mn-ea"/>
              <a:ea typeface="+mn-ea"/>
              <a:cs typeface="Arial" pitchFamily="34" charset="0"/>
            </a:endParaRPr>
          </a:p>
        </p:txBody>
      </p:sp>
      <p:cxnSp>
        <p:nvCxnSpPr>
          <p:cNvPr id="64" name="直接连接符 8"/>
          <p:cNvCxnSpPr>
            <a:cxnSpLocks noChangeShapeType="1"/>
          </p:cNvCxnSpPr>
          <p:nvPr/>
        </p:nvCxnSpPr>
        <p:spPr bwMode="auto">
          <a:xfrm>
            <a:off x="6619191" y="2424109"/>
            <a:ext cx="0" cy="60428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8" name="文本框 52"/>
          <p:cNvSpPr txBox="1"/>
          <p:nvPr/>
        </p:nvSpPr>
        <p:spPr bwMode="auto">
          <a:xfrm>
            <a:off x="7810420" y="3899409"/>
            <a:ext cx="831124"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a:solidFill>
                  <a:srgbClr val="C00000"/>
                </a:solidFill>
                <a:latin typeface="+mn-ea"/>
                <a:ea typeface="+mn-ea"/>
                <a:cs typeface="Arial" pitchFamily="34" charset="0"/>
              </a:rPr>
              <a:t>Master</a:t>
            </a:r>
          </a:p>
        </p:txBody>
      </p:sp>
      <p:grpSp>
        <p:nvGrpSpPr>
          <p:cNvPr id="79" name="组合 78"/>
          <p:cNvGrpSpPr/>
          <p:nvPr/>
        </p:nvGrpSpPr>
        <p:grpSpPr>
          <a:xfrm>
            <a:off x="6630702" y="2385228"/>
            <a:ext cx="872854" cy="3491416"/>
            <a:chOff x="4247964" y="1772816"/>
            <a:chExt cx="936104" cy="3744416"/>
          </a:xfrm>
        </p:grpSpPr>
        <p:cxnSp>
          <p:nvCxnSpPr>
            <p:cNvPr id="80" name="肘形连接符 79"/>
            <p:cNvCxnSpPr/>
            <p:nvPr/>
          </p:nvCxnSpPr>
          <p:spPr bwMode="auto">
            <a:xfrm rot="5400000" flipH="1" flipV="1">
              <a:off x="3875774" y="4208938"/>
              <a:ext cx="1728192" cy="888396"/>
            </a:xfrm>
            <a:prstGeom prst="bentConnector3">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81" name="直接连接符 80"/>
            <p:cNvCxnSpPr/>
            <p:nvPr/>
          </p:nvCxnSpPr>
          <p:spPr bwMode="auto">
            <a:xfrm>
              <a:off x="4247964" y="2744924"/>
              <a:ext cx="920936" cy="1014276"/>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82" name="直接箭头连接符 81"/>
            <p:cNvCxnSpPr/>
            <p:nvPr/>
          </p:nvCxnSpPr>
          <p:spPr bwMode="auto">
            <a:xfrm flipV="1">
              <a:off x="4247964" y="1772816"/>
              <a:ext cx="0" cy="972108"/>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sp>
        <p:nvSpPr>
          <p:cNvPr id="84" name="矩形 83"/>
          <p:cNvSpPr/>
          <p:nvPr/>
        </p:nvSpPr>
        <p:spPr bwMode="auto">
          <a:xfrm>
            <a:off x="6954904" y="4539099"/>
            <a:ext cx="1517360" cy="432444"/>
          </a:xfrm>
          <a:prstGeom prst="rect">
            <a:avLst/>
          </a:prstGeom>
          <a:solidFill>
            <a:schemeClr val="accent3">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800" dirty="0">
                <a:latin typeface="+mn-ea"/>
                <a:ea typeface="+mn-ea"/>
              </a:rPr>
              <a:t>VRRP</a:t>
            </a:r>
          </a:p>
          <a:p>
            <a:r>
              <a:rPr lang="en-US" altLang="zh-CN" sz="800" dirty="0">
                <a:latin typeface="+mn-ea"/>
                <a:ea typeface="+mn-ea"/>
              </a:rPr>
              <a:t>priority 100, </a:t>
            </a:r>
            <a:r>
              <a:rPr lang="en-US" altLang="zh-CN" sz="800" dirty="0" err="1">
                <a:latin typeface="+mn-ea"/>
                <a:ea typeface="+mn-ea"/>
              </a:rPr>
              <a:t>ip</a:t>
            </a:r>
            <a:r>
              <a:rPr lang="en-US" altLang="zh-CN" sz="800" dirty="0">
                <a:latin typeface="+mn-ea"/>
                <a:ea typeface="+mn-ea"/>
              </a:rPr>
              <a:t> add1.1.1.2</a:t>
            </a:r>
          </a:p>
        </p:txBody>
      </p:sp>
      <p:sp>
        <p:nvSpPr>
          <p:cNvPr id="85" name="文本框 64"/>
          <p:cNvSpPr txBox="1"/>
          <p:nvPr/>
        </p:nvSpPr>
        <p:spPr bwMode="auto">
          <a:xfrm>
            <a:off x="7811803" y="4130936"/>
            <a:ext cx="827084"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Backup</a:t>
            </a:r>
          </a:p>
        </p:txBody>
      </p:sp>
      <p:sp>
        <p:nvSpPr>
          <p:cNvPr id="86" name="文本框 65"/>
          <p:cNvSpPr txBox="1"/>
          <p:nvPr/>
        </p:nvSpPr>
        <p:spPr bwMode="auto">
          <a:xfrm>
            <a:off x="4598780" y="4130936"/>
            <a:ext cx="796756"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Master</a:t>
            </a:r>
          </a:p>
        </p:txBody>
      </p:sp>
      <p:grpSp>
        <p:nvGrpSpPr>
          <p:cNvPr id="87" name="组合 86"/>
          <p:cNvGrpSpPr/>
          <p:nvPr/>
        </p:nvGrpSpPr>
        <p:grpSpPr>
          <a:xfrm>
            <a:off x="5722984" y="2438749"/>
            <a:ext cx="864097" cy="3348373"/>
            <a:chOff x="3491880" y="2276872"/>
            <a:chExt cx="864097" cy="3348373"/>
          </a:xfrm>
        </p:grpSpPr>
        <p:cxnSp>
          <p:nvCxnSpPr>
            <p:cNvPr id="88" name="肘形连接符 87"/>
            <p:cNvCxnSpPr/>
            <p:nvPr/>
          </p:nvCxnSpPr>
          <p:spPr bwMode="auto">
            <a:xfrm rot="16200000" flipV="1">
              <a:off x="3185846" y="4455115"/>
              <a:ext cx="1512169" cy="828092"/>
            </a:xfrm>
            <a:prstGeom prst="bentConnector3">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89" name="直接连接符 88"/>
            <p:cNvCxnSpPr/>
            <p:nvPr/>
          </p:nvCxnSpPr>
          <p:spPr bwMode="auto">
            <a:xfrm flipH="1">
              <a:off x="3491880" y="3176972"/>
              <a:ext cx="828092" cy="936104"/>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90" name="直接箭头连接符 89"/>
            <p:cNvCxnSpPr/>
            <p:nvPr/>
          </p:nvCxnSpPr>
          <p:spPr bwMode="auto">
            <a:xfrm flipV="1">
              <a:off x="4319972" y="2276872"/>
              <a:ext cx="0" cy="864096"/>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sp>
        <p:nvSpPr>
          <p:cNvPr id="91" name="矩形 90"/>
          <p:cNvSpPr/>
          <p:nvPr/>
        </p:nvSpPr>
        <p:spPr bwMode="auto">
          <a:xfrm>
            <a:off x="4774285" y="4575104"/>
            <a:ext cx="1596770" cy="379696"/>
          </a:xfrm>
          <a:prstGeom prst="rect">
            <a:avLst/>
          </a:prstGeom>
          <a:solidFill>
            <a:schemeClr val="accent3">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800" dirty="0">
                <a:latin typeface="+mn-ea"/>
                <a:ea typeface="+mn-ea"/>
              </a:rPr>
              <a:t>VRRP</a:t>
            </a:r>
          </a:p>
          <a:p>
            <a:r>
              <a:rPr lang="en-US" altLang="zh-CN" sz="800" dirty="0">
                <a:latin typeface="+mn-ea"/>
                <a:ea typeface="+mn-ea"/>
              </a:rPr>
              <a:t>priority 150, </a:t>
            </a:r>
            <a:r>
              <a:rPr lang="en-US" altLang="zh-CN" sz="800" dirty="0" err="1">
                <a:latin typeface="+mn-ea"/>
                <a:ea typeface="+mn-ea"/>
              </a:rPr>
              <a:t>ip</a:t>
            </a:r>
            <a:r>
              <a:rPr lang="en-US" altLang="zh-CN" sz="800" dirty="0">
                <a:latin typeface="+mn-ea"/>
                <a:ea typeface="+mn-ea"/>
              </a:rPr>
              <a:t> add1.1.1.1</a:t>
            </a:r>
          </a:p>
        </p:txBody>
      </p:sp>
      <p:sp>
        <p:nvSpPr>
          <p:cNvPr id="92" name="AutoShape 21"/>
          <p:cNvSpPr>
            <a:spLocks noChangeArrowheads="1"/>
          </p:cNvSpPr>
          <p:nvPr/>
        </p:nvSpPr>
        <p:spPr bwMode="auto">
          <a:xfrm>
            <a:off x="2135560" y="3010414"/>
            <a:ext cx="3043026" cy="774659"/>
          </a:xfrm>
          <a:prstGeom prst="wedgeRectCallout">
            <a:avLst>
              <a:gd name="adj1" fmla="val 58347"/>
              <a:gd name="adj2" fmla="val 98764"/>
            </a:avLst>
          </a:prstGeom>
          <a:solidFill>
            <a:schemeClr val="bg1"/>
          </a:solidFill>
          <a:ln w="3175" algn="ctr">
            <a:solidFill>
              <a:srgbClr val="999999"/>
            </a:solidFill>
            <a:miter lim="800000"/>
            <a:headEnd/>
            <a:tailEnd/>
          </a:ln>
        </p:spPr>
        <p:txBody>
          <a:bodyPr lIns="0" tIns="0" rIns="0" bIns="0" anchor="ctr" anchorCtr="1"/>
          <a:lstStyle/>
          <a:p>
            <a:pPr fontAlgn="ctr"/>
            <a:r>
              <a:rPr lang="en-US" altLang="zh-CN" sz="1200" dirty="0">
                <a:latin typeface="+mn-ea"/>
                <a:ea typeface="+mn-ea"/>
              </a:rPr>
              <a:t>When </a:t>
            </a:r>
            <a:r>
              <a:rPr lang="en-US" altLang="zh-CN" sz="1200" dirty="0" err="1">
                <a:latin typeface="+mn-ea"/>
                <a:ea typeface="+mn-ea"/>
              </a:rPr>
              <a:t>RouterA</a:t>
            </a:r>
            <a:r>
              <a:rPr lang="en-US" altLang="zh-CN" sz="1200" dirty="0">
                <a:latin typeface="+mn-ea"/>
                <a:ea typeface="+mn-ea"/>
              </a:rPr>
              <a:t> finds that the priority in packets received from </a:t>
            </a:r>
            <a:r>
              <a:rPr lang="en-US" altLang="zh-CN" sz="1200" dirty="0" err="1">
                <a:latin typeface="+mn-ea"/>
                <a:ea typeface="+mn-ea"/>
              </a:rPr>
              <a:t>RouterB</a:t>
            </a:r>
            <a:r>
              <a:rPr lang="en-US" altLang="zh-CN" sz="1200" dirty="0">
                <a:latin typeface="+mn-ea"/>
                <a:ea typeface="+mn-ea"/>
              </a:rPr>
              <a:t> is lower than </a:t>
            </a:r>
            <a:r>
              <a:rPr lang="en-US" altLang="zh-CN" sz="1200" dirty="0" err="1">
                <a:latin typeface="+mn-ea"/>
                <a:ea typeface="+mn-ea"/>
              </a:rPr>
              <a:t>RouterA</a:t>
            </a:r>
            <a:r>
              <a:rPr lang="en-US" altLang="zh-CN" sz="1200" dirty="0">
                <a:latin typeface="+mn-ea"/>
                <a:ea typeface="+mn-ea"/>
              </a:rPr>
              <a:t>, </a:t>
            </a:r>
            <a:r>
              <a:rPr lang="en-US" altLang="zh-CN" sz="1200" dirty="0" err="1">
                <a:latin typeface="+mn-ea"/>
                <a:ea typeface="+mn-ea"/>
              </a:rPr>
              <a:t>RouterA</a:t>
            </a:r>
            <a:r>
              <a:rPr lang="en-US" altLang="zh-CN" sz="1200" dirty="0">
                <a:latin typeface="+mn-ea"/>
                <a:ea typeface="+mn-ea"/>
              </a:rPr>
              <a:t> immediately preempts to be the master.</a:t>
            </a:r>
          </a:p>
        </p:txBody>
      </p:sp>
      <p:sp>
        <p:nvSpPr>
          <p:cNvPr id="93" name="AutoShape 21"/>
          <p:cNvSpPr>
            <a:spLocks noChangeArrowheads="1"/>
          </p:cNvSpPr>
          <p:nvPr/>
        </p:nvSpPr>
        <p:spPr bwMode="auto">
          <a:xfrm>
            <a:off x="2135560" y="4231063"/>
            <a:ext cx="2263266" cy="602093"/>
          </a:xfrm>
          <a:prstGeom prst="wedgeRectCallout">
            <a:avLst>
              <a:gd name="adj1" fmla="val 93452"/>
              <a:gd name="adj2" fmla="val -20791"/>
            </a:avLst>
          </a:prstGeom>
          <a:solidFill>
            <a:schemeClr val="bg1"/>
          </a:solidFill>
          <a:ln w="3175" algn="ctr">
            <a:solidFill>
              <a:srgbClr val="999999"/>
            </a:solidFill>
            <a:miter lim="800000"/>
            <a:headEnd/>
            <a:tailEnd/>
          </a:ln>
        </p:spPr>
        <p:txBody>
          <a:bodyPr lIns="0" tIns="0" rIns="0" bIns="0" anchor="ctr" anchorCtr="1"/>
          <a:lstStyle/>
          <a:p>
            <a:pPr defTabSz="1001649" eaLnBrk="0" fontAlgn="ctr" hangingPunct="0"/>
            <a:r>
              <a:rPr lang="en-US" altLang="zh-CN" sz="1200" dirty="0">
                <a:latin typeface="+mn-ea"/>
                <a:ea typeface="+mn-ea"/>
                <a:cs typeface="Arial" pitchFamily="34" charset="0"/>
              </a:rPr>
              <a:t>Which problem may occur when the master is preempted immediately?</a:t>
            </a:r>
          </a:p>
        </p:txBody>
      </p:sp>
      <p:pic>
        <p:nvPicPr>
          <p:cNvPr id="38" name="图片 37" descr="internet-蓝.png"/>
          <p:cNvPicPr>
            <a:picLocks noChangeAspect="1"/>
          </p:cNvPicPr>
          <p:nvPr/>
        </p:nvPicPr>
        <p:blipFill>
          <a:blip r:embed="rId3" cstate="print"/>
          <a:stretch>
            <a:fillRect/>
          </a:stretch>
        </p:blipFill>
        <p:spPr>
          <a:xfrm>
            <a:off x="6019123" y="1918691"/>
            <a:ext cx="1205730" cy="612000"/>
          </a:xfrm>
          <a:prstGeom prst="rect">
            <a:avLst/>
          </a:prstGeom>
        </p:spPr>
      </p:pic>
      <p:pic>
        <p:nvPicPr>
          <p:cNvPr id="39" name="图片 38" descr="PC.png"/>
          <p:cNvPicPr>
            <a:picLocks noChangeAspect="1"/>
          </p:cNvPicPr>
          <p:nvPr/>
        </p:nvPicPr>
        <p:blipFill>
          <a:blip r:embed="rId4" cstate="print"/>
          <a:stretch>
            <a:fillRect/>
          </a:stretch>
        </p:blipFill>
        <p:spPr>
          <a:xfrm>
            <a:off x="6299728" y="5769324"/>
            <a:ext cx="750001" cy="576000"/>
          </a:xfrm>
          <a:prstGeom prst="rect">
            <a:avLst/>
          </a:prstGeom>
        </p:spPr>
      </p:pic>
      <p:pic>
        <p:nvPicPr>
          <p:cNvPr id="40" name="图片 3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91380" y="2921256"/>
            <a:ext cx="599339" cy="468000"/>
          </a:xfrm>
          <a:prstGeom prst="rect">
            <a:avLst/>
          </a:prstGeom>
        </p:spPr>
      </p:pic>
      <p:pic>
        <p:nvPicPr>
          <p:cNvPr id="41" name="图片 4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8849" y="4006907"/>
            <a:ext cx="599339" cy="468000"/>
          </a:xfrm>
          <a:prstGeom prst="rect">
            <a:avLst/>
          </a:prstGeom>
        </p:spPr>
      </p:pic>
      <p:pic>
        <p:nvPicPr>
          <p:cNvPr id="42" name="图片 4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11477" y="4042907"/>
            <a:ext cx="553236" cy="432000"/>
          </a:xfrm>
          <a:prstGeom prst="rect">
            <a:avLst/>
          </a:prstGeom>
        </p:spPr>
      </p:pic>
      <p:grpSp>
        <p:nvGrpSpPr>
          <p:cNvPr id="69" name="组合 68"/>
          <p:cNvGrpSpPr/>
          <p:nvPr/>
        </p:nvGrpSpPr>
        <p:grpSpPr>
          <a:xfrm flipV="1">
            <a:off x="5527321" y="4247377"/>
            <a:ext cx="352655" cy="45719"/>
            <a:chOff x="2925847" y="3735779"/>
            <a:chExt cx="580667" cy="52160"/>
          </a:xfrm>
        </p:grpSpPr>
        <p:sp>
          <p:nvSpPr>
            <p:cNvPr id="70" name="矩形 69"/>
            <p:cNvSpPr>
              <a:spLocks noChangeAspect="1"/>
            </p:cNvSpPr>
            <p:nvPr/>
          </p:nvSpPr>
          <p:spPr bwMode="auto">
            <a:xfrm rot="2340000">
              <a:off x="2925847" y="3743244"/>
              <a:ext cx="580667" cy="44695"/>
            </a:xfrm>
            <a:prstGeom prst="rect">
              <a:avLst/>
            </a:prstGeom>
            <a:solidFill>
              <a:srgbClr val="FF0000"/>
            </a:solid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sp>
          <p:nvSpPr>
            <p:cNvPr id="77" name="矩形 76"/>
            <p:cNvSpPr>
              <a:spLocks noChangeAspect="1"/>
            </p:cNvSpPr>
            <p:nvPr/>
          </p:nvSpPr>
          <p:spPr bwMode="auto">
            <a:xfrm rot="19020000">
              <a:off x="2926306" y="3735779"/>
              <a:ext cx="571051" cy="44535"/>
            </a:xfrm>
            <a:prstGeom prst="rect">
              <a:avLst/>
            </a:prstGeom>
            <a:solidFill>
              <a:srgbClr val="FF0000"/>
            </a:solid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grpSp>
    </p:spTree>
    <p:extLst>
      <p:ext uri="{BB962C8B-B14F-4D97-AF65-F5344CB8AC3E}">
        <p14:creationId xmlns:p14="http://schemas.microsoft.com/office/powerpoint/2010/main" val="227745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repeatCount="100000"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down)">
                                      <p:cBhvr>
                                        <p:cTn id="7" dur="1000"/>
                                        <p:tgtEl>
                                          <p:spTgt spid="79"/>
                                        </p:tgtEl>
                                      </p:cBhvr>
                                    </p:animEffect>
                                  </p:childTnLst>
                                </p:cTn>
                              </p:par>
                              <p:par>
                                <p:cTn id="8" presetID="1" presetClass="entr" presetSubtype="0" fill="hold" grpId="3" nodeType="withEffect">
                                  <p:stCondLst>
                                    <p:cond delay="0"/>
                                  </p:stCondLst>
                                  <p:childTnLst>
                                    <p:set>
                                      <p:cBhvr>
                                        <p:cTn id="9" dur="1" fill="hold">
                                          <p:stCondLst>
                                            <p:cond delay="0"/>
                                          </p:stCondLst>
                                        </p:cTn>
                                        <p:tgtEl>
                                          <p:spTgt spid="84"/>
                                        </p:tgtEl>
                                        <p:attrNameLst>
                                          <p:attrName>style.visibility</p:attrName>
                                        </p:attrNameLst>
                                      </p:cBhvr>
                                      <p:to>
                                        <p:strVal val="visible"/>
                                      </p:to>
                                    </p:set>
                                  </p:childTnLst>
                                </p:cTn>
                              </p:par>
                              <p:par>
                                <p:cTn id="10" presetID="0" presetClass="path" presetSubtype="0" repeatCount="100000" accel="50000" decel="50000" fill="remove" grpId="0" nodeType="withEffect">
                                  <p:stCondLst>
                                    <p:cond delay="0"/>
                                  </p:stCondLst>
                                  <p:childTnLst>
                                    <p:animMotion origin="layout" path="M -2.29167E-6 2.96296E-6 L -0.00143 0.04861 L -0.20482 0.05046 L -0.20482 -0.0588 " pathEditMode="relative" rAng="0" ptsTypes="AAAA">
                                      <p:cBhvr>
                                        <p:cTn id="11" dur="2000" fill="hold"/>
                                        <p:tgtEl>
                                          <p:spTgt spid="84"/>
                                        </p:tgtEl>
                                        <p:attrNameLst>
                                          <p:attrName>ppt_x</p:attrName>
                                          <p:attrName>ppt_y</p:attrName>
                                        </p:attrNameLst>
                                      </p:cBhvr>
                                      <p:rCtr x="-10247" y="-417"/>
                                    </p:animMotion>
                                  </p:childTnLst>
                                </p:cTn>
                              </p:par>
                              <p:par>
                                <p:cTn id="12" presetID="22" presetClass="entr" presetSubtype="4" repeatCount="100000" fill="hold" nodeType="withEffect">
                                  <p:stCondLst>
                                    <p:cond delay="0"/>
                                  </p:stCondLst>
                                  <p:childTnLst>
                                    <p:set>
                                      <p:cBhvr>
                                        <p:cTn id="13" dur="1" fill="hold">
                                          <p:stCondLst>
                                            <p:cond delay="0"/>
                                          </p:stCondLst>
                                        </p:cTn>
                                        <p:tgtEl>
                                          <p:spTgt spid="79"/>
                                        </p:tgtEl>
                                        <p:attrNameLst>
                                          <p:attrName>style.visibility</p:attrName>
                                        </p:attrNameLst>
                                      </p:cBhvr>
                                      <p:to>
                                        <p:strVal val="visible"/>
                                      </p:to>
                                    </p:set>
                                    <p:animEffect transition="in" filter="wipe(down)">
                                      <p:cBhvr>
                                        <p:cTn id="14" dur="1000"/>
                                        <p:tgtEl>
                                          <p:spTgt spid="79"/>
                                        </p:tgtEl>
                                      </p:cBhvr>
                                    </p:animEffect>
                                  </p:childTnLst>
                                </p:cTn>
                              </p:par>
                              <p:par>
                                <p:cTn id="15" presetID="0" presetClass="path" presetSubtype="0" repeatCount="100000" accel="50000" decel="50000" fill="hold" grpId="1" nodeType="withEffect">
                                  <p:stCondLst>
                                    <p:cond delay="0"/>
                                  </p:stCondLst>
                                  <p:childTnLst>
                                    <p:animMotion origin="layout" path="M -2.29167E-6 2.96296E-6 L 0.00143 0.04815 L -0.20143 0.04815 L -0.20976 0.04815 L -0.20976 -0.06297 " pathEditMode="relative" rAng="0" ptsTypes="AAAAA">
                                      <p:cBhvr>
                                        <p:cTn id="16" dur="2000" fill="hold"/>
                                        <p:tgtEl>
                                          <p:spTgt spid="84"/>
                                        </p:tgtEl>
                                        <p:attrNameLst>
                                          <p:attrName>ppt_x</p:attrName>
                                          <p:attrName>ppt_y</p:attrName>
                                        </p:attrNameLst>
                                      </p:cBhvr>
                                      <p:rCtr x="-10417" y="-741"/>
                                    </p:animMotion>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69"/>
                                        </p:tgtEl>
                                        <p:attrNameLst>
                                          <p:attrName>style.visibility</p:attrName>
                                        </p:attrNameLst>
                                      </p:cBhvr>
                                      <p:to>
                                        <p:strVal val="hidden"/>
                                      </p:to>
                                    </p:set>
                                  </p:childTnLst>
                                </p:cTn>
                              </p:par>
                              <p:par>
                                <p:cTn id="21" presetID="22" presetClass="entr" presetSubtype="4" repeatCount="100000" fill="hold" nodeType="withEffect">
                                  <p:stCondLst>
                                    <p:cond delay="0"/>
                                  </p:stCondLst>
                                  <p:childTnLst>
                                    <p:set>
                                      <p:cBhvr>
                                        <p:cTn id="22" dur="1" fill="hold">
                                          <p:stCondLst>
                                            <p:cond delay="0"/>
                                          </p:stCondLst>
                                        </p:cTn>
                                        <p:tgtEl>
                                          <p:spTgt spid="79"/>
                                        </p:tgtEl>
                                        <p:attrNameLst>
                                          <p:attrName>style.visibility</p:attrName>
                                        </p:attrNameLst>
                                      </p:cBhvr>
                                      <p:to>
                                        <p:strVal val="visible"/>
                                      </p:to>
                                    </p:set>
                                    <p:animEffect transition="in" filter="wipe(down)">
                                      <p:cBhvr>
                                        <p:cTn id="23" dur="1000"/>
                                        <p:tgtEl>
                                          <p:spTgt spid="79"/>
                                        </p:tgtEl>
                                      </p:cBhvr>
                                    </p:animEffect>
                                  </p:childTnLst>
                                </p:cTn>
                              </p:par>
                              <p:par>
                                <p:cTn id="24" presetID="1" presetClass="entr" presetSubtype="0" fill="hold" grpId="1" nodeType="withEffect">
                                  <p:stCondLst>
                                    <p:cond delay="0"/>
                                  </p:stCondLst>
                                  <p:childTnLst>
                                    <p:set>
                                      <p:cBhvr>
                                        <p:cTn id="25" dur="1" fill="hold">
                                          <p:stCondLst>
                                            <p:cond delay="0"/>
                                          </p:stCondLst>
                                        </p:cTn>
                                        <p:tgtEl>
                                          <p:spTgt spid="91"/>
                                        </p:tgtEl>
                                        <p:attrNameLst>
                                          <p:attrName>style.visibility</p:attrName>
                                        </p:attrNameLst>
                                      </p:cBhvr>
                                      <p:to>
                                        <p:strVal val="visible"/>
                                      </p:to>
                                    </p:set>
                                  </p:childTnLst>
                                </p:cTn>
                              </p:par>
                              <p:par>
                                <p:cTn id="26" presetID="0" presetClass="path" presetSubtype="0" accel="50000" decel="50000" fill="hold" grpId="0" nodeType="withEffect">
                                  <p:stCondLst>
                                    <p:cond delay="0"/>
                                  </p:stCondLst>
                                  <p:childTnLst>
                                    <p:animMotion origin="layout" path="M -1.25E-6 4.07407E-6 L -0.00143 0.04259 L 0.20977 0.04259 L 0.20977 -0.06297 " pathEditMode="relative" rAng="0" ptsTypes="AAAA">
                                      <p:cBhvr>
                                        <p:cTn id="27" dur="2000" fill="hold"/>
                                        <p:tgtEl>
                                          <p:spTgt spid="91"/>
                                        </p:tgtEl>
                                        <p:attrNameLst>
                                          <p:attrName>ppt_x</p:attrName>
                                          <p:attrName>ppt_y</p:attrName>
                                        </p:attrNameLst>
                                      </p:cBhvr>
                                      <p:rCtr x="10417" y="-1019"/>
                                    </p:animMotion>
                                  </p:childTnLst>
                                </p:cTn>
                              </p:par>
                              <p:par>
                                <p:cTn id="28" presetID="0" presetClass="path" presetSubtype="0" accel="50000" decel="50000" fill="hold" grpId="2" nodeType="withEffect">
                                  <p:stCondLst>
                                    <p:cond delay="0"/>
                                  </p:stCondLst>
                                  <p:childTnLst>
                                    <p:animMotion origin="layout" path="M -2.29167E-6 2.96296E-6 L 0.00143 0.04629 L -0.2056 0.04815 L -0.20273 -0.05556 " pathEditMode="relative" rAng="0" ptsTypes="AAAA">
                                      <p:cBhvr>
                                        <p:cTn id="29" dur="2000" fill="hold"/>
                                        <p:tgtEl>
                                          <p:spTgt spid="84"/>
                                        </p:tgtEl>
                                        <p:attrNameLst>
                                          <p:attrName>ppt_x</p:attrName>
                                          <p:attrName>ppt_y</p:attrName>
                                        </p:attrNameLst>
                                      </p:cBhvr>
                                      <p:rCtr x="-10208" y="-370"/>
                                    </p:animMotion>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2"/>
                                        </p:tgtEl>
                                        <p:attrNameLst>
                                          <p:attrName>style.visibility</p:attrName>
                                        </p:attrNameLst>
                                      </p:cBhvr>
                                      <p:to>
                                        <p:strVal val="visible"/>
                                      </p:to>
                                    </p:set>
                                    <p:animEffect transition="in" filter="wipe(left)">
                                      <p:cBhvr>
                                        <p:cTn id="34" dur="500"/>
                                        <p:tgtEl>
                                          <p:spTgt spid="92"/>
                                        </p:tgtEl>
                                      </p:cBhvr>
                                    </p:animEffect>
                                  </p:childTnLst>
                                </p:cTn>
                              </p:par>
                              <p:par>
                                <p:cTn id="35" presetID="1" presetClass="exit" presetSubtype="0" fill="hold" grpId="3" nodeType="withEffect">
                                  <p:stCondLst>
                                    <p:cond delay="0"/>
                                  </p:stCondLst>
                                  <p:childTnLst>
                                    <p:set>
                                      <p:cBhvr>
                                        <p:cTn id="36" dur="1" fill="hold">
                                          <p:stCondLst>
                                            <p:cond delay="0"/>
                                          </p:stCondLst>
                                        </p:cTn>
                                        <p:tgtEl>
                                          <p:spTgt spid="91"/>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79"/>
                                        </p:tgtEl>
                                        <p:attrNameLst>
                                          <p:attrName>style.visibility</p:attrName>
                                        </p:attrNameLst>
                                      </p:cBhvr>
                                      <p:to>
                                        <p:strVal val="hidden"/>
                                      </p:to>
                                    </p:set>
                                  </p:childTnLst>
                                </p:cTn>
                              </p:par>
                              <p:par>
                                <p:cTn id="39" presetID="1" presetClass="exit" presetSubtype="0" fill="hold" grpId="4" nodeType="withEffect">
                                  <p:stCondLst>
                                    <p:cond delay="0"/>
                                  </p:stCondLst>
                                  <p:childTnLst>
                                    <p:set>
                                      <p:cBhvr>
                                        <p:cTn id="40" dur="1" fill="hold">
                                          <p:stCondLst>
                                            <p:cond delay="0"/>
                                          </p:stCondLst>
                                        </p:cTn>
                                        <p:tgtEl>
                                          <p:spTgt spid="84"/>
                                        </p:tgtEl>
                                        <p:attrNameLst>
                                          <p:attrName>style.visibility</p:attrName>
                                        </p:attrNameLst>
                                      </p:cBhvr>
                                      <p:to>
                                        <p:strVal val="hidden"/>
                                      </p:to>
                                    </p:set>
                                  </p:childTnLst>
                                </p:cTn>
                              </p:par>
                              <p:par>
                                <p:cTn id="41" presetID="22" presetClass="entr" presetSubtype="4" repeatCount="100000" fill="hold" nodeType="withEffect">
                                  <p:stCondLst>
                                    <p:cond delay="0"/>
                                  </p:stCondLst>
                                  <p:childTnLst>
                                    <p:set>
                                      <p:cBhvr>
                                        <p:cTn id="42" dur="1" fill="hold">
                                          <p:stCondLst>
                                            <p:cond delay="0"/>
                                          </p:stCondLst>
                                        </p:cTn>
                                        <p:tgtEl>
                                          <p:spTgt spid="87"/>
                                        </p:tgtEl>
                                        <p:attrNameLst>
                                          <p:attrName>style.visibility</p:attrName>
                                        </p:attrNameLst>
                                      </p:cBhvr>
                                      <p:to>
                                        <p:strVal val="visible"/>
                                      </p:to>
                                    </p:set>
                                    <p:animEffect transition="in" filter="wipe(down)">
                                      <p:cBhvr>
                                        <p:cTn id="43" dur="1000"/>
                                        <p:tgtEl>
                                          <p:spTgt spid="87"/>
                                        </p:tgtEl>
                                      </p:cBhvr>
                                    </p:animEffect>
                                  </p:childTnLst>
                                </p:cTn>
                              </p:par>
                              <p:par>
                                <p:cTn id="44" presetID="1" presetClass="exit" presetSubtype="0" fill="hold" grpId="0" nodeType="withEffect">
                                  <p:stCondLst>
                                    <p:cond delay="0"/>
                                  </p:stCondLst>
                                  <p:childTnLst>
                                    <p:set>
                                      <p:cBhvr>
                                        <p:cTn id="45" dur="1" fill="hold">
                                          <p:stCondLst>
                                            <p:cond delay="0"/>
                                          </p:stCondLst>
                                        </p:cTn>
                                        <p:tgtEl>
                                          <p:spTgt spid="78"/>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86"/>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85"/>
                                        </p:tgtEl>
                                        <p:attrNameLst>
                                          <p:attrName>style.visibility</p:attrName>
                                        </p:attrNameLst>
                                      </p:cBhvr>
                                      <p:to>
                                        <p:strVal val="visible"/>
                                      </p:to>
                                    </p:set>
                                  </p:childTnLst>
                                </p:cTn>
                              </p:par>
                              <p:par>
                                <p:cTn id="50" presetID="0" presetClass="path" presetSubtype="0" repeatCount="100000" accel="50000" decel="50000" fill="hold" grpId="2" nodeType="withEffect">
                                  <p:stCondLst>
                                    <p:cond delay="1500"/>
                                  </p:stCondLst>
                                  <p:childTnLst>
                                    <p:animMotion origin="layout" path="M -1.25E-6 4.07407E-6 L -1.25E-6 0.03888 L 0.2125 0.03703 L 0.21107 -0.06667 " pathEditMode="relative" rAng="0" ptsTypes="AAAA">
                                      <p:cBhvr>
                                        <p:cTn id="51" dur="2000" fill="hold"/>
                                        <p:tgtEl>
                                          <p:spTgt spid="91"/>
                                        </p:tgtEl>
                                        <p:attrNameLst>
                                          <p:attrName>ppt_x</p:attrName>
                                          <p:attrName>ppt_y</p:attrName>
                                        </p:attrNameLst>
                                      </p:cBhvr>
                                      <p:rCtr x="10625" y="-1389"/>
                                    </p:animMotion>
                                  </p:childTnLst>
                                </p:cTn>
                              </p:par>
                              <p:par>
                                <p:cTn id="52" presetID="22" presetClass="entr" presetSubtype="4" repeatCount="100000" fill="hold" nodeType="withEffect">
                                  <p:stCondLst>
                                    <p:cond delay="0"/>
                                  </p:stCondLst>
                                  <p:childTnLst>
                                    <p:set>
                                      <p:cBhvr>
                                        <p:cTn id="53" dur="1" fill="hold">
                                          <p:stCondLst>
                                            <p:cond delay="0"/>
                                          </p:stCondLst>
                                        </p:cTn>
                                        <p:tgtEl>
                                          <p:spTgt spid="87"/>
                                        </p:tgtEl>
                                        <p:attrNameLst>
                                          <p:attrName>style.visibility</p:attrName>
                                        </p:attrNameLst>
                                      </p:cBhvr>
                                      <p:to>
                                        <p:strVal val="visible"/>
                                      </p:to>
                                    </p:set>
                                    <p:animEffect transition="in" filter="wipe(down)">
                                      <p:cBhvr>
                                        <p:cTn id="54" dur="1000"/>
                                        <p:tgtEl>
                                          <p:spTgt spid="87"/>
                                        </p:tgtEl>
                                      </p:cBhvr>
                                    </p:animEffect>
                                  </p:childTnLst>
                                </p:cTn>
                              </p:par>
                              <p:par>
                                <p:cTn id="55" presetID="22" presetClass="entr" presetSubtype="4" repeatCount="100000" fill="hold" nodeType="withEffect">
                                  <p:stCondLst>
                                    <p:cond delay="0"/>
                                  </p:stCondLst>
                                  <p:childTnLst>
                                    <p:set>
                                      <p:cBhvr>
                                        <p:cTn id="56" dur="1" fill="hold">
                                          <p:stCondLst>
                                            <p:cond delay="0"/>
                                          </p:stCondLst>
                                        </p:cTn>
                                        <p:tgtEl>
                                          <p:spTgt spid="87"/>
                                        </p:tgtEl>
                                        <p:attrNameLst>
                                          <p:attrName>style.visibility</p:attrName>
                                        </p:attrNameLst>
                                      </p:cBhvr>
                                      <p:to>
                                        <p:strVal val="visible"/>
                                      </p:to>
                                    </p:set>
                                    <p:animEffect transition="in" filter="wipe(down)">
                                      <p:cBhvr>
                                        <p:cTn id="57" dur="1000"/>
                                        <p:tgtEl>
                                          <p:spTgt spid="8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wipe(left)">
                                      <p:cBhvr>
                                        <p:cTn id="62"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84" grpId="0" animBg="1"/>
      <p:bldP spid="84" grpId="1" animBg="1"/>
      <p:bldP spid="84" grpId="2" animBg="1"/>
      <p:bldP spid="84" grpId="3" animBg="1"/>
      <p:bldP spid="84" grpId="4" animBg="1"/>
      <p:bldP spid="85" grpId="0"/>
      <p:bldP spid="86" grpId="0"/>
      <p:bldP spid="91" grpId="0" animBg="1"/>
      <p:bldP spid="91" grpId="1" animBg="1"/>
      <p:bldP spid="91" grpId="2" animBg="1"/>
      <p:bldP spid="91" grpId="3" animBg="1"/>
      <p:bldP spid="92" grpId="0" animBg="1"/>
      <p:bldP spid="9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Line 10"/>
          <p:cNvSpPr>
            <a:spLocks noChangeShapeType="1"/>
          </p:cNvSpPr>
          <p:nvPr/>
        </p:nvSpPr>
        <p:spPr bwMode="auto">
          <a:xfrm flipV="1">
            <a:off x="4692104" y="4945363"/>
            <a:ext cx="2916000" cy="0"/>
          </a:xfrm>
          <a:prstGeom prst="line">
            <a:avLst/>
          </a:prstGeom>
          <a:noFill/>
          <a:ln w="28575">
            <a:solidFill>
              <a:schemeClr val="tx1"/>
            </a:solidFill>
            <a:round/>
            <a:headEnd type="none" w="sm" len="sm"/>
            <a:tailEnd type="none" w="sm" len="sm"/>
          </a:ln>
        </p:spPr>
        <p:txBody>
          <a:bodyPr wrap="none" anchor="ctr"/>
          <a:lstStyle/>
          <a:p>
            <a:pPr fontAlgn="ctr"/>
            <a:endParaRPr lang="en-US" altLang="zh-CN">
              <a:latin typeface="+mn-ea"/>
              <a:ea typeface="+mn-ea"/>
            </a:endParaRPr>
          </a:p>
        </p:txBody>
      </p:sp>
      <p:cxnSp>
        <p:nvCxnSpPr>
          <p:cNvPr id="74" name="1935356748"/>
          <p:cNvCxnSpPr>
            <a:cxnSpLocks noChangeShapeType="1"/>
          </p:cNvCxnSpPr>
          <p:nvPr/>
        </p:nvCxnSpPr>
        <p:spPr bwMode="auto">
          <a:xfrm>
            <a:off x="6106630" y="4945363"/>
            <a:ext cx="0" cy="756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 name="1387700333"/>
          <p:cNvCxnSpPr>
            <a:cxnSpLocks noChangeShapeType="1"/>
          </p:cNvCxnSpPr>
          <p:nvPr/>
        </p:nvCxnSpPr>
        <p:spPr bwMode="auto">
          <a:xfrm flipH="1">
            <a:off x="5051820" y="4153275"/>
            <a:ext cx="0" cy="792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6" name="16897822"/>
          <p:cNvCxnSpPr>
            <a:cxnSpLocks noChangeShapeType="1"/>
          </p:cNvCxnSpPr>
          <p:nvPr/>
        </p:nvCxnSpPr>
        <p:spPr bwMode="auto">
          <a:xfrm flipH="1">
            <a:off x="7135968" y="4189279"/>
            <a:ext cx="4084" cy="756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7" name="795635082"/>
          <p:cNvCxnSpPr>
            <a:cxnSpLocks noChangeShapeType="1"/>
          </p:cNvCxnSpPr>
          <p:nvPr/>
        </p:nvCxnSpPr>
        <p:spPr bwMode="auto">
          <a:xfrm flipH="1">
            <a:off x="5199686" y="2943569"/>
            <a:ext cx="743341" cy="85081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8" name="1172149837"/>
          <p:cNvCxnSpPr>
            <a:cxnSpLocks noChangeShapeType="1"/>
          </p:cNvCxnSpPr>
          <p:nvPr/>
        </p:nvCxnSpPr>
        <p:spPr bwMode="auto">
          <a:xfrm>
            <a:off x="6315925" y="3049921"/>
            <a:ext cx="697650" cy="77991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80" name="2132385396"/>
          <p:cNvSpPr txBox="1"/>
          <p:nvPr/>
        </p:nvSpPr>
        <p:spPr bwMode="auto">
          <a:xfrm>
            <a:off x="4061360" y="3425450"/>
            <a:ext cx="1051376" cy="347170"/>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1600" b="1" dirty="0" err="1">
                <a:solidFill>
                  <a:srgbClr val="000000"/>
                </a:solidFill>
                <a:latin typeface="+mn-ea"/>
                <a:ea typeface="+mn-ea"/>
                <a:cs typeface="Arial" pitchFamily="34" charset="0"/>
              </a:rPr>
              <a:t>RouterA</a:t>
            </a:r>
            <a:endParaRPr lang="en-US" altLang="zh-CN" sz="1600" b="1" dirty="0">
              <a:solidFill>
                <a:srgbClr val="000000"/>
              </a:solidFill>
              <a:latin typeface="+mn-ea"/>
              <a:ea typeface="+mn-ea"/>
              <a:cs typeface="Arial" pitchFamily="34" charset="0"/>
            </a:endParaRPr>
          </a:p>
        </p:txBody>
      </p:sp>
      <p:sp>
        <p:nvSpPr>
          <p:cNvPr id="81" name="512686271"/>
          <p:cNvSpPr txBox="1"/>
          <p:nvPr/>
        </p:nvSpPr>
        <p:spPr bwMode="auto">
          <a:xfrm>
            <a:off x="6861512" y="3433195"/>
            <a:ext cx="1038553" cy="347170"/>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1600" b="1" dirty="0" err="1">
                <a:solidFill>
                  <a:srgbClr val="000000"/>
                </a:solidFill>
                <a:latin typeface="+mn-ea"/>
                <a:ea typeface="+mn-ea"/>
                <a:cs typeface="Arial" pitchFamily="34" charset="0"/>
              </a:rPr>
              <a:t>RouterB</a:t>
            </a:r>
            <a:endParaRPr lang="en-US" altLang="zh-CN" sz="1600" b="1" dirty="0">
              <a:solidFill>
                <a:srgbClr val="000000"/>
              </a:solidFill>
              <a:latin typeface="+mn-ea"/>
              <a:ea typeface="+mn-ea"/>
              <a:cs typeface="Arial" pitchFamily="34" charset="0"/>
            </a:endParaRPr>
          </a:p>
        </p:txBody>
      </p:sp>
      <p:cxnSp>
        <p:nvCxnSpPr>
          <p:cNvPr id="85" name="1118698237"/>
          <p:cNvCxnSpPr>
            <a:cxnSpLocks noChangeShapeType="1"/>
          </p:cNvCxnSpPr>
          <p:nvPr/>
        </p:nvCxnSpPr>
        <p:spPr bwMode="auto">
          <a:xfrm>
            <a:off x="6106630" y="2057298"/>
            <a:ext cx="0" cy="63811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90" name="845634586"/>
          <p:cNvSpPr txBox="1"/>
          <p:nvPr/>
        </p:nvSpPr>
        <p:spPr bwMode="auto">
          <a:xfrm>
            <a:off x="3891773" y="3757231"/>
            <a:ext cx="923072" cy="362558"/>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1700" dirty="0">
                <a:solidFill>
                  <a:srgbClr val="C00000"/>
                </a:solidFill>
                <a:latin typeface="+mn-ea"/>
                <a:ea typeface="+mn-ea"/>
                <a:cs typeface="Arial" pitchFamily="34" charset="0"/>
              </a:rPr>
              <a:t>Master</a:t>
            </a:r>
          </a:p>
        </p:txBody>
      </p:sp>
      <p:sp>
        <p:nvSpPr>
          <p:cNvPr id="91" name="1471523657"/>
          <p:cNvSpPr txBox="1"/>
          <p:nvPr/>
        </p:nvSpPr>
        <p:spPr bwMode="auto">
          <a:xfrm>
            <a:off x="7347259" y="3757231"/>
            <a:ext cx="960134" cy="362558"/>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1700" dirty="0">
                <a:solidFill>
                  <a:srgbClr val="C00000"/>
                </a:solidFill>
                <a:latin typeface="+mn-ea"/>
                <a:ea typeface="+mn-ea"/>
                <a:cs typeface="Arial" pitchFamily="34" charset="0"/>
              </a:rPr>
              <a:t>Backup</a:t>
            </a:r>
          </a:p>
        </p:txBody>
      </p:sp>
      <p:sp>
        <p:nvSpPr>
          <p:cNvPr id="96" name="2123622297"/>
          <p:cNvSpPr>
            <a:spLocks noGrp="1"/>
          </p:cNvSpPr>
          <p:nvPr>
            <p:ph type="title" idx="4294967295"/>
          </p:nvPr>
        </p:nvSpPr>
        <p:spPr>
          <a:xfrm>
            <a:off x="1631950" y="296652"/>
            <a:ext cx="10560050" cy="868363"/>
          </a:xfrm>
        </p:spPr>
        <p:txBody>
          <a:bodyPr/>
          <a:lstStyle/>
          <a:p>
            <a:r>
              <a:rPr lang="en-US" altLang="zh-CN" dirty="0" smtClean="0">
                <a:latin typeface="+mn-ea"/>
                <a:ea typeface="+mn-ea"/>
              </a:rPr>
              <a:t>VRRP Fault</a:t>
            </a:r>
            <a:endParaRPr lang="en-US" altLang="zh-CN" dirty="0">
              <a:latin typeface="+mn-ea"/>
              <a:ea typeface="+mn-ea"/>
            </a:endParaRPr>
          </a:p>
        </p:txBody>
      </p:sp>
      <p:sp>
        <p:nvSpPr>
          <p:cNvPr id="37" name="流程图: 联系 36"/>
          <p:cNvSpPr/>
          <p:nvPr/>
        </p:nvSpPr>
        <p:spPr bwMode="auto">
          <a:xfrm>
            <a:off x="5347088" y="3325183"/>
            <a:ext cx="316800" cy="288000"/>
          </a:xfrm>
          <a:prstGeom prst="flowChartConnector">
            <a:avLst/>
          </a:prstGeom>
          <a:noFill/>
          <a:ln w="57150" cap="flat" cmpd="sng" algn="ctr">
            <a:solidFill>
              <a:srgbClr val="FF090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ctr"/>
            <a:endParaRPr lang="en-US" altLang="zh-CN">
              <a:latin typeface="+mn-ea"/>
              <a:ea typeface="+mn-ea"/>
            </a:endParaRPr>
          </a:p>
        </p:txBody>
      </p:sp>
      <p:cxnSp>
        <p:nvCxnSpPr>
          <p:cNvPr id="38" name="1136868129"/>
          <p:cNvCxnSpPr>
            <a:stCxn id="37" idx="7"/>
            <a:endCxn id="37" idx="3"/>
          </p:cNvCxnSpPr>
          <p:nvPr/>
        </p:nvCxnSpPr>
        <p:spPr bwMode="auto">
          <a:xfrm flipH="1">
            <a:off x="5393482" y="3367360"/>
            <a:ext cx="224012" cy="203646"/>
          </a:xfrm>
          <a:prstGeom prst="line">
            <a:avLst/>
          </a:prstGeom>
          <a:solidFill>
            <a:schemeClr val="accent1"/>
          </a:solidFill>
          <a:ln w="57150" cap="flat" cmpd="sng" algn="ctr">
            <a:solidFill>
              <a:srgbClr val="FF0909"/>
            </a:solidFill>
            <a:prstDash val="solid"/>
            <a:round/>
            <a:headEnd type="none" w="med" len="med"/>
            <a:tailEnd type="none" w="med" len="med"/>
          </a:ln>
          <a:effectLst/>
        </p:spPr>
      </p:cxnSp>
      <p:sp>
        <p:nvSpPr>
          <p:cNvPr id="40" name="流程图: 联系 39"/>
          <p:cNvSpPr/>
          <p:nvPr/>
        </p:nvSpPr>
        <p:spPr bwMode="auto">
          <a:xfrm>
            <a:off x="4907836" y="4431517"/>
            <a:ext cx="288000" cy="261819"/>
          </a:xfrm>
          <a:prstGeom prst="flowChartConnector">
            <a:avLst/>
          </a:prstGeom>
          <a:noFill/>
          <a:ln w="57150" cap="flat" cmpd="sng" algn="ctr">
            <a:solidFill>
              <a:srgbClr val="FF090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ctr"/>
            <a:endParaRPr lang="en-US" altLang="zh-CN">
              <a:latin typeface="+mn-ea"/>
              <a:ea typeface="+mn-ea"/>
            </a:endParaRPr>
          </a:p>
        </p:txBody>
      </p:sp>
      <p:cxnSp>
        <p:nvCxnSpPr>
          <p:cNvPr id="41" name="1589056516"/>
          <p:cNvCxnSpPr>
            <a:stCxn id="40" idx="7"/>
            <a:endCxn id="40" idx="3"/>
          </p:cNvCxnSpPr>
          <p:nvPr/>
        </p:nvCxnSpPr>
        <p:spPr bwMode="auto">
          <a:xfrm flipH="1">
            <a:off x="4950013" y="4469860"/>
            <a:ext cx="203647" cy="185133"/>
          </a:xfrm>
          <a:prstGeom prst="line">
            <a:avLst/>
          </a:prstGeom>
          <a:solidFill>
            <a:schemeClr val="accent1"/>
          </a:solidFill>
          <a:ln w="57150" cap="flat" cmpd="sng" algn="ctr">
            <a:solidFill>
              <a:srgbClr val="FF0909"/>
            </a:solidFill>
            <a:prstDash val="solid"/>
            <a:round/>
            <a:headEnd type="none" w="med" len="med"/>
            <a:tailEnd type="none" w="med" len="med"/>
          </a:ln>
          <a:effectLst/>
        </p:spPr>
      </p:cxnSp>
      <p:sp>
        <p:nvSpPr>
          <p:cNvPr id="32" name="396104559"/>
          <p:cNvSpPr>
            <a:spLocks noChangeArrowheads="1"/>
          </p:cNvSpPr>
          <p:nvPr/>
        </p:nvSpPr>
        <p:spPr bwMode="auto">
          <a:xfrm>
            <a:off x="2279650" y="2486341"/>
            <a:ext cx="2644658" cy="672495"/>
          </a:xfrm>
          <a:prstGeom prst="wedgeRectCallout">
            <a:avLst>
              <a:gd name="adj1" fmla="val 57853"/>
              <a:gd name="adj2" fmla="val 108387"/>
            </a:avLst>
          </a:prstGeom>
          <a:solidFill>
            <a:schemeClr val="bg1"/>
          </a:solidFill>
          <a:ln w="3175" algn="ctr">
            <a:solidFill>
              <a:srgbClr val="999999"/>
            </a:solidFill>
            <a:miter lim="800000"/>
            <a:headEnd/>
            <a:tailEnd/>
          </a:ln>
        </p:spPr>
        <p:txBody>
          <a:bodyPr lIns="0" tIns="0" rIns="0" bIns="0" anchor="ctr" anchorCtr="1"/>
          <a:lstStyle/>
          <a:p>
            <a:pPr fontAlgn="ctr"/>
            <a:r>
              <a:rPr lang="en-US" altLang="zh-CN" sz="1400" dirty="0">
                <a:latin typeface="+mn-ea"/>
                <a:ea typeface="+mn-ea"/>
              </a:rPr>
              <a:t>Question: Which failure point may cause a VRRP active/standby switchover?</a:t>
            </a:r>
          </a:p>
        </p:txBody>
      </p:sp>
      <p:sp>
        <p:nvSpPr>
          <p:cNvPr id="35" name="1379204649"/>
          <p:cNvSpPr txBox="1"/>
          <p:nvPr/>
        </p:nvSpPr>
        <p:spPr bwMode="auto">
          <a:xfrm>
            <a:off x="6549895" y="5594034"/>
            <a:ext cx="806245" cy="331781"/>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1500" b="1" dirty="0" err="1">
                <a:solidFill>
                  <a:srgbClr val="000000"/>
                </a:solidFill>
                <a:latin typeface="+mn-ea"/>
                <a:ea typeface="+mn-ea"/>
                <a:cs typeface="Arial" pitchFamily="34" charset="0"/>
              </a:rPr>
              <a:t>HostA</a:t>
            </a:r>
            <a:endParaRPr lang="en-US" altLang="zh-CN" sz="1500" b="1" dirty="0">
              <a:solidFill>
                <a:srgbClr val="000000"/>
              </a:solidFill>
              <a:latin typeface="+mn-ea"/>
              <a:ea typeface="+mn-ea"/>
              <a:cs typeface="Arial" pitchFamily="34" charset="0"/>
            </a:endParaRPr>
          </a:p>
        </p:txBody>
      </p:sp>
      <p:pic>
        <p:nvPicPr>
          <p:cNvPr id="29" name="图片 28" descr="internet-蓝.png"/>
          <p:cNvPicPr>
            <a:picLocks noChangeAspect="1"/>
          </p:cNvPicPr>
          <p:nvPr/>
        </p:nvPicPr>
        <p:blipFill>
          <a:blip r:embed="rId3" cstate="print"/>
          <a:stretch>
            <a:fillRect/>
          </a:stretch>
        </p:blipFill>
        <p:spPr>
          <a:xfrm>
            <a:off x="5551518" y="1666663"/>
            <a:ext cx="1205730" cy="612000"/>
          </a:xfrm>
          <a:prstGeom prst="rect">
            <a:avLst/>
          </a:prstGeom>
        </p:spPr>
      </p:pic>
      <p:pic>
        <p:nvPicPr>
          <p:cNvPr id="30" name="图片 29" descr="PC.png"/>
          <p:cNvPicPr>
            <a:picLocks noChangeAspect="1"/>
          </p:cNvPicPr>
          <p:nvPr/>
        </p:nvPicPr>
        <p:blipFill>
          <a:blip r:embed="rId4" cstate="print"/>
          <a:stretch>
            <a:fillRect/>
          </a:stretch>
        </p:blipFill>
        <p:spPr>
          <a:xfrm>
            <a:off x="5832123" y="5517296"/>
            <a:ext cx="750001" cy="576000"/>
          </a:xfrm>
          <a:prstGeom prst="rect">
            <a:avLst/>
          </a:prstGeom>
        </p:spPr>
      </p:pic>
      <p:pic>
        <p:nvPicPr>
          <p:cNvPr id="31" name="图片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1964" y="2669228"/>
            <a:ext cx="599339" cy="468000"/>
          </a:xfrm>
          <a:prstGeom prst="rect">
            <a:avLst/>
          </a:prstGeom>
        </p:spPr>
      </p:pic>
      <p:pic>
        <p:nvPicPr>
          <p:cNvPr id="33" name="图片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80076" y="3753036"/>
            <a:ext cx="599339" cy="468000"/>
          </a:xfrm>
          <a:prstGeom prst="rect">
            <a:avLst/>
          </a:prstGeom>
        </p:spPr>
      </p:pic>
      <p:pic>
        <p:nvPicPr>
          <p:cNvPr id="34" name="图片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86680" y="3753036"/>
            <a:ext cx="553236" cy="432000"/>
          </a:xfrm>
          <a:prstGeom prst="rect">
            <a:avLst/>
          </a:prstGeom>
        </p:spPr>
      </p:pic>
      <p:cxnSp>
        <p:nvCxnSpPr>
          <p:cNvPr id="7" name="1384389694"/>
          <p:cNvCxnSpPr>
            <a:stCxn id="5" idx="7"/>
            <a:endCxn id="5" idx="3"/>
          </p:cNvCxnSpPr>
          <p:nvPr/>
        </p:nvCxnSpPr>
        <p:spPr bwMode="auto">
          <a:xfrm flipH="1">
            <a:off x="4949997" y="3880690"/>
            <a:ext cx="203647" cy="185133"/>
          </a:xfrm>
          <a:prstGeom prst="line">
            <a:avLst/>
          </a:prstGeom>
          <a:solidFill>
            <a:schemeClr val="accent1"/>
          </a:solidFill>
          <a:ln w="57150" cap="flat" cmpd="sng" algn="ctr">
            <a:solidFill>
              <a:srgbClr val="FF0909"/>
            </a:solidFill>
            <a:prstDash val="solid"/>
            <a:round/>
            <a:headEnd type="none" w="med" len="med"/>
            <a:tailEnd type="none" w="med" len="med"/>
          </a:ln>
          <a:effectLst/>
        </p:spPr>
      </p:cxnSp>
      <p:sp>
        <p:nvSpPr>
          <p:cNvPr id="5" name="流程图: 联系 4"/>
          <p:cNvSpPr/>
          <p:nvPr/>
        </p:nvSpPr>
        <p:spPr bwMode="auto">
          <a:xfrm>
            <a:off x="4907820" y="3842347"/>
            <a:ext cx="288000" cy="261819"/>
          </a:xfrm>
          <a:prstGeom prst="flowChartConnector">
            <a:avLst/>
          </a:prstGeom>
          <a:noFill/>
          <a:ln w="57150" cap="flat" cmpd="sng" algn="ctr">
            <a:solidFill>
              <a:srgbClr val="FF090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ctr"/>
            <a:endParaRPr lang="en-US" altLang="zh-CN">
              <a:latin typeface="+mn-ea"/>
              <a:ea typeface="+mn-ea"/>
            </a:endParaRPr>
          </a:p>
        </p:txBody>
      </p:sp>
    </p:spTree>
    <p:extLst>
      <p:ext uri="{BB962C8B-B14F-4D97-AF65-F5344CB8AC3E}">
        <p14:creationId xmlns:p14="http://schemas.microsoft.com/office/powerpoint/2010/main" val="22557309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931058773"/>
          <p:cNvSpPr>
            <a:spLocks noGrp="1"/>
          </p:cNvSpPr>
          <p:nvPr>
            <p:ph type="body" sz="quarter" idx="10"/>
          </p:nvPr>
        </p:nvSpPr>
        <p:spPr/>
        <p:txBody>
          <a:bodyPr/>
          <a:lstStyle/>
          <a:p>
            <a:endParaRPr lang="en-US" altLang="zh-CN" dirty="0" smtClean="0">
              <a:latin typeface="+mn-ea"/>
            </a:endParaRPr>
          </a:p>
          <a:p>
            <a:endParaRPr lang="en-US" altLang="zh-CN" dirty="0">
              <a:latin typeface="+mn-ea"/>
            </a:endParaRPr>
          </a:p>
          <a:p>
            <a:endParaRPr lang="en-US" altLang="zh-CN" dirty="0" smtClean="0">
              <a:latin typeface="+mn-ea"/>
            </a:endParaRPr>
          </a:p>
          <a:p>
            <a:endParaRPr lang="en-US" altLang="zh-CN" dirty="0">
              <a:latin typeface="+mn-ea"/>
            </a:endParaRPr>
          </a:p>
          <a:p>
            <a:endParaRPr lang="en-US" altLang="zh-CN" dirty="0" smtClean="0">
              <a:latin typeface="+mn-ea"/>
            </a:endParaRPr>
          </a:p>
          <a:p>
            <a:endParaRPr lang="en-US" altLang="zh-CN" dirty="0">
              <a:latin typeface="+mn-ea"/>
            </a:endParaRPr>
          </a:p>
          <a:p>
            <a:endParaRPr lang="en-US" altLang="zh-CN" dirty="0" smtClean="0">
              <a:latin typeface="+mn-ea"/>
            </a:endParaRPr>
          </a:p>
          <a:p>
            <a:r>
              <a:rPr lang="en-US" altLang="zh-CN" dirty="0" smtClean="0">
                <a:latin typeface="+mn-ea"/>
              </a:rPr>
              <a:t>Solution: VRRP association can be configured to monitor the uplink interface or link fault and perform an active/standby switchover.</a:t>
            </a:r>
            <a:endParaRPr lang="en-US" altLang="zh-CN" dirty="0">
              <a:latin typeface="+mn-ea"/>
            </a:endParaRPr>
          </a:p>
        </p:txBody>
      </p:sp>
      <p:sp>
        <p:nvSpPr>
          <p:cNvPr id="3" name="60739616"/>
          <p:cNvSpPr>
            <a:spLocks noGrp="1"/>
          </p:cNvSpPr>
          <p:nvPr>
            <p:ph type="title" idx="4294967295"/>
          </p:nvPr>
        </p:nvSpPr>
        <p:spPr>
          <a:xfrm>
            <a:off x="1631950" y="296652"/>
            <a:ext cx="10560050" cy="868363"/>
          </a:xfrm>
        </p:spPr>
        <p:txBody>
          <a:bodyPr/>
          <a:lstStyle/>
          <a:p>
            <a:r>
              <a:rPr lang="en-US" altLang="zh-CN" dirty="0" smtClean="0">
                <a:latin typeface="+mn-ea"/>
                <a:ea typeface="+mn-ea"/>
              </a:rPr>
              <a:t>VRRP Association</a:t>
            </a:r>
            <a:endParaRPr lang="en-US" altLang="zh-CN" dirty="0">
              <a:latin typeface="+mn-ea"/>
              <a:ea typeface="+mn-ea"/>
            </a:endParaRPr>
          </a:p>
        </p:txBody>
      </p:sp>
      <p:sp>
        <p:nvSpPr>
          <p:cNvPr id="28" name="Line 10"/>
          <p:cNvSpPr>
            <a:spLocks noChangeShapeType="1"/>
          </p:cNvSpPr>
          <p:nvPr/>
        </p:nvSpPr>
        <p:spPr bwMode="auto">
          <a:xfrm flipV="1">
            <a:off x="4916114" y="4422472"/>
            <a:ext cx="2279386" cy="0"/>
          </a:xfrm>
          <a:prstGeom prst="line">
            <a:avLst/>
          </a:prstGeom>
          <a:noFill/>
          <a:ln w="28575">
            <a:solidFill>
              <a:schemeClr val="tx1"/>
            </a:solidFill>
            <a:round/>
            <a:headEnd type="none" w="sm" len="sm"/>
            <a:tailEnd type="none" w="sm" len="sm"/>
          </a:ln>
        </p:spPr>
        <p:txBody>
          <a:bodyPr wrap="none" anchor="ctr"/>
          <a:lstStyle/>
          <a:p>
            <a:endParaRPr lang="zh-CN" altLang="en-US">
              <a:latin typeface="+mn-ea"/>
              <a:ea typeface="+mn-ea"/>
            </a:endParaRPr>
          </a:p>
        </p:txBody>
      </p:sp>
      <p:cxnSp>
        <p:nvCxnSpPr>
          <p:cNvPr id="29" name="直接连接符 8"/>
          <p:cNvCxnSpPr>
            <a:cxnSpLocks noChangeShapeType="1"/>
          </p:cNvCxnSpPr>
          <p:nvPr/>
        </p:nvCxnSpPr>
        <p:spPr bwMode="auto">
          <a:xfrm>
            <a:off x="6070427" y="4421578"/>
            <a:ext cx="0" cy="79930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 name="直接连接符 8"/>
          <p:cNvCxnSpPr>
            <a:cxnSpLocks noChangeShapeType="1"/>
          </p:cNvCxnSpPr>
          <p:nvPr/>
        </p:nvCxnSpPr>
        <p:spPr bwMode="auto">
          <a:xfrm flipH="1">
            <a:off x="5117201" y="3868913"/>
            <a:ext cx="3930" cy="5462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2" name="直接连接符 8"/>
          <p:cNvCxnSpPr>
            <a:cxnSpLocks noChangeShapeType="1"/>
          </p:cNvCxnSpPr>
          <p:nvPr/>
        </p:nvCxnSpPr>
        <p:spPr bwMode="auto">
          <a:xfrm flipH="1">
            <a:off x="6984531" y="3876210"/>
            <a:ext cx="3930" cy="54626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3" name="直接连接符 32"/>
          <p:cNvCxnSpPr>
            <a:cxnSpLocks noChangeShapeType="1"/>
          </p:cNvCxnSpPr>
          <p:nvPr/>
        </p:nvCxnSpPr>
        <p:spPr bwMode="auto">
          <a:xfrm flipH="1">
            <a:off x="5287886" y="2684830"/>
            <a:ext cx="725394" cy="79034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6" name="直接连接符 8"/>
          <p:cNvCxnSpPr>
            <a:cxnSpLocks noChangeShapeType="1"/>
          </p:cNvCxnSpPr>
          <p:nvPr/>
        </p:nvCxnSpPr>
        <p:spPr bwMode="auto">
          <a:xfrm>
            <a:off x="6204712" y="2770182"/>
            <a:ext cx="671426" cy="73856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7" name="文本框 11"/>
          <p:cNvSpPr txBox="1"/>
          <p:nvPr/>
        </p:nvSpPr>
        <p:spPr bwMode="auto">
          <a:xfrm>
            <a:off x="4092092" y="3056424"/>
            <a:ext cx="1051376"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err="1">
                <a:solidFill>
                  <a:srgbClr val="000000"/>
                </a:solidFill>
                <a:latin typeface="+mn-ea"/>
                <a:ea typeface="+mn-ea"/>
                <a:cs typeface="Arial" pitchFamily="34" charset="0"/>
              </a:rPr>
              <a:t>RouterA</a:t>
            </a:r>
            <a:endParaRPr lang="en-US" altLang="zh-CN" sz="1600" b="1" dirty="0">
              <a:solidFill>
                <a:srgbClr val="000000"/>
              </a:solidFill>
              <a:latin typeface="+mn-ea"/>
              <a:ea typeface="+mn-ea"/>
              <a:cs typeface="Arial" pitchFamily="34" charset="0"/>
            </a:endParaRPr>
          </a:p>
        </p:txBody>
      </p:sp>
      <p:sp>
        <p:nvSpPr>
          <p:cNvPr id="38" name="文本框 12"/>
          <p:cNvSpPr txBox="1"/>
          <p:nvPr/>
        </p:nvSpPr>
        <p:spPr bwMode="auto">
          <a:xfrm>
            <a:off x="6793290" y="3056424"/>
            <a:ext cx="1038553" cy="347170"/>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600" b="1" dirty="0">
                <a:solidFill>
                  <a:srgbClr val="000000"/>
                </a:solidFill>
                <a:latin typeface="+mn-ea"/>
                <a:ea typeface="+mn-ea"/>
                <a:cs typeface="Arial" pitchFamily="34" charset="0"/>
              </a:rPr>
              <a:t>Route	</a:t>
            </a:r>
            <a:r>
              <a:rPr lang="en-US" altLang="zh-CN" sz="1600" b="1" dirty="0" err="1">
                <a:solidFill>
                  <a:srgbClr val="000000"/>
                </a:solidFill>
                <a:latin typeface="+mn-ea"/>
                <a:ea typeface="+mn-ea"/>
                <a:cs typeface="Arial" pitchFamily="34" charset="0"/>
              </a:rPr>
              <a:t>rB</a:t>
            </a:r>
            <a:endParaRPr lang="en-US" altLang="zh-CN" sz="1600" b="1" dirty="0">
              <a:solidFill>
                <a:srgbClr val="000000"/>
              </a:solidFill>
              <a:latin typeface="+mn-ea"/>
              <a:ea typeface="+mn-ea"/>
              <a:cs typeface="Arial" pitchFamily="34" charset="0"/>
            </a:endParaRPr>
          </a:p>
        </p:txBody>
      </p:sp>
      <p:cxnSp>
        <p:nvCxnSpPr>
          <p:cNvPr id="42" name="直接连接符 8"/>
          <p:cNvCxnSpPr>
            <a:cxnSpLocks noChangeShapeType="1"/>
          </p:cNvCxnSpPr>
          <p:nvPr/>
        </p:nvCxnSpPr>
        <p:spPr bwMode="auto">
          <a:xfrm>
            <a:off x="6070427" y="1830185"/>
            <a:ext cx="0" cy="60428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nvGrpSpPr>
          <p:cNvPr id="45" name="组合 44"/>
          <p:cNvGrpSpPr/>
          <p:nvPr/>
        </p:nvGrpSpPr>
        <p:grpSpPr>
          <a:xfrm>
            <a:off x="5155244" y="1830185"/>
            <a:ext cx="872854" cy="3424273"/>
            <a:chOff x="3239852" y="1772816"/>
            <a:chExt cx="936104" cy="3672408"/>
          </a:xfrm>
        </p:grpSpPr>
        <p:cxnSp>
          <p:nvCxnSpPr>
            <p:cNvPr id="46" name="肘形连接符 45"/>
            <p:cNvCxnSpPr/>
            <p:nvPr/>
          </p:nvCxnSpPr>
          <p:spPr bwMode="auto">
            <a:xfrm rot="16200000" flipV="1">
              <a:off x="2879812" y="4149080"/>
              <a:ext cx="1656184" cy="936104"/>
            </a:xfrm>
            <a:prstGeom prst="bentConnector3">
              <a:avLst>
                <a:gd name="adj1" fmla="val 50000"/>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47" name="直接连接符 46"/>
            <p:cNvCxnSpPr/>
            <p:nvPr/>
          </p:nvCxnSpPr>
          <p:spPr bwMode="auto">
            <a:xfrm flipV="1">
              <a:off x="3239852" y="2744924"/>
              <a:ext cx="936104" cy="1044116"/>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48" name="直接箭头连接符 47"/>
            <p:cNvCxnSpPr/>
            <p:nvPr/>
          </p:nvCxnSpPr>
          <p:spPr bwMode="auto">
            <a:xfrm flipV="1">
              <a:off x="4175956" y="1772816"/>
              <a:ext cx="0" cy="972108"/>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grpSp>
        <p:nvGrpSpPr>
          <p:cNvPr id="49" name="组合 48"/>
          <p:cNvGrpSpPr>
            <a:grpSpLocks noChangeAspect="1"/>
          </p:cNvGrpSpPr>
          <p:nvPr/>
        </p:nvGrpSpPr>
        <p:grpSpPr>
          <a:xfrm>
            <a:off x="5357508" y="3268282"/>
            <a:ext cx="223282" cy="20056"/>
            <a:chOff x="2925847" y="3735779"/>
            <a:chExt cx="580667" cy="52160"/>
          </a:xfrm>
        </p:grpSpPr>
        <p:sp>
          <p:nvSpPr>
            <p:cNvPr id="50" name="矩形 49"/>
            <p:cNvSpPr>
              <a:spLocks noChangeAspect="1"/>
            </p:cNvSpPr>
            <p:nvPr/>
          </p:nvSpPr>
          <p:spPr bwMode="auto">
            <a:xfrm rot="2340000">
              <a:off x="2925847" y="3743244"/>
              <a:ext cx="580667" cy="44695"/>
            </a:xfrm>
            <a:prstGeom prst="rect">
              <a:avLst/>
            </a:prstGeom>
            <a:solidFill>
              <a:srgbClr val="FF0000"/>
            </a:solid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sp>
          <p:nvSpPr>
            <p:cNvPr id="51" name="矩形 50"/>
            <p:cNvSpPr>
              <a:spLocks noChangeAspect="1"/>
            </p:cNvSpPr>
            <p:nvPr/>
          </p:nvSpPr>
          <p:spPr bwMode="auto">
            <a:xfrm rot="19020000">
              <a:off x="2926306" y="3735779"/>
              <a:ext cx="571051" cy="44535"/>
            </a:xfrm>
            <a:prstGeom prst="rect">
              <a:avLst/>
            </a:prstGeom>
            <a:solidFill>
              <a:srgbClr val="FF0000"/>
            </a:solid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grpSp>
      <p:sp>
        <p:nvSpPr>
          <p:cNvPr id="52" name="文本框 25"/>
          <p:cNvSpPr txBox="1"/>
          <p:nvPr/>
        </p:nvSpPr>
        <p:spPr bwMode="auto">
          <a:xfrm>
            <a:off x="7260629" y="3424226"/>
            <a:ext cx="827084"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Backup</a:t>
            </a:r>
          </a:p>
        </p:txBody>
      </p:sp>
      <p:sp>
        <p:nvSpPr>
          <p:cNvPr id="53" name="文本框 26"/>
          <p:cNvSpPr txBox="1"/>
          <p:nvPr/>
        </p:nvSpPr>
        <p:spPr bwMode="auto">
          <a:xfrm>
            <a:off x="4090361" y="3431338"/>
            <a:ext cx="796756"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Master</a:t>
            </a:r>
          </a:p>
        </p:txBody>
      </p:sp>
      <p:cxnSp>
        <p:nvCxnSpPr>
          <p:cNvPr id="54" name="肘形连接符 53"/>
          <p:cNvCxnSpPr/>
          <p:nvPr/>
        </p:nvCxnSpPr>
        <p:spPr bwMode="auto">
          <a:xfrm rot="16200000" flipV="1">
            <a:off x="4684331" y="4032557"/>
            <a:ext cx="1656185" cy="900100"/>
          </a:xfrm>
          <a:prstGeom prst="bentConnector3">
            <a:avLst/>
          </a:prstGeom>
          <a:solidFill>
            <a:schemeClr val="accent1"/>
          </a:solidFill>
          <a:ln w="28575" cap="flat" cmpd="sng" algn="ctr">
            <a:solidFill>
              <a:srgbClr val="FFC000"/>
            </a:solidFill>
            <a:prstDash val="lgDash"/>
            <a:round/>
            <a:headEnd type="none" w="med" len="med"/>
            <a:tailEnd type="triangle"/>
          </a:ln>
          <a:effectLst/>
        </p:spPr>
      </p:cxnSp>
      <p:sp>
        <p:nvSpPr>
          <p:cNvPr id="56" name="AutoShape 21"/>
          <p:cNvSpPr>
            <a:spLocks noChangeArrowheads="1"/>
          </p:cNvSpPr>
          <p:nvPr/>
        </p:nvSpPr>
        <p:spPr bwMode="auto">
          <a:xfrm>
            <a:off x="1991545" y="4109104"/>
            <a:ext cx="2771562" cy="974551"/>
          </a:xfrm>
          <a:prstGeom prst="wedgeRectCallout">
            <a:avLst>
              <a:gd name="adj1" fmla="val 57823"/>
              <a:gd name="adj2" fmla="val -101489"/>
            </a:avLst>
          </a:prstGeom>
          <a:solidFill>
            <a:schemeClr val="bg1"/>
          </a:solidFill>
          <a:ln w="3175" algn="ctr">
            <a:solidFill>
              <a:srgbClr val="999999"/>
            </a:solidFill>
            <a:miter lim="800000"/>
            <a:headEnd/>
            <a:tailEnd/>
          </a:ln>
        </p:spPr>
        <p:txBody>
          <a:bodyPr lIns="36000" tIns="0" rIns="36000" bIns="0" anchor="ctr" anchorCtr="1"/>
          <a:lstStyle/>
          <a:p>
            <a:pPr fontAlgn="ctr"/>
            <a:r>
              <a:rPr lang="en-US" altLang="zh-CN" sz="1200" dirty="0">
                <a:latin typeface="+mn-ea"/>
                <a:ea typeface="+mn-ea"/>
              </a:rPr>
              <a:t>The uplink is Down, but the master and backup exchange packets normally and no switching is performed. Consequently, host access is abnormal.</a:t>
            </a:r>
            <a:endParaRPr lang="en-US" altLang="zh-CN" sz="1200" b="1" dirty="0">
              <a:latin typeface="+mn-ea"/>
              <a:ea typeface="+mn-ea"/>
            </a:endParaRPr>
          </a:p>
        </p:txBody>
      </p:sp>
      <p:sp>
        <p:nvSpPr>
          <p:cNvPr id="57" name="矩形 56"/>
          <p:cNvSpPr/>
          <p:nvPr/>
        </p:nvSpPr>
        <p:spPr bwMode="auto">
          <a:xfrm>
            <a:off x="4850183" y="3945176"/>
            <a:ext cx="540060" cy="167900"/>
          </a:xfrm>
          <a:prstGeom prst="rect">
            <a:avLst/>
          </a:prstGeom>
          <a:solidFill>
            <a:schemeClr val="accent3">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sz="800" dirty="0">
                <a:latin typeface="+mn-ea"/>
                <a:ea typeface="+mn-ea"/>
              </a:rPr>
              <a:t>VRRP</a:t>
            </a:r>
          </a:p>
        </p:txBody>
      </p:sp>
      <p:pic>
        <p:nvPicPr>
          <p:cNvPr id="60" name="图片 59" descr="internet-蓝.png"/>
          <p:cNvPicPr>
            <a:picLocks noChangeAspect="1"/>
          </p:cNvPicPr>
          <p:nvPr/>
        </p:nvPicPr>
        <p:blipFill>
          <a:blip r:embed="rId3" cstate="print"/>
          <a:stretch>
            <a:fillRect/>
          </a:stretch>
        </p:blipFill>
        <p:spPr>
          <a:xfrm>
            <a:off x="5443059" y="1414635"/>
            <a:ext cx="1205730" cy="612000"/>
          </a:xfrm>
          <a:prstGeom prst="rect">
            <a:avLst/>
          </a:prstGeom>
        </p:spPr>
      </p:pic>
      <p:pic>
        <p:nvPicPr>
          <p:cNvPr id="61" name="图片 60" descr="PC.png"/>
          <p:cNvPicPr>
            <a:picLocks noChangeAspect="1"/>
          </p:cNvPicPr>
          <p:nvPr/>
        </p:nvPicPr>
        <p:blipFill>
          <a:blip r:embed="rId4" cstate="print"/>
          <a:stretch>
            <a:fillRect/>
          </a:stretch>
        </p:blipFill>
        <p:spPr>
          <a:xfrm>
            <a:off x="5663952" y="4941168"/>
            <a:ext cx="750001" cy="576000"/>
          </a:xfrm>
          <a:prstGeom prst="rect">
            <a:avLst/>
          </a:prstGeom>
        </p:spPr>
      </p:pic>
      <p:pic>
        <p:nvPicPr>
          <p:cNvPr id="62" name="图片 6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5316" y="2417200"/>
            <a:ext cx="599339" cy="468000"/>
          </a:xfrm>
          <a:prstGeom prst="rect">
            <a:avLst/>
          </a:prstGeom>
        </p:spPr>
      </p:pic>
      <p:pic>
        <p:nvPicPr>
          <p:cNvPr id="63" name="图片 6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2785" y="3465004"/>
            <a:ext cx="599339" cy="468000"/>
          </a:xfrm>
          <a:prstGeom prst="rect">
            <a:avLst/>
          </a:prstGeom>
        </p:spPr>
      </p:pic>
      <p:pic>
        <p:nvPicPr>
          <p:cNvPr id="64" name="图片 6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58688" y="3501056"/>
            <a:ext cx="553236" cy="432000"/>
          </a:xfrm>
          <a:prstGeom prst="rect">
            <a:avLst/>
          </a:prstGeom>
        </p:spPr>
      </p:pic>
    </p:spTree>
    <p:extLst>
      <p:ext uri="{BB962C8B-B14F-4D97-AF65-F5344CB8AC3E}">
        <p14:creationId xmlns:p14="http://schemas.microsoft.com/office/powerpoint/2010/main" val="102700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repeatCount="10000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1000"/>
                                        <p:tgtEl>
                                          <p:spTgt spid="45"/>
                                        </p:tgtEl>
                                      </p:cBhvr>
                                    </p:animEffect>
                                  </p:childTnLst>
                                </p:cTn>
                              </p:par>
                              <p:par>
                                <p:cTn id="8" presetID="1" presetClass="entr" presetSubtype="0" fill="hold" grpId="1" nodeType="withEffect">
                                  <p:stCondLst>
                                    <p:cond delay="0"/>
                                  </p:stCondLst>
                                  <p:childTnLst>
                                    <p:set>
                                      <p:cBhvr>
                                        <p:cTn id="9" dur="1" fill="hold">
                                          <p:stCondLst>
                                            <p:cond delay="0"/>
                                          </p:stCondLst>
                                        </p:cTn>
                                        <p:tgtEl>
                                          <p:spTgt spid="57"/>
                                        </p:tgtEl>
                                        <p:attrNameLst>
                                          <p:attrName>style.visibility</p:attrName>
                                        </p:attrNameLst>
                                      </p:cBhvr>
                                      <p:to>
                                        <p:strVal val="visible"/>
                                      </p:to>
                                    </p:set>
                                  </p:childTnLst>
                                </p:cTn>
                              </p:par>
                              <p:par>
                                <p:cTn id="10" presetID="0" presetClass="path" presetSubtype="0" repeatCount="100000" accel="50000" decel="50000" fill="hold" grpId="0" nodeType="withEffect">
                                  <p:stCondLst>
                                    <p:cond delay="0"/>
                                  </p:stCondLst>
                                  <p:childTnLst>
                                    <p:animMotion origin="layout" path="M 8.33333E-7 0 L 8.33333E-7 0.05185 L 0.19861 0.0537 L 0.2 -0.06111 " pathEditMode="relative" rAng="0" ptsTypes="AAAA">
                                      <p:cBhvr>
                                        <p:cTn id="11" dur="2000" fill="hold"/>
                                        <p:tgtEl>
                                          <p:spTgt spid="57"/>
                                        </p:tgtEl>
                                        <p:attrNameLst>
                                          <p:attrName>ppt_x</p:attrName>
                                          <p:attrName>ppt_y</p:attrName>
                                        </p:attrNameLst>
                                      </p:cBhvr>
                                      <p:rCtr x="10000" y="-370"/>
                                    </p:animMotion>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9"/>
                                        </p:tgtEl>
                                        <p:attrNameLst>
                                          <p:attrName>style.visibility</p:attrName>
                                        </p:attrNameLst>
                                      </p:cBhvr>
                                      <p:to>
                                        <p:strVal val="visible"/>
                                      </p:to>
                                    </p:set>
                                  </p:childTnLst>
                                </p:cTn>
                              </p:par>
                              <p:par>
                                <p:cTn id="16" presetID="1" presetClass="exit" presetSubtype="0" fill="hold" nodeType="withEffect">
                                  <p:stCondLst>
                                    <p:cond delay="0"/>
                                  </p:stCondLst>
                                  <p:childTnLst>
                                    <p:set>
                                      <p:cBhvr>
                                        <p:cTn id="17" dur="1" fill="hold">
                                          <p:stCondLst>
                                            <p:cond delay="0"/>
                                          </p:stCondLst>
                                        </p:cTn>
                                        <p:tgtEl>
                                          <p:spTgt spid="45"/>
                                        </p:tgtEl>
                                        <p:attrNameLst>
                                          <p:attrName>style.visibility</p:attrName>
                                        </p:attrNameLst>
                                      </p:cBhvr>
                                      <p:to>
                                        <p:strVal val="hidden"/>
                                      </p:to>
                                    </p:set>
                                  </p:childTnLst>
                                </p:cTn>
                              </p:par>
                              <p:par>
                                <p:cTn id="18" presetID="0" presetClass="path" presetSubtype="0" repeatCount="100000" accel="50000" decel="50000" fill="hold" grpId="2" nodeType="withEffect">
                                  <p:stCondLst>
                                    <p:cond delay="0"/>
                                  </p:stCondLst>
                                  <p:childTnLst>
                                    <p:animMotion origin="layout" path="M 8.33333E-7 0 L 8.33333E-7 0.04838 L 0.19983 0.04838 L 0.20139 -0.06759 " pathEditMode="relative" rAng="0" ptsTypes="AAAA">
                                      <p:cBhvr>
                                        <p:cTn id="19" dur="2000" fill="hold"/>
                                        <p:tgtEl>
                                          <p:spTgt spid="57"/>
                                        </p:tgtEl>
                                        <p:attrNameLst>
                                          <p:attrName>ppt_x</p:attrName>
                                          <p:attrName>ppt_y</p:attrName>
                                        </p:attrNameLst>
                                      </p:cBhvr>
                                      <p:rCtr x="10069" y="-972"/>
                                    </p:animMotion>
                                  </p:childTnLst>
                                </p:cTn>
                              </p:par>
                            </p:childTnLst>
                          </p:cTn>
                        </p:par>
                      </p:childTnLst>
                    </p:cTn>
                  </p:par>
                  <p:par>
                    <p:cTn id="20" fill="hold">
                      <p:stCondLst>
                        <p:cond delay="indefinite"/>
                      </p:stCondLst>
                      <p:childTnLst>
                        <p:par>
                          <p:cTn id="21" fill="hold">
                            <p:stCondLst>
                              <p:cond delay="0"/>
                            </p:stCondLst>
                            <p:childTnLst>
                              <p:par>
                                <p:cTn id="22" presetID="22" presetClass="entr" presetSubtype="4" repeatCount="100000" fill="hold"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wipe(down)">
                                      <p:cBhvr>
                                        <p:cTn id="24" dur="1000"/>
                                        <p:tgtEl>
                                          <p:spTgt spid="5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wipe(left)">
                                      <p:cBhvr>
                                        <p:cTn id="29" dur="500"/>
                                        <p:tgtEl>
                                          <p:spTgt spid="56"/>
                                        </p:tgtEl>
                                      </p:cBhvr>
                                    </p:animEffect>
                                  </p:childTnLst>
                                </p:cTn>
                              </p:par>
                              <p:par>
                                <p:cTn id="30" presetID="0" presetClass="path" presetSubtype="0" repeatCount="100000" accel="50000" decel="50000" fill="hold" grpId="3" nodeType="withEffect">
                                  <p:stCondLst>
                                    <p:cond delay="0"/>
                                  </p:stCondLst>
                                  <p:childTnLst>
                                    <p:animMotion origin="layout" path="M 8.33333E-7 0 L 8.33333E-7 0.05648 L 0.20347 0.05417 L 0.20347 -0.05417 " pathEditMode="relative" rAng="0" ptsTypes="AAAA">
                                      <p:cBhvr>
                                        <p:cTn id="31" dur="2000" fill="hold"/>
                                        <p:tgtEl>
                                          <p:spTgt spid="57"/>
                                        </p:tgtEl>
                                        <p:attrNameLst>
                                          <p:attrName>ppt_x</p:attrName>
                                          <p:attrName>ppt_y</p:attrName>
                                        </p:attrNameLst>
                                      </p:cBhvr>
                                      <p:rCtr x="10174" y="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7" grpId="1" animBg="1"/>
      <p:bldP spid="57" grpId="2" animBg="1"/>
      <p:bldP spid="57" grpId="3"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121993268"/>
          <p:cNvSpPr>
            <a:spLocks noGrp="1"/>
          </p:cNvSpPr>
          <p:nvPr>
            <p:ph type="body" sz="quarter" idx="10"/>
          </p:nvPr>
        </p:nvSpPr>
        <p:spPr/>
        <p:txBody>
          <a:bodyPr/>
          <a:lstStyle/>
          <a:p>
            <a:r>
              <a:rPr lang="en-US" altLang="zh-CN" dirty="0" smtClean="0">
                <a:solidFill>
                  <a:schemeClr val="bg1">
                    <a:lumMod val="50000"/>
                  </a:schemeClr>
                </a:solidFill>
              </a:rPr>
              <a:t>VRRP Background and Overview</a:t>
            </a:r>
          </a:p>
          <a:p>
            <a:r>
              <a:rPr lang="en-US" altLang="zh-CN" dirty="0" smtClean="0">
                <a:solidFill>
                  <a:schemeClr val="bg1">
                    <a:lumMod val="50000"/>
                  </a:schemeClr>
                </a:solidFill>
              </a:rPr>
              <a:t>VRRP Active/Standby Switchover</a:t>
            </a:r>
          </a:p>
          <a:p>
            <a:r>
              <a:rPr lang="en-US" altLang="zh-CN" dirty="0" smtClean="0"/>
              <a:t>VRRP Load Balancing</a:t>
            </a:r>
          </a:p>
          <a:p>
            <a:r>
              <a:rPr lang="en-US" altLang="zh-CN" dirty="0" smtClean="0">
                <a:solidFill>
                  <a:schemeClr val="bg1">
                    <a:lumMod val="50000"/>
                  </a:schemeClr>
                </a:solidFill>
              </a:rPr>
              <a:t>Basic VRRP Configuration</a:t>
            </a:r>
            <a:endParaRPr lang="en-US" altLang="zh-CN" dirty="0">
              <a:solidFill>
                <a:schemeClr val="bg1">
                  <a:lumMod val="50000"/>
                </a:schemeClr>
              </a:solidFill>
            </a:endParaRPr>
          </a:p>
        </p:txBody>
      </p:sp>
    </p:spTree>
    <p:extLst>
      <p:ext uri="{BB962C8B-B14F-4D97-AF65-F5344CB8AC3E}">
        <p14:creationId xmlns:p14="http://schemas.microsoft.com/office/powerpoint/2010/main" val="456043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35623706"/>
          <p:cNvSpPr>
            <a:spLocks noGrp="1"/>
          </p:cNvSpPr>
          <p:nvPr>
            <p:ph type="title" idx="4294967295"/>
          </p:nvPr>
        </p:nvSpPr>
        <p:spPr>
          <a:xfrm>
            <a:off x="1631950" y="296652"/>
            <a:ext cx="10560050" cy="868363"/>
          </a:xfrm>
        </p:spPr>
        <p:txBody>
          <a:bodyPr/>
          <a:lstStyle/>
          <a:p>
            <a:r>
              <a:rPr lang="en-US" altLang="zh-CN" dirty="0" smtClean="0">
                <a:latin typeface="+mn-ea"/>
                <a:ea typeface="+mn-ea"/>
              </a:rPr>
              <a:t>VRRP Load Balancing Working Process</a:t>
            </a:r>
            <a:endParaRPr lang="en-US" altLang="zh-CN" dirty="0">
              <a:latin typeface="+mn-ea"/>
              <a:ea typeface="+mn-ea"/>
            </a:endParaRPr>
          </a:p>
        </p:txBody>
      </p:sp>
      <p:sp>
        <p:nvSpPr>
          <p:cNvPr id="43" name="Line 10"/>
          <p:cNvSpPr>
            <a:spLocks noChangeShapeType="1"/>
          </p:cNvSpPr>
          <p:nvPr/>
        </p:nvSpPr>
        <p:spPr bwMode="auto">
          <a:xfrm>
            <a:off x="3899756" y="4138623"/>
            <a:ext cx="4176000" cy="0"/>
          </a:xfrm>
          <a:prstGeom prst="line">
            <a:avLst/>
          </a:prstGeom>
          <a:noFill/>
          <a:ln w="28575">
            <a:solidFill>
              <a:schemeClr val="tx1"/>
            </a:solidFill>
            <a:round/>
            <a:headEnd type="none" w="sm" len="sm"/>
            <a:tailEnd type="none" w="sm" len="sm"/>
          </a:ln>
        </p:spPr>
        <p:txBody>
          <a:bodyPr wrap="none" anchor="ctr"/>
          <a:lstStyle/>
          <a:p>
            <a:endParaRPr lang="zh-CN" altLang="en-US">
              <a:latin typeface="+mn-ea"/>
              <a:ea typeface="+mn-ea"/>
            </a:endParaRPr>
          </a:p>
        </p:txBody>
      </p:sp>
      <p:cxnSp>
        <p:nvCxnSpPr>
          <p:cNvPr id="45" name="直接连接符 8"/>
          <p:cNvCxnSpPr>
            <a:cxnSpLocks noChangeShapeType="1"/>
          </p:cNvCxnSpPr>
          <p:nvPr/>
        </p:nvCxnSpPr>
        <p:spPr bwMode="auto">
          <a:xfrm>
            <a:off x="5987988" y="4138624"/>
            <a:ext cx="0" cy="78183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6" name="直接连接符 8"/>
          <p:cNvCxnSpPr>
            <a:cxnSpLocks noChangeShapeType="1"/>
          </p:cNvCxnSpPr>
          <p:nvPr/>
        </p:nvCxnSpPr>
        <p:spPr bwMode="auto">
          <a:xfrm>
            <a:off x="3890755" y="4138624"/>
            <a:ext cx="1" cy="78183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7" name="直接连接符 46"/>
          <p:cNvCxnSpPr>
            <a:cxnSpLocks noChangeShapeType="1"/>
          </p:cNvCxnSpPr>
          <p:nvPr/>
        </p:nvCxnSpPr>
        <p:spPr bwMode="auto">
          <a:xfrm>
            <a:off x="8076220" y="4138623"/>
            <a:ext cx="0" cy="71385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8" name="直接连接符 8"/>
          <p:cNvCxnSpPr>
            <a:cxnSpLocks noChangeShapeType="1"/>
          </p:cNvCxnSpPr>
          <p:nvPr/>
        </p:nvCxnSpPr>
        <p:spPr bwMode="auto">
          <a:xfrm>
            <a:off x="5135505" y="3449199"/>
            <a:ext cx="0" cy="684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 name="直接连接符 8"/>
          <p:cNvCxnSpPr>
            <a:cxnSpLocks noChangeShapeType="1"/>
          </p:cNvCxnSpPr>
          <p:nvPr/>
        </p:nvCxnSpPr>
        <p:spPr bwMode="auto">
          <a:xfrm>
            <a:off x="7003434" y="3429000"/>
            <a:ext cx="0" cy="684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 name="直接连接符 8"/>
          <p:cNvCxnSpPr>
            <a:cxnSpLocks noChangeShapeType="1"/>
          </p:cNvCxnSpPr>
          <p:nvPr/>
        </p:nvCxnSpPr>
        <p:spPr bwMode="auto">
          <a:xfrm flipH="1">
            <a:off x="5197523" y="2178394"/>
            <a:ext cx="560497" cy="66251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2" name="直接连接符 8"/>
          <p:cNvCxnSpPr>
            <a:cxnSpLocks noChangeShapeType="1"/>
          </p:cNvCxnSpPr>
          <p:nvPr/>
        </p:nvCxnSpPr>
        <p:spPr bwMode="auto">
          <a:xfrm>
            <a:off x="6467080" y="2178394"/>
            <a:ext cx="536355" cy="66251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55" name="文本框 13"/>
          <p:cNvSpPr txBox="1"/>
          <p:nvPr/>
        </p:nvSpPr>
        <p:spPr bwMode="auto">
          <a:xfrm>
            <a:off x="4534731" y="2420888"/>
            <a:ext cx="944808"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err="1">
                <a:solidFill>
                  <a:srgbClr val="000000"/>
                </a:solidFill>
                <a:latin typeface="+mn-ea"/>
                <a:ea typeface="+mn-ea"/>
                <a:cs typeface="Arial" pitchFamily="34" charset="0"/>
              </a:rPr>
              <a:t>RouterA</a:t>
            </a:r>
            <a:endParaRPr lang="en-US" altLang="zh-CN" sz="1400" b="1" dirty="0">
              <a:solidFill>
                <a:srgbClr val="000000"/>
              </a:solidFill>
              <a:latin typeface="+mn-ea"/>
              <a:ea typeface="+mn-ea"/>
              <a:cs typeface="Arial" pitchFamily="34" charset="0"/>
            </a:endParaRPr>
          </a:p>
        </p:txBody>
      </p:sp>
      <p:sp>
        <p:nvSpPr>
          <p:cNvPr id="57" name="文本框 14"/>
          <p:cNvSpPr txBox="1"/>
          <p:nvPr/>
        </p:nvSpPr>
        <p:spPr bwMode="auto">
          <a:xfrm>
            <a:off x="2975303" y="5656027"/>
            <a:ext cx="2074861" cy="531835"/>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000000"/>
                </a:solidFill>
                <a:latin typeface="+mn-ea"/>
                <a:ea typeface="+mn-ea"/>
                <a:cs typeface="Arial" pitchFamily="34" charset="0"/>
              </a:rPr>
              <a:t>Gateway:10.1.1.10</a:t>
            </a:r>
          </a:p>
          <a:p>
            <a:pPr algn="ctr" defTabSz="1001649" eaLnBrk="0" hangingPunct="0"/>
            <a:r>
              <a:rPr lang="en-US" altLang="zh-CN" sz="1400" dirty="0">
                <a:solidFill>
                  <a:srgbClr val="000000"/>
                </a:solidFill>
                <a:latin typeface="+mn-ea"/>
                <a:ea typeface="+mn-ea"/>
                <a:cs typeface="Arial" pitchFamily="34" charset="0"/>
              </a:rPr>
              <a:t>IP address:10.1.1.3/24</a:t>
            </a:r>
            <a:endParaRPr lang="zh-CN" altLang="en-US" sz="1400" dirty="0">
              <a:solidFill>
                <a:srgbClr val="000000"/>
              </a:solidFill>
              <a:latin typeface="+mn-ea"/>
              <a:ea typeface="+mn-ea"/>
              <a:cs typeface="Arial" pitchFamily="34" charset="0"/>
            </a:endParaRPr>
          </a:p>
        </p:txBody>
      </p:sp>
      <p:sp>
        <p:nvSpPr>
          <p:cNvPr id="61" name="文本框 15"/>
          <p:cNvSpPr txBox="1"/>
          <p:nvPr/>
        </p:nvSpPr>
        <p:spPr bwMode="auto">
          <a:xfrm>
            <a:off x="4992703" y="5661249"/>
            <a:ext cx="2074861" cy="531835"/>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000000"/>
                </a:solidFill>
                <a:latin typeface="+mn-ea"/>
                <a:ea typeface="+mn-ea"/>
                <a:cs typeface="Arial" pitchFamily="34" charset="0"/>
              </a:rPr>
              <a:t>Gateway:10.1.1.10</a:t>
            </a:r>
          </a:p>
          <a:p>
            <a:pPr algn="ctr" defTabSz="1001649" eaLnBrk="0" hangingPunct="0"/>
            <a:r>
              <a:rPr lang="en-US" altLang="zh-CN" sz="1400" dirty="0">
                <a:solidFill>
                  <a:srgbClr val="000000"/>
                </a:solidFill>
                <a:latin typeface="+mn-ea"/>
                <a:ea typeface="+mn-ea"/>
                <a:cs typeface="Arial" pitchFamily="34" charset="0"/>
              </a:rPr>
              <a:t>IP address:10.1.1.4/24</a:t>
            </a:r>
            <a:endParaRPr lang="zh-CN" altLang="en-US" sz="1400" dirty="0">
              <a:solidFill>
                <a:srgbClr val="000000"/>
              </a:solidFill>
              <a:latin typeface="+mn-ea"/>
              <a:ea typeface="+mn-ea"/>
              <a:cs typeface="Arial" pitchFamily="34" charset="0"/>
            </a:endParaRPr>
          </a:p>
        </p:txBody>
      </p:sp>
      <p:sp>
        <p:nvSpPr>
          <p:cNvPr id="62" name="文本框 16"/>
          <p:cNvSpPr txBox="1"/>
          <p:nvPr/>
        </p:nvSpPr>
        <p:spPr bwMode="auto">
          <a:xfrm>
            <a:off x="7188947" y="5661249"/>
            <a:ext cx="2074861" cy="531835"/>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dirty="0">
                <a:solidFill>
                  <a:srgbClr val="000000"/>
                </a:solidFill>
                <a:latin typeface="+mn-ea"/>
                <a:ea typeface="+mn-ea"/>
                <a:cs typeface="Arial" pitchFamily="34" charset="0"/>
              </a:rPr>
              <a:t>Gateway:10.1.1.11</a:t>
            </a:r>
          </a:p>
          <a:p>
            <a:pPr algn="ctr" defTabSz="1001649" eaLnBrk="0" hangingPunct="0"/>
            <a:r>
              <a:rPr lang="en-US" altLang="zh-CN" sz="1400" dirty="0">
                <a:solidFill>
                  <a:srgbClr val="000000"/>
                </a:solidFill>
                <a:latin typeface="+mn-ea"/>
                <a:ea typeface="+mn-ea"/>
                <a:cs typeface="Arial" pitchFamily="34" charset="0"/>
              </a:rPr>
              <a:t>IP address:10.1.1.5/24</a:t>
            </a:r>
            <a:endParaRPr lang="zh-CN" altLang="en-US" sz="1400" dirty="0">
              <a:solidFill>
                <a:srgbClr val="000000"/>
              </a:solidFill>
              <a:latin typeface="+mn-ea"/>
              <a:ea typeface="+mn-ea"/>
              <a:cs typeface="Arial" pitchFamily="34" charset="0"/>
            </a:endParaRPr>
          </a:p>
        </p:txBody>
      </p:sp>
      <p:sp>
        <p:nvSpPr>
          <p:cNvPr id="63" name="文本框 17"/>
          <p:cNvSpPr txBox="1"/>
          <p:nvPr/>
        </p:nvSpPr>
        <p:spPr bwMode="auto">
          <a:xfrm>
            <a:off x="6747663" y="2428532"/>
            <a:ext cx="933588"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err="1">
                <a:solidFill>
                  <a:srgbClr val="000000"/>
                </a:solidFill>
                <a:latin typeface="+mn-ea"/>
                <a:ea typeface="+mn-ea"/>
                <a:cs typeface="Arial" pitchFamily="34" charset="0"/>
              </a:rPr>
              <a:t>RouterB</a:t>
            </a:r>
            <a:endParaRPr lang="en-US" altLang="zh-CN" sz="1400" b="1" dirty="0">
              <a:solidFill>
                <a:srgbClr val="000000"/>
              </a:solidFill>
              <a:latin typeface="+mn-ea"/>
              <a:ea typeface="+mn-ea"/>
              <a:cs typeface="Arial" pitchFamily="34" charset="0"/>
            </a:endParaRPr>
          </a:p>
        </p:txBody>
      </p:sp>
      <p:sp>
        <p:nvSpPr>
          <p:cNvPr id="70" name="文本框 25"/>
          <p:cNvSpPr txBox="1"/>
          <p:nvPr/>
        </p:nvSpPr>
        <p:spPr bwMode="auto">
          <a:xfrm flipH="1">
            <a:off x="7074079" y="2888940"/>
            <a:ext cx="1778623" cy="60878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100" dirty="0">
                <a:solidFill>
                  <a:srgbClr val="000000"/>
                </a:solidFill>
                <a:latin typeface="+mn-ea"/>
                <a:ea typeface="+mn-ea"/>
                <a:cs typeface="Arial" pitchFamily="34" charset="0"/>
              </a:rPr>
              <a:t>vrid1</a:t>
            </a:r>
          </a:p>
          <a:p>
            <a:pPr algn="ctr" defTabSz="1001649" eaLnBrk="0" hangingPunct="0"/>
            <a:r>
              <a:rPr lang="en-US" altLang="zh-CN" sz="1100" dirty="0">
                <a:solidFill>
                  <a:srgbClr val="000000"/>
                </a:solidFill>
                <a:latin typeface="+mn-ea"/>
                <a:ea typeface="+mn-ea"/>
                <a:cs typeface="Arial" pitchFamily="34" charset="0"/>
              </a:rPr>
              <a:t>virtual </a:t>
            </a:r>
            <a:r>
              <a:rPr lang="en-US" altLang="zh-CN" sz="1100" dirty="0" err="1">
                <a:solidFill>
                  <a:srgbClr val="000000"/>
                </a:solidFill>
                <a:latin typeface="+mn-ea"/>
                <a:ea typeface="+mn-ea"/>
                <a:cs typeface="Arial" pitchFamily="34" charset="0"/>
              </a:rPr>
              <a:t>ip</a:t>
            </a:r>
            <a:r>
              <a:rPr lang="en-US" altLang="zh-CN" sz="1100" dirty="0">
                <a:solidFill>
                  <a:srgbClr val="000000"/>
                </a:solidFill>
                <a:latin typeface="+mn-ea"/>
                <a:ea typeface="+mn-ea"/>
                <a:cs typeface="Arial" pitchFamily="34" charset="0"/>
              </a:rPr>
              <a:t> :10.0.0.10</a:t>
            </a:r>
          </a:p>
          <a:p>
            <a:pPr algn="ctr" defTabSz="1001649" eaLnBrk="0" hangingPunct="0"/>
            <a:r>
              <a:rPr lang="en-US" altLang="zh-CN" sz="1100" dirty="0">
                <a:solidFill>
                  <a:srgbClr val="000000"/>
                </a:solidFill>
                <a:latin typeface="+mn-ea"/>
                <a:ea typeface="+mn-ea"/>
                <a:cs typeface="Arial" pitchFamily="34" charset="0"/>
              </a:rPr>
              <a:t>Backup</a:t>
            </a:r>
            <a:endParaRPr lang="zh-CN" altLang="en-US" sz="1100" dirty="0">
              <a:solidFill>
                <a:srgbClr val="000000"/>
              </a:solidFill>
              <a:latin typeface="+mn-ea"/>
              <a:ea typeface="+mn-ea"/>
              <a:cs typeface="Arial" pitchFamily="34" charset="0"/>
            </a:endParaRPr>
          </a:p>
        </p:txBody>
      </p:sp>
      <p:sp>
        <p:nvSpPr>
          <p:cNvPr id="71" name="文本框 26"/>
          <p:cNvSpPr txBox="1"/>
          <p:nvPr/>
        </p:nvSpPr>
        <p:spPr bwMode="auto">
          <a:xfrm>
            <a:off x="7052502" y="3396284"/>
            <a:ext cx="1815807" cy="60878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100" dirty="0">
                <a:solidFill>
                  <a:srgbClr val="000000"/>
                </a:solidFill>
                <a:latin typeface="+mn-ea"/>
                <a:ea typeface="+mn-ea"/>
                <a:cs typeface="Arial" pitchFamily="34" charset="0"/>
              </a:rPr>
              <a:t>vrid2</a:t>
            </a:r>
          </a:p>
          <a:p>
            <a:pPr algn="ctr" defTabSz="1001649" eaLnBrk="0" hangingPunct="0"/>
            <a:r>
              <a:rPr lang="en-US" altLang="zh-CN" sz="1100" dirty="0">
                <a:solidFill>
                  <a:srgbClr val="000000"/>
                </a:solidFill>
                <a:latin typeface="+mn-ea"/>
                <a:ea typeface="+mn-ea"/>
                <a:cs typeface="Arial" pitchFamily="34" charset="0"/>
              </a:rPr>
              <a:t>virtual </a:t>
            </a:r>
            <a:r>
              <a:rPr lang="en-US" altLang="zh-CN" sz="1100" dirty="0" err="1">
                <a:solidFill>
                  <a:srgbClr val="000000"/>
                </a:solidFill>
                <a:latin typeface="+mn-ea"/>
                <a:ea typeface="+mn-ea"/>
                <a:cs typeface="Arial" pitchFamily="34" charset="0"/>
              </a:rPr>
              <a:t>ip</a:t>
            </a:r>
            <a:r>
              <a:rPr lang="en-US" altLang="zh-CN" sz="1100" dirty="0">
                <a:solidFill>
                  <a:srgbClr val="000000"/>
                </a:solidFill>
                <a:latin typeface="+mn-ea"/>
                <a:ea typeface="+mn-ea"/>
                <a:cs typeface="Arial" pitchFamily="34" charset="0"/>
              </a:rPr>
              <a:t> :10.0.0.11</a:t>
            </a:r>
          </a:p>
          <a:p>
            <a:pPr algn="ctr" defTabSz="1001649" eaLnBrk="0" hangingPunct="0"/>
            <a:r>
              <a:rPr lang="en-US" altLang="zh-CN" sz="1100" dirty="0">
                <a:solidFill>
                  <a:srgbClr val="000000"/>
                </a:solidFill>
                <a:latin typeface="+mn-ea"/>
                <a:ea typeface="+mn-ea"/>
                <a:cs typeface="Arial" pitchFamily="34" charset="0"/>
              </a:rPr>
              <a:t>Master</a:t>
            </a:r>
            <a:endParaRPr lang="zh-CN" altLang="en-US" sz="1100" dirty="0">
              <a:solidFill>
                <a:srgbClr val="000000"/>
              </a:solidFill>
              <a:latin typeface="+mn-ea"/>
              <a:ea typeface="+mn-ea"/>
              <a:cs typeface="Arial" pitchFamily="34" charset="0"/>
            </a:endParaRPr>
          </a:p>
        </p:txBody>
      </p:sp>
      <p:sp>
        <p:nvSpPr>
          <p:cNvPr id="72" name="文本框 27"/>
          <p:cNvSpPr txBox="1"/>
          <p:nvPr/>
        </p:nvSpPr>
        <p:spPr bwMode="auto">
          <a:xfrm flipH="1">
            <a:off x="3256314" y="2888939"/>
            <a:ext cx="1707611" cy="60878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100" dirty="0">
                <a:solidFill>
                  <a:srgbClr val="000000"/>
                </a:solidFill>
                <a:latin typeface="+mn-ea"/>
                <a:ea typeface="+mn-ea"/>
                <a:cs typeface="Arial" pitchFamily="34" charset="0"/>
              </a:rPr>
              <a:t>vrid1</a:t>
            </a:r>
          </a:p>
          <a:p>
            <a:pPr algn="ctr" defTabSz="1001649" eaLnBrk="0" hangingPunct="0"/>
            <a:r>
              <a:rPr lang="en-US" altLang="zh-CN" sz="1100" dirty="0">
                <a:solidFill>
                  <a:srgbClr val="000000"/>
                </a:solidFill>
                <a:latin typeface="+mn-ea"/>
                <a:ea typeface="+mn-ea"/>
                <a:cs typeface="Arial" pitchFamily="34" charset="0"/>
              </a:rPr>
              <a:t>virtual </a:t>
            </a:r>
            <a:r>
              <a:rPr lang="en-US" altLang="zh-CN" sz="1100" dirty="0" err="1">
                <a:solidFill>
                  <a:srgbClr val="000000"/>
                </a:solidFill>
                <a:latin typeface="+mn-ea"/>
                <a:ea typeface="+mn-ea"/>
                <a:cs typeface="Arial" pitchFamily="34" charset="0"/>
              </a:rPr>
              <a:t>ip</a:t>
            </a:r>
            <a:r>
              <a:rPr lang="en-US" altLang="zh-CN" sz="1100" dirty="0">
                <a:solidFill>
                  <a:srgbClr val="000000"/>
                </a:solidFill>
                <a:latin typeface="+mn-ea"/>
                <a:ea typeface="+mn-ea"/>
                <a:cs typeface="Arial" pitchFamily="34" charset="0"/>
              </a:rPr>
              <a:t> :10.0.0.10</a:t>
            </a:r>
          </a:p>
          <a:p>
            <a:pPr algn="ctr" defTabSz="1001649" eaLnBrk="0" hangingPunct="0"/>
            <a:r>
              <a:rPr lang="en-US" altLang="zh-CN" sz="1100" dirty="0">
                <a:solidFill>
                  <a:srgbClr val="000000"/>
                </a:solidFill>
                <a:latin typeface="+mn-ea"/>
                <a:ea typeface="+mn-ea"/>
                <a:cs typeface="Arial" pitchFamily="34" charset="0"/>
              </a:rPr>
              <a:t>Master</a:t>
            </a:r>
            <a:endParaRPr lang="zh-CN" altLang="en-US" sz="1100" dirty="0">
              <a:solidFill>
                <a:srgbClr val="000000"/>
              </a:solidFill>
              <a:latin typeface="+mn-ea"/>
              <a:ea typeface="+mn-ea"/>
              <a:cs typeface="Arial" pitchFamily="34" charset="0"/>
            </a:endParaRPr>
          </a:p>
        </p:txBody>
      </p:sp>
      <p:sp>
        <p:nvSpPr>
          <p:cNvPr id="73" name="文本框 28"/>
          <p:cNvSpPr txBox="1"/>
          <p:nvPr/>
        </p:nvSpPr>
        <p:spPr bwMode="auto">
          <a:xfrm>
            <a:off x="3184305" y="3376787"/>
            <a:ext cx="1991199" cy="623621"/>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100" dirty="0">
                <a:solidFill>
                  <a:srgbClr val="000000"/>
                </a:solidFill>
                <a:latin typeface="+mn-ea"/>
                <a:ea typeface="+mn-ea"/>
                <a:cs typeface="Arial" pitchFamily="34" charset="0"/>
              </a:rPr>
              <a:t>vrid2</a:t>
            </a:r>
          </a:p>
          <a:p>
            <a:pPr algn="ctr" defTabSz="1001649" eaLnBrk="0" hangingPunct="0"/>
            <a:r>
              <a:rPr lang="en-US" altLang="zh-CN" sz="1100" dirty="0">
                <a:solidFill>
                  <a:srgbClr val="000000"/>
                </a:solidFill>
                <a:latin typeface="+mn-ea"/>
                <a:ea typeface="+mn-ea"/>
                <a:cs typeface="Arial" pitchFamily="34" charset="0"/>
              </a:rPr>
              <a:t>virtual </a:t>
            </a:r>
            <a:r>
              <a:rPr lang="en-US" altLang="zh-CN" sz="1100" dirty="0" err="1">
                <a:solidFill>
                  <a:srgbClr val="000000"/>
                </a:solidFill>
                <a:latin typeface="+mn-ea"/>
                <a:ea typeface="+mn-ea"/>
                <a:cs typeface="Arial" pitchFamily="34" charset="0"/>
              </a:rPr>
              <a:t>ip</a:t>
            </a:r>
            <a:r>
              <a:rPr lang="en-US" altLang="zh-CN" sz="1100" dirty="0">
                <a:solidFill>
                  <a:srgbClr val="000000"/>
                </a:solidFill>
                <a:latin typeface="+mn-ea"/>
                <a:ea typeface="+mn-ea"/>
                <a:cs typeface="Arial" pitchFamily="34" charset="0"/>
              </a:rPr>
              <a:t> :10.0.0.11</a:t>
            </a:r>
          </a:p>
          <a:p>
            <a:pPr algn="ctr" defTabSz="1001649" eaLnBrk="0" hangingPunct="0"/>
            <a:r>
              <a:rPr lang="en-US" altLang="zh-CN" sz="1100" dirty="0">
                <a:solidFill>
                  <a:srgbClr val="000000"/>
                </a:solidFill>
                <a:latin typeface="+mn-ea"/>
                <a:ea typeface="+mn-ea"/>
                <a:cs typeface="Arial" pitchFamily="34" charset="0"/>
              </a:rPr>
              <a:t>Backup</a:t>
            </a:r>
            <a:endParaRPr lang="zh-CN" altLang="en-US" sz="1100" dirty="0">
              <a:solidFill>
                <a:srgbClr val="000000"/>
              </a:solidFill>
              <a:latin typeface="+mn-ea"/>
              <a:ea typeface="+mn-ea"/>
              <a:cs typeface="Arial" pitchFamily="34" charset="0"/>
            </a:endParaRPr>
          </a:p>
        </p:txBody>
      </p:sp>
      <p:sp>
        <p:nvSpPr>
          <p:cNvPr id="74" name="矩形标注 73"/>
          <p:cNvSpPr/>
          <p:nvPr/>
        </p:nvSpPr>
        <p:spPr bwMode="auto">
          <a:xfrm>
            <a:off x="2187428" y="1556792"/>
            <a:ext cx="2457341" cy="927064"/>
          </a:xfrm>
          <a:prstGeom prst="wedgeRectCallout">
            <a:avLst>
              <a:gd name="adj1" fmla="val 42204"/>
              <a:gd name="adj2" fmla="val 92661"/>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ctr"/>
            <a:r>
              <a:rPr lang="en-US" altLang="zh-CN" sz="1400" dirty="0">
                <a:latin typeface="+mn-ea"/>
                <a:ea typeface="+mn-ea"/>
              </a:rPr>
              <a:t>Traditionally, all traffic is forwarded by the master in active/standby mode. The master is overloaded.</a:t>
            </a:r>
          </a:p>
        </p:txBody>
      </p:sp>
      <p:sp>
        <p:nvSpPr>
          <p:cNvPr id="75" name="矩形标注 74"/>
          <p:cNvSpPr/>
          <p:nvPr/>
        </p:nvSpPr>
        <p:spPr bwMode="auto">
          <a:xfrm>
            <a:off x="7661355" y="1519686"/>
            <a:ext cx="2647113" cy="937786"/>
          </a:xfrm>
          <a:prstGeom prst="wedgeRectCallout">
            <a:avLst>
              <a:gd name="adj1" fmla="val -52770"/>
              <a:gd name="adj2" fmla="val 75223"/>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ctr"/>
            <a:r>
              <a:rPr lang="en-US" altLang="zh-CN" sz="1200" dirty="0">
                <a:latin typeface="+mn-ea"/>
                <a:ea typeface="+mn-ea"/>
              </a:rPr>
              <a:t>You can configure different VRRP groups so that </a:t>
            </a:r>
            <a:r>
              <a:rPr lang="en-US" altLang="zh-CN" sz="1200" dirty="0" err="1">
                <a:latin typeface="+mn-ea"/>
                <a:ea typeface="+mn-ea"/>
              </a:rPr>
              <a:t>RouterB</a:t>
            </a:r>
            <a:r>
              <a:rPr lang="en-US" altLang="zh-CN" sz="1200" dirty="0">
                <a:latin typeface="+mn-ea"/>
                <a:ea typeface="+mn-ea"/>
              </a:rPr>
              <a:t> becomes the master of the new VRRP group to load balance traffic.</a:t>
            </a:r>
          </a:p>
        </p:txBody>
      </p:sp>
      <p:sp>
        <p:nvSpPr>
          <p:cNvPr id="76" name="任意多边形 75"/>
          <p:cNvSpPr/>
          <p:nvPr/>
        </p:nvSpPr>
        <p:spPr bwMode="auto">
          <a:xfrm>
            <a:off x="3841898" y="1926913"/>
            <a:ext cx="2254102" cy="2934586"/>
          </a:xfrm>
          <a:custGeom>
            <a:avLst/>
            <a:gdLst>
              <a:gd name="connsiteX0" fmla="*/ 0 w 2254102"/>
              <a:gd name="connsiteY0" fmla="*/ 2934586 h 2934586"/>
              <a:gd name="connsiteX1" fmla="*/ 10632 w 2254102"/>
              <a:gd name="connsiteY1" fmla="*/ 2137144 h 2934586"/>
              <a:gd name="connsiteX2" fmla="*/ 1244009 w 2254102"/>
              <a:gd name="connsiteY2" fmla="*/ 2137144 h 2934586"/>
              <a:gd name="connsiteX3" fmla="*/ 1244009 w 2254102"/>
              <a:gd name="connsiteY3" fmla="*/ 1158949 h 2934586"/>
              <a:gd name="connsiteX4" fmla="*/ 2254102 w 2254102"/>
              <a:gd name="connsiteY4" fmla="*/ 0 h 2934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102" h="2934586">
                <a:moveTo>
                  <a:pt x="0" y="2934586"/>
                </a:moveTo>
                <a:lnTo>
                  <a:pt x="10632" y="2137144"/>
                </a:lnTo>
                <a:lnTo>
                  <a:pt x="1244009" y="2137144"/>
                </a:lnTo>
                <a:lnTo>
                  <a:pt x="1244009" y="1158949"/>
                </a:lnTo>
                <a:lnTo>
                  <a:pt x="2254102" y="0"/>
                </a:lnTo>
              </a:path>
            </a:pathLst>
          </a:custGeom>
          <a:noFill/>
          <a:ln w="25400" cap="flat" cmpd="sng" algn="ctr">
            <a:solidFill>
              <a:srgbClr val="C0000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sp>
        <p:nvSpPr>
          <p:cNvPr id="77" name="任意多边形 76"/>
          <p:cNvSpPr/>
          <p:nvPr/>
        </p:nvSpPr>
        <p:spPr bwMode="auto">
          <a:xfrm>
            <a:off x="5177494" y="2060849"/>
            <a:ext cx="882502" cy="2806995"/>
          </a:xfrm>
          <a:custGeom>
            <a:avLst/>
            <a:gdLst>
              <a:gd name="connsiteX0" fmla="*/ 744279 w 882502"/>
              <a:gd name="connsiteY0" fmla="*/ 2806995 h 2806995"/>
              <a:gd name="connsiteX1" fmla="*/ 754912 w 882502"/>
              <a:gd name="connsiteY1" fmla="*/ 2009553 h 2806995"/>
              <a:gd name="connsiteX2" fmla="*/ 10633 w 882502"/>
              <a:gd name="connsiteY2" fmla="*/ 2009553 h 2806995"/>
              <a:gd name="connsiteX3" fmla="*/ 0 w 882502"/>
              <a:gd name="connsiteY3" fmla="*/ 1041990 h 2806995"/>
              <a:gd name="connsiteX4" fmla="*/ 882502 w 882502"/>
              <a:gd name="connsiteY4" fmla="*/ 0 h 2806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02" h="2806995">
                <a:moveTo>
                  <a:pt x="744279" y="2806995"/>
                </a:moveTo>
                <a:lnTo>
                  <a:pt x="754912" y="2009553"/>
                </a:lnTo>
                <a:lnTo>
                  <a:pt x="10633" y="2009553"/>
                </a:lnTo>
                <a:lnTo>
                  <a:pt x="0" y="1041990"/>
                </a:lnTo>
                <a:lnTo>
                  <a:pt x="882502" y="0"/>
                </a:lnTo>
              </a:path>
            </a:pathLst>
          </a:custGeom>
          <a:noFill/>
          <a:ln w="25400" cap="flat" cmpd="sng" algn="ctr">
            <a:solidFill>
              <a:srgbClr val="00B0F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sp>
        <p:nvSpPr>
          <p:cNvPr id="78" name="任意多边形 77"/>
          <p:cNvSpPr/>
          <p:nvPr/>
        </p:nvSpPr>
        <p:spPr bwMode="auto">
          <a:xfrm>
            <a:off x="6204013" y="1916832"/>
            <a:ext cx="1850065" cy="2952328"/>
          </a:xfrm>
          <a:custGeom>
            <a:avLst/>
            <a:gdLst>
              <a:gd name="connsiteX0" fmla="*/ 1850065 w 1850065"/>
              <a:gd name="connsiteY0" fmla="*/ 2817628 h 2817628"/>
              <a:gd name="connsiteX1" fmla="*/ 1839433 w 1850065"/>
              <a:gd name="connsiteY1" fmla="*/ 2062717 h 2817628"/>
              <a:gd name="connsiteX2" fmla="*/ 871870 w 1850065"/>
              <a:gd name="connsiteY2" fmla="*/ 2062717 h 2817628"/>
              <a:gd name="connsiteX3" fmla="*/ 871870 w 1850065"/>
              <a:gd name="connsiteY3" fmla="*/ 1020726 h 2817628"/>
              <a:gd name="connsiteX4" fmla="*/ 0 w 1850065"/>
              <a:gd name="connsiteY4" fmla="*/ 0 h 2817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0065" h="2817628">
                <a:moveTo>
                  <a:pt x="1850065" y="2817628"/>
                </a:moveTo>
                <a:lnTo>
                  <a:pt x="1839433" y="2062717"/>
                </a:lnTo>
                <a:lnTo>
                  <a:pt x="871870" y="2062717"/>
                </a:lnTo>
                <a:lnTo>
                  <a:pt x="871870" y="1020726"/>
                </a:lnTo>
                <a:lnTo>
                  <a:pt x="0" y="0"/>
                </a:lnTo>
              </a:path>
            </a:pathLst>
          </a:custGeom>
          <a:noFill/>
          <a:ln w="25400" cap="flat" cmpd="sng" algn="ctr">
            <a:solidFill>
              <a:srgbClr val="00B05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grpSp>
        <p:nvGrpSpPr>
          <p:cNvPr id="79" name="组合 78"/>
          <p:cNvGrpSpPr/>
          <p:nvPr/>
        </p:nvGrpSpPr>
        <p:grpSpPr>
          <a:xfrm>
            <a:off x="5293280" y="2096852"/>
            <a:ext cx="2710933" cy="2808312"/>
            <a:chOff x="3769279" y="2132856"/>
            <a:chExt cx="2710933" cy="2808312"/>
          </a:xfrm>
        </p:grpSpPr>
        <p:grpSp>
          <p:nvGrpSpPr>
            <p:cNvPr id="80" name="组合 53"/>
            <p:cNvGrpSpPr/>
            <p:nvPr/>
          </p:nvGrpSpPr>
          <p:grpSpPr>
            <a:xfrm>
              <a:off x="3769279" y="3212976"/>
              <a:ext cx="2710933" cy="1728192"/>
              <a:chOff x="3769279" y="3147237"/>
              <a:chExt cx="2710933" cy="1728192"/>
            </a:xfrm>
          </p:grpSpPr>
          <p:cxnSp>
            <p:nvCxnSpPr>
              <p:cNvPr id="82" name="直接连接符 81"/>
              <p:cNvCxnSpPr/>
              <p:nvPr/>
            </p:nvCxnSpPr>
            <p:spPr bwMode="auto">
              <a:xfrm flipH="1" flipV="1">
                <a:off x="6480212" y="4083341"/>
                <a:ext cx="0" cy="792088"/>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83" name="直接连接符 82"/>
              <p:cNvCxnSpPr/>
              <p:nvPr/>
            </p:nvCxnSpPr>
            <p:spPr bwMode="auto">
              <a:xfrm flipH="1" flipV="1">
                <a:off x="3805579" y="4083341"/>
                <a:ext cx="2664000" cy="0"/>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84" name="直接连接符 83"/>
              <p:cNvCxnSpPr/>
              <p:nvPr/>
            </p:nvCxnSpPr>
            <p:spPr bwMode="auto">
              <a:xfrm flipH="1" flipV="1">
                <a:off x="3769279" y="3147237"/>
                <a:ext cx="10633" cy="967563"/>
              </a:xfrm>
              <a:prstGeom prst="line">
                <a:avLst/>
              </a:prstGeom>
              <a:solidFill>
                <a:schemeClr val="accent1"/>
              </a:solidFill>
              <a:ln w="28575" cap="flat" cmpd="sng" algn="ctr">
                <a:solidFill>
                  <a:srgbClr val="00B050"/>
                </a:solidFill>
                <a:prstDash val="lgDash"/>
                <a:round/>
                <a:headEnd type="none" w="med" len="med"/>
                <a:tailEnd type="none" w="med" len="med"/>
              </a:ln>
              <a:effectLst/>
            </p:spPr>
          </p:cxnSp>
        </p:grpSp>
        <p:cxnSp>
          <p:nvCxnSpPr>
            <p:cNvPr id="81" name="直接箭头连接符 80"/>
            <p:cNvCxnSpPr/>
            <p:nvPr/>
          </p:nvCxnSpPr>
          <p:spPr bwMode="auto">
            <a:xfrm flipV="1">
              <a:off x="3779912" y="2132856"/>
              <a:ext cx="864096" cy="1044116"/>
            </a:xfrm>
            <a:prstGeom prst="straightConnector1">
              <a:avLst/>
            </a:prstGeom>
            <a:solidFill>
              <a:schemeClr val="accent1"/>
            </a:solidFill>
            <a:ln w="28575" cap="flat" cmpd="sng" algn="ctr">
              <a:solidFill>
                <a:srgbClr val="00B050"/>
              </a:solidFill>
              <a:prstDash val="lgDash"/>
              <a:round/>
              <a:headEnd type="none" w="med" len="med"/>
              <a:tailEnd type="triangle"/>
            </a:ln>
            <a:effectLst/>
          </p:spPr>
        </p:cxnSp>
      </p:grpSp>
      <p:sp>
        <p:nvSpPr>
          <p:cNvPr id="85" name="文本框 57"/>
          <p:cNvSpPr txBox="1"/>
          <p:nvPr/>
        </p:nvSpPr>
        <p:spPr bwMode="auto">
          <a:xfrm>
            <a:off x="3532109" y="5457327"/>
            <a:ext cx="764567"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err="1">
                <a:solidFill>
                  <a:srgbClr val="000000"/>
                </a:solidFill>
                <a:latin typeface="+mn-ea"/>
                <a:ea typeface="+mn-ea"/>
                <a:cs typeface="Arial" pitchFamily="34" charset="0"/>
              </a:rPr>
              <a:t>HostA</a:t>
            </a:r>
            <a:endParaRPr lang="en-US" altLang="zh-CN" sz="1400" b="1" dirty="0">
              <a:solidFill>
                <a:srgbClr val="000000"/>
              </a:solidFill>
              <a:latin typeface="+mn-ea"/>
              <a:ea typeface="+mn-ea"/>
              <a:cs typeface="Arial" pitchFamily="34" charset="0"/>
            </a:endParaRPr>
          </a:p>
        </p:txBody>
      </p:sp>
      <p:sp>
        <p:nvSpPr>
          <p:cNvPr id="86" name="文本框 58"/>
          <p:cNvSpPr txBox="1"/>
          <p:nvPr/>
        </p:nvSpPr>
        <p:spPr bwMode="auto">
          <a:xfrm>
            <a:off x="5646256" y="5445224"/>
            <a:ext cx="753346"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err="1">
                <a:solidFill>
                  <a:srgbClr val="000000"/>
                </a:solidFill>
                <a:latin typeface="+mn-ea"/>
                <a:ea typeface="+mn-ea"/>
                <a:cs typeface="Arial" pitchFamily="34" charset="0"/>
              </a:rPr>
              <a:t>HostB</a:t>
            </a:r>
            <a:endParaRPr lang="en-US" altLang="zh-CN" sz="1400" b="1" dirty="0">
              <a:solidFill>
                <a:srgbClr val="000000"/>
              </a:solidFill>
              <a:latin typeface="+mn-ea"/>
              <a:ea typeface="+mn-ea"/>
              <a:cs typeface="Arial" pitchFamily="34" charset="0"/>
            </a:endParaRPr>
          </a:p>
        </p:txBody>
      </p:sp>
      <p:sp>
        <p:nvSpPr>
          <p:cNvPr id="87" name="文本框 59"/>
          <p:cNvSpPr txBox="1"/>
          <p:nvPr/>
        </p:nvSpPr>
        <p:spPr bwMode="auto">
          <a:xfrm>
            <a:off x="7776103" y="5445224"/>
            <a:ext cx="750140"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err="1">
                <a:solidFill>
                  <a:srgbClr val="000000"/>
                </a:solidFill>
                <a:latin typeface="+mn-ea"/>
                <a:ea typeface="+mn-ea"/>
                <a:cs typeface="Arial" pitchFamily="34" charset="0"/>
              </a:rPr>
              <a:t>HostC</a:t>
            </a:r>
            <a:endParaRPr lang="en-US" altLang="zh-CN" sz="1400" b="1" dirty="0">
              <a:solidFill>
                <a:srgbClr val="000000"/>
              </a:solidFill>
              <a:latin typeface="+mn-ea"/>
              <a:ea typeface="+mn-ea"/>
              <a:cs typeface="Arial" pitchFamily="34" charset="0"/>
            </a:endParaRPr>
          </a:p>
        </p:txBody>
      </p:sp>
      <p:sp>
        <p:nvSpPr>
          <p:cNvPr id="88" name="文本框 1"/>
          <p:cNvSpPr txBox="1"/>
          <p:nvPr/>
        </p:nvSpPr>
        <p:spPr bwMode="auto">
          <a:xfrm>
            <a:off x="4295800" y="2636912"/>
            <a:ext cx="792088"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Master</a:t>
            </a:r>
            <a:endParaRPr lang="zh-CN" altLang="en-US" sz="1400" dirty="0">
              <a:solidFill>
                <a:srgbClr val="C00000"/>
              </a:solidFill>
              <a:latin typeface="+mn-ea"/>
              <a:ea typeface="+mn-ea"/>
              <a:cs typeface="Arial" pitchFamily="34" charset="0"/>
            </a:endParaRPr>
          </a:p>
        </p:txBody>
      </p:sp>
      <p:sp>
        <p:nvSpPr>
          <p:cNvPr id="89" name="文本框 41"/>
          <p:cNvSpPr txBox="1"/>
          <p:nvPr/>
        </p:nvSpPr>
        <p:spPr bwMode="auto">
          <a:xfrm>
            <a:off x="7126811" y="2636913"/>
            <a:ext cx="841397"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C00000"/>
                </a:solidFill>
                <a:latin typeface="+mn-ea"/>
                <a:ea typeface="+mn-ea"/>
                <a:cs typeface="Arial" pitchFamily="34" charset="0"/>
              </a:rPr>
              <a:t>Backup</a:t>
            </a:r>
            <a:endParaRPr lang="zh-CN" altLang="en-US" sz="1400" dirty="0">
              <a:solidFill>
                <a:srgbClr val="C00000"/>
              </a:solidFill>
              <a:latin typeface="+mn-ea"/>
              <a:ea typeface="+mn-ea"/>
              <a:cs typeface="Arial" pitchFamily="34" charset="0"/>
            </a:endParaRPr>
          </a:p>
        </p:txBody>
      </p:sp>
      <p:sp>
        <p:nvSpPr>
          <p:cNvPr id="90" name="矩形标注 89"/>
          <p:cNvSpPr/>
          <p:nvPr/>
        </p:nvSpPr>
        <p:spPr bwMode="auto">
          <a:xfrm>
            <a:off x="8162089" y="2665272"/>
            <a:ext cx="1006533" cy="288032"/>
          </a:xfrm>
          <a:prstGeom prst="wedgeRectCallout">
            <a:avLst>
              <a:gd name="adj1" fmla="val -80342"/>
              <a:gd name="adj2" fmla="val -3554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ctr"/>
            <a:r>
              <a:rPr lang="en-US" altLang="zh-CN" sz="1600">
                <a:solidFill>
                  <a:srgbClr val="C00000"/>
                </a:solidFill>
                <a:latin typeface="+mn-ea"/>
                <a:ea typeface="+mn-ea"/>
              </a:rPr>
              <a:t>It is idle.</a:t>
            </a:r>
            <a:endParaRPr lang="en-US" altLang="zh-CN" sz="1600" dirty="0">
              <a:solidFill>
                <a:srgbClr val="C00000"/>
              </a:solidFill>
              <a:latin typeface="+mn-ea"/>
              <a:ea typeface="+mn-ea"/>
            </a:endParaRPr>
          </a:p>
        </p:txBody>
      </p:sp>
      <p:pic>
        <p:nvPicPr>
          <p:cNvPr id="51" name="图片 50" descr="internet-蓝.png"/>
          <p:cNvPicPr>
            <a:picLocks noChangeAspect="1"/>
          </p:cNvPicPr>
          <p:nvPr/>
        </p:nvPicPr>
        <p:blipFill>
          <a:blip r:embed="rId3" cstate="print"/>
          <a:stretch>
            <a:fillRect/>
          </a:stretch>
        </p:blipFill>
        <p:spPr>
          <a:xfrm>
            <a:off x="5359781" y="1423335"/>
            <a:ext cx="1558644" cy="791131"/>
          </a:xfrm>
          <a:prstGeom prst="rect">
            <a:avLst/>
          </a:prstGeom>
        </p:spPr>
      </p:pic>
      <p:pic>
        <p:nvPicPr>
          <p:cNvPr id="53" name="图片 52" descr="PC.png"/>
          <p:cNvPicPr>
            <a:picLocks noChangeAspect="1"/>
          </p:cNvPicPr>
          <p:nvPr/>
        </p:nvPicPr>
        <p:blipFill>
          <a:blip r:embed="rId4" cstate="print"/>
          <a:stretch>
            <a:fillRect/>
          </a:stretch>
        </p:blipFill>
        <p:spPr>
          <a:xfrm>
            <a:off x="3521094" y="4780096"/>
            <a:ext cx="750001" cy="576000"/>
          </a:xfrm>
          <a:prstGeom prst="rect">
            <a:avLst/>
          </a:prstGeom>
        </p:spPr>
      </p:pic>
      <p:pic>
        <p:nvPicPr>
          <p:cNvPr id="54"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90508" y="2829979"/>
            <a:ext cx="599339" cy="468000"/>
          </a:xfrm>
          <a:prstGeom prst="rect">
            <a:avLst/>
          </a:prstGeom>
        </p:spPr>
      </p:pic>
      <p:pic>
        <p:nvPicPr>
          <p:cNvPr id="56" name="图片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02034" y="2838816"/>
            <a:ext cx="599339" cy="468000"/>
          </a:xfrm>
          <a:prstGeom prst="rect">
            <a:avLst/>
          </a:prstGeom>
        </p:spPr>
      </p:pic>
      <p:pic>
        <p:nvPicPr>
          <p:cNvPr id="59" name="图片 58" descr="PC.png"/>
          <p:cNvPicPr>
            <a:picLocks noChangeAspect="1"/>
          </p:cNvPicPr>
          <p:nvPr/>
        </p:nvPicPr>
        <p:blipFill>
          <a:blip r:embed="rId4" cstate="print"/>
          <a:stretch>
            <a:fillRect/>
          </a:stretch>
        </p:blipFill>
        <p:spPr>
          <a:xfrm>
            <a:off x="5548833" y="4772048"/>
            <a:ext cx="750001" cy="576000"/>
          </a:xfrm>
          <a:prstGeom prst="rect">
            <a:avLst/>
          </a:prstGeom>
        </p:spPr>
      </p:pic>
      <p:pic>
        <p:nvPicPr>
          <p:cNvPr id="60" name="图片 59" descr="PC.png"/>
          <p:cNvPicPr>
            <a:picLocks noChangeAspect="1"/>
          </p:cNvPicPr>
          <p:nvPr/>
        </p:nvPicPr>
        <p:blipFill>
          <a:blip r:embed="rId4" cstate="print"/>
          <a:stretch>
            <a:fillRect/>
          </a:stretch>
        </p:blipFill>
        <p:spPr>
          <a:xfrm>
            <a:off x="7679077" y="4714719"/>
            <a:ext cx="750001" cy="576000"/>
          </a:xfrm>
          <a:prstGeom prst="rect">
            <a:avLst/>
          </a:prstGeom>
        </p:spPr>
      </p:pic>
    </p:spTree>
    <p:extLst>
      <p:ext uri="{BB962C8B-B14F-4D97-AF65-F5344CB8AC3E}">
        <p14:creationId xmlns:p14="http://schemas.microsoft.com/office/powerpoint/2010/main" val="379561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repeatCount="100000"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down)">
                                      <p:cBhvr>
                                        <p:cTn id="7" dur="1000"/>
                                        <p:tgtEl>
                                          <p:spTgt spid="77"/>
                                        </p:tgtEl>
                                      </p:cBhvr>
                                    </p:animEffect>
                                  </p:childTnLst>
                                </p:cTn>
                              </p:par>
                              <p:par>
                                <p:cTn id="8" presetID="22" presetClass="entr" presetSubtype="4" repeatCount="100000" fill="hold"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wipe(down)">
                                      <p:cBhvr>
                                        <p:cTn id="10" dur="1000"/>
                                        <p:tgtEl>
                                          <p:spTgt spid="79"/>
                                        </p:tgtEl>
                                      </p:cBhvr>
                                    </p:animEffect>
                                  </p:childTnLst>
                                </p:cTn>
                              </p:par>
                              <p:par>
                                <p:cTn id="11" presetID="22" presetClass="entr" presetSubtype="4" repeatCount="10000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wipe(down)">
                                      <p:cBhvr>
                                        <p:cTn id="13" dur="1000"/>
                                        <p:tgtEl>
                                          <p:spTgt spid="7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1" nodeType="click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wipe(right)">
                                      <p:cBhvr>
                                        <p:cTn id="18" dur="500"/>
                                        <p:tgtEl>
                                          <p:spTgt spid="7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22" presetClass="entr" presetSubtype="4" repeatCount="100000" fill="hold" grpId="3" nodeType="withEffect">
                                  <p:stCondLst>
                                    <p:cond delay="0"/>
                                  </p:stCondLst>
                                  <p:childTnLst>
                                    <p:set>
                                      <p:cBhvr>
                                        <p:cTn id="22" dur="1" fill="hold">
                                          <p:stCondLst>
                                            <p:cond delay="0"/>
                                          </p:stCondLst>
                                        </p:cTn>
                                        <p:tgtEl>
                                          <p:spTgt spid="76"/>
                                        </p:tgtEl>
                                        <p:attrNameLst>
                                          <p:attrName>style.visibility</p:attrName>
                                        </p:attrNameLst>
                                      </p:cBhvr>
                                      <p:to>
                                        <p:strVal val="visible"/>
                                      </p:to>
                                    </p:set>
                                    <p:animEffect transition="in" filter="wipe(down)">
                                      <p:cBhvr>
                                        <p:cTn id="23" dur="1000"/>
                                        <p:tgtEl>
                                          <p:spTgt spid="76"/>
                                        </p:tgtEl>
                                      </p:cBhvr>
                                    </p:animEffect>
                                  </p:childTnLst>
                                </p:cTn>
                              </p:par>
                              <p:par>
                                <p:cTn id="24" presetID="22" presetClass="entr" presetSubtype="4" repeatCount="100000" fill="hold" grpId="2" nodeType="withEffect">
                                  <p:stCondLst>
                                    <p:cond delay="0"/>
                                  </p:stCondLst>
                                  <p:childTnLst>
                                    <p:set>
                                      <p:cBhvr>
                                        <p:cTn id="25" dur="1" fill="hold">
                                          <p:stCondLst>
                                            <p:cond delay="0"/>
                                          </p:stCondLst>
                                        </p:cTn>
                                        <p:tgtEl>
                                          <p:spTgt spid="77"/>
                                        </p:tgtEl>
                                        <p:attrNameLst>
                                          <p:attrName>style.visibility</p:attrName>
                                        </p:attrNameLst>
                                      </p:cBhvr>
                                      <p:to>
                                        <p:strVal val="visible"/>
                                      </p:to>
                                    </p:set>
                                    <p:animEffect transition="in" filter="wipe(down)">
                                      <p:cBhvr>
                                        <p:cTn id="26" dur="1000"/>
                                        <p:tgtEl>
                                          <p:spTgt spid="77"/>
                                        </p:tgtEl>
                                      </p:cBhvr>
                                    </p:animEffect>
                                  </p:childTnLst>
                                </p:cTn>
                              </p:par>
                              <p:par>
                                <p:cTn id="27" presetID="22" presetClass="entr" presetSubtype="4" repeatCount="100000" fill="hold" nodeType="with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wipe(down)">
                                      <p:cBhvr>
                                        <p:cTn id="29" dur="1000"/>
                                        <p:tgtEl>
                                          <p:spTgt spid="7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1" nodeType="click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wipe(left)">
                                      <p:cBhvr>
                                        <p:cTn id="34" dur="500"/>
                                        <p:tgtEl>
                                          <p:spTgt spid="90"/>
                                        </p:tgtEl>
                                      </p:cBhvr>
                                    </p:animEffect>
                                  </p:childTnLst>
                                </p:cTn>
                              </p:par>
                              <p:par>
                                <p:cTn id="35" presetID="26" presetClass="emph" presetSubtype="0" fill="hold" grpId="0" nodeType="withEffect">
                                  <p:stCondLst>
                                    <p:cond delay="0"/>
                                  </p:stCondLst>
                                  <p:childTnLst>
                                    <p:animEffect transition="out" filter="fade">
                                      <p:cBhvr>
                                        <p:cTn id="36" dur="500" tmFilter="0, 0; .2, .5; .8, .5; 1, 0"/>
                                        <p:tgtEl>
                                          <p:spTgt spid="90"/>
                                        </p:tgtEl>
                                      </p:cBhvr>
                                    </p:animEffect>
                                    <p:animScale>
                                      <p:cBhvr>
                                        <p:cTn id="37" dur="250" autoRev="1" fill="hold"/>
                                        <p:tgtEl>
                                          <p:spTgt spid="90"/>
                                        </p:tgtEl>
                                      </p:cBhvr>
                                      <p:by x="105000" y="105000"/>
                                    </p:animScale>
                                  </p:childTnLst>
                                </p:cTn>
                              </p:par>
                              <p:par>
                                <p:cTn id="38" presetID="22" presetClass="entr" presetSubtype="4" repeatCount="100000" fill="hold" grpId="4" nodeType="withEffect">
                                  <p:stCondLst>
                                    <p:cond delay="0"/>
                                  </p:stCondLst>
                                  <p:childTnLst>
                                    <p:set>
                                      <p:cBhvr>
                                        <p:cTn id="39" dur="1" fill="hold">
                                          <p:stCondLst>
                                            <p:cond delay="0"/>
                                          </p:stCondLst>
                                        </p:cTn>
                                        <p:tgtEl>
                                          <p:spTgt spid="76"/>
                                        </p:tgtEl>
                                        <p:attrNameLst>
                                          <p:attrName>style.visibility</p:attrName>
                                        </p:attrNameLst>
                                      </p:cBhvr>
                                      <p:to>
                                        <p:strVal val="visible"/>
                                      </p:to>
                                    </p:set>
                                    <p:animEffect transition="in" filter="wipe(down)">
                                      <p:cBhvr>
                                        <p:cTn id="40" dur="1000"/>
                                        <p:tgtEl>
                                          <p:spTgt spid="76"/>
                                        </p:tgtEl>
                                      </p:cBhvr>
                                    </p:animEffect>
                                  </p:childTnLst>
                                </p:cTn>
                              </p:par>
                              <p:par>
                                <p:cTn id="41" presetID="22" presetClass="entr" presetSubtype="4" repeatCount="100000" fill="hold" grpId="3" nodeType="withEffect">
                                  <p:stCondLst>
                                    <p:cond delay="0"/>
                                  </p:stCondLst>
                                  <p:childTnLst>
                                    <p:set>
                                      <p:cBhvr>
                                        <p:cTn id="42" dur="1" fill="hold">
                                          <p:stCondLst>
                                            <p:cond delay="0"/>
                                          </p:stCondLst>
                                        </p:cTn>
                                        <p:tgtEl>
                                          <p:spTgt spid="77"/>
                                        </p:tgtEl>
                                        <p:attrNameLst>
                                          <p:attrName>style.visibility</p:attrName>
                                        </p:attrNameLst>
                                      </p:cBhvr>
                                      <p:to>
                                        <p:strVal val="visible"/>
                                      </p:to>
                                    </p:set>
                                    <p:animEffect transition="in" filter="wipe(down)">
                                      <p:cBhvr>
                                        <p:cTn id="43" dur="1000"/>
                                        <p:tgtEl>
                                          <p:spTgt spid="77"/>
                                        </p:tgtEl>
                                      </p:cBhvr>
                                    </p:animEffect>
                                  </p:childTnLst>
                                </p:cTn>
                              </p:par>
                              <p:par>
                                <p:cTn id="44" presetID="22" presetClass="entr" presetSubtype="4" repeatCount="100000" fill="hold" nodeType="with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wipe(down)">
                                      <p:cBhvr>
                                        <p:cTn id="46" dur="1000"/>
                                        <p:tgtEl>
                                          <p:spTgt spid="79"/>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79"/>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76"/>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79"/>
                                        </p:tgtEl>
                                        <p:attrNameLst>
                                          <p:attrName>style.visibility</p:attrName>
                                        </p:attrNameLst>
                                      </p:cBhvr>
                                      <p:to>
                                        <p:strVal val="hidden"/>
                                      </p:to>
                                    </p:set>
                                  </p:childTnLst>
                                </p:cTn>
                              </p:par>
                              <p:par>
                                <p:cTn id="55" presetID="22" presetClass="entr" presetSubtype="8" fill="hold" grpId="0" nodeType="withEffect">
                                  <p:stCondLst>
                                    <p:cond delay="0"/>
                                  </p:stCondLst>
                                  <p:childTnLst>
                                    <p:set>
                                      <p:cBhvr>
                                        <p:cTn id="56" dur="1" fill="hold">
                                          <p:stCondLst>
                                            <p:cond delay="0"/>
                                          </p:stCondLst>
                                        </p:cTn>
                                        <p:tgtEl>
                                          <p:spTgt spid="75"/>
                                        </p:tgtEl>
                                        <p:attrNameLst>
                                          <p:attrName>style.visibility</p:attrName>
                                        </p:attrNameLst>
                                      </p:cBhvr>
                                      <p:to>
                                        <p:strVal val="visible"/>
                                      </p:to>
                                    </p:set>
                                    <p:animEffect transition="in" filter="wipe(left)">
                                      <p:cBhvr>
                                        <p:cTn id="57" dur="500"/>
                                        <p:tgtEl>
                                          <p:spTgt spid="75"/>
                                        </p:tgtEl>
                                      </p:cBhvr>
                                    </p:animEffect>
                                  </p:childTnLst>
                                </p:cTn>
                              </p:par>
                              <p:par>
                                <p:cTn id="58" presetID="22" presetClass="entr" presetSubtype="4" repeatCount="100000" fill="hold" grpId="2" nodeType="withEffect">
                                  <p:stCondLst>
                                    <p:cond delay="0"/>
                                  </p:stCondLst>
                                  <p:childTnLst>
                                    <p:set>
                                      <p:cBhvr>
                                        <p:cTn id="59" dur="1" fill="hold">
                                          <p:stCondLst>
                                            <p:cond delay="0"/>
                                          </p:stCondLst>
                                        </p:cTn>
                                        <p:tgtEl>
                                          <p:spTgt spid="76"/>
                                        </p:tgtEl>
                                        <p:attrNameLst>
                                          <p:attrName>style.visibility</p:attrName>
                                        </p:attrNameLst>
                                      </p:cBhvr>
                                      <p:to>
                                        <p:strVal val="visible"/>
                                      </p:to>
                                    </p:set>
                                    <p:animEffect transition="in" filter="wipe(down)">
                                      <p:cBhvr>
                                        <p:cTn id="60" dur="1000"/>
                                        <p:tgtEl>
                                          <p:spTgt spid="76"/>
                                        </p:tgtEl>
                                      </p:cBhvr>
                                    </p:animEffect>
                                  </p:childTnLst>
                                </p:cTn>
                              </p:par>
                              <p:par>
                                <p:cTn id="61" presetID="22" presetClass="entr" presetSubtype="4" repeatCount="100000" fill="hold" grpId="1" nodeType="withEffect">
                                  <p:stCondLst>
                                    <p:cond delay="0"/>
                                  </p:stCondLst>
                                  <p:childTnLst>
                                    <p:set>
                                      <p:cBhvr>
                                        <p:cTn id="62" dur="1" fill="hold">
                                          <p:stCondLst>
                                            <p:cond delay="0"/>
                                          </p:stCondLst>
                                        </p:cTn>
                                        <p:tgtEl>
                                          <p:spTgt spid="77"/>
                                        </p:tgtEl>
                                        <p:attrNameLst>
                                          <p:attrName>style.visibility</p:attrName>
                                        </p:attrNameLst>
                                      </p:cBhvr>
                                      <p:to>
                                        <p:strVal val="visible"/>
                                      </p:to>
                                    </p:set>
                                    <p:animEffect transition="in" filter="wipe(down)">
                                      <p:cBhvr>
                                        <p:cTn id="63" dur="1000"/>
                                        <p:tgtEl>
                                          <p:spTgt spid="77"/>
                                        </p:tgtEl>
                                      </p:cBhvr>
                                    </p:animEffect>
                                  </p:childTnLst>
                                </p:cTn>
                              </p:par>
                              <p:par>
                                <p:cTn id="64" presetID="22" presetClass="entr" presetSubtype="4" repeatCount="100000" fill="hold" grpId="0" nodeType="withEffect">
                                  <p:stCondLst>
                                    <p:cond delay="0"/>
                                  </p:stCondLst>
                                  <p:childTnLst>
                                    <p:set>
                                      <p:cBhvr>
                                        <p:cTn id="65" dur="1" fill="hold">
                                          <p:stCondLst>
                                            <p:cond delay="0"/>
                                          </p:stCondLst>
                                        </p:cTn>
                                        <p:tgtEl>
                                          <p:spTgt spid="78"/>
                                        </p:tgtEl>
                                        <p:attrNameLst>
                                          <p:attrName>style.visibility</p:attrName>
                                        </p:attrNameLst>
                                      </p:cBhvr>
                                      <p:to>
                                        <p:strVal val="visible"/>
                                      </p:to>
                                    </p:set>
                                    <p:animEffect transition="in" filter="wipe(down)">
                                      <p:cBhvr>
                                        <p:cTn id="66" dur="1000"/>
                                        <p:tgtEl>
                                          <p:spTgt spid="78"/>
                                        </p:tgtEl>
                                      </p:cBhvr>
                                    </p:animEffect>
                                  </p:childTnLst>
                                </p:cTn>
                              </p:par>
                              <p:par>
                                <p:cTn id="67" presetID="1" presetClass="exit" presetSubtype="0" fill="hold" grpId="3" nodeType="withEffect">
                                  <p:stCondLst>
                                    <p:cond delay="0"/>
                                  </p:stCondLst>
                                  <p:childTnLst>
                                    <p:set>
                                      <p:cBhvr>
                                        <p:cTn id="68" dur="1" fill="hold">
                                          <p:stCondLst>
                                            <p:cond delay="0"/>
                                          </p:stCondLst>
                                        </p:cTn>
                                        <p:tgtEl>
                                          <p:spTgt spid="74"/>
                                        </p:tgtEl>
                                        <p:attrNameLst>
                                          <p:attrName>style.visibility</p:attrName>
                                        </p:attrNameLst>
                                      </p:cBhvr>
                                      <p:to>
                                        <p:strVal val="hidden"/>
                                      </p:to>
                                    </p:set>
                                  </p:childTnLst>
                                </p:cTn>
                              </p:par>
                              <p:par>
                                <p:cTn id="69" presetID="1" presetClass="exit" presetSubtype="0" fill="hold" grpId="2" nodeType="withEffect">
                                  <p:stCondLst>
                                    <p:cond delay="0"/>
                                  </p:stCondLst>
                                  <p:childTnLst>
                                    <p:set>
                                      <p:cBhvr>
                                        <p:cTn id="70" dur="1" fill="hold">
                                          <p:stCondLst>
                                            <p:cond delay="0"/>
                                          </p:stCondLst>
                                        </p:cTn>
                                        <p:tgtEl>
                                          <p:spTgt spid="90"/>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1"/>
                                        </p:tgtEl>
                                        <p:attrNameLst>
                                          <p:attrName>style.visibility</p:attrName>
                                        </p:attrNameLst>
                                      </p:cBhvr>
                                      <p:to>
                                        <p:strVal val="visible"/>
                                      </p:to>
                                    </p:set>
                                  </p:childTnLst>
                                </p:cTn>
                              </p:par>
                              <p:par>
                                <p:cTn id="75" presetID="1" presetClass="exit" presetSubtype="0" fill="hold" grpId="1" nodeType="withEffect">
                                  <p:stCondLst>
                                    <p:cond delay="0"/>
                                  </p:stCondLst>
                                  <p:childTnLst>
                                    <p:set>
                                      <p:cBhvr>
                                        <p:cTn id="76" dur="1" fill="hold">
                                          <p:stCondLst>
                                            <p:cond delay="0"/>
                                          </p:stCondLst>
                                        </p:cTn>
                                        <p:tgtEl>
                                          <p:spTgt spid="75"/>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2" nodeType="clickEffect">
                                  <p:stCondLst>
                                    <p:cond delay="0"/>
                                  </p:stCondLst>
                                  <p:childTnLst>
                                    <p:set>
                                      <p:cBhvr>
                                        <p:cTn id="92" dur="1" fill="hold">
                                          <p:stCondLst>
                                            <p:cond delay="0"/>
                                          </p:stCondLst>
                                        </p:cTn>
                                        <p:tgtEl>
                                          <p:spTgt spid="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1" grpId="0"/>
      <p:bldP spid="62" grpId="0"/>
      <p:bldP spid="70" grpId="0"/>
      <p:bldP spid="71" grpId="0"/>
      <p:bldP spid="72" grpId="0"/>
      <p:bldP spid="73" grpId="0"/>
      <p:bldP spid="74" grpId="0" animBg="1"/>
      <p:bldP spid="74" grpId="1" animBg="1"/>
      <p:bldP spid="74" grpId="2" animBg="1"/>
      <p:bldP spid="74" grpId="3" animBg="1"/>
      <p:bldP spid="75" grpId="0" animBg="1"/>
      <p:bldP spid="75" grpId="1" animBg="1"/>
      <p:bldP spid="76" grpId="0" animBg="1"/>
      <p:bldP spid="76" grpId="1" animBg="1"/>
      <p:bldP spid="76" grpId="2" animBg="1"/>
      <p:bldP spid="76" grpId="3" animBg="1"/>
      <p:bldP spid="76" grpId="4" animBg="1"/>
      <p:bldP spid="77" grpId="0" animBg="1"/>
      <p:bldP spid="77" grpId="1" animBg="1"/>
      <p:bldP spid="77" grpId="2" animBg="1"/>
      <p:bldP spid="77" grpId="3" animBg="1"/>
      <p:bldP spid="78" grpId="0" animBg="1"/>
      <p:bldP spid="90" grpId="0" animBg="1"/>
      <p:bldP spid="90" grpId="1" animBg="1"/>
      <p:bldP spid="90" grpId="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27162409"/>
          <p:cNvSpPr>
            <a:spLocks noGrp="1"/>
          </p:cNvSpPr>
          <p:nvPr>
            <p:ph type="body" sz="quarter" idx="10"/>
          </p:nvPr>
        </p:nvSpPr>
        <p:spPr/>
        <p:txBody>
          <a:bodyPr/>
          <a:lstStyle/>
          <a:p>
            <a:r>
              <a:rPr lang="en-US" altLang="zh-CN" dirty="0" smtClean="0">
                <a:solidFill>
                  <a:schemeClr val="bg1">
                    <a:lumMod val="50000"/>
                  </a:schemeClr>
                </a:solidFill>
              </a:rPr>
              <a:t>VRRP Background and Overview</a:t>
            </a:r>
          </a:p>
          <a:p>
            <a:r>
              <a:rPr lang="en-US" altLang="zh-CN" dirty="0" smtClean="0">
                <a:solidFill>
                  <a:schemeClr val="bg1">
                    <a:lumMod val="50000"/>
                  </a:schemeClr>
                </a:solidFill>
              </a:rPr>
              <a:t>VRRP Active/Standby Switchover</a:t>
            </a:r>
          </a:p>
          <a:p>
            <a:r>
              <a:rPr lang="en-US" altLang="zh-CN" dirty="0" smtClean="0">
                <a:solidFill>
                  <a:schemeClr val="bg1">
                    <a:lumMod val="50000"/>
                  </a:schemeClr>
                </a:solidFill>
              </a:rPr>
              <a:t>VRRP Load Balancing</a:t>
            </a:r>
          </a:p>
          <a:p>
            <a:r>
              <a:rPr lang="en-US" altLang="zh-CN" dirty="0" smtClean="0"/>
              <a:t>Basic VRRP Configuration</a:t>
            </a:r>
            <a:endParaRPr lang="en-US" altLang="zh-CN" dirty="0"/>
          </a:p>
        </p:txBody>
      </p:sp>
    </p:spTree>
    <p:extLst>
      <p:ext uri="{BB962C8B-B14F-4D97-AF65-F5344CB8AC3E}">
        <p14:creationId xmlns:p14="http://schemas.microsoft.com/office/powerpoint/2010/main" val="7662758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 name="组合 121"/>
          <p:cNvGrpSpPr>
            <a:grpSpLocks noChangeAspect="1"/>
          </p:cNvGrpSpPr>
          <p:nvPr/>
        </p:nvGrpSpPr>
        <p:grpSpPr>
          <a:xfrm>
            <a:off x="6040207" y="1628800"/>
            <a:ext cx="4223889" cy="1926943"/>
            <a:chOff x="4385589" y="718396"/>
            <a:chExt cx="4855046" cy="2214877"/>
          </a:xfrm>
        </p:grpSpPr>
        <p:grpSp>
          <p:nvGrpSpPr>
            <p:cNvPr id="125" name="组合 124"/>
            <p:cNvGrpSpPr/>
            <p:nvPr/>
          </p:nvGrpSpPr>
          <p:grpSpPr>
            <a:xfrm>
              <a:off x="4385589" y="925088"/>
              <a:ext cx="4855046" cy="2008185"/>
              <a:chOff x="4397087" y="1398754"/>
              <a:chExt cx="4855046" cy="2008185"/>
            </a:xfrm>
          </p:grpSpPr>
          <p:sp>
            <p:nvSpPr>
              <p:cNvPr id="130" name="Line 10"/>
              <p:cNvSpPr>
                <a:spLocks noChangeShapeType="1"/>
              </p:cNvSpPr>
              <p:nvPr/>
            </p:nvSpPr>
            <p:spPr bwMode="auto">
              <a:xfrm>
                <a:off x="4882334" y="3030745"/>
                <a:ext cx="3828204" cy="0"/>
              </a:xfrm>
              <a:prstGeom prst="line">
                <a:avLst/>
              </a:prstGeom>
              <a:noFill/>
              <a:ln w="28575">
                <a:solidFill>
                  <a:schemeClr val="tx1"/>
                </a:solidFill>
                <a:round/>
                <a:headEnd type="none" w="sm" len="sm"/>
                <a:tailEnd type="none" w="sm" len="sm"/>
              </a:ln>
            </p:spPr>
            <p:txBody>
              <a:bodyPr wrap="none" anchor="ctr"/>
              <a:lstStyle/>
              <a:p>
                <a:endParaRPr lang="zh-CN" altLang="en-US">
                  <a:latin typeface="+mn-ea"/>
                  <a:ea typeface="+mn-ea"/>
                </a:endParaRPr>
              </a:p>
            </p:txBody>
          </p:sp>
          <p:cxnSp>
            <p:nvCxnSpPr>
              <p:cNvPr id="131" name="直接连接符 8"/>
              <p:cNvCxnSpPr>
                <a:cxnSpLocks noChangeShapeType="1"/>
              </p:cNvCxnSpPr>
              <p:nvPr/>
            </p:nvCxnSpPr>
            <p:spPr bwMode="auto">
              <a:xfrm>
                <a:off x="6855537" y="3041963"/>
                <a:ext cx="0" cy="27316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2" name="直接连接符 131"/>
              <p:cNvCxnSpPr>
                <a:cxnSpLocks noChangeShapeType="1"/>
              </p:cNvCxnSpPr>
              <p:nvPr/>
            </p:nvCxnSpPr>
            <p:spPr bwMode="auto">
              <a:xfrm>
                <a:off x="4882334" y="3030389"/>
                <a:ext cx="0" cy="37655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 name="直接连接符 8"/>
              <p:cNvCxnSpPr>
                <a:cxnSpLocks noChangeShapeType="1"/>
              </p:cNvCxnSpPr>
              <p:nvPr/>
            </p:nvCxnSpPr>
            <p:spPr bwMode="auto">
              <a:xfrm>
                <a:off x="8704914" y="3030389"/>
                <a:ext cx="0" cy="2824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 name="直接连接符 8"/>
              <p:cNvCxnSpPr>
                <a:cxnSpLocks noChangeShapeType="1"/>
              </p:cNvCxnSpPr>
              <p:nvPr/>
            </p:nvCxnSpPr>
            <p:spPr bwMode="auto">
              <a:xfrm>
                <a:off x="5883162" y="2560960"/>
                <a:ext cx="1" cy="45517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 name="直接连接符 8"/>
              <p:cNvCxnSpPr>
                <a:cxnSpLocks noChangeShapeType="1"/>
              </p:cNvCxnSpPr>
              <p:nvPr/>
            </p:nvCxnSpPr>
            <p:spPr bwMode="auto">
              <a:xfrm>
                <a:off x="7703223" y="2602343"/>
                <a:ext cx="323" cy="41379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6" name="文本框 135"/>
              <p:cNvSpPr txBox="1"/>
              <p:nvPr/>
            </p:nvSpPr>
            <p:spPr bwMode="auto">
              <a:xfrm>
                <a:off x="4397087" y="1406463"/>
                <a:ext cx="1949323" cy="1000448"/>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r>
                  <a:rPr lang="en-US" altLang="zh-CN" b="1" dirty="0" err="1">
                    <a:latin typeface="+mn-ea"/>
                  </a:rPr>
                  <a:t>RouterA</a:t>
                </a:r>
                <a:endParaRPr lang="en-US" altLang="zh-CN" b="1" dirty="0">
                  <a:latin typeface="+mn-ea"/>
                </a:endParaRPr>
              </a:p>
              <a:p>
                <a:r>
                  <a:rPr lang="en-US" altLang="zh-CN" dirty="0">
                    <a:latin typeface="+mn-ea"/>
                  </a:rPr>
                  <a:t>vrid1 virtual </a:t>
                </a:r>
                <a:r>
                  <a:rPr lang="en-US" altLang="zh-CN" dirty="0" err="1">
                    <a:latin typeface="+mn-ea"/>
                  </a:rPr>
                  <a:t>ip</a:t>
                </a:r>
                <a:r>
                  <a:rPr lang="en-US" altLang="zh-CN" dirty="0">
                    <a:latin typeface="+mn-ea"/>
                  </a:rPr>
                  <a:t> :10.0.0.10</a:t>
                </a:r>
              </a:p>
              <a:p>
                <a:r>
                  <a:rPr lang="en-US" altLang="zh-CN" dirty="0">
                    <a:solidFill>
                      <a:srgbClr val="C00000"/>
                    </a:solidFill>
                    <a:latin typeface="+mn-ea"/>
                  </a:rPr>
                  <a:t>Master</a:t>
                </a:r>
                <a:endParaRPr lang="zh-CN" altLang="en-US" dirty="0">
                  <a:solidFill>
                    <a:srgbClr val="C00000"/>
                  </a:solidFill>
                  <a:latin typeface="+mn-ea"/>
                </a:endParaRPr>
              </a:p>
              <a:p>
                <a:r>
                  <a:rPr lang="en-US" altLang="zh-CN" dirty="0">
                    <a:latin typeface="+mn-ea"/>
                  </a:rPr>
                  <a:t>vrid2 virtual </a:t>
                </a:r>
                <a:r>
                  <a:rPr lang="en-US" altLang="zh-CN" dirty="0" err="1">
                    <a:latin typeface="+mn-ea"/>
                  </a:rPr>
                  <a:t>ip</a:t>
                </a:r>
                <a:r>
                  <a:rPr lang="en-US" altLang="zh-CN" dirty="0">
                    <a:latin typeface="+mn-ea"/>
                  </a:rPr>
                  <a:t> :10.0.0.11</a:t>
                </a:r>
              </a:p>
              <a:p>
                <a:r>
                  <a:rPr lang="en-US" altLang="zh-CN" dirty="0">
                    <a:solidFill>
                      <a:srgbClr val="C00000"/>
                    </a:solidFill>
                    <a:latin typeface="+mn-ea"/>
                  </a:rPr>
                  <a:t>Backup</a:t>
                </a:r>
                <a:endParaRPr lang="zh-CN" altLang="en-US" dirty="0">
                  <a:solidFill>
                    <a:srgbClr val="C00000"/>
                  </a:solidFill>
                  <a:latin typeface="+mn-ea"/>
                </a:endParaRPr>
              </a:p>
            </p:txBody>
          </p:sp>
          <p:sp>
            <p:nvSpPr>
              <p:cNvPr id="137" name="文本框 136"/>
              <p:cNvSpPr txBox="1"/>
              <p:nvPr/>
            </p:nvSpPr>
            <p:spPr bwMode="auto">
              <a:xfrm>
                <a:off x="7302809" y="1398754"/>
                <a:ext cx="1949324" cy="1000448"/>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r>
                  <a:rPr lang="en-US" altLang="zh-CN" b="1" dirty="0" err="1">
                    <a:latin typeface="+mn-ea"/>
                  </a:rPr>
                  <a:t>RouterB</a:t>
                </a:r>
                <a:endParaRPr lang="en-US" altLang="zh-CN" b="1" dirty="0">
                  <a:latin typeface="+mn-ea"/>
                </a:endParaRPr>
              </a:p>
              <a:p>
                <a:r>
                  <a:rPr lang="en-US" altLang="zh-CN" dirty="0">
                    <a:latin typeface="+mn-ea"/>
                  </a:rPr>
                  <a:t>vrid1 virtual </a:t>
                </a:r>
                <a:r>
                  <a:rPr lang="en-US" altLang="zh-CN" dirty="0" err="1">
                    <a:latin typeface="+mn-ea"/>
                  </a:rPr>
                  <a:t>ip</a:t>
                </a:r>
                <a:r>
                  <a:rPr lang="en-US" altLang="zh-CN" dirty="0">
                    <a:latin typeface="+mn-ea"/>
                  </a:rPr>
                  <a:t> :10.0.0.10</a:t>
                </a:r>
              </a:p>
              <a:p>
                <a:r>
                  <a:rPr lang="en-US" altLang="zh-CN" dirty="0">
                    <a:solidFill>
                      <a:srgbClr val="C00000"/>
                    </a:solidFill>
                    <a:latin typeface="+mn-ea"/>
                  </a:rPr>
                  <a:t>Backup</a:t>
                </a:r>
              </a:p>
              <a:p>
                <a:r>
                  <a:rPr lang="en-US" altLang="zh-CN" dirty="0">
                    <a:latin typeface="+mn-ea"/>
                  </a:rPr>
                  <a:t>vrid2 virtual </a:t>
                </a:r>
                <a:r>
                  <a:rPr lang="en-US" altLang="zh-CN" dirty="0" err="1">
                    <a:latin typeface="+mn-ea"/>
                  </a:rPr>
                  <a:t>ip</a:t>
                </a:r>
                <a:r>
                  <a:rPr lang="en-US" altLang="zh-CN" dirty="0">
                    <a:latin typeface="+mn-ea"/>
                  </a:rPr>
                  <a:t> :10.0.0.11</a:t>
                </a:r>
              </a:p>
              <a:p>
                <a:r>
                  <a:rPr lang="en-US" altLang="zh-CN" dirty="0">
                    <a:solidFill>
                      <a:srgbClr val="C00000"/>
                    </a:solidFill>
                    <a:latin typeface="+mn-ea"/>
                  </a:rPr>
                  <a:t>Master</a:t>
                </a:r>
                <a:endParaRPr lang="zh-CN" altLang="en-US" dirty="0">
                  <a:solidFill>
                    <a:srgbClr val="C00000"/>
                  </a:solidFill>
                  <a:latin typeface="+mn-ea"/>
                </a:endParaRPr>
              </a:p>
            </p:txBody>
          </p:sp>
          <p:sp>
            <p:nvSpPr>
              <p:cNvPr id="138" name="文本框 137"/>
              <p:cNvSpPr txBox="1"/>
              <p:nvPr/>
            </p:nvSpPr>
            <p:spPr bwMode="auto">
              <a:xfrm>
                <a:off x="7627543" y="2529796"/>
                <a:ext cx="1527384" cy="434422"/>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r>
                  <a:rPr lang="en-US" altLang="zh-CN" sz="800" dirty="0">
                    <a:latin typeface="+mn-ea"/>
                  </a:rPr>
                  <a:t>G0/0/1</a:t>
                </a:r>
              </a:p>
              <a:p>
                <a:r>
                  <a:rPr lang="en-US" altLang="zh-CN" dirty="0" err="1">
                    <a:latin typeface="+mn-ea"/>
                  </a:rPr>
                  <a:t>ip</a:t>
                </a:r>
                <a:r>
                  <a:rPr lang="en-US" altLang="zh-CN" dirty="0">
                    <a:latin typeface="+mn-ea"/>
                  </a:rPr>
                  <a:t> address:10.0.0.2</a:t>
                </a:r>
                <a:endParaRPr lang="zh-CN" altLang="en-US" dirty="0">
                  <a:latin typeface="+mn-ea"/>
                </a:endParaRPr>
              </a:p>
            </p:txBody>
          </p:sp>
          <p:sp>
            <p:nvSpPr>
              <p:cNvPr id="143" name="文本框 142"/>
              <p:cNvSpPr txBox="1"/>
              <p:nvPr/>
            </p:nvSpPr>
            <p:spPr bwMode="auto">
              <a:xfrm>
                <a:off x="4422695" y="2547373"/>
                <a:ext cx="1527384" cy="434422"/>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r>
                  <a:rPr lang="en-US" altLang="zh-CN" sz="800" dirty="0">
                    <a:latin typeface="+mn-ea"/>
                  </a:rPr>
                  <a:t>G0/0/1</a:t>
                </a:r>
              </a:p>
              <a:p>
                <a:r>
                  <a:rPr lang="en-US" altLang="zh-CN" dirty="0" err="1">
                    <a:latin typeface="+mn-ea"/>
                  </a:rPr>
                  <a:t>ip</a:t>
                </a:r>
                <a:r>
                  <a:rPr lang="en-US" altLang="zh-CN" dirty="0">
                    <a:latin typeface="+mn-ea"/>
                  </a:rPr>
                  <a:t> address:10.0.0.1</a:t>
                </a:r>
                <a:endParaRPr lang="zh-CN" altLang="en-US" dirty="0">
                  <a:latin typeface="+mn-ea"/>
                </a:endParaRPr>
              </a:p>
            </p:txBody>
          </p:sp>
          <p:sp>
            <p:nvSpPr>
              <p:cNvPr id="144" name="任意多边形 143"/>
              <p:cNvSpPr/>
              <p:nvPr/>
            </p:nvSpPr>
            <p:spPr bwMode="auto">
              <a:xfrm>
                <a:off x="4831492" y="2446638"/>
                <a:ext cx="1000897" cy="852616"/>
              </a:xfrm>
              <a:custGeom>
                <a:avLst/>
                <a:gdLst>
                  <a:gd name="connsiteX0" fmla="*/ 0 w 1000897"/>
                  <a:gd name="connsiteY0" fmla="*/ 852616 h 852616"/>
                  <a:gd name="connsiteX1" fmla="*/ 0 w 1000897"/>
                  <a:gd name="connsiteY1" fmla="*/ 518984 h 852616"/>
                  <a:gd name="connsiteX2" fmla="*/ 1000897 w 1000897"/>
                  <a:gd name="connsiteY2" fmla="*/ 531340 h 852616"/>
                  <a:gd name="connsiteX3" fmla="*/ 1000897 w 1000897"/>
                  <a:gd name="connsiteY3" fmla="*/ 0 h 852616"/>
                </a:gdLst>
                <a:ahLst/>
                <a:cxnLst>
                  <a:cxn ang="0">
                    <a:pos x="connsiteX0" y="connsiteY0"/>
                  </a:cxn>
                  <a:cxn ang="0">
                    <a:pos x="connsiteX1" y="connsiteY1"/>
                  </a:cxn>
                  <a:cxn ang="0">
                    <a:pos x="connsiteX2" y="connsiteY2"/>
                  </a:cxn>
                  <a:cxn ang="0">
                    <a:pos x="connsiteX3" y="connsiteY3"/>
                  </a:cxn>
                </a:cxnLst>
                <a:rect l="l" t="t" r="r" b="b"/>
                <a:pathLst>
                  <a:path w="1000897" h="852616">
                    <a:moveTo>
                      <a:pt x="0" y="852616"/>
                    </a:moveTo>
                    <a:lnTo>
                      <a:pt x="0" y="518984"/>
                    </a:lnTo>
                    <a:lnTo>
                      <a:pt x="1000897" y="531340"/>
                    </a:lnTo>
                    <a:lnTo>
                      <a:pt x="1000897" y="0"/>
                    </a:lnTo>
                  </a:path>
                </a:pathLst>
              </a:custGeom>
              <a:noFill/>
              <a:ln w="25400" cap="flat" cmpd="sng" algn="ctr">
                <a:solidFill>
                  <a:srgbClr val="C0000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sp>
            <p:nvSpPr>
              <p:cNvPr id="145" name="任意多边形 144"/>
              <p:cNvSpPr/>
              <p:nvPr/>
            </p:nvSpPr>
            <p:spPr bwMode="auto">
              <a:xfrm>
                <a:off x="5968314" y="2496065"/>
                <a:ext cx="840259" cy="815546"/>
              </a:xfrm>
              <a:custGeom>
                <a:avLst/>
                <a:gdLst>
                  <a:gd name="connsiteX0" fmla="*/ 827902 w 840259"/>
                  <a:gd name="connsiteY0" fmla="*/ 815546 h 815546"/>
                  <a:gd name="connsiteX1" fmla="*/ 840259 w 840259"/>
                  <a:gd name="connsiteY1" fmla="*/ 444843 h 815546"/>
                  <a:gd name="connsiteX2" fmla="*/ 0 w 840259"/>
                  <a:gd name="connsiteY2" fmla="*/ 457200 h 815546"/>
                  <a:gd name="connsiteX3" fmla="*/ 0 w 840259"/>
                  <a:gd name="connsiteY3" fmla="*/ 0 h 815546"/>
                </a:gdLst>
                <a:ahLst/>
                <a:cxnLst>
                  <a:cxn ang="0">
                    <a:pos x="connsiteX0" y="connsiteY0"/>
                  </a:cxn>
                  <a:cxn ang="0">
                    <a:pos x="connsiteX1" y="connsiteY1"/>
                  </a:cxn>
                  <a:cxn ang="0">
                    <a:pos x="connsiteX2" y="connsiteY2"/>
                  </a:cxn>
                  <a:cxn ang="0">
                    <a:pos x="connsiteX3" y="connsiteY3"/>
                  </a:cxn>
                </a:cxnLst>
                <a:rect l="l" t="t" r="r" b="b"/>
                <a:pathLst>
                  <a:path w="840259" h="815546">
                    <a:moveTo>
                      <a:pt x="827902" y="815546"/>
                    </a:moveTo>
                    <a:lnTo>
                      <a:pt x="840259" y="444843"/>
                    </a:lnTo>
                    <a:lnTo>
                      <a:pt x="0" y="457200"/>
                    </a:lnTo>
                    <a:lnTo>
                      <a:pt x="0" y="0"/>
                    </a:lnTo>
                  </a:path>
                </a:pathLst>
              </a:custGeom>
              <a:noFill/>
              <a:ln w="25400" cap="flat" cmpd="sng" algn="ctr">
                <a:solidFill>
                  <a:srgbClr val="00B0F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sp>
            <p:nvSpPr>
              <p:cNvPr id="147" name="任意多边形 146"/>
              <p:cNvSpPr/>
              <p:nvPr/>
            </p:nvSpPr>
            <p:spPr bwMode="auto">
              <a:xfrm>
                <a:off x="7768521" y="2499451"/>
                <a:ext cx="913858" cy="803189"/>
              </a:xfrm>
              <a:custGeom>
                <a:avLst/>
                <a:gdLst>
                  <a:gd name="connsiteX0" fmla="*/ 889687 w 889687"/>
                  <a:gd name="connsiteY0" fmla="*/ 803189 h 803189"/>
                  <a:gd name="connsiteX1" fmla="*/ 889687 w 889687"/>
                  <a:gd name="connsiteY1" fmla="*/ 481914 h 803189"/>
                  <a:gd name="connsiteX2" fmla="*/ 0 w 889687"/>
                  <a:gd name="connsiteY2" fmla="*/ 494270 h 803189"/>
                  <a:gd name="connsiteX3" fmla="*/ 0 w 889687"/>
                  <a:gd name="connsiteY3" fmla="*/ 0 h 803189"/>
                </a:gdLst>
                <a:ahLst/>
                <a:cxnLst>
                  <a:cxn ang="0">
                    <a:pos x="connsiteX0" y="connsiteY0"/>
                  </a:cxn>
                  <a:cxn ang="0">
                    <a:pos x="connsiteX1" y="connsiteY1"/>
                  </a:cxn>
                  <a:cxn ang="0">
                    <a:pos x="connsiteX2" y="connsiteY2"/>
                  </a:cxn>
                  <a:cxn ang="0">
                    <a:pos x="connsiteX3" y="connsiteY3"/>
                  </a:cxn>
                </a:cxnLst>
                <a:rect l="l" t="t" r="r" b="b"/>
                <a:pathLst>
                  <a:path w="889687" h="803189">
                    <a:moveTo>
                      <a:pt x="889687" y="803189"/>
                    </a:moveTo>
                    <a:lnTo>
                      <a:pt x="889687" y="481914"/>
                    </a:lnTo>
                    <a:lnTo>
                      <a:pt x="0" y="494270"/>
                    </a:lnTo>
                    <a:lnTo>
                      <a:pt x="0" y="0"/>
                    </a:lnTo>
                  </a:path>
                </a:pathLst>
              </a:custGeom>
              <a:noFill/>
              <a:ln w="25400" cap="flat" cmpd="sng" algn="ctr">
                <a:solidFill>
                  <a:srgbClr val="00B05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endParaRPr lang="zh-CN" altLang="en-US">
                  <a:latin typeface="+mn-ea"/>
                  <a:ea typeface="+mn-ea"/>
                </a:endParaRPr>
              </a:p>
            </p:txBody>
          </p:sp>
        </p:grpSp>
        <p:cxnSp>
          <p:nvCxnSpPr>
            <p:cNvPr id="126" name="直接连接符 8"/>
            <p:cNvCxnSpPr>
              <a:cxnSpLocks noChangeShapeType="1"/>
            </p:cNvCxnSpPr>
            <p:nvPr/>
          </p:nvCxnSpPr>
          <p:spPr bwMode="auto">
            <a:xfrm>
              <a:off x="6921916" y="1304228"/>
              <a:ext cx="547218" cy="5327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27" name="直接连接符 8"/>
            <p:cNvCxnSpPr>
              <a:cxnSpLocks noChangeShapeType="1"/>
            </p:cNvCxnSpPr>
            <p:nvPr/>
          </p:nvCxnSpPr>
          <p:spPr bwMode="auto">
            <a:xfrm flipH="1">
              <a:off x="6007202" y="1317641"/>
              <a:ext cx="504018" cy="5091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28" name="文本框 127"/>
            <p:cNvSpPr txBox="1"/>
            <p:nvPr/>
          </p:nvSpPr>
          <p:spPr bwMode="auto">
            <a:xfrm>
              <a:off x="6333675" y="718396"/>
              <a:ext cx="838277" cy="292916"/>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r>
                <a:rPr lang="en-US" altLang="zh-CN" b="1" dirty="0" err="1">
                  <a:latin typeface="+mn-ea"/>
                </a:rPr>
                <a:t>RouterC</a:t>
              </a:r>
              <a:endParaRPr lang="zh-CN" altLang="en-US" b="1" dirty="0">
                <a:latin typeface="+mn-ea"/>
              </a:endParaRPr>
            </a:p>
          </p:txBody>
        </p:sp>
      </p:grpSp>
      <p:sp>
        <p:nvSpPr>
          <p:cNvPr id="123" name="1956549152"/>
          <p:cNvSpPr>
            <a:spLocks noChangeAspect="1"/>
          </p:cNvSpPr>
          <p:nvPr/>
        </p:nvSpPr>
        <p:spPr>
          <a:xfrm>
            <a:off x="7431694" y="2459702"/>
            <a:ext cx="548162" cy="224059"/>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800" dirty="0">
                <a:solidFill>
                  <a:srgbClr val="000000"/>
                </a:solidFill>
                <a:latin typeface="+mn-ea"/>
                <a:ea typeface="+mn-ea"/>
                <a:cs typeface="Arial" pitchFamily="34" charset="0"/>
              </a:rPr>
              <a:t>G0/0/0</a:t>
            </a:r>
          </a:p>
        </p:txBody>
      </p:sp>
      <p:sp>
        <p:nvSpPr>
          <p:cNvPr id="124" name="593365145"/>
          <p:cNvSpPr>
            <a:spLocks noChangeAspect="1"/>
          </p:cNvSpPr>
          <p:nvPr/>
        </p:nvSpPr>
        <p:spPr>
          <a:xfrm>
            <a:off x="8151774" y="2458500"/>
            <a:ext cx="548162" cy="224059"/>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800" dirty="0">
                <a:solidFill>
                  <a:srgbClr val="000000"/>
                </a:solidFill>
                <a:latin typeface="+mn-ea"/>
                <a:ea typeface="+mn-ea"/>
                <a:cs typeface="Arial" pitchFamily="34" charset="0"/>
              </a:rPr>
              <a:t>G0/0/0</a:t>
            </a:r>
          </a:p>
        </p:txBody>
      </p:sp>
      <p:sp>
        <p:nvSpPr>
          <p:cNvPr id="148" name="2027111253"/>
          <p:cNvSpPr txBox="1"/>
          <p:nvPr/>
        </p:nvSpPr>
        <p:spPr bwMode="auto">
          <a:xfrm>
            <a:off x="2183133" y="2899733"/>
            <a:ext cx="1328824" cy="377947"/>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pPr fontAlgn="ctr"/>
            <a:r>
              <a:rPr lang="en-US" altLang="zh-CN" sz="800" dirty="0">
                <a:latin typeface="+mn-ea"/>
              </a:rPr>
              <a:t>G0/0/1</a:t>
            </a:r>
          </a:p>
          <a:p>
            <a:pPr fontAlgn="ctr"/>
            <a:r>
              <a:rPr lang="en-US" altLang="zh-CN" err="1">
                <a:latin typeface="+mn-ea"/>
              </a:rPr>
              <a:t>ip</a:t>
            </a:r>
            <a:r>
              <a:rPr lang="en-US" altLang="zh-CN">
                <a:latin typeface="+mn-ea"/>
              </a:rPr>
              <a:t> address:10.0.0.1</a:t>
            </a:r>
            <a:endParaRPr lang="en-US" altLang="zh-CN" dirty="0">
              <a:latin typeface="+mn-ea"/>
            </a:endParaRPr>
          </a:p>
        </p:txBody>
      </p:sp>
      <p:sp>
        <p:nvSpPr>
          <p:cNvPr id="149" name="Line 10"/>
          <p:cNvSpPr>
            <a:spLocks noChangeShapeType="1"/>
          </p:cNvSpPr>
          <p:nvPr/>
        </p:nvSpPr>
        <p:spPr bwMode="auto">
          <a:xfrm>
            <a:off x="2603085" y="3325539"/>
            <a:ext cx="3150726" cy="0"/>
          </a:xfrm>
          <a:prstGeom prst="line">
            <a:avLst/>
          </a:prstGeom>
          <a:noFill/>
          <a:ln w="28575">
            <a:solidFill>
              <a:schemeClr val="tx1"/>
            </a:solidFill>
            <a:round/>
            <a:headEnd type="none" w="sm" len="sm"/>
            <a:tailEnd type="none" w="sm" len="sm"/>
          </a:ln>
        </p:spPr>
        <p:txBody>
          <a:bodyPr wrap="none" anchor="ctr"/>
          <a:lstStyle/>
          <a:p>
            <a:pPr fontAlgn="ctr"/>
            <a:endParaRPr lang="en-US" altLang="zh-CN">
              <a:latin typeface="+mn-ea"/>
              <a:ea typeface="+mn-ea"/>
            </a:endParaRPr>
          </a:p>
        </p:txBody>
      </p:sp>
      <p:cxnSp>
        <p:nvCxnSpPr>
          <p:cNvPr id="150" name="294446086"/>
          <p:cNvCxnSpPr>
            <a:cxnSpLocks noChangeShapeType="1"/>
          </p:cNvCxnSpPr>
          <p:nvPr/>
        </p:nvCxnSpPr>
        <p:spPr bwMode="auto">
          <a:xfrm>
            <a:off x="4222628" y="3321024"/>
            <a:ext cx="0" cy="324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51" name="284870669"/>
          <p:cNvCxnSpPr>
            <a:cxnSpLocks noChangeShapeType="1"/>
          </p:cNvCxnSpPr>
          <p:nvPr/>
        </p:nvCxnSpPr>
        <p:spPr bwMode="auto">
          <a:xfrm>
            <a:off x="2603085" y="3318994"/>
            <a:ext cx="0" cy="44060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52" name="1768805039"/>
          <p:cNvCxnSpPr>
            <a:cxnSpLocks noChangeShapeType="1"/>
          </p:cNvCxnSpPr>
          <p:nvPr/>
        </p:nvCxnSpPr>
        <p:spPr bwMode="auto">
          <a:xfrm>
            <a:off x="5753811" y="3318655"/>
            <a:ext cx="0" cy="28515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53" name="1798957700"/>
          <p:cNvCxnSpPr>
            <a:cxnSpLocks noChangeShapeType="1"/>
          </p:cNvCxnSpPr>
          <p:nvPr/>
        </p:nvCxnSpPr>
        <p:spPr bwMode="auto">
          <a:xfrm flipH="1">
            <a:off x="3426796" y="2914930"/>
            <a:ext cx="3154" cy="41983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54" name="1018693631"/>
          <p:cNvCxnSpPr>
            <a:cxnSpLocks noChangeShapeType="1"/>
          </p:cNvCxnSpPr>
          <p:nvPr/>
        </p:nvCxnSpPr>
        <p:spPr bwMode="auto">
          <a:xfrm flipH="1">
            <a:off x="4925025" y="2920755"/>
            <a:ext cx="3154" cy="41983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57" name="1570613653"/>
          <p:cNvSpPr txBox="1"/>
          <p:nvPr/>
        </p:nvSpPr>
        <p:spPr bwMode="auto">
          <a:xfrm>
            <a:off x="4842120" y="2892882"/>
            <a:ext cx="1328824" cy="377947"/>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pPr fontAlgn="ctr"/>
            <a:r>
              <a:rPr lang="en-US" altLang="zh-CN" sz="800" dirty="0">
                <a:latin typeface="+mn-ea"/>
              </a:rPr>
              <a:t>G0/0/1</a:t>
            </a:r>
          </a:p>
          <a:p>
            <a:pPr fontAlgn="ctr"/>
            <a:r>
              <a:rPr lang="en-US" altLang="zh-CN" err="1">
                <a:latin typeface="+mn-ea"/>
              </a:rPr>
              <a:t>ip</a:t>
            </a:r>
            <a:r>
              <a:rPr lang="en-US" altLang="zh-CN">
                <a:latin typeface="+mn-ea"/>
              </a:rPr>
              <a:t> address:10.0.0.2</a:t>
            </a:r>
            <a:endParaRPr lang="en-US" altLang="zh-CN" dirty="0">
              <a:latin typeface="+mn-ea"/>
            </a:endParaRPr>
          </a:p>
        </p:txBody>
      </p:sp>
      <p:sp>
        <p:nvSpPr>
          <p:cNvPr id="162" name="任意多边形 161"/>
          <p:cNvSpPr/>
          <p:nvPr/>
        </p:nvSpPr>
        <p:spPr bwMode="auto">
          <a:xfrm>
            <a:off x="3481172" y="2850782"/>
            <a:ext cx="719472" cy="766596"/>
          </a:xfrm>
          <a:custGeom>
            <a:avLst/>
            <a:gdLst>
              <a:gd name="connsiteX0" fmla="*/ 827902 w 840259"/>
              <a:gd name="connsiteY0" fmla="*/ 1037968 h 1037968"/>
              <a:gd name="connsiteX1" fmla="*/ 840259 w 840259"/>
              <a:gd name="connsiteY1" fmla="*/ 691979 h 1037968"/>
              <a:gd name="connsiteX2" fmla="*/ 0 w 840259"/>
              <a:gd name="connsiteY2" fmla="*/ 704335 h 1037968"/>
              <a:gd name="connsiteX3" fmla="*/ 12356 w 840259"/>
              <a:gd name="connsiteY3" fmla="*/ 0 h 1037968"/>
            </a:gdLst>
            <a:ahLst/>
            <a:cxnLst>
              <a:cxn ang="0">
                <a:pos x="connsiteX0" y="connsiteY0"/>
              </a:cxn>
              <a:cxn ang="0">
                <a:pos x="connsiteX1" y="connsiteY1"/>
              </a:cxn>
              <a:cxn ang="0">
                <a:pos x="connsiteX2" y="connsiteY2"/>
              </a:cxn>
              <a:cxn ang="0">
                <a:pos x="connsiteX3" y="connsiteY3"/>
              </a:cxn>
            </a:cxnLst>
            <a:rect l="l" t="t" r="r" b="b"/>
            <a:pathLst>
              <a:path w="840259" h="1037968">
                <a:moveTo>
                  <a:pt x="827902" y="1037968"/>
                </a:moveTo>
                <a:lnTo>
                  <a:pt x="840259" y="691979"/>
                </a:lnTo>
                <a:lnTo>
                  <a:pt x="0" y="704335"/>
                </a:lnTo>
                <a:lnTo>
                  <a:pt x="12356" y="0"/>
                </a:lnTo>
              </a:path>
            </a:pathLst>
          </a:custGeom>
          <a:noFill/>
          <a:ln w="25400" cap="flat" cmpd="sng" algn="ctr">
            <a:solidFill>
              <a:srgbClr val="00B0F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fontAlgn="ctr"/>
            <a:endParaRPr lang="en-US" altLang="zh-CN">
              <a:latin typeface="+mn-ea"/>
              <a:ea typeface="+mn-ea"/>
            </a:endParaRPr>
          </a:p>
        </p:txBody>
      </p:sp>
      <p:sp>
        <p:nvSpPr>
          <p:cNvPr id="163" name="任意多边形 162"/>
          <p:cNvSpPr/>
          <p:nvPr/>
        </p:nvSpPr>
        <p:spPr bwMode="auto">
          <a:xfrm>
            <a:off x="3561106" y="2852937"/>
            <a:ext cx="2141250" cy="859369"/>
          </a:xfrm>
          <a:custGeom>
            <a:avLst/>
            <a:gdLst>
              <a:gd name="connsiteX0" fmla="*/ 2557849 w 2557849"/>
              <a:gd name="connsiteY0" fmla="*/ 1013254 h 1013254"/>
              <a:gd name="connsiteX1" fmla="*/ 2557849 w 2557849"/>
              <a:gd name="connsiteY1" fmla="*/ 642551 h 1013254"/>
              <a:gd name="connsiteX2" fmla="*/ 0 w 2557849"/>
              <a:gd name="connsiteY2" fmla="*/ 642551 h 1013254"/>
              <a:gd name="connsiteX3" fmla="*/ 12357 w 2557849"/>
              <a:gd name="connsiteY3" fmla="*/ 0 h 1013254"/>
            </a:gdLst>
            <a:ahLst/>
            <a:cxnLst>
              <a:cxn ang="0">
                <a:pos x="connsiteX0" y="connsiteY0"/>
              </a:cxn>
              <a:cxn ang="0">
                <a:pos x="connsiteX1" y="connsiteY1"/>
              </a:cxn>
              <a:cxn ang="0">
                <a:pos x="connsiteX2" y="connsiteY2"/>
              </a:cxn>
              <a:cxn ang="0">
                <a:pos x="connsiteX3" y="connsiteY3"/>
              </a:cxn>
            </a:cxnLst>
            <a:rect l="l" t="t" r="r" b="b"/>
            <a:pathLst>
              <a:path w="2557849" h="1013254">
                <a:moveTo>
                  <a:pt x="2557849" y="1013254"/>
                </a:moveTo>
                <a:lnTo>
                  <a:pt x="2557849" y="642551"/>
                </a:lnTo>
                <a:lnTo>
                  <a:pt x="0" y="642551"/>
                </a:lnTo>
                <a:lnTo>
                  <a:pt x="12357" y="0"/>
                </a:lnTo>
              </a:path>
            </a:pathLst>
          </a:custGeom>
          <a:noFill/>
          <a:ln w="25400" cap="flat" cmpd="sng" algn="ctr">
            <a:solidFill>
              <a:srgbClr val="00B05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fontAlgn="ctr"/>
            <a:endParaRPr lang="en-US" altLang="zh-CN">
              <a:latin typeface="+mn-ea"/>
              <a:ea typeface="+mn-ea"/>
            </a:endParaRPr>
          </a:p>
        </p:txBody>
      </p:sp>
      <p:cxnSp>
        <p:nvCxnSpPr>
          <p:cNvPr id="164" name="26078770"/>
          <p:cNvCxnSpPr>
            <a:cxnSpLocks noChangeShapeType="1"/>
          </p:cNvCxnSpPr>
          <p:nvPr/>
        </p:nvCxnSpPr>
        <p:spPr bwMode="auto">
          <a:xfrm>
            <a:off x="4300628" y="2173925"/>
            <a:ext cx="460655" cy="44180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65" name="262510153"/>
          <p:cNvCxnSpPr>
            <a:cxnSpLocks noChangeShapeType="1"/>
          </p:cNvCxnSpPr>
          <p:nvPr/>
        </p:nvCxnSpPr>
        <p:spPr bwMode="auto">
          <a:xfrm flipH="1">
            <a:off x="3532937" y="2173924"/>
            <a:ext cx="484211" cy="41778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61" name="任意多边形 160"/>
          <p:cNvSpPr/>
          <p:nvPr/>
        </p:nvSpPr>
        <p:spPr bwMode="auto">
          <a:xfrm>
            <a:off x="2528330" y="2914930"/>
            <a:ext cx="857018" cy="675870"/>
          </a:xfrm>
          <a:custGeom>
            <a:avLst/>
            <a:gdLst>
              <a:gd name="connsiteX0" fmla="*/ 0 w 1000897"/>
              <a:gd name="connsiteY0" fmla="*/ 1112109 h 1112109"/>
              <a:gd name="connsiteX1" fmla="*/ 0 w 1000897"/>
              <a:gd name="connsiteY1" fmla="*/ 753763 h 1112109"/>
              <a:gd name="connsiteX2" fmla="*/ 976184 w 1000897"/>
              <a:gd name="connsiteY2" fmla="*/ 741406 h 1112109"/>
              <a:gd name="connsiteX3" fmla="*/ 1000897 w 1000897"/>
              <a:gd name="connsiteY3" fmla="*/ 0 h 1112109"/>
            </a:gdLst>
            <a:ahLst/>
            <a:cxnLst>
              <a:cxn ang="0">
                <a:pos x="connsiteX0" y="connsiteY0"/>
              </a:cxn>
              <a:cxn ang="0">
                <a:pos x="connsiteX1" y="connsiteY1"/>
              </a:cxn>
              <a:cxn ang="0">
                <a:pos x="connsiteX2" y="connsiteY2"/>
              </a:cxn>
              <a:cxn ang="0">
                <a:pos x="connsiteX3" y="connsiteY3"/>
              </a:cxn>
            </a:cxnLst>
            <a:rect l="l" t="t" r="r" b="b"/>
            <a:pathLst>
              <a:path w="1000897" h="1112109">
                <a:moveTo>
                  <a:pt x="0" y="1112109"/>
                </a:moveTo>
                <a:lnTo>
                  <a:pt x="0" y="753763"/>
                </a:lnTo>
                <a:lnTo>
                  <a:pt x="976184" y="741406"/>
                </a:lnTo>
                <a:lnTo>
                  <a:pt x="1000897" y="0"/>
                </a:lnTo>
              </a:path>
            </a:pathLst>
          </a:custGeom>
          <a:noFill/>
          <a:ln w="25400" cap="flat" cmpd="sng" algn="ctr">
            <a:solidFill>
              <a:srgbClr val="C00000"/>
            </a:solidFill>
            <a:prstDash val="lg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fontAlgn="ctr"/>
            <a:endParaRPr lang="en-US" altLang="zh-CN">
              <a:latin typeface="+mn-ea"/>
              <a:ea typeface="+mn-ea"/>
            </a:endParaRPr>
          </a:p>
        </p:txBody>
      </p:sp>
      <p:sp>
        <p:nvSpPr>
          <p:cNvPr id="167" name="1059674187"/>
          <p:cNvSpPr txBox="1"/>
          <p:nvPr/>
        </p:nvSpPr>
        <p:spPr bwMode="auto">
          <a:xfrm>
            <a:off x="3817096" y="1671459"/>
            <a:ext cx="729301" cy="254837"/>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pPr fontAlgn="ctr"/>
            <a:r>
              <a:rPr lang="en-US" altLang="zh-CN" b="1">
                <a:latin typeface="+mn-ea"/>
              </a:rPr>
              <a:t>RouterC</a:t>
            </a:r>
            <a:endParaRPr lang="en-US" altLang="zh-CN" b="1" dirty="0">
              <a:latin typeface="+mn-ea"/>
            </a:endParaRPr>
          </a:p>
        </p:txBody>
      </p:sp>
      <p:sp>
        <p:nvSpPr>
          <p:cNvPr id="168" name="1436624989"/>
          <p:cNvSpPr>
            <a:spLocks noChangeAspect="1"/>
          </p:cNvSpPr>
          <p:nvPr/>
        </p:nvSpPr>
        <p:spPr>
          <a:xfrm>
            <a:off x="3507767" y="2448707"/>
            <a:ext cx="548162" cy="224059"/>
          </a:xfrm>
          <a:prstGeom prst="rect">
            <a:avLst/>
          </a:prstGeom>
          <a:noFill/>
          <a:ln w="9525">
            <a:noFill/>
            <a:miter lim="800000"/>
            <a:headEnd/>
            <a:tailEnd/>
          </a:ln>
        </p:spPr>
        <p:txBody>
          <a:bodyPr wrap="none" lIns="99980" tIns="49986" rIns="99980" bIns="49986" rtlCol="0">
            <a:spAutoFit/>
          </a:bodyPr>
          <a:lstStyle/>
          <a:p>
            <a:pPr algn="ctr" defTabSz="1001649" eaLnBrk="0" fontAlgn="ctr" hangingPunct="0"/>
            <a:r>
              <a:rPr lang="en-US" altLang="zh-CN" sz="800" dirty="0">
                <a:solidFill>
                  <a:srgbClr val="000000"/>
                </a:solidFill>
                <a:latin typeface="+mn-ea"/>
                <a:ea typeface="+mn-ea"/>
                <a:cs typeface="Arial" pitchFamily="34" charset="0"/>
              </a:rPr>
              <a:t>G0/0/0</a:t>
            </a:r>
          </a:p>
        </p:txBody>
      </p:sp>
      <p:sp>
        <p:nvSpPr>
          <p:cNvPr id="169" name="1643522948"/>
          <p:cNvSpPr>
            <a:spLocks noChangeAspect="1"/>
          </p:cNvSpPr>
          <p:nvPr/>
        </p:nvSpPr>
        <p:spPr>
          <a:xfrm>
            <a:off x="4193735" y="2445244"/>
            <a:ext cx="530915" cy="215444"/>
          </a:xfrm>
          <a:prstGeom prst="rect">
            <a:avLst/>
          </a:prstGeom>
        </p:spPr>
        <p:txBody>
          <a:bodyPr wrap="none">
            <a:spAutoFit/>
          </a:bodyPr>
          <a:lstStyle/>
          <a:p>
            <a:pPr algn="ctr" defTabSz="1001649" eaLnBrk="0" fontAlgn="ctr" hangingPunct="0"/>
            <a:r>
              <a:rPr lang="en-US" altLang="zh-CN" sz="800" dirty="0">
                <a:solidFill>
                  <a:srgbClr val="000000"/>
                </a:solidFill>
                <a:latin typeface="+mn-ea"/>
                <a:ea typeface="+mn-ea"/>
                <a:cs typeface="Arial" pitchFamily="34" charset="0"/>
              </a:rPr>
              <a:t>G0/0/0</a:t>
            </a:r>
          </a:p>
        </p:txBody>
      </p:sp>
      <p:sp>
        <p:nvSpPr>
          <p:cNvPr id="175" name="771164946"/>
          <p:cNvSpPr>
            <a:spLocks noGrp="1"/>
          </p:cNvSpPr>
          <p:nvPr>
            <p:ph type="title" idx="4294967295"/>
          </p:nvPr>
        </p:nvSpPr>
        <p:spPr>
          <a:xfrm>
            <a:off x="1631950" y="296652"/>
            <a:ext cx="10560050" cy="868363"/>
          </a:xfrm>
        </p:spPr>
        <p:txBody>
          <a:bodyPr/>
          <a:lstStyle/>
          <a:p>
            <a:r>
              <a:rPr lang="en-US" altLang="zh-CN" dirty="0" smtClean="0"/>
              <a:t>VRRP Configuration</a:t>
            </a:r>
            <a:endParaRPr lang="en-US" altLang="zh-CN" dirty="0"/>
          </a:p>
        </p:txBody>
      </p:sp>
      <p:sp>
        <p:nvSpPr>
          <p:cNvPr id="66" name="890806847"/>
          <p:cNvSpPr>
            <a:spLocks noChangeArrowheads="1"/>
          </p:cNvSpPr>
          <p:nvPr/>
        </p:nvSpPr>
        <p:spPr bwMode="auto">
          <a:xfrm>
            <a:off x="2570082" y="5157193"/>
            <a:ext cx="3204283" cy="615553"/>
          </a:xfrm>
          <a:prstGeom prst="roundRect">
            <a:avLst>
              <a:gd name="adj" fmla="val 0"/>
            </a:avLst>
          </a:prstGeom>
          <a:solidFill>
            <a:schemeClr val="bg1">
              <a:lumMod val="85000"/>
            </a:schemeClr>
          </a:solidFill>
          <a:ln w="12700" algn="ctr">
            <a:noFill/>
            <a:round/>
            <a:headEnd/>
            <a:tailEnd/>
          </a:ln>
          <a:effectLst/>
        </p:spPr>
        <p:txBody>
          <a:bodyPr wrap="square" lIns="72000" tIns="0" rIns="0" bIns="0" anchor="ctr" anchorCtr="0">
            <a:spAutoFit/>
          </a:bodyPr>
          <a:lstStyle/>
          <a:p>
            <a:pPr defTabSz="784225" eaLnBrk="0" fontAlgn="ctr" hangingPunct="0"/>
            <a:r>
              <a:rPr lang="en-US" altLang="zh-CN" dirty="0">
                <a:latin typeface="Courier New" panose="02070309020205020404" pitchFamily="49" charset="0"/>
                <a:ea typeface="+mn-ea"/>
                <a:cs typeface="Courier New" panose="02070309020205020404" pitchFamily="49" charset="0"/>
              </a:rPr>
              <a:t>Configure </a:t>
            </a:r>
            <a:r>
              <a:rPr lang="en-US" altLang="zh-CN" dirty="0" err="1">
                <a:latin typeface="Courier New" panose="02070309020205020404" pitchFamily="49" charset="0"/>
                <a:ea typeface="+mn-ea"/>
                <a:cs typeface="Courier New" panose="02070309020205020404" pitchFamily="49" charset="0"/>
              </a:rPr>
              <a:t>RouterB</a:t>
            </a:r>
            <a:r>
              <a:rPr lang="en-US" altLang="zh-CN" dirty="0">
                <a:latin typeface="Courier New" panose="02070309020205020404" pitchFamily="49" charset="0"/>
                <a:ea typeface="+mn-ea"/>
                <a:cs typeface="Courier New" panose="02070309020205020404" pitchFamily="49" charset="0"/>
              </a:rPr>
              <a:t>.</a:t>
            </a:r>
          </a:p>
          <a:p>
            <a:pPr defTabSz="784225" eaLnBrk="0" fontAlgn="ctr" hangingPunct="0"/>
            <a:r>
              <a:rPr lang="en-US" altLang="zh-CN" dirty="0">
                <a:latin typeface="Courier New" panose="02070309020205020404" pitchFamily="49" charset="0"/>
                <a:ea typeface="+mn-ea"/>
                <a:cs typeface="Courier New" panose="02070309020205020404" pitchFamily="49" charset="0"/>
              </a:rPr>
              <a:t>interface GigabitEthernet0/0/1</a:t>
            </a:r>
          </a:p>
          <a:p>
            <a:pPr defTabSz="784225" eaLnBrk="0" fontAlgn="ctr" hangingPunct="0"/>
            <a:r>
              <a:rPr lang="en-US" altLang="zh-CN" dirty="0">
                <a:latin typeface="Courier New" panose="02070309020205020404" pitchFamily="49" charset="0"/>
                <a:ea typeface="+mn-ea"/>
                <a:cs typeface="Courier New" panose="02070309020205020404" pitchFamily="49" charset="0"/>
              </a:rPr>
              <a:t> </a:t>
            </a:r>
            <a:r>
              <a:rPr lang="en-US" altLang="zh-CN" dirty="0" err="1">
                <a:latin typeface="Courier New" panose="02070309020205020404" pitchFamily="49" charset="0"/>
                <a:ea typeface="+mn-ea"/>
                <a:cs typeface="Courier New" panose="02070309020205020404" pitchFamily="49" charset="0"/>
              </a:rPr>
              <a:t>ip</a:t>
            </a:r>
            <a:r>
              <a:rPr lang="en-US" altLang="zh-CN" dirty="0">
                <a:latin typeface="Courier New" panose="02070309020205020404" pitchFamily="49" charset="0"/>
                <a:ea typeface="+mn-ea"/>
                <a:cs typeface="Courier New" panose="02070309020205020404" pitchFamily="49" charset="0"/>
              </a:rPr>
              <a:t> address 10.0.0.2 255.255.255.0 </a:t>
            </a:r>
          </a:p>
          <a:p>
            <a:pPr defTabSz="784225" eaLnBrk="0" fontAlgn="ctr" hangingPunct="0"/>
            <a:r>
              <a:rPr lang="en-US" altLang="zh-CN" dirty="0">
                <a:latin typeface="Courier New" panose="02070309020205020404" pitchFamily="49" charset="0"/>
                <a:ea typeface="+mn-ea"/>
                <a:cs typeface="Courier New" panose="02070309020205020404" pitchFamily="49" charset="0"/>
              </a:rPr>
              <a:t> </a:t>
            </a:r>
            <a:r>
              <a:rPr lang="en-US" altLang="zh-CN" dirty="0" err="1">
                <a:latin typeface="Courier New" panose="02070309020205020404" pitchFamily="49" charset="0"/>
                <a:ea typeface="+mn-ea"/>
                <a:cs typeface="Courier New" panose="02070309020205020404" pitchFamily="49" charset="0"/>
              </a:rPr>
              <a:t>vrrp</a:t>
            </a:r>
            <a:r>
              <a:rPr lang="en-US" altLang="zh-CN" dirty="0">
                <a:latin typeface="Courier New" panose="02070309020205020404" pitchFamily="49" charset="0"/>
                <a:ea typeface="+mn-ea"/>
                <a:cs typeface="Courier New" panose="02070309020205020404" pitchFamily="49" charset="0"/>
              </a:rPr>
              <a:t> </a:t>
            </a:r>
            <a:r>
              <a:rPr lang="en-US" altLang="zh-CN" dirty="0" err="1">
                <a:latin typeface="Courier New" panose="02070309020205020404" pitchFamily="49" charset="0"/>
                <a:ea typeface="+mn-ea"/>
                <a:cs typeface="Courier New" panose="02070309020205020404" pitchFamily="49" charset="0"/>
              </a:rPr>
              <a:t>vrid</a:t>
            </a:r>
            <a:r>
              <a:rPr lang="en-US" altLang="zh-CN" dirty="0">
                <a:latin typeface="Courier New" panose="02070309020205020404" pitchFamily="49" charset="0"/>
                <a:ea typeface="+mn-ea"/>
                <a:cs typeface="Courier New" panose="02070309020205020404" pitchFamily="49" charset="0"/>
              </a:rPr>
              <a:t> 1 virtual-</a:t>
            </a:r>
            <a:r>
              <a:rPr lang="en-US" altLang="zh-CN" dirty="0" err="1">
                <a:latin typeface="Courier New" panose="02070309020205020404" pitchFamily="49" charset="0"/>
                <a:ea typeface="+mn-ea"/>
                <a:cs typeface="Courier New" panose="02070309020205020404" pitchFamily="49" charset="0"/>
              </a:rPr>
              <a:t>ip</a:t>
            </a:r>
            <a:r>
              <a:rPr lang="en-US" altLang="zh-CN" dirty="0">
                <a:latin typeface="Courier New" panose="02070309020205020404" pitchFamily="49" charset="0"/>
                <a:ea typeface="+mn-ea"/>
                <a:cs typeface="Courier New" panose="02070309020205020404" pitchFamily="49" charset="0"/>
              </a:rPr>
              <a:t> 10.0.0.10</a:t>
            </a:r>
          </a:p>
        </p:txBody>
      </p:sp>
      <p:sp>
        <p:nvSpPr>
          <p:cNvPr id="67" name="983457018"/>
          <p:cNvSpPr>
            <a:spLocks noChangeArrowheads="1"/>
          </p:cNvSpPr>
          <p:nvPr/>
        </p:nvSpPr>
        <p:spPr bwMode="auto">
          <a:xfrm>
            <a:off x="6323986" y="3907939"/>
            <a:ext cx="3300406" cy="1246495"/>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fontAlgn="ctr"/>
            <a:r>
              <a:rPr lang="en-US" altLang="zh-CN" sz="900" dirty="0">
                <a:latin typeface="Courier New" panose="02070309020205020404" pitchFamily="49" charset="0"/>
                <a:ea typeface="+mn-ea"/>
                <a:cs typeface="Courier New" panose="02070309020205020404" pitchFamily="49" charset="0"/>
              </a:rPr>
              <a:t>Configure </a:t>
            </a:r>
            <a:r>
              <a:rPr lang="en-US" altLang="zh-CN" sz="900" dirty="0" err="1">
                <a:latin typeface="Courier New" panose="02070309020205020404" pitchFamily="49" charset="0"/>
                <a:ea typeface="+mn-ea"/>
                <a:cs typeface="Courier New" panose="02070309020205020404" pitchFamily="49" charset="0"/>
              </a:rPr>
              <a:t>RouterA</a:t>
            </a:r>
            <a:r>
              <a:rPr lang="en-US" altLang="zh-CN" sz="900" dirty="0">
                <a:latin typeface="Courier New" panose="02070309020205020404" pitchFamily="49" charset="0"/>
                <a:ea typeface="+mn-ea"/>
                <a:cs typeface="Courier New" panose="02070309020205020404" pitchFamily="49" charset="0"/>
              </a:rPr>
              <a:t>.</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interface GigabitEthernet0/0/1</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ip</a:t>
            </a:r>
            <a:r>
              <a:rPr lang="en-US" altLang="zh-CN" sz="900" dirty="0">
                <a:latin typeface="Courier New" panose="02070309020205020404" pitchFamily="49" charset="0"/>
                <a:ea typeface="+mn-ea"/>
                <a:cs typeface="Courier New" panose="02070309020205020404" pitchFamily="49" charset="0"/>
              </a:rPr>
              <a:t> address 10.0.0.1 255.255.255.0 </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virtual-</a:t>
            </a:r>
            <a:r>
              <a:rPr lang="en-US" altLang="zh-CN" sz="900" dirty="0" err="1">
                <a:latin typeface="Courier New" panose="02070309020205020404" pitchFamily="49" charset="0"/>
                <a:ea typeface="+mn-ea"/>
                <a:cs typeface="Courier New" panose="02070309020205020404" pitchFamily="49" charset="0"/>
              </a:rPr>
              <a:t>ip</a:t>
            </a:r>
            <a:r>
              <a:rPr lang="en-US" altLang="zh-CN" sz="900" dirty="0">
                <a:latin typeface="Courier New" panose="02070309020205020404" pitchFamily="49" charset="0"/>
                <a:ea typeface="+mn-ea"/>
                <a:cs typeface="Courier New" panose="02070309020205020404" pitchFamily="49" charset="0"/>
              </a:rPr>
              <a:t> 10.0.0.10</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priority 120</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preempt-mode timer delay 20 </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track interface GigabitEthernet0/0/0 reduce 30</a:t>
            </a:r>
          </a:p>
          <a:p>
            <a:pPr defTabSz="784225" eaLnBrk="0" fontAlgn="ctr" hangingPunct="0"/>
            <a:r>
              <a:rPr lang="en-US" altLang="zh-CN" sz="900" b="1" dirty="0">
                <a:latin typeface="+mn-ea"/>
                <a:ea typeface="+mn-ea"/>
                <a:cs typeface="Courier New" panose="02070309020205020404" pitchFamily="49" charset="0"/>
              </a:rPr>
              <a:t> </a:t>
            </a:r>
            <a:r>
              <a:rPr lang="en-US" altLang="zh-CN" sz="900" b="1" dirty="0" err="1">
                <a:latin typeface="+mn-ea"/>
                <a:ea typeface="+mn-ea"/>
                <a:cs typeface="Courier New" panose="02070309020205020404" pitchFamily="49" charset="0"/>
              </a:rPr>
              <a:t>vrrp</a:t>
            </a:r>
            <a:r>
              <a:rPr lang="en-US" altLang="zh-CN" sz="900" b="1" dirty="0">
                <a:latin typeface="+mn-ea"/>
                <a:ea typeface="+mn-ea"/>
                <a:cs typeface="Courier New" panose="02070309020205020404" pitchFamily="49" charset="0"/>
              </a:rPr>
              <a:t> </a:t>
            </a:r>
            <a:r>
              <a:rPr lang="en-US" altLang="zh-CN" sz="900" b="1" dirty="0" err="1">
                <a:latin typeface="+mn-ea"/>
                <a:ea typeface="+mn-ea"/>
                <a:cs typeface="Courier New" panose="02070309020205020404" pitchFamily="49" charset="0"/>
              </a:rPr>
              <a:t>vrid</a:t>
            </a:r>
            <a:r>
              <a:rPr lang="en-US" altLang="zh-CN" sz="900" b="1" dirty="0">
                <a:latin typeface="+mn-ea"/>
                <a:ea typeface="+mn-ea"/>
                <a:cs typeface="Courier New" panose="02070309020205020404" pitchFamily="49" charset="0"/>
              </a:rPr>
              <a:t> 2 virtual-</a:t>
            </a:r>
            <a:r>
              <a:rPr lang="en-US" altLang="zh-CN" sz="900" b="1" dirty="0" err="1">
                <a:latin typeface="+mn-ea"/>
                <a:ea typeface="+mn-ea"/>
                <a:cs typeface="Courier New" panose="02070309020205020404" pitchFamily="49" charset="0"/>
              </a:rPr>
              <a:t>ip</a:t>
            </a:r>
            <a:r>
              <a:rPr lang="en-US" altLang="zh-CN" sz="900" b="1" dirty="0">
                <a:latin typeface="+mn-ea"/>
                <a:ea typeface="+mn-ea"/>
                <a:cs typeface="Courier New" panose="02070309020205020404" pitchFamily="49" charset="0"/>
              </a:rPr>
              <a:t> 10.0.0.11</a:t>
            </a:r>
          </a:p>
        </p:txBody>
      </p:sp>
      <p:sp>
        <p:nvSpPr>
          <p:cNvPr id="68" name="1404904574"/>
          <p:cNvSpPr>
            <a:spLocks noChangeArrowheads="1"/>
          </p:cNvSpPr>
          <p:nvPr/>
        </p:nvSpPr>
        <p:spPr bwMode="auto">
          <a:xfrm>
            <a:off x="6323986" y="5015935"/>
            <a:ext cx="3300406" cy="1246495"/>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defTabSz="784225" eaLnBrk="0" fontAlgn="ctr" hangingPunct="0"/>
            <a:r>
              <a:rPr lang="en-US" altLang="zh-CN" sz="900" dirty="0">
                <a:latin typeface="Courier New" panose="02070309020205020404" pitchFamily="49" charset="0"/>
                <a:ea typeface="+mn-ea"/>
                <a:cs typeface="Courier New" panose="02070309020205020404" pitchFamily="49" charset="0"/>
              </a:rPr>
              <a:t>Configure </a:t>
            </a:r>
            <a:r>
              <a:rPr lang="en-US" altLang="zh-CN" sz="900" dirty="0" err="1">
                <a:latin typeface="Courier New" panose="02070309020205020404" pitchFamily="49" charset="0"/>
                <a:ea typeface="+mn-ea"/>
                <a:cs typeface="Courier New" panose="02070309020205020404" pitchFamily="49" charset="0"/>
              </a:rPr>
              <a:t>RouterB</a:t>
            </a:r>
            <a:r>
              <a:rPr lang="en-US" altLang="zh-CN" sz="900" dirty="0">
                <a:latin typeface="Courier New" panose="02070309020205020404" pitchFamily="49" charset="0"/>
                <a:ea typeface="+mn-ea"/>
                <a:cs typeface="Courier New" panose="02070309020205020404" pitchFamily="49" charset="0"/>
              </a:rPr>
              <a:t>.</a:t>
            </a:r>
            <a:br>
              <a:rPr lang="en-US" altLang="zh-CN" sz="900" dirty="0">
                <a:latin typeface="Courier New" panose="02070309020205020404" pitchFamily="49" charset="0"/>
                <a:ea typeface="+mn-ea"/>
                <a:cs typeface="Courier New" panose="02070309020205020404" pitchFamily="49" charset="0"/>
              </a:rPr>
            </a:br>
            <a:r>
              <a:rPr lang="en-US" altLang="zh-CN" sz="900" dirty="0">
                <a:latin typeface="Courier New" panose="02070309020205020404" pitchFamily="49" charset="0"/>
                <a:ea typeface="+mn-ea"/>
                <a:cs typeface="Courier New" panose="02070309020205020404" pitchFamily="49" charset="0"/>
              </a:rPr>
              <a:t>interface GigabitEthernet0/0/1</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ip</a:t>
            </a:r>
            <a:r>
              <a:rPr lang="en-US" altLang="zh-CN" sz="900" dirty="0">
                <a:latin typeface="Courier New" panose="02070309020205020404" pitchFamily="49" charset="0"/>
                <a:ea typeface="+mn-ea"/>
                <a:cs typeface="Courier New" panose="02070309020205020404" pitchFamily="49" charset="0"/>
              </a:rPr>
              <a:t> address 10.0.0.2 255.255.255.0 </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virtual-</a:t>
            </a:r>
            <a:r>
              <a:rPr lang="en-US" altLang="zh-CN" sz="900" dirty="0" err="1">
                <a:latin typeface="Courier New" panose="02070309020205020404" pitchFamily="49" charset="0"/>
                <a:ea typeface="+mn-ea"/>
                <a:cs typeface="Courier New" panose="02070309020205020404" pitchFamily="49" charset="0"/>
              </a:rPr>
              <a:t>ip</a:t>
            </a:r>
            <a:r>
              <a:rPr lang="en-US" altLang="zh-CN" sz="900" dirty="0">
                <a:latin typeface="Courier New" panose="02070309020205020404" pitchFamily="49" charset="0"/>
                <a:ea typeface="+mn-ea"/>
                <a:cs typeface="Courier New" panose="02070309020205020404" pitchFamily="49" charset="0"/>
              </a:rPr>
              <a:t> 10.0.0.10</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2 virtual-</a:t>
            </a:r>
            <a:r>
              <a:rPr lang="en-US" altLang="zh-CN" sz="900" dirty="0" err="1">
                <a:latin typeface="Courier New" panose="02070309020205020404" pitchFamily="49" charset="0"/>
                <a:ea typeface="+mn-ea"/>
                <a:cs typeface="Courier New" panose="02070309020205020404" pitchFamily="49" charset="0"/>
              </a:rPr>
              <a:t>ip</a:t>
            </a:r>
            <a:r>
              <a:rPr lang="en-US" altLang="zh-CN" sz="900" dirty="0">
                <a:latin typeface="Courier New" panose="02070309020205020404" pitchFamily="49" charset="0"/>
                <a:ea typeface="+mn-ea"/>
                <a:cs typeface="Courier New" panose="02070309020205020404" pitchFamily="49" charset="0"/>
              </a:rPr>
              <a:t> 10.0.0.11</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2 priority 120</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2 preempt-mode timer delay 20 </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2 track interface GigabitEthernet0/0/0 reduce 30</a:t>
            </a:r>
            <a:endParaRPr lang="en-US" altLang="zh-CN" sz="900" dirty="0">
              <a:solidFill>
                <a:srgbClr val="0066FF"/>
              </a:solidFill>
              <a:latin typeface="Courier New" panose="02070309020205020404" pitchFamily="49" charset="0"/>
              <a:ea typeface="+mn-ea"/>
              <a:cs typeface="Courier New" panose="02070309020205020404" pitchFamily="49" charset="0"/>
            </a:endParaRPr>
          </a:p>
        </p:txBody>
      </p:sp>
      <p:sp>
        <p:nvSpPr>
          <p:cNvPr id="2" name="222604635"/>
          <p:cNvSpPr/>
          <p:nvPr/>
        </p:nvSpPr>
        <p:spPr>
          <a:xfrm>
            <a:off x="6677124" y="3611794"/>
            <a:ext cx="587020" cy="246221"/>
          </a:xfrm>
          <a:prstGeom prst="rect">
            <a:avLst/>
          </a:prstGeom>
        </p:spPr>
        <p:txBody>
          <a:bodyPr wrap="none">
            <a:spAutoFit/>
          </a:bodyPr>
          <a:lstStyle/>
          <a:p>
            <a:pPr algn="ctr" defTabSz="1001649" eaLnBrk="0" fontAlgn="ctr" hangingPunct="0"/>
            <a:r>
              <a:rPr lang="en-US" altLang="zh-CN" b="1" dirty="0" err="1">
                <a:solidFill>
                  <a:srgbClr val="000000"/>
                </a:solidFill>
                <a:latin typeface="+mn-ea"/>
                <a:ea typeface="+mn-ea"/>
                <a:cs typeface="Arial" pitchFamily="34" charset="0"/>
              </a:rPr>
              <a:t>HostA</a:t>
            </a:r>
            <a:endParaRPr lang="en-US" altLang="zh-CN" b="1" dirty="0">
              <a:solidFill>
                <a:srgbClr val="000000"/>
              </a:solidFill>
              <a:latin typeface="+mn-ea"/>
              <a:ea typeface="+mn-ea"/>
              <a:cs typeface="Arial" pitchFamily="34" charset="0"/>
            </a:endParaRPr>
          </a:p>
        </p:txBody>
      </p:sp>
      <p:sp>
        <p:nvSpPr>
          <p:cNvPr id="3" name="1343252068"/>
          <p:cNvSpPr/>
          <p:nvPr/>
        </p:nvSpPr>
        <p:spPr>
          <a:xfrm>
            <a:off x="8392191" y="3618581"/>
            <a:ext cx="579005" cy="246221"/>
          </a:xfrm>
          <a:prstGeom prst="rect">
            <a:avLst/>
          </a:prstGeom>
        </p:spPr>
        <p:txBody>
          <a:bodyPr wrap="none">
            <a:spAutoFit/>
          </a:bodyPr>
          <a:lstStyle/>
          <a:p>
            <a:pPr algn="ctr" defTabSz="1001649" eaLnBrk="0" fontAlgn="ctr" hangingPunct="0"/>
            <a:r>
              <a:rPr lang="en-US" altLang="zh-CN" b="1" dirty="0" err="1">
                <a:solidFill>
                  <a:srgbClr val="000000"/>
                </a:solidFill>
                <a:latin typeface="+mn-ea"/>
                <a:ea typeface="+mn-ea"/>
                <a:cs typeface="Arial" pitchFamily="34" charset="0"/>
              </a:rPr>
              <a:t>HostB</a:t>
            </a:r>
            <a:endParaRPr lang="en-US" altLang="zh-CN" b="1" dirty="0">
              <a:solidFill>
                <a:srgbClr val="000000"/>
              </a:solidFill>
              <a:latin typeface="+mn-ea"/>
              <a:ea typeface="+mn-ea"/>
              <a:cs typeface="Arial" pitchFamily="34" charset="0"/>
            </a:endParaRPr>
          </a:p>
        </p:txBody>
      </p:sp>
      <p:sp>
        <p:nvSpPr>
          <p:cNvPr id="4" name="1864307636"/>
          <p:cNvSpPr/>
          <p:nvPr/>
        </p:nvSpPr>
        <p:spPr>
          <a:xfrm>
            <a:off x="8986562" y="3618581"/>
            <a:ext cx="577402" cy="246221"/>
          </a:xfrm>
          <a:prstGeom prst="rect">
            <a:avLst/>
          </a:prstGeom>
        </p:spPr>
        <p:txBody>
          <a:bodyPr wrap="none">
            <a:spAutoFit/>
          </a:bodyPr>
          <a:lstStyle/>
          <a:p>
            <a:pPr algn="ctr" defTabSz="1001649" eaLnBrk="0" fontAlgn="ctr" hangingPunct="0"/>
            <a:r>
              <a:rPr lang="en-US" altLang="zh-CN" b="1" dirty="0" err="1">
                <a:solidFill>
                  <a:srgbClr val="000000"/>
                </a:solidFill>
                <a:latin typeface="+mn-ea"/>
                <a:ea typeface="+mn-ea"/>
                <a:cs typeface="Arial" pitchFamily="34" charset="0"/>
              </a:rPr>
              <a:t>HostC</a:t>
            </a:r>
            <a:endParaRPr lang="en-US" altLang="zh-CN" b="1" dirty="0">
              <a:solidFill>
                <a:srgbClr val="000000"/>
              </a:solidFill>
              <a:latin typeface="+mn-ea"/>
              <a:ea typeface="+mn-ea"/>
              <a:cs typeface="Arial" pitchFamily="34" charset="0"/>
            </a:endParaRPr>
          </a:p>
        </p:txBody>
      </p:sp>
      <p:sp>
        <p:nvSpPr>
          <p:cNvPr id="73" name="719842386"/>
          <p:cNvSpPr txBox="1"/>
          <p:nvPr/>
        </p:nvSpPr>
        <p:spPr bwMode="auto">
          <a:xfrm>
            <a:off x="2180314" y="2074300"/>
            <a:ext cx="1695911" cy="562613"/>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pPr fontAlgn="ctr"/>
            <a:r>
              <a:rPr lang="en-US" altLang="zh-CN" b="1" dirty="0" err="1">
                <a:latin typeface="+mn-ea"/>
              </a:rPr>
              <a:t>RouterA</a:t>
            </a:r>
            <a:endParaRPr lang="en-US" altLang="zh-CN" b="1" dirty="0">
              <a:latin typeface="+mn-ea"/>
            </a:endParaRPr>
          </a:p>
          <a:p>
            <a:pPr fontAlgn="ctr"/>
            <a:r>
              <a:rPr lang="en-US" altLang="zh-CN" dirty="0">
                <a:latin typeface="+mn-ea"/>
              </a:rPr>
              <a:t>vrid1 virtual </a:t>
            </a:r>
            <a:r>
              <a:rPr lang="en-US" altLang="zh-CN" dirty="0" err="1">
                <a:latin typeface="+mn-ea"/>
              </a:rPr>
              <a:t>ip</a:t>
            </a:r>
            <a:r>
              <a:rPr lang="en-US" altLang="zh-CN" dirty="0">
                <a:latin typeface="+mn-ea"/>
              </a:rPr>
              <a:t> :10.0.0.10</a:t>
            </a:r>
          </a:p>
          <a:p>
            <a:pPr fontAlgn="ctr"/>
            <a:r>
              <a:rPr lang="en-US" altLang="zh-CN" dirty="0">
                <a:solidFill>
                  <a:srgbClr val="C00000"/>
                </a:solidFill>
                <a:latin typeface="+mn-ea"/>
              </a:rPr>
              <a:t>Master</a:t>
            </a:r>
          </a:p>
        </p:txBody>
      </p:sp>
      <p:sp>
        <p:nvSpPr>
          <p:cNvPr id="74" name="1888906233"/>
          <p:cNvSpPr txBox="1"/>
          <p:nvPr/>
        </p:nvSpPr>
        <p:spPr bwMode="auto">
          <a:xfrm>
            <a:off x="4545298" y="2096853"/>
            <a:ext cx="1695911" cy="562613"/>
          </a:xfrm>
          <a:prstGeom prst="rect">
            <a:avLst/>
          </a:prstGeom>
          <a:noFill/>
          <a:ln w="9525">
            <a:noFill/>
            <a:miter lim="800000"/>
            <a:headEnd/>
            <a:tailEnd/>
          </a:ln>
        </p:spPr>
        <p:txBody>
          <a:bodyPr wrap="none" lIns="99980" tIns="49986" rIns="99980" bIns="49986" rtlCol="0">
            <a:spAutoFit/>
          </a:bodyPr>
          <a:lstStyle>
            <a:defPPr>
              <a:defRPr lang="zh-CN"/>
            </a:defPPr>
            <a:lvl1pPr algn="ctr" defTabSz="1001649" eaLnBrk="0" hangingPunct="0">
              <a:defRPr>
                <a:solidFill>
                  <a:srgbClr val="000000"/>
                </a:solidFill>
                <a:latin typeface="+mn-lt"/>
                <a:ea typeface="+mn-ea"/>
                <a:cs typeface="Arial" pitchFamily="34" charset="0"/>
              </a:defRPr>
            </a:lvl1pPr>
          </a:lstStyle>
          <a:p>
            <a:pPr fontAlgn="ctr"/>
            <a:r>
              <a:rPr lang="en-US" altLang="zh-CN" b="1" dirty="0" err="1">
                <a:latin typeface="+mn-ea"/>
              </a:rPr>
              <a:t>RouterB</a:t>
            </a:r>
            <a:endParaRPr lang="en-US" altLang="zh-CN" b="1" dirty="0">
              <a:latin typeface="+mn-ea"/>
            </a:endParaRPr>
          </a:p>
          <a:p>
            <a:pPr fontAlgn="ctr"/>
            <a:r>
              <a:rPr lang="en-US" altLang="zh-CN" dirty="0">
                <a:latin typeface="+mn-ea"/>
              </a:rPr>
              <a:t>vrid1 virtual </a:t>
            </a:r>
            <a:r>
              <a:rPr lang="en-US" altLang="zh-CN" dirty="0" err="1">
                <a:latin typeface="+mn-ea"/>
              </a:rPr>
              <a:t>ip</a:t>
            </a:r>
            <a:r>
              <a:rPr lang="en-US" altLang="zh-CN" dirty="0">
                <a:latin typeface="+mn-ea"/>
              </a:rPr>
              <a:t> :10.0.0.10</a:t>
            </a:r>
          </a:p>
          <a:p>
            <a:pPr fontAlgn="ctr"/>
            <a:r>
              <a:rPr lang="en-US" altLang="zh-CN" dirty="0">
                <a:solidFill>
                  <a:srgbClr val="C00000"/>
                </a:solidFill>
                <a:latin typeface="+mn-ea"/>
              </a:rPr>
              <a:t>Backup</a:t>
            </a:r>
          </a:p>
        </p:txBody>
      </p:sp>
      <p:sp>
        <p:nvSpPr>
          <p:cNvPr id="69" name="464758166"/>
          <p:cNvSpPr>
            <a:spLocks noChangeArrowheads="1"/>
          </p:cNvSpPr>
          <p:nvPr/>
        </p:nvSpPr>
        <p:spPr bwMode="auto">
          <a:xfrm>
            <a:off x="2570082" y="4068070"/>
            <a:ext cx="3204283" cy="1107996"/>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defTabSz="784225" eaLnBrk="0" fontAlgn="ctr" hangingPunct="0"/>
            <a:r>
              <a:rPr lang="en-US" altLang="zh-CN" sz="900" dirty="0">
                <a:latin typeface="Courier New" panose="02070309020205020404" pitchFamily="49" charset="0"/>
                <a:ea typeface="+mn-ea"/>
                <a:cs typeface="Courier New" panose="02070309020205020404" pitchFamily="49" charset="0"/>
              </a:rPr>
              <a:t>Configure </a:t>
            </a:r>
            <a:r>
              <a:rPr lang="en-US" altLang="zh-CN" sz="900" dirty="0" err="1">
                <a:latin typeface="Courier New" panose="02070309020205020404" pitchFamily="49" charset="0"/>
                <a:ea typeface="+mn-ea"/>
                <a:cs typeface="Courier New" panose="02070309020205020404" pitchFamily="49" charset="0"/>
              </a:rPr>
              <a:t>RouterA</a:t>
            </a:r>
            <a:r>
              <a:rPr lang="en-US" altLang="zh-CN" sz="900" dirty="0">
                <a:latin typeface="Courier New" panose="02070309020205020404" pitchFamily="49" charset="0"/>
                <a:ea typeface="+mn-ea"/>
                <a:cs typeface="Courier New" panose="02070309020205020404" pitchFamily="49" charset="0"/>
              </a:rPr>
              <a:t>.</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interface GigabitEthernet0/0/1</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ip</a:t>
            </a:r>
            <a:r>
              <a:rPr lang="en-US" altLang="zh-CN" sz="900" dirty="0">
                <a:latin typeface="Courier New" panose="02070309020205020404" pitchFamily="49" charset="0"/>
                <a:ea typeface="+mn-ea"/>
                <a:cs typeface="Courier New" panose="02070309020205020404" pitchFamily="49" charset="0"/>
              </a:rPr>
              <a:t> address 10.0.0.1 255.255.255.0 </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virtual-</a:t>
            </a:r>
            <a:r>
              <a:rPr lang="en-US" altLang="zh-CN" sz="900" dirty="0" err="1">
                <a:latin typeface="Courier New" panose="02070309020205020404" pitchFamily="49" charset="0"/>
                <a:ea typeface="+mn-ea"/>
                <a:cs typeface="Courier New" panose="02070309020205020404" pitchFamily="49" charset="0"/>
              </a:rPr>
              <a:t>ip</a:t>
            </a:r>
            <a:r>
              <a:rPr lang="en-US" altLang="zh-CN" sz="900" dirty="0">
                <a:latin typeface="Courier New" panose="02070309020205020404" pitchFamily="49" charset="0"/>
                <a:ea typeface="+mn-ea"/>
                <a:cs typeface="Courier New" panose="02070309020205020404" pitchFamily="49" charset="0"/>
              </a:rPr>
              <a:t> 10.0.0.10</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priority 120</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preempt-mode timer delay 20</a:t>
            </a:r>
          </a:p>
          <a:p>
            <a:pPr defTabSz="784225" eaLnBrk="0" fontAlgn="ctr" hangingPunct="0"/>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vrrp</a:t>
            </a:r>
            <a:r>
              <a:rPr lang="en-US" altLang="zh-CN" sz="900" dirty="0">
                <a:latin typeface="Courier New" panose="02070309020205020404" pitchFamily="49" charset="0"/>
                <a:ea typeface="+mn-ea"/>
                <a:cs typeface="Courier New" panose="02070309020205020404" pitchFamily="49" charset="0"/>
              </a:rPr>
              <a:t> </a:t>
            </a:r>
            <a:r>
              <a:rPr lang="en-US" altLang="zh-CN" sz="900" dirty="0" err="1">
                <a:latin typeface="Courier New" panose="02070309020205020404" pitchFamily="49" charset="0"/>
                <a:ea typeface="+mn-ea"/>
                <a:cs typeface="Courier New" panose="02070309020205020404" pitchFamily="49" charset="0"/>
              </a:rPr>
              <a:t>vrid</a:t>
            </a:r>
            <a:r>
              <a:rPr lang="en-US" altLang="zh-CN" sz="900" dirty="0">
                <a:latin typeface="Courier New" panose="02070309020205020404" pitchFamily="49" charset="0"/>
                <a:ea typeface="+mn-ea"/>
                <a:cs typeface="Courier New" panose="02070309020205020404" pitchFamily="49" charset="0"/>
              </a:rPr>
              <a:t> 1 track interface GigabitEthernet0/0/0 reduce 30</a:t>
            </a:r>
          </a:p>
        </p:txBody>
      </p:sp>
      <p:sp>
        <p:nvSpPr>
          <p:cNvPr id="5" name="1955556525"/>
          <p:cNvSpPr/>
          <p:nvPr/>
        </p:nvSpPr>
        <p:spPr>
          <a:xfrm>
            <a:off x="3352155" y="1376672"/>
            <a:ext cx="2139817" cy="307777"/>
          </a:xfrm>
          <a:prstGeom prst="rect">
            <a:avLst/>
          </a:prstGeom>
        </p:spPr>
        <p:txBody>
          <a:bodyPr wrap="none">
            <a:spAutoFit/>
          </a:bodyPr>
          <a:lstStyle/>
          <a:p>
            <a:pPr defTabSz="784225" eaLnBrk="0" fontAlgn="ctr" hangingPunct="0"/>
            <a:r>
              <a:rPr lang="en-US" altLang="zh-CN" sz="1400" b="1" dirty="0">
                <a:solidFill>
                  <a:srgbClr val="C00000"/>
                </a:solidFill>
                <a:latin typeface="+mn-ea"/>
                <a:ea typeface="+mn-ea"/>
                <a:cs typeface="Courier New" panose="02070309020205020404" pitchFamily="49" charset="0"/>
              </a:rPr>
              <a:t>Active/Standby mode</a:t>
            </a:r>
          </a:p>
        </p:txBody>
      </p:sp>
      <p:sp>
        <p:nvSpPr>
          <p:cNvPr id="64" name="1989178655"/>
          <p:cNvSpPr/>
          <p:nvPr/>
        </p:nvSpPr>
        <p:spPr>
          <a:xfrm>
            <a:off x="7212125" y="1381633"/>
            <a:ext cx="2123274" cy="307777"/>
          </a:xfrm>
          <a:prstGeom prst="rect">
            <a:avLst/>
          </a:prstGeom>
        </p:spPr>
        <p:txBody>
          <a:bodyPr wrap="none">
            <a:spAutoFit/>
          </a:bodyPr>
          <a:lstStyle/>
          <a:p>
            <a:pPr defTabSz="784225" eaLnBrk="0" fontAlgn="ctr" hangingPunct="0"/>
            <a:r>
              <a:rPr lang="en-US" altLang="zh-CN" sz="1400" b="1" dirty="0">
                <a:solidFill>
                  <a:srgbClr val="C00000"/>
                </a:solidFill>
                <a:latin typeface="+mn-ea"/>
                <a:ea typeface="+mn-ea"/>
                <a:cs typeface="Courier New" panose="02070309020205020404" pitchFamily="49" charset="0"/>
              </a:rPr>
              <a:t>Load balancing mode</a:t>
            </a:r>
          </a:p>
        </p:txBody>
      </p:sp>
      <p:pic>
        <p:nvPicPr>
          <p:cNvPr id="80" name="图片 7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22702" y="2580560"/>
            <a:ext cx="461030" cy="360000"/>
          </a:xfrm>
          <a:prstGeom prst="rect">
            <a:avLst/>
          </a:prstGeom>
        </p:spPr>
      </p:pic>
      <p:pic>
        <p:nvPicPr>
          <p:cNvPr id="82" name="图片 81" descr="PC.png"/>
          <p:cNvPicPr>
            <a:picLocks noChangeAspect="1"/>
          </p:cNvPicPr>
          <p:nvPr/>
        </p:nvPicPr>
        <p:blipFill>
          <a:blip r:embed="rId4" cstate="print"/>
          <a:stretch>
            <a:fillRect/>
          </a:stretch>
        </p:blipFill>
        <p:spPr>
          <a:xfrm>
            <a:off x="6144501" y="3465004"/>
            <a:ext cx="515626" cy="396000"/>
          </a:xfrm>
          <a:prstGeom prst="rect">
            <a:avLst/>
          </a:prstGeom>
        </p:spPr>
      </p:pic>
      <p:pic>
        <p:nvPicPr>
          <p:cNvPr id="84" name="图片 8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7082" y="1930811"/>
            <a:ext cx="461030" cy="360000"/>
          </a:xfrm>
          <a:prstGeom prst="rect">
            <a:avLst/>
          </a:prstGeom>
        </p:spPr>
      </p:pic>
      <p:pic>
        <p:nvPicPr>
          <p:cNvPr id="85" name="图片 8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27081" y="2564904"/>
            <a:ext cx="461030" cy="360000"/>
          </a:xfrm>
          <a:prstGeom prst="rect">
            <a:avLst/>
          </a:prstGeom>
        </p:spPr>
      </p:pic>
      <p:pic>
        <p:nvPicPr>
          <p:cNvPr id="86" name="图片 8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20481" y="2485053"/>
            <a:ext cx="461030" cy="360000"/>
          </a:xfrm>
          <a:prstGeom prst="rect">
            <a:avLst/>
          </a:prstGeom>
        </p:spPr>
      </p:pic>
      <p:pic>
        <p:nvPicPr>
          <p:cNvPr id="87" name="图片 8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5769" y="2490782"/>
            <a:ext cx="461030" cy="360000"/>
          </a:xfrm>
          <a:prstGeom prst="rect">
            <a:avLst/>
          </a:prstGeom>
        </p:spPr>
      </p:pic>
      <p:pic>
        <p:nvPicPr>
          <p:cNvPr id="88" name="图片 8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8610" y="1890663"/>
            <a:ext cx="461030" cy="360000"/>
          </a:xfrm>
          <a:prstGeom prst="rect">
            <a:avLst/>
          </a:prstGeom>
        </p:spPr>
      </p:pic>
      <p:pic>
        <p:nvPicPr>
          <p:cNvPr id="89" name="图片 88" descr="PC.png"/>
          <p:cNvPicPr>
            <a:picLocks noChangeAspect="1"/>
          </p:cNvPicPr>
          <p:nvPr/>
        </p:nvPicPr>
        <p:blipFill>
          <a:blip r:embed="rId4" cstate="print"/>
          <a:stretch>
            <a:fillRect/>
          </a:stretch>
        </p:blipFill>
        <p:spPr>
          <a:xfrm>
            <a:off x="5475462" y="3612331"/>
            <a:ext cx="515626" cy="396000"/>
          </a:xfrm>
          <a:prstGeom prst="rect">
            <a:avLst/>
          </a:prstGeom>
        </p:spPr>
      </p:pic>
      <p:pic>
        <p:nvPicPr>
          <p:cNvPr id="90" name="图片 89" descr="PC.png"/>
          <p:cNvPicPr>
            <a:picLocks noChangeAspect="1"/>
          </p:cNvPicPr>
          <p:nvPr/>
        </p:nvPicPr>
        <p:blipFill>
          <a:blip r:embed="rId4" cstate="print"/>
          <a:stretch>
            <a:fillRect/>
          </a:stretch>
        </p:blipFill>
        <p:spPr>
          <a:xfrm>
            <a:off x="3933896" y="3593154"/>
            <a:ext cx="515626" cy="396000"/>
          </a:xfrm>
          <a:prstGeom prst="rect">
            <a:avLst/>
          </a:prstGeom>
        </p:spPr>
      </p:pic>
      <p:pic>
        <p:nvPicPr>
          <p:cNvPr id="91" name="图片 90" descr="PC.png"/>
          <p:cNvPicPr>
            <a:picLocks noChangeAspect="1"/>
          </p:cNvPicPr>
          <p:nvPr/>
        </p:nvPicPr>
        <p:blipFill>
          <a:blip r:embed="rId4" cstate="print"/>
          <a:stretch>
            <a:fillRect/>
          </a:stretch>
        </p:blipFill>
        <p:spPr>
          <a:xfrm>
            <a:off x="2371211" y="3603808"/>
            <a:ext cx="515626" cy="396000"/>
          </a:xfrm>
          <a:prstGeom prst="rect">
            <a:avLst/>
          </a:prstGeom>
        </p:spPr>
      </p:pic>
      <p:pic>
        <p:nvPicPr>
          <p:cNvPr id="92" name="图片 91" descr="PC.png"/>
          <p:cNvPicPr>
            <a:picLocks noChangeAspect="1"/>
          </p:cNvPicPr>
          <p:nvPr/>
        </p:nvPicPr>
        <p:blipFill>
          <a:blip r:embed="rId4" cstate="print"/>
          <a:stretch>
            <a:fillRect/>
          </a:stretch>
        </p:blipFill>
        <p:spPr>
          <a:xfrm>
            <a:off x="7860196" y="3465004"/>
            <a:ext cx="515626" cy="396000"/>
          </a:xfrm>
          <a:prstGeom prst="rect">
            <a:avLst/>
          </a:prstGeom>
        </p:spPr>
      </p:pic>
      <p:pic>
        <p:nvPicPr>
          <p:cNvPr id="93" name="图片 92" descr="PC.png"/>
          <p:cNvPicPr>
            <a:picLocks noChangeAspect="1"/>
          </p:cNvPicPr>
          <p:nvPr/>
        </p:nvPicPr>
        <p:blipFill>
          <a:blip r:embed="rId4" cstate="print"/>
          <a:stretch>
            <a:fillRect/>
          </a:stretch>
        </p:blipFill>
        <p:spPr>
          <a:xfrm>
            <a:off x="9525963" y="3465048"/>
            <a:ext cx="515626" cy="396000"/>
          </a:xfrm>
          <a:prstGeom prst="rect">
            <a:avLst/>
          </a:prstGeom>
        </p:spPr>
      </p:pic>
    </p:spTree>
    <p:extLst>
      <p:ext uri="{BB962C8B-B14F-4D97-AF65-F5344CB8AC3E}">
        <p14:creationId xmlns:p14="http://schemas.microsoft.com/office/powerpoint/2010/main" val="3702186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747454723"/>
          <p:cNvSpPr>
            <a:spLocks noGrp="1"/>
          </p:cNvSpPr>
          <p:nvPr>
            <p:ph type="body" sz="quarter" idx="10"/>
          </p:nvPr>
        </p:nvSpPr>
        <p:spPr/>
        <p:txBody>
          <a:bodyPr/>
          <a:lstStyle/>
          <a:p>
            <a:r>
              <a:rPr lang="en-US" altLang="zh-CN" dirty="0" smtClean="0"/>
              <a:t>Which of the following statements about the VRRP master is false? </a:t>
            </a:r>
            <a:endParaRPr lang="en-US" altLang="zh-CN" dirty="0" smtClean="0">
              <a:sym typeface="Wingdings" panose="05000000000000000000" pitchFamily="2" charset="2"/>
            </a:endParaRPr>
          </a:p>
          <a:p>
            <a:pPr lvl="1"/>
            <a:r>
              <a:rPr lang="en-US" altLang="zh-CN" dirty="0" smtClean="0">
                <a:latin typeface="+mn-ea"/>
                <a:sym typeface="Wingdings" panose="05000000000000000000" pitchFamily="2" charset="2"/>
              </a:rPr>
              <a:t>The VRRP master periodically sends VRRP packets.</a:t>
            </a:r>
          </a:p>
          <a:p>
            <a:pPr lvl="1"/>
            <a:r>
              <a:rPr lang="en-US" altLang="zh-CN" dirty="0" smtClean="0">
                <a:latin typeface="+mn-ea"/>
                <a:sym typeface="Wingdings" panose="05000000000000000000" pitchFamily="2" charset="2"/>
              </a:rPr>
              <a:t>The VRRP master uses the virtual MAC address to respond to ARP Request packets carrying the virtual IP address.</a:t>
            </a:r>
          </a:p>
          <a:p>
            <a:pPr lvl="1"/>
            <a:r>
              <a:rPr lang="en-US" altLang="zh-CN" dirty="0" smtClean="0">
                <a:latin typeface="+mn-ea"/>
                <a:sym typeface="Wingdings" panose="05000000000000000000" pitchFamily="2" charset="2"/>
              </a:rPr>
              <a:t>The VRRP master forwards IP packets destined for the virtual MAC address.</a:t>
            </a:r>
          </a:p>
          <a:p>
            <a:pPr lvl="1"/>
            <a:r>
              <a:rPr lang="en-US" altLang="zh-CN" dirty="0" smtClean="0">
                <a:latin typeface="+mn-ea"/>
                <a:sym typeface="Wingdings" panose="05000000000000000000" pitchFamily="2" charset="2"/>
              </a:rPr>
              <a:t>Even if the master already exists, the backup with a higher priority will preempt to be the master.</a:t>
            </a:r>
          </a:p>
        </p:txBody>
      </p:sp>
    </p:spTree>
    <p:extLst>
      <p:ext uri="{BB962C8B-B14F-4D97-AF65-F5344CB8AC3E}">
        <p14:creationId xmlns:p14="http://schemas.microsoft.com/office/powerpoint/2010/main" val="16756861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1800022"/>
      </p:ext>
    </p:extLst>
  </p:cSld>
  <p:clrMapOvr>
    <a:masterClrMapping/>
  </p:clrMapOvr>
  <p:timing>
    <p:tnLst>
      <p:par>
        <p:cTn id="1" dur="indefinite" restart="never" nodeType="tmRoot"/>
      </p:par>
    </p:tnLst>
  </p:timing>
</p:sld>
</file>

<file path=ppt/theme/theme1.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D7578B-31A5-48B4-A7FB-3857BC8E72DF}"/>
</file>

<file path=customXml/itemProps2.xml><?xml version="1.0" encoding="utf-8"?>
<ds:datastoreItem xmlns:ds="http://schemas.openxmlformats.org/officeDocument/2006/customXml" ds:itemID="{EAE3093B-232B-4C15-AB25-7F1FBE134870}"/>
</file>

<file path=customXml/itemProps3.xml><?xml version="1.0" encoding="utf-8"?>
<ds:datastoreItem xmlns:ds="http://schemas.openxmlformats.org/officeDocument/2006/customXml" ds:itemID="{723E6701-3943-4A44-84F3-F772B5088830}"/>
</file>

<file path=docProps/app.xml><?xml version="1.0" encoding="utf-8"?>
<Properties xmlns="http://schemas.openxmlformats.org/officeDocument/2006/extended-properties" xmlns:vt="http://schemas.openxmlformats.org/officeDocument/2006/docPropsVTypes">
  <Template/>
  <TotalTime>69590</TotalTime>
  <Words>2536</Words>
  <Application>Microsoft Office PowerPoint</Application>
  <PresentationFormat>宽屏</PresentationFormat>
  <Paragraphs>297</Paragraphs>
  <Slides>21</Slides>
  <Notes>21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MS PGothic</vt:lpstr>
      <vt:lpstr>黑体</vt:lpstr>
      <vt:lpstr>宋体</vt:lpstr>
      <vt:lpstr>微软雅黑</vt:lpstr>
      <vt:lpstr>Arial</vt:lpstr>
      <vt:lpstr>Courier New</vt:lpstr>
      <vt:lpstr>FrutigerNext LT Bold</vt:lpstr>
      <vt:lpstr>FrutigerNext LT Light</vt:lpstr>
      <vt:lpstr>FrutigerNext LT Medium</vt:lpstr>
      <vt:lpstr>FrutigerNext LT Regular</vt:lpstr>
      <vt:lpstr>Wingdings</vt:lpstr>
      <vt:lpstr>培训与认证部-母版</vt:lpstr>
      <vt:lpstr>VRRP Principles and Configurations</vt:lpstr>
      <vt:lpstr>PowerPoint 演示文稿</vt:lpstr>
      <vt:lpstr>PowerPoint 演示文稿</vt:lpstr>
      <vt:lpstr>PowerPoint 演示文稿</vt:lpstr>
      <vt:lpstr>Limitations of a Single Gateway</vt:lpstr>
      <vt:lpstr>Problems of Multiple Gateways</vt:lpstr>
      <vt:lpstr>VRRP Overview</vt:lpstr>
      <vt:lpstr>Basic VRRP Architecture</vt:lpstr>
      <vt:lpstr>State Machine</vt:lpstr>
      <vt:lpstr>PowerPoint 演示文稿</vt:lpstr>
      <vt:lpstr>Working Process of VRRP Active/Standby Switchover</vt:lpstr>
      <vt:lpstr>VRRP Active/Standby Switchover (1/2)</vt:lpstr>
      <vt:lpstr>VRRP Active/Standby Switchover (2/2)</vt:lpstr>
      <vt:lpstr>VRRP Fault</vt:lpstr>
      <vt:lpstr>VRRP Association</vt:lpstr>
      <vt:lpstr>PowerPoint 演示文稿</vt:lpstr>
      <vt:lpstr>VRRP Load Balancing Working Process</vt:lpstr>
      <vt:lpstr>PowerPoint 演示文稿</vt:lpstr>
      <vt:lpstr>VRRP Configuration</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liuyuanzjhw</cp:lastModifiedBy>
  <cp:revision>2440</cp:revision>
  <dcterms:created xsi:type="dcterms:W3CDTF">2003-08-21T06:48:56Z</dcterms:created>
  <dcterms:modified xsi:type="dcterms:W3CDTF">2019-04-10T00:50:09Z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(3)xg5KD5swTMvdbtaTHTJU0x/vmRE/RRKBJhaynZY84Z77DF5kDNmMwVtRADQpmPHyYJ3gGuKJ
lAHRGvULAMdq9Eg6tfnVgXOsiWV6lpc9KB+3qQq+VK1a6DnQ+HGiUdD3l3zgVTmujOwtFJpY
PnQWG6hR6mE1N1UNaihRJ4RSjfKMY4HiPMgPSrLjX4zYd5HFDwWd/nHFV/UU+AZbqU2+wgQo
ZMsqieG5lA9ETgKvUy</vt:lpwstr>
  </property>
  <property fmtid="{D5CDD505-2E9C-101B-9397-08002B2CF9AE}" pid="18" name="_2015_ms_pID_7253431">
    <vt:lpwstr>gWBf1lCmOocuk4tfzH+ZfO5HefiEt6Wgw0dV+XSuRfRyENz5EOa100
dKVMgJhHAoBMvZXG4ZwBzUbuDl1VcCYPVPE6so0RYzQ3BG2TGoJotR4pJVGqTjcTVsVMQ+1k
fu0OIUvSLrkv8MfrHWYonhCzANFMpN6w+0BzebNw8z+SHnkaIzYT5Ajk8uK+ygKhQs8vdo8L
tLcBRu6c4Gokm6HGoonU+iSQRzZzfVOCwT6Y</vt:lpwstr>
  </property>
  <property fmtid="{D5CDD505-2E9C-101B-9397-08002B2CF9AE}" pid="19" name="_2015_ms_pID_7253432">
    <vt:lpwstr>UhZnqRqHSCtRWfbeLZGvJjtRF735AA/Kike9
3h0QkeFDL5j8hDH4X/6cHSayoRhB1+aNwHnd4II0uyCWBcPAIhM=</vt:lpwstr>
  </property>
  <property fmtid="{D5CDD505-2E9C-101B-9397-08002B2CF9AE}" pid="20" name="ContentTypeId">
    <vt:lpwstr>0x01010002C5B4B712841F4C8A7AAEE2CD191271</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1554681460</vt:lpwstr>
  </property>
</Properties>
</file>