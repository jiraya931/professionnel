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notesMasterIdLst>
    <p:notesMasterId r:id="rId60"/>
  </p:notesMasterIdLst>
  <p:sldIdLst>
    <p:sldId id="306" r:id="rId2"/>
    <p:sldId id="316" r:id="rId3"/>
    <p:sldId id="312" r:id="rId4"/>
    <p:sldId id="384" r:id="rId5"/>
    <p:sldId id="430" r:id="rId6"/>
    <p:sldId id="444" r:id="rId7"/>
    <p:sldId id="446" r:id="rId8"/>
    <p:sldId id="445" r:id="rId9"/>
    <p:sldId id="447" r:id="rId10"/>
    <p:sldId id="448" r:id="rId11"/>
    <p:sldId id="449" r:id="rId12"/>
    <p:sldId id="389" r:id="rId13"/>
    <p:sldId id="474" r:id="rId14"/>
    <p:sldId id="438" r:id="rId15"/>
    <p:sldId id="450" r:id="rId16"/>
    <p:sldId id="451" r:id="rId17"/>
    <p:sldId id="452" r:id="rId18"/>
    <p:sldId id="431" r:id="rId19"/>
    <p:sldId id="439" r:id="rId20"/>
    <p:sldId id="453" r:id="rId21"/>
    <p:sldId id="454" r:id="rId22"/>
    <p:sldId id="385" r:id="rId23"/>
    <p:sldId id="390" r:id="rId24"/>
    <p:sldId id="440" r:id="rId25"/>
    <p:sldId id="455" r:id="rId26"/>
    <p:sldId id="391" r:id="rId27"/>
    <p:sldId id="441" r:id="rId28"/>
    <p:sldId id="456" r:id="rId29"/>
    <p:sldId id="457" r:id="rId30"/>
    <p:sldId id="458" r:id="rId31"/>
    <p:sldId id="432" r:id="rId32"/>
    <p:sldId id="459" r:id="rId33"/>
    <p:sldId id="442" r:id="rId34"/>
    <p:sldId id="460" r:id="rId35"/>
    <p:sldId id="433" r:id="rId36"/>
    <p:sldId id="443" r:id="rId37"/>
    <p:sldId id="461" r:id="rId38"/>
    <p:sldId id="462" r:id="rId39"/>
    <p:sldId id="463" r:id="rId40"/>
    <p:sldId id="386" r:id="rId41"/>
    <p:sldId id="392" r:id="rId42"/>
    <p:sldId id="435" r:id="rId43"/>
    <p:sldId id="464" r:id="rId44"/>
    <p:sldId id="393" r:id="rId45"/>
    <p:sldId id="465" r:id="rId46"/>
    <p:sldId id="436" r:id="rId47"/>
    <p:sldId id="434" r:id="rId48"/>
    <p:sldId id="437" r:id="rId49"/>
    <p:sldId id="466" r:id="rId50"/>
    <p:sldId id="467" r:id="rId51"/>
    <p:sldId id="468" r:id="rId52"/>
    <p:sldId id="469" r:id="rId53"/>
    <p:sldId id="470" r:id="rId54"/>
    <p:sldId id="471" r:id="rId55"/>
    <p:sldId id="472" r:id="rId56"/>
    <p:sldId id="383" r:id="rId57"/>
    <p:sldId id="303" r:id="rId58"/>
    <p:sldId id="473" r:id="rId59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153"/>
    <a:srgbClr val="8A8A8A"/>
    <a:srgbClr val="6B6B6B"/>
    <a:srgbClr val="264DAE"/>
    <a:srgbClr val="4ADAD7"/>
    <a:srgbClr val="90A3A6"/>
    <a:srgbClr val="EDDFF5"/>
    <a:srgbClr val="493B93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589" autoAdjust="0"/>
  </p:normalViewPr>
  <p:slideViewPr>
    <p:cSldViewPr snapToGrid="0">
      <p:cViewPr varScale="1">
        <p:scale>
          <a:sx n="57" d="100"/>
          <a:sy n="57" d="100"/>
        </p:scale>
        <p:origin x="14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33006-993C-46CE-BE81-A42F2D8A6269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2CD79-D36A-4E01-AE1C-064887FE954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4.1.1.1 Introduction au contrôle d'accès</a:t>
            </a:r>
            <a:r>
              <a:rPr lang="en-US" baseline="0" dirty="0"/>
              <a:t>Listes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4.1.1.2 Configuration des ACL numérotées et nommées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4.1.1.3 Application d'une ACL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4.1.1.3 Application d'une ACL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4.1.1.4 Directives de configuration de l'ACL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4.1.1.5 Modification des ACL existantes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4.1.1.6 Numéros de séquence et listes de contrôle d'accès standard</a:t>
            </a:r>
          </a:p>
          <a:p>
            <a:pPr algn="l" rtl="0"/>
            <a:r>
              <a:rPr lang="en-US" dirty="0"/>
              <a:t>4.1.1.7 Activité – Configurer la norme</a:t>
            </a:r>
            <a:r>
              <a:rPr lang="en-US" baseline="0" dirty="0"/>
              <a:t>ACL</a:t>
            </a:r>
          </a:p>
          <a:p>
            <a:pPr algn="l" rtl="0"/>
            <a:r>
              <a:rPr lang="en-US" baseline="0" dirty="0"/>
              <a:t>4.1.1.8 Activité – Créer une instruction ACL étendue</a:t>
            </a:r>
          </a:p>
          <a:p>
            <a:pPr algn="l" rtl="0"/>
            <a:r>
              <a:rPr lang="en-US" baseline="0" dirty="0"/>
              <a:t>4.1.1.9 Activité – Évaluer les instructions ACL étendues</a:t>
            </a:r>
          </a:p>
          <a:p>
            <a:pPr algn="l" rtl="0"/>
            <a:r>
              <a:rPr lang="en-US" baseline="0" dirty="0"/>
              <a:t>4.1.1.10 Packet Tracer - Configuration des ACL étendues Scénario 1</a:t>
            </a:r>
          </a:p>
          <a:p>
            <a:pPr algn="l" rtl="0"/>
            <a:r>
              <a:rPr lang="en-US" baseline="0" dirty="0"/>
              <a:t>4.1.1.11 Packet Tracer - Configuration des ACL étendues Scénario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4.1.2.1</a:t>
            </a:r>
            <a:r>
              <a:rPr lang="en-US" dirty="0" err="1"/>
              <a:t>Anti-usurpation d'identité</a:t>
            </a:r>
            <a:r>
              <a:rPr lang="en-US" dirty="0"/>
              <a:t>avec les ACL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4.1.2.2 Autoriser le trafic nécessaire à travers un pare-feu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4.1.2.3 Atténuation des abus ICMP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4.1.2.4 Atténuation des failles SNMP</a:t>
            </a:r>
          </a:p>
          <a:p>
            <a:pPr algn="l" rtl="0"/>
            <a:r>
              <a:rPr lang="en-US" dirty="0"/>
              <a:t>4.1.2.5 Packet Tracer - Configurer les ACL IP pour atténuer les attaques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4.1.3.1 Présentation</a:t>
            </a:r>
            <a:r>
              <a:rPr lang="en-US" baseline="0" dirty="0"/>
              <a:t>Listes de contrôle d'accès IPv6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4.1.3.2 Syntaxe de la liste de contrôle d'accès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4.1.3.3 Configurer les ACL IPv6</a:t>
            </a:r>
          </a:p>
          <a:p>
            <a:pPr algn="l" rtl="0"/>
            <a:r>
              <a:rPr lang="en-US" dirty="0"/>
              <a:t>4.1.3.4 Packet Tracer - Configurer les ACL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4.2.1.1 Définition des pare-feu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4.2.1.2</a:t>
            </a:r>
            <a:r>
              <a:rPr lang="en-US" baseline="0" dirty="0"/>
              <a:t>Avantages et limites de</a:t>
            </a:r>
            <a:r>
              <a:rPr lang="en-US" dirty="0"/>
              <a:t>Pare-feu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4.2.2.1 Descriptions des types de pare-feu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4.2.2.2 Avantages et limites du pare-feu à filtrage de paquets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4.2.2.3</a:t>
            </a:r>
            <a:r>
              <a:rPr lang="en-US" dirty="0" err="1"/>
              <a:t>Avec état</a:t>
            </a:r>
            <a:r>
              <a:rPr lang="en-US" baseline="0" dirty="0"/>
              <a:t>Pare-feu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4.2.2.4</a:t>
            </a:r>
            <a:r>
              <a:rPr lang="en-US" dirty="0" err="1"/>
              <a:t>Avec état</a:t>
            </a:r>
            <a:r>
              <a:rPr lang="en-US" baseline="0" dirty="0"/>
              <a:t>Avantages et limites du pare-feu</a:t>
            </a:r>
          </a:p>
          <a:p>
            <a:pPr algn="l" rtl="0"/>
            <a:r>
              <a:rPr lang="en-US" baseline="0" dirty="0"/>
              <a:t>4.2.2.5 Pare-feu de nouvelle génération</a:t>
            </a:r>
          </a:p>
          <a:p>
            <a:pPr algn="l" rtl="0"/>
            <a:r>
              <a:rPr lang="en-US" baseline="0" dirty="0"/>
              <a:t>4.2.2.6 Tutoriel vidéo - Cisco ASA avec</a:t>
            </a:r>
            <a:r>
              <a:rPr lang="en-US" baseline="0" dirty="0" err="1"/>
              <a:t>Puissance de feu</a:t>
            </a:r>
            <a:r>
              <a:rPr lang="en-US" baseline="0" dirty="0"/>
              <a:t>Services</a:t>
            </a:r>
          </a:p>
          <a:p>
            <a:pPr algn="l" rtl="0"/>
            <a:r>
              <a:rPr lang="en-US" baseline="0" dirty="0"/>
              <a:t>4.2.2.7 Activité – Identifier le type de pare-feu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4.2.3.1 Présentation du pare-feu classique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4.2.3.2 Fonctionnement classique du pare-feu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4.2.3.3 Configuration classique du pare-feu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4.2.4.1 Réseaux internes et externes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4.2.4.2 Zones démilitarisées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4.2.4.3 Pare-feu basés sur des zones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4.2.4.4 Défense à plusieurs niveaux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4.3.1.1 Avantages du ZPF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4.3.1.2 Conception ZPF</a:t>
            </a:r>
          </a:p>
          <a:p>
            <a:pPr algn="l" rtl="0"/>
            <a:r>
              <a:rPr lang="en-US" dirty="0"/>
              <a:t>4.3.1.3 Activité - Comparaison du fonctionnement du pare-feu classique et du ZPF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4.3.2.1 Actions ZPF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4.3.2.2 Règles relatives au trafic de transit</a:t>
            </a:r>
          </a:p>
          <a:p>
            <a:pPr algn="l" rtl="0"/>
            <a:r>
              <a:rPr lang="en-US" dirty="0"/>
              <a:t>4.3.2.3 Règles de circulation vers la zone libre</a:t>
            </a:r>
          </a:p>
          <a:p>
            <a:pPr algn="l" rtl="0"/>
            <a:r>
              <a:rPr lang="en-US" dirty="0"/>
              <a:t>4.3.2.4 Activité – Règles pour le trafic de transit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4.3.3.1 Configurer ZPF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4.3.3.2 Créer des zones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4.3.3.3 Identifier le trafic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4.3.3.3</a:t>
            </a:r>
            <a:r>
              <a:rPr lang="en-US"/>
              <a:t>Identifier le trafic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4.3.3.4 Définir une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4.3.3.5 Identifier une paire de zones et la faire correspondre à une politique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4.3.3.6 Affecter des zones aux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4.3.3.7 Vérifier une configuration ZPF</a:t>
            </a:r>
          </a:p>
          <a:p>
            <a:pPr algn="l" rtl="0"/>
            <a:r>
              <a:rPr lang="en-US" dirty="0"/>
              <a:t>Vérificateur de syntaxe - Configuration</a:t>
            </a:r>
            <a:r>
              <a:rPr lang="en-US" baseline="0" dirty="0"/>
              <a:t>Pare-feu basé sur des zones avec CLI</a:t>
            </a:r>
          </a:p>
          <a:p>
            <a:pPr algn="l" rtl="0"/>
            <a:r>
              <a:rPr lang="en-US" baseline="0" dirty="0"/>
              <a:t>4.3.3.8 Considérations relatives à la configuration ZPF</a:t>
            </a:r>
          </a:p>
          <a:p>
            <a:pPr algn="l" rtl="0"/>
            <a:r>
              <a:rPr lang="en-US" baseline="0" dirty="0"/>
              <a:t>4.3.3.9 Démonstration vidéo - ZPF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4.4.1.1 Packet Tracer - Configuration</a:t>
            </a:r>
            <a:r>
              <a:rPr lang="en-US" baseline="0" dirty="0"/>
              <a:t>un ZPF</a:t>
            </a:r>
            <a:endParaRPr lang="en-US" dirty="0"/>
          </a:p>
          <a:p>
            <a:pPr algn="l" rtl="0"/>
            <a:r>
              <a:rPr lang="en-US" dirty="0"/>
              <a:t>4.4.1.2 Travaux pratiques - Configuration des ZPF</a:t>
            </a:r>
            <a:endParaRPr lang="en-US" baseline="0" dirty="0"/>
          </a:p>
          <a:p>
            <a:pPr algn="l" rtl="0"/>
            <a:r>
              <a:rPr lang="en-US" baseline="0" dirty="0"/>
              <a:t>4.4.1.3 Résumé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181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z="1200"/>
              <a:t>https://www.netacad.com</a:t>
            </a:r>
          </a:p>
          <a:p>
            <a:pPr algn="l" rtl="0"/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 rtl="0"/>
            <a:fld id="{AC72CD79-D36A-4E01-AE1C-064887FE954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3657600" cy="384721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2" y="4464066"/>
            <a:ext cx="3657600" cy="384721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0477232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8110728" cy="384175"/>
          </a:xfr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>
            <a:lvl1pPr marL="0" indent="0" algn="l"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  <p:pic>
        <p:nvPicPr>
          <p:cNvPr id="51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053" y="325971"/>
            <a:ext cx="2920207" cy="4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2" y="4862154"/>
            <a:ext cx="8110728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1" y="5231003"/>
            <a:ext cx="8110728" cy="297004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4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77931373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712451"/>
            <a:ext cx="8477250" cy="1828800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571527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Seg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7243975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9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554809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06781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29702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39745"/>
            <a:ext cx="4103687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ounded Rectangle 9"/>
          <p:cNvSpPr/>
          <p:nvPr userDrawn="1"/>
        </p:nvSpPr>
        <p:spPr>
          <a:xfrm>
            <a:off x="4984231" y="1416140"/>
            <a:ext cx="3759720" cy="459903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rgbClr val="EDDFF5"/>
              </a:gs>
            </a:gsLst>
            <a:lin ang="2700000" scaled="1"/>
            <a:tileRect/>
          </a:gra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221224" y="1747683"/>
            <a:ext cx="3236976" cy="1900292"/>
          </a:xfrm>
        </p:spPr>
        <p:txBody>
          <a:bodyPr/>
          <a:lstStyle>
            <a:lvl1pPr marL="114300" indent="-114300">
              <a:buFontTx/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5310124" y="4876800"/>
            <a:ext cx="3044497" cy="32624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4990141" y="1335313"/>
            <a:ext cx="1" cy="4760687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5495"/>
            <a:ext cx="858886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2592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301752"/>
            <a:ext cx="4123944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19455" y="1600200"/>
            <a:ext cx="4142232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406400" indent="0">
              <a:buClr>
                <a:schemeClr val="accent5"/>
              </a:buClr>
              <a:buFontTx/>
              <a:buNone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</a:t>
            </a:r>
            <a:br>
              <a:rPr lang="en-US" dirty="0"/>
            </a:br>
            <a:r>
              <a:rPr lang="en-US" dirty="0"/>
              <a:t>do not italicize; use yellow on the </a:t>
            </a:r>
            <a:br>
              <a:rPr lang="en-US" dirty="0"/>
            </a:br>
            <a:r>
              <a:rPr lang="en-US" dirty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818888" y="1600200"/>
            <a:ext cx="4005072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406400" indent="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None/>
              <a:defRPr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18887" y="301752"/>
            <a:ext cx="3951308" cy="838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Two Column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Title Right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4475" y="1866900"/>
            <a:ext cx="2622550" cy="439102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292474" y="1866900"/>
            <a:ext cx="2593975" cy="436245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75388" y="1866900"/>
            <a:ext cx="2633662" cy="433387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7"/>
          </p:nvPr>
        </p:nvSpPr>
        <p:spPr>
          <a:xfrm>
            <a:off x="219456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255264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Text Placeholder 20"/>
          <p:cNvSpPr>
            <a:spLocks noGrp="1" noChangeAspect="1"/>
          </p:cNvSpPr>
          <p:nvPr>
            <p:ph type="body" sz="quarter" idx="19"/>
          </p:nvPr>
        </p:nvSpPr>
        <p:spPr>
          <a:xfrm>
            <a:off x="6247902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082817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83084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246972" y="439710"/>
            <a:ext cx="8567244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359764" y="1476375"/>
            <a:ext cx="8439461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9466" y="6062114"/>
            <a:ext cx="7461250" cy="276999"/>
          </a:xfrm>
        </p:spPr>
        <p:txBody>
          <a:bodyPr wrap="square" anchor="b" anchorCtr="0">
            <a:sp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rgbClr val="435153"/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/>
              <a:t>Source: Placeholder for Notes Is 12 Points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46888" y="1600200"/>
            <a:ext cx="4005072" cy="374904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73752" y="1947672"/>
            <a:ext cx="3429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“Format large quotes using this slide layout. Be sure to cite your source below.”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744" y="484632"/>
            <a:ext cx="8755128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Format large quotes using this slide layout. Be sure to cite your source below.”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0248" y="5358903"/>
            <a:ext cx="8574685" cy="61436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Source</a:t>
            </a:r>
          </a:p>
        </p:txBody>
      </p:sp>
      <p:sp>
        <p:nvSpPr>
          <p:cNvPr id="21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1918741"/>
            <a:ext cx="4117446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922519" y="777667"/>
            <a:ext cx="3895344" cy="5287676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marL="0" lv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rgbClr val="435153"/>
              </a:buClr>
              <a:buFont typeface="Arial" pitchFamily="34" charset="0"/>
              <a:buNone/>
            </a:pPr>
            <a:r>
              <a:rPr lang="en-US" dirty="0"/>
              <a:t>Tell your story here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1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279392"/>
            <a:ext cx="4684867" cy="3841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493B93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8693" y="3282696"/>
            <a:ext cx="4712557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5540375" y="1917700"/>
            <a:ext cx="2676525" cy="2889250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91875" y="795528"/>
            <a:ext cx="534924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91874" y="4794352"/>
            <a:ext cx="5347552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1900238" y="795528"/>
            <a:ext cx="5329238" cy="400507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65871" y="4873438"/>
            <a:ext cx="5074070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38328" y="310896"/>
            <a:ext cx="3273552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38328" y="310896"/>
            <a:ext cx="3273552" cy="2459736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29703" y="3429000"/>
            <a:ext cx="7009298" cy="1421928"/>
          </a:xfrm>
        </p:spPr>
        <p:txBody>
          <a:bodyPr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Large photo </a:t>
            </a:r>
            <a:br>
              <a:rPr lang="en-US" dirty="0"/>
            </a:br>
            <a:r>
              <a:rPr lang="en-US" dirty="0"/>
              <a:t>caption here.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992624" y="859536"/>
            <a:ext cx="3630168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992624" y="859536"/>
            <a:ext cx="3630168" cy="502920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728972"/>
            <a:ext cx="4349918" cy="108952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668713" y="311149"/>
            <a:ext cx="3268136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3668989" y="311149"/>
            <a:ext cx="326786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963" y="311149"/>
            <a:ext cx="3258612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4" y="311149"/>
            <a:ext cx="327275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1988" y="311149"/>
            <a:ext cx="1806574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7011988" y="311149"/>
            <a:ext cx="1806573" cy="1308101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4963" y="3028951"/>
            <a:ext cx="250196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320824" y="3028951"/>
            <a:ext cx="2516104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1476" y="3028951"/>
            <a:ext cx="4025374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2908334" y="3028951"/>
            <a:ext cx="4028516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11988" y="1683657"/>
            <a:ext cx="1806574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8" y="1676400"/>
            <a:ext cx="1806573" cy="344941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11988" y="5182960"/>
            <a:ext cx="1806574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7011988" y="5182960"/>
            <a:ext cx="1806573" cy="1304925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8328" y="310896"/>
            <a:ext cx="8476488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3375" y="339924"/>
            <a:ext cx="8474869" cy="6054185"/>
          </a:xfrm>
          <a:ln>
            <a:solidFill>
              <a:srgbClr val="FFFFFF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-91440" y="-91440"/>
            <a:ext cx="9326880" cy="704088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/>
              <a:t>Full bleed image placeholder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2642616" y="777240"/>
            <a:ext cx="5897880" cy="4425696"/>
          </a:xfrm>
          <a:solidFill>
            <a:srgbClr val="000000"/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video</a:t>
            </a: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148" y="6042098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361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20" name="Rectangle 19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blu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7" name="Freeform 6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702" y="1339745"/>
            <a:ext cx="8577072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Cisco Public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‹N°›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930" r:id="rId2"/>
    <p:sldLayoutId id="2147483929" r:id="rId3"/>
    <p:sldLayoutId id="2147483937" r:id="rId4"/>
    <p:sldLayoutId id="2147483900" r:id="rId5"/>
    <p:sldLayoutId id="2147483931" r:id="rId6"/>
    <p:sldLayoutId id="2147483932" r:id="rId7"/>
    <p:sldLayoutId id="2147483933" r:id="rId8"/>
    <p:sldLayoutId id="2147483902" r:id="rId9"/>
    <p:sldLayoutId id="2147483903" r:id="rId10"/>
    <p:sldLayoutId id="2147483935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3" r:id="rId18"/>
    <p:sldLayoutId id="2147483911" r:id="rId19"/>
    <p:sldLayoutId id="2147483912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1" r:id="rId27"/>
    <p:sldLayoutId id="2147483922" r:id="rId28"/>
    <p:sldLayoutId id="2147483936" r:id="rId29"/>
    <p:sldLayoutId id="2147483923" r:id="rId30"/>
    <p:sldLayoutId id="2147483924" r:id="rId31"/>
    <p:sldLayoutId id="2147483925" r:id="rId32"/>
    <p:sldLayoutId id="2147483926" r:id="rId33"/>
    <p:sldLayoutId id="2147483927" r:id="rId34"/>
  </p:sldLayoutIdLst>
  <p:transition>
    <p:wipe dir="r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en-US" sz="3600" b="0" i="0" u="none" strike="noStrike" kern="1200" cap="none" spc="0" normalizeH="0" baseline="0" dirty="0">
          <a:ln>
            <a:noFill/>
          </a:ln>
          <a:gradFill flip="none" rotWithShape="1">
            <a:gsLst>
              <a:gs pos="16000">
                <a:schemeClr val="tx2"/>
              </a:gs>
              <a:gs pos="100000">
                <a:srgbClr val="28A7DF"/>
              </a:gs>
            </a:gsLst>
            <a:lin ang="1800000" scaled="0"/>
            <a:tileRect/>
          </a:gradFill>
          <a:effectLst/>
          <a:uLnTx/>
          <a:uFillTx/>
          <a:latin typeface="+mj-lt"/>
          <a:ea typeface="+mj-ea"/>
          <a:cs typeface="Arial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rgbClr val="493B93"/>
        </a:buClr>
        <a:buSzPct val="90000"/>
        <a:buFont typeface="Arial" pitchFamily="34" charset="0"/>
        <a:buChar char="•"/>
        <a:tabLst/>
        <a:defRPr lang="en-US" sz="2200" kern="1200" dirty="0" smtClean="0">
          <a:solidFill>
            <a:srgbClr val="435153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435153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435153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435153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435153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4" y="722449"/>
            <a:ext cx="7681636" cy="2907239"/>
          </a:xfrm>
        </p:spPr>
        <p:txBody>
          <a:bodyPr/>
          <a:lstStyle/>
          <a:p>
            <a:pPr algn="l" rtl="0"/>
            <a:br>
              <a:rPr lang="en-US" sz="4000" dirty="0"/>
            </a:br>
            <a:r>
              <a:rPr lang="en-US" sz="4000" dirty="0"/>
              <a:t>Mise en œuvre des technologies de pare-feu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400" dirty="0"/>
              <a:t>Plan du chapitre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99991" y="777667"/>
            <a:ext cx="4467809" cy="5287676"/>
          </a:xfrm>
        </p:spPr>
        <p:txBody>
          <a:bodyPr>
            <a:normAutofit/>
          </a:bodyPr>
          <a:lstStyle/>
          <a:p>
            <a:pPr algn="l" rtl="0"/>
            <a:r>
              <a:rPr lang="en-US" sz="1800" dirty="0">
                <a:solidFill>
                  <a:schemeClr val="tx2"/>
                </a:solidFill>
              </a:rPr>
              <a:t> Introduction</a:t>
            </a:r>
          </a:p>
          <a:p>
            <a:pPr algn="l" rtl="0"/>
            <a:r>
              <a:rPr lang="en-US" sz="1800" dirty="0">
                <a:solidFill>
                  <a:schemeClr val="tx2"/>
                </a:solidFill>
              </a:rPr>
              <a:t> Listes de contrôle d'accès</a:t>
            </a:r>
          </a:p>
          <a:p>
            <a:pPr algn="l" rtl="0"/>
            <a:r>
              <a:rPr lang="en-US" sz="1800" dirty="0">
                <a:solidFill>
                  <a:schemeClr val="tx2"/>
                </a:solidFill>
              </a:rPr>
              <a:t> Technologies de pare-feu</a:t>
            </a:r>
          </a:p>
          <a:p>
            <a:pPr algn="l" rtl="0"/>
            <a:r>
              <a:rPr lang="en-US" sz="1800" dirty="0">
                <a:solidFill>
                  <a:schemeClr val="tx2"/>
                </a:solidFill>
              </a:rPr>
              <a:t> Pare-feu basés sur des zones</a:t>
            </a:r>
          </a:p>
          <a:p>
            <a:pPr algn="l" rtl="0"/>
            <a:r>
              <a:rPr lang="en-US" sz="1800" dirty="0">
                <a:solidFill>
                  <a:schemeClr val="tx2"/>
                </a:solidFill>
              </a:rPr>
              <a:t> Résumé</a:t>
            </a: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42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1584960"/>
            <a:ext cx="8112125" cy="1193916"/>
          </a:xfrm>
        </p:spPr>
        <p:txBody>
          <a:bodyPr/>
          <a:lstStyle/>
          <a:p>
            <a:pPr algn="l" rtl="0"/>
            <a:r>
              <a:rPr lang="en-US" sz="4000" dirty="0"/>
              <a:t>Section 4.1 :</a:t>
            </a:r>
            <a:br>
              <a:rPr lang="en-US" sz="4000" dirty="0"/>
            </a:br>
            <a:r>
              <a:rPr lang="en-US" sz="4000" dirty="0"/>
              <a:t>Liste de contrôle d'accès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017520"/>
            <a:ext cx="8577072" cy="23164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À la fin de cette section, vous devriez être capable de :</a:t>
            </a:r>
          </a:p>
          <a:p>
            <a:pPr algn="l" rtl="0"/>
            <a:r>
              <a:rPr lang="en-US" sz="1800" dirty="0"/>
              <a:t>Configurez les ACL IPv4 standard et étendues à l’aide de la CLI.</a:t>
            </a:r>
          </a:p>
          <a:p>
            <a:pPr algn="l" rtl="0"/>
            <a:r>
              <a:rPr lang="en-US" sz="1800" dirty="0"/>
              <a:t>Utilisez les ACL pour atténuer les attaques réseau courantes.</a:t>
            </a:r>
          </a:p>
          <a:p>
            <a:pPr algn="l" rtl="0"/>
            <a:r>
              <a:rPr lang="en-US" sz="1800" dirty="0"/>
              <a:t>Configurer les ACL IPv6 à l’aide de la CLI.</a:t>
            </a:r>
          </a:p>
        </p:txBody>
      </p:sp>
    </p:spTree>
    <p:extLst>
      <p:ext uri="{BB962C8B-B14F-4D97-AF65-F5344CB8AC3E}">
        <p14:creationId xmlns:p14="http://schemas.microsoft.com/office/powerpoint/2010/main" val="307607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br>
              <a:rPr lang="en-US" sz="2800" dirty="0"/>
            </a:br>
            <a:r>
              <a:rPr lang="en-US" sz="2800" dirty="0"/>
              <a:t>Configuration des versions standard et étendue</a:t>
            </a:r>
            <a:br>
              <a:rPr lang="en-US" sz="2800" dirty="0"/>
            </a:br>
            <a:r>
              <a:rPr lang="en-US" sz="2800" dirty="0"/>
              <a:t>ACL IPv4 avec CLI</a:t>
            </a:r>
          </a:p>
        </p:txBody>
      </p:sp>
    </p:spTree>
    <p:extLst>
      <p:ext uri="{BB962C8B-B14F-4D97-AF65-F5344CB8AC3E}">
        <p14:creationId xmlns:p14="http://schemas.microsoft.com/office/powerpoint/2010/main" val="256029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5495"/>
            <a:ext cx="8822858" cy="838200"/>
          </a:xfrm>
        </p:spPr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Introduction àListes de contrôle d'accès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53" y="1203959"/>
            <a:ext cx="4575565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160" y="3493989"/>
            <a:ext cx="4506278" cy="271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983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5495"/>
            <a:ext cx="8822858" cy="838200"/>
          </a:xfrm>
        </p:spPr>
        <p:txBody>
          <a:bodyPr/>
          <a:lstStyle/>
          <a:p>
            <a:pPr algn="l" rtl="0"/>
            <a:r>
              <a:rPr lang="en-US" sz="3200" dirty="0"/>
              <a:t>Configuration des ACL numérotées et nommées</a:t>
            </a:r>
          </a:p>
        </p:txBody>
      </p:sp>
      <p:sp>
        <p:nvSpPr>
          <p:cNvPr id="14" name="Text Placeholder 6"/>
          <p:cNvSpPr txBox="1">
            <a:spLocks/>
          </p:cNvSpPr>
          <p:nvPr/>
        </p:nvSpPr>
        <p:spPr>
          <a:xfrm>
            <a:off x="466725" y="1237488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ACL numérotée standard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541145"/>
            <a:ext cx="8210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" y="2432685"/>
            <a:ext cx="82105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" y="3598545"/>
            <a:ext cx="82105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4" y="4543425"/>
            <a:ext cx="82010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" y="5457825"/>
            <a:ext cx="82105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6"/>
          <p:cNvSpPr txBox="1">
            <a:spLocks/>
          </p:cNvSpPr>
          <p:nvPr/>
        </p:nvSpPr>
        <p:spPr>
          <a:xfrm>
            <a:off x="466725" y="2129028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ACL numérotée étendue</a:t>
            </a: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474345" y="3275076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ACL nommée</a:t>
            </a:r>
          </a:p>
        </p:txBody>
      </p:sp>
      <p:sp>
        <p:nvSpPr>
          <p:cNvPr id="11" name="Text Placeholder 6"/>
          <p:cNvSpPr txBox="1">
            <a:spLocks/>
          </p:cNvSpPr>
          <p:nvPr/>
        </p:nvSpPr>
        <p:spPr>
          <a:xfrm>
            <a:off x="466723" y="4239768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ACE standard</a:t>
            </a:r>
          </a:p>
        </p:txBody>
      </p:sp>
      <p:sp>
        <p:nvSpPr>
          <p:cNvPr id="13" name="Text Placeholder 6"/>
          <p:cNvSpPr txBox="1">
            <a:spLocks/>
          </p:cNvSpPr>
          <p:nvPr/>
        </p:nvSpPr>
        <p:spPr>
          <a:xfrm>
            <a:off x="474345" y="5154168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ACE étendue</a:t>
            </a:r>
          </a:p>
        </p:txBody>
      </p:sp>
    </p:spTree>
    <p:extLst>
      <p:ext uri="{BB962C8B-B14F-4D97-AF65-F5344CB8AC3E}">
        <p14:creationId xmlns:p14="http://schemas.microsoft.com/office/powerpoint/2010/main" val="21203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5495"/>
            <a:ext cx="8822858" cy="838200"/>
          </a:xfrm>
        </p:spPr>
        <p:txBody>
          <a:bodyPr/>
          <a:lstStyle/>
          <a:p>
            <a:pPr algn="l" rtl="0"/>
            <a:r>
              <a:rPr lang="en-US" sz="3200" dirty="0"/>
              <a:t>Application d'une ACL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320040" y="2133600"/>
            <a:ext cx="2453639" cy="571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- Appliquer une ACL aux lignes VTY</a:t>
            </a: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320040" y="3554888"/>
            <a:ext cx="3518536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Exemple - ACL standard nommée</a:t>
            </a:r>
          </a:p>
        </p:txBody>
      </p:sp>
      <p:sp>
        <p:nvSpPr>
          <p:cNvPr id="13" name="Text Placeholder 6"/>
          <p:cNvSpPr txBox="1">
            <a:spLocks/>
          </p:cNvSpPr>
          <p:nvPr/>
        </p:nvSpPr>
        <p:spPr>
          <a:xfrm>
            <a:off x="320039" y="5280460"/>
            <a:ext cx="3573781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Exemple - ACL étendue nommée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580" y="3023934"/>
            <a:ext cx="3614737" cy="1365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820" y="4492163"/>
            <a:ext cx="4742498" cy="1880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017" y="1177861"/>
            <a:ext cx="50673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842" y="2133600"/>
            <a:ext cx="49434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Placeholder 6"/>
          <p:cNvSpPr txBox="1">
            <a:spLocks/>
          </p:cNvSpPr>
          <p:nvPr/>
        </p:nvSpPr>
        <p:spPr>
          <a:xfrm>
            <a:off x="320040" y="1177860"/>
            <a:ext cx="2453639" cy="5899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- Appliquer une ACL à une interface</a:t>
            </a:r>
          </a:p>
        </p:txBody>
      </p:sp>
    </p:spTree>
    <p:extLst>
      <p:ext uri="{BB962C8B-B14F-4D97-AF65-F5344CB8AC3E}">
        <p14:creationId xmlns:p14="http://schemas.microsoft.com/office/powerpoint/2010/main" val="105381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5495"/>
            <a:ext cx="8822858" cy="838200"/>
          </a:xfrm>
        </p:spPr>
        <p:txBody>
          <a:bodyPr/>
          <a:lstStyle/>
          <a:p>
            <a:pPr algn="l" rtl="0"/>
            <a:r>
              <a:rPr lang="en-US" sz="3200" dirty="0"/>
              <a:t>Appliquer unLCA (suite)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466725" y="1290828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Syntaxe - Appliquer une ACL aux lignes VTY</a:t>
            </a: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1695450" y="2459164"/>
            <a:ext cx="549211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Exemple - ACL nommée sur les lignes VTY avec journalisation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" y="1594485"/>
            <a:ext cx="76771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2746384"/>
            <a:ext cx="5753100" cy="354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26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Directives de configuration de l'ACL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804035"/>
            <a:ext cx="79438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032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Modification des ACL existantes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862013" y="1233677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La liste d'accès existante comporte trois entrées</a:t>
            </a: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862013" y="2740531"/>
            <a:ext cx="7810499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La liste d'accès a été modifiée, ce qui ajoute un nouvel ACE et remplace la ligne ACE 20.</a:t>
            </a:r>
          </a:p>
        </p:txBody>
      </p:sp>
      <p:sp>
        <p:nvSpPr>
          <p:cNvPr id="13" name="Text Placeholder 6"/>
          <p:cNvSpPr txBox="1">
            <a:spLocks/>
          </p:cNvSpPr>
          <p:nvPr/>
        </p:nvSpPr>
        <p:spPr>
          <a:xfrm>
            <a:off x="842963" y="4712208"/>
            <a:ext cx="3905248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La liste d'accès mise à jour comporte quatre entrées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1537334"/>
            <a:ext cx="74390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3347846"/>
            <a:ext cx="741997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5015865"/>
            <a:ext cx="74580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98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Numéros de séquence et ACL standard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862013" y="1233677"/>
            <a:ext cx="4200525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La liste d'accès existante comporte quatre entrées</a:t>
            </a:r>
          </a:p>
        </p:txBody>
      </p:sp>
      <p:sp>
        <p:nvSpPr>
          <p:cNvPr id="10" name="Text Placeholder 6"/>
          <p:cNvSpPr txBox="1">
            <a:spLocks/>
          </p:cNvSpPr>
          <p:nvPr/>
        </p:nvSpPr>
        <p:spPr>
          <a:xfrm>
            <a:off x="842960" y="3158489"/>
            <a:ext cx="8186739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La liste d'accès a été modifiée, ce qui ajoute un nouvel ACE qui autorise une adresse IP spécifique.</a:t>
            </a:r>
          </a:p>
        </p:txBody>
      </p:sp>
      <p:sp>
        <p:nvSpPr>
          <p:cNvPr id="13" name="Text Placeholder 6"/>
          <p:cNvSpPr txBox="1">
            <a:spLocks/>
          </p:cNvSpPr>
          <p:nvPr/>
        </p:nvSpPr>
        <p:spPr>
          <a:xfrm>
            <a:off x="842961" y="4455604"/>
            <a:ext cx="5877877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La liste d'accès mise à jour place le nouvel ACE avant la ligne 20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1495423"/>
            <a:ext cx="743902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3462146"/>
            <a:ext cx="74390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4757356"/>
            <a:ext cx="74295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151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BFC49A3A-3DE5-42F9-B477-F53C603E9823}"/>
              </a:ext>
            </a:extLst>
          </p:cNvPr>
          <p:cNvSpPr txBox="1"/>
          <p:nvPr/>
        </p:nvSpPr>
        <p:spPr>
          <a:xfrm>
            <a:off x="934374" y="1083945"/>
            <a:ext cx="7275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</a:t>
            </a:r>
            <a:r>
              <a:rPr lang="fr-FR" dirty="0" err="1"/>
              <a:t>Packet</a:t>
            </a:r>
            <a:r>
              <a:rPr lang="fr-FR" dirty="0"/>
              <a:t> Tracer - </a:t>
            </a:r>
            <a:r>
              <a:rPr lang="fr-FR" dirty="0" err="1"/>
              <a:t>Configuring</a:t>
            </a:r>
            <a:r>
              <a:rPr lang="fr-FR" dirty="0"/>
              <a:t> Extended </a:t>
            </a:r>
            <a:r>
              <a:rPr lang="fr-FR" dirty="0" err="1"/>
              <a:t>ACLs</a:t>
            </a:r>
            <a:r>
              <a:rPr lang="fr-FR" dirty="0"/>
              <a:t> Scenario 1.pka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A4DD908-39EA-45D8-9940-E90FEA26AA38}"/>
              </a:ext>
            </a:extLst>
          </p:cNvPr>
          <p:cNvSpPr txBox="1"/>
          <p:nvPr/>
        </p:nvSpPr>
        <p:spPr>
          <a:xfrm>
            <a:off x="1091953" y="1865180"/>
            <a:ext cx="6458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Packet</a:t>
            </a:r>
            <a:r>
              <a:rPr lang="fr-FR" dirty="0"/>
              <a:t> Tracer - </a:t>
            </a:r>
            <a:r>
              <a:rPr lang="fr-FR" dirty="0" err="1"/>
              <a:t>Configuring</a:t>
            </a:r>
            <a:r>
              <a:rPr lang="fr-FR" dirty="0"/>
              <a:t> Extended </a:t>
            </a:r>
            <a:r>
              <a:rPr lang="fr-FR" dirty="0" err="1"/>
              <a:t>ACLs</a:t>
            </a:r>
            <a:r>
              <a:rPr lang="fr-FR" dirty="0"/>
              <a:t> Scenario 2.pka</a:t>
            </a:r>
          </a:p>
        </p:txBody>
      </p:sp>
    </p:spTree>
    <p:extLst>
      <p:ext uri="{BB962C8B-B14F-4D97-AF65-F5344CB8AC3E}">
        <p14:creationId xmlns:p14="http://schemas.microsoft.com/office/powerpoint/2010/main" val="268501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Packet Tracer - Configuring Extended ACLs Scenario 1.pka</a:t>
            </a:r>
            <a:br>
              <a:rPr lang="en-US" sz="2800" dirty="0"/>
            </a:br>
            <a:r>
              <a:rPr lang="en-US" sz="2800" dirty="0"/>
              <a:t>Atténuer les attaques avec les ACL</a:t>
            </a:r>
          </a:p>
        </p:txBody>
      </p:sp>
    </p:spTree>
    <p:extLst>
      <p:ext uri="{BB962C8B-B14F-4D97-AF65-F5344CB8AC3E}">
        <p14:creationId xmlns:p14="http://schemas.microsoft.com/office/powerpoint/2010/main" val="850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 err="1"/>
              <a:t>Anti-usurpation d'identité</a:t>
            </a:r>
            <a:r>
              <a:rPr lang="en-US" sz="3200" dirty="0"/>
              <a:t>avec les ACL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140143"/>
            <a:ext cx="794385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503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Autoriser le trafic nécessaire via un pare-feu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006793"/>
            <a:ext cx="7839075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13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Atténuer les abus du protocole ICMP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" y="1046307"/>
            <a:ext cx="7185660" cy="5249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01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Atténuer les exploits SNMP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566863"/>
            <a:ext cx="85153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335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4.1.3 :</a:t>
            </a:r>
            <a:br>
              <a:rPr lang="en-US" sz="2800" dirty="0"/>
            </a:br>
            <a:r>
              <a:rPr lang="en-US" sz="2800" dirty="0"/>
              <a:t>Listes de contrôle d'accès IPv6</a:t>
            </a:r>
          </a:p>
        </p:txBody>
      </p:sp>
    </p:spTree>
    <p:extLst>
      <p:ext uri="{BB962C8B-B14F-4D97-AF65-F5344CB8AC3E}">
        <p14:creationId xmlns:p14="http://schemas.microsoft.com/office/powerpoint/2010/main" val="71766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Présentation des ACL IPv6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1338263"/>
            <a:ext cx="737235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264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Syntaxe ACL IPv6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" y="1107878"/>
            <a:ext cx="7688580" cy="510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171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Configurer les ACL IPv6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052513"/>
            <a:ext cx="760095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790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1684020"/>
            <a:ext cx="8112125" cy="1186296"/>
          </a:xfrm>
        </p:spPr>
        <p:txBody>
          <a:bodyPr/>
          <a:lstStyle/>
          <a:p>
            <a:pPr algn="l" rtl="0"/>
            <a:r>
              <a:rPr lang="en-US" sz="4000" dirty="0"/>
              <a:t>Section 4.2 :</a:t>
            </a:r>
            <a:br>
              <a:rPr lang="en-US" sz="4000" dirty="0"/>
            </a:br>
            <a:r>
              <a:rPr lang="en-US" sz="4000" dirty="0"/>
              <a:t>Technologies de pare-feu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119627"/>
            <a:ext cx="8577072" cy="22470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À la fin de cette section, vous devriez être capable de :</a:t>
            </a:r>
          </a:p>
          <a:p>
            <a:pPr algn="l" rtl="0"/>
            <a:r>
              <a:rPr lang="en-US" sz="1800" dirty="0"/>
              <a:t>Expliquez comment les pare-feu sont utilisés pour sécuriser les réseaux.</a:t>
            </a:r>
          </a:p>
          <a:p>
            <a:pPr algn="l" rtl="0"/>
            <a:r>
              <a:rPr lang="en-US" sz="1800" dirty="0"/>
              <a:t>Décrire les différents types de pare-feu.</a:t>
            </a:r>
          </a:p>
          <a:p>
            <a:pPr algn="l" rtl="0"/>
            <a:r>
              <a:rPr lang="en-US" sz="1800" dirty="0"/>
              <a:t>Configurer un pare-feu classique.</a:t>
            </a:r>
          </a:p>
          <a:p>
            <a:pPr algn="l" rtl="0"/>
            <a:r>
              <a:rPr lang="en-US" sz="1800" dirty="0"/>
              <a:t>Expliquer les considérations de conception pour la mise en œuvre d'un pare-feutechnologies.</a:t>
            </a:r>
          </a:p>
        </p:txBody>
      </p:sp>
    </p:spTree>
    <p:extLst>
      <p:ext uri="{BB962C8B-B14F-4D97-AF65-F5344CB8AC3E}">
        <p14:creationId xmlns:p14="http://schemas.microsoft.com/office/powerpoint/2010/main" val="190980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4.2.1 :</a:t>
            </a:r>
            <a:br>
              <a:rPr lang="en-US" sz="2800" dirty="0"/>
            </a:br>
            <a:r>
              <a:rPr lang="en-US" sz="2800" dirty="0"/>
              <a:t>Sécuriser les réseaux avec des pare-feu</a:t>
            </a:r>
          </a:p>
        </p:txBody>
      </p:sp>
    </p:spTree>
    <p:extLst>
      <p:ext uri="{BB962C8B-B14F-4D97-AF65-F5344CB8AC3E}">
        <p14:creationId xmlns:p14="http://schemas.microsoft.com/office/powerpoint/2010/main" val="12575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Définition des pare-feu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740" y="1359151"/>
            <a:ext cx="5151120" cy="478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350520" y="2257486"/>
            <a:ext cx="3284220" cy="29839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rtl="0">
              <a:buNone/>
            </a:pPr>
            <a:r>
              <a:rPr lang="en-US" sz="1800" dirty="0"/>
              <a:t>Tous les pare-feu :</a:t>
            </a:r>
          </a:p>
          <a:p>
            <a:pPr marL="514350" indent="-285750" algn="l" rtl="0"/>
            <a:r>
              <a:rPr lang="en-US" sz="1800" dirty="0"/>
              <a:t>Sont résistants aux attaques</a:t>
            </a:r>
          </a:p>
          <a:p>
            <a:pPr marL="514350" indent="-285750" algn="l" rtl="0"/>
            <a:r>
              <a:rPr lang="en-US" sz="1800" dirty="0"/>
              <a:t>Ils constituent le seul point de transit entre les réseaux, car tout le trafic passe par le pare-feu.</a:t>
            </a:r>
          </a:p>
          <a:p>
            <a:pPr marL="514350" indent="-285750" algn="l" rtl="0"/>
            <a:r>
              <a:rPr lang="en-US" sz="1800" dirty="0"/>
              <a:t>Appliquer la politique de contrôle d'accès</a:t>
            </a:r>
          </a:p>
        </p:txBody>
      </p:sp>
    </p:spTree>
    <p:extLst>
      <p:ext uri="{BB962C8B-B14F-4D97-AF65-F5344CB8AC3E}">
        <p14:creationId xmlns:p14="http://schemas.microsoft.com/office/powerpoint/2010/main" val="2377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Avantages et limites des pare-feu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161098"/>
            <a:ext cx="8039100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82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4.2.2 :</a:t>
            </a:r>
            <a:br>
              <a:rPr lang="en-US" sz="2800" dirty="0"/>
            </a:br>
            <a:r>
              <a:rPr lang="en-US" sz="2800" dirty="0"/>
              <a:t>Types de pare-feu</a:t>
            </a:r>
          </a:p>
        </p:txBody>
      </p:sp>
    </p:spTree>
    <p:extLst>
      <p:ext uri="{BB962C8B-B14F-4D97-AF65-F5344CB8AC3E}">
        <p14:creationId xmlns:p14="http://schemas.microsoft.com/office/powerpoint/2010/main" val="302133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Descriptions des types de pare-feu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80" y="1250633"/>
            <a:ext cx="33150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80" y="4038600"/>
            <a:ext cx="297119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910" y="1250633"/>
            <a:ext cx="3429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910" y="4038600"/>
            <a:ext cx="29134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2780" y="939642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>
                <a:solidFill>
                  <a:srgbClr val="435153"/>
                </a:solidFill>
                <a:latin typeface="+mj-lt"/>
              </a:rPr>
              <a:t>Pare-feu avec filtrage de paquets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779" y="3723561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>
                <a:solidFill>
                  <a:srgbClr val="435153"/>
                </a:solidFill>
                <a:latin typeface="+mj-lt"/>
              </a:rPr>
              <a:t>Pare-feu avec état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4910" y="919401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>
                <a:solidFill>
                  <a:srgbClr val="435153"/>
                </a:solidFill>
                <a:latin typeface="+mj-lt"/>
              </a:rPr>
              <a:t>Pare-feu de passerelle d'application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4909" y="3722608"/>
            <a:ext cx="1484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>
                <a:solidFill>
                  <a:srgbClr val="435153"/>
                </a:solidFill>
                <a:latin typeface="+mj-lt"/>
              </a:rPr>
              <a:t>Pare-feu NAT</a:t>
            </a:r>
          </a:p>
        </p:txBody>
      </p:sp>
    </p:spTree>
    <p:extLst>
      <p:ext uri="{BB962C8B-B14F-4D97-AF65-F5344CB8AC3E}">
        <p14:creationId xmlns:p14="http://schemas.microsoft.com/office/powerpoint/2010/main" val="177928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Avantages du pare-feu avec filtrage de paquets&amp;Limites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4963"/>
            <a:ext cx="609600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33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 err="1"/>
              <a:t>Avec état</a:t>
            </a:r>
            <a:r>
              <a:rPr lang="en-US" sz="3200" dirty="0"/>
              <a:t>Pare-feu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9" y="1518914"/>
            <a:ext cx="2876119" cy="242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537" y="1518914"/>
            <a:ext cx="3725194" cy="206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633" y="4366260"/>
            <a:ext cx="5448734" cy="195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4864537" y="1241222"/>
            <a:ext cx="1513404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Tables d'état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822959" y="1241222"/>
            <a:ext cx="1927862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 err="1"/>
              <a:t>Avec état</a:t>
            </a:r>
            <a:r>
              <a:rPr lang="en-US" sz="1800" dirty="0"/>
              <a:t>Pare-feu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847633" y="4101274"/>
            <a:ext cx="2907248" cy="30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 err="1"/>
              <a:t>Avec état</a:t>
            </a:r>
            <a:r>
              <a:rPr lang="en-US" sz="1800" dirty="0"/>
              <a:t>Fonctionnement du pare-feu</a:t>
            </a:r>
          </a:p>
        </p:txBody>
      </p:sp>
    </p:spTree>
    <p:extLst>
      <p:ext uri="{BB962C8B-B14F-4D97-AF65-F5344CB8AC3E}">
        <p14:creationId xmlns:p14="http://schemas.microsoft.com/office/powerpoint/2010/main" val="331952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 err="1"/>
              <a:t>Avec état</a:t>
            </a:r>
            <a:r>
              <a:rPr lang="en-US" sz="3200" dirty="0"/>
              <a:t> Avantages et limites du pare-feu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154430"/>
            <a:ext cx="58007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1"/>
          <p:cNvSpPr txBox="1">
            <a:spLocks/>
          </p:cNvSpPr>
          <p:nvPr/>
        </p:nvSpPr>
        <p:spPr>
          <a:xfrm>
            <a:off x="229702" y="3091595"/>
            <a:ext cx="8822858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algn="l" rtl="0"/>
            <a:r>
              <a:rPr lang="en-US" sz="3200" dirty="0"/>
              <a:t>Pare-feu de nouvelle génération</a:t>
            </a:r>
          </a:p>
        </p:txBody>
      </p:sp>
      <p:sp>
        <p:nvSpPr>
          <p:cNvPr id="11" name="Text Placeholder 6"/>
          <p:cNvSpPr txBox="1">
            <a:spLocks/>
          </p:cNvSpPr>
          <p:nvPr/>
        </p:nvSpPr>
        <p:spPr>
          <a:xfrm>
            <a:off x="320040" y="3929794"/>
            <a:ext cx="8054340" cy="23033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285750" algn="l" rtl="0"/>
            <a:r>
              <a:rPr lang="en-US" sz="1400" dirty="0"/>
              <a:t>Identification, visibilité et contrôle granulaires des comportements au sein des applications</a:t>
            </a:r>
          </a:p>
          <a:p>
            <a:pPr marL="514350" indent="-285750" algn="l" rtl="0"/>
            <a:r>
              <a:rPr lang="en-US" sz="1400" dirty="0"/>
              <a:t>Restreindre l'utilisation du Web et des applications Web en fonction de la réputation du site</a:t>
            </a:r>
          </a:p>
          <a:p>
            <a:pPr marL="514350" indent="-285750" algn="l" rtl="0"/>
            <a:r>
              <a:rPr lang="en-US" sz="1400" dirty="0"/>
              <a:t>Protection proactive contre les menaces Internet</a:t>
            </a:r>
          </a:p>
          <a:p>
            <a:pPr marL="514350" indent="-285750" algn="l" rtl="0"/>
            <a:r>
              <a:rPr lang="en-US" sz="1400" dirty="0"/>
              <a:t>Application de politiques basées sur l'utilisateur, l'appareil, le rôle, le type d'application et le profil de menace</a:t>
            </a:r>
          </a:p>
          <a:p>
            <a:pPr marL="514350" indent="-285750" algn="l" rtl="0"/>
            <a:r>
              <a:rPr lang="en-US" sz="1400" dirty="0"/>
              <a:t>Performances de NAT, VPN et SPI</a:t>
            </a:r>
          </a:p>
          <a:p>
            <a:pPr marL="514350" indent="-285750" algn="l" rtl="0"/>
            <a:r>
              <a:rPr lang="en-US" sz="1400" dirty="0"/>
              <a:t>Utilisation d'un IPS</a:t>
            </a:r>
          </a:p>
        </p:txBody>
      </p:sp>
    </p:spTree>
    <p:extLst>
      <p:ext uri="{BB962C8B-B14F-4D97-AF65-F5344CB8AC3E}">
        <p14:creationId xmlns:p14="http://schemas.microsoft.com/office/powerpoint/2010/main" val="33298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4.2.3 :</a:t>
            </a:r>
            <a:br>
              <a:rPr lang="en-US" sz="2800" dirty="0"/>
            </a:br>
            <a:r>
              <a:rPr lang="en-US" sz="2800" dirty="0"/>
              <a:t>Pare-feu classique</a:t>
            </a:r>
          </a:p>
        </p:txBody>
      </p:sp>
    </p:spTree>
    <p:extLst>
      <p:ext uri="{BB962C8B-B14F-4D97-AF65-F5344CB8AC3E}">
        <p14:creationId xmlns:p14="http://schemas.microsoft.com/office/powerpoint/2010/main" val="201966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Présentation du pare-feu classique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519238"/>
            <a:ext cx="7134225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881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Fonctionnement classique du pare-feu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371600"/>
            <a:ext cx="84010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942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Configuration du pare-feu classique</a:t>
            </a:r>
          </a:p>
        </p:txBody>
      </p:sp>
      <p:sp>
        <p:nvSpPr>
          <p:cNvPr id="14" name="Text Placeholder 6"/>
          <p:cNvSpPr txBox="1">
            <a:spLocks/>
          </p:cNvSpPr>
          <p:nvPr/>
        </p:nvSpPr>
        <p:spPr>
          <a:xfrm>
            <a:off x="3799736" y="2532888"/>
            <a:ext cx="2225040" cy="370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Règles d'inspection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736" y="2903220"/>
            <a:ext cx="4945168" cy="3415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182880" y="1455422"/>
            <a:ext cx="3246120" cy="25907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 algn="l" rtl="0">
              <a:buFont typeface="+mj-lt"/>
              <a:buAutoNum type="arabicPeriod"/>
            </a:pPr>
            <a:r>
              <a:rPr lang="en-US" sz="1800" dirty="0"/>
              <a:t>Choisissez les interfaces internes et externes.</a:t>
            </a:r>
          </a:p>
          <a:p>
            <a:pPr marL="571500" indent="-342900" algn="l" rtl="0">
              <a:buFont typeface="+mj-lt"/>
              <a:buAutoNum type="arabicPeriod"/>
            </a:pPr>
            <a:r>
              <a:rPr lang="en-US" sz="1800" dirty="0"/>
              <a:t>Configurez les ACL pour chaque interface.</a:t>
            </a:r>
          </a:p>
          <a:p>
            <a:pPr marL="571500" indent="-342900" algn="l" rtl="0">
              <a:buFont typeface="+mj-lt"/>
              <a:buAutoNum type="arabicPeriod"/>
            </a:pPr>
            <a:r>
              <a:rPr lang="en-US" sz="1800" dirty="0"/>
              <a:t>Définir les règles d'inspection.</a:t>
            </a:r>
          </a:p>
          <a:p>
            <a:pPr marL="571500" indent="-342900" algn="l" rtl="0">
              <a:buFont typeface="+mj-lt"/>
              <a:buAutoNum type="arabicPeriod"/>
            </a:pPr>
            <a:r>
              <a:rPr lang="en-US" sz="1800" dirty="0"/>
              <a:t>Appliquer une règle d'inspection à une interface.</a:t>
            </a:r>
          </a:p>
        </p:txBody>
      </p:sp>
    </p:spTree>
    <p:extLst>
      <p:ext uri="{BB962C8B-B14F-4D97-AF65-F5344CB8AC3E}">
        <p14:creationId xmlns:p14="http://schemas.microsoft.com/office/powerpoint/2010/main" val="43673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4.2.4 :</a:t>
            </a:r>
            <a:br>
              <a:rPr lang="en-US" sz="2800" dirty="0"/>
            </a:br>
            <a:r>
              <a:rPr lang="en-US" sz="2800" dirty="0"/>
              <a:t>Pare-feu dans la conception de réseaux</a:t>
            </a:r>
          </a:p>
        </p:txBody>
      </p:sp>
    </p:spTree>
    <p:extLst>
      <p:ext uri="{BB962C8B-B14F-4D97-AF65-F5344CB8AC3E}">
        <p14:creationId xmlns:p14="http://schemas.microsoft.com/office/powerpoint/2010/main" val="353176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Réseaux internes et externes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966913"/>
            <a:ext cx="871537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282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Zones démilitarisées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39" y="1213373"/>
            <a:ext cx="7685723" cy="5044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Pare-feu basés sur des zones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" y="1194553"/>
            <a:ext cx="7117080" cy="5044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77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3200" dirty="0"/>
              <a:t>Défense à plusieurs niveaux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283369" y="937260"/>
            <a:ext cx="8577263" cy="5448300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600" dirty="0"/>
              <a:t>Considérations relatives à la défense du réseau :</a:t>
            </a:r>
          </a:p>
          <a:p>
            <a:pPr algn="l" rtl="0"/>
            <a:r>
              <a:rPr lang="en-US" sz="1600" dirty="0"/>
              <a:t>Sécurité du cœur du réseau</a:t>
            </a:r>
          </a:p>
          <a:p>
            <a:pPr algn="l" rtl="0"/>
            <a:r>
              <a:rPr lang="en-US" sz="1600" dirty="0"/>
              <a:t>Périmètre de sécurité</a:t>
            </a:r>
          </a:p>
          <a:p>
            <a:pPr algn="l" rtl="0"/>
            <a:r>
              <a:rPr lang="en-US" sz="1600" dirty="0"/>
              <a:t>Sécurité des terminaux</a:t>
            </a:r>
          </a:p>
          <a:p>
            <a:pPr algn="l" rtl="0"/>
            <a:r>
              <a:rPr lang="en-US" sz="1600" dirty="0"/>
              <a:t>Sécurité des communications</a:t>
            </a:r>
          </a:p>
          <a:p>
            <a:pPr marL="0" indent="0" algn="l" rtl="0">
              <a:buNone/>
            </a:pPr>
            <a:r>
              <a:rPr lang="en-US" sz="1600" dirty="0"/>
              <a:t>Les meilleures pratiques en matière de pare-feu incluent :</a:t>
            </a:r>
          </a:p>
          <a:p>
            <a:pPr algn="l" rtl="0"/>
            <a:r>
              <a:rPr lang="en-US" sz="1600" dirty="0"/>
              <a:t>Positionnez les pare-feu aux limites de sécurité.</a:t>
            </a:r>
          </a:p>
          <a:p>
            <a:pPr algn="l" rtl="0"/>
            <a:r>
              <a:rPr lang="en-US" sz="1600" dirty="0"/>
              <a:t>Il n’est pas judicieux de s’appuyer exclusivement sur un pare-feu pour la sécurité.</a:t>
            </a:r>
          </a:p>
          <a:p>
            <a:pPr algn="l" rtl="0"/>
            <a:r>
              <a:rPr lang="en-US" sz="1600" dirty="0"/>
              <a:t>Refuser tout le trafic par défaut. Autoriser uniquement les services nécessaires.</a:t>
            </a:r>
          </a:p>
          <a:p>
            <a:pPr algn="l" rtl="0"/>
            <a:r>
              <a:rPr lang="en-US" sz="1600" dirty="0"/>
              <a:t>Assurez-vous que l’accès physique au pare-feu est contrôlé.</a:t>
            </a:r>
          </a:p>
          <a:p>
            <a:pPr algn="l" rtl="0"/>
            <a:r>
              <a:rPr lang="en-US" sz="1600" dirty="0"/>
              <a:t>Surveiller les journaux du pare-feu.</a:t>
            </a:r>
          </a:p>
          <a:p>
            <a:pPr algn="l" rtl="0"/>
            <a:r>
              <a:rPr lang="en-US" sz="1600" dirty="0"/>
              <a:t>Pratiquez la gestion des changements pour les modifications de configuration du pare-feu.</a:t>
            </a:r>
          </a:p>
          <a:p>
            <a:pPr algn="l" rtl="0"/>
            <a:r>
              <a:rPr lang="en-US" sz="1600" dirty="0"/>
              <a:t>N'oubliez pas que les pare-feu protègent principalement contre les attaques techniques provenant de l'extérieur.</a:t>
            </a:r>
          </a:p>
        </p:txBody>
      </p:sp>
    </p:spTree>
    <p:extLst>
      <p:ext uri="{BB962C8B-B14F-4D97-AF65-F5344CB8AC3E}">
        <p14:creationId xmlns:p14="http://schemas.microsoft.com/office/powerpoint/2010/main" val="295037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1698171"/>
            <a:ext cx="8112125" cy="1172145"/>
          </a:xfrm>
        </p:spPr>
        <p:txBody>
          <a:bodyPr/>
          <a:lstStyle/>
          <a:p>
            <a:pPr algn="l" rtl="0"/>
            <a:r>
              <a:rPr lang="en-US" sz="4000" dirty="0"/>
              <a:t>Section 4.3 :</a:t>
            </a:r>
            <a:br>
              <a:rPr lang="en-US" sz="4000" dirty="0"/>
            </a:br>
            <a:r>
              <a:rPr lang="en-US" sz="4000" dirty="0"/>
              <a:t>Pare-feu basés sur des zones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119628"/>
            <a:ext cx="8577072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800" dirty="0"/>
              <a:t>À la fin de cette section, vous devriez être capable de :</a:t>
            </a:r>
          </a:p>
          <a:p>
            <a:pPr algn="l" rtl="0"/>
            <a:r>
              <a:rPr lang="en-US" sz="1800" dirty="0"/>
              <a:t>Expliquez comment les pare-feu basés sur des zones sont utilisés pour sécuriser un réseau.</a:t>
            </a:r>
          </a:p>
          <a:p>
            <a:pPr algn="l" rtl="0"/>
            <a:r>
              <a:rPr lang="en-US" sz="1800" dirty="0"/>
              <a:t>Expliquer le fonctionnement d'un pare-feu basé sur des zones.</a:t>
            </a:r>
          </a:p>
          <a:p>
            <a:pPr algn="l" rtl="0"/>
            <a:r>
              <a:rPr lang="en-US" sz="1800" dirty="0"/>
              <a:t>Configurer un pare-feu basé sur une zone avec CLI.</a:t>
            </a:r>
          </a:p>
        </p:txBody>
      </p:sp>
    </p:spTree>
    <p:extLst>
      <p:ext uri="{BB962C8B-B14F-4D97-AF65-F5344CB8AC3E}">
        <p14:creationId xmlns:p14="http://schemas.microsoft.com/office/powerpoint/2010/main" val="79032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4.3.1 :</a:t>
            </a:r>
            <a:br>
              <a:rPr lang="en-US" sz="2800" dirty="0"/>
            </a:br>
            <a:r>
              <a:rPr lang="en-US" sz="2800" dirty="0"/>
              <a:t>Présentation du pare-feu basé sur les zones</a:t>
            </a:r>
          </a:p>
        </p:txBody>
      </p:sp>
    </p:spTree>
    <p:extLst>
      <p:ext uri="{BB962C8B-B14F-4D97-AF65-F5344CB8AC3E}">
        <p14:creationId xmlns:p14="http://schemas.microsoft.com/office/powerpoint/2010/main" val="214716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Avantages du ZPF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6680" y="1725613"/>
            <a:ext cx="2921000" cy="3554412"/>
          </a:xfrm>
          <a:prstGeom prst="rect">
            <a:avLst/>
          </a:prstGeom>
        </p:spPr>
        <p:txBody>
          <a:bodyPr/>
          <a:lstStyle/>
          <a:p>
            <a:pPr algn="l" rtl="0"/>
            <a:r>
              <a:rPr lang="en-US" sz="1800" dirty="0"/>
              <a:t>Ne dépend pas des ACL</a:t>
            </a:r>
          </a:p>
          <a:p>
            <a:pPr algn="l" rtl="0"/>
            <a:r>
              <a:rPr lang="en-US" sz="1800" dirty="0"/>
              <a:t>La posture de sécurité du routeur consiste à bloquer sauf autorisation explicite</a:t>
            </a:r>
          </a:p>
          <a:p>
            <a:pPr algn="l" rtl="0"/>
            <a:r>
              <a:rPr lang="en-US" sz="1800" dirty="0"/>
              <a:t>Les politiques sont faciles à lire et à résoudre avec C3PL</a:t>
            </a:r>
          </a:p>
          <a:p>
            <a:pPr algn="l" rtl="0"/>
            <a:r>
              <a:rPr lang="en-US" sz="1800" dirty="0"/>
              <a:t>Une politique affecte n'importe quel trafic donné, au lieu d'avoir besoin de plusieurs ACL et actions d'inspection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357" y="1882140"/>
            <a:ext cx="5842241" cy="319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913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Conception ZPF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83464" y="1115568"/>
            <a:ext cx="8577072" cy="4965192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800" dirty="0"/>
              <a:t>Les conceptions courantes incluent :</a:t>
            </a:r>
          </a:p>
          <a:p>
            <a:pPr algn="l" rtl="0"/>
            <a:r>
              <a:rPr lang="en-US" sz="1800" dirty="0"/>
              <a:t>LAN vers Internet</a:t>
            </a:r>
          </a:p>
          <a:p>
            <a:pPr algn="l" rtl="0"/>
            <a:r>
              <a:rPr lang="en-US" sz="1800" dirty="0"/>
              <a:t>Pare-feu entre serveurs publics</a:t>
            </a:r>
          </a:p>
          <a:p>
            <a:pPr algn="l" rtl="0"/>
            <a:r>
              <a:rPr lang="en-US" sz="1800" dirty="0"/>
              <a:t>Pare-feu redondants</a:t>
            </a:r>
          </a:p>
          <a:p>
            <a:pPr algn="l" rtl="0"/>
            <a:r>
              <a:rPr lang="en-US" sz="1800" dirty="0"/>
              <a:t>Pare-feu complexes</a:t>
            </a:r>
          </a:p>
          <a:p>
            <a:pPr marL="0" indent="0" algn="l" rtl="0">
              <a:buNone/>
            </a:pPr>
            <a:r>
              <a:rPr lang="en-US" sz="1800" dirty="0"/>
              <a:t>Étapes de conception :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dirty="0"/>
              <a:t>Déterminer les zones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dirty="0"/>
              <a:t>Établir des politiques entre les zones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dirty="0"/>
              <a:t>Concevoir l'infrastructure physique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dirty="0"/>
              <a:t>Identifier les sous-ensembles au sein des zones et fusionner les besoins de trafic</a:t>
            </a:r>
          </a:p>
        </p:txBody>
      </p:sp>
    </p:spTree>
    <p:extLst>
      <p:ext uri="{BB962C8B-B14F-4D97-AF65-F5344CB8AC3E}">
        <p14:creationId xmlns:p14="http://schemas.microsoft.com/office/powerpoint/2010/main" val="41585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4.3.2 :</a:t>
            </a:r>
            <a:br>
              <a:rPr lang="en-US" sz="2800" dirty="0"/>
            </a:br>
            <a:r>
              <a:rPr lang="en-US" sz="2800" dirty="0"/>
              <a:t>Fonctionnement du ZPF</a:t>
            </a:r>
          </a:p>
        </p:txBody>
      </p:sp>
    </p:spTree>
    <p:extLst>
      <p:ext uri="{BB962C8B-B14F-4D97-AF65-F5344CB8AC3E}">
        <p14:creationId xmlns:p14="http://schemas.microsoft.com/office/powerpoint/2010/main" val="58038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Actions de la ZPF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 rtl="0"/>
            <a:r>
              <a:rPr lang="en-US" sz="1800" b="1" dirty="0"/>
              <a:t>Inspecter</a:t>
            </a:r>
            <a:r>
              <a:rPr lang="en-US" sz="1800" dirty="0"/>
              <a:t>- Configure Cisco IOS</a:t>
            </a:r>
            <a:r>
              <a:rPr lang="en-US" sz="1800" dirty="0" err="1"/>
              <a:t>avec état</a:t>
            </a:r>
            <a:r>
              <a:rPr lang="en-US" sz="1800" dirty="0"/>
              <a:t>inspections de paquets.</a:t>
            </a:r>
          </a:p>
          <a:p>
            <a:pPr algn="l" rtl="0"/>
            <a:r>
              <a:rPr lang="en-US" sz="1800" b="1" dirty="0"/>
              <a:t>Baisse</a:t>
            </a:r>
            <a:r>
              <a:rPr lang="en-US" sz="1800" dirty="0"/>
              <a:t>- Analogue à une instruction de refus dans une liste de contrôle d'accès. Une option de journalisation est disponible pour enregistrer les paquets rejetés.</a:t>
            </a:r>
          </a:p>
          <a:p>
            <a:pPr algn="l" rtl="0"/>
            <a:r>
              <a:rPr lang="en-US" sz="1800" b="1" dirty="0"/>
              <a:t>Passer</a:t>
            </a:r>
            <a:r>
              <a:rPr lang="en-US" sz="1800" dirty="0"/>
              <a:t>- Analogue à une instruction d'autorisation dans une liste de contrôle d'accès. L'action pass ne suit pas l'état des connexions ou des sessions au sein du trafic.</a:t>
            </a:r>
          </a:p>
        </p:txBody>
      </p:sp>
    </p:spTree>
    <p:extLst>
      <p:ext uri="{BB962C8B-B14F-4D97-AF65-F5344CB8AC3E}">
        <p14:creationId xmlns:p14="http://schemas.microsoft.com/office/powerpoint/2010/main" val="330281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Règles de circulation en transit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30" y="1349422"/>
            <a:ext cx="6377941" cy="201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1"/>
          <p:cNvSpPr txBox="1">
            <a:spLocks/>
          </p:cNvSpPr>
          <p:nvPr/>
        </p:nvSpPr>
        <p:spPr>
          <a:xfrm>
            <a:off x="229702" y="351069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algn="l" rtl="0">
              <a:lnSpc>
                <a:spcPct val="100000"/>
              </a:lnSpc>
            </a:pPr>
            <a:r>
              <a:rPr lang="en-US" sz="3200" dirty="0"/>
              <a:t>Règles de circulation vers la zone libre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55" y="4402055"/>
            <a:ext cx="654269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57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rtl="0"/>
            <a:r>
              <a:rPr lang="en-US" sz="2800" dirty="0"/>
              <a:t>Thème 4.3.3 :</a:t>
            </a:r>
            <a:br>
              <a:rPr lang="en-US" sz="2800" dirty="0"/>
            </a:br>
            <a:r>
              <a:rPr lang="en-US" sz="2800" dirty="0"/>
              <a:t>Configuration d'un ZPF</a:t>
            </a:r>
          </a:p>
        </p:txBody>
      </p:sp>
    </p:spTree>
    <p:extLst>
      <p:ext uri="{BB962C8B-B14F-4D97-AF65-F5344CB8AC3E}">
        <p14:creationId xmlns:p14="http://schemas.microsoft.com/office/powerpoint/2010/main" val="6543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Configurer ZPF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66" y="1425796"/>
            <a:ext cx="7931468" cy="475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11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Étape 1 : Créer des zones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166813"/>
            <a:ext cx="8658225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796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Étape 2 : Identifier le trafic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617218" y="1928622"/>
            <a:ext cx="2537460" cy="736600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800" dirty="0"/>
              <a:t>Syntaxe de commande pour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carte de classe</a:t>
            </a:r>
            <a:endParaRPr lang="en-US" sz="18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678" y="1245362"/>
            <a:ext cx="5622067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677" y="3832561"/>
            <a:ext cx="5622067" cy="2235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601977" y="4501896"/>
            <a:ext cx="2552700" cy="1048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Font typeface="Arial" pitchFamily="34" charset="0"/>
              <a:buNone/>
            </a:pPr>
            <a:r>
              <a:rPr lang="en-US" sz="1800" dirty="0"/>
              <a:t>Syntaxe de la commande de sous-configuration pour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carte de classe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0808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Étape 2 : Identifier le trafic (suite)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93387" y="1467675"/>
            <a:ext cx="5756275" cy="344234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800" dirty="0"/>
              <a:t>Exemple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carte de classe</a:t>
            </a:r>
            <a:r>
              <a:rPr lang="en-US" sz="1800" dirty="0"/>
              <a:t>Configuration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87" y="1811909"/>
            <a:ext cx="6957226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93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Étape 3 : Définir une action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95300" y="4632722"/>
            <a:ext cx="2575560" cy="763588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800" dirty="0"/>
              <a:t>Exemple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carte politique</a:t>
            </a:r>
            <a:r>
              <a:rPr lang="en-US" sz="1800" dirty="0"/>
              <a:t>Configuration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940" y="1226137"/>
            <a:ext cx="5485448" cy="232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940" y="3674906"/>
            <a:ext cx="5485448" cy="2679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495300" y="2008706"/>
            <a:ext cx="2407920" cy="7636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Font typeface="Arial" pitchFamily="34" charset="0"/>
              <a:buNone/>
            </a:pPr>
            <a:r>
              <a:rPr lang="en-US" sz="1800" dirty="0"/>
              <a:t>Syntaxe de commande pour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carte politique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8992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0" y="5495"/>
            <a:ext cx="9144000" cy="838200"/>
          </a:xfrm>
        </p:spPr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Étape 4: Identifier une paire de zones et la faire correspondre à une politique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220980" y="4632325"/>
            <a:ext cx="3101340" cy="763588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800" dirty="0"/>
              <a:t>Exemple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service-politique</a:t>
            </a:r>
            <a:r>
              <a:rPr lang="en-US" sz="1800" dirty="0"/>
              <a:t>Configuration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342900" y="1698191"/>
            <a:ext cx="2369820" cy="1062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Font typeface="Arial" pitchFamily="34" charset="0"/>
              <a:buNone/>
            </a:pPr>
            <a:r>
              <a:rPr lang="en-US" sz="1800" dirty="0"/>
              <a:t>Syntaxe de commande pour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paire de zones</a:t>
            </a:r>
            <a:r>
              <a:rPr lang="en-US" sz="1800" dirty="0"/>
              <a:t>et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politique de service</a:t>
            </a:r>
            <a:endParaRPr lang="en-US" sz="18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48" y="1231466"/>
            <a:ext cx="5498926" cy="2083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3687340"/>
            <a:ext cx="5463540" cy="25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9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Étape 5 : Attribuer des zones aux interfaces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" y="1181008"/>
            <a:ext cx="8422958" cy="507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678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-223105"/>
            <a:ext cx="8588861" cy="838200"/>
          </a:xfrm>
        </p:spPr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Vérifier une configuration ZPF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2420" y="566928"/>
            <a:ext cx="8577072" cy="2907792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600" dirty="0"/>
              <a:t>Commandes de vérification :</a:t>
            </a:r>
          </a:p>
          <a:p>
            <a:pPr algn="l" rtl="0"/>
            <a:r>
              <a:rPr lang="en-US" sz="1600" dirty="0"/>
              <a:t>afficher l'exécution | commencer la carte de classe</a:t>
            </a:r>
          </a:p>
          <a:p>
            <a:pPr algn="l" rtl="0"/>
            <a:r>
              <a:rPr lang="en-US" sz="1600" dirty="0"/>
              <a:t>afficher le type de carte de politique inspecter les sessions de paires de zones</a:t>
            </a:r>
          </a:p>
          <a:p>
            <a:pPr algn="l" rtl="0"/>
            <a:r>
              <a:rPr lang="en-US" sz="1600" dirty="0"/>
              <a:t>afficher l'inspection du type de carte de classe</a:t>
            </a:r>
          </a:p>
          <a:p>
            <a:pPr algn="l" rtl="0"/>
            <a:r>
              <a:rPr lang="en-US" sz="1600" dirty="0"/>
              <a:t>afficher la sécurité de la zone</a:t>
            </a:r>
          </a:p>
          <a:p>
            <a:pPr algn="l" rtl="0"/>
            <a:r>
              <a:rPr lang="en-US" sz="1600" dirty="0"/>
              <a:t>afficher la sécurité des paires de zones</a:t>
            </a:r>
          </a:p>
          <a:p>
            <a:pPr algn="l" rtl="0"/>
            <a:r>
              <a:rPr lang="en-US" sz="1600" dirty="0"/>
              <a:t>afficher le type de carte de politique inspecter</a:t>
            </a:r>
          </a:p>
        </p:txBody>
      </p:sp>
      <p:sp>
        <p:nvSpPr>
          <p:cNvPr id="11" name="Title 11"/>
          <p:cNvSpPr txBox="1">
            <a:spLocks/>
          </p:cNvSpPr>
          <p:nvPr/>
        </p:nvSpPr>
        <p:spPr>
          <a:xfrm>
            <a:off x="229702" y="315255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algn="l" rtl="0">
              <a:lnSpc>
                <a:spcPct val="100000"/>
              </a:lnSpc>
            </a:pPr>
            <a:r>
              <a:rPr lang="en-US" sz="3200" dirty="0"/>
              <a:t>Considérations relatives à la configuration du ZPF</a:t>
            </a: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365760" y="4026408"/>
            <a:ext cx="8577072" cy="23286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1600" dirty="0"/>
              <a:t>Aucun filtrage n'est appliqué pour le trafic intra-zone</a:t>
            </a:r>
          </a:p>
          <a:p>
            <a:pPr algn="l" rtl="0"/>
            <a:r>
              <a:rPr lang="en-US" sz="1600" dirty="0"/>
              <a:t>Une seule zone est autorisée par interface.</a:t>
            </a:r>
          </a:p>
          <a:p>
            <a:pPr algn="l" rtl="0"/>
            <a:r>
              <a:rPr lang="en-US" sz="1600" dirty="0"/>
              <a:t>Pas de configuration de pare-feu classique et ZPF sur la même interface.</a:t>
            </a:r>
          </a:p>
          <a:p>
            <a:pPr algn="l" rtl="0"/>
            <a:r>
              <a:rPr lang="en-US" sz="1600" dirty="0"/>
              <a:t>Si un seul membre de zone est affecté, tout le trafic est abandonné.</a:t>
            </a:r>
          </a:p>
          <a:p>
            <a:pPr algn="l" rtl="0"/>
            <a:r>
              <a:rPr lang="en-US" sz="1600" dirty="0"/>
              <a:t>Seul le trafic explicitement autorisé est transféré entre les zones.</a:t>
            </a:r>
          </a:p>
          <a:p>
            <a:pPr algn="l" rtl="0"/>
            <a:r>
              <a:rPr lang="en-US" sz="1600" dirty="0"/>
              <a:t>Le trafic vers la zone libre n'est pas filtré.</a:t>
            </a:r>
          </a:p>
        </p:txBody>
      </p:sp>
    </p:spTree>
    <p:extLst>
      <p:ext uri="{BB962C8B-B14F-4D97-AF65-F5344CB8AC3E}">
        <p14:creationId xmlns:p14="http://schemas.microsoft.com/office/powerpoint/2010/main" val="138909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1513755"/>
            <a:ext cx="8112125" cy="1247253"/>
          </a:xfrm>
        </p:spPr>
        <p:txBody>
          <a:bodyPr/>
          <a:lstStyle/>
          <a:p>
            <a:pPr algn="l" rtl="0"/>
            <a:r>
              <a:rPr lang="en-US" sz="4000" dirty="0"/>
              <a:t>Section 4.4 :</a:t>
            </a:r>
            <a:br>
              <a:rPr lang="en-US" sz="4000" dirty="0"/>
            </a:br>
            <a:r>
              <a:rPr lang="en-US" sz="4000" dirty="0"/>
              <a:t>Résumé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419100" y="3012948"/>
            <a:ext cx="8577072" cy="2656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2000" dirty="0"/>
              <a:t>Objectifs du chapitre :</a:t>
            </a:r>
          </a:p>
          <a:p>
            <a:pPr algn="l" rtl="0"/>
            <a:r>
              <a:rPr lang="en-US" sz="1800" dirty="0"/>
              <a:t>Implémentez des ACL pour filtrer le trafic et atténuer les attaques réseau sur un réseau.</a:t>
            </a:r>
          </a:p>
          <a:p>
            <a:pPr algn="l" rtl="0"/>
            <a:r>
              <a:rPr lang="en-US" sz="1800" dirty="0"/>
              <a:t>Configurez un pare-feu classique pour atténuer les attaques réseau.</a:t>
            </a:r>
          </a:p>
          <a:p>
            <a:pPr algn="l" rtl="0"/>
            <a:r>
              <a:rPr lang="en-US" sz="1800" dirty="0"/>
              <a:t>Implémenter ZPF à l'aide de CLI.</a:t>
            </a:r>
          </a:p>
        </p:txBody>
      </p:sp>
    </p:spTree>
    <p:extLst>
      <p:ext uri="{BB962C8B-B14F-4D97-AF65-F5344CB8AC3E}">
        <p14:creationId xmlns:p14="http://schemas.microsoft.com/office/powerpoint/2010/main" val="359023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5495"/>
            <a:ext cx="8588861" cy="838200"/>
          </a:xfrm>
        </p:spPr>
        <p:txBody>
          <a:bodyPr/>
          <a:lstStyle/>
          <a:p>
            <a:pPr algn="l" rtl="0">
              <a:lnSpc>
                <a:spcPct val="100000"/>
              </a:lnSpc>
            </a:pPr>
            <a:r>
              <a:rPr lang="en-US" sz="3200" dirty="0"/>
              <a:t>Ressources pour les instructeurs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28599" y="1318260"/>
            <a:ext cx="3314701" cy="4991099"/>
          </a:xfrm>
        </p:spPr>
        <p:txBody>
          <a:bodyPr/>
          <a:lstStyle/>
          <a:p>
            <a:pPr algn="l" rtl="0"/>
            <a:r>
              <a:rPr lang="en-US" sz="1800" b="1" dirty="0"/>
              <a:t>Souviens-toi</a:t>
            </a:r>
            <a:r>
              <a:rPr lang="en-US" sz="1800" dirty="0"/>
              <a:t>, des didacticiels utiles et des guides d'utilisation sont disponibles via votre</a:t>
            </a:r>
            <a:r>
              <a:rPr lang="en-US" sz="1800" dirty="0" err="1"/>
              <a:t>Espace Net</a:t>
            </a:r>
            <a:r>
              <a:rPr lang="en-US" sz="1800" dirty="0"/>
              <a:t> maisonpage. (https://(www.netacad.com)</a:t>
            </a:r>
          </a:p>
          <a:p>
            <a:pPr algn="l" rtl="0"/>
            <a:r>
              <a:rPr lang="en-US" sz="1800" dirty="0"/>
              <a:t>Ces ressources couvrent une variété de sujets, notamment la navigation, les évaluations et les devoirs.</a:t>
            </a:r>
          </a:p>
          <a:p>
            <a:pPr algn="l" rtl="0"/>
            <a:r>
              <a:rPr lang="en-US" sz="1800" dirty="0"/>
              <a:t>Une capture d'écran a été fournie ici mettant en évidence les didacticiels liés à l'activation des examens, à la gestion des évaluations et à la création de quiz.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61" y="1531620"/>
            <a:ext cx="4997317" cy="2381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83" y="4336386"/>
            <a:ext cx="3419475" cy="182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 flipV="1">
            <a:off x="4648897" y="5370353"/>
            <a:ext cx="359327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658684" y="4692242"/>
            <a:ext cx="359327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643304" y="5146646"/>
            <a:ext cx="359327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86867" y="2033142"/>
            <a:ext cx="27683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9062" y="2354091"/>
            <a:ext cx="27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8760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etAcad_White_PPT_Template 05Oct12">
  <a:themeElements>
    <a:clrScheme name="Cisco NetAcad">
      <a:dk1>
        <a:srgbClr val="2AA7DF"/>
      </a:dk1>
      <a:lt1>
        <a:srgbClr val="FFFFFF"/>
      </a:lt1>
      <a:dk2>
        <a:srgbClr val="6B308E"/>
      </a:dk2>
      <a:lt2>
        <a:srgbClr val="000000"/>
      </a:lt2>
      <a:accent1>
        <a:srgbClr val="00938E"/>
      </a:accent1>
      <a:accent2>
        <a:srgbClr val="3EB549"/>
      </a:accent2>
      <a:accent3>
        <a:srgbClr val="D81673"/>
      </a:accent3>
      <a:accent4>
        <a:srgbClr val="234493"/>
      </a:accent4>
      <a:accent5>
        <a:srgbClr val="ED2D28"/>
      </a:accent5>
      <a:accent6>
        <a:srgbClr val="F68B21"/>
      </a:accent6>
      <a:hlink>
        <a:srgbClr val="2AA7DF"/>
      </a:hlink>
      <a:folHlink>
        <a:srgbClr val="ACB2C2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NetAcad_White_PPT_Template 05Oct12</Template>
  <TotalTime>4512</TotalTime>
  <Words>1758</Words>
  <Application>Microsoft Office PowerPoint</Application>
  <PresentationFormat>Affichage à l'écran (4:3)</PresentationFormat>
  <Paragraphs>277</Paragraphs>
  <Slides>58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Ciscolight</vt:lpstr>
      <vt:lpstr>Courier New</vt:lpstr>
      <vt:lpstr>NetAcad_White_PPT_Template 05Oct12</vt:lpstr>
      <vt:lpstr> Mise en œuvre des technologies de pare-feu</vt:lpstr>
      <vt:lpstr>Plan du chapitre</vt:lpstr>
      <vt:lpstr>Section 4.1 : Liste de contrôle d'accès</vt:lpstr>
      <vt:lpstr> Configuration des versions standard et étendue ACL IPv4 avec CLI</vt:lpstr>
      <vt:lpstr>Introduction àListes de contrôle d'accès</vt:lpstr>
      <vt:lpstr>Configuration des ACL numérotées et nommées</vt:lpstr>
      <vt:lpstr>Application d'une ACL</vt:lpstr>
      <vt:lpstr>Appliquer unLCA (suite)</vt:lpstr>
      <vt:lpstr>Directives de configuration de l'ACL</vt:lpstr>
      <vt:lpstr>Modification des ACL existantes</vt:lpstr>
      <vt:lpstr>Numéros de séquence et ACL standard</vt:lpstr>
      <vt:lpstr>Présentation PowerPoint</vt:lpstr>
      <vt:lpstr>Packet Tracer - Configuring Extended ACLs Scenario 1.pka Atténuer les attaques avec les ACL</vt:lpstr>
      <vt:lpstr>Anti-usurpation d'identitéavec les ACL</vt:lpstr>
      <vt:lpstr>Autoriser le trafic nécessaire via un pare-feu</vt:lpstr>
      <vt:lpstr>Atténuer les abus du protocole ICMP</vt:lpstr>
      <vt:lpstr>Atténuer les exploits SNMP</vt:lpstr>
      <vt:lpstr>Thème 4.1.3 : Listes de contrôle d'accès IPv6</vt:lpstr>
      <vt:lpstr>Présentation des ACL IPv6</vt:lpstr>
      <vt:lpstr>Syntaxe ACL IPv6</vt:lpstr>
      <vt:lpstr>Configurer les ACL IPv6</vt:lpstr>
      <vt:lpstr>Section 4.2 : Technologies de pare-feu</vt:lpstr>
      <vt:lpstr>Thème 4.2.1 : Sécuriser les réseaux avec des pare-feu</vt:lpstr>
      <vt:lpstr>Définition des pare-feu</vt:lpstr>
      <vt:lpstr>Avantages et limites des pare-feu</vt:lpstr>
      <vt:lpstr>Thème 4.2.2 : Types de pare-feu</vt:lpstr>
      <vt:lpstr>Descriptions des types de pare-feu</vt:lpstr>
      <vt:lpstr>Avantages du pare-feu avec filtrage de paquets&amp;Limites</vt:lpstr>
      <vt:lpstr>Avec étatPare-feu</vt:lpstr>
      <vt:lpstr>Avec état Avantages et limites du pare-feu</vt:lpstr>
      <vt:lpstr>Thème 4.2.3 : Pare-feu classique</vt:lpstr>
      <vt:lpstr>Présentation du pare-feu classique</vt:lpstr>
      <vt:lpstr>Fonctionnement classique du pare-feu</vt:lpstr>
      <vt:lpstr>Configuration du pare-feu classique</vt:lpstr>
      <vt:lpstr>Thème 4.2.4 : Pare-feu dans la conception de réseaux</vt:lpstr>
      <vt:lpstr>Réseaux internes et externes</vt:lpstr>
      <vt:lpstr>Zones démilitarisées</vt:lpstr>
      <vt:lpstr>Pare-feu basés sur des zones</vt:lpstr>
      <vt:lpstr>Défense à plusieurs niveaux</vt:lpstr>
      <vt:lpstr>Section 4.3 : Pare-feu basés sur des zones</vt:lpstr>
      <vt:lpstr>Thème 4.3.1 : Présentation du pare-feu basé sur les zones</vt:lpstr>
      <vt:lpstr>Avantages du ZPF</vt:lpstr>
      <vt:lpstr>Conception ZPF</vt:lpstr>
      <vt:lpstr>Thème 4.3.2 : Fonctionnement du ZPF</vt:lpstr>
      <vt:lpstr>Actions de la ZPF</vt:lpstr>
      <vt:lpstr>Règles de circulation en transit</vt:lpstr>
      <vt:lpstr>Thème 4.3.3 : Configuration d'un ZPF</vt:lpstr>
      <vt:lpstr>Configurer ZPF</vt:lpstr>
      <vt:lpstr>Étape 1 : Créer des zones</vt:lpstr>
      <vt:lpstr>Étape 2 : Identifier le trafic</vt:lpstr>
      <vt:lpstr>Étape 2 : Identifier le trafic (suite)</vt:lpstr>
      <vt:lpstr>Étape 3 : Définir une action</vt:lpstr>
      <vt:lpstr>Étape 4: Identifier une paire de zones et la faire correspondre à une politique</vt:lpstr>
      <vt:lpstr>Étape 5 : Attribuer des zones aux interfaces</vt:lpstr>
      <vt:lpstr>Vérifier une configuration ZPF</vt:lpstr>
      <vt:lpstr>Section 4.4 : Résumé</vt:lpstr>
      <vt:lpstr>Présentation PowerPoint</vt:lpstr>
      <vt:lpstr>Ressources pour les instructeurs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Relevant,  Surprising and Fresh: Cisco Brand</dc:title>
  <dc:creator>Melissa Gabriel</dc:creator>
  <cp:lastModifiedBy>USER</cp:lastModifiedBy>
  <cp:revision>141</cp:revision>
  <dcterms:created xsi:type="dcterms:W3CDTF">2012-10-09T16:58:47Z</dcterms:created>
  <dcterms:modified xsi:type="dcterms:W3CDTF">2025-01-03T18:39:24Z</dcterms:modified>
</cp:coreProperties>
</file>