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isi.sn/" TargetMode="Externa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0.0.0.0:9000/" TargetMode="Externa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2582036" y="883665"/>
            <a:ext cx="260921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00">
                <a:latin typeface="Times New Roman"/>
                <a:cs typeface="Times New Roman"/>
              </a:rPr>
              <a:t>REPUBLIQUE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DU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SENEGAL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83919" y="1741754"/>
            <a:ext cx="4999990" cy="142811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35"/>
              </a:spcBef>
            </a:pPr>
            <a:r>
              <a:rPr dirty="0" sz="1600">
                <a:latin typeface="Times New Roman"/>
                <a:cs typeface="Times New Roman"/>
              </a:rPr>
              <a:t>Un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Peuple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-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But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-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Une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Foi</a:t>
            </a:r>
            <a:endParaRPr sz="1600">
              <a:latin typeface="Times New Roman"/>
              <a:cs typeface="Times New Roman"/>
            </a:endParaRPr>
          </a:p>
          <a:p>
            <a:pPr algn="ctr" marL="12065" marR="5080">
              <a:lnSpc>
                <a:spcPts val="2760"/>
              </a:lnSpc>
              <a:spcBef>
                <a:spcPts val="235"/>
              </a:spcBef>
            </a:pPr>
            <a:r>
              <a:rPr dirty="0" sz="1600">
                <a:latin typeface="Times New Roman"/>
                <a:cs typeface="Times New Roman"/>
              </a:rPr>
              <a:t>Ministère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l’Enseignement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Supérieur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la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Recherche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et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de </a:t>
            </a:r>
            <a:r>
              <a:rPr dirty="0" sz="1600" spc="-10">
                <a:latin typeface="Times New Roman"/>
                <a:cs typeface="Times New Roman"/>
              </a:rPr>
              <a:t>l’innovation</a:t>
            </a:r>
            <a:endParaRPr sz="1600">
              <a:latin typeface="Times New Roman"/>
              <a:cs typeface="Times New Roman"/>
            </a:endParaRPr>
          </a:p>
          <a:p>
            <a:pPr algn="ctr" marL="3810">
              <a:lnSpc>
                <a:spcPct val="100000"/>
              </a:lnSpc>
              <a:spcBef>
                <a:spcPts val="610"/>
              </a:spcBef>
            </a:pPr>
            <a:r>
              <a:rPr dirty="0" sz="1600">
                <a:latin typeface="Times New Roman"/>
                <a:cs typeface="Times New Roman"/>
              </a:rPr>
              <a:t>Direction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Générale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l’Enseignement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Supérieur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Privé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88516" y="3944873"/>
            <a:ext cx="5394325" cy="815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433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Km1,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Avenue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Cheikh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Anta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Diop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BP :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28 110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Dakar </a:t>
            </a:r>
            <a:r>
              <a:rPr dirty="0" sz="1200" spc="-10">
                <a:latin typeface="Times New Roman"/>
                <a:cs typeface="Times New Roman"/>
              </a:rPr>
              <a:t>Sénégal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/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Tel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 33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822 19</a:t>
            </a:r>
            <a:r>
              <a:rPr dirty="0" sz="1200" spc="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81 /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Fax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Times New Roman"/>
                <a:cs typeface="Times New Roman"/>
              </a:rPr>
              <a:t>: </a:t>
            </a:r>
            <a:r>
              <a:rPr dirty="0" sz="1200">
                <a:latin typeface="Times New Roman"/>
                <a:cs typeface="Times New Roman"/>
              </a:rPr>
              <a:t>33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822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31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90</a:t>
            </a:r>
            <a:endParaRPr sz="1200">
              <a:latin typeface="Times New Roman"/>
              <a:cs typeface="Times New Roman"/>
            </a:endParaRPr>
          </a:p>
          <a:p>
            <a:pPr algn="ctr" marL="6350">
              <a:lnSpc>
                <a:spcPct val="100000"/>
              </a:lnSpc>
              <a:spcBef>
                <a:spcPts val="645"/>
              </a:spcBef>
            </a:pPr>
            <a:r>
              <a:rPr dirty="0" sz="1200">
                <a:latin typeface="Times New Roman"/>
                <a:cs typeface="Times New Roman"/>
              </a:rPr>
              <a:t>Site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: </a:t>
            </a:r>
            <a:r>
              <a:rPr dirty="0" u="sng" sz="12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www.isi.sn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737486" y="5121655"/>
            <a:ext cx="4291965" cy="960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MASTER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1: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Réseaux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Systèmes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Informatique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20"/>
              </a:spcBef>
            </a:pPr>
            <a:endParaRPr sz="1800">
              <a:latin typeface="Calibri"/>
              <a:cs typeface="Calibri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Rapport</a:t>
            </a:r>
            <a:r>
              <a:rPr dirty="0" u="sng" sz="14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d’Installation</a:t>
            </a:r>
            <a:r>
              <a:rPr dirty="0" u="sng" sz="1400" spc="-4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</a:t>
            </a:r>
            <a:r>
              <a:rPr dirty="0" u="sng" sz="1400" spc="-3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</a:t>
            </a:r>
            <a:r>
              <a:rPr dirty="0" u="sng" sz="14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Configuration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</a:t>
            </a:r>
            <a:r>
              <a:rPr dirty="0" u="sng" sz="14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Graylog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130604" y="6325869"/>
            <a:ext cx="2268220" cy="6438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630"/>
              </a:lnSpc>
              <a:spcBef>
                <a:spcPts val="90"/>
              </a:spcBef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Réalisées</a:t>
            </a:r>
            <a:r>
              <a:rPr dirty="0" u="sng" sz="14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par</a:t>
            </a:r>
            <a:r>
              <a:rPr dirty="0" sz="1400" spc="-30" b="1">
                <a:latin typeface="Times New Roman"/>
                <a:cs typeface="Times New Roman"/>
              </a:rPr>
              <a:t> </a:t>
            </a:r>
            <a:r>
              <a:rPr dirty="0" sz="1400" spc="-50" b="1"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1610"/>
              </a:lnSpc>
              <a:spcBef>
                <a:spcPts val="65"/>
              </a:spcBef>
            </a:pPr>
            <a:r>
              <a:rPr dirty="0" sz="1400">
                <a:latin typeface="Times New Roman"/>
                <a:cs typeface="Times New Roman"/>
              </a:rPr>
              <a:t>Ababacar</a:t>
            </a:r>
            <a:r>
              <a:rPr dirty="0" sz="1400" spc="-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Ousmane</a:t>
            </a:r>
            <a:r>
              <a:rPr dirty="0" sz="1400" spc="-70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Times New Roman"/>
                <a:cs typeface="Times New Roman"/>
              </a:rPr>
              <a:t>Niang</a:t>
            </a:r>
            <a:r>
              <a:rPr dirty="0" sz="1400" spc="5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Bara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Mamadou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Lamine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Ndiaye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04459" y="6325869"/>
            <a:ext cx="91694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Professeur</a:t>
            </a:r>
            <a:r>
              <a:rPr dirty="0" sz="1400" spc="-60" b="1">
                <a:latin typeface="Times New Roman"/>
                <a:cs typeface="Times New Roman"/>
              </a:rPr>
              <a:t> </a:t>
            </a:r>
            <a:r>
              <a:rPr dirty="0" sz="1100" spc="-50" b="1">
                <a:latin typeface="Times New Roman"/>
                <a:cs typeface="Times New Roman"/>
              </a:rPr>
              <a:t>: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649595" y="6731634"/>
            <a:ext cx="97726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>
                <a:latin typeface="Times New Roman"/>
                <a:cs typeface="Times New Roman"/>
              </a:rPr>
              <a:t>Dr.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NDIAYE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26004" y="8734450"/>
            <a:ext cx="31248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Times New Roman"/>
                <a:cs typeface="Times New Roman"/>
              </a:rPr>
              <a:t>Année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Académique</a:t>
            </a:r>
            <a:r>
              <a:rPr dirty="0" sz="1800" spc="-2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2024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–</a:t>
            </a:r>
            <a:r>
              <a:rPr dirty="0" sz="1800" spc="-30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2025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7999" y="1264936"/>
            <a:ext cx="1668649" cy="487506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62199" y="3279647"/>
            <a:ext cx="3032610" cy="6546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782276"/>
            <a:ext cx="5511800" cy="289560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35"/>
              </a:spcBef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Introduction</a:t>
            </a:r>
            <a:endParaRPr sz="1400">
              <a:latin typeface="Times New Roman"/>
              <a:cs typeface="Times New Roman"/>
            </a:endParaRPr>
          </a:p>
          <a:p>
            <a:pPr algn="just" marL="12700" marR="5080">
              <a:lnSpc>
                <a:spcPct val="143400"/>
              </a:lnSpc>
              <a:spcBef>
                <a:spcPts val="105"/>
              </a:spcBef>
            </a:pPr>
            <a:r>
              <a:rPr dirty="0" sz="1200">
                <a:latin typeface="Times New Roman"/>
                <a:cs typeface="Times New Roman"/>
              </a:rPr>
              <a:t>Ce</a:t>
            </a:r>
            <a:r>
              <a:rPr dirty="0" sz="1200" spc="45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rapport</a:t>
            </a:r>
            <a:r>
              <a:rPr dirty="0" sz="1200" spc="4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décrit</a:t>
            </a:r>
            <a:r>
              <a:rPr dirty="0" sz="1200" spc="49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45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étapes</a:t>
            </a:r>
            <a:r>
              <a:rPr dirty="0" sz="1200" spc="4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d’installation</a:t>
            </a:r>
            <a:r>
              <a:rPr dirty="0" sz="1200" spc="4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4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4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configuration</a:t>
            </a:r>
            <a:r>
              <a:rPr dirty="0" sz="1200" spc="44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4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459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solution</a:t>
            </a:r>
            <a:r>
              <a:rPr dirty="0" sz="1200" spc="4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de </a:t>
            </a:r>
            <a:r>
              <a:rPr dirty="0" sz="1200">
                <a:latin typeface="Times New Roman"/>
                <a:cs typeface="Times New Roman"/>
              </a:rPr>
              <a:t>journalisation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centralisée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Graylog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sur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système</a:t>
            </a:r>
            <a:r>
              <a:rPr dirty="0" sz="1200" spc="2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Ubuntu.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L’objectif</a:t>
            </a:r>
            <a:r>
              <a:rPr dirty="0" sz="1200" spc="1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204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mettre</a:t>
            </a:r>
            <a:r>
              <a:rPr dirty="0" sz="1200" spc="15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en </a:t>
            </a:r>
            <a:r>
              <a:rPr dirty="0" sz="1200">
                <a:latin typeface="Times New Roman"/>
                <a:cs typeface="Times New Roman"/>
              </a:rPr>
              <a:t>place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plateforme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performante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collecte,</a:t>
            </a:r>
            <a:r>
              <a:rPr dirty="0" sz="1200" spc="1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17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traitement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</a:t>
            </a:r>
            <a:r>
              <a:rPr dirty="0" sz="1200" spc="20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l’analyse</a:t>
            </a:r>
            <a:r>
              <a:rPr dirty="0" sz="1200" spc="17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des</a:t>
            </a:r>
            <a:r>
              <a:rPr dirty="0" sz="1200" spc="18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logs </a:t>
            </a:r>
            <a:r>
              <a:rPr dirty="0" sz="1200" spc="-10">
                <a:latin typeface="Times New Roman"/>
                <a:cs typeface="Times New Roman"/>
              </a:rPr>
              <a:t>système.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200">
              <a:latin typeface="Times New Roman"/>
              <a:cs typeface="Times New Roman"/>
            </a:endParaRPr>
          </a:p>
          <a:p>
            <a:pPr marL="2384425">
              <a:lnSpc>
                <a:spcPct val="100000"/>
              </a:lnSpc>
              <a:spcBef>
                <a:spcPts val="5"/>
              </a:spcBef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Prérequis</a:t>
            </a:r>
            <a:endParaRPr sz="140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730"/>
              </a:spcBef>
              <a:buChar char="-"/>
              <a:tabLst>
                <a:tab pos="103505" algn="l"/>
              </a:tabLst>
            </a:pPr>
            <a:r>
              <a:rPr dirty="0" sz="1200">
                <a:latin typeface="Times New Roman"/>
                <a:cs typeface="Times New Roman"/>
              </a:rPr>
              <a:t>Système: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Ubuntu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24.04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LTS</a:t>
            </a:r>
            <a:endParaRPr sz="120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620"/>
              </a:spcBef>
              <a:buChar char="-"/>
              <a:tabLst>
                <a:tab pos="103505" algn="l"/>
              </a:tabLst>
            </a:pPr>
            <a:r>
              <a:rPr dirty="0" sz="1200">
                <a:latin typeface="Times New Roman"/>
                <a:cs typeface="Times New Roman"/>
              </a:rPr>
              <a:t>Accès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root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sudo</a:t>
            </a:r>
            <a:endParaRPr sz="120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625"/>
              </a:spcBef>
              <a:buChar char="-"/>
              <a:tabLst>
                <a:tab pos="103505" algn="l"/>
              </a:tabLst>
            </a:pPr>
            <a:r>
              <a:rPr dirty="0" sz="1200">
                <a:latin typeface="Times New Roman"/>
                <a:cs typeface="Times New Roman"/>
              </a:rPr>
              <a:t>Ports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ouverts: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9000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(Graylog),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9200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(Elasticsearch),</a:t>
            </a:r>
            <a:r>
              <a:rPr dirty="0" sz="1200">
                <a:latin typeface="Times New Roman"/>
                <a:cs typeface="Times New Roman"/>
              </a:rPr>
              <a:t> 27017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(MongoDB)</a:t>
            </a:r>
            <a:endParaRPr sz="1200">
              <a:latin typeface="Times New Roman"/>
              <a:cs typeface="Times New Roman"/>
            </a:endParaRPr>
          </a:p>
          <a:p>
            <a:pPr marL="103505" indent="-90805">
              <a:lnSpc>
                <a:spcPct val="100000"/>
              </a:lnSpc>
              <a:spcBef>
                <a:spcPts val="650"/>
              </a:spcBef>
              <a:buChar char="-"/>
              <a:tabLst>
                <a:tab pos="103505" algn="l"/>
              </a:tabLst>
            </a:pPr>
            <a:r>
              <a:rPr dirty="0" sz="1200">
                <a:latin typeface="Times New Roman"/>
                <a:cs typeface="Times New Roman"/>
              </a:rPr>
              <a:t>Mises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 </a:t>
            </a:r>
            <a:r>
              <a:rPr dirty="0" sz="1200" spc="-10">
                <a:latin typeface="Times New Roman"/>
                <a:cs typeface="Times New Roman"/>
              </a:rPr>
              <a:t>jour: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25876" y="6685533"/>
            <a:ext cx="211391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Installation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des</a:t>
            </a:r>
            <a:r>
              <a:rPr dirty="0" u="sng" sz="1400" spc="2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composants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3886200"/>
            <a:ext cx="5486400" cy="26089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7194295"/>
            <a:ext cx="5486400" cy="1120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89761"/>
            <a:ext cx="13442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Installation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d’un </a:t>
            </a:r>
            <a:r>
              <a:rPr dirty="0" sz="1200" spc="-25">
                <a:latin typeface="Times New Roman"/>
                <a:cs typeface="Times New Roman"/>
              </a:rPr>
              <a:t>JDK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2371470"/>
            <a:ext cx="206311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Verification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version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Java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604" y="3539490"/>
            <a:ext cx="15811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Mise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jour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et </a:t>
            </a:r>
            <a:r>
              <a:rPr dirty="0" sz="1200" spc="-10">
                <a:latin typeface="Times New Roman"/>
                <a:cs typeface="Times New Roman"/>
              </a:rPr>
              <a:t>installation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484626" y="5938773"/>
            <a:ext cx="80137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MongoDB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703957" y="8298560"/>
            <a:ext cx="236220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OpenSearch</a:t>
            </a:r>
            <a:r>
              <a:rPr dirty="0" u="sng" sz="1400" spc="-1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(ou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Elasticsearch)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267967"/>
            <a:ext cx="5486400" cy="94500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2777108"/>
            <a:ext cx="5486400" cy="60134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3917569"/>
            <a:ext cx="5486400" cy="18662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3000" y="6446646"/>
            <a:ext cx="5486400" cy="14909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2780156"/>
            <a:ext cx="7626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Vérification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3265170" y="4859527"/>
            <a:ext cx="643890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Graylog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604" y="7621651"/>
            <a:ext cx="9791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Mise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service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125016" y="8603868"/>
            <a:ext cx="4930775" cy="6350"/>
          </a:xfrm>
          <a:custGeom>
            <a:avLst/>
            <a:gdLst/>
            <a:ahLst/>
            <a:cxnLst/>
            <a:rect l="l" t="t" r="r" b="b"/>
            <a:pathLst>
              <a:path w="4930775" h="6350">
                <a:moveTo>
                  <a:pt x="4930394" y="0"/>
                </a:moveTo>
                <a:lnTo>
                  <a:pt x="0" y="0"/>
                </a:lnTo>
                <a:lnTo>
                  <a:pt x="0" y="6096"/>
                </a:lnTo>
                <a:lnTo>
                  <a:pt x="4930394" y="6096"/>
                </a:lnTo>
                <a:lnTo>
                  <a:pt x="493039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14400"/>
            <a:ext cx="5486400" cy="17119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3069589"/>
            <a:ext cx="5486400" cy="15481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5189854"/>
            <a:ext cx="5486400" cy="218186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3000" y="7908797"/>
            <a:ext cx="5486400" cy="534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86714"/>
            <a:ext cx="23126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Times New Roman"/>
                <a:cs typeface="Times New Roman"/>
              </a:rPr>
              <a:t>Configuration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du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mot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passe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20">
                <a:latin typeface="Times New Roman"/>
                <a:cs typeface="Times New Roman"/>
              </a:rPr>
              <a:t>admin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130604" y="2340991"/>
            <a:ext cx="48082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Ajouter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hash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`/etc/graylog/server/server.conf`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`root_password_sha2`.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600325" y="3883913"/>
            <a:ext cx="197802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Démarrage</a:t>
            </a:r>
            <a:r>
              <a:rPr dirty="0" u="sng" sz="1400" spc="-4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</a:t>
            </a:r>
            <a:r>
              <a:rPr dirty="0" u="sng" sz="1400" spc="-5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vérification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0604" y="4795520"/>
            <a:ext cx="23812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Accès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l’interface:</a:t>
            </a:r>
            <a:r>
              <a:rPr dirty="0" sz="1200" spc="10">
                <a:latin typeface="Times New Roman"/>
                <a:cs typeface="Times New Roman"/>
              </a:rPr>
              <a:t> </a:t>
            </a:r>
            <a:r>
              <a:rPr dirty="0" u="sng" sz="12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http://0.0.0.0:9000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125016" y="8640444"/>
            <a:ext cx="4930775" cy="6350"/>
          </a:xfrm>
          <a:custGeom>
            <a:avLst/>
            <a:gdLst/>
            <a:ahLst/>
            <a:cxnLst/>
            <a:rect l="l" t="t" r="r" b="b"/>
            <a:pathLst>
              <a:path w="4930775" h="6350">
                <a:moveTo>
                  <a:pt x="4930394" y="0"/>
                </a:moveTo>
                <a:lnTo>
                  <a:pt x="0" y="0"/>
                </a:lnTo>
                <a:lnTo>
                  <a:pt x="0" y="6096"/>
                </a:lnTo>
                <a:lnTo>
                  <a:pt x="4930394" y="6096"/>
                </a:lnTo>
                <a:lnTo>
                  <a:pt x="493039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1177289"/>
            <a:ext cx="5486400" cy="3416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3000" y="1786127"/>
            <a:ext cx="5486400" cy="3144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43000" y="2631948"/>
            <a:ext cx="5486400" cy="1000125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55445" y="4213733"/>
            <a:ext cx="3867150" cy="342900"/>
          </a:xfrm>
          <a:prstGeom prst="rect">
            <a:avLst/>
          </a:prstGeom>
        </p:spPr>
      </p:pic>
      <p:pic>
        <p:nvPicPr>
          <p:cNvPr id="11" name="object 11" descr="">
            <a:hlinkClick r:id="rId2"/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3000" y="5084953"/>
            <a:ext cx="5488863" cy="3201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0604" y="886714"/>
            <a:ext cx="3154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imes New Roman"/>
                <a:cs typeface="Times New Roman"/>
              </a:rPr>
              <a:t>Accès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via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navigateur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à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l’interface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Web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Graylog.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749676" y="4197857"/>
            <a:ext cx="1679575" cy="2381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Ajout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d’un</a:t>
            </a:r>
            <a:r>
              <a:rPr dirty="0" u="sng" sz="1400" spc="-25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utilisateur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30604" y="6807834"/>
            <a:ext cx="4869815" cy="1220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46355">
              <a:lnSpc>
                <a:spcPct val="100000"/>
              </a:lnSpc>
              <a:spcBef>
                <a:spcPts val="90"/>
              </a:spcBef>
            </a:pPr>
            <a:r>
              <a:rPr dirty="0" u="sng" sz="1400" spc="-10" b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Conclusion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45100"/>
              </a:lnSpc>
              <a:spcBef>
                <a:spcPts val="1470"/>
              </a:spcBef>
            </a:pP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plateforme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Graylog</a:t>
            </a:r>
            <a:r>
              <a:rPr dirty="0" sz="1200" spc="-1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est</a:t>
            </a:r>
            <a:r>
              <a:rPr dirty="0" sz="1200" spc="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désormais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opérationnelle. Cette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installation</a:t>
            </a:r>
            <a:r>
              <a:rPr dirty="0" sz="1200" spc="-3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permet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centraliser</a:t>
            </a:r>
            <a:r>
              <a:rPr dirty="0" sz="1200" spc="-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les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logs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pour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une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analyse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efficace,</a:t>
            </a:r>
            <a:r>
              <a:rPr dirty="0" sz="1200" spc="-2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dans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cadre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de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la</a:t>
            </a:r>
            <a:r>
              <a:rPr dirty="0" sz="1200" spc="-3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supervision </a:t>
            </a:r>
            <a:r>
              <a:rPr dirty="0" sz="1200">
                <a:latin typeface="Times New Roman"/>
                <a:cs typeface="Times New Roman"/>
              </a:rPr>
              <a:t>système</a:t>
            </a:r>
            <a:r>
              <a:rPr dirty="0" sz="1200" spc="-20">
                <a:latin typeface="Times New Roman"/>
                <a:cs typeface="Times New Roman"/>
              </a:rPr>
              <a:t> </a:t>
            </a:r>
            <a:r>
              <a:rPr dirty="0" sz="1200">
                <a:latin typeface="Times New Roman"/>
                <a:cs typeface="Times New Roman"/>
              </a:rPr>
              <a:t>ou</a:t>
            </a:r>
            <a:r>
              <a:rPr dirty="0" sz="1200" spc="-1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Times New Roman"/>
                <a:cs typeface="Times New Roman"/>
              </a:rPr>
              <a:t>réseau.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125016" y="8186292"/>
            <a:ext cx="4930775" cy="6350"/>
          </a:xfrm>
          <a:custGeom>
            <a:avLst/>
            <a:gdLst/>
            <a:ahLst/>
            <a:cxnLst/>
            <a:rect l="l" t="t" r="r" b="b"/>
            <a:pathLst>
              <a:path w="4930775" h="6350">
                <a:moveTo>
                  <a:pt x="4930394" y="0"/>
                </a:moveTo>
                <a:lnTo>
                  <a:pt x="0" y="0"/>
                </a:lnTo>
                <a:lnTo>
                  <a:pt x="0" y="6096"/>
                </a:lnTo>
                <a:lnTo>
                  <a:pt x="4930394" y="6096"/>
                </a:lnTo>
                <a:lnTo>
                  <a:pt x="4930394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177289"/>
            <a:ext cx="5486400" cy="27844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4528058"/>
            <a:ext cx="5486400" cy="2035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python-docx</dc:creator>
  <dcterms:created xsi:type="dcterms:W3CDTF">2025-07-07T18:10:38Z</dcterms:created>
  <dcterms:modified xsi:type="dcterms:W3CDTF">2025-07-07T18:10:38Z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2025-06-29T00:00:00Z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2025-07-07T00:00:00Z</vt:filetime>
  </property>
  <property fmtid="{D5CDD505-2E9C-101B-9397-08002B2CF9AE}" pid="5" name="Producer">
    <vt:lpwstr>www.ilovepdf.com</vt:lpwstr>
  </property>
</Properties>
</file>