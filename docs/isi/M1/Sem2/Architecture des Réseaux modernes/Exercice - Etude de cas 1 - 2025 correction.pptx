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324" y="-16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04/05/2025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1330594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04/05/2025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724961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1FA5AF6-53A2-4891-977D-351173BF457C}" type="datetimeFigureOut">
              <a:rPr lang="fr-SN" smtClean="0"/>
              <a:t>04/05/2025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3884964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1FA5AF6-53A2-4891-977D-351173BF457C}" type="datetimeFigureOut">
              <a:rPr lang="fr-SN" smtClean="0"/>
              <a:t>04/05/2025</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630286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1FA5AF6-53A2-4891-977D-351173BF457C}" type="datetimeFigureOut">
              <a:rPr lang="fr-SN" smtClean="0"/>
              <a:t>04/05/2025</a:t>
            </a:fld>
            <a:endParaRPr lang="fr-SN"/>
          </a:p>
        </p:txBody>
      </p:sp>
      <p:sp>
        <p:nvSpPr>
          <p:cNvPr id="8" name="Footer Placeholder 7"/>
          <p:cNvSpPr>
            <a:spLocks noGrp="1"/>
          </p:cNvSpPr>
          <p:nvPr>
            <p:ph type="ftr" sz="quarter" idx="11"/>
          </p:nvPr>
        </p:nvSpPr>
        <p:spPr/>
        <p:txBody>
          <a:bodyPr/>
          <a:lstStyle/>
          <a:p>
            <a:endParaRPr lang="fr-SN"/>
          </a:p>
        </p:txBody>
      </p:sp>
      <p:sp>
        <p:nvSpPr>
          <p:cNvPr id="9" name="Slide Number Placeholder 8"/>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93402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1FA5AF6-53A2-4891-977D-351173BF457C}" type="datetimeFigureOut">
              <a:rPr lang="fr-SN" smtClean="0"/>
              <a:t>04/05/2025</a:t>
            </a:fld>
            <a:endParaRPr lang="fr-SN"/>
          </a:p>
        </p:txBody>
      </p:sp>
      <p:sp>
        <p:nvSpPr>
          <p:cNvPr id="4" name="Footer Placeholder 3"/>
          <p:cNvSpPr>
            <a:spLocks noGrp="1"/>
          </p:cNvSpPr>
          <p:nvPr>
            <p:ph type="ftr" sz="quarter" idx="11"/>
          </p:nvPr>
        </p:nvSpPr>
        <p:spPr/>
        <p:txBody>
          <a:bodyPr/>
          <a:lstStyle/>
          <a:p>
            <a:endParaRPr lang="fr-SN"/>
          </a:p>
        </p:txBody>
      </p:sp>
      <p:sp>
        <p:nvSpPr>
          <p:cNvPr id="5" name="Slide Number Placeholder 4"/>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422009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FA5AF6-53A2-4891-977D-351173BF457C}" type="datetimeFigureOut">
              <a:rPr lang="fr-SN" smtClean="0"/>
              <a:t>04/05/2025</a:t>
            </a:fld>
            <a:endParaRPr lang="fr-SN"/>
          </a:p>
        </p:txBody>
      </p:sp>
      <p:sp>
        <p:nvSpPr>
          <p:cNvPr id="3" name="Footer Placeholder 2"/>
          <p:cNvSpPr>
            <a:spLocks noGrp="1"/>
          </p:cNvSpPr>
          <p:nvPr>
            <p:ph type="ftr" sz="quarter" idx="11"/>
          </p:nvPr>
        </p:nvSpPr>
        <p:spPr/>
        <p:txBody>
          <a:bodyPr/>
          <a:lstStyle/>
          <a:p>
            <a:endParaRPr lang="fr-SN"/>
          </a:p>
        </p:txBody>
      </p:sp>
      <p:sp>
        <p:nvSpPr>
          <p:cNvPr id="4" name="Slide Number Placeholder 3"/>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287216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1FA5AF6-53A2-4891-977D-351173BF457C}" type="datetimeFigureOut">
              <a:rPr lang="fr-SN" smtClean="0"/>
              <a:t>04/05/2025</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4155374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1FA5AF6-53A2-4891-977D-351173BF457C}" type="datetimeFigureOut">
              <a:rPr lang="fr-SN" smtClean="0"/>
              <a:t>04/05/2025</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001046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04/05/2025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3782907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04/05/2025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4013597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FA5AF6-53A2-4891-977D-351173BF457C}" type="datetimeFigureOut">
              <a:rPr lang="fr-SN" smtClean="0"/>
              <a:t>04/05/2025</a:t>
            </a:fld>
            <a:endParaRPr lang="fr-S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S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E9120B-E24D-4981-A206-40C16BFB3295}" type="slidenum">
              <a:rPr lang="fr-SN" smtClean="0"/>
              <a:t>‹N°›</a:t>
            </a:fld>
            <a:endParaRPr lang="fr-SN"/>
          </a:p>
        </p:txBody>
      </p:sp>
    </p:spTree>
    <p:extLst>
      <p:ext uri="{BB962C8B-B14F-4D97-AF65-F5344CB8AC3E}">
        <p14:creationId xmlns:p14="http://schemas.microsoft.com/office/powerpoint/2010/main" val="2251536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F722023-AA3A-C628-3FEA-59D2C44D3C03}"/>
              </a:ext>
            </a:extLst>
          </p:cNvPr>
          <p:cNvSpPr txBox="1"/>
          <p:nvPr/>
        </p:nvSpPr>
        <p:spPr>
          <a:xfrm>
            <a:off x="200025" y="824430"/>
            <a:ext cx="8743950" cy="6283002"/>
          </a:xfrm>
          <a:prstGeom prst="rect">
            <a:avLst/>
          </a:prstGeom>
          <a:noFill/>
        </p:spPr>
        <p:txBody>
          <a:bodyPr wrap="square">
            <a:spAutoFit/>
          </a:bodyPr>
          <a:lstStyle/>
          <a:p>
            <a:pPr algn="just">
              <a:lnSpc>
                <a:spcPct val="107000"/>
              </a:lnSpc>
              <a:spcAft>
                <a:spcPts val="800"/>
              </a:spcAft>
            </a:pPr>
            <a:r>
              <a:rPr lang="fr-SN" sz="1400" dirty="0">
                <a:effectLst/>
                <a:latin typeface="Aptos" panose="020B0004020202020204" pitchFamily="34" charset="0"/>
                <a:ea typeface="Aptos" panose="020B0004020202020204" pitchFamily="34" charset="0"/>
                <a:cs typeface="Times New Roman" panose="02020603050405020304" pitchFamily="18" charset="0"/>
              </a:rPr>
              <a:t>Une entreprise souhaite équiper une nouvelle succursale avec des bureaux pour ses collaborateurs. Tous équipements doivent être synchronisés avec le cœur de réseau de l’entreprise. Vous avez été choisis pour gérer le projet de mise en place de cette nouvelle infrastructure réseau. Pour tester vos connaissances, une série de questions vous est posée.</a:t>
            </a:r>
          </a:p>
          <a:p>
            <a:pPr>
              <a:lnSpc>
                <a:spcPct val="107000"/>
              </a:lnSpc>
              <a:spcAft>
                <a:spcPts val="800"/>
              </a:spcAft>
            </a:pPr>
            <a:r>
              <a:rPr lang="fr-SN" sz="1400" b="1" dirty="0">
                <a:effectLst/>
                <a:latin typeface="Aptos" panose="020B0004020202020204" pitchFamily="34" charset="0"/>
                <a:ea typeface="Aptos" panose="020B0004020202020204" pitchFamily="34" charset="0"/>
                <a:cs typeface="Times New Roman" panose="02020603050405020304" pitchFamily="18" charset="0"/>
              </a:rPr>
              <a:t>Questions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Quelle est la différence entre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public?  </a:t>
            </a:r>
            <a:r>
              <a:rPr lang="fr-SN" sz="1400" dirty="0">
                <a:latin typeface="Aptos" panose="020B0004020202020204" pitchFamily="34" charset="0"/>
                <a:ea typeface="Aptos" panose="020B0004020202020204" pitchFamily="34" charset="0"/>
                <a:cs typeface="Times New Roman" panose="02020603050405020304" pitchFamily="18" charset="0"/>
              </a:rPr>
              <a:t>-&gt; </a:t>
            </a:r>
            <a:r>
              <a:rPr lang="fr-SN" sz="1400" dirty="0">
                <a:highlight>
                  <a:srgbClr val="FFFF00"/>
                </a:highlight>
                <a:latin typeface="Aptos" panose="020B0004020202020204" pitchFamily="34" charset="0"/>
                <a:ea typeface="Aptos" panose="020B0004020202020204" pitchFamily="34" charset="0"/>
                <a:cs typeface="Times New Roman" panose="02020603050405020304" pitchFamily="18" charset="0"/>
              </a:rPr>
              <a:t>C`est un réseau ouvert au grand public moyennas  un droit d`usage.</a:t>
            </a:r>
            <a:endPar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privé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C`est un réseau dont l`accès est seulement autorise au membre d`une organisation d`une entreprise.</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d’accès ? </a:t>
            </a:r>
            <a:r>
              <a:rPr lang="fr-SN" sz="1400" dirty="0">
                <a:latin typeface="Aptos" panose="020B0004020202020204" pitchFamily="34" charset="0"/>
                <a:ea typeface="Aptos" panose="020B0004020202020204" pitchFamily="34" charset="0"/>
                <a:cs typeface="Times New Roman" panose="02020603050405020304" pitchFamily="18" charset="0"/>
              </a:rPr>
              <a:t> -&gt; </a:t>
            </a:r>
            <a:r>
              <a:rPr lang="fr-SN" sz="1400" dirty="0">
                <a:highlight>
                  <a:srgbClr val="FFFF00"/>
                </a:highlight>
                <a:latin typeface="Aptos" panose="020B0004020202020204" pitchFamily="34" charset="0"/>
                <a:ea typeface="Aptos" panose="020B0004020202020204" pitchFamily="34" charset="0"/>
                <a:cs typeface="Times New Roman" panose="02020603050405020304" pitchFamily="18" charset="0"/>
              </a:rPr>
              <a:t>C`est une partie du réseau qui connecte les périphérique finaux a un réseau.</a:t>
            </a:r>
            <a:endPar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buFont typeface="+mj-lt"/>
              <a:buAutoNum type="alphaLcPeriod"/>
            </a:pP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Un cœur de réseau ?  -&gt; C`est le Backbone ou transite tout  le trafic émanant les différents réseaux d`</a:t>
            </a:r>
            <a:r>
              <a:rPr lang="fr-SN" sz="1400" dirty="0">
                <a:highlight>
                  <a:srgbClr val="FFFF00"/>
                </a:highlight>
                <a:latin typeface="Aptos" panose="020B0004020202020204" pitchFamily="34" charset="0"/>
                <a:ea typeface="Aptos" panose="020B0004020202020204" pitchFamily="34" charset="0"/>
                <a:cs typeface="Times New Roman" panose="02020603050405020304" pitchFamily="18" charset="0"/>
              </a:rPr>
              <a:t>accès</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 interconnecter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LAN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Un réseau LAN est un réseau local limite a une zone géographique restreinte. Exemple réseau privée d`entreprise.</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WAN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C`est un réseau étendu reliant plusieurs LAN sur des grandes distances exemple ville, pays.</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C'est quoi LAN en informatique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Un LAN est un réseau local caractérise par sa taille ou étendue et sa capacite (Mbps).</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 type de réseau conseillez-vous à l’entreprise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Un réseau WAN et un réseau LAN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Quels sont les composants de l’infrastructure réseau à mettre en place ici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Switch, router, firewall, point d`accès wifi, point d`accès extérieur (site to site), serveur ( AD, DNS,DHCP, de stockage, et de fichier), câblage, périphérique finaux, énergie de secours(batterie, groupe électrogène), une LS de fournisseur d`accès internet ou un lien de transmission dédie.</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Quelle topologie réseau allez-vous choisir ? -&gt; </a:t>
            </a:r>
            <a:r>
              <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Topologie hiérarchique: maillée au niveau agence principale et Etoile au réseau LAN</a:t>
            </a:r>
          </a:p>
          <a:p>
            <a:pPr marL="342900" lvl="0" indent="-342900">
              <a:lnSpc>
                <a:spcPct val="107000"/>
              </a:lnSpc>
              <a:buFont typeface="+mj-lt"/>
              <a:buAutoNum type="arabicPeriod"/>
            </a:pPr>
            <a:endParaRPr lang="fr-SN" sz="14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CECB6ED2-E829-D1AB-DE1E-7D1110082382}"/>
              </a:ext>
            </a:extLst>
          </p:cNvPr>
          <p:cNvSpPr txBox="1"/>
          <p:nvPr/>
        </p:nvSpPr>
        <p:spPr>
          <a:xfrm>
            <a:off x="2617470" y="185485"/>
            <a:ext cx="4789170" cy="584775"/>
          </a:xfrm>
          <a:prstGeom prst="rect">
            <a:avLst/>
          </a:prstGeom>
          <a:noFill/>
        </p:spPr>
        <p:txBody>
          <a:bodyPr wrap="square" rtlCol="0">
            <a:spAutoFit/>
          </a:bodyPr>
          <a:lstStyle/>
          <a:p>
            <a:r>
              <a:rPr lang="fr-SN" sz="3200" b="1" dirty="0">
                <a:solidFill>
                  <a:srgbClr val="FF0000"/>
                </a:solidFill>
              </a:rPr>
              <a:t>Exercice – Etude de cas</a:t>
            </a:r>
          </a:p>
        </p:txBody>
      </p:sp>
    </p:spTree>
    <p:extLst>
      <p:ext uri="{BB962C8B-B14F-4D97-AF65-F5344CB8AC3E}">
        <p14:creationId xmlns:p14="http://schemas.microsoft.com/office/powerpoint/2010/main" val="660476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71A52C-E8B3-52E9-AB37-464DFA237F34}"/>
              </a:ext>
            </a:extLst>
          </p:cNvPr>
          <p:cNvSpPr>
            <a:spLocks noGrp="1"/>
          </p:cNvSpPr>
          <p:nvPr>
            <p:ph type="title"/>
          </p:nvPr>
        </p:nvSpPr>
        <p:spPr/>
        <p:txBody>
          <a:bodyPr/>
          <a:lstStyle/>
          <a:p>
            <a:endParaRPr lang="fr-SN"/>
          </a:p>
        </p:txBody>
      </p:sp>
      <p:sp>
        <p:nvSpPr>
          <p:cNvPr id="3" name="Espace réservé du contenu 2">
            <a:extLst>
              <a:ext uri="{FF2B5EF4-FFF2-40B4-BE49-F238E27FC236}">
                <a16:creationId xmlns:a16="http://schemas.microsoft.com/office/drawing/2014/main" id="{99C505DA-02DF-6FF5-6A33-43D7F7BE7C5A}"/>
              </a:ext>
            </a:extLst>
          </p:cNvPr>
          <p:cNvSpPr>
            <a:spLocks noGrp="1"/>
          </p:cNvSpPr>
          <p:nvPr>
            <p:ph idx="1"/>
          </p:nvPr>
        </p:nvSpPr>
        <p:spPr/>
        <p:txBody>
          <a:bodyPr>
            <a:normAutofit fontScale="92500" lnSpcReduction="20000"/>
          </a:bodyPr>
          <a:lstStyle/>
          <a:p>
            <a:pPr marL="342900" lvl="0" indent="-342900">
              <a:lnSpc>
                <a:spcPct val="107000"/>
              </a:lnSpc>
              <a:buFont typeface="+mj-lt"/>
              <a:buAutoNum type="arabicPeriod"/>
            </a:pPr>
            <a:r>
              <a:rPr lang="fr-SN" sz="1600" dirty="0">
                <a:effectLst/>
                <a:latin typeface="Aptos" panose="020B0004020202020204" pitchFamily="34" charset="0"/>
                <a:ea typeface="Aptos" panose="020B0004020202020204" pitchFamily="34" charset="0"/>
                <a:cs typeface="Times New Roman" panose="02020603050405020304" pitchFamily="18" charset="0"/>
              </a:rPr>
              <a:t>Quelles sont les types d’adresses à utiliser pour connecter les équipements ?-&gt;  </a:t>
            </a:r>
            <a:r>
              <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Entre équipement FAI et équipements entreprises: adresse publique</a:t>
            </a:r>
          </a:p>
          <a:p>
            <a:pPr marL="0" lvl="0" indent="0">
              <a:lnSpc>
                <a:spcPct val="107000"/>
              </a:lnSpc>
              <a:buNone/>
            </a:pPr>
            <a:r>
              <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Entre deux équipement entreprise</a:t>
            </a:r>
            <a:r>
              <a:rPr lang="fr-SN" sz="1600" dirty="0">
                <a:highlight>
                  <a:srgbClr val="FFFF00"/>
                </a:highlight>
                <a:latin typeface="Aptos" panose="020B0004020202020204" pitchFamily="34" charset="0"/>
                <a:ea typeface="Aptos" panose="020B0004020202020204" pitchFamily="34" charset="0"/>
                <a:cs typeface="Times New Roman" panose="02020603050405020304" pitchFamily="18" charset="0"/>
              </a:rPr>
              <a:t>: adresse privée </a:t>
            </a:r>
            <a:endPar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fr-SN" sz="1600" dirty="0">
                <a:effectLst/>
                <a:latin typeface="Aptos" panose="020B0004020202020204" pitchFamily="34" charset="0"/>
                <a:ea typeface="Aptos" panose="020B0004020202020204" pitchFamily="34" charset="0"/>
                <a:cs typeface="Times New Roman" panose="02020603050405020304" pitchFamily="18" charset="0"/>
              </a:rPr>
              <a:t>Comment mettre en place un réseau LAN ? -&gt; </a:t>
            </a:r>
            <a:r>
              <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1-Definir les besoins matériels. 2- disponibilité du matériel. 3- définir la topologie. 4-deploiment physique 5-Recette provisoire de l`infrastructure. 5-L`integration(configuration et installation des logiciels) 6-Faire des test de connectivite. 7-Recette définitive et validation. 8-Exploitation, maintenance et suivie de la qualité de service</a:t>
            </a:r>
          </a:p>
          <a:p>
            <a:pPr marL="342900" lvl="0" indent="-342900">
              <a:lnSpc>
                <a:spcPct val="107000"/>
              </a:lnSpc>
              <a:buFont typeface="+mj-lt"/>
              <a:buAutoNum type="arabicPeriod"/>
            </a:pPr>
            <a:r>
              <a:rPr lang="fr-SN" sz="1600" dirty="0">
                <a:effectLst/>
                <a:latin typeface="Aptos" panose="020B0004020202020204" pitchFamily="34" charset="0"/>
                <a:ea typeface="Aptos" panose="020B0004020202020204" pitchFamily="34" charset="0"/>
                <a:cs typeface="Times New Roman" panose="02020603050405020304" pitchFamily="18" charset="0"/>
              </a:rPr>
              <a:t>Quels sont les types de services que le réseau va offrir ? -&gt; </a:t>
            </a:r>
            <a:r>
              <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Accès internet, partage de fichier, stockage des données, accès distant(VPN) ou bien tout autres services d`accès autoriser suivant votre profil.</a:t>
            </a:r>
          </a:p>
          <a:p>
            <a:pPr marL="342900" lvl="0" indent="-342900">
              <a:lnSpc>
                <a:spcPct val="107000"/>
              </a:lnSpc>
              <a:buFont typeface="+mj-lt"/>
              <a:buAutoNum type="arabicPeriod"/>
            </a:pPr>
            <a:r>
              <a:rPr lang="fr-SN" sz="1600" dirty="0">
                <a:effectLst/>
                <a:latin typeface="Aptos" panose="020B0004020202020204" pitchFamily="34" charset="0"/>
                <a:ea typeface="Aptos" panose="020B0004020202020204" pitchFamily="34" charset="0"/>
                <a:cs typeface="Times New Roman" panose="02020603050405020304" pitchFamily="18" charset="0"/>
              </a:rPr>
              <a:t>Quel équipement est nécessaire pour une meilleure gestion du trafic réseau ?-&gt; </a:t>
            </a:r>
            <a:r>
              <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Un IPBX pour favorise les communications unifiée au sein de l`entreprise.</a:t>
            </a:r>
          </a:p>
          <a:p>
            <a:pPr marL="342900" lvl="0" indent="-342900">
              <a:lnSpc>
                <a:spcPct val="107000"/>
              </a:lnSpc>
              <a:spcAft>
                <a:spcPts val="800"/>
              </a:spcAft>
              <a:buFont typeface="+mj-lt"/>
              <a:buAutoNum type="arabicPeriod"/>
            </a:pPr>
            <a:r>
              <a:rPr lang="fr-SN" sz="1600" dirty="0">
                <a:effectLst/>
                <a:latin typeface="Aptos" panose="020B0004020202020204" pitchFamily="34" charset="0"/>
                <a:ea typeface="Aptos" panose="020B0004020202020204" pitchFamily="34" charset="0"/>
                <a:cs typeface="Times New Roman" panose="02020603050405020304" pitchFamily="18" charset="0"/>
              </a:rPr>
              <a:t>Quelle est la meilleure solution réseau pour intégrer les probables partenaires pour des réunions de coordination et de suivi dans les locaux de l’entreprise ? </a:t>
            </a:r>
            <a:r>
              <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Prévoir un réseau</a:t>
            </a:r>
            <a:r>
              <a:rPr lang="fr-SN" sz="1600" dirty="0">
                <a:highlight>
                  <a:srgbClr val="FFFF00"/>
                </a:highlight>
                <a:latin typeface="Aptos" panose="020B0004020202020204" pitchFamily="34" charset="0"/>
                <a:ea typeface="Aptos" panose="020B0004020202020204" pitchFamily="34" charset="0"/>
                <a:cs typeface="Times New Roman" panose="02020603050405020304" pitchFamily="18" charset="0"/>
              </a:rPr>
              <a:t> sans fil dédié au visiteurs et partenaires présent temporairement dans les locaux.</a:t>
            </a:r>
            <a:endParaRPr lang="fr-SN" sz="16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p>
            <a:endParaRPr lang="fr-SN" dirty="0"/>
          </a:p>
        </p:txBody>
      </p:sp>
    </p:spTree>
    <p:extLst>
      <p:ext uri="{BB962C8B-B14F-4D97-AF65-F5344CB8AC3E}">
        <p14:creationId xmlns:p14="http://schemas.microsoft.com/office/powerpoint/2010/main" val="209897450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2533</TotalTime>
  <Words>557</Words>
  <Application>Microsoft Office PowerPoint</Application>
  <PresentationFormat>Affichage à l'écran (4:3)</PresentationFormat>
  <Paragraphs>20</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Aptos</vt:lpstr>
      <vt:lpstr>Aptos Display</vt:lpstr>
      <vt:lpstr>Arial</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Issa Konate Aw</dc:creator>
  <cp:lastModifiedBy>Midiladji Oussemane</cp:lastModifiedBy>
  <cp:revision>8</cp:revision>
  <dcterms:created xsi:type="dcterms:W3CDTF">2024-09-02T18:07:21Z</dcterms:created>
  <dcterms:modified xsi:type="dcterms:W3CDTF">2025-05-04T12:42:01Z</dcterms:modified>
</cp:coreProperties>
</file>