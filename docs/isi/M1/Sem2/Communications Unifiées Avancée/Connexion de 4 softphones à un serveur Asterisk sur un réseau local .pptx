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Nunito"/>
      <p:regular r:id="rId26"/>
      <p:bold r:id="rId27"/>
      <p:italic r:id="rId28"/>
      <p:boldItalic r:id="rId29"/>
    </p:embeddedFont>
    <p:embeddedFont>
      <p:font typeface="Maven Pro"/>
      <p:regular r:id="rId30"/>
      <p:bold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font" Target="fonts/Roboto-boldItalic.fntdata"/><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avenPro-bold.fntdata"/><Relationship Id="rId30" Type="http://schemas.openxmlformats.org/officeDocument/2006/relationships/font" Target="fonts/MavenPro-regular.fntdata"/><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6eb378d0d1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6eb378d0d1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6d769e85d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6d769e85d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d769e85d0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d769e85d0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eb378d0d1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eb378d0d1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6eb378d0d1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6eb378d0d1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6eb378d0d1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6eb378d0d1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6eb378d0d1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6eb378d0d1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6eb378d0d1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6eb378d0d1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eb378d0d1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6eb378d0d1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6eb378d0d1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6eb378d0d1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6eb378d0d1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6eb378d0d1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6eb378d0d1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6eb378d0d1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6eb378d0d1_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6eb378d0d1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6eb378d0d1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6eb378d0d1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6d769e85d0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6d769e85d0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0" y="1317125"/>
            <a:ext cx="6673500" cy="2169600"/>
          </a:xfrm>
          <a:prstGeom prst="rect">
            <a:avLst/>
          </a:prstGeom>
        </p:spPr>
        <p:txBody>
          <a:bodyPr anchorCtr="0" anchor="ctr" bIns="91425" lIns="91425" spcFirstLastPara="1" rIns="91425" wrap="square" tIns="91425">
            <a:normAutofit/>
          </a:bodyPr>
          <a:lstStyle/>
          <a:p>
            <a:pPr indent="0" lvl="0" marL="0" rtl="0" algn="ctr">
              <a:spcBef>
                <a:spcPts val="303"/>
              </a:spcBef>
              <a:spcAft>
                <a:spcPts val="0"/>
              </a:spcAft>
              <a:buNone/>
            </a:pPr>
            <a:r>
              <a:rPr lang="fr" sz="3000">
                <a:latin typeface="Times New Roman"/>
                <a:ea typeface="Times New Roman"/>
                <a:cs typeface="Times New Roman"/>
                <a:sym typeface="Times New Roman"/>
              </a:rPr>
              <a:t>Connexion de 4 softphones à un serveur Asterisk sur un réseau local </a:t>
            </a:r>
            <a:endParaRPr sz="5400"/>
          </a:p>
        </p:txBody>
      </p:sp>
      <p:sp>
        <p:nvSpPr>
          <p:cNvPr id="278" name="Google Shape;278;p13"/>
          <p:cNvSpPr txBox="1"/>
          <p:nvPr>
            <p:ph idx="1" type="subTitle"/>
          </p:nvPr>
        </p:nvSpPr>
        <p:spPr>
          <a:xfrm>
            <a:off x="0" y="3486725"/>
            <a:ext cx="3079500" cy="165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358"/>
              <a:buNone/>
            </a:pPr>
            <a:r>
              <a:rPr lang="fr" sz="2000">
                <a:latin typeface="Times New Roman"/>
                <a:ea typeface="Times New Roman"/>
                <a:cs typeface="Times New Roman"/>
                <a:sym typeface="Times New Roman"/>
              </a:rPr>
              <a:t>Réalisés par : </a:t>
            </a:r>
            <a:endParaRPr sz="2000">
              <a:latin typeface="Times New Roman"/>
              <a:ea typeface="Times New Roman"/>
              <a:cs typeface="Times New Roman"/>
              <a:sym typeface="Times New Roman"/>
            </a:endParaRPr>
          </a:p>
          <a:p>
            <a:pPr indent="0" lvl="0" marL="0" rtl="0" algn="l">
              <a:spcBef>
                <a:spcPts val="0"/>
              </a:spcBef>
              <a:spcAft>
                <a:spcPts val="0"/>
              </a:spcAft>
              <a:buSzPts val="358"/>
              <a:buNone/>
            </a:pPr>
            <a:r>
              <a:rPr lang="fr" sz="2000">
                <a:latin typeface="Times New Roman"/>
                <a:ea typeface="Times New Roman"/>
                <a:cs typeface="Times New Roman"/>
                <a:sym typeface="Times New Roman"/>
              </a:rPr>
              <a:t>Koumari SOW </a:t>
            </a:r>
            <a:endParaRPr sz="2000">
              <a:latin typeface="Times New Roman"/>
              <a:ea typeface="Times New Roman"/>
              <a:cs typeface="Times New Roman"/>
              <a:sym typeface="Times New Roman"/>
            </a:endParaRPr>
          </a:p>
          <a:p>
            <a:pPr indent="0" lvl="0" marL="0" rtl="0" algn="l">
              <a:spcBef>
                <a:spcPts val="0"/>
              </a:spcBef>
              <a:spcAft>
                <a:spcPts val="0"/>
              </a:spcAft>
              <a:buSzPts val="358"/>
              <a:buNone/>
            </a:pPr>
            <a:r>
              <a:rPr lang="fr" sz="2000">
                <a:latin typeface="Times New Roman"/>
                <a:ea typeface="Times New Roman"/>
                <a:cs typeface="Times New Roman"/>
                <a:sym typeface="Times New Roman"/>
              </a:rPr>
              <a:t>Ababacar Ousmane NIANG </a:t>
            </a:r>
            <a:endParaRPr sz="2000">
              <a:latin typeface="Times New Roman"/>
              <a:ea typeface="Times New Roman"/>
              <a:cs typeface="Times New Roman"/>
              <a:sym typeface="Times New Roman"/>
            </a:endParaRPr>
          </a:p>
          <a:p>
            <a:pPr indent="0" lvl="0" marL="0" rtl="0" algn="l">
              <a:spcBef>
                <a:spcPts val="0"/>
              </a:spcBef>
              <a:spcAft>
                <a:spcPts val="0"/>
              </a:spcAft>
              <a:buSzPts val="358"/>
              <a:buNone/>
            </a:pPr>
            <a:r>
              <a:rPr lang="fr" sz="2000">
                <a:latin typeface="Times New Roman"/>
                <a:ea typeface="Times New Roman"/>
                <a:cs typeface="Times New Roman"/>
                <a:sym typeface="Times New Roman"/>
              </a:rPr>
              <a:t>Oumy Khaïry CISSE </a:t>
            </a:r>
            <a:endParaRPr sz="2000">
              <a:latin typeface="Times New Roman"/>
              <a:ea typeface="Times New Roman"/>
              <a:cs typeface="Times New Roman"/>
              <a:sym typeface="Times New Roman"/>
            </a:endParaRPr>
          </a:p>
          <a:p>
            <a:pPr indent="0" lvl="0" marL="0" rtl="0" algn="l">
              <a:spcBef>
                <a:spcPts val="0"/>
              </a:spcBef>
              <a:spcAft>
                <a:spcPts val="0"/>
              </a:spcAft>
              <a:buSzPts val="358"/>
              <a:buNone/>
            </a:pPr>
            <a:r>
              <a:rPr lang="fr" sz="2000">
                <a:latin typeface="Times New Roman"/>
                <a:ea typeface="Times New Roman"/>
                <a:cs typeface="Times New Roman"/>
                <a:sym typeface="Times New Roman"/>
              </a:rPr>
              <a:t>Mandiaye DIOP </a:t>
            </a:r>
            <a:endParaRPr sz="2000">
              <a:latin typeface="Times New Roman"/>
              <a:ea typeface="Times New Roman"/>
              <a:cs typeface="Times New Roman"/>
              <a:sym typeface="Times New Roman"/>
            </a:endParaRPr>
          </a:p>
          <a:p>
            <a:pPr indent="0" lvl="0" marL="0" rtl="0" algn="l">
              <a:spcBef>
                <a:spcPts val="0"/>
              </a:spcBef>
              <a:spcAft>
                <a:spcPts val="0"/>
              </a:spcAft>
              <a:buSzPts val="358"/>
              <a:buNone/>
            </a:pPr>
            <a:r>
              <a:t/>
            </a:r>
            <a:endParaRPr b="1" sz="2000">
              <a:latin typeface="Times New Roman"/>
              <a:ea typeface="Times New Roman"/>
              <a:cs typeface="Times New Roman"/>
              <a:sym typeface="Times New Roman"/>
            </a:endParaRPr>
          </a:p>
          <a:p>
            <a:pPr indent="0" lvl="0" marL="0" rtl="0" algn="l">
              <a:spcBef>
                <a:spcPts val="0"/>
              </a:spcBef>
              <a:spcAft>
                <a:spcPts val="0"/>
              </a:spcAft>
              <a:buSzPts val="358"/>
              <a:buNone/>
            </a:pPr>
            <a:r>
              <a:t/>
            </a:r>
            <a:endParaRPr sz="520">
              <a:solidFill>
                <a:srgbClr val="FFFFFF"/>
              </a:solidFill>
              <a:latin typeface="Roboto"/>
              <a:ea typeface="Roboto"/>
              <a:cs typeface="Roboto"/>
              <a:sym typeface="Roboto"/>
            </a:endParaRPr>
          </a:p>
        </p:txBody>
      </p:sp>
      <p:sp>
        <p:nvSpPr>
          <p:cNvPr id="279" name="Google Shape;279;p13"/>
          <p:cNvSpPr txBox="1"/>
          <p:nvPr>
            <p:ph idx="1" type="subTitle"/>
          </p:nvPr>
        </p:nvSpPr>
        <p:spPr>
          <a:xfrm>
            <a:off x="3394550" y="3596300"/>
            <a:ext cx="1663200" cy="1547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sz="2000">
                <a:latin typeface="Times New Roman"/>
                <a:ea typeface="Times New Roman"/>
                <a:cs typeface="Times New Roman"/>
                <a:sym typeface="Times New Roman"/>
              </a:rPr>
              <a:t>Professeur</a:t>
            </a:r>
            <a:r>
              <a:rPr lang="fr"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a:p>
            <a:pPr indent="0" lvl="0" marL="0" rtl="0" algn="l">
              <a:spcBef>
                <a:spcPts val="0"/>
              </a:spcBef>
              <a:spcAft>
                <a:spcPts val="0"/>
              </a:spcAft>
              <a:buNone/>
            </a:pPr>
            <a:r>
              <a:rPr lang="fr" sz="2000">
                <a:latin typeface="Times New Roman"/>
                <a:ea typeface="Times New Roman"/>
                <a:cs typeface="Times New Roman"/>
                <a:sym typeface="Times New Roman"/>
              </a:rPr>
              <a:t>MR WILLIAM</a:t>
            </a:r>
            <a:endParaRPr sz="2000">
              <a:latin typeface="Times New Roman"/>
              <a:ea typeface="Times New Roman"/>
              <a:cs typeface="Times New Roman"/>
              <a:sym typeface="Times New Roman"/>
            </a:endParaRPr>
          </a:p>
          <a:p>
            <a:pPr indent="0" lvl="0" marL="0" rtl="0" algn="l">
              <a:spcBef>
                <a:spcPts val="0"/>
              </a:spcBef>
              <a:spcAft>
                <a:spcPts val="0"/>
              </a:spcAft>
              <a:buNone/>
            </a:pPr>
            <a:r>
              <a:t/>
            </a:r>
            <a:endParaRPr sz="2000">
              <a:latin typeface="Times New Roman"/>
              <a:ea typeface="Times New Roman"/>
              <a:cs typeface="Times New Roman"/>
              <a:sym typeface="Times New Roman"/>
            </a:endParaRPr>
          </a:p>
          <a:p>
            <a:pPr indent="0" lvl="0" marL="0" rtl="0" algn="l">
              <a:spcBef>
                <a:spcPts val="0"/>
              </a:spcBef>
              <a:spcAft>
                <a:spcPts val="0"/>
              </a:spcAft>
              <a:buNone/>
            </a:pPr>
            <a:r>
              <a:rPr lang="fr" sz="2000">
                <a:latin typeface="Times New Roman"/>
                <a:ea typeface="Times New Roman"/>
                <a:cs typeface="Times New Roman"/>
                <a:sym typeface="Times New Roman"/>
              </a:rPr>
              <a:t>CLASSE:</a:t>
            </a:r>
            <a:endParaRPr sz="2000">
              <a:latin typeface="Times New Roman"/>
              <a:ea typeface="Times New Roman"/>
              <a:cs typeface="Times New Roman"/>
              <a:sym typeface="Times New Roman"/>
            </a:endParaRPr>
          </a:p>
          <a:p>
            <a:pPr indent="0" lvl="0" marL="0" rtl="0" algn="l">
              <a:spcBef>
                <a:spcPts val="0"/>
              </a:spcBef>
              <a:spcAft>
                <a:spcPts val="0"/>
              </a:spcAft>
              <a:buNone/>
            </a:pPr>
            <a:r>
              <a:rPr lang="fr" sz="2000">
                <a:latin typeface="Times New Roman"/>
                <a:ea typeface="Times New Roman"/>
                <a:cs typeface="Times New Roman"/>
                <a:sym typeface="Times New Roman"/>
              </a:rPr>
              <a:t>M1 RÉSI</a:t>
            </a:r>
            <a:endParaRPr sz="2000">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pic>
        <p:nvPicPr>
          <p:cNvPr descr="logo" id="280" name="Google Shape;280;p13"/>
          <p:cNvPicPr preferRelativeResize="0"/>
          <p:nvPr/>
        </p:nvPicPr>
        <p:blipFill>
          <a:blip r:embed="rId3">
            <a:alphaModFix/>
          </a:blip>
          <a:stretch>
            <a:fillRect/>
          </a:stretch>
        </p:blipFill>
        <p:spPr>
          <a:xfrm>
            <a:off x="0" y="0"/>
            <a:ext cx="4203800" cy="916600"/>
          </a:xfrm>
          <a:prstGeom prst="rect">
            <a:avLst/>
          </a:prstGeom>
          <a:noFill/>
          <a:ln>
            <a:noFill/>
          </a:ln>
        </p:spPr>
      </p:pic>
      <p:sp>
        <p:nvSpPr>
          <p:cNvPr id="281" name="Google Shape;281;p13"/>
          <p:cNvSpPr txBox="1"/>
          <p:nvPr>
            <p:ph idx="1" type="subTitle"/>
          </p:nvPr>
        </p:nvSpPr>
        <p:spPr>
          <a:xfrm>
            <a:off x="5614575" y="4514900"/>
            <a:ext cx="3421800" cy="62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2000">
                <a:latin typeface="Times New Roman"/>
                <a:ea typeface="Times New Roman"/>
                <a:cs typeface="Times New Roman"/>
                <a:sym typeface="Times New Roman"/>
              </a:rPr>
              <a:t>Année Académique 2024-2025</a:t>
            </a:r>
            <a:endParaRPr>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400" y="165000"/>
            <a:ext cx="5857800" cy="4978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fr" sz="4488">
                <a:latin typeface="Times New Roman"/>
                <a:ea typeface="Times New Roman"/>
                <a:cs typeface="Times New Roman"/>
                <a:sym typeface="Times New Roman"/>
              </a:rPr>
              <a:t>PLAN</a:t>
            </a:r>
            <a:r>
              <a:rPr lang="fr">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1. </a:t>
            </a:r>
            <a:r>
              <a:rPr lang="fr" sz="3488">
                <a:latin typeface="Times New Roman"/>
                <a:ea typeface="Times New Roman"/>
                <a:cs typeface="Times New Roman"/>
                <a:sym typeface="Times New Roman"/>
              </a:rPr>
              <a:t>Introduction </a:t>
            </a:r>
            <a:endParaRPr sz="3488">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2</a:t>
            </a:r>
            <a:r>
              <a:rPr lang="fr" sz="3488">
                <a:latin typeface="Times New Roman"/>
                <a:ea typeface="Times New Roman"/>
                <a:cs typeface="Times New Roman"/>
                <a:sym typeface="Times New Roman"/>
              </a:rPr>
              <a:t>. Matériel et logiciels utilisés </a:t>
            </a:r>
            <a:endParaRPr sz="3488">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3. Introduction à la VoIP</a:t>
            </a:r>
            <a:endParaRPr sz="3488">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4. Présentation d’Asterisk</a:t>
            </a:r>
            <a:endParaRPr sz="3488">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5. Installation et Configuration  du serveur Asterisk </a:t>
            </a:r>
            <a:endParaRPr sz="3488">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6. Configuration des softphones </a:t>
            </a:r>
            <a:endParaRPr sz="3488">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7. Test et validation </a:t>
            </a:r>
            <a:endParaRPr sz="3488">
              <a:latin typeface="Times New Roman"/>
              <a:ea typeface="Times New Roman"/>
              <a:cs typeface="Times New Roman"/>
              <a:sym typeface="Times New Roman"/>
            </a:endParaRPr>
          </a:p>
          <a:p>
            <a:pPr indent="0" lvl="0" marL="0" rtl="0" algn="l">
              <a:spcBef>
                <a:spcPts val="0"/>
              </a:spcBef>
              <a:spcAft>
                <a:spcPts val="0"/>
              </a:spcAft>
              <a:buNone/>
            </a:pPr>
            <a:r>
              <a:rPr lang="fr" sz="3488">
                <a:latin typeface="Times New Roman"/>
                <a:ea typeface="Times New Roman"/>
                <a:cs typeface="Times New Roman"/>
                <a:sym typeface="Times New Roman"/>
              </a:rPr>
              <a:t>8. Conclusion</a:t>
            </a:r>
            <a:endParaRPr sz="3488">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sz="5000">
                <a:latin typeface="Times New Roman"/>
                <a:ea typeface="Times New Roman"/>
                <a:cs typeface="Times New Roman"/>
                <a:sym typeface="Times New Roman"/>
              </a:rPr>
              <a:t>INTRODUCTION  </a:t>
            </a:r>
            <a:endParaRPr sz="5000">
              <a:latin typeface="Times New Roman"/>
              <a:ea typeface="Times New Roman"/>
              <a:cs typeface="Times New Roman"/>
              <a:sym typeface="Times New Roman"/>
            </a:endParaRPr>
          </a:p>
        </p:txBody>
      </p:sp>
      <p:sp>
        <p:nvSpPr>
          <p:cNvPr id="292" name="Google Shape;292;p15"/>
          <p:cNvSpPr txBox="1"/>
          <p:nvPr>
            <p:ph idx="1" type="body"/>
          </p:nvPr>
        </p:nvSpPr>
        <p:spPr>
          <a:xfrm>
            <a:off x="0" y="1597875"/>
            <a:ext cx="9144000" cy="3545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500">
                <a:solidFill>
                  <a:srgbClr val="000000"/>
                </a:solidFill>
                <a:latin typeface="Times New Roman"/>
                <a:ea typeface="Times New Roman"/>
                <a:cs typeface="Times New Roman"/>
                <a:sym typeface="Times New Roman"/>
              </a:rPr>
              <a:t>Dans un contexte où les solutions de communication unifiées prennent une place de plus en plus importante, la </a:t>
            </a:r>
            <a:r>
              <a:rPr b="1" lang="fr" sz="1500">
                <a:solidFill>
                  <a:srgbClr val="000000"/>
                </a:solidFill>
                <a:latin typeface="Times New Roman"/>
                <a:ea typeface="Times New Roman"/>
                <a:cs typeface="Times New Roman"/>
                <a:sym typeface="Times New Roman"/>
              </a:rPr>
              <a:t>téléphonie sur IP (ToIP)</a:t>
            </a:r>
            <a:r>
              <a:rPr lang="fr" sz="1500">
                <a:solidFill>
                  <a:srgbClr val="000000"/>
                </a:solidFill>
                <a:latin typeface="Times New Roman"/>
                <a:ea typeface="Times New Roman"/>
                <a:cs typeface="Times New Roman"/>
                <a:sym typeface="Times New Roman"/>
              </a:rPr>
              <a:t> s’impose comme une alternative moderne, économique et flexible aux systèmes téléphoniques traditionnels. Ce projet s’inscrit dans cette dynamique technologique et a pour objectif la mise en place d’un système de communication local basé sur </a:t>
            </a:r>
            <a:r>
              <a:rPr b="1" lang="fr" sz="1500">
                <a:solidFill>
                  <a:srgbClr val="000000"/>
                </a:solidFill>
                <a:latin typeface="Times New Roman"/>
                <a:ea typeface="Times New Roman"/>
                <a:cs typeface="Times New Roman"/>
                <a:sym typeface="Times New Roman"/>
              </a:rPr>
              <a:t>Asterisk</a:t>
            </a:r>
            <a:r>
              <a:rPr lang="fr" sz="1500">
                <a:solidFill>
                  <a:srgbClr val="000000"/>
                </a:solidFill>
                <a:latin typeface="Times New Roman"/>
                <a:ea typeface="Times New Roman"/>
                <a:cs typeface="Times New Roman"/>
                <a:sym typeface="Times New Roman"/>
              </a:rPr>
              <a:t>, une solution open-source puissante de téléphonie IP.</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fr" sz="1500">
                <a:solidFill>
                  <a:srgbClr val="000000"/>
                </a:solidFill>
                <a:latin typeface="Times New Roman"/>
                <a:ea typeface="Times New Roman"/>
                <a:cs typeface="Times New Roman"/>
                <a:sym typeface="Times New Roman"/>
              </a:rPr>
              <a:t>Le travail consiste à déployer un </a:t>
            </a:r>
            <a:r>
              <a:rPr b="1" lang="fr" sz="1500">
                <a:solidFill>
                  <a:srgbClr val="000000"/>
                </a:solidFill>
                <a:latin typeface="Times New Roman"/>
                <a:ea typeface="Times New Roman"/>
                <a:cs typeface="Times New Roman"/>
                <a:sym typeface="Times New Roman"/>
              </a:rPr>
              <a:t>serveur Asterisk</a:t>
            </a:r>
            <a:r>
              <a:rPr lang="fr" sz="1500">
                <a:solidFill>
                  <a:srgbClr val="000000"/>
                </a:solidFill>
                <a:latin typeface="Times New Roman"/>
                <a:ea typeface="Times New Roman"/>
                <a:cs typeface="Times New Roman"/>
                <a:sym typeface="Times New Roman"/>
              </a:rPr>
              <a:t> sur un réseau local et à y connecter </a:t>
            </a:r>
            <a:r>
              <a:rPr b="1" lang="fr" sz="1500">
                <a:solidFill>
                  <a:srgbClr val="000000"/>
                </a:solidFill>
                <a:latin typeface="Times New Roman"/>
                <a:ea typeface="Times New Roman"/>
                <a:cs typeface="Times New Roman"/>
                <a:sym typeface="Times New Roman"/>
              </a:rPr>
              <a:t>quatre softphones</a:t>
            </a:r>
            <a:r>
              <a:rPr lang="fr" sz="1500">
                <a:solidFill>
                  <a:srgbClr val="000000"/>
                </a:solidFill>
                <a:latin typeface="Times New Roman"/>
                <a:ea typeface="Times New Roman"/>
                <a:cs typeface="Times New Roman"/>
                <a:sym typeface="Times New Roman"/>
              </a:rPr>
              <a:t> via le protocole </a:t>
            </a:r>
            <a:r>
              <a:rPr b="1" lang="fr" sz="1500">
                <a:solidFill>
                  <a:srgbClr val="000000"/>
                </a:solidFill>
                <a:latin typeface="Times New Roman"/>
                <a:ea typeface="Times New Roman"/>
                <a:cs typeface="Times New Roman"/>
                <a:sym typeface="Times New Roman"/>
              </a:rPr>
              <a:t>SIP</a:t>
            </a:r>
            <a:r>
              <a:rPr lang="fr" sz="1500">
                <a:solidFill>
                  <a:srgbClr val="000000"/>
                </a:solidFill>
                <a:latin typeface="Times New Roman"/>
                <a:ea typeface="Times New Roman"/>
                <a:cs typeface="Times New Roman"/>
                <a:sym typeface="Times New Roman"/>
              </a:rPr>
              <a:t> (Session Initiation Protocol) en utilisant </a:t>
            </a:r>
            <a:r>
              <a:rPr b="1" lang="fr" sz="1500">
                <a:solidFill>
                  <a:srgbClr val="000000"/>
                </a:solidFill>
                <a:latin typeface="Times New Roman"/>
                <a:ea typeface="Times New Roman"/>
                <a:cs typeface="Times New Roman"/>
                <a:sym typeface="Times New Roman"/>
              </a:rPr>
              <a:t>PJSIP</a:t>
            </a:r>
            <a:r>
              <a:rPr lang="fr" sz="1500">
                <a:solidFill>
                  <a:srgbClr val="000000"/>
                </a:solidFill>
                <a:latin typeface="Times New Roman"/>
                <a:ea typeface="Times New Roman"/>
                <a:cs typeface="Times New Roman"/>
                <a:sym typeface="Times New Roman"/>
              </a:rPr>
              <a:t>, une implémentation SIP moderne et performante. Ce déploiement permettra de gérer les appels internes entre extensions, de tester des services comme la </a:t>
            </a:r>
            <a:r>
              <a:rPr b="1" lang="fr" sz="1500">
                <a:solidFill>
                  <a:srgbClr val="000000"/>
                </a:solidFill>
                <a:latin typeface="Times New Roman"/>
                <a:ea typeface="Times New Roman"/>
                <a:cs typeface="Times New Roman"/>
                <a:sym typeface="Times New Roman"/>
              </a:rPr>
              <a:t>messagerie vocale</a:t>
            </a:r>
            <a:r>
              <a:rPr lang="fr" sz="1500">
                <a:solidFill>
                  <a:srgbClr val="000000"/>
                </a:solidFill>
                <a:latin typeface="Times New Roman"/>
                <a:ea typeface="Times New Roman"/>
                <a:cs typeface="Times New Roman"/>
                <a:sym typeface="Times New Roman"/>
              </a:rPr>
              <a:t>, et d’expérimenter des fonctionnalités essentielles pour toute infrastructure de communication IP d’entreprise.</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fr" sz="1500">
                <a:solidFill>
                  <a:srgbClr val="000000"/>
                </a:solidFill>
                <a:latin typeface="Times New Roman"/>
                <a:ea typeface="Times New Roman"/>
                <a:cs typeface="Times New Roman"/>
                <a:sym typeface="Times New Roman"/>
              </a:rPr>
              <a:t>À travers ce projet, nous abordons les principales étapes de mise en œuvre : installation du serveur, configuration des comptes utilisateurs, plan de numérotation, tests fonctionnels et évaluation des résultats obtenus. L’objectif est de développer une compréhension pratique et approfondie de la téléphonie IP avec Asterisk.</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9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fr" sz="4000">
                <a:latin typeface="Times New Roman"/>
                <a:ea typeface="Times New Roman"/>
                <a:cs typeface="Times New Roman"/>
                <a:sym typeface="Times New Roman"/>
              </a:rPr>
              <a:t>  </a:t>
            </a:r>
            <a:r>
              <a:rPr lang="fr" sz="4000">
                <a:latin typeface="Times New Roman"/>
                <a:ea typeface="Times New Roman"/>
                <a:cs typeface="Times New Roman"/>
                <a:sym typeface="Times New Roman"/>
              </a:rPr>
              <a:t> Matériel et logiciels utilisés</a:t>
            </a:r>
            <a:endParaRPr sz="4000">
              <a:latin typeface="Times New Roman"/>
              <a:ea typeface="Times New Roman"/>
              <a:cs typeface="Times New Roman"/>
              <a:sym typeface="Times New Roman"/>
            </a:endParaRPr>
          </a:p>
        </p:txBody>
      </p:sp>
      <p:sp>
        <p:nvSpPr>
          <p:cNvPr id="298" name="Google Shape;298;p16"/>
          <p:cNvSpPr txBox="1"/>
          <p:nvPr>
            <p:ph idx="1" type="body"/>
          </p:nvPr>
        </p:nvSpPr>
        <p:spPr>
          <a:xfrm>
            <a:off x="720000" y="1691875"/>
            <a:ext cx="8121000" cy="25416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Times New Roman"/>
              <a:buChar char="●"/>
            </a:pPr>
            <a:r>
              <a:rPr lang="fr" sz="2000">
                <a:latin typeface="Times New Roman"/>
                <a:ea typeface="Times New Roman"/>
                <a:cs typeface="Times New Roman"/>
                <a:sym typeface="Times New Roman"/>
              </a:rPr>
              <a:t>Serveur : Ubuntu 22.04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fr" sz="2000">
                <a:latin typeface="Times New Roman"/>
                <a:ea typeface="Times New Roman"/>
                <a:cs typeface="Times New Roman"/>
                <a:sym typeface="Times New Roman"/>
              </a:rPr>
              <a:t>Serveur Asterisk : logiciel open-source de téléphonie IP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fr" sz="2000">
                <a:latin typeface="Times New Roman"/>
                <a:ea typeface="Times New Roman"/>
                <a:cs typeface="Times New Roman"/>
                <a:sym typeface="Times New Roman"/>
              </a:rPr>
              <a:t>Softphones : 3CX, Linphone, Blinks, MICROSIP logiciel SIP installable sur PC ou mobile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fr" sz="2000">
                <a:latin typeface="Times New Roman"/>
                <a:ea typeface="Times New Roman"/>
                <a:cs typeface="Times New Roman"/>
                <a:sym typeface="Times New Roman"/>
              </a:rPr>
              <a:t>Réseau local : tous les appareils sont connectés sur le même réseau (LAN) </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INTRODUCTION A LA VoIP</a:t>
            </a:r>
            <a:endParaRPr/>
          </a:p>
        </p:txBody>
      </p:sp>
      <p:sp>
        <p:nvSpPr>
          <p:cNvPr id="304" name="Google Shape;304;p17"/>
          <p:cNvSpPr txBox="1"/>
          <p:nvPr>
            <p:ph idx="1" type="body"/>
          </p:nvPr>
        </p:nvSpPr>
        <p:spPr>
          <a:xfrm>
            <a:off x="119275" y="1436300"/>
            <a:ext cx="8742900" cy="3445200"/>
          </a:xfrm>
          <a:prstGeom prst="rect">
            <a:avLst/>
          </a:prstGeom>
        </p:spPr>
        <p:txBody>
          <a:bodyPr anchorCtr="0" anchor="t" bIns="91425" lIns="91425" spcFirstLastPara="1" rIns="91425" wrap="square" tIns="91425">
            <a:noAutofit/>
          </a:bodyPr>
          <a:lstStyle/>
          <a:p>
            <a:pPr indent="-332422" lvl="0" marL="457200" rtl="0" algn="l">
              <a:lnSpc>
                <a:spcPct val="95000"/>
              </a:lnSpc>
              <a:spcBef>
                <a:spcPts val="0"/>
              </a:spcBef>
              <a:spcAft>
                <a:spcPts val="0"/>
              </a:spcAft>
              <a:buClr>
                <a:srgbClr val="000000"/>
              </a:buClr>
              <a:buSzPts val="1635"/>
              <a:buFont typeface="Times New Roman"/>
              <a:buChar char="●"/>
            </a:pPr>
            <a:r>
              <a:rPr b="1" lang="fr" sz="1635">
                <a:solidFill>
                  <a:srgbClr val="000000"/>
                </a:solidFill>
                <a:latin typeface="Times New Roman"/>
                <a:ea typeface="Times New Roman"/>
                <a:cs typeface="Times New Roman"/>
                <a:sym typeface="Times New Roman"/>
              </a:rPr>
              <a:t>VoIP (Voice over IP)</a:t>
            </a:r>
            <a:r>
              <a:rPr lang="fr" sz="1635">
                <a:solidFill>
                  <a:srgbClr val="000000"/>
                </a:solidFill>
                <a:latin typeface="Times New Roman"/>
                <a:ea typeface="Times New Roman"/>
                <a:cs typeface="Times New Roman"/>
                <a:sym typeface="Times New Roman"/>
              </a:rPr>
              <a:t> signifie la transmission de la voix via un réseau IP (Internet ou réseau local).</a:t>
            </a:r>
            <a:br>
              <a:rPr lang="fr" sz="1635">
                <a:solidFill>
                  <a:srgbClr val="000000"/>
                </a:solidFill>
                <a:latin typeface="Times New Roman"/>
                <a:ea typeface="Times New Roman"/>
                <a:cs typeface="Times New Roman"/>
                <a:sym typeface="Times New Roman"/>
              </a:rPr>
            </a:br>
            <a:endParaRPr sz="1635">
              <a:solidFill>
                <a:srgbClr val="000000"/>
              </a:solidFill>
              <a:latin typeface="Times New Roman"/>
              <a:ea typeface="Times New Roman"/>
              <a:cs typeface="Times New Roman"/>
              <a:sym typeface="Times New Roman"/>
            </a:endParaRPr>
          </a:p>
          <a:p>
            <a:pPr indent="-332422" lvl="0" marL="457200" rtl="0" algn="l">
              <a:lnSpc>
                <a:spcPct val="95000"/>
              </a:lnSpc>
              <a:spcBef>
                <a:spcPts val="0"/>
              </a:spcBef>
              <a:spcAft>
                <a:spcPts val="0"/>
              </a:spcAft>
              <a:buClr>
                <a:srgbClr val="000000"/>
              </a:buClr>
              <a:buSzPts val="1635"/>
              <a:buFont typeface="Times New Roman"/>
              <a:buChar char="●"/>
            </a:pPr>
            <a:r>
              <a:rPr lang="fr" sz="1635">
                <a:solidFill>
                  <a:srgbClr val="000000"/>
                </a:solidFill>
                <a:latin typeface="Times New Roman"/>
                <a:ea typeface="Times New Roman"/>
                <a:cs typeface="Times New Roman"/>
                <a:sym typeface="Times New Roman"/>
              </a:rPr>
              <a:t>Elle permet de passer des appels téléphoniques en utilisant une connexion Internet au lieu des lignes téléphoniques traditionnelles.</a:t>
            </a:r>
            <a:br>
              <a:rPr lang="fr" sz="1635">
                <a:solidFill>
                  <a:srgbClr val="000000"/>
                </a:solidFill>
                <a:latin typeface="Times New Roman"/>
                <a:ea typeface="Times New Roman"/>
                <a:cs typeface="Times New Roman"/>
                <a:sym typeface="Times New Roman"/>
              </a:rPr>
            </a:br>
            <a:endParaRPr sz="1635">
              <a:solidFill>
                <a:srgbClr val="000000"/>
              </a:solidFill>
              <a:latin typeface="Times New Roman"/>
              <a:ea typeface="Times New Roman"/>
              <a:cs typeface="Times New Roman"/>
              <a:sym typeface="Times New Roman"/>
            </a:endParaRPr>
          </a:p>
          <a:p>
            <a:pPr indent="-332422" lvl="0" marL="457200" rtl="0" algn="l">
              <a:lnSpc>
                <a:spcPct val="95000"/>
              </a:lnSpc>
              <a:spcBef>
                <a:spcPts val="0"/>
              </a:spcBef>
              <a:spcAft>
                <a:spcPts val="0"/>
              </a:spcAft>
              <a:buClr>
                <a:srgbClr val="000000"/>
              </a:buClr>
              <a:buSzPts val="1635"/>
              <a:buFont typeface="Times New Roman"/>
              <a:buChar char="●"/>
            </a:pPr>
            <a:r>
              <a:rPr lang="fr" sz="1635">
                <a:solidFill>
                  <a:srgbClr val="000000"/>
                </a:solidFill>
                <a:latin typeface="Times New Roman"/>
                <a:ea typeface="Times New Roman"/>
                <a:cs typeface="Times New Roman"/>
                <a:sym typeface="Times New Roman"/>
              </a:rPr>
              <a:t>La VoIP permet d’intégrer la voix, la vidéo et les données dans un seul réseau, ce qui facilite la gestion et réduit les coûts.</a:t>
            </a:r>
            <a:br>
              <a:rPr lang="fr" sz="1635">
                <a:solidFill>
                  <a:srgbClr val="000000"/>
                </a:solidFill>
                <a:latin typeface="Times New Roman"/>
                <a:ea typeface="Times New Roman"/>
                <a:cs typeface="Times New Roman"/>
                <a:sym typeface="Times New Roman"/>
              </a:rPr>
            </a:br>
            <a:endParaRPr sz="1635">
              <a:solidFill>
                <a:srgbClr val="000000"/>
              </a:solidFill>
              <a:latin typeface="Times New Roman"/>
              <a:ea typeface="Times New Roman"/>
              <a:cs typeface="Times New Roman"/>
              <a:sym typeface="Times New Roman"/>
            </a:endParaRPr>
          </a:p>
          <a:p>
            <a:pPr indent="-332422" lvl="0" marL="457200" rtl="0" algn="l">
              <a:lnSpc>
                <a:spcPct val="95000"/>
              </a:lnSpc>
              <a:spcBef>
                <a:spcPts val="0"/>
              </a:spcBef>
              <a:spcAft>
                <a:spcPts val="0"/>
              </a:spcAft>
              <a:buClr>
                <a:srgbClr val="000000"/>
              </a:buClr>
              <a:buSzPts val="1635"/>
              <a:buFont typeface="Times New Roman"/>
              <a:buChar char="●"/>
            </a:pPr>
            <a:r>
              <a:rPr lang="fr" sz="1635">
                <a:solidFill>
                  <a:srgbClr val="000000"/>
                </a:solidFill>
                <a:latin typeface="Times New Roman"/>
                <a:ea typeface="Times New Roman"/>
                <a:cs typeface="Times New Roman"/>
                <a:sym typeface="Times New Roman"/>
              </a:rPr>
              <a:t>Le protocole </a:t>
            </a:r>
            <a:r>
              <a:rPr b="1" lang="fr" sz="1635">
                <a:solidFill>
                  <a:srgbClr val="000000"/>
                </a:solidFill>
                <a:latin typeface="Times New Roman"/>
                <a:ea typeface="Times New Roman"/>
                <a:cs typeface="Times New Roman"/>
                <a:sym typeface="Times New Roman"/>
              </a:rPr>
              <a:t>SIP (Session Initiation Protocol)</a:t>
            </a:r>
            <a:r>
              <a:rPr lang="fr" sz="1635">
                <a:solidFill>
                  <a:srgbClr val="000000"/>
                </a:solidFill>
                <a:latin typeface="Times New Roman"/>
                <a:ea typeface="Times New Roman"/>
                <a:cs typeface="Times New Roman"/>
                <a:sym typeface="Times New Roman"/>
              </a:rPr>
              <a:t> est le standard le plus utilisé pour établir, gérer et terminer les appels VoIP.</a:t>
            </a:r>
            <a:br>
              <a:rPr lang="fr" sz="1635">
                <a:solidFill>
                  <a:srgbClr val="000000"/>
                </a:solidFill>
                <a:latin typeface="Times New Roman"/>
                <a:ea typeface="Times New Roman"/>
                <a:cs typeface="Times New Roman"/>
                <a:sym typeface="Times New Roman"/>
              </a:rPr>
            </a:br>
            <a:endParaRPr sz="1635">
              <a:solidFill>
                <a:srgbClr val="000000"/>
              </a:solidFill>
              <a:latin typeface="Times New Roman"/>
              <a:ea typeface="Times New Roman"/>
              <a:cs typeface="Times New Roman"/>
              <a:sym typeface="Times New Roman"/>
            </a:endParaRPr>
          </a:p>
          <a:p>
            <a:pPr indent="-332422" lvl="0" marL="457200" rtl="0" algn="l">
              <a:lnSpc>
                <a:spcPct val="95000"/>
              </a:lnSpc>
              <a:spcBef>
                <a:spcPts val="0"/>
              </a:spcBef>
              <a:spcAft>
                <a:spcPts val="0"/>
              </a:spcAft>
              <a:buClr>
                <a:srgbClr val="000000"/>
              </a:buClr>
              <a:buSzPts val="1635"/>
              <a:buFont typeface="Times New Roman"/>
              <a:buChar char="●"/>
            </a:pPr>
            <a:r>
              <a:rPr lang="fr" sz="1635">
                <a:solidFill>
                  <a:srgbClr val="000000"/>
                </a:solidFill>
                <a:latin typeface="Times New Roman"/>
                <a:ea typeface="Times New Roman"/>
                <a:cs typeface="Times New Roman"/>
                <a:sym typeface="Times New Roman"/>
              </a:rPr>
              <a:t>Grâce à la VoIP, les entreprises peuvent bénéficier de communications flexibles, évolutives, et à moindre coût, notamment pour les appels longue distance ou entre sites distants.</a:t>
            </a:r>
            <a:endParaRPr sz="163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935"/>
              <a:buNone/>
            </a:pPr>
            <a:r>
              <a:t/>
            </a:r>
            <a:endParaRPr sz="1105"/>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3400">
                <a:latin typeface="Times New Roman"/>
                <a:ea typeface="Times New Roman"/>
                <a:cs typeface="Times New Roman"/>
                <a:sym typeface="Times New Roman"/>
              </a:rPr>
              <a:t>Présentation d’Asterisk</a:t>
            </a:r>
            <a:endParaRPr sz="3400">
              <a:latin typeface="Times New Roman"/>
              <a:ea typeface="Times New Roman"/>
              <a:cs typeface="Times New Roman"/>
              <a:sym typeface="Times New Roman"/>
            </a:endParaRPr>
          </a:p>
        </p:txBody>
      </p:sp>
      <p:sp>
        <p:nvSpPr>
          <p:cNvPr id="310" name="Google Shape;310;p18"/>
          <p:cNvSpPr txBox="1"/>
          <p:nvPr>
            <p:ph idx="1" type="body"/>
          </p:nvPr>
        </p:nvSpPr>
        <p:spPr>
          <a:xfrm>
            <a:off x="142050" y="1809025"/>
            <a:ext cx="8859900" cy="31683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000000"/>
              </a:buClr>
              <a:buSzPts val="1700"/>
              <a:buFont typeface="Times New Roman"/>
              <a:buChar char="●"/>
            </a:pPr>
            <a:r>
              <a:rPr b="1" lang="fr" sz="1700">
                <a:solidFill>
                  <a:srgbClr val="000000"/>
                </a:solidFill>
                <a:latin typeface="Times New Roman"/>
                <a:ea typeface="Times New Roman"/>
                <a:cs typeface="Times New Roman"/>
                <a:sym typeface="Times New Roman"/>
              </a:rPr>
              <a:t>Asterisk</a:t>
            </a:r>
            <a:r>
              <a:rPr lang="fr" sz="1700">
                <a:solidFill>
                  <a:srgbClr val="000000"/>
                </a:solidFill>
                <a:latin typeface="Times New Roman"/>
                <a:ea typeface="Times New Roman"/>
                <a:cs typeface="Times New Roman"/>
                <a:sym typeface="Times New Roman"/>
              </a:rPr>
              <a:t> est un logiciel </a:t>
            </a:r>
            <a:r>
              <a:rPr b="1" lang="fr" sz="1700">
                <a:solidFill>
                  <a:srgbClr val="000000"/>
                </a:solidFill>
                <a:latin typeface="Times New Roman"/>
                <a:ea typeface="Times New Roman"/>
                <a:cs typeface="Times New Roman"/>
                <a:sym typeface="Times New Roman"/>
              </a:rPr>
              <a:t>IPBX open source</a:t>
            </a:r>
            <a:r>
              <a:rPr lang="fr" sz="1700">
                <a:solidFill>
                  <a:srgbClr val="000000"/>
                </a:solidFill>
                <a:latin typeface="Times New Roman"/>
                <a:ea typeface="Times New Roman"/>
                <a:cs typeface="Times New Roman"/>
                <a:sym typeface="Times New Roman"/>
              </a:rPr>
              <a:t> : il permet de créer son propre standard téléphonique.</a:t>
            </a:r>
            <a:br>
              <a:rPr lang="fr" sz="1700">
                <a:solidFill>
                  <a:srgbClr val="000000"/>
                </a:solidFill>
                <a:latin typeface="Times New Roman"/>
                <a:ea typeface="Times New Roman"/>
                <a:cs typeface="Times New Roman"/>
                <a:sym typeface="Times New Roman"/>
              </a:rPr>
            </a:b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Times New Roman"/>
              <a:buChar char="●"/>
            </a:pPr>
            <a:r>
              <a:rPr lang="fr" sz="1700">
                <a:solidFill>
                  <a:srgbClr val="000000"/>
                </a:solidFill>
                <a:latin typeface="Times New Roman"/>
                <a:ea typeface="Times New Roman"/>
                <a:cs typeface="Times New Roman"/>
                <a:sym typeface="Times New Roman"/>
              </a:rPr>
              <a:t>Il gère les appels, la messagerie vocale, les transferts, les conférences et bien plus encore.</a:t>
            </a:r>
            <a:br>
              <a:rPr lang="fr" sz="1700">
                <a:solidFill>
                  <a:srgbClr val="000000"/>
                </a:solidFill>
                <a:latin typeface="Times New Roman"/>
                <a:ea typeface="Times New Roman"/>
                <a:cs typeface="Times New Roman"/>
                <a:sym typeface="Times New Roman"/>
              </a:rPr>
            </a:b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Times New Roman"/>
              <a:buChar char="●"/>
            </a:pPr>
            <a:r>
              <a:rPr lang="fr" sz="1700">
                <a:solidFill>
                  <a:srgbClr val="000000"/>
                </a:solidFill>
                <a:latin typeface="Times New Roman"/>
                <a:ea typeface="Times New Roman"/>
                <a:cs typeface="Times New Roman"/>
                <a:sym typeface="Times New Roman"/>
              </a:rPr>
              <a:t>Fonctionne principalement sous </a:t>
            </a:r>
            <a:r>
              <a:rPr b="1" lang="fr" sz="1700">
                <a:solidFill>
                  <a:srgbClr val="000000"/>
                </a:solidFill>
                <a:latin typeface="Times New Roman"/>
                <a:ea typeface="Times New Roman"/>
                <a:cs typeface="Times New Roman"/>
                <a:sym typeface="Times New Roman"/>
              </a:rPr>
              <a:t>Linux</a:t>
            </a:r>
            <a:r>
              <a:rPr lang="fr" sz="1700">
                <a:solidFill>
                  <a:srgbClr val="000000"/>
                </a:solidFill>
                <a:latin typeface="Times New Roman"/>
                <a:ea typeface="Times New Roman"/>
                <a:cs typeface="Times New Roman"/>
                <a:sym typeface="Times New Roman"/>
              </a:rPr>
              <a:t>, avec une large communauté active.</a:t>
            </a:r>
            <a:br>
              <a:rPr lang="fr" sz="1700">
                <a:solidFill>
                  <a:srgbClr val="000000"/>
                </a:solidFill>
                <a:latin typeface="Times New Roman"/>
                <a:ea typeface="Times New Roman"/>
                <a:cs typeface="Times New Roman"/>
                <a:sym typeface="Times New Roman"/>
              </a:rPr>
            </a:b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Times New Roman"/>
              <a:buChar char="●"/>
            </a:pPr>
            <a:r>
              <a:rPr lang="fr" sz="1700">
                <a:solidFill>
                  <a:srgbClr val="000000"/>
                </a:solidFill>
                <a:latin typeface="Times New Roman"/>
                <a:ea typeface="Times New Roman"/>
                <a:cs typeface="Times New Roman"/>
                <a:sym typeface="Times New Roman"/>
              </a:rPr>
              <a:t>Compatible avec le protocole </a:t>
            </a:r>
            <a:r>
              <a:rPr b="1" lang="fr" sz="1700">
                <a:solidFill>
                  <a:srgbClr val="000000"/>
                </a:solidFill>
                <a:latin typeface="Times New Roman"/>
                <a:ea typeface="Times New Roman"/>
                <a:cs typeface="Times New Roman"/>
                <a:sym typeface="Times New Roman"/>
              </a:rPr>
              <a:t>SIP</a:t>
            </a:r>
            <a:r>
              <a:rPr lang="fr" sz="1700">
                <a:solidFill>
                  <a:srgbClr val="000000"/>
                </a:solidFill>
                <a:latin typeface="Times New Roman"/>
                <a:ea typeface="Times New Roman"/>
                <a:cs typeface="Times New Roman"/>
                <a:sym typeface="Times New Roman"/>
              </a:rPr>
              <a:t> (utilisé pour les softphones et appels VoIP).</a:t>
            </a:r>
            <a:br>
              <a:rPr lang="fr" sz="1700">
                <a:solidFill>
                  <a:srgbClr val="000000"/>
                </a:solidFill>
                <a:latin typeface="Times New Roman"/>
                <a:ea typeface="Times New Roman"/>
                <a:cs typeface="Times New Roman"/>
                <a:sym typeface="Times New Roman"/>
              </a:rPr>
            </a:b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Times New Roman"/>
              <a:buChar char="●"/>
            </a:pPr>
            <a:r>
              <a:rPr lang="fr" sz="1700">
                <a:solidFill>
                  <a:srgbClr val="000000"/>
                </a:solidFill>
                <a:latin typeface="Times New Roman"/>
                <a:ea typeface="Times New Roman"/>
                <a:cs typeface="Times New Roman"/>
                <a:sym typeface="Times New Roman"/>
              </a:rPr>
              <a:t>Très flexible : utilisé aussi bien pour des petites installations que dans des centres d’appels.</a:t>
            </a:r>
            <a:endParaRPr sz="17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Installation d’Asterisk</a:t>
            </a:r>
            <a:endParaRPr/>
          </a:p>
        </p:txBody>
      </p:sp>
      <p:sp>
        <p:nvSpPr>
          <p:cNvPr id="316" name="Google Shape;316;p19"/>
          <p:cNvSpPr txBox="1"/>
          <p:nvPr>
            <p:ph idx="1" type="body"/>
          </p:nvPr>
        </p:nvSpPr>
        <p:spPr>
          <a:xfrm>
            <a:off x="66025" y="1378000"/>
            <a:ext cx="5004900" cy="3652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Times New Roman"/>
              <a:buChar char="●"/>
            </a:pPr>
            <a:r>
              <a:rPr lang="fr" sz="1400">
                <a:latin typeface="Times New Roman"/>
                <a:ea typeface="Times New Roman"/>
                <a:cs typeface="Times New Roman"/>
                <a:sym typeface="Times New Roman"/>
              </a:rPr>
              <a:t>I</a:t>
            </a:r>
            <a:r>
              <a:rPr lang="fr" sz="1400">
                <a:latin typeface="Times New Roman"/>
                <a:ea typeface="Times New Roman"/>
                <a:cs typeface="Times New Roman"/>
                <a:sym typeface="Times New Roman"/>
              </a:rPr>
              <a:t>ns</a:t>
            </a:r>
            <a:r>
              <a:rPr lang="fr" sz="1400">
                <a:latin typeface="Times New Roman"/>
                <a:ea typeface="Times New Roman"/>
                <a:cs typeface="Times New Roman"/>
                <a:sym typeface="Times New Roman"/>
              </a:rPr>
              <a:t>tallation des dépendances système nécessaires via apt</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fr" sz="1400">
                <a:latin typeface="Times New Roman"/>
                <a:ea typeface="Times New Roman"/>
                <a:cs typeface="Times New Roman"/>
                <a:sym typeface="Times New Roman"/>
              </a:rPr>
              <a:t>Téléchargement manuel de la version 22.4.1 d’Asterisk</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fr" sz="1400">
                <a:latin typeface="Times New Roman"/>
                <a:ea typeface="Times New Roman"/>
                <a:cs typeface="Times New Roman"/>
                <a:sym typeface="Times New Roman"/>
              </a:rPr>
              <a:t>Décompression de l’archive et compilation avec make</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fr" sz="1400">
                <a:latin typeface="Times New Roman"/>
                <a:ea typeface="Times New Roman"/>
                <a:cs typeface="Times New Roman"/>
                <a:sym typeface="Times New Roman"/>
              </a:rPr>
              <a:t>Installation avec </a:t>
            </a:r>
            <a:r>
              <a:rPr b="1" lang="fr" sz="1400">
                <a:latin typeface="Times New Roman"/>
                <a:ea typeface="Times New Roman"/>
                <a:cs typeface="Times New Roman"/>
                <a:sym typeface="Times New Roman"/>
              </a:rPr>
              <a:t>make install</a:t>
            </a:r>
            <a:r>
              <a:rPr lang="fr" sz="1400">
                <a:latin typeface="Times New Roman"/>
                <a:ea typeface="Times New Roman"/>
                <a:cs typeface="Times New Roman"/>
                <a:sym typeface="Times New Roman"/>
              </a:rPr>
              <a:t>, puis configuration de base</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fr" sz="1400">
                <a:latin typeface="Times New Roman"/>
                <a:ea typeface="Times New Roman"/>
                <a:cs typeface="Times New Roman"/>
                <a:sym typeface="Times New Roman"/>
              </a:rPr>
              <a:t>Démarrage du service et accès à la console avec asterisk -rvv</a:t>
            </a:r>
            <a:endParaRPr sz="1400">
              <a:latin typeface="Times New Roman"/>
              <a:ea typeface="Times New Roman"/>
              <a:cs typeface="Times New Roman"/>
              <a:sym typeface="Times New Roman"/>
            </a:endParaRPr>
          </a:p>
          <a:p>
            <a:pPr indent="0" lvl="0" marL="0" rtl="0" algn="l">
              <a:spcBef>
                <a:spcPts val="1200"/>
              </a:spcBef>
              <a:spcAft>
                <a:spcPts val="1200"/>
              </a:spcAft>
              <a:buNone/>
            </a:pPr>
            <a:r>
              <a:t/>
            </a:r>
            <a:endParaRPr sz="1400">
              <a:latin typeface="Times New Roman"/>
              <a:ea typeface="Times New Roman"/>
              <a:cs typeface="Times New Roman"/>
              <a:sym typeface="Times New Roman"/>
            </a:endParaRPr>
          </a:p>
        </p:txBody>
      </p:sp>
      <p:sp>
        <p:nvSpPr>
          <p:cNvPr id="317" name="Google Shape;317;p19"/>
          <p:cNvSpPr txBox="1"/>
          <p:nvPr>
            <p:ph idx="2" type="body"/>
          </p:nvPr>
        </p:nvSpPr>
        <p:spPr>
          <a:xfrm>
            <a:off x="5070925" y="1378000"/>
            <a:ext cx="3812400" cy="3652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8" name="Google Shape;318;p19"/>
          <p:cNvPicPr preferRelativeResize="0"/>
          <p:nvPr/>
        </p:nvPicPr>
        <p:blipFill>
          <a:blip r:embed="rId3">
            <a:alphaModFix/>
          </a:blip>
          <a:stretch>
            <a:fillRect/>
          </a:stretch>
        </p:blipFill>
        <p:spPr>
          <a:xfrm>
            <a:off x="0" y="2751725"/>
            <a:ext cx="4251100" cy="2224575"/>
          </a:xfrm>
          <a:prstGeom prst="rect">
            <a:avLst/>
          </a:prstGeom>
          <a:noFill/>
          <a:ln>
            <a:noFill/>
          </a:ln>
        </p:spPr>
      </p:pic>
      <p:pic>
        <p:nvPicPr>
          <p:cNvPr id="319" name="Google Shape;319;p19"/>
          <p:cNvPicPr preferRelativeResize="0"/>
          <p:nvPr/>
        </p:nvPicPr>
        <p:blipFill>
          <a:blip r:embed="rId4">
            <a:alphaModFix/>
          </a:blip>
          <a:stretch>
            <a:fillRect/>
          </a:stretch>
        </p:blipFill>
        <p:spPr>
          <a:xfrm>
            <a:off x="4251100" y="2751725"/>
            <a:ext cx="4632225" cy="2224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SUITE Installation d’Asterisk</a:t>
            </a:r>
            <a:endParaRPr/>
          </a:p>
        </p:txBody>
      </p:sp>
      <p:sp>
        <p:nvSpPr>
          <p:cNvPr id="325" name="Google Shape;325;p20"/>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26" name="Google Shape;326;p20"/>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27" name="Google Shape;327;p20"/>
          <p:cNvPicPr preferRelativeResize="0"/>
          <p:nvPr/>
        </p:nvPicPr>
        <p:blipFill>
          <a:blip r:embed="rId3">
            <a:alphaModFix/>
          </a:blip>
          <a:stretch>
            <a:fillRect/>
          </a:stretch>
        </p:blipFill>
        <p:spPr>
          <a:xfrm>
            <a:off x="0" y="1727325"/>
            <a:ext cx="4400200" cy="3416175"/>
          </a:xfrm>
          <a:prstGeom prst="rect">
            <a:avLst/>
          </a:prstGeom>
          <a:noFill/>
          <a:ln>
            <a:noFill/>
          </a:ln>
        </p:spPr>
      </p:pic>
      <p:pic>
        <p:nvPicPr>
          <p:cNvPr id="328" name="Google Shape;328;p20"/>
          <p:cNvPicPr preferRelativeResize="0"/>
          <p:nvPr/>
        </p:nvPicPr>
        <p:blipFill>
          <a:blip r:embed="rId4">
            <a:alphaModFix/>
          </a:blip>
          <a:stretch>
            <a:fillRect/>
          </a:stretch>
        </p:blipFill>
        <p:spPr>
          <a:xfrm>
            <a:off x="4400200" y="1727325"/>
            <a:ext cx="4743801" cy="3416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1"/>
          <p:cNvSpPr txBox="1"/>
          <p:nvPr>
            <p:ph type="title"/>
          </p:nvPr>
        </p:nvSpPr>
        <p:spPr>
          <a:xfrm>
            <a:off x="1303650" y="311050"/>
            <a:ext cx="7030500" cy="75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3488">
                <a:latin typeface="Times New Roman"/>
                <a:ea typeface="Times New Roman"/>
                <a:cs typeface="Times New Roman"/>
                <a:sym typeface="Times New Roman"/>
              </a:rPr>
              <a:t>Configuration des softphones </a:t>
            </a:r>
            <a:endParaRPr/>
          </a:p>
        </p:txBody>
      </p:sp>
      <p:sp>
        <p:nvSpPr>
          <p:cNvPr id="334" name="Google Shape;334;p21"/>
          <p:cNvSpPr txBox="1"/>
          <p:nvPr>
            <p:ph idx="1" type="body"/>
          </p:nvPr>
        </p:nvSpPr>
        <p:spPr>
          <a:xfrm>
            <a:off x="129925" y="1069150"/>
            <a:ext cx="5463000" cy="39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600">
                <a:latin typeface="Times New Roman"/>
                <a:ea typeface="Times New Roman"/>
                <a:cs typeface="Times New Roman"/>
                <a:sym typeface="Times New Roman"/>
              </a:rPr>
              <a:t>Fichier pjsip.conf : création des comptes 1000, 2000, 3000, 4000</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fr" sz="1600">
                <a:latin typeface="Times New Roman"/>
                <a:ea typeface="Times New Roman"/>
                <a:cs typeface="Times New Roman"/>
                <a:sym typeface="Times New Roman"/>
              </a:rPr>
              <a:t>Fichier extensions.conf : définition du plan de numérotation (routage des appels)</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fr" sz="1600">
                <a:latin typeface="Times New Roman"/>
                <a:ea typeface="Times New Roman"/>
                <a:cs typeface="Times New Roman"/>
                <a:sym typeface="Times New Roman"/>
              </a:rPr>
              <a:t>Activation du module pjsip dans modules.conf</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fr" sz="1600">
                <a:latin typeface="Times New Roman"/>
                <a:ea typeface="Times New Roman"/>
                <a:cs typeface="Times New Roman"/>
                <a:sym typeface="Times New Roman"/>
              </a:rPr>
              <a:t>Désactivation de l’ancien module chan_sip avec noload = chan_sip.so</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fr" sz="1600">
                <a:latin typeface="Times New Roman"/>
                <a:ea typeface="Times New Roman"/>
                <a:cs typeface="Times New Roman"/>
                <a:sym typeface="Times New Roman"/>
              </a:rPr>
              <a:t>Test des comptes avec </a:t>
            </a:r>
            <a:r>
              <a:rPr b="1" lang="fr" sz="1600">
                <a:latin typeface="Times New Roman"/>
                <a:ea typeface="Times New Roman"/>
                <a:cs typeface="Times New Roman"/>
                <a:sym typeface="Times New Roman"/>
              </a:rPr>
              <a:t>pjsip list aors</a:t>
            </a:r>
            <a:r>
              <a:rPr lang="fr" sz="1600">
                <a:latin typeface="Times New Roman"/>
                <a:ea typeface="Times New Roman"/>
                <a:cs typeface="Times New Roman"/>
                <a:sym typeface="Times New Roman"/>
              </a:rPr>
              <a:t> dans la console Asterisk</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2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335" name="Google Shape;335;p21"/>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6" name="Google Shape;336;p21"/>
          <p:cNvPicPr preferRelativeResize="0"/>
          <p:nvPr/>
        </p:nvPicPr>
        <p:blipFill>
          <a:blip r:embed="rId3">
            <a:alphaModFix/>
          </a:blip>
          <a:stretch>
            <a:fillRect/>
          </a:stretch>
        </p:blipFill>
        <p:spPr>
          <a:xfrm>
            <a:off x="5592875" y="1069150"/>
            <a:ext cx="3551125" cy="3982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22"/>
          <p:cNvPicPr preferRelativeResize="0"/>
          <p:nvPr/>
        </p:nvPicPr>
        <p:blipFill>
          <a:blip r:embed="rId3">
            <a:alphaModFix/>
          </a:blip>
          <a:stretch>
            <a:fillRect/>
          </a:stretch>
        </p:blipFill>
        <p:spPr>
          <a:xfrm>
            <a:off x="0" y="1026575"/>
            <a:ext cx="3981575" cy="4116925"/>
          </a:xfrm>
          <a:prstGeom prst="rect">
            <a:avLst/>
          </a:prstGeom>
          <a:noFill/>
          <a:ln>
            <a:noFill/>
          </a:ln>
        </p:spPr>
      </p:pic>
      <p:pic>
        <p:nvPicPr>
          <p:cNvPr id="342" name="Google Shape;342;p22"/>
          <p:cNvPicPr preferRelativeResize="0"/>
          <p:nvPr/>
        </p:nvPicPr>
        <p:blipFill>
          <a:blip r:embed="rId4">
            <a:alphaModFix/>
          </a:blip>
          <a:stretch>
            <a:fillRect/>
          </a:stretch>
        </p:blipFill>
        <p:spPr>
          <a:xfrm>
            <a:off x="3981575" y="1026575"/>
            <a:ext cx="5162425" cy="1139450"/>
          </a:xfrm>
          <a:prstGeom prst="rect">
            <a:avLst/>
          </a:prstGeom>
          <a:noFill/>
          <a:ln>
            <a:noFill/>
          </a:ln>
        </p:spPr>
      </p:pic>
      <p:pic>
        <p:nvPicPr>
          <p:cNvPr id="343" name="Google Shape;343;p22"/>
          <p:cNvPicPr preferRelativeResize="0"/>
          <p:nvPr/>
        </p:nvPicPr>
        <p:blipFill>
          <a:blip r:embed="rId5">
            <a:alphaModFix/>
          </a:blip>
          <a:stretch>
            <a:fillRect/>
          </a:stretch>
        </p:blipFill>
        <p:spPr>
          <a:xfrm>
            <a:off x="3981575" y="2166025"/>
            <a:ext cx="5162425" cy="1522800"/>
          </a:xfrm>
          <a:prstGeom prst="rect">
            <a:avLst/>
          </a:prstGeom>
          <a:noFill/>
          <a:ln>
            <a:noFill/>
          </a:ln>
        </p:spPr>
      </p:pic>
      <p:pic>
        <p:nvPicPr>
          <p:cNvPr id="344" name="Google Shape;344;p22"/>
          <p:cNvPicPr preferRelativeResize="0"/>
          <p:nvPr/>
        </p:nvPicPr>
        <p:blipFill>
          <a:blip r:embed="rId6">
            <a:alphaModFix/>
          </a:blip>
          <a:stretch>
            <a:fillRect/>
          </a:stretch>
        </p:blipFill>
        <p:spPr>
          <a:xfrm>
            <a:off x="3981575" y="3688825"/>
            <a:ext cx="5162425" cy="1454675"/>
          </a:xfrm>
          <a:prstGeom prst="rect">
            <a:avLst/>
          </a:prstGeom>
          <a:noFill/>
          <a:ln>
            <a:noFill/>
          </a:ln>
        </p:spPr>
      </p:pic>
      <p:sp>
        <p:nvSpPr>
          <p:cNvPr id="345" name="Google Shape;345;p22"/>
          <p:cNvSpPr txBox="1"/>
          <p:nvPr>
            <p:ph idx="4294967295" type="title"/>
          </p:nvPr>
        </p:nvSpPr>
        <p:spPr>
          <a:xfrm>
            <a:off x="758225" y="0"/>
            <a:ext cx="73290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fr" sz="2120">
                <a:latin typeface="Times New Roman"/>
                <a:ea typeface="Times New Roman"/>
                <a:cs typeface="Times New Roman"/>
                <a:sym typeface="Times New Roman"/>
              </a:rPr>
              <a:t>Dans pjsip.conf , la création de comptes se fait comme suit : ON </a:t>
            </a:r>
            <a:r>
              <a:rPr lang="fr" sz="2120">
                <a:latin typeface="Times New Roman"/>
                <a:ea typeface="Times New Roman"/>
                <a:cs typeface="Times New Roman"/>
                <a:sym typeface="Times New Roman"/>
              </a:rPr>
              <a:t>CRÉE</a:t>
            </a:r>
            <a:r>
              <a:rPr lang="fr" sz="2120">
                <a:latin typeface="Times New Roman"/>
                <a:ea typeface="Times New Roman"/>
                <a:cs typeface="Times New Roman"/>
                <a:sym typeface="Times New Roman"/>
              </a:rPr>
              <a:t> 4 comptes 1000 ,2000, 3000, 4000  </a:t>
            </a:r>
            <a:endParaRPr sz="212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3600">
                <a:latin typeface="Times New Roman"/>
                <a:ea typeface="Times New Roman"/>
                <a:cs typeface="Times New Roman"/>
                <a:sym typeface="Times New Roman"/>
              </a:rPr>
              <a:t>Test et validation</a:t>
            </a:r>
            <a:endParaRPr sz="3600"/>
          </a:p>
        </p:txBody>
      </p:sp>
      <p:sp>
        <p:nvSpPr>
          <p:cNvPr id="351" name="Google Shape;351;p23"/>
          <p:cNvSpPr txBox="1"/>
          <p:nvPr>
            <p:ph idx="1" type="body"/>
          </p:nvPr>
        </p:nvSpPr>
        <p:spPr>
          <a:xfrm>
            <a:off x="0" y="1686800"/>
            <a:ext cx="9144000" cy="3456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fr" sz="1635">
                <a:latin typeface="Times New Roman"/>
                <a:ea typeface="Times New Roman"/>
                <a:cs typeface="Times New Roman"/>
                <a:sym typeface="Times New Roman"/>
              </a:rPr>
              <a:t>Les 4 extensions (1000, 2000, 3000, 4000) ont été enregistrées avec succès sur les softphones.</a:t>
            </a:r>
            <a:br>
              <a:rPr lang="fr" sz="1635">
                <a:latin typeface="Times New Roman"/>
                <a:ea typeface="Times New Roman"/>
                <a:cs typeface="Times New Roman"/>
                <a:sym typeface="Times New Roman"/>
              </a:rPr>
            </a:br>
            <a:endParaRPr sz="1635">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fr" sz="1635">
                <a:latin typeface="Times New Roman"/>
                <a:ea typeface="Times New Roman"/>
                <a:cs typeface="Times New Roman"/>
                <a:sym typeface="Times New Roman"/>
              </a:rPr>
              <a:t>Les appels internes ont été testés :</a:t>
            </a:r>
            <a:br>
              <a:rPr lang="fr" sz="1635">
                <a:latin typeface="Times New Roman"/>
                <a:ea typeface="Times New Roman"/>
                <a:cs typeface="Times New Roman"/>
                <a:sym typeface="Times New Roman"/>
              </a:rPr>
            </a:br>
            <a:r>
              <a:rPr lang="fr" sz="1635">
                <a:latin typeface="Times New Roman"/>
                <a:ea typeface="Times New Roman"/>
                <a:cs typeface="Times New Roman"/>
                <a:sym typeface="Times New Roman"/>
              </a:rPr>
              <a:t> ✅ 1000 ↔ 2000</a:t>
            </a:r>
            <a:br>
              <a:rPr lang="fr" sz="1635">
                <a:latin typeface="Times New Roman"/>
                <a:ea typeface="Times New Roman"/>
                <a:cs typeface="Times New Roman"/>
                <a:sym typeface="Times New Roman"/>
              </a:rPr>
            </a:br>
            <a:r>
              <a:rPr lang="fr" sz="1635">
                <a:latin typeface="Times New Roman"/>
                <a:ea typeface="Times New Roman"/>
                <a:cs typeface="Times New Roman"/>
                <a:sym typeface="Times New Roman"/>
              </a:rPr>
              <a:t> ✅ 2000 ↔ 3000</a:t>
            </a:r>
            <a:br>
              <a:rPr lang="fr" sz="1635">
                <a:latin typeface="Times New Roman"/>
                <a:ea typeface="Times New Roman"/>
                <a:cs typeface="Times New Roman"/>
                <a:sym typeface="Times New Roman"/>
              </a:rPr>
            </a:br>
            <a:r>
              <a:rPr lang="fr" sz="1635">
                <a:latin typeface="Times New Roman"/>
                <a:ea typeface="Times New Roman"/>
                <a:cs typeface="Times New Roman"/>
                <a:sym typeface="Times New Roman"/>
              </a:rPr>
              <a:t> ✅ 3000 ↔ 4000</a:t>
            </a:r>
            <a:br>
              <a:rPr lang="fr" sz="1635">
                <a:latin typeface="Times New Roman"/>
                <a:ea typeface="Times New Roman"/>
                <a:cs typeface="Times New Roman"/>
                <a:sym typeface="Times New Roman"/>
              </a:rPr>
            </a:br>
            <a:r>
              <a:rPr lang="fr" sz="1635">
                <a:latin typeface="Times New Roman"/>
                <a:ea typeface="Times New Roman"/>
                <a:cs typeface="Times New Roman"/>
                <a:sym typeface="Times New Roman"/>
              </a:rPr>
              <a:t> ✅ 1000 ↔ 4000</a:t>
            </a:r>
            <a:br>
              <a:rPr lang="fr" sz="1635">
                <a:latin typeface="Times New Roman"/>
                <a:ea typeface="Times New Roman"/>
                <a:cs typeface="Times New Roman"/>
                <a:sym typeface="Times New Roman"/>
              </a:rPr>
            </a:br>
            <a:endParaRPr sz="1635">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fr" sz="1635">
                <a:latin typeface="Times New Roman"/>
                <a:ea typeface="Times New Roman"/>
                <a:cs typeface="Times New Roman"/>
                <a:sym typeface="Times New Roman"/>
              </a:rPr>
              <a:t>Les communications sont stables et de bonne qualité via le protocole SIP (port 5060, UDP).</a:t>
            </a:r>
            <a:endParaRPr sz="1635">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fr" sz="1635">
                <a:latin typeface="Times New Roman"/>
                <a:ea typeface="Times New Roman"/>
                <a:cs typeface="Times New Roman"/>
                <a:sym typeface="Times New Roman"/>
              </a:rPr>
              <a:t>Les tests ont été suivis en temps réel via la console asterisk -rvv.</a:t>
            </a:r>
            <a:endParaRPr sz="1635">
              <a:latin typeface="Times New Roman"/>
              <a:ea typeface="Times New Roman"/>
              <a:cs typeface="Times New Roman"/>
              <a:sym typeface="Times New Roman"/>
            </a:endParaRPr>
          </a:p>
          <a:p>
            <a:pPr indent="0" lvl="0" marL="0" rtl="0" algn="l">
              <a:lnSpc>
                <a:spcPct val="95000"/>
              </a:lnSpc>
              <a:spcBef>
                <a:spcPts val="1200"/>
              </a:spcBef>
              <a:spcAft>
                <a:spcPts val="1200"/>
              </a:spcAft>
              <a:buSzPts val="935"/>
              <a:buNone/>
            </a:pPr>
            <a:r>
              <a:t/>
            </a:r>
            <a:endParaRPr sz="1105"/>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4"/>
          <p:cNvSpPr txBox="1"/>
          <p:nvPr>
            <p:ph type="title"/>
          </p:nvPr>
        </p:nvSpPr>
        <p:spPr>
          <a:xfrm>
            <a:off x="0" y="991425"/>
            <a:ext cx="42936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t/>
            </a:r>
            <a:endParaRPr sz="2120">
              <a:latin typeface="Times New Roman"/>
              <a:ea typeface="Times New Roman"/>
              <a:cs typeface="Times New Roman"/>
              <a:sym typeface="Times New Roman"/>
            </a:endParaRPr>
          </a:p>
          <a:p>
            <a:pPr indent="0" lvl="0" marL="0" rtl="0" algn="l">
              <a:spcBef>
                <a:spcPts val="0"/>
              </a:spcBef>
              <a:spcAft>
                <a:spcPts val="0"/>
              </a:spcAft>
              <a:buSzPts val="990"/>
              <a:buNone/>
            </a:pPr>
            <a:r>
              <a:rPr lang="fr" sz="2120">
                <a:latin typeface="Times New Roman"/>
                <a:ea typeface="Times New Roman"/>
                <a:cs typeface="Times New Roman"/>
                <a:sym typeface="Times New Roman"/>
              </a:rPr>
              <a:t>TEST D’Appel entre 1000 et 2000</a:t>
            </a:r>
            <a:endParaRPr sz="2120">
              <a:latin typeface="Times New Roman"/>
              <a:ea typeface="Times New Roman"/>
              <a:cs typeface="Times New Roman"/>
              <a:sym typeface="Times New Roman"/>
            </a:endParaRPr>
          </a:p>
        </p:txBody>
      </p:sp>
      <p:pic>
        <p:nvPicPr>
          <p:cNvPr id="357" name="Google Shape;357;p24"/>
          <p:cNvPicPr preferRelativeResize="0"/>
          <p:nvPr/>
        </p:nvPicPr>
        <p:blipFill>
          <a:blip r:embed="rId3">
            <a:alphaModFix/>
          </a:blip>
          <a:stretch>
            <a:fillRect/>
          </a:stretch>
        </p:blipFill>
        <p:spPr>
          <a:xfrm>
            <a:off x="0" y="1990725"/>
            <a:ext cx="4572000" cy="3152775"/>
          </a:xfrm>
          <a:prstGeom prst="rect">
            <a:avLst/>
          </a:prstGeom>
          <a:noFill/>
          <a:ln>
            <a:noFill/>
          </a:ln>
        </p:spPr>
      </p:pic>
      <p:pic>
        <p:nvPicPr>
          <p:cNvPr id="358" name="Google Shape;358;p24"/>
          <p:cNvPicPr preferRelativeResize="0"/>
          <p:nvPr/>
        </p:nvPicPr>
        <p:blipFill>
          <a:blip r:embed="rId4">
            <a:alphaModFix/>
          </a:blip>
          <a:stretch>
            <a:fillRect/>
          </a:stretch>
        </p:blipFill>
        <p:spPr>
          <a:xfrm>
            <a:off x="4572000" y="1990725"/>
            <a:ext cx="4572001" cy="3152775"/>
          </a:xfrm>
          <a:prstGeom prst="rect">
            <a:avLst/>
          </a:prstGeom>
          <a:noFill/>
          <a:ln>
            <a:noFill/>
          </a:ln>
        </p:spPr>
      </p:pic>
      <p:sp>
        <p:nvSpPr>
          <p:cNvPr id="359" name="Google Shape;359;p24"/>
          <p:cNvSpPr txBox="1"/>
          <p:nvPr>
            <p:ph type="title"/>
          </p:nvPr>
        </p:nvSpPr>
        <p:spPr>
          <a:xfrm>
            <a:off x="4572000" y="212975"/>
            <a:ext cx="4293600" cy="366300"/>
          </a:xfrm>
          <a:prstGeom prst="rect">
            <a:avLst/>
          </a:prstGeom>
        </p:spPr>
        <p:txBody>
          <a:bodyPr anchorCtr="0" anchor="t" bIns="91425" lIns="91425" spcFirstLastPara="1" rIns="91425" wrap="square" tIns="91425">
            <a:normAutofit fontScale="90000"/>
          </a:bodyPr>
          <a:lstStyle/>
          <a:p>
            <a:pPr indent="0" lvl="0" marL="0" rtl="0" algn="just">
              <a:spcBef>
                <a:spcPts val="1400"/>
              </a:spcBef>
              <a:spcAft>
                <a:spcPts val="0"/>
              </a:spcAft>
              <a:buNone/>
            </a:pPr>
            <a:r>
              <a:rPr lang="fr" sz="2000">
                <a:latin typeface="Times New Roman"/>
                <a:ea typeface="Times New Roman"/>
                <a:cs typeface="Times New Roman"/>
                <a:sym typeface="Times New Roman"/>
              </a:rPr>
              <a:t>TEST D’Appel entre 2000 et 3000</a:t>
            </a:r>
            <a:endParaRPr sz="2120">
              <a:latin typeface="Times New Roman"/>
              <a:ea typeface="Times New Roman"/>
              <a:cs typeface="Times New Roman"/>
              <a:sym typeface="Times New Roman"/>
            </a:endParaRPr>
          </a:p>
          <a:p>
            <a:pPr indent="0" lvl="0" marL="0" rtl="0" algn="just">
              <a:spcBef>
                <a:spcPts val="1400"/>
              </a:spcBef>
              <a:spcAft>
                <a:spcPts val="0"/>
              </a:spcAft>
              <a:buNone/>
            </a:pPr>
            <a:r>
              <a:t/>
            </a:r>
            <a:endParaRPr b="0" sz="2000">
              <a:latin typeface="Times New Roman"/>
              <a:ea typeface="Times New Roman"/>
              <a:cs typeface="Times New Roman"/>
              <a:sym typeface="Times New Roman"/>
            </a:endParaRPr>
          </a:p>
          <a:p>
            <a:pPr indent="0" lvl="0" marL="0" rtl="0" algn="l">
              <a:spcBef>
                <a:spcPts val="825"/>
              </a:spcBef>
              <a:spcAft>
                <a:spcPts val="0"/>
              </a:spcAft>
              <a:buSzPct val="46698"/>
              <a:buNone/>
            </a:pPr>
            <a:r>
              <a:t/>
            </a:r>
            <a:endParaRPr sz="2120">
              <a:latin typeface="Times New Roman"/>
              <a:ea typeface="Times New Roman"/>
              <a:cs typeface="Times New Roman"/>
              <a:sym typeface="Times New Roman"/>
            </a:endParaRPr>
          </a:p>
        </p:txBody>
      </p:sp>
      <p:pic>
        <p:nvPicPr>
          <p:cNvPr id="360" name="Google Shape;360;p24"/>
          <p:cNvPicPr preferRelativeResize="0"/>
          <p:nvPr/>
        </p:nvPicPr>
        <p:blipFill>
          <a:blip r:embed="rId5">
            <a:alphaModFix/>
          </a:blip>
          <a:stretch>
            <a:fillRect/>
          </a:stretch>
        </p:blipFill>
        <p:spPr>
          <a:xfrm>
            <a:off x="4016825" y="781050"/>
            <a:ext cx="5127175" cy="1209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type="title"/>
          </p:nvPr>
        </p:nvSpPr>
        <p:spPr>
          <a:xfrm>
            <a:off x="0" y="1109725"/>
            <a:ext cx="4442700" cy="43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sz="2000">
                <a:latin typeface="Times New Roman"/>
                <a:ea typeface="Times New Roman"/>
                <a:cs typeface="Times New Roman"/>
                <a:sym typeface="Times New Roman"/>
              </a:rPr>
              <a:t>TEST D’Appel entre 3000 et 4000</a:t>
            </a:r>
            <a:endParaRPr sz="2000">
              <a:latin typeface="Times New Roman"/>
              <a:ea typeface="Times New Roman"/>
              <a:cs typeface="Times New Roman"/>
              <a:sym typeface="Times New Roman"/>
            </a:endParaRPr>
          </a:p>
        </p:txBody>
      </p:sp>
      <p:pic>
        <p:nvPicPr>
          <p:cNvPr id="366" name="Google Shape;366;p25"/>
          <p:cNvPicPr preferRelativeResize="0"/>
          <p:nvPr/>
        </p:nvPicPr>
        <p:blipFill>
          <a:blip r:embed="rId3">
            <a:alphaModFix/>
          </a:blip>
          <a:stretch>
            <a:fillRect/>
          </a:stretch>
        </p:blipFill>
        <p:spPr>
          <a:xfrm>
            <a:off x="0" y="1597875"/>
            <a:ext cx="4858100" cy="3545625"/>
          </a:xfrm>
          <a:prstGeom prst="rect">
            <a:avLst/>
          </a:prstGeom>
          <a:noFill/>
          <a:ln>
            <a:noFill/>
          </a:ln>
        </p:spPr>
      </p:pic>
      <p:pic>
        <p:nvPicPr>
          <p:cNvPr id="367" name="Google Shape;367;p25"/>
          <p:cNvPicPr preferRelativeResize="0"/>
          <p:nvPr/>
        </p:nvPicPr>
        <p:blipFill>
          <a:blip r:embed="rId4">
            <a:alphaModFix/>
          </a:blip>
          <a:stretch>
            <a:fillRect/>
          </a:stretch>
        </p:blipFill>
        <p:spPr>
          <a:xfrm>
            <a:off x="4815500" y="1419225"/>
            <a:ext cx="4328500" cy="3724275"/>
          </a:xfrm>
          <a:prstGeom prst="rect">
            <a:avLst/>
          </a:prstGeom>
          <a:noFill/>
          <a:ln>
            <a:noFill/>
          </a:ln>
        </p:spPr>
      </p:pic>
      <p:sp>
        <p:nvSpPr>
          <p:cNvPr id="368" name="Google Shape;368;p25"/>
          <p:cNvSpPr txBox="1"/>
          <p:nvPr>
            <p:ph type="title"/>
          </p:nvPr>
        </p:nvSpPr>
        <p:spPr>
          <a:xfrm>
            <a:off x="4507875" y="900075"/>
            <a:ext cx="4442700" cy="43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sz="2000">
                <a:latin typeface="Times New Roman"/>
                <a:ea typeface="Times New Roman"/>
                <a:cs typeface="Times New Roman"/>
                <a:sym typeface="Times New Roman"/>
              </a:rPr>
              <a:t>TEST D’Appel entre 1000 et 4000</a:t>
            </a:r>
            <a:endParaRPr sz="20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6"/>
          <p:cNvSpPr txBox="1"/>
          <p:nvPr>
            <p:ph type="title"/>
          </p:nvPr>
        </p:nvSpPr>
        <p:spPr>
          <a:xfrm>
            <a:off x="-25" y="1399300"/>
            <a:ext cx="5300100" cy="2430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sz="1200">
                <a:latin typeface="Arial"/>
                <a:ea typeface="Arial"/>
                <a:cs typeface="Arial"/>
                <a:sym typeface="Arial"/>
              </a:rPr>
              <a:t>Fonctionnalité :</a:t>
            </a:r>
            <a:r>
              <a:rPr b="0" lang="fr" sz="1200">
                <a:latin typeface="Arial"/>
                <a:ea typeface="Arial"/>
                <a:cs typeface="Arial"/>
                <a:sym typeface="Arial"/>
              </a:rPr>
              <a:t> permet à un utilisateur de recevoir un message audio en cas d’absence.</a:t>
            </a:r>
            <a:br>
              <a:rPr b="0" lang="fr" sz="1200">
                <a:latin typeface="Arial"/>
                <a:ea typeface="Arial"/>
                <a:cs typeface="Arial"/>
                <a:sym typeface="Arial"/>
              </a:rPr>
            </a:br>
            <a:endParaRPr b="0" sz="1200">
              <a:latin typeface="Arial"/>
              <a:ea typeface="Arial"/>
              <a:cs typeface="Arial"/>
              <a:sym typeface="Arial"/>
            </a:endParaRPr>
          </a:p>
          <a:p>
            <a:pPr indent="0" lvl="0" marL="0" rtl="0" algn="l">
              <a:spcBef>
                <a:spcPts val="0"/>
              </a:spcBef>
              <a:spcAft>
                <a:spcPts val="0"/>
              </a:spcAft>
              <a:buNone/>
            </a:pPr>
            <a:r>
              <a:rPr lang="fr" sz="1200">
                <a:latin typeface="Arial"/>
                <a:ea typeface="Arial"/>
                <a:cs typeface="Arial"/>
                <a:sym typeface="Arial"/>
              </a:rPr>
              <a:t>Fichier </a:t>
            </a:r>
            <a:r>
              <a:rPr lang="fr" sz="1200">
                <a:latin typeface="Roboto Mono"/>
                <a:ea typeface="Roboto Mono"/>
                <a:cs typeface="Roboto Mono"/>
                <a:sym typeface="Roboto Mono"/>
              </a:rPr>
              <a:t>voicemail.conf</a:t>
            </a:r>
            <a:r>
              <a:rPr lang="fr" sz="1200">
                <a:latin typeface="Arial"/>
                <a:ea typeface="Arial"/>
                <a:cs typeface="Arial"/>
                <a:sym typeface="Arial"/>
              </a:rPr>
              <a:t> :</a:t>
            </a:r>
            <a:r>
              <a:rPr b="0" lang="fr" sz="1200">
                <a:latin typeface="Arial"/>
                <a:ea typeface="Arial"/>
                <a:cs typeface="Arial"/>
                <a:sym typeface="Arial"/>
              </a:rPr>
              <a:t> configuration des boîtes vocales dans le contexte </a:t>
            </a:r>
            <a:r>
              <a:rPr b="0" lang="fr" sz="1200">
                <a:latin typeface="Roboto Mono"/>
                <a:ea typeface="Roboto Mono"/>
                <a:cs typeface="Roboto Mono"/>
                <a:sym typeface="Roboto Mono"/>
              </a:rPr>
              <a:t>[default]</a:t>
            </a:r>
            <a:br>
              <a:rPr b="0" lang="fr" sz="1200">
                <a:latin typeface="Roboto Mono"/>
                <a:ea typeface="Roboto Mono"/>
                <a:cs typeface="Roboto Mono"/>
                <a:sym typeface="Roboto Mono"/>
              </a:rPr>
            </a:br>
            <a:r>
              <a:rPr b="0" lang="fr" sz="1200">
                <a:latin typeface="Arial"/>
                <a:ea typeface="Arial"/>
                <a:cs typeface="Arial"/>
                <a:sym typeface="Arial"/>
              </a:rPr>
              <a:t> → Exemple : </a:t>
            </a:r>
            <a:r>
              <a:rPr b="0" lang="fr" sz="1200">
                <a:latin typeface="Roboto Mono"/>
                <a:ea typeface="Roboto Mono"/>
                <a:cs typeface="Roboto Mono"/>
                <a:sym typeface="Roboto Mono"/>
              </a:rPr>
              <a:t>1000 =&gt; 1234</a:t>
            </a:r>
            <a:br>
              <a:rPr b="0" lang="fr" sz="1200">
                <a:latin typeface="Roboto Mono"/>
                <a:ea typeface="Roboto Mono"/>
                <a:cs typeface="Roboto Mono"/>
                <a:sym typeface="Roboto Mono"/>
              </a:rPr>
            </a:br>
            <a:endParaRPr b="0" sz="1200">
              <a:latin typeface="Roboto Mono"/>
              <a:ea typeface="Roboto Mono"/>
              <a:cs typeface="Roboto Mono"/>
              <a:sym typeface="Roboto Mono"/>
            </a:endParaRPr>
          </a:p>
          <a:p>
            <a:pPr indent="0" lvl="0" marL="0" rtl="0" algn="l">
              <a:spcBef>
                <a:spcPts val="0"/>
              </a:spcBef>
              <a:spcAft>
                <a:spcPts val="0"/>
              </a:spcAft>
              <a:buNone/>
            </a:pPr>
            <a:r>
              <a:rPr lang="fr" sz="1200">
                <a:latin typeface="Arial"/>
                <a:ea typeface="Arial"/>
                <a:cs typeface="Arial"/>
                <a:sym typeface="Arial"/>
              </a:rPr>
              <a:t>Fichier </a:t>
            </a:r>
            <a:r>
              <a:rPr lang="fr" sz="1200">
                <a:latin typeface="Roboto Mono"/>
                <a:ea typeface="Roboto Mono"/>
                <a:cs typeface="Roboto Mono"/>
                <a:sym typeface="Roboto Mono"/>
              </a:rPr>
              <a:t>extensions.conf</a:t>
            </a:r>
            <a:r>
              <a:rPr lang="fr" sz="1200">
                <a:latin typeface="Arial"/>
                <a:ea typeface="Arial"/>
                <a:cs typeface="Arial"/>
                <a:sym typeface="Arial"/>
              </a:rPr>
              <a:t> :</a:t>
            </a:r>
            <a:br>
              <a:rPr lang="fr" sz="1200">
                <a:latin typeface="Arial"/>
                <a:ea typeface="Arial"/>
                <a:cs typeface="Arial"/>
                <a:sym typeface="Arial"/>
              </a:rPr>
            </a:br>
            <a:r>
              <a:rPr b="0" lang="fr" sz="1200">
                <a:latin typeface="Arial"/>
                <a:ea typeface="Arial"/>
                <a:cs typeface="Arial"/>
                <a:sym typeface="Arial"/>
              </a:rPr>
              <a:t> → </a:t>
            </a:r>
            <a:r>
              <a:rPr b="0" lang="fr" sz="1200">
                <a:latin typeface="Roboto Mono"/>
                <a:ea typeface="Roboto Mono"/>
                <a:cs typeface="Roboto Mono"/>
                <a:sym typeface="Roboto Mono"/>
              </a:rPr>
              <a:t>*97</a:t>
            </a:r>
            <a:r>
              <a:rPr b="0" lang="fr" sz="1200">
                <a:latin typeface="Arial"/>
                <a:ea typeface="Arial"/>
                <a:cs typeface="Arial"/>
                <a:sym typeface="Arial"/>
              </a:rPr>
              <a:t> permet d'accéder à sa messagerie avec la fonction </a:t>
            </a:r>
            <a:r>
              <a:rPr b="0" lang="fr" sz="1200">
                <a:latin typeface="Roboto Mono"/>
                <a:ea typeface="Roboto Mono"/>
                <a:cs typeface="Roboto Mono"/>
                <a:sym typeface="Roboto Mono"/>
              </a:rPr>
              <a:t>VoiceMailMain()</a:t>
            </a:r>
            <a:br>
              <a:rPr b="0" lang="fr" sz="1200">
                <a:latin typeface="Roboto Mono"/>
                <a:ea typeface="Roboto Mono"/>
                <a:cs typeface="Roboto Mono"/>
                <a:sym typeface="Roboto Mono"/>
              </a:rPr>
            </a:br>
            <a:endParaRPr b="0" sz="1200">
              <a:latin typeface="Roboto Mono"/>
              <a:ea typeface="Roboto Mono"/>
              <a:cs typeface="Roboto Mono"/>
              <a:sym typeface="Roboto Mono"/>
            </a:endParaRPr>
          </a:p>
          <a:p>
            <a:pPr indent="0" lvl="0" marL="0" rtl="0" algn="l">
              <a:spcBef>
                <a:spcPts val="0"/>
              </a:spcBef>
              <a:spcAft>
                <a:spcPts val="0"/>
              </a:spcAft>
              <a:buNone/>
            </a:pPr>
            <a:r>
              <a:rPr b="0" lang="fr" sz="1200">
                <a:latin typeface="Arial"/>
                <a:ea typeface="Arial"/>
                <a:cs typeface="Arial"/>
                <a:sym typeface="Arial"/>
              </a:rPr>
              <a:t>Test réalisé : si 1000 ne décroche pas, 4000 est redirigé vers sa messagerie.</a:t>
            </a:r>
            <a:br>
              <a:rPr b="0" lang="fr" sz="1200">
                <a:latin typeface="Arial"/>
                <a:ea typeface="Arial"/>
                <a:cs typeface="Arial"/>
                <a:sym typeface="Arial"/>
              </a:rPr>
            </a:br>
            <a:endParaRPr b="0" sz="1200">
              <a:latin typeface="Arial"/>
              <a:ea typeface="Arial"/>
              <a:cs typeface="Arial"/>
              <a:sym typeface="Arial"/>
            </a:endParaRPr>
          </a:p>
          <a:p>
            <a:pPr indent="0" lvl="0" marL="0" rtl="0" algn="l">
              <a:spcBef>
                <a:spcPts val="0"/>
              </a:spcBef>
              <a:spcAft>
                <a:spcPts val="0"/>
              </a:spcAft>
              <a:buNone/>
            </a:pPr>
            <a:r>
              <a:rPr b="0" lang="fr" sz="1200">
                <a:latin typeface="Arial"/>
                <a:ea typeface="Arial"/>
                <a:cs typeface="Arial"/>
                <a:sym typeface="Arial"/>
              </a:rPr>
              <a:t>L’utilisateur peut écouter le message en composant *97 puis son mot de passe.</a:t>
            </a:r>
            <a:endParaRPr b="0" sz="1200">
              <a:latin typeface="Arial"/>
              <a:ea typeface="Arial"/>
              <a:cs typeface="Arial"/>
              <a:sym typeface="Arial"/>
            </a:endParaRPr>
          </a:p>
          <a:p>
            <a:pPr indent="0" lvl="0" marL="0" rtl="0" algn="l">
              <a:spcBef>
                <a:spcPts val="0"/>
              </a:spcBef>
              <a:spcAft>
                <a:spcPts val="0"/>
              </a:spcAft>
              <a:buNone/>
            </a:pPr>
            <a:r>
              <a:t/>
            </a:r>
            <a:endParaRPr/>
          </a:p>
        </p:txBody>
      </p:sp>
      <p:pic>
        <p:nvPicPr>
          <p:cNvPr id="374" name="Google Shape;374;p26"/>
          <p:cNvPicPr preferRelativeResize="0"/>
          <p:nvPr/>
        </p:nvPicPr>
        <p:blipFill>
          <a:blip r:embed="rId3">
            <a:alphaModFix/>
          </a:blip>
          <a:stretch>
            <a:fillRect/>
          </a:stretch>
        </p:blipFill>
        <p:spPr>
          <a:xfrm>
            <a:off x="0" y="3829250"/>
            <a:ext cx="5300000" cy="1321450"/>
          </a:xfrm>
          <a:prstGeom prst="rect">
            <a:avLst/>
          </a:prstGeom>
          <a:noFill/>
          <a:ln>
            <a:noFill/>
          </a:ln>
        </p:spPr>
      </p:pic>
      <p:pic>
        <p:nvPicPr>
          <p:cNvPr id="375" name="Google Shape;375;p26"/>
          <p:cNvPicPr preferRelativeResize="0"/>
          <p:nvPr/>
        </p:nvPicPr>
        <p:blipFill>
          <a:blip r:embed="rId4">
            <a:alphaModFix/>
          </a:blip>
          <a:stretch>
            <a:fillRect/>
          </a:stretch>
        </p:blipFill>
        <p:spPr>
          <a:xfrm>
            <a:off x="5300000" y="1597875"/>
            <a:ext cx="3844000" cy="3552825"/>
          </a:xfrm>
          <a:prstGeom prst="rect">
            <a:avLst/>
          </a:prstGeom>
          <a:noFill/>
          <a:ln>
            <a:noFill/>
          </a:ln>
        </p:spPr>
      </p:pic>
      <p:sp>
        <p:nvSpPr>
          <p:cNvPr id="376" name="Google Shape;376;p26"/>
          <p:cNvSpPr txBox="1"/>
          <p:nvPr/>
        </p:nvSpPr>
        <p:spPr>
          <a:xfrm>
            <a:off x="2675075" y="717750"/>
            <a:ext cx="4547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000"/>
              <a:t>Messagerie vocale dans Asterisk</a:t>
            </a:r>
            <a:endParaRPr sz="2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7"/>
          <p:cNvSpPr txBox="1"/>
          <p:nvPr>
            <p:ph type="title"/>
          </p:nvPr>
        </p:nvSpPr>
        <p:spPr>
          <a:xfrm>
            <a:off x="0" y="0"/>
            <a:ext cx="9144000" cy="81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1520">
                <a:latin typeface="Times New Roman"/>
                <a:ea typeface="Times New Roman"/>
                <a:cs typeface="Times New Roman"/>
                <a:sym typeface="Times New Roman"/>
              </a:rPr>
              <a:t>4000 va appeler 1000 au bout de 15s s’il ne décroche on va rediriger le compte 4000 à laisser le message dans la </a:t>
            </a:r>
            <a:r>
              <a:rPr lang="fr" sz="1520">
                <a:latin typeface="Times New Roman"/>
                <a:ea typeface="Times New Roman"/>
                <a:cs typeface="Times New Roman"/>
                <a:sym typeface="Times New Roman"/>
              </a:rPr>
              <a:t>boîte</a:t>
            </a:r>
            <a:r>
              <a:rPr lang="fr" sz="1520">
                <a:latin typeface="Times New Roman"/>
                <a:ea typeface="Times New Roman"/>
                <a:cs typeface="Times New Roman"/>
                <a:sym typeface="Times New Roman"/>
              </a:rPr>
              <a:t> vocale de 1000. 1000 va composer le numéro *97 pour écouter le message 1234 correspond au mot de passe de la </a:t>
            </a:r>
            <a:r>
              <a:rPr lang="fr" sz="1520">
                <a:latin typeface="Times New Roman"/>
                <a:ea typeface="Times New Roman"/>
                <a:cs typeface="Times New Roman"/>
                <a:sym typeface="Times New Roman"/>
              </a:rPr>
              <a:t>boîte</a:t>
            </a:r>
            <a:r>
              <a:rPr lang="fr" sz="1520">
                <a:latin typeface="Times New Roman"/>
                <a:ea typeface="Times New Roman"/>
                <a:cs typeface="Times New Roman"/>
                <a:sym typeface="Times New Roman"/>
              </a:rPr>
              <a:t> vocale. </a:t>
            </a:r>
            <a:r>
              <a:rPr lang="fr" sz="1520">
                <a:latin typeface="Times New Roman"/>
                <a:ea typeface="Times New Roman"/>
                <a:cs typeface="Times New Roman"/>
                <a:sym typeface="Times New Roman"/>
              </a:rPr>
              <a:t>Coté Asterisk on peut voir le message échanger entre l’utilisateur 1000</a:t>
            </a:r>
            <a:endParaRPr sz="1520">
              <a:latin typeface="Times New Roman"/>
              <a:ea typeface="Times New Roman"/>
              <a:cs typeface="Times New Roman"/>
              <a:sym typeface="Times New Roman"/>
            </a:endParaRPr>
          </a:p>
        </p:txBody>
      </p:sp>
      <p:pic>
        <p:nvPicPr>
          <p:cNvPr id="382" name="Google Shape;382;p27"/>
          <p:cNvPicPr preferRelativeResize="0"/>
          <p:nvPr/>
        </p:nvPicPr>
        <p:blipFill>
          <a:blip r:embed="rId3">
            <a:alphaModFix/>
          </a:blip>
          <a:stretch>
            <a:fillRect/>
          </a:stretch>
        </p:blipFill>
        <p:spPr>
          <a:xfrm>
            <a:off x="0" y="818725"/>
            <a:ext cx="6071450" cy="2699725"/>
          </a:xfrm>
          <a:prstGeom prst="rect">
            <a:avLst/>
          </a:prstGeom>
          <a:noFill/>
          <a:ln>
            <a:noFill/>
          </a:ln>
        </p:spPr>
      </p:pic>
      <p:pic>
        <p:nvPicPr>
          <p:cNvPr id="383" name="Google Shape;383;p27"/>
          <p:cNvPicPr preferRelativeResize="0"/>
          <p:nvPr/>
        </p:nvPicPr>
        <p:blipFill>
          <a:blip r:embed="rId4">
            <a:alphaModFix/>
          </a:blip>
          <a:stretch>
            <a:fillRect/>
          </a:stretch>
        </p:blipFill>
        <p:spPr>
          <a:xfrm>
            <a:off x="6071450" y="823500"/>
            <a:ext cx="3072550" cy="2699725"/>
          </a:xfrm>
          <a:prstGeom prst="rect">
            <a:avLst/>
          </a:prstGeom>
          <a:noFill/>
          <a:ln>
            <a:noFill/>
          </a:ln>
        </p:spPr>
      </p:pic>
      <p:pic>
        <p:nvPicPr>
          <p:cNvPr id="384" name="Google Shape;384;p27"/>
          <p:cNvPicPr preferRelativeResize="0"/>
          <p:nvPr/>
        </p:nvPicPr>
        <p:blipFill>
          <a:blip r:embed="rId5">
            <a:alphaModFix/>
          </a:blip>
          <a:stretch>
            <a:fillRect/>
          </a:stretch>
        </p:blipFill>
        <p:spPr>
          <a:xfrm>
            <a:off x="0" y="4082850"/>
            <a:ext cx="9144000" cy="1015350"/>
          </a:xfrm>
          <a:prstGeom prst="rect">
            <a:avLst/>
          </a:prstGeom>
          <a:noFill/>
          <a:ln>
            <a:noFill/>
          </a:ln>
        </p:spPr>
      </p:pic>
      <p:sp>
        <p:nvSpPr>
          <p:cNvPr id="385" name="Google Shape;385;p27"/>
          <p:cNvSpPr txBox="1"/>
          <p:nvPr/>
        </p:nvSpPr>
        <p:spPr>
          <a:xfrm>
            <a:off x="67200" y="3593800"/>
            <a:ext cx="6228600" cy="4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520">
                <a:solidFill>
                  <a:schemeClr val="dk2"/>
                </a:solidFill>
                <a:latin typeface="Times New Roman"/>
                <a:ea typeface="Times New Roman"/>
                <a:cs typeface="Times New Roman"/>
                <a:sym typeface="Times New Roman"/>
              </a:rPr>
              <a:t>Coté Asterisk on peut voir le message échanger entre l’utilisateur 1000</a:t>
            </a:r>
            <a:endParaRPr b="1" sz="1520">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8"/>
          <p:cNvSpPr txBox="1"/>
          <p:nvPr>
            <p:ph type="title"/>
          </p:nvPr>
        </p:nvSpPr>
        <p:spPr>
          <a:xfrm>
            <a:off x="913650" y="197675"/>
            <a:ext cx="7316700" cy="914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
        <p:nvSpPr>
          <p:cNvPr id="391" name="Google Shape;391;p28"/>
          <p:cNvSpPr txBox="1"/>
          <p:nvPr>
            <p:ph idx="1" type="body"/>
          </p:nvPr>
        </p:nvSpPr>
        <p:spPr>
          <a:xfrm>
            <a:off x="161875" y="1409925"/>
            <a:ext cx="8934600" cy="3045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500">
                <a:latin typeface="Times New Roman"/>
                <a:ea typeface="Times New Roman"/>
                <a:cs typeface="Times New Roman"/>
                <a:sym typeface="Times New Roman"/>
              </a:rPr>
              <a:t>Ce projet a permis de mettre en place un système de téléphonie IP en réseau local en utilisant </a:t>
            </a:r>
            <a:r>
              <a:rPr b="1" lang="fr" sz="1500">
                <a:latin typeface="Times New Roman"/>
                <a:ea typeface="Times New Roman"/>
                <a:cs typeface="Times New Roman"/>
                <a:sym typeface="Times New Roman"/>
              </a:rPr>
              <a:t>Asterisk</a:t>
            </a:r>
            <a:r>
              <a:rPr lang="fr" sz="1500">
                <a:latin typeface="Times New Roman"/>
                <a:ea typeface="Times New Roman"/>
                <a:cs typeface="Times New Roman"/>
                <a:sym typeface="Times New Roman"/>
              </a:rPr>
              <a:t> et le protocole </a:t>
            </a:r>
            <a:r>
              <a:rPr b="1" lang="fr" sz="1500">
                <a:latin typeface="Times New Roman"/>
                <a:ea typeface="Times New Roman"/>
                <a:cs typeface="Times New Roman"/>
                <a:sym typeface="Times New Roman"/>
              </a:rPr>
              <a:t>SIP</a:t>
            </a:r>
            <a:r>
              <a:rPr lang="fr" sz="1500">
                <a:latin typeface="Times New Roman"/>
                <a:ea typeface="Times New Roman"/>
                <a:cs typeface="Times New Roman"/>
                <a:sym typeface="Times New Roman"/>
              </a:rPr>
              <a:t>, devenu aujourd’hui une référence pour les communications multimédias sur IP. Après l’installation du serveur sur Ubuntu, </a:t>
            </a:r>
            <a:r>
              <a:rPr b="1" lang="fr" sz="1500">
                <a:latin typeface="Times New Roman"/>
                <a:ea typeface="Times New Roman"/>
                <a:cs typeface="Times New Roman"/>
                <a:sym typeface="Times New Roman"/>
              </a:rPr>
              <a:t>quatre softphones</a:t>
            </a:r>
            <a:r>
              <a:rPr lang="fr" sz="1500">
                <a:latin typeface="Times New Roman"/>
                <a:ea typeface="Times New Roman"/>
                <a:cs typeface="Times New Roman"/>
                <a:sym typeface="Times New Roman"/>
              </a:rPr>
              <a:t> ont été configurés avec des comptes PJSIP, permettant les appels internes et l’utilisation d’une </a:t>
            </a:r>
            <a:r>
              <a:rPr b="1" lang="fr" sz="1500">
                <a:latin typeface="Times New Roman"/>
                <a:ea typeface="Times New Roman"/>
                <a:cs typeface="Times New Roman"/>
                <a:sym typeface="Times New Roman"/>
              </a:rPr>
              <a:t>messagerie vocale</a:t>
            </a:r>
            <a:r>
              <a:rPr lang="fr"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p>
            <a:pPr indent="0" lvl="0" marL="0" rtl="0" algn="l">
              <a:spcBef>
                <a:spcPts val="1200"/>
              </a:spcBef>
              <a:spcAft>
                <a:spcPts val="0"/>
              </a:spcAft>
              <a:buNone/>
            </a:pPr>
            <a:r>
              <a:rPr lang="fr" sz="1500">
                <a:latin typeface="Times New Roman"/>
                <a:ea typeface="Times New Roman"/>
                <a:cs typeface="Times New Roman"/>
                <a:sym typeface="Times New Roman"/>
              </a:rPr>
              <a:t>L’ensemble des fonctionnalités a été testé avec succès, démontrant la fiabilité du système. Ce travail a permis d’acquérir des compétences concrètes en configuration VoIP, en gestion des extensions et en débogage via la console Asterisk.</a:t>
            </a:r>
            <a:endParaRPr sz="1500">
              <a:latin typeface="Times New Roman"/>
              <a:ea typeface="Times New Roman"/>
              <a:cs typeface="Times New Roman"/>
              <a:sym typeface="Times New Roman"/>
            </a:endParaRPr>
          </a:p>
          <a:p>
            <a:pPr indent="0" lvl="0" marL="0" rtl="0" algn="l">
              <a:spcBef>
                <a:spcPts val="1200"/>
              </a:spcBef>
              <a:spcAft>
                <a:spcPts val="0"/>
              </a:spcAft>
              <a:buNone/>
            </a:pPr>
            <a:r>
              <a:rPr lang="fr" sz="1500">
                <a:latin typeface="Times New Roman"/>
                <a:ea typeface="Times New Roman"/>
                <a:cs typeface="Times New Roman"/>
                <a:sym typeface="Times New Roman"/>
              </a:rPr>
              <a:t>Des améliorations futures sont possibles, comme l’envoi des messages vocaux par e-mail, l’ajout d’un standard vocal (IVR), ou l’ouverture vers l’extérieur avec un trunk SIP. Ce projet constitue ainsi une base solide pour comprendre et déployer une solution de téléphonie IP professionnelle.</a:t>
            </a:r>
            <a:endParaRPr sz="1500">
              <a:latin typeface="Times New Roman"/>
              <a:ea typeface="Times New Roman"/>
              <a:cs typeface="Times New Roman"/>
              <a:sym typeface="Times New Roman"/>
            </a:endParaRPr>
          </a:p>
          <a:p>
            <a:pPr indent="0" lvl="0" marL="0" rtl="0" algn="ctr">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