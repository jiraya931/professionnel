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011680"/>
            <a:ext cx="76200" cy="292608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SÉCURITÉ DES ACCÈS &amp; SOUVERAINETÉ DES DONNÉES</a:t>
            </a:r>
          </a:p>
          <a:p>
            <a:pPr>
              <a:spcAft>
                <a:spcPts val="1600"/>
              </a:spcAft>
              <a:defRPr sz="3200" b="1">
                <a:solidFill>
                  <a:srgbClr val="F8FAFC"/>
                </a:solidFill>
                <a:latin typeface="Georgia"/>
              </a:defRPr>
            </a:pPr>
            <a:r>
              <a:rPr lang="fr-FR" noProof="0" dirty="0"/>
              <a:t>Étude et Mise en Place d'une Solution SSO avec Fédération d'Identités</a:t>
            </a:r>
          </a:p>
          <a:p>
            <a:pPr>
              <a:spcAft>
                <a:spcPts val="2400"/>
              </a:spcAft>
              <a:defRPr sz="1600">
                <a:solidFill>
                  <a:srgbClr val="0099CC"/>
                </a:solidFill>
                <a:latin typeface="Verdana"/>
              </a:defRPr>
            </a:pPr>
            <a:r>
              <a:rPr lang="fr-FR" noProof="0" dirty="0"/>
              <a:t>Mémoire de Master Professionnel — Réseaux et Systèmes Informatiques (ISI / SIMEN)</a:t>
            </a:r>
          </a:p>
          <a:p>
            <a:pPr>
              <a:defRPr sz="1300">
                <a:solidFill>
                  <a:srgbClr val="64748B"/>
                </a:solidFill>
                <a:latin typeface="Verdana"/>
              </a:defRPr>
            </a:pPr>
            <a:r>
              <a:rPr lang="fr-FR" noProof="0" dirty="0"/>
              <a:t>Présenté par : Ababacar Ousmane NIANG   |   Structure d'accueil : SIMEN (Dakar, Sénégal)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MÉMOIRE SSO &amp; FÉDÉRATION D'IDENTITÉS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rPr lang="fr-FR" noProof="0" dirty="0"/>
              <a:t>La fragmentation des identités au SIMEN crée des risques critiques et alourdit la gestion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25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71216" cy="42832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200" noProof="0" dirty="0"/>
              <a:t>01. CONTEXTE SIMEN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rPr lang="fr-FR" sz="2000" noProof="0" dirty="0"/>
              <a:t>Transformation Digitale de l'Éducation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Le Système Intégré de Management de l'Éducation Nationale (SIMEN) orchestre un parc applicatif en forte croissance :</a:t>
            </a:r>
            <a:br>
              <a:rPr lang="fr-FR" sz="1400" noProof="0" dirty="0"/>
            </a:br>
            <a:br>
              <a:rPr lang="fr-FR" sz="1400" noProof="0" dirty="0"/>
            </a:br>
            <a:r>
              <a:rPr lang="fr-FR" sz="1400" noProof="0" dirty="0"/>
              <a:t>• Plateformes de gestion des personnels (GPE)</a:t>
            </a:r>
            <a:br>
              <a:rPr lang="fr-FR" sz="1400" noProof="0" dirty="0"/>
            </a:br>
            <a:r>
              <a:rPr lang="fr-FR" sz="1400" noProof="0" dirty="0"/>
              <a:t>• Suivi des élèves &amp; portails pédagogiques</a:t>
            </a:r>
            <a:br>
              <a:rPr lang="fr-FR" sz="1400" noProof="0" dirty="0"/>
            </a:br>
            <a:r>
              <a:rPr lang="fr-FR" sz="1400" noProof="0" dirty="0"/>
              <a:t>• Messageries professionnelles &amp; outils de pilotage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654296" y="1874520"/>
            <a:ext cx="2871216" cy="37600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200" noProof="0" dirty="0"/>
              <a:t>02. PROBLÉMATIQUE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rPr lang="fr-FR" sz="2000" noProof="0" dirty="0"/>
              <a:t>Le Risque du 'Single Password'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Chaque application exige historiquement son propre compte :</a:t>
            </a:r>
            <a:br>
              <a:rPr lang="fr-FR" sz="1400" noProof="0" dirty="0"/>
            </a:br>
            <a:br>
              <a:rPr lang="fr-FR" sz="1400" noProof="0" dirty="0"/>
            </a:br>
            <a:r>
              <a:rPr lang="fr-FR" sz="1400" noProof="0" dirty="0"/>
              <a:t>• Mots de passe répétés ou écrits sur post-it</a:t>
            </a:r>
            <a:br>
              <a:rPr lang="fr-FR" sz="1400" noProof="0" dirty="0"/>
            </a:br>
            <a:r>
              <a:rPr lang="fr-FR" sz="1400" noProof="0" dirty="0"/>
              <a:t>• Compromission d'identifiants = 1er vecteur d'intrusion</a:t>
            </a:r>
            <a:br>
              <a:rPr lang="fr-FR" sz="1400" noProof="0" dirty="0"/>
            </a:br>
            <a:r>
              <a:rPr lang="fr-FR" sz="1400" noProof="0" dirty="0"/>
              <a:t>• Surcharge massive du support technique et réinitialisations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348472" y="1874520"/>
            <a:ext cx="2871216" cy="354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200" noProof="0" dirty="0"/>
              <a:t>03. OBJECTIF STRATÉGIQUE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rPr lang="fr-FR" sz="2000" noProof="0" dirty="0"/>
              <a:t>Centralisation &amp; Souveraineté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Mettre en œuvre un socle SSO souverain :</a:t>
            </a:r>
            <a:br>
              <a:rPr lang="fr-FR" sz="1400" noProof="0" dirty="0"/>
            </a:br>
            <a:br>
              <a:rPr lang="fr-FR" sz="1400" noProof="0" dirty="0"/>
            </a:br>
            <a:r>
              <a:rPr lang="fr-FR" sz="1400" noProof="0" dirty="0"/>
              <a:t>• Authentification unique avec 1 seul couple d'identifiants</a:t>
            </a:r>
            <a:br>
              <a:rPr lang="fr-FR" sz="1400" noProof="0" dirty="0"/>
            </a:br>
            <a:r>
              <a:rPr lang="fr-FR" sz="1400" noProof="0" dirty="0"/>
              <a:t>• Intégration transparente de l'Active Directory existant</a:t>
            </a:r>
            <a:br>
              <a:rPr lang="fr-FR" sz="1400" noProof="0" dirty="0"/>
            </a:br>
            <a:r>
              <a:rPr lang="fr-FR" sz="1400" noProof="0" dirty="0"/>
              <a:t>• Conservation intégrale des données d'identité au Sénégal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MÉMOIRE SSO &amp; FÉDÉRATION D'IDENTITÉS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rPr lang="fr-FR" noProof="0" dirty="0"/>
              <a:t>Keycloak s’impose comme la solution open source souveraine la plus adaptée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25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054878"/>
              </p:ext>
            </p:extLst>
          </p:nvPr>
        </p:nvGraphicFramePr>
        <p:xfrm>
          <a:off x="731520" y="1645920"/>
          <a:ext cx="1072865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0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68096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CRITÈRES / SOLUTIONS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OKTA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AUTHENTIK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ZITADEL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KEYCLOAK (RETENU)</a:t>
                      </a:r>
                    </a:p>
                  </a:txBody>
                  <a:tcPr>
                    <a:solidFill>
                      <a:srgbClr val="0080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Modèle / Licence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Propriétaire (Cloud)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Open-Source (On-Prem)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Open-Source (Hybrid)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8080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Open-Source (CNCF/Red Hat)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Coût Financier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Très élevé (/utilisateur)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Gratuit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Gratuit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8080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Gratuit &amp; Sans Licence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Intégration Active Directory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Excellente (Agent Okta)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Bonne (Avancée)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Moyenne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8080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Excellente &amp; Native (LDAP)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8096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Souveraineté des Données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Faible (Cloud US)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Totale (On-Prem)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Totale / Cloud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8080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Totale (Hébergement État)</a:t>
                      </a:r>
                    </a:p>
                  </a:txBody>
                  <a:tcPr>
                    <a:solidFill>
                      <a:srgbClr val="E6F4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5623560"/>
            <a:ext cx="10728655" cy="77724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8FAFC"/>
                </a:solidFill>
                <a:latin typeface="Verdana"/>
              </a:defRPr>
            </a:pPr>
            <a:r>
              <a:rPr lang="fr-FR" noProof="0" dirty="0"/>
              <a:t>SYNTHÈSE DU CHOIX : Keycloak associe gratuité totale, souveraineté locale des données du Ministère, et une interconnexion birectionnelle native avec Microsoft Active Directory.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MÉMOIRE SSO &amp; FÉDÉRATION D'IDENTITÉS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rPr lang="fr-FR" noProof="0" dirty="0"/>
              <a:t>L'architecture conceptuelle s'articule autour de 6 couches modulaires et sécurisées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25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800600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200" noProof="0" dirty="0"/>
              <a:t>COUCHE 1 — UTILISATEURS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Agents SIMEN, Enseignants, Élèves, VPN, Stagiaire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1072" y="1645920"/>
            <a:ext cx="5166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473952" y="1783080"/>
            <a:ext cx="4800600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200" noProof="0" dirty="0"/>
              <a:t>COUCHE 2 — FOURNISSEUR D'IDENTITÉ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Keycloak IdP (Centralisation, Tokens JWT, Sessions SSO, SLO)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5166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4800600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200" noProof="0" dirty="0"/>
              <a:t>COUCHE 3 — SÉCURITÉ RENFORCÉE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Authentification Multi facteur TOTP (RFC 6238 / App Mobile)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91072" y="3200400"/>
            <a:ext cx="5166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473952" y="3337560"/>
            <a:ext cx="4800600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200" noProof="0" dirty="0"/>
              <a:t>COUCHE 4 — RÉFÉRENTIEL SOURCE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Microsoft Active Directory (domaine sso.local via LDAP 389/636)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80"/>
            <a:ext cx="5166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914400" y="4892040"/>
            <a:ext cx="4800600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200" noProof="0" dirty="0"/>
              <a:t>COUCHE 5 — APPLICATIONS CLIENTES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Grafana (OIDC Natif) &amp; WordPress (Plugin Connecteur OIDC)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91072" y="4754880"/>
            <a:ext cx="516636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6473952" y="4892040"/>
            <a:ext cx="4800600" cy="7591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200" noProof="0" dirty="0"/>
              <a:t>COUCHE 6 — INFRASTRUCTURE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Conteneurs Docker, Ubuntu Server 22.04 LTS, TLS Auto-signé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MÉMOIRE SSO &amp; FÉDÉRATION D'IDENTITÉS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rPr lang="fr-FR" noProof="0" dirty="0"/>
              <a:t>Le flux Authorization Code d'Open ID Connect garantit un accès fluide et sécurisé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25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457200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1371600" y="1755648"/>
            <a:ext cx="990569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1. Sollicitation</a:t>
            </a:r>
          </a:p>
          <a:p>
            <a:pPr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noProof="0" dirty="0"/>
              <a:t>L'utilisateur tente d'accéder à l'application protégée (ex: Grafana/WordPress)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78608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Rectangle 8"/>
          <p:cNvSpPr/>
          <p:nvPr/>
        </p:nvSpPr>
        <p:spPr>
          <a:xfrm>
            <a:off x="731520" y="2578608"/>
            <a:ext cx="457200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1371600" y="2688336"/>
            <a:ext cx="990569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2. Redirection IdP</a:t>
            </a:r>
          </a:p>
          <a:p>
            <a:pPr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noProof="0" dirty="0"/>
              <a:t>L'application redirige le navigateur vers Keycloak avec le paramètre `response_type=code`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511296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2" name="Rectangle 11"/>
          <p:cNvSpPr/>
          <p:nvPr/>
        </p:nvSpPr>
        <p:spPr>
          <a:xfrm>
            <a:off x="731520" y="3511296"/>
            <a:ext cx="457200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3" name="TextBox 12"/>
          <p:cNvSpPr txBox="1"/>
          <p:nvPr/>
        </p:nvSpPr>
        <p:spPr>
          <a:xfrm>
            <a:off x="1371600" y="3621024"/>
            <a:ext cx="990569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3. Authentification LDAP</a:t>
            </a:r>
          </a:p>
          <a:p>
            <a:pPr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noProof="0" dirty="0"/>
              <a:t>Keycloak vérifie la session SSO. Si inerte, vérification des identifiants auprès d'AD via LDAP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443984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5" name="Rectangle 14"/>
          <p:cNvSpPr/>
          <p:nvPr/>
        </p:nvSpPr>
        <p:spPr>
          <a:xfrm>
            <a:off x="731520" y="4443984"/>
            <a:ext cx="457200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1371600" y="4553712"/>
            <a:ext cx="990569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4. Validation MFA TOTP</a:t>
            </a:r>
          </a:p>
          <a:p>
            <a:pPr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noProof="0" dirty="0"/>
              <a:t>Saisie du code à usage unique (OTP) à 6 chiffres depuis l'application mobile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76672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8" name="Rectangle 17"/>
          <p:cNvSpPr/>
          <p:nvPr/>
        </p:nvSpPr>
        <p:spPr>
          <a:xfrm>
            <a:off x="731520" y="5376672"/>
            <a:ext cx="457200" cy="82296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1371600" y="5486400"/>
            <a:ext cx="9905695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5. Émission du Jeton</a:t>
            </a:r>
          </a:p>
          <a:p>
            <a:pPr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noProof="0" dirty="0"/>
              <a:t>Keycloak délivre l'ID Token JWT &amp; l'Access Token après échange du code d'autorisation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MÉMOIRE SSO &amp; FÉDÉRATION D'IDENTITÉS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rPr lang="fr-FR" noProof="0" dirty="0"/>
              <a:t>La maquette virtualisée sous Docker valide la faisabilité technique en laboratoire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25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731826" y="1645920"/>
            <a:ext cx="51663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14706" y="1828800"/>
            <a:ext cx="4800600" cy="3624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080"/>
                </a:solidFill>
                <a:latin typeface="Verdana"/>
              </a:defRPr>
            </a:pPr>
            <a:r>
              <a:rPr lang="fr-FR" sz="1400" noProof="0" dirty="0"/>
              <a:t>ARCHITECTURE VIRTUALISÉE (VMWARE)</a:t>
            </a:r>
          </a:p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VM Ubuntu Server (192.168.58.130) :</a:t>
            </a:r>
          </a:p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  • Moteur Docker Engine + Docker Compose</a:t>
            </a:r>
          </a:p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  • Keycloak (port 8443 TLS) + PostgreSQL</a:t>
            </a:r>
          </a:p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  • Grafana (port 3000) &amp; WordPress (port 8081)</a:t>
            </a:r>
          </a:p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  • Réseau Docker isolé : `reseau-sso`</a:t>
            </a:r>
            <a:br>
              <a:rPr lang="fr-FR" sz="1400" noProof="0" dirty="0"/>
            </a:br>
            <a:endParaRPr lang="fr-FR" sz="1400" noProof="0" dirty="0"/>
          </a:p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VM Windows Server (192.168.10.10) :</a:t>
            </a:r>
          </a:p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  • Contrôleur de Domaine Active Directory</a:t>
            </a:r>
          </a:p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  • Domaine d'expérimentation : `sso.local`</a:t>
            </a:r>
          </a:p>
          <a:p>
            <a:pPr>
              <a:lnSpc>
                <a:spcPct val="150000"/>
              </a:lnSpc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  • Unité d'Organisation : `OU=SSO_Utilisateurs</a:t>
            </a:r>
            <a:r>
              <a:rPr lang="fr-FR" sz="1200" noProof="0" dirty="0"/>
              <a:t>`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3815" y="1645920"/>
            <a:ext cx="51663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476695" y="1828800"/>
            <a:ext cx="4800600" cy="3975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080"/>
                </a:solidFill>
                <a:latin typeface="Verdana"/>
              </a:defRPr>
            </a:pPr>
            <a:r>
              <a:rPr lang="fr-FR" sz="1600" noProof="0" dirty="0"/>
              <a:t>PLAN D'ADRESSAGE ET NOMMAGE</a:t>
            </a:r>
          </a:p>
          <a:p>
            <a:pPr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400" noProof="0" dirty="0"/>
              <a:t>• URL Portail SSO 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600" noProof="0" dirty="0"/>
              <a:t>  https://keycloak.isi-sso.local:8443</a:t>
            </a:r>
          </a:p>
          <a:p>
            <a:pPr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400" noProof="0" dirty="0"/>
              <a:t>• Realm Keycloak 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600" noProof="0" dirty="0"/>
              <a:t>  Bienvenue</a:t>
            </a:r>
          </a:p>
          <a:p>
            <a:pPr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400" noProof="0" dirty="0"/>
              <a:t>• Serveur AD / LDAP 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600" noProof="0" dirty="0"/>
              <a:t>  192.168.10.10 (Port 389)</a:t>
            </a:r>
          </a:p>
          <a:p>
            <a:pPr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400" noProof="0" dirty="0"/>
              <a:t>• Base DN AD 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600" noProof="0" dirty="0"/>
              <a:t>  OU=SSO_Utilisateurs,DC=sso,DC=local</a:t>
            </a:r>
          </a:p>
          <a:p>
            <a:pPr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400" noProof="0" dirty="0"/>
              <a:t>• Application Grafana 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600" noProof="0" dirty="0"/>
              <a:t>  http://192.168.58.130:3000</a:t>
            </a:r>
          </a:p>
          <a:p>
            <a:pPr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400" noProof="0" dirty="0"/>
              <a:t>• Application WordPress 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600" noProof="0" dirty="0"/>
              <a:t>  http://192.168.58.130:8081</a:t>
            </a:r>
          </a:p>
          <a:p>
            <a:pPr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sz="1400" noProof="0" dirty="0"/>
              <a:t>• Sécurité Réseau 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600" noProof="0" dirty="0"/>
              <a:t>  Certificats TLS RSA 4096 bits</a:t>
            </a:r>
            <a:endParaRPr lang="fr-FR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MÉMOIRE SSO &amp; FÉDÉRATION D'IDENTITÉS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rPr lang="fr-FR" noProof="0" dirty="0"/>
              <a:t>La fédération LDAP synchronise les comptes Active Directory de manière transparente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25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71216" cy="3744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1. Liaison LDAP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rPr lang="fr-FR" sz="2000" noProof="0" dirty="0"/>
              <a:t>Configuration de la Connexion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Keycloak communique avec le contrôleur de domaine SRV-AD via le protocole LDAP (port 389) :</a:t>
            </a:r>
            <a:br>
              <a:rPr lang="fr-FR" sz="1400" noProof="0" dirty="0"/>
            </a:br>
            <a:br>
              <a:rPr lang="fr-FR" sz="1400" noProof="0" dirty="0"/>
            </a:br>
            <a:r>
              <a:rPr lang="fr-FR" sz="1400" noProof="0" dirty="0"/>
              <a:t>• Authentification simple via le compte Administrateur</a:t>
            </a:r>
            <a:br>
              <a:rPr lang="fr-FR" sz="1400" noProof="0" dirty="0"/>
            </a:br>
            <a:r>
              <a:rPr lang="fr-FR" sz="1400" noProof="0" dirty="0"/>
              <a:t>• Validation immédiate de la connectivité réseau (0% perte)</a:t>
            </a:r>
            <a:br>
              <a:rPr lang="fr-FR" sz="1400" noProof="0" dirty="0"/>
            </a:br>
            <a:r>
              <a:rPr lang="fr-FR" sz="1400" noProof="0" dirty="0"/>
              <a:t>• Mode lecture seule pour préserver l'annuaire source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654296" y="1874520"/>
            <a:ext cx="2871216" cy="3621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2. Périmètre Cible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rPr lang="fr-FR" sz="2000" noProof="0" dirty="0"/>
              <a:t>Unité d'Organisation Dédiée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Délimitation stricte du périmètre de fédération :</a:t>
            </a:r>
            <a:br>
              <a:rPr lang="fr-FR" sz="1400" noProof="0" dirty="0"/>
            </a:br>
            <a:br>
              <a:rPr lang="fr-FR" sz="1400" noProof="0" dirty="0"/>
            </a:br>
            <a:r>
              <a:rPr lang="fr-FR" sz="1400" noProof="0" dirty="0"/>
              <a:t>• Base DN : `OU=SSO_Utilisateurs,DC=sso,DC=local`</a:t>
            </a:r>
            <a:br>
              <a:rPr lang="fr-FR" sz="1400" noProof="0" dirty="0"/>
            </a:br>
            <a:r>
              <a:rPr lang="fr-FR" sz="1400" noProof="0" dirty="0"/>
              <a:t>• Mappage dynamique des attributs : `sAMAccountName`, `mail`, `givenName`, `sn`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348472" y="1874520"/>
            <a:ext cx="2871216" cy="3252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3. Validation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rPr lang="fr-FR" noProof="0" dirty="0"/>
              <a:t>Synchronisation Réussie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Importation automatique des comptes utilisateurs dans Keycloak :</a:t>
            </a:r>
            <a:br>
              <a:rPr lang="fr-FR" sz="1400" noProof="0" dirty="0"/>
            </a:br>
            <a:br>
              <a:rPr lang="fr-FR" sz="1400" noProof="0" dirty="0"/>
            </a:br>
            <a:r>
              <a:rPr lang="fr-FR" sz="1400" noProof="0" dirty="0"/>
              <a:t>• Utilisateurs de test : Bara Ndiaye, Khady Niang, Yacine Niang</a:t>
            </a:r>
            <a:br>
              <a:rPr lang="fr-FR" sz="1400" noProof="0" dirty="0"/>
            </a:br>
            <a:r>
              <a:rPr lang="fr-FR" sz="1400" noProof="0" dirty="0"/>
              <a:t>• Visibilité instantanée dans la console Keycloak sans double saisie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MÉMOIRE SSO &amp; FÉDÉRATION D'IDENTITÉS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rPr lang="fr-FR" noProof="0" dirty="0"/>
              <a:t>Keycloak unifie l'accès aux applications modernes (OIDC) et patrimoniales (Plugin)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25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663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800600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8080"/>
                </a:solidFill>
                <a:latin typeface="Verdana"/>
              </a:defRPr>
            </a:pPr>
            <a:r>
              <a:rPr lang="fr-FR" sz="1600" noProof="0" dirty="0"/>
              <a:t>GRAFANA (APPLICATION OIDC NATIVE)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600" noProof="0" dirty="0"/>
              <a:t>• Protocole : Open ID Connect (OIDC) natif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600" noProof="0" dirty="0"/>
              <a:t>• Configuration : Variables `GF_AUTH_GENERIC_OAUTH_*`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600" noProof="0" dirty="0"/>
              <a:t>• Provisioning Automatique : Création du compte local à la première connexion (`ALLOW_SIGN_UP=true`)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600" noProof="0" dirty="0"/>
              <a:t>• Parcours Utilisateur : Clic sur 'Sign in with Keycloak' → Mire SSO → Ouverture de session automatique pour l'agent (ex: Bara Ndiaye)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93815" y="1645920"/>
            <a:ext cx="516636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6476695" y="1828800"/>
            <a:ext cx="48006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8080"/>
                </a:solidFill>
                <a:latin typeface="Verdana"/>
              </a:defRPr>
            </a:pPr>
            <a:r>
              <a:rPr lang="fr-FR" sz="1400" noProof="0" dirty="0"/>
              <a:t>WORDPRESS (APPLICATION AVEC CONNECTEUR)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• Protocole : OIDC via extension (pas de support natif)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• Connecteur : Plugin `Open ID Connect Generic Client`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• Déclaration Client : Client `app-WordPress` créé dans le Realm Keycloak 'Bienvenue'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  <a:latin typeface="Verdana"/>
              </a:defRPr>
            </a:pPr>
            <a:r>
              <a:rPr lang="fr-FR" sz="1400" noProof="0" dirty="0"/>
              <a:t>• Parcours Utilisateur : Clic sur 'Connexion avec Open ID Connect' → Redirection transparente → Session ouverte avec le compte fédéré 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MÉMOIRE SSO &amp; FÉDÉRATION D'IDENTITÉS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rPr lang="fr-FR" noProof="0" dirty="0"/>
              <a:t>L'authentification multi facteur (MFA TOTP) renforce la sécurité de tout le système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25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960120" y="187452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SÉCURISATION CENTRALISÉE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rPr lang="fr-FR" noProof="0" dirty="0"/>
              <a:t>Déploiement Unique au niveau IdP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noProof="0" dirty="0"/>
              <a:t>Le MFA est configuré une seule fois sur Keycloak plutôt que dans chaque application :</a:t>
            </a:r>
            <a:br>
              <a:rPr lang="fr-FR" noProof="0" dirty="0"/>
            </a:br>
            <a:br>
              <a:rPr lang="fr-FR" noProof="0" dirty="0"/>
            </a:br>
            <a:r>
              <a:rPr lang="fr-FR" noProof="0" dirty="0"/>
              <a:t>• Protection immédiate et uniforme de toutes les applications raccordées</a:t>
            </a:r>
            <a:br>
              <a:rPr lang="fr-FR" noProof="0" dirty="0"/>
            </a:br>
            <a:r>
              <a:rPr lang="fr-FR" noProof="0" dirty="0"/>
              <a:t>• Pas de modification nécessaire sur le code des applications clientes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64592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4654296" y="187452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STANDARD OPEN SOURCE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rPr lang="fr-FR" noProof="0" dirty="0"/>
              <a:t>Protocole TOTP (RFC 6238)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noProof="0" dirty="0"/>
              <a:t>Utilisation de mots de passe à usage unique basés sur le temps :</a:t>
            </a:r>
            <a:br>
              <a:rPr lang="fr-FR" noProof="0" dirty="0"/>
            </a:br>
            <a:br>
              <a:rPr lang="fr-FR" noProof="0" dirty="0"/>
            </a:br>
            <a:r>
              <a:rPr lang="fr-FR" noProof="0" dirty="0"/>
              <a:t>• Enrôlement simple par scan de QR Code</a:t>
            </a:r>
            <a:br>
              <a:rPr lang="fr-FR" noProof="0" dirty="0"/>
            </a:br>
            <a:r>
              <a:rPr lang="fr-FR" noProof="0" dirty="0"/>
              <a:t>• Compatibilité totale avec FreeOTP, Google Authenticator, Microsoft Authenticator</a:t>
            </a:r>
            <a:br>
              <a:rPr lang="fr-FR" noProof="0" dirty="0"/>
            </a:br>
            <a:r>
              <a:rPr lang="fr-FR" noProof="0" dirty="0"/>
              <a:t>• Mots de passe valides 30 secondes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645920"/>
            <a:ext cx="3328416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8348472" y="1874520"/>
            <a:ext cx="2871216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RÉSULTAT SÉCURITÉ</a:t>
            </a:r>
          </a:p>
          <a:p>
            <a:pPr>
              <a:spcAft>
                <a:spcPts val="1400"/>
              </a:spcAft>
              <a:defRPr sz="1800" b="1">
                <a:solidFill>
                  <a:srgbClr val="1E293B"/>
                </a:solidFill>
                <a:latin typeface="Georgia"/>
              </a:defRPr>
            </a:pPr>
            <a:r>
              <a:rPr lang="fr-FR" noProof="0" dirty="0"/>
              <a:t>Blocage des Usurpations</a:t>
            </a:r>
          </a:p>
          <a:p>
            <a:pPr>
              <a:defRPr sz="1300">
                <a:solidFill>
                  <a:srgbClr val="1E293B"/>
                </a:solidFill>
                <a:latin typeface="Verdana"/>
              </a:defRPr>
            </a:pPr>
            <a:r>
              <a:rPr lang="fr-FR" noProof="0" dirty="0"/>
              <a:t>En cas de compromission du mot de passe unique AD :</a:t>
            </a:r>
            <a:br>
              <a:rPr lang="fr-FR" noProof="0" dirty="0"/>
            </a:br>
            <a:br>
              <a:rPr lang="fr-FR" noProof="0" dirty="0"/>
            </a:br>
            <a:r>
              <a:rPr lang="fr-FR" noProof="0" dirty="0"/>
              <a:t>• Le pirate est bloqué par l'absence du second facteur mobile</a:t>
            </a:r>
            <a:br>
              <a:rPr lang="fr-FR" noProof="0" dirty="0"/>
            </a:br>
            <a:r>
              <a:rPr lang="fr-FR" noProof="0" dirty="0"/>
              <a:t>• Élévation majeure du niveau de sécurité global du SIMEN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8080"/>
                </a:solidFill>
                <a:latin typeface="Verdana"/>
              </a:defRPr>
            </a:pPr>
            <a:r>
              <a:rPr lang="fr-FR" noProof="0" dirty="0"/>
              <a:t>MÉMOIRE SSO &amp; FÉDÉRATION D'IDENTITÉS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400" b="1">
                <a:solidFill>
                  <a:srgbClr val="1E293B"/>
                </a:solidFill>
                <a:latin typeface="Georgia"/>
              </a:defRPr>
            </a:pPr>
            <a:r>
              <a:rPr lang="fr-FR" noProof="0" dirty="0"/>
              <a:t>100% des tests de validation sont réussis, ouvrant la voie au déploiement en production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44752"/>
            <a:ext cx="10728655" cy="25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168634"/>
              </p:ext>
            </p:extLst>
          </p:nvPr>
        </p:nvGraphicFramePr>
        <p:xfrm>
          <a:off x="731520" y="1645920"/>
          <a:ext cx="685800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ID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TEST DE VALIDATION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8FAFC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STATUT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T1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Connectivité Ubuntu ↔ Windows Server (SRV-AD)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VALIDÉ (0% perte)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T2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Démarrage conteneurs Keycloak &amp; PostgreSQL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VALIDÉ (Healthy)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T3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Accès Console Keycloak en HTTPS (8443)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VALIDÉ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T4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Synchronisation LDAP &amp; Import utilisateurs AD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VALIDÉ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T5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Authentification SSO sur Grafana (OIDC)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VALIDÉ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T6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Authentification SSO sur WordPress (Plugin OIDC)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VALIDÉ</a:t>
                      </a:r>
                    </a:p>
                  </a:txBody>
                  <a:tcPr>
                    <a:solidFill>
                      <a:srgbClr val="EEF2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T7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Enrôlement &amp; Validation Code MFA TOTP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0B981"/>
                          </a:solidFill>
                          <a:latin typeface="Verdana"/>
                        </a:defRPr>
                      </a:pPr>
                      <a:r>
                        <a:rPr lang="fr-FR" noProof="0" dirty="0"/>
                        <a:t>VALIDÉ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0" y="1645920"/>
            <a:ext cx="368777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TextBox 6"/>
          <p:cNvSpPr txBox="1"/>
          <p:nvPr/>
        </p:nvSpPr>
        <p:spPr>
          <a:xfrm>
            <a:off x="7955279" y="1828800"/>
            <a:ext cx="3322015" cy="2867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08080"/>
                </a:solidFill>
                <a:latin typeface="Verdana"/>
              </a:defRPr>
            </a:pPr>
            <a:r>
              <a:rPr lang="fr-FR" sz="1400" noProof="0" dirty="0"/>
              <a:t>PERSPECTIVES DE PRODUCTION</a:t>
            </a:r>
          </a:p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rPr lang="fr-FR" sz="1200" noProof="0" dirty="0"/>
              <a:t>1. Haute Disponibilité (HA) :</a:t>
            </a:r>
          </a:p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rPr lang="fr-FR" sz="1200" noProof="0" dirty="0"/>
              <a:t>  • Grappe (Cluster) Keycloak derrière un répartiteur de charge HA Proxy</a:t>
            </a:r>
          </a:p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rPr lang="fr-FR" sz="1200" noProof="0" dirty="0"/>
              <a:t>  • Réplication de la BDD PostgreSQL</a:t>
            </a:r>
            <a:br>
              <a:rPr lang="fr-FR" sz="1200" noProof="0" dirty="0"/>
            </a:br>
            <a:endParaRPr lang="fr-FR" sz="1200" noProof="0" dirty="0"/>
          </a:p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rPr lang="fr-FR" sz="1200" noProof="0" dirty="0"/>
              <a:t>2. Automatisation SCIM 2.0 :</a:t>
            </a:r>
          </a:p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rPr lang="fr-FR" sz="1200" noProof="0" dirty="0"/>
              <a:t>  • Provisioning automatique du cycle de vie des agents (Arrivée/Départ)</a:t>
            </a:r>
            <a:br>
              <a:rPr lang="fr-FR" sz="1200" noProof="0" dirty="0"/>
            </a:br>
            <a:endParaRPr lang="fr-FR" sz="1200" noProof="0" dirty="0"/>
          </a:p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rPr lang="fr-FR" sz="1200" noProof="0" dirty="0"/>
              <a:t>3. Extension Ministérielle :</a:t>
            </a:r>
          </a:p>
          <a:p>
            <a:pPr>
              <a:defRPr sz="1100">
                <a:solidFill>
                  <a:srgbClr val="1E293B"/>
                </a:solidFill>
                <a:latin typeface="Verdana"/>
              </a:defRPr>
            </a:pPr>
            <a:r>
              <a:rPr lang="fr-FR" sz="1200" noProof="0" dirty="0"/>
              <a:t>  • Raccordement de l'ensemble des applications du Ministère de l'Éducation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1396</Words>
  <Application>Microsoft Office PowerPoint</Application>
  <PresentationFormat>Grand écran</PresentationFormat>
  <Paragraphs>164</Paragraphs>
  <Slides>10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Ababacar Ousmane Niang</cp:lastModifiedBy>
  <cp:revision>9</cp:revision>
  <dcterms:created xsi:type="dcterms:W3CDTF">2013-01-27T09:14:16Z</dcterms:created>
  <dcterms:modified xsi:type="dcterms:W3CDTF">2026-09-21T10:06:10Z</dcterms:modified>
  <cp:category/>
</cp:coreProperties>
</file>